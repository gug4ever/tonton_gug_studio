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  —  MORNING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Microeconomics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Supply, demand, firm costs, profit maximization and market structures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Roadmap — 2 Hours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sections. Microeconomics provides the toolkit for understanding firm behaviour, pricing power and industry profitability.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07008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07008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252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Supply, Demand &amp; Elasticity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15087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curve • supply curve • equilibrium • PED • income elasticity • surplus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28800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28800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 Costs &amp; Revenue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1305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TR, MR, AR • TC, TFC, TVC, ATC, MC • short run vs long run • accounting vs economic profit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50592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450592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50592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496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 Maximisation &amp; Shutdown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275234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MR=MC rule • WR International (CFA LM1) • London business shutdown (CFA LM1)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072384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072384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72384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118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Structures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337413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LM1 Exhibit 13 table • perfect competition • monopolistic comp • oligopoly • monopoly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94176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94176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94176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3739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Theory &amp; Market Power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399592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equilibrium: ArcCo/BatCo (CFA LM1) • CR • HHI: 5-firm market (CFA LM1)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315968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315968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315968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" y="4361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&amp; Takeaways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4128" y="461772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worked problems • formula reference • CFA key examples review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38988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Supply, Demand &amp; Equilibrium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5179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laws of supply and demand. Calculate and interpret price, income and cross-price elasticity. Understand consumer and producer surplus.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02996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 Cost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15798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economic from accounting profit. Classify costs (TFC, TVC, ATC, MC). Describe short-run vs long-run cost curves and economies of scale.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67004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532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 Maximisation &amp; Shutdown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79806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MR=MC rule. Interpret WR International profit table (CFA LM1). Apply London business shutdown analysis (CFA LM1).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12724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31012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172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Market Structures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343814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perfect competition, monopolistic competition, oligopoly and monopoly using the CFA LM1 Exhibit 13 framework.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95020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813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Theory &amp; Nash Equilibrium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07822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ArcCo/BatCo Nash equilibrium payoff matrix (CFA LM1). Understand collusion incentives.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459028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453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Measuring Market Power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47183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4-firm concentration ratio (86% from CFA LM1). Compute HHI for a 5-firm market (0.225 from CFA LM1). Interpret antitrust implications.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Supply, Demand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Elasticity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Demand Curve — Law of Demand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curve shows the MAXIMUM quantity consumers will buy at each price. All else equal, higher price → lower quantity demanded.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Law of Demand: as price rises, quantity demanded falls (negative slope)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0299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Factors that SHIFT the demand curve (change demand at all prices):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418795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50592"/>
            <a:ext cx="4187952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5059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 RIGHT (demand increases)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" y="303580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rises (for normal goods)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" y="341985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goods become more expensive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" y="38039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694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goods become cheaper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" y="418795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078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expectations about future prices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" y="457200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462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increases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27448" y="2450592"/>
            <a:ext cx="418795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2450592"/>
            <a:ext cx="4187952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45059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 LEFT (demand decreases)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03580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11496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falls (for normal goods)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92040" y="341985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11496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goods become cheaper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92040" y="38039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11496" y="3694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goods more expensive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92040" y="418795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11496" y="4078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economic expectations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92040" y="457200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11496" y="4462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Tastes change away from the product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Curve &amp; Market Equilibrium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Law of Supply: as price rises, quantity supplied rises (positive slope)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EQUILIBRIUM, market clears: quantity demanded = quantity supplied. Price adjusts to eliminate surplus or shortage.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57400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Price vs Equilibrium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Surplus (excess supply)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Price ABOVE equilibrium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Sellers cut price to sell unsold goods. Price falls until Q₝=Qₛ.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Shortage (excess demand)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Price BELOW equilibrium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Buyers bid up price. Price rises until Q₝=Qₛ.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Equilibrium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Price exactly right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 pressure to change. Market clears. No unsold inventory.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3639312"/>
            <a:ext cx="8503920" cy="10241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712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 in Supply: what raises/lowers the supply curve?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shifts RIGHT (increases) when: input costs fall, technology improves, suppliers expect lower future prices, more producers enter market.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shifts LEFT (decreases) when: input costs rise (e.g. energy price spike), taxes increase, natural disasters destroy capacity.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itself causes a MOVEMENT along the curve — not a SHIFT of the curve.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Elasticity of Demand (PED) — Responsiveness of Demand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  =  % Δ Quantity Demanded / % Δ Price     (always negative — report absolute value)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36192"/>
          <a:ext cx="8503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5603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|PED|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&gt; 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Elastic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Quantity changes MORE than price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Luxury goods, brand-switchable products, holidays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= 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Unit elastic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Quantity changes SAME as price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Special case: total revenue unchanged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&lt; 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Inelastic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Quantity changes LESS than price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Petrol, insulin, tobacco, basic food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= 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Perfectly inelastic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Quantity does NOT change with price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Life-saving medication, essential utilities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∞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Perfectly elastic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Quantity infinite at that price; zero at any higher price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Homogeneous goods in perfect competition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4133088"/>
            <a:ext cx="8503920" cy="9144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 and Total Revenue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51713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|PED| &gt; 1 (elastic): cutting price RAISES total revenue. Customers are responsive.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|PED| &lt; 1 (inelastic): cutting price REDUCES total revenue. Customers are unresponsive.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insight: companies with inelastic demand have PRICING POWER — they can raise prices without losing significant volume (e.g. pharma, utilities, tech platforms with lock-in).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Elasticity &amp; Cross-Price Elasticity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Elasticity  =  % Δ Q Demanded / % Δ Income     Cross-Price  =  % Δ Qₐ / % Δ Pᵇ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elasticities tell us how demand for a product responds to changes outside the product’s own price.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6517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Normal good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Income elasticity &gt; 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Demand rises when income rises. Rises faster if luxury (&gt; 1).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Cars, foreign holidays, fine dining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Inferior good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Income elasticity &lt; 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Demand FALLS when income rises. Consumers switch to better alternatives.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Own-label food, bus travel, low-quality spirits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Luxury good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Income elasticity &gt; 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Demand rises FASTER than income. High income-sensitivity.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Designer goods, business-class travel, boats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Substitutes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Cross-price &gt; 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Higher price of B → more demand for A. Goods compete.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Pepsi/Coke, butter/margarine, Airbus/Boeing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Complements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Cross-price &lt; 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Higher price of B → LESS demand for A. Goods used together.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Cars/petrol, printers/ink, phones/cases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application: understanding income elasticity helps forecast revenue through economic cycles. Luxury goods are highly cyclical (high income elasticity). Staples are defensive (low elasticity).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&amp; Producer Surplus — Measuring Market Welfare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 = willingness to pay − price paid     PS = price received − minimum acceptable price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triangles represent the welfare gains from voluntary exchange. Maximum TOTAL surplus = maximum social welfare.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41879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29968"/>
            <a:ext cx="91440" cy="22860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Surplus (CS)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487168"/>
            <a:ext cx="38404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between the demand curve and market price.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pay LESS than they were willing to pay.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Consumer willing to pay £80 for a product that costs £50. CS = £30.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falls when: price rises, supply disrupted, monopoly charges higher prices.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27448" y="2029968"/>
            <a:ext cx="41879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7448" y="2029968"/>
            <a:ext cx="91440" cy="22860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 Surplus (PS)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28616" y="2487168"/>
            <a:ext cx="38404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between market price and the supply curve.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receive MORE than minimum they would have accepted.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Producer willing to accept £30 but receives £50. PS = £20.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rises when: prices rise, production efficiency improves.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4462272"/>
            <a:ext cx="8503920" cy="65836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354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Deadweight Loss (DWL)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markets are distorted by taxes, price controls or monopoly, total surplus falls. The reduction is the DEADWEIGHT LOSS — gains from trade that never happen.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Tariffs, minimum wages above equilibrium, rent controls all create DWL. Government intervention always involves this trade-off.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 Costs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Revenue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Concepts — TR, AR, MR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concepts determine HOW MUCH a firm earns. They differ fundamentally between competitive and non-competitive markets.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 = Price × Quantity     AR = TR/Q = Price     MR = ΔTR / ΔQ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2860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Perfect Competition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Imperfect Competition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Total Revenue (TR)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 × Q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Rises proportionally with Q (P fixed)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Rises then falls: selling more requires lower P on ALL units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Average Revenue (AR)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TR / Q = 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Always equals price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Always equals price (same formula)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Marginal Revenue (MR)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d(TR)/dQ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MR = Price (horizontal demand curve)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MR &lt; Price (must cut price to sell more)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MR relationship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MR vs 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MR = P — firm is a price TAKER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MR &lt; P — firm has pricing POWER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4206240"/>
            <a:ext cx="8503920" cy="80467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MR &lt; P under imperfect competition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5902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sell one more unit, a monopolist must lower price on ALL units sold. The extra revenue from the new unit is OFFSET by the price reduction on existing units.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falls from 60 to 59 to sell 101 instead of 100 units: TR rises by 59 (new unit) but falls by 100 (1 reduction on existing 100 units). MR = 59 − 100 = −41. Dramatically below price.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Concepts — TC, TFC, TVC, ATC, MC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 = TFC + TVC     ATC = TC/Q     MC = ΔTC/ΔQ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36192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37744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Short Run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Long Run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Total Fixed Cost (TFC)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Costs that do NOT vary with output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Rent, depreciation, salaries of permanent staff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ALL costs are variable — no fixed costs exist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Total Variable Cost (TVC)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Costs that DO vary with output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Materials, hourly labour, utilities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All inputs adjustable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Average Total Cost (ATC)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TC per unit = TC/Q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U-shaped: falls then rises due to fixed cost spread and diminishing returns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U-shaped LRAC reflects scale (economies/diseconomies)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Marginal Cost (MC)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Cost of one extra unit of output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MC eventually rises due to diminishing marginal returns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Traces bottom of each short-run ATC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3977640"/>
            <a:ext cx="8503920" cy="107899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050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vs Accounting Profit — a critical CFA distinction (LM1)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36168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profit = TR − explicit costs (what appears on P&amp;L).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profit = TR − explicit costs − IMPLICIT costs (opportunity costs of owner’s time, capital, etc.).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LM1: ‘Economic cost considers the total opportunity cost of all factors of production.’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 earning zero economic profit is earning a NORMAL return — exactly covering the opportunity cost of all inputs. This is actually fine — no incentive to exit. Positive economic profit → above-normal returns → attracts new entrants.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 Maximisation — The MR = MC Rule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 is maximised where MR = MC    (and MC is not falling with output)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UNIVERSAL profit-maximisation rule. It applies under all market structures.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29968"/>
            <a:ext cx="91440" cy="7132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99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MR &gt; MC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029968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unit adds more to revenue than it costs. Expand production.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8503920" cy="713232"/>
          </a:xfrm>
          <a:prstGeom prst="rect">
            <a:avLst/>
          </a:prstGeom>
          <a:solidFill>
            <a:srgbClr val="FFEBEE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34640"/>
            <a:ext cx="91440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346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MR &lt; MC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2834640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unit adds more to costs than to revenue. Contract production.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3639312"/>
            <a:ext cx="8503920" cy="713232"/>
          </a:xfrm>
          <a:prstGeom prst="rect">
            <a:avLst/>
          </a:prstGeom>
          <a:solidFill>
            <a:srgbClr val="FEF0E7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639312"/>
            <a:ext cx="91440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931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MR = MC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14600" y="3639312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maximised. No incentive to change output in either direction.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under perfect competition, MR = P, so profit maximisation means P = MC.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imperfect competition, P &gt; MR = MC, so price always exceeds marginal cost.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LM1: WR International — Breakeven &amp; Profit Max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2, LM1. Given a monopolist’s TR and TC at various price levels, find breakeven points and profit maximum.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645920"/>
                <a:gridCol w="164592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Quantity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Cost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190,000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240,000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−50,000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9,250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277,500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−22,500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360,000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360,000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BREAKEVEN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8,750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437,500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420,000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17,500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510,000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480,000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MAX 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8,250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577,500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550,000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27,500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640,000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640,000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2nd BREAKEVEN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7,750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697,500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710,000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−12,500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answers: (1) Breakeven at Q=40 where TR=TC=360,000. (2) Profitable from Q&gt;40 to Q&lt;80. (3) Max profit = 30,000 at Q=60.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Shutdown Decision — Short Run vs Long Run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Continue if TR ≥ TVC     Shutdown if TR &lt; TVC     Exit if TR &lt; TC (long run)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36192"/>
          <a:ext cx="8503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Revenue-Cost Relationship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Short-Run Decision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Long-Run Decision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TR = TC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Stay in market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Stay in market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TR = TVC but &lt; TC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Stay in market (cover variable costs)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Exit market (cannot sustain fixed cost losses)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TR &lt; TVC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SHUT DOWN production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Exit market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3218688"/>
            <a:ext cx="8503920" cy="181051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LM1, Example 2 — London-Based Business Shutdown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602736"/>
            <a:ext cx="8229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London business: Revenue = GBP 2m, TC = GBP 2.5m (TFC = GBP 1m, TVC = GBP 1.5m). Net loss = GBP 500,000.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(short run): TR = 2m &gt; TVC = 1.5m. Continuing minimises loss at 500k. If they shut down, they still owe TFC = 1m. CONTINUE.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(long run): If revenue shortfall persists, exit market. Shareholders preserve equity by exiting early.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3: Now TR = 1.3m, TC = 2.5m, loss = 1.2m. TR = 1.3m &lt; TVC = 1.5m. SHUT DOWN NOW. Loss from shutdown = TFC = 1m &lt; loss from operating = 1.2m.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Economies &amp; Diseconomies of Scale (CFA LM1)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Economies of Scale = falling long-run ATC as output rises     Minimum Efficient Scale = bottom of LRAC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536192"/>
            <a:ext cx="41879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36192"/>
            <a:ext cx="91440" cy="26060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627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Economies of Scale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" y="1993392"/>
            <a:ext cx="384048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LRAC falls as output grows.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Specialisation: workers and machines focus on narrow tasks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Indivisibility: large equipment spreads fixed cost over more units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Buying power: bulk purchasing reduces input prices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advantages: large firms borrow at lower rates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Amazon’s logistics network gets cheaper per unit as volume grows.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27448" y="1536192"/>
            <a:ext cx="41879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536192"/>
            <a:ext cx="91440" cy="26060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8616" y="1627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Diseconomies of Scale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28616" y="1993392"/>
            <a:ext cx="384048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LRAC rises as output grows too large.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Bureaucratic inefficiency: communication and coordination costs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Management span: too wide to monitor effectively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price rises: bidding up scarce specialised labour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Motivational problems: large organisations lose focus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mega-mergers often fail to achieve projected cost savings.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2519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Efficient Scale (MES): the output level at which LRAC is minimised. Firms must reach MES to be competitive. Below MES, new entrants or larger incumbents have a cost advantage.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" y="4645152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note: industries with high MES (e.g. semiconductor fabs, aircraft) have high natural barriers to entry — supports incumbent pricing power and moat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Controls — Floors, Ceilings &amp; Market Distortions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sometimes override market equilibrium. These interventions always create trade-offs between equity and efficiency.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217627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Floor (Minimum Price)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55648"/>
            <a:ext cx="38404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ABOVE equilibrium. Creates a SURPLUS.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minimum wage above equilibrium wage → excess labour supply (unemployment).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EU agricultural price supports → food surpluses.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Winners: sellers who keep their jobs/contracts at higher price.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Losers: buyers, and sellers excluded from market.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298448"/>
            <a:ext cx="418795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98448"/>
            <a:ext cx="91440" cy="217627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Ceiling (Maximum Price)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55648"/>
            <a:ext cx="38404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BELOW equilibrium. Creates a SHORTAGE.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rent controls below market rent → housing shortage, long waiting lists.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utility price caps → under-investment in new capacity.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Winners: buyers lucky enough to get the product at lower price.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Losers: sellers who exit market, buyers who cannot find product.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8503920" cy="100584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85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Deadweight Loss from Price Controls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95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price floors and ceilings create deadweight loss — gains from trade that do not happen.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control: landlords supply fewer units (not worth the regulated rent) + tenants cannot find apartments.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wage: some workers priced out of jobs. Net welfare effect is negative even if some benefit.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Long-Run Average Cost (LRAC) — The Planning Horizon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long run, all costs are variable. The LRAC curve is the ENVELOPE of many short-run ATC curves, each for a different plant size.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LRAC traces the LOWEST possible ATC for each output level when ALL inputs are optimised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21408"/>
            <a:ext cx="109728" cy="7132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214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Economies of scale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2121408"/>
            <a:ext cx="5779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LRAC falls as output increases. Each doubling of output costs less than double. Specialisation, indivisibilities and bulk purchasing drive this. Relevant at low output levels.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44368"/>
            <a:ext cx="109728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94436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Constant returns to scale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2944368"/>
            <a:ext cx="5779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LRAC is flat. Doubling inputs doubles output at the same cost per unit. The ‘sweet spot’ of efficient operation. May extend over a range of outputs.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6732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67328"/>
            <a:ext cx="10972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7673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Diseconomies of scale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3767328"/>
            <a:ext cx="5779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LRAC rises as output grows too large. Bureaucracy, co-ordination failures and input price pressure dominate. Mega-mergers often enter this zone.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efficient scale (MES) = bottom of LRAC. Determines minimum viable firm size. High MES = high natural barriers to entry.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Structures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LM1)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Structures Overview — CFA LM1, Exhibit 13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Vol 2 LM1 classifies all markets into four structures based on five characteristics. This is the core analytical framework.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554480"/>
                <a:gridCol w="1280160"/>
                <a:gridCol w="14630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Market Structure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No. Sellers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Barriers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Pricing Power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Non-price Comp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Perfect Competition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Homogeneous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Very 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Monopolistic Competition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Differentiated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Some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Advertising, differentiation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Oligopoly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Few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Homogeneous/Diff.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Some/Considerable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Advertising, differentiation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Monopoly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Unique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Considerable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Some advertising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639312"/>
            <a:ext cx="8503920" cy="10241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712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 Analyst Insight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investor perspective: most desirable to OWN = monopoly or oligopoly (pricing power, high margins). Most desirable as CONSUMER = perfect competition (lowest prices). Financial analysts must understand market structure to forecast a firm’s future profit stream. Pricing power = sustainable economic profit.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firm’s market structure determines its MOAT — the ability to protect economic profit from competition. This is central to equity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Perfect Competition — Price Takers, Zero Long-Run Economic Profit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perfect competition, firms are PRICE TAKERS. No individual firm can influence the market price.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418795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9844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Characteristics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" y="188366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7739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firms, none dominant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" y="235915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2494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(identical) products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" y="283464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7249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information for all buyers/sellers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" y="33101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200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entry and exit — no barriers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" y="378561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6758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Firm’s demand curve is HORIZONTAL at market price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" y="42611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1513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= P = AR at all output levels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27448" y="1298448"/>
            <a:ext cx="418795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1298448"/>
            <a:ext cx="418795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29844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Long-Run Equilibrium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188366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17739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economic profit attracts new entrants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235915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1496" y="22494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shift supply right, price falls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283464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11496" y="27249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continues until P = ATC (zero economic profit)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33101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11496" y="3200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profit: firms exit, supply falls, price rises back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92040" y="378561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11496" y="36758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result: P = MR = MC = ATC (minimum ATC)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92040" y="42611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11496" y="41513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cannot expect sustained above-normal returns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20040" y="4919472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competition examples: commodity farmers (wheat, corn, soybeans), foreign exchange markets, some financial markets.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Monopolistic Competition — Coca-Cola and the Power of Differentiation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firms, differentiated products. Firms compete on brand, quality, advertising — not just price. CFA LM1 uses Coca-Cola as its example.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164592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 EXAMPLE — Coca-Cola Monopolistic Competition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states: ‘If the seller can convince consumers that its product is uniquely different from other similar products, then the seller can exercise some degree of pricing power.’ ‘Many of Coca-Cola’s customers believe that their beverages are truly different from and better than all other soft drinks.’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is true for fashion creations and cosmetics. The brand loyalty = perceived differentiation = pricing power.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examples: restaurants, hairdressers, clothing retailers, legal services, petrol stations on motorway junctions.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127248"/>
            <a:ext cx="41879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27248"/>
            <a:ext cx="91440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218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Short-Run: Positive Profit Possible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3584448"/>
            <a:ext cx="38404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differentiation allows above-normal returns short-term. New entrants cannot instantly copy brand identity or location. Advertising spending to reinforce differentiation.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27448" y="3127248"/>
            <a:ext cx="41879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3127248"/>
            <a:ext cx="91440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218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Long-Run: Zero Economic Profit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28616" y="3584448"/>
            <a:ext cx="38404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barriers to entry attract imitators. Substitutes proliferate. Demand for original firm falls. Long-run: P = ATC but P &gt; MC (unlike perfect competition). Some excess capacity remains.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Oligopoly — Strategic Interdependence &amp; OPEC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firms. Each firm’s pricing decision depends on ANTICIPATED REACTIONS of rivals. Strategic behaviour dominates. CFA uses commercial airlines and crude oil as examples.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192024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 — OPEC Crude Oil Cartel Example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states: ‘In 2016, the average extraction cost of a barrel of crude oil from Saudi Arabia was approximately $9, while the average cost from US shale was roughly $23.50.’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similarity of Gulf producers’ cost structures (∼$9-10/barrel) makes collusion more stable. If OPEC had kept crude below $30, there would have been no economic case to develop US shale fields through fracking. OPEC’s cartel raised prices to a level where outside sources became economic — increasing competition the cartel faces.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successful collusion requires similar cost structures and few firms. Rising prices attract new entrants who undermine the cartel.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3375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factors affecting collusion success (CFA LM1): number of firms, product similarity, cost structure similarity, order size/frequency, threat of retaliation, degree of external competition.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840480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840480"/>
            <a:ext cx="91440" cy="10241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931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Kinked Demand Curve Theory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firm raises price, rivals do NOT follow → loses market share. If one firm cuts price, rivals DO follow to protect share. Result: prices tend to be STICKY in oligopoly markets.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27448" y="3840480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3840480"/>
            <a:ext cx="91440" cy="10241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3931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Barriers to Entry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28616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Oligopoly requires high barriers: large capital requirements, patents, network effects, regulatory licences. Example: global credit card networks (Visa/Mastercard), semiconductor equipment.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Monopoly — One Seller, Maximum Pricing Power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monopoly is the single supplier of a good with no close substitutes. The monopolist IS the market demand curve — it chooses P and Q subject to demand.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Monopolist maximises profit at MR = MC     Sets price P &gt; MR = MC (positive price-cost margin)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Monopoly vs Perfect Competition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Analyst Implication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 &gt; MC (monopoly) vs P = MC (competitive)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Higher price → higher revenue per unit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Quantity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 &lt; competitive equilibrium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Less produced → artificial scarcity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Economic 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Can sustain long run (barriers block entry)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Investable: high margins, strong cash flow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Consumer surplus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Lower (more transferred to producer)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Allocative inefficiency → DWL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Regulation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Often regulated by government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Price set to allow normal return (RAB models, utilities)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5902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CFA: ‘Investors may benefit from being shareholders of monopolistic firms that have large margins and substantial positive cash flows.’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Theory &amp;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Power (CFA LM1)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Nash Equilibrium — ArcCo/BatCo Duopoly (CFA LM1)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2, LM1. The Nash equilibrium is where no firm can improve profits by unilaterally changing its strategy.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PAYOFF MATRIX: (ArcCo profit, BatCo profit)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28346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19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719072"/>
            <a:ext cx="28346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719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ArcCo: LOW PRICE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719072"/>
            <a:ext cx="28346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719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ArcCo: HIGH PRICE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21408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214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BatCo: 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2121408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1214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(50, 70)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2121408"/>
            <a:ext cx="2834640" cy="5669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21214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(300, 350)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2743200"/>
            <a:ext cx="283464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7432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BatCo: HIGH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4680" y="2743200"/>
            <a:ext cx="283464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7432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(80, 0)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2743200"/>
            <a:ext cx="283464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27432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(500, 300)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886200"/>
            <a:ext cx="8503920" cy="120700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59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LM1: Finding the Nash Equilibrium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2702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BatCo: if ArcCo plays Low, BatCo prefers Low (70&gt;0). If ArcCo plays High, BatCo still prefers Low (350&gt;300). BatCo’s DOMINANT strategy = 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ArcCo: if BatCo plays Low, ArcCo prefers High (300&gt;50). If BatCo plays High, ArcCo prefers High (500&gt;80). ArcCo’s DOMINANT strategy = High.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EQUILIBRIUM = ArcCo High, BatCo Low → profits = (300, 350). Highlighted above.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maximum would be (500,300)=800 if both chose High, but BatCo deviates to Low to earn 350&gt;300. Collusion is tempting but unstable.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 Ratio — CFA LM1 Question Set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concentration ratio = sum of market shares of the largest N firms. Simplest measure of market power. From CFA Vol 2, LM1 Question Set: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21945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 QUESTION SET — 6-Firm Industry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  Sales (EUR millions):  ABC=300,  Brown=250,  Coral=200,  Delta=150,  Erie=100,  All others=50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industry sales = 300+250+200+150+100+50 = EUR 1,050m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4-firm concentration ratio = (300+250+200+150) / 1,050 = 900/1,050 = 86% (CFA answer B)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top 4 firms control 86% of the market. Highly concentrated — suggests oligopolistic conditions.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if the 2 largest firms merge (300+250=550), the top 4 would now be: 550+200+150 = 900 still = 86%. The CR does NOT detect this consolidation of power. This is why the HHI is preferred by regulators.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703320"/>
            <a:ext cx="41879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703320"/>
            <a:ext cx="91440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794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 Ratio Formula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416052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CR-N = Σ(market shares of top N firms)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0% (perfect comp) to 100% (monopoly)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CR-4 &gt; 80% = typically oligopolistic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compute but ignores distribution within top 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27448" y="3703320"/>
            <a:ext cx="41879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3703320"/>
            <a:ext cx="91440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794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Limitation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28616" y="416052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Insensitive to mergers among top incumbents.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difference between: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firm with 60% + 2 firms with 10% each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firms each with 30% each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CR, very different competitive dynamics.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Herfindahl-Hirschman Index (HHI) — CFA LM1 Practice Q3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HHI  =  Σ(market shareᵢ)²     Range: 1/n (equal shares) to 1.0 (monopoly)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2, LM1 Practice Problems Q3. HHI solves the merger detection problem of the CR.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8503920" cy="23957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 PRACTICE Q3 — 5-Firm Market: Zeta=35%, Yusef=25%, Xenon=20%, Waters=10%, Vlastos=10%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3-firm HHI = 0.35² + 0.25² + 0.20² = 0.1225 + 0.0625 + 0.0400 = 0.225 (CFA answer B)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suppose Zeta (35%) and Yusef (25%) MERGE to form one firm with 60%: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Post-merger 3-firm HHI = 0.60² + 0.20² + 0.10² = 0.36 + 0.04 + 0.01 = 0.410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nearly DOUBLES (0.225 → 0.410) — captures the concentration increase.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CR-3 was 80% pre-merger (35+25+20), becomes 90% post-merger (60+20+10) — only a 10pp change.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antitrust guidelines: HHI &gt; 0.25 = highly concentrated. Mergers raising HHI by &gt; 0.025 warrant scrutiny.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 Example 4 (10 equal firms of 10%): CR-4 = 40%, HHI = 0.10² × 4 = 0.04 (CFA answer C).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Power — Investment Implications for Analysts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market structure is not just economics theory — it directly drives equity valuation and credit analysis.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25603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Economic Profit (LR)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Investment Signal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 Sectors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Perfect competition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Zero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Price taker. Margin competition. Hard to own at premium.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Agricultural commodities, generic drugs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Monopolistic competition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Near zero LR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Depends on brand strength. Look for pricing power durability.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Restaurants, retail, beauty brands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Oligopoly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Positive (if stable)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 margins if collusive. Antitrust risk. Watch barriers to entry.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Airlines, telecom, cement, ratings agencies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Monopoly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Positive (regulated)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Regulated return. RAB model. Stable, bond-like cash flows.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Water, gas distribution, power grids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547872"/>
            <a:ext cx="8503920" cy="109728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621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Moat Framework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9319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Warren Buffett’s ‘economic moat’ is essentially the CFA market structure framework in investor language: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Wide moat = monopoly or strong oligopoly (pricing power, barriers to entry, sustainable economic profit)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Narrow moat = monopolistic competition with real brand advantage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moat = perfect competition (commodity-like, price taker)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price moats using premium P/E, EV/EBITDA multiples and DCF terminal value assumptions.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Oligopoly Pricing Strategies — Kinked Demand Curve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kinked demand curve model explains why prices tend to be STICKY in oligopolies — firms fear asymmetric rival reactions.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I raise price: rivals do NOT follow → I lose share.    If I cut price: rivals DO follow → no net gain.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208483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Logic of Price Stickiness in Oligopoly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above current price is ELASTIC (rivals do not match — customers switch to them): raising price loses significant volume.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below current price is INELASTIC (rivals match any cut to protect their share): cutting price gains little extra volume.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there is a KINK at the current price. The MR curve is DISCONTINUOUS at this output level.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long as MC passes through the gap in the MR curve, the profit-maximising price does NOT change even when costs change moderately.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explains the empirical observation that oligopoly prices remain stable over long periods despite cost fluctuations.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251960"/>
            <a:ext cx="41879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251960"/>
            <a:ext cx="91440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4343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Cournot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7091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choose QUANTITY simultaneously, assuming rivals hold quantity fixed. Output between competitive (too high) and monopoly (too low). Price competition softens as more firms enter.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4251960"/>
            <a:ext cx="41879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4251960"/>
            <a:ext cx="91440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4343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Stackelberg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47091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sets quantity FIRST; follower observes and reacts. First-mover advantage: leader captures larger market share. Example: established airline adding routes before rivals.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Discrimination — Extracting Consumer Surplus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discrimination occurs when a firm with pricing power charges different prices to different customers for the SAME product.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Degree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 Required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1st Degree (perfect)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Each buyer pays their maximum willingness to pay. Producer captures ALL consumer surplus.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Negotiated deals, bespoke consulting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Perfect knowledge of each buyer’s WTP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2nd Degree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Price varies by quantity consumed. Bulk discounts or tiered pricing.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Utility tariffs, broadband data bundles, airline classes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Observable purchase behaviour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3rd Degree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Different prices to different GROUP segments based on observable characteristics.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Student discounts, senior fares, peak/off-peak rail, geography-based pricing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Ability to prevent resale between groups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023360"/>
            <a:ext cx="8503920" cy="10241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096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is price discrimination profitable?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 required: (1) the firm has pricing power (not a price taker), (2) customers have different elasticities of demand, (3) resale between segments can be prevented.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impact: price discrimination INCREASES total profit vs single price. Higher-price segments subsidise access for lower segments. Often total output is HIGHER than under single pricing, reducing deadweight loss.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airline revenue management, SaaS pricing tiers, pharma pricing by country.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 Reference Card — Session 3 Microeconomics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 formulas and concepts from this session.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8503920" cy="26517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Elasticity of Demand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80360" y="1115568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% ΔQᵈ / % ΔP   |PED|&gt;1 elastic, &lt;1 inelastic, =1 unit elastic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417320"/>
            <a:ext cx="85039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1732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Elasticity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0360" y="1417320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 = % ΔQᵈ / % ΔIncome   &gt;0 normal good, &lt;0 inferior good, &gt;1 luxury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719072"/>
            <a:ext cx="8503920" cy="26517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1907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Cross-Price Elasticity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0360" y="1719072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XED = % ΔQₐ / % ΔPᵇ   &gt;0 substitutes, &lt;0 complements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020824"/>
            <a:ext cx="85039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2082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80360" y="2020824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= P × Q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322576"/>
            <a:ext cx="8503920" cy="26517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22576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Marginal Revenue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80360" y="2322576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= ΔTR / ΔQ   (= P in perfect competition, &lt; P otherwise)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624328"/>
            <a:ext cx="85039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2432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 Maximisation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80360" y="2624328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= MC (and MC not falling). Economic profit = TR − TC (incl. opportunity costs)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8503920" cy="26517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2608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Breakeven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80360" y="2926080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= TC, i.e. P = ATC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227832"/>
            <a:ext cx="85039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27832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Shutdown rule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80360" y="3227832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 if TR &lt; TVC in short run. Exit if TR &lt; TC in long run.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529584"/>
            <a:ext cx="8503920" cy="26517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29584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Surplus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80360" y="3529584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between demand curve and price paid (triangle)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831336"/>
            <a:ext cx="85039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31336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 Surplus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80360" y="3831336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between price received and supply curve (triangle)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4133088"/>
            <a:ext cx="8503920" cy="26517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3308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 Ratio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880360" y="4133088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CR-N = sum of top N market shares. Range 0%–100%.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434840"/>
            <a:ext cx="85039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3484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HHI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880360" y="4434840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= Σ(market shareᵢ)². Range 1/N (equal shares) to 1.0 (monopoly). HHI&gt;0.25 = highly concentrated.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5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each before checking answers.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2144" y="105156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 International (CFA LM1): At price=60, quantity=8,500, TR=510,000, TC=480,000. Is this profit-maximising?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8308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2144" y="184708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business (CFA LM1): TR=GBP1.3m, TVC=GBP1.5m, TFC=GBP1m. Should the firm operate in the short run? What is the loss from continuing vs shutdown?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78608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" y="2642616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(CFA LM1): Industry has 5 firms: Zeta=35%, Yusef=25%, Xenon=20%, Waters=10%, Vlastos=10%. What is the 3-firm HHI? If Zeta and Yusef merge, what is the new HHI?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74136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7413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2144" y="3438144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 has a PED of 0.4 and currently charges GBP10. If it raises price by 20%, what happens to quantity demanded and total revenue? Is this rational?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69664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69664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966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144" y="4233672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ArcCo/BatCo (CFA LM1 Nash): In the payoff matrix, both firms could earn joint profit of 800 if both price High. Why does this not happen in the Nash equilibrium?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— Worked Solutions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AM  •  Session 3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7724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777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Q=8,500 (price=60): profit=30,000 (max). At Q=8,750 (price=50): profit=17,500. Reducing price to sell more REDUCES profit. The firm is already at the maximum. MR&lt;MC beyond Q=60 units: expanding costs more than it earns. This confirms Q=60 (price=60) is the profit-maximising output per CFA.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618488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18488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1848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61848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TR=1.3m &lt; TVC=1.5m. The firm CANNOT cover variable costs. Shutdown rule triggered. Loss from continuing = 1.2m. Loss from shutdown = TFC = 1.0m. Shut down saves GBP200,000. CFA Example 2 conclusion: shut down production. Shareholders save GBP200,000 in equity value.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59736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59736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9736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45973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3-firm HHI = 0.35²+0.25²+0.20² = 0.1225+0.0625+0.04 = 0.225 (CFA answer B). Post-merger: Zeta+Yusef=60%. HHI = 0.60²+0.20²+0.10² = 0.36+0.04+0.01 = 0.410. HHI nearly doubles — regulators would scrutinise this merger. CR-3 only rises from 80% to 90% — less informative.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300984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300984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00984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3009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PED=0.4 (inelastic). Price rises 20%. %ΔQ = −0.4×20% = −8%. Quantity falls 8%. New TR: if original P=10 and Q=100: new P=12, new Q=92. Old TR=1,000. New TR=12×92=1,104. TR RISES by 10.4%. Rational: inelastic demand means raising price increases total revenue. Standard pricing power analysis.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42232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4223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14223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ArcCo’s dominant strategy is High (300&gt;50 if BatCo Low; 500&gt;80 if BatCo High). BatCo’s dominant strategy is Low (70&gt;0 if ArcCo Low; 350&gt;300 if ArcCo High). Nash = ArcCo High, BatCo Low = (300, 350). Neither wants to deviate unilaterally. To reach (500,300), both must commit to High simultaneously — this requires collusion, which is typically illegal and unstable (BatCo would defect to earn 350&gt;300).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3 — Microeconomics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68249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3502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WR International: profit max at Q=60 (price=60), profit=30,000. Breakeven at Q=40 and Q=80.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6187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68249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3502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business (CFA): TR=2m &gt; TVC=1.5m → continue short-run (save 500k vs 1m TFC). TR=1.3m &lt; TVC=1.5m → shut down.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8529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0545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PED: |PED|&gt;1 elastic, cut price → TR rises. |PED|&lt;1 inelastic, raise price → TR rises. Pricing power = inelastic demand.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432304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92624" y="28529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0545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LM1 Exhibit 13: 4 market structures. Only perfect competition has MR=P. Others: MR&lt;P. Monopoly/oligopoly sustain economic profit.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402336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67588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equilibrium ArcCo/BatCo (CFA): ArcCo High/BatCo Low = (300,350). Collusion (both High=800 joint) is tempting but unstable.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602736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402336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67588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4-firm CR = 86% (CFA LM1). 3-firm HHI = 0.225 pre-merger → 0.410 post-merger. HHI better than CR for detecting consolidation.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2026-04-11T20:27:00Z</dcterms:created>
  <dcterms:modified xsi:type="dcterms:W3CDTF">2026-04-11T20:27:00Z</dcterms:modified>
</cp:coreProperties>
</file>