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—  MORNING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Microeconomics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firms, markets and prices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&amp; Demand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market equilibrium and predict shifts from changes in price, income and other factors.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27448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28616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Elasticity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28616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interpret price elasticity of demand and supply. Apply to pricing strategy.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Structures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perfect competition, monopolistic competition, oligopoly and monopoly with their profit implications.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27448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27448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28616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Costs &amp; Profit Maximisation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28616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fixed vs variable costs, marginal analysis, breakeven and shutdown decisions.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&amp; Demand — Market Equilibrium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coordinate millions of decisions through one mechanism: price. Price moves until quantity supplied = quantity demanded.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98448"/>
            <a:ext cx="9144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29844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13716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Law of Demand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173736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price rises, quantity demanded falls (ceteris paribus). Exceptions: Giffen goods, Veblen (luxury) goods.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350008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350008"/>
            <a:ext cx="9144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235000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S↑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Law of Supply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278892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price rises, quantity supplied rises. Higher price makes production more profitable — more suppliers enter.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401568"/>
            <a:ext cx="8503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401568"/>
            <a:ext cx="9144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40156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P*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37160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Equilibrium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84048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clears where S = D. Surplus: price is above P* (producers must cut). Shortage: price is below P* (consumers bid up).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453128"/>
            <a:ext cx="8503920" cy="56692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526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Shifters (non-price factors that move the CURVE)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837176"/>
            <a:ext cx="8229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• Prices of substitutes &amp; complements • Consumer tastes &amp; preferences • Expectations about future prices • Number of buyers in the market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Elasticity of Demand (PED)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PED  =  % Δ Quantity Demanded  /  % Δ Price  =  (ΔQ/Q)  /  (ΔP/P)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0040" y="15361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always negative (demand slopes down) — we usually quote the absolute value.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2286000"/>
                <a:gridCol w="182880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Revenue Impact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|PED| &gt; 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Elastic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Consumers very price-sensitive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Luxury goods, many substitutes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Cut price → revenue rises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|PED| = 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Unit elastic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% changes are equal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Theoretical benchmark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Price change → revenue unchanged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|PED| &lt; 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Inelastic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Consumers less price-sensitive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Necessities, few substitutes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Raise price → revenue rises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|PED| = 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Perfectly inelastic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Quantity fixed regardless of price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Life-saving drugs (short-run)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Any price → same quantity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4279392"/>
            <a:ext cx="8503920" cy="7772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3525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66344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of coffee rises from £3.00 to £3.30 (+10%). Quantity sold falls from 200 to 186 cups (−7%).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−7% / +10% = −0.70  →  |PED| = 0.70 &lt; 1  →  Inelastic. Revenue rises when price rises.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before: 200 × £3.00 = £600.  Revenue after: 186 × £3.30 = £613.80 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Cross-Price &amp; Income Elasticity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40233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749808"/>
            <a:ext cx="402336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7498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Cross-Price Elasticity (CPE)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207008"/>
            <a:ext cx="3749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Δ Quantity of A / % Δ Price of 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CPE &gt; 0: Substitutes — higher price of B raises demand for A (tea vs coffee)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CPE &lt; 0: Complements — higher price of B reduces demand for A (petrol &amp; cars)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CPE = 0: Unrelated goods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use: A company's pricing power depends on the availability of substitutes. High CPE with substitutes = low pricing power = compressed margins.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17720" y="749808"/>
            <a:ext cx="42062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749808"/>
            <a:ext cx="4206240" cy="38404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7498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Income Elasticity (YED)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1207008"/>
            <a:ext cx="3931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Δ Quantity Demanded / % Δ Income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YED &gt; 1: Luxury goods — demand rises faster than income (sports cars, fine dining)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 &lt; YED &lt; 1: Normal goods — demand rises with income (clothing, electronics)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YED &lt; 0: Inferior goods — demand falls as income rises (budget supermarket food)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use: Luxury goods companies (LVMH, Richemont) benefit from rising global wealth. Inferior goods businesses are recession-resistant.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20240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Costs &amp; Market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Structures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Structures — The Building Blocks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costs is essential for margin analysis, breakeven modelling and evaluating competitive moats.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3444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258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 Costs (FC)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69164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 with output. Rent, depreciation, executive salaries.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operating leverage — FC/VC mix determines profit volatility.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27448" y="123444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3444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258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 Costs (VC)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69164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directly with output. Raw materials, direct labour, packaging.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cost ratio = VC/Revenue = 1 − Gross Margin.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9864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9864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2990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Marginal Cost (MC)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" y="335584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additional unit. MC = ΔTC/ΔQ.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max rule: produce until MR = MC. If MC rises, set output where MC = Price.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27448" y="289864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27448" y="289864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2990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 Total Cost (ATC)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28616" y="335584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TC/Q. The U-shaped ATC curve shows economies then diseconomies of scale.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ATC = efficient scale. Below it: growing is beneficial.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4645152"/>
            <a:ext cx="8503920" cy="47548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183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BREAKEVEN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8229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Q = Fixed Costs / (Price − Variable Cost per unit) = FC / Contribution Margin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FC = £100,000, Price = £50, VC/unit = £30 → Contribution = £20 → BEP = 100,000/20 = 5,000 units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Structures — Implications for Profitability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competitive environment shapes a company's long-run earnings potential — core to equity analysis.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61872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14400"/>
                <a:gridCol w="1371600"/>
                <a:gridCol w="1645920"/>
                <a:gridCol w="137160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Structure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# Firms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Pricing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LR Profit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Analyst Note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Perfect Competition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Many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Identical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Price taker P=MC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Zero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Wheat, FX markets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⚠ No moat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Monopolistic Competition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Many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Differentiated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Some power P&gt;MC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Zero LR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Restaurants, apparel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Some brand 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Oligopoly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Few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Similar/diff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Interdependent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Positive (barriers)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Airlines, telecoms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Concentration key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Monopoly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One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Unique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Price maker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Positive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Natural utilities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Regulation risk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041648"/>
            <a:ext cx="8503920" cy="8229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 — Why Market Structure Matters for 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2569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barriers to entry = more durable profits = justified premium P/E multiple.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Oligopoly returns are often 2-3× higher than perfect competition over the long run.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use Porter's Five Forces to map structure to profitability drivers.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Porter's Five Forces — Competitive Intensity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Porter's framework translates market structure theory into a practical industry analysis toolkit.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16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Competitive Rivalry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16093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 of existing competition. Price wars, product innovation, advertising battles. HIGH rivalry → compressed margins.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40680" y="13167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with 5 airlines vs one with 2 — very different pricing power.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1975104"/>
            <a:ext cx="8503920" cy="62179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29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Threat of New Entrants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32257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of entering the market. Low barriers → profit erosion over time. HIGH barriers → sustainable ROE.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40680" y="202996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requirements, regulatory licences, brand loyalty, switching costs.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688336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Buyer Bargaining Power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3035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buyers push prices down. Concentrated customer base, easy switching, low differentiation amplify power.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40680" y="27432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Supermarkets vs FMCG suppliers. Automakers vs steel companies.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401568"/>
            <a:ext cx="8503920" cy="62179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Supplier Bargaining Power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suppliers raise input costs. Few alternatives, critical inputs, forward integration threats.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40680" y="345643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OPEC vs refiners. Semiconductor fab vs consumer electronics.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114800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169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Threat of Substitutes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46227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products cap pricing. Technology creates new substitutes. High substitute threat → ceiling on prices.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40680" y="416966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vs cinema. EVs vs petrol cars. Solar vs utility grids.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&amp; Producer Surplus — Who Gains from Trade?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voluntary trade creates value. Surplus measures how much.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07008"/>
            <a:ext cx="402336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070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Surplus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1664208"/>
            <a:ext cx="3749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 (WTP) MINUS actual price paid.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above market price, below demand curve.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You value a concert ticket at £150. You pay £80. CS = £70.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price → CS falls. Price controls (ceilings) aim to protect CS at cost of reducing PS and total surplus.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1207008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207008"/>
            <a:ext cx="4206240" cy="38404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2070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 Surplus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1664208"/>
            <a:ext cx="3931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received MINUS minimum acceptable price (MC).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below market price, above supply curve.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You sell a phone for £500. Minimum you'd accept = £350. PS = £150.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price → PS falls. Taxes create deadweight loss by reducing both CS and PS.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Deadweight Loss = lost surplus from trades that don't happen due to price distortions, taxes, or market power.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before turning the page.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078992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price rises from £999 to £1,099. Sales fall from 200,000 to 188,000 units. Calculate PED and comment on revenue impact.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73936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182880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 has FC=£80,000, VC/unit=£25, selling price=£45. What is the breakeven quantity? What profit at 6,000 units?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2578608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says 'this is a market with high barriers to entry and inelastic demand.' What does this suggest about margins?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273552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61288" y="3328416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Coffee and cream have CPE = −0.8. If cream prices rise 20%, what happens to coffee demand? Are they substitutes or complements?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61288" y="4078224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Porter, assess: online streaming platform, existing players (Netflix, Amazon, Disney+), minimal switching cost for consumers.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Answers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•  Session 3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777240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(−12,000/200,000) / (100/999) = −6% / +10% = −0.60. Inelastic. Revenue: before=£199.8m, after=£206.6m. Revenue RISES.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581912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581912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 = 80,000/(45−25) = 80,000/20 = 4,000 units. Profit at 6,000 = (6,000×20) − 80,000 = 120,000−80,000 = £40,000.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386584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386584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barriers protect long-run profits (no erosion from new entrants). Inelastic demand means pricing power. Expect high, durable margins → premium valuation multiple justified.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191256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191256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CPE = −0.8 → complements. Demand change = −0.8 × 20% = −16%. Coffee demand falls 16%. They are complements (negative CPE).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995928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3995928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competitive rivalry (Netflix, Amazon, Disney+). Low buyer switching costs = high buyer power. Threat from new entrants (Apple, Paramount). Strong substitute threat (gaming, social media). Porter suggests WEAK competitive position → price pressure → margin compression.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3 — Microeconomics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clear at P* where S = D — price signals coordinate decisions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&lt; 1: inelastic → raise price to grow revenue (utilities, drugs)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structure: oligopoly/monopoly → durable profits, justified premium PE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max: produce where MR = MC — the universal rule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5 Forces maps competitive intensity to long-run profit potential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+ Producer Surplus = total welfare from trade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2026-04-06T18:21:04Z</dcterms:created>
  <dcterms:modified xsi:type="dcterms:W3CDTF">2026-04-06T18:21:04Z</dcterms:modified>
</cp:coreProperties>
</file>