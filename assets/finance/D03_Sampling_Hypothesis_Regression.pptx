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03  ·  WEEK 2  ·  MORNING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Sampling, Hypothesis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&amp; Regression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a sample to a population — the inferential toolkit underlying every empirical claim in finance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1 Learning Modules 7–11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Sampling, Hypothesis Testing &amp; Simple Linear Regression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Sampling distributions &amp; CLT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459382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vs non-probability sampling · CLT · standard error · bootstrap &amp; jackknife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804416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804416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1804416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1850136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Confidence intervals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056790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factors · t vs z · Sendar Fund 95% CI · sample-size levers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401824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401824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401824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447544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Hypothesis-testing framework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654198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Six-step process · Type I / Type II · power · p-values · two-tailed t-test case study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2999232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2999232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2999232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044952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 tests (t, z, chi-sq, F)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3251606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 sheet · single variance · variance ratio · chi-sq test of independence (ETFs)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3596640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3596640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" y="3596640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3642360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linear regression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3849014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· four assumptions · ANOVA · R² · coefficient tests · CAPM-lite worked example · PIs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0040" y="4194048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4194048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0040" y="4194048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" y="4239768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Big data &amp; ML wrap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4446422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Vs · supervised / unsupervised / deep learning · overfitting · train-validate-test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between simple random, stratified, cluster and judgmental sampling, and compute the standard error of a sample mean using the central limit theorem.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confidence interval for a population mean using the correct reliability factor, and describe how sample size and α change its width.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six-step hypothesis-testing process, distinguishing Type I from Type II errors and p-values from critical values for one- and two-tailed tests.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right test statistic — t, z, chi-square or F — to a question about means, variances, correlations or categorical independence, and know its degrees of freedom.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a simple linear regression, test whether its slope is statistically different from zero, and interpret R², the standard error of estimate and prediction intervals — while recognising the core ML concepts that extend OLS to big-data settings.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Sampling distributions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CLT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6  ·  Deck 3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 sampling is random-selection-based and unbiased; non-probability sampling is faster but risks a non-representative sample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7, pp. 196–204.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else equal, probability methods yield more accuracy; non-probability methods trade precision for speed and cost.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463040"/>
                <a:gridCol w="352044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Method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How it works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Best when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random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Probability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Each element has equal selection probability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Homogeneous population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Probability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Select every kth element from an ordered list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Cannot fully enumerate population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Stratified random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Probability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Split into strata, sample within each proportional to size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Indexing, known risk factors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(one/two stage)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Probability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Split into clusters, pick clusters, then sample all or a sub-sample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Broad geographic surveys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Convenience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Non-probability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Pick whatever data is easy/cheap to access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Pilot studies, cost constraints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Judgmental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Non-probability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Expert hand-picks the sample from prior knowledge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Auditing, specialist tasks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2900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42900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4747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STRATIFIED &gt; SIMPLE RANDOM IN FIXED INCOME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4904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index replication divides the universe by duration, sector, credit quality and coupon, then samples within each stratum proportional to market weight — captures the index's risk exposures with far fewer issues than full replication.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Central Limit Theorem says that for any finite-variance population, the distribution of the sample mean approaches Normal(µ, σ²/n) as n grows — typically n ≥ 30 suffices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7, pp. 204–212.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CLT is the bedrock of inference — it lets us apply normal-distribution tooling to a sample mean even when the underlying returns are far from normal.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X̄  ~  N ( µ ,  σ² / n )     as    n  →  ∞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µ = population mean; σ² = population variance; n = sample size; X̄ = sample mean. Convergence is in distribution.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SHAPE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Regardless of whether the population is skewed, bimodal or heavy-tailed, the sample-mean distribution converges to a bell curve.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331720"/>
            <a:ext cx="274320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CENTER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sample-mean distribution is centered on the population mean — the sample mean is an UNBIASED estimator of µ.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331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SPREAD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shrinks by 1/n. Standard deviation shrinks by 1/√n. This is the "standard error" of the mean.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standard error of the sample mean shrinks like 1/√n — quadrupling the sample size only halves the error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7, Example 2, pp. 201–204.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improves with the SQUARE ROOT of n — diminishing returns kick in quickly. In CFA Example 2 the mean absolute error barely moves past n = 200.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σ_X̄  =  σ / √n         (when σ known)           s_X̄  =  s / √n         (when σ unknown)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s² = Σ(Xᵢ − X̄)² / (n−1), the sample variance; denominator n−1 gives an unbiased estimator of σ².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468880"/>
                <a:gridCol w="246888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Sample size 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Random-sample MAE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Stratified-sample MAE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Ratio to n=5 (random)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0.297%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0.294%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1.00×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0.163%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0.152%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0.55×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0.063%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0.071%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0.21×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0.019%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0.06×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0.009%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0.008%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Bootstrap and jackknife are computer-intensive resampling methods used when no analytical formula for a statistic's standard error exists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7, pp. 212–216.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methods estimate a sampling distribution FROM the data itself — no assumption on the underlying population distribution required.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BOOTSTRAP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Repeatedly draw B samples of size n WITH replacement from the observed sample. Compute the statistic on each draw. The empirical distribution of those B values approximates the sampling distribution.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 standard error of a Sharpe ratio, drawdown metric, or any non-closed-form estimator.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 works for complex estimators and small samples; no normality assumption.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JACKKNIFE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one observation out at a time, recompute the statistic on the remaining n − 1 observations. Exactly n repetitions.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 bias reduction, and quick standard-error estimation of an estimator.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 deterministic (no randomness in resampling) and cheap to run when n is moderate.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Confidence intervals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6  ·  Deck 3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100(1−α)% confidence interval for µ is the point estimate plus and minus a reliability factor times the standard error — t when σ is unknown, z when σ is known or n is large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7, pp. 209–212.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finance σ is almost never known, so the t-distribution is the default. As df → ∞, t → z.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  =  X̄  ±  t_{α/2, n−1}  ·  s / √n          ( z_{α/2} when σ known or n large 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X̄ = sample mean; s = sample standard deviation; n = sample size. Reliability factor depends on α and df.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1371600"/>
                <a:gridCol w="1371600"/>
                <a:gridCol w="137160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Confidence level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α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z_{α/2}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t_{α/2, 10}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t_{α/2, 30}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t_{α/2, 120}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1.645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1.812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1.697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1.658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1.960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2.228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2.042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1.980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2.576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3.169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2.750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2.617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246120"/>
            <a:ext cx="8503920" cy="10058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246120"/>
            <a:ext cx="73152" cy="10058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2918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INTERPRETATION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566160"/>
            <a:ext cx="82753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95% CI does NOT mean "probability 0.95 that µ lies in this interval". µ is a fixed number. It means: if we repeatedly drew samples and computed CIs, 95% of those intervals would contain µ.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Widening the CI by narrowing α, lengthening σ, or shrinking n is mechanical — what changes interpretation is whether the hypothesized value falls inside or outside the bounds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8, Exhibit 5, pp. 224–226.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CI and running a two-tailed test at the same α are two views of the same calculation — if the hypothesized value is outside the CI, the test rejects.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SENDAR EQUITY FUND — 95% CI FOR MEAN MONTHLY RETURN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Sendar Equity Fund, 24 monthly returns: X̄ = 1.50%, s = 3.60%. Pricing model implies expected return of 1.10%. Build a 95% CI and check whether 1.10% is inside.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Degrees of freedom: n − 1 = 24 − 1 = 23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factor (95%, df=23): t*₀.₀₂₅,₂₃ = 2.069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error: s / √n = 3.60 / √24 = 0.7348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Margin: t* × SE = 2.069 × 0.7348 = 1.5203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CI: 1.50 ± 1.52  →  [ −0.02% ,  +3.02% ]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1.10% lies INSIDE the CI, we cannot distinguish the fund's mean from the pricing-model expectation at 5% significance.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CI = [ −0.02% ,  +3.02% ]  →  1.10% is inside  →  no evidence of outperformance.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Hypothesis-testing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6  ·  Deck 3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hypothesis test follows the same six steps — stating hypotheses, choosing a statistic, setting α, writing the decision rule, computing, and deciding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8, Exhibit 1, pp. 219–224.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H₀ and alternative Hₐ must be MUTUALLY EXCLUSIVE and COLLECTIVELY EXHAUSTIVE. Typically the "suspected" or "hoped-for" condition is stated as Hₐ.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5212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91440" cy="52120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143000"/>
            <a:ext cx="36576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1179576"/>
            <a:ext cx="7863840" cy="234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the hypotheses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377544"/>
            <a:ext cx="7863840" cy="286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H₀ and Hₐ in terms of the population parameter. Two-tailed (=) or one-tailed (≥, ≤).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1691640"/>
            <a:ext cx="8503920" cy="52120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" y="1691640"/>
            <a:ext cx="91440" cy="52120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1691640"/>
            <a:ext cx="36576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728216"/>
            <a:ext cx="7863840" cy="234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Identify the test statistic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1926184"/>
            <a:ext cx="7863840" cy="286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based on what you're testing — t for mean, χ² for variance, F for variance ratio, etc.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2240280"/>
            <a:ext cx="8503920" cy="5212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240280"/>
            <a:ext cx="91440" cy="52120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240280"/>
            <a:ext cx="36576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2276856"/>
            <a:ext cx="7863840" cy="234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Specify the significance level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2474824"/>
            <a:ext cx="7863840" cy="286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probability of Type I error. Standard choices: 10%, 5%, 1%. Lower α = more stringent rejection.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2788920"/>
            <a:ext cx="8503920" cy="52120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2788920"/>
            <a:ext cx="91440" cy="52120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2920" y="2788920"/>
            <a:ext cx="36576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2825496"/>
            <a:ext cx="7863840" cy="234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the decision rule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3023464"/>
            <a:ext cx="7863840" cy="286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critical value(s) for this α and df. Reject H₀ if calculated statistic is more extreme.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" y="3337560"/>
            <a:ext cx="8503920" cy="5212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3337560"/>
            <a:ext cx="91440" cy="52120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2920" y="3337560"/>
            <a:ext cx="36576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68680" y="3374136"/>
            <a:ext cx="7863840" cy="234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Calculate the test statistic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572104"/>
            <a:ext cx="7863840" cy="286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the data into the chosen formula. Report the value AND the corresponding p-value.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0040" y="3886200"/>
            <a:ext cx="8503920" cy="52120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5" name="Shape 33"/>
          <p:cNvSpPr/>
          <p:nvPr/>
        </p:nvSpPr>
        <p:spPr>
          <a:xfrm>
            <a:off x="320040" y="3886200"/>
            <a:ext cx="91440" cy="52120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02920" y="3886200"/>
            <a:ext cx="36576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68680" y="3922776"/>
            <a:ext cx="7863840" cy="2345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a decision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68680" y="4120744"/>
            <a:ext cx="7863840" cy="286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H₀ if stat &gt; critical value (equivalently, p &lt; α). Otherwise, fail to reject H₀.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 I error rejects a true null (false positive, probability α) and Type II error fails to reject a false null (false negative, probability β) — the two are traded off against each other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8, Exhibit 3–4, pp. 222–224.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α raises β — and vice versa. The only way to reduce both simultaneously is to raise the sample size n.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Decision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H₀ is true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H₀ is false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 to reject H₀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Correct decision  (prob 1 − α)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TYPE II error  (prob β)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H₀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TYPE I error  (prob α)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Correct decision  (prob 1 − β = POWER)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331720"/>
            <a:ext cx="416052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 I vs TYPE II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error is worse depends on the application. In drug approval, Type I (approving an ineffective drug) is worse. In credit screening, Type II (failing to flag a risky borrower) can be. Consequences drive α.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2331720"/>
            <a:ext cx="416052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2"/>
          <p:cNvSpPr/>
          <p:nvPr/>
        </p:nvSpPr>
        <p:spPr>
          <a:xfrm>
            <a:off x="46634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8006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= P(reject H₀ | H₀ false) = 1 − β. Rises with: larger effect size, larger n, lower σ, higher α. Underpowered studies waste data: they cannot detect real effects.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p-value is the smallest α at which the null can be rejected — reject when p ≤ 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8, pp. 223–224.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Two-tailed p-value = twice the one-tail probability beyond |calculated statistic|. Reporting the p-value is more informative than a binary reject/fail-to-reject.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 =  P( |T|  ≥  |t_calc|  |  H₀ true )           Reject H₀  iff   p  ≤  α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T = test-statistic random variable; t_calc = the realised statistic from the sample.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TWO-TAILED TEST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θ = θ₀  vs  Hₐ: θ ≠ θ₀.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if |t_calc| &gt; t_{α/2, df}.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2 × P( T &gt; |t_calc| 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331720"/>
            <a:ext cx="274320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RIGHT-TAIL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θ ≤ θ₀  vs  Hₐ: θ &gt; θ₀.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if t_calc &gt; t_{α, df}.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P( T &gt; t_calc ).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331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LEFT-TAIL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θ ≥ θ₀  vs  Hₐ: θ &lt; θ₀.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if t_calc &lt; −t_{α, df}.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P( T &lt; t_calc 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two-tailed t-test on Sendar Fund's monthly returns cannot reject the 1.10% benchmark at 5% because the t-statistic of 0.544 falls inside the ±2.069 critical band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8, Exhibit 5, pp. 224–226.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mirrors the 95% CI on the previous section — 1.10% inside the CI means the test fails to reject at 5%.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SIX-STEP t-TEST OF A SINGLE MEAN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Sendar Equity Fund: X̄ = 1.50%, s = 3.60%, n = 24. Test at α = 5% whether the true mean monthly return differs from the 1.10% pricing-model benchmark.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Hypotheses. H₀: µ = 1.10%  vs  Hₐ: µ ≠ 1.10%  (two-tailed)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Test statistic.  t = (X̄ − µ₀) / (s/√n)  with df = n − 1 = 23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Significance.  α = 5%, so α/2 = 2.5% per tail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Decision rule.  Reject if |t_calc| &gt; t*₀.₀₂₅,₂₃ = 2.069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Compute.  t = (1.50 − 1.10) / (3.60/√24) = 0.40 / 0.7348 = 0.544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Decide.  |0.544| &lt; 2.069  →  fail to reject H₀ (p ≈ 0.59).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 to reject H₀. No evidence the fund's mean differs from the 1.10% model expectation.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 tests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(t, z, χ², F, ρ)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6  ·  Deck 3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one-number cheat sheet maps each question about means, variances, correlations or categorical independence to the right test statistic and degrees of freedom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8, Exhibit 2, p. 221; Learning Module 9, pp. 246–248.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every test is ALWAYS "which row of this table matches my question?" — the rest is mechanical.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00400"/>
                <a:gridCol w="128016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we test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Test statistic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Distribution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Degrees of freedom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mean (σ unknown)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(X̄ − µ₀) / (s/√n)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 − 1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 in means (σ₁=σ₂ unknown)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(X̄₁ − X̄₂) / √(s²_p/n₁ + s²_p/n₂)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n₁ + n₂ − 2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of paired differences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d̄ / (s_d/√n)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 − 1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variance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χ² = (n − 1)s² / σ₀²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χ²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 − 1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 of two variances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 = s²_A / s²_B   (larger on top)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n_A−1, n_B−1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 equals zero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= r √(n−2) / √(1 − r²)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 − 2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Independence of two categoricals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χ² = Σ (O_ij − E_ij)² / E_ij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χ²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(r−1)(c−1)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Chi-square tests the variance of a single normal population — the test is one-sided with (n−1) degrees of freedom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8, Exhibit 6, pp. 225–228.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 or z, the chi-square distribution is asymmetric — critical values differ between the upper and lower tails.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χ²  =  (n − 1) · s²  /  σ₀²           df  =  n − 1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s² = sample variance; σ₀² = hypothesized population variance. Assumes underlying population is normal.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SENDAR FUND — IS THE STANDARD DEVIATION LESS THAN 4%?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Sendar Fund: 24 months, s = 3.60% (so s² = 12.96). Test at α = 5% whether σ² &lt; 16 (i.e. σ &lt; 4%).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σ² ≥ 16   vs   Hₐ: σ² &lt; 16  (left-tail, one-sided)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χ²_calc = (24 − 1) × 12.96 / 16 = 23 × 0.810 = 18.63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value (5%, df = 23, lower tail): χ²₀.₉₅,₂₃ = 13.09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rule: reject H₀ if χ²_calc &lt; 13.09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18.63 &gt; 13.09  →  fail to reject.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enough evidence to conclude that the standard deviation is below 4%.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F-test of equal variances uses the ratio of sample variances — always place the larger on top so the statistic exceeds one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8, pp. 232–236.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check the homoskedasticity assumption in pooled t-tests, and to compare risk across two funds or regimes.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 =  s²_A  /  s²_B           df  =  ( n_A − 1 ,  n_B − 1 )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A = numerator sample (larger variance). F is right-skewed, supported on [0, ∞). Assumes both populations normal.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TWO EQUITY FUNDS HAVE THE SAME RETURN VOLATILITY?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A: 60 monthly returns, s_A = 15.8%. Fund B: 60 monthly returns, s_B = 14.3%. Test equal variances at α = 5% (two-sided).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σ²_A = σ²_B   vs   Hₐ: σ²_A ≠ σ²_B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F_calc = s²_A / s²_B = 15.8² / 14.3² = 249.64 / 204.49 = 1.221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value (α/2 = 2.5%, df = 59, 59): F*₀.₀₂₅ ≈ 1.67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1.221 &lt; 1.67  →  fail to reject H₀.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statistical evidence that the two funds differ in return volatility.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chi-square test of independence asks whether two categorical classifications are related — reject if the calculated statistic exceeds the critical value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9, Exhibits 7–9, pp. 255–261.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frequency under independence: E_ij = (row total × column total) / grand total. Degrees of freedom are (rows − 1) × (cols − 1).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4160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"/>
                <a:gridCol w="822960"/>
                <a:gridCol w="685800"/>
                <a:gridCol w="640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Investment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Small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Medium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Large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Total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366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381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1,065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1,594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320040" y="2743200"/>
            <a:ext cx="416052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frequencies of 1,594 ETFs cross-tabulated by size (Small/Medium/Large) and style (Value/Growth/Blend).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1143000"/>
            <a:ext cx="4160520" cy="32004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00600" y="118872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CHI-SQUARE TEST OF INDEPENDENCE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1481328"/>
            <a:ext cx="38862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size and style are independent  vs  Hₐ: related. α = 5%.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1993392"/>
            <a:ext cx="3886200" cy="1837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E_ij = (row × col) / 1,594. Example (Small, Value): 148 × 503 / 1,594 = 46.7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Σ (O_ij − E_ij)² / E_ij across all 9 cells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χ²_calc = 32.08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Critical: χ²₀.₀₅, df=4 = 9.488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32.08 &gt; 9.488  →  reject H₀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754880" y="3904488"/>
            <a:ext cx="39776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00600" y="3904488"/>
            <a:ext cx="38862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 and investment style are related (not independent).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linear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regression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6  ·  Deck 3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linear regression fits a straight line Y = b₀ + b₁X + ε by minimizing the sum of squared residuals — the least-squares criterion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10, pp. 266–276.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b₀ = intercept (Y when X = 0). b₁ = slope (change in Y per unit change in X). Residual eᵢ = Yᵢ − Ŷᵢ.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b̂₁  =  Cov(X, Y) / Var(X)          b̂₀  =  Ȳ  −  b̂₁ X̄          minimize  Σ eᵢ²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Least-squares normal equations produce unique closed-form solutions for b̂₀ and b̂₁ given a sample of paired (X, Y).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 vs INDEPENDENT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(dependent / explained) goes on the vertical axis. X (independent / explanatory) on the horizontal. Choose X because theory or plots suggest it moves 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416052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RESIDUAL vs ERROR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ε: unobserved, from the true population line.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e: observed, from the fitted sample line.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squares makes Σ e = 0 by construction.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OLS of monthly equity returns on the market index produces a CAPM-lite alpha (intercept) and beta (slope), interpretable as risk-adjusted excess return and market sensitivity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10, §2 Estimation, pp. 268–276.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this regression over rolling windows is how practitioners estimate changing betas. CAPM-lite ignores the risk-free rate; full CAPM regresses excess returns on excess market returns.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OLS OF STOCK MONTHLY RETURNS ON S&amp;P 500 — 12 OBSERVATIONS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Y (avg 0.90%/mo) regressed on market X (avg 0.54%/mo). Σ(X − X̄)² = 48.4; Σ(X − X̄)(Y − Ȳ) = 54.2. Compute intercept and slope.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(beta): b̂₁ = Σ(X − X̄)(Y − Ȳ) / Σ(X − X̄)² = 54.2 / 48.4 = 1.12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 (monthly alpha): b̂₀ = Ȳ − b̂₁ X̄ = 0.90% − 1.12 × 0.54% = 0.90% − 0.60% = 0.30%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line: Ŷ = 0.30% + 1.12 × X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for every 1% move in the market, the stock moves ~1.12% on average — high-beta name.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alpha ≈ 0.30% × 12 = 3.6% per year before testing for significance.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β̂ = 1.12  ·  α̂ = 0.30% / month (≈ 3.6% p.a.) — significance still to be tested.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OLS requires four assumptions — linearity, homoskedasticity, independence and normality — each testable by looking at the residual plot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10, pp. 278–284.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estimates are unbiased when 1 &amp; 3 hold; STANDARD ERRORS (hence t-tests and CIs) rely on all four.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7726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91440" cy="7726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143000"/>
            <a:ext cx="365760" cy="7726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1179576"/>
            <a:ext cx="7863840" cy="34770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Linearity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490701"/>
            <a:ext cx="7863840" cy="42496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E[Y|X] is a straight line in X. Residuals plotted against X should show no curvature. If U- or S-shaped, transform X or fit a non-linear form.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1943100"/>
            <a:ext cx="8503920" cy="7726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" y="1943100"/>
            <a:ext cx="91440" cy="7726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1943100"/>
            <a:ext cx="365760" cy="7726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979676"/>
            <a:ext cx="7863840" cy="34770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Homoskedasticity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2290801"/>
            <a:ext cx="7863840" cy="42496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 residual variance across X. A fan-shape in the residual plot signals heteroskedasticity — use robust standard errors or WLS.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2743200"/>
            <a:ext cx="8503920" cy="7726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743200"/>
            <a:ext cx="91440" cy="7726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743200"/>
            <a:ext cx="365760" cy="7726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2779776"/>
            <a:ext cx="7863840" cy="34770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Independence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3090901"/>
            <a:ext cx="7863840" cy="42496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Residuals are uncorrelated across observations. In time series, check for autocorrelation (Durbin-Watson or ACF). Common violator: omitted trend.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543300"/>
            <a:ext cx="8503920" cy="7726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3543300"/>
            <a:ext cx="91440" cy="7726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2920" y="3543300"/>
            <a:ext cx="365760" cy="7726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3579876"/>
            <a:ext cx="7863840" cy="34770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Normality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3891001"/>
            <a:ext cx="7863840" cy="42496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Residuals are normally distributed. Matters for inference on small samples; in large samples, CLT makes this assumption forgiving.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variation decomposes into explained (SSR) plus unexplained (SSE) — R² is the explained fraction and the F-statistic tests whether it differs from zero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10, §4 ANOVA, pp. 290–298.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simple linear regression, R² equals the square of the correlation between X and Y. The F-test of the whole model is equivalent to the t-test on the slope.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SST  =  SSR  +  SSE          R²  =  SSR / SST          F  =  MSR / MSE  =  SSR / (SSE / (n − 2))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SST = Σ(Y − Ȳ)²; SSR = Σ(Ŷ − Ȳ)²; SSE = Σ(Y − Ŷ)². MSR = SSR/1; MSE = SSE/(n−2). F df = (1, n−2).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914400"/>
                <a:gridCol w="228600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Source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Sum of squares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df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Mean square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 (SSR)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191.625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191.625  (MSR)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16.35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(SSE)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46.875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11.719  (MSE)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(SST)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238.500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R² = SSR/SST = 0.8035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s_e = √MSE = 3.423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Critical F₀.₀₅,₁,₄ = 7.71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Reject H₀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slope's t-statistic tests whether X explains Y — reject H₀: b₁ = 0 when |t| exceeds the critical value with n − 2 degrees of freedom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10, §5 Hypothesis Tests, pp. 285–293.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t-test on a single slope is the workhorse regression test. The same machinery tests whether the slope equals any hypothesised value, not just zero.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 =  ( b̂₁  −  b₁,hyp )  /  s_{b̂₁}           df  =  n − 2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s_{b̂₁} = standard error of the slope = s_e / √Σ(X − X̄)². Confidence interval for b₁: b̂₁ ± t*·s_{b̂₁}.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 REGRESSED ON CAPEX — 6 COMPANIES (CFA LM10)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slope b̂₁ = 1.25. Standard error of slope s_{b̂₁} = 0.309. Sample size n = 6. Test H₀: b₁ = 0 at α = 5%.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 = n − 2 = 4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value: t*₀.₀₂₅, 4 = 2.776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t_calc = (1.25 − 0) / 0.309 = 4.044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|4.044| &gt; 2.776  →  reject H₀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CAPEX has a statistically significant positive effect on ROA at 5%.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prediction interval around ŷ widens the further X_f is from x̄ — forecast uncertainty is lowest at the sample's centre of gravity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10, §6 Prediction, pp. 299–305.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 accounts for BOTH the uncertainty in the fitted line AND the irreducible residual noise — it is always wider than a confidence interval for the mean at X_f.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s_f  =  s_e · √[ 1 + 1/n + (X_f − X̄)² / Σ(X − X̄)² ]          PI  =  Ŷ_f  ±  t*·s_f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s_e = standard error of estimate; s_f = forecast standard error; X_f = value of X for which Y is being predicted.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 ROA AT CAPEX = 6% — CONTINUING ROA/CAPEX EXAMPLE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earlier: Ŷ = 4.875 + 1.25·X; s_e = 3.423; X̄ = 6.1; Σ(X − X̄)² = 122.64; n = 6. Forecast ROA at X_f = 6% with a 95% PI.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forecast: Ŷ_f = 4.875 + 1.25 × 6 = 12.375%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SE: s_f = 3.423 · √(1 + 1/6 + (6 − 6.1)² / 122.64) = 3.423 · √1.1668 = 3.70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t*₀.₀₂₅, 4 = 2.776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PI: 12.375 ± 2.776 × 3.70 = 12.375 ± 10.27  →  [2.1%, 22.6%]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 forecast 12.4% ; 95% prediction interval [2.1%, 22.6%]. Wide — small sample, high residual noise.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Big data &amp;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 wrap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of 6  ·  Deck 3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Big data is defined by the three V's — volume, velocity and variety — with a fourth V, veracity, invoked when data are used for inference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11, pp. 330–334.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data (social-media text, satellite imagery, credit-card receipts) is growing far faster than traditional financial data (prices, filings).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21031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21031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VOLUME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Megabytes → Gigabytes → Terabytes → Petabytes. Millions to billions of data points per dataset.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2103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2103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VELOCITY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or near-real-time ticks, clickstreams, sensor feeds. Batch and periodic updates persist but are no longer the norm.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21031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21031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VARIETY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(SQL), semi-structured (HTML, JSON), unstructured (video, audio, text). Tooling must handle all three.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342900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342900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4747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FOURTH V  ·  VERACITY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74904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data sources carry variable credibility: scraped reviews, unverified social posts, satellite mislabels. Assessing source trustworthiness is now a first-order analytical step, not an afterthought.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Machine learning splits into supervised (labelled targets), unsupervised (no labels) and deep (multi-layer neural nets) — the right class depends on whether you have a target variable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11, pp. 335–338.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"Find the pattern, apply the pattern" — Kissell &amp; Mack's one-line definition of ML. Relevant to investing only when enough training data exists.</a:t>
            </a:r>
            <a:endParaRPr lang="en-US" sz="13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74720"/>
                <a:gridCol w="2926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Class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Training data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 finance use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Supervised learning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Labelled inputs AND outputs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Predict next-day return direction; forecast credit losses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Unsupervised learning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Inputs only, no labels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Cluster stocks into peer groups; detect outlier trade patterns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learning (neural nets)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Either (hidden layers find features)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NLP on earnings calls; image recognition on satellite data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926080"/>
            <a:ext cx="8503920" cy="13716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926080"/>
            <a:ext cx="73152" cy="1371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9718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SLR IS SUPERVISED LEARNING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246120"/>
            <a:ext cx="827532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simple linear regression is the simplest possible supervised-learning algorithm — the (X, Y) pairs are labelled and the model learns a mapping. ML generalises this to many non-linear functional forms, but the bias-variance trade-off and the train/validate/test discipline are universal.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Overfitting is the cardinal ML sin — a model that fits training data perfectly and fails on the test set; cure is regularization, more data or a simpler model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1, Learning Module 11, pp. 335–338.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split the data into three: train to fit, validate to tune hyperparameters, test to measure true out-of-sample performance. Never touch the test set during modelling.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2011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2011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OVERFITTING  ·  TOO COMPLEX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treats random noise as real signal. Near-perfect fit in training; terrible out-of-sample. Common with too many parameters, too few observations, no regularization.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2011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2011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UNDERFITTING  ·  TOO SIMPLE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treats real signal as noise. Poor fit in training AND in test. Common when functional form is too restrictive (e.g. linear fit to a clearly non-linear pattern).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291840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30352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Split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share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Fit model parameters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Tune hyperparameters; compare model families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Report honest out-of-sample performance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3 — Sampling, Hypothesis Testing &amp; Simple Linear Regression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sampling (simple, systematic, stratified, cluster) yields unbiased estimates; non-probability sampling (convenience, judgmental) trades accuracy for speed.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CLT: X̄ ~ N(µ, σ²/n) for any finite-variance population once n is large — standard error shrinks with 1/√n.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for µ = X̄ ± t*·s/√n; use t when σ unknown (the default), z only when σ known or n is very large.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steps: state H₀/Hₐ; pick statistic; set α; decision rule; compute; decide. p-value ≤ α ⇔ reject.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 (α) and Type II (β) errors trade off against each other — power = 1 − β rises with 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test: t (means), χ² (one variance, independence), F (variance ratio), t on r (correlation).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OLS: b̂₁ = Cov(X,Y)/Var(X), b̂₀ = Ȳ − b̂₁X̄. R² = SSR/SST; slope test t = b̂₁/s_{b̂₁} with df = n−2.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data: 3 V's + veracity. ML splits into supervised / unsupervised / deep learning. Overfitting fixed by regularization, more data, or a train-validate-test split.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3 · Sampling, Hypothesis Testing &amp; Simple Linear Regression</dc:title>
  <dc:subject>PptxGenJS Presentation</dc:subject>
  <dc:creator>Studio Tonton Gug</dc:creator>
  <cp:lastModifiedBy>Studio Tonton Gug</cp:lastModifiedBy>
  <cp:revision>1</cp:revision>
  <dcterms:created xsi:type="dcterms:W3CDTF">2026-04-23T09:26:52Z</dcterms:created>
  <dcterms:modified xsi:type="dcterms:W3CDTF">2026-04-23T09:26:52Z</dcterms:modified>
</cp:coreProperties>
</file>