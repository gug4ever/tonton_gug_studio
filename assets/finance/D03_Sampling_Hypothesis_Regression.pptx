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deck where finance stops being arithmetic and starts being evidence. Set that expectation in the first sixty seconds.
•  Two hours. Six sections. Heaviest maths of the whole programme — say so up front.
•  One promise: by lunch they can look at any empirical claim and ask the right three questions.
•  Frame it: every number in a pitch book is an estimate from a sample. Nobody prints the error bar.
•  Tell them the running thread: sample → uncertainty → test → model.
FROM THE DESK — Everything in a credit committee paper — default rates, comparable multiples, beta, recovery assumptions — is a sample statistic wearing a suit. This deck is how you interrogate it.
NEXT — Roadmap first, then straight into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them the arc so they know why the boring bit at the start earns its keep.
•  Sections 1–2 build the machinery. Sections 3–4 use it. Section 5 is the payoff.
•  Flag the pacing: §3 and §5 are the long ones — roughly 30 minutes each.
•  Say it plainly: §6 is a 15-minute wrap, not a data-science course.
•  Warn them there are six worked examples and they should do the arithmetic with you.
NEXT — Objectives, then divider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Objectives are the contract. Read two, paraphrase the rest, move on — do not lose energy here.
•  Point at objective 3 and say: this is the one they get wrong in the exam.
•  Point at objective 5 and say: this is the one they will actually use at work.
•  Note the deliberate wording in #2 — "what it does NOT claim". Foreshadow the trap.
•  Keep this to 90 seconds.
NEXT — Section one. Where does the data even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reset the room and name the question this section answers.
•  The question: how do I get from a handful of observations to a claim about everything?
•  ~25 minutes for this section.
•  Two ideas only: how you pick the sample, and how wrong the sample mean can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Sampling method is a choice with a cost. Students treat it as bookkeeping — make them see it as a decision that biases everything downstream.
•  Run the table left to right once, fast. Do not read it out — point at the two columns that matter: Type and Best when.
•  Probability = known selection probability, so the sample statistic is a valid estimate. That is the whole dividing line.
•  Systematic ≈ random only if the list has no hidden periodicity. Ask what happens if the list is sorted by size.
•  Stratified vs cluster is the classic confusion: strata are ALL included and you sample within; clusters are themselves sampled.
•  Land the fixed-income callout — this is the one real-world use they will meet again in Deck 15.
FROM THE DESK — The comparable-company set in any valuation is a judgmental sample, and everyone in the room knows it. In a fairness opinion the argument is almost never about the multiple — it is about which five names are in the set and which two got dropped.
ASK THE ROOM — You survey investors by calling everyone in your contacts. What is that, and what exactly is it biased towards?
NEXT — Whatever method you pick, the sample mean is a random variable. What is its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single most useful theorem in the programme — and the one students state incorrectly. Drill the exact wording.
•  Two things students get wrong: they think the POPULATION must be normal, and they forget the mean of the sampling distribution is µ.
•  Write the CLT on the board with all three parts: approximately normal, mean µ, variance σ²/n.
•  Finite variance is the only condition on the population. Say the word "finite" out loud.
•  Shape / Centre / Spread — three columns, thirty seconds each, then move.
•  Kill the classic error now: CLT does not say portfolio volatility goes to zero as you add names. Different theorem, different question.
FROM THE DESK — Thirty observations gets the MEAN of a return series to behave. It does nothing for the tail. Every risk team that estimated a 99% VaR off two years of daily data learned that the CLT was never making them a promise about the 1%.
ASK THE ROOM — Daily equity returns are famously fat-tailed. Does that break the CLT — or just slow it down?
NEXT — If the spread is σ/√n, how fast does more data actually buy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Make them feel the square root. Precision is not linear in effort — and the CFA data shows exactly where the money stops buying accuracy.
•  Do not reveal the last column. Ask them to predict the n=20 error from the n=5 error first.
•  Point at n=100 vs n=500: five times the data, error only a third as big.
•  CFA verdict: past roughly 200–400 observations there is little incremental benefit.
•  Stratified beats random at small n, then the gap closes and even reverses — mention it and do not over-read one experiment.
•  Last two rows fall FASTER than √(5/n): the sample is eating a finite population of 1,258. Nice moment if the room is sharp.
•  Standard deviation describes the data. Standard error describes how wrong your ESTIMATE is. Never interchangeable.
FROM THE DESK — This is why sell-side surveys stop at a few hundred respondents and why a rating agency will not build a default study on 40 names. The marginal observation stops paying for itself long before the dataset feels complete.
ASK THE ROOM — You want to halve your standard error. How much more data do you need to buy?
NEXT — And when there is no formula for the standard error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Resampling is the escape hatch. When the textbook formula does not exist, you simulate the sampling distribution instead of assuming it.
•  Bootstrap = with replacement, B times, resample size n. Say all three conditions.
•  Jackknife = without replacement, leave one out, exactly n times. Deterministic.
•  The tell for exam questions: "usually requires n repetitions" → jackknife.
•  Walk the Example 4 arithmetic: divide by B−1 = 999, take the root, done.
•  Why it matters: there IS no s/√n for a median or a Sharpe ratio. Bootstrap is not a shortcut, it is the only route.
FROM THE DESK — Any credible hedge-fund due-diligence pack bootstraps the Sharpe ratio. A 2.1 Sharpe on 24 months with a bootstrap interval running from 0.4 to 3.6 is a very different conversation from a 2.1 quoted as a fact.
NEXT — We can now quantify uncertainty. Time to put a range around the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Short section — two slides — but it contains the single most misquoted sentence in statistics.
•  ~12 minutes. Formula, then one worked example.
•  Tell them the punchline is an interpretation, not an arithmetic.
•  Energy check: this is a good place for a quick pulse on the room before the heavy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levers set the width — α, s and n — but the exam and the interview both test the interpretation, not the arithmetic.
•  Build the formula in three pieces: centre, reliability factor, standard error. Ask which piece each lever touches.
•  Read the 95% row across: 2.228 → 2.042 → 1.980 → 1.960. t IS z once n is big.
•  Smaller α means a HIGHER reliability factor means a WIDER interval. More confidence costs precision. Say it twice.
•  Degrees of freedom = n − 1 for a single mean. Get this reflex in now; §5 changes it to n − 2.
•  Then slow right down on the callout. Make someone in the room say the wrong version first.
FROM THE DESK — Equity research prints a price target as a single number because a range does not fit the front page. Internally the good analysts carry the interval — and it is usually wide enough to contain both the bull and the bear case.
ASK THE ROOM — Same data, same sample — I want a 99% interval instead of 95%. Does it get wider or narrower, and why does that feel backwards?
NEXT — Let us build one on real fund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fund with a 24-month record and a 1.50% monthly mean looks like a star. The interval says we genuinely cannot tell it apart from the benchmark.
•  Give them X̄, s, n and the benchmark, and let them compute the SE before you show step 3.
•  df = 23, not 24. Watch for the off-by-one — it is the most common slip in this deck.
•  Note that the lower bound is NEGATIVE. Two years of 1.5% a month and we cannot even rule out losing money.
•  The driver is s = 3.60% against a mean of 1.50%: noise more than twice the signal.
•  Ask what would need to change to exclude 1.10% — bigger n, smaller s, or lower confidence.
FROM THE DESK — Twenty-four months is exactly what a first-time fund brings to an institutional allocator. This slide is the arithmetic behind why allocators insist on a three-year record, and why "since inception" numbers in a pitch deck deserve an interval before they deserve a meeting.
NEXT — Same numbers, framed as a decision rather than a range. That is hypothesis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the conceptual heart of the deck. Everything after this is the same six steps with a different statistic.
•  ~30 minutes. Four slides: process, errors, p-values, worked case.
•  Promise them: learn one framework here and §4 becomes a lookup table.
•  Flag the two landmines up front — "accept the null", and one-tail vs two-tail critical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steps, memorised in order, and the rest of the deck is bookkeeping. Get them to write it down.
•  Make the room recite the six verbs: state, identify, specify, state, calculate, decide.
•  Step 1 is where marks are lost: the null must contain the equality, and the pair must be exhaustive.
•  Step 3 comes BEFORE step 5 for a reason — you set α before you see the answer. Say why that discipline matters.
•  Step 4 is where the one-tail / two-tail error lives. Force the question "how many tails?" every single time.
•  Hammer the footnote. "Accept the null" is banned vocabulary in this room for the next two hours.
FROM THE DESK — The null is a choice about who carries the burden of proof, and in a live negotiation that choice is the whole game. "This synergy is zero until you show me otherwise" and "this synergy is real until you disprove it" are the same data and opposite outcomes.
ASK THE ROOM — A model says a fund should return 1.1%. You suspect it beats that. Which statement goes in H₀?
NEXT — Two ways to get it wrong. They are not symmetric.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2×2 is trivial to draw and brutally easy to garble under pressure. Make them build it, not read it.
•  Draw the empty 2×2 on the board and have the room fill the four cells before you reveal the table.
•  Mnemonic that works: Type I = you cried wolf. Type II = you missed the wolf.
•  α is a number YOU choose. β is a number the world hands you — it depends on the true effect size.
•  Power = 1 − β. Note the only lever that improves both errors at once is n.
•  Confidence level = 1 − α. Connect straight back to the 95% interval two slides ago.
FROM THE DESK — In credit, α is effectively set for you — regulators and the risk appetite statement fix how often you may reject a good borrower. Everything you can actually control shows up as β: the deals you turn away that would have performed.
ASK THE ROOM — A study finds "no significant relationship" from 12 observations. What is the far more likely explanation than "no relationship"?
NEXT — Critical values give you a yes or no. The p-value gives you the whole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jobs on this slide: define p correctly, and stop the tail-counting errors before §4 where they multiply.
•  Definition first, verbatim: the SMALLEST level of significance at which H₀ can be rejected.
•  Then the correction they all need: p is P(data | H₀), never P(H₀ | data).
•  Three columns — the only thing that changes is where α sits. Make them say "α/2 each side" for two-tailed.
•  Concrete: at α = 5%, two-tailed t with df = 23 gives ±2.069; one-tailed gives 1.714. Same data, different verdict.
•  p ≤ α and "statistic beyond the critical value" are the same sentence. Show it once, then use whichever is faster.
FROM THE DESK — A p of 0.049 and a p of 0.051 are the same evidence. Investment committees treat them as opposite decisions. If you ever find yourself defending a result that lives on that boundary, the honest answer is that you need more data, not a better argument.
ASK THE ROOM — Someone reports p = 0.03 and concludes there is a 3% chance the null is true. What did they just get wrong?
NEXT — Six steps, one tail count, one dataset. Sendar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Run the six steps end to end at conversational pace so the framework becomes muscle memory before §4 multiplies the statistics.
•  Cover the steps and reveal one at a time. Ask for each before you show it.
•  Step 1: press on why it is two-tailed. "Differs from" has no direction — that is the tell.
•  Step 4 before step 5, always. Rule first, then data. No peeking.
•  p ≈ 0.59 means: if the true mean really were 1.10%, we would see a gap this big or bigger 59% of the time. Pure noise.
•  Close on the answer bar. "Fail to reject" is not "the null is true" — a 0.40% monthly edge might well be real and this sample simply cannot see it.
FROM THE DESK — Forty basis points a month is roughly five percent a year — a genuinely career-making number that this sample cannot confirm. That gap between economically enormous and statistically invisible is where most performance disputes actually live.
ASK THE ROOM — Same X̄, same s, but 96 months instead of 24. Does the verdict flip? Do the arithmetic in your head.
NEXT — Means are one question. Variances, correlations and categories need different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the framework does not change, only the statistic in step 2 and the df in step 4.
•  ~25 minutes. One cheat sheet then four tests.
•  Tell them: the only new skill in this section is picking the right row of a table.
•  Reassure — no new philosophy, just new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page they should photograph. Teach them to READ it, not memorise it.
•  Go down the df column on its own first — it is where the marks are: n−1, n₁+n₂−2, n−1, n−1, pair, n−2, (r−1)(c−1).
•  Note that four of the seven are t-distributed. t is the workhorse.
•  Row 2 vs row 3 is the classic exam trap: independent samples vs paired observations. Ask them how to tell.
•  Row 5: no "put the larger on top" rule in the current curriculum — a two-tailed F test has a lower AND an upper critical value.
•  Row 6 and the slope test in §5 give the identical t-statistic. Plant that now, collect it later.
FROM THE DESK — Ninety percent of the statistics that reach an investment committee are one of these seven, dressed up by software. Knowing which row a printout came from is what lets you spot when the wrong one was run.
NEXT — Start with risk rather than return — the chi-square test of a single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Observed 3.60% versus a 4% trigger looks like a comfortable pass. The test says 24 months cannot tell them apart. That gap is the lesson.
•  Emphasise the shape first: skewed, strictly positive, so tails are not mirror images.
•  Left-tail test because Hₐ is "less than". Ask them where the rejection region sits before showing step 4.
•  Watch the units: 3.60% enters as 12.96 and 4% as 16, both in percent-squared. Be consistent or the answer is nonsense.
•  Reject when the statistic is SMALL here. That reversal catches people who autopilot on "bigger means reject".
•  Same message as the mean test: a small sample cannot resolve a difference this size.
FROM THE DESK — Volatility triggers in fund mandates and rating-agency criteria are written as hard thresholds, then measured on samples far too short to test them. When a manager breaches a vol cap on 24 months of data, the first honest question is whether the breach is even detectable.
NEXT — One variance against a number. Now two variances against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single best slide in the deck for showing that a hypothesis test is a decision procedure, not a truth machine.
•  Reveal the two-tailed result first and let them conclude "nothing happened". Then reveal the one-tailed line.
•  Sit in the silence for a beat. Same 1.185. Opposite verdicts.
•  Explain why: two-tailed splits 5% into 2.5% per side, so the bar on the right moves from 1.175 out to 1.212.
•  Delete the old rule: you do NOT have to put the larger variance on top. 3.919/4.644 = 0.706 rejects on the LEFT and says the same thing.
•  Restate the discipline: hypotheses and α are set before the data is opened. Otherwise this slide is a licence to cheat.
FROM THE DESK — This is the honest version of what happens when someone runs a test, dislikes the answer, and quietly switches to one-tailed. It shows up constantly in backtests and in "our vol regime has changed" arguments. If the hypothesis moved after the data arrived, the p-value means nothing.
ASK THE ROOM — Who decides one tail or two — the analyst, the data, or the question?
NEXT — Variances compared. Now the relationship between two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correlation tests, one statistic. The choice between them is about the DATA, not about the question.
•  Pearson needs approximate bivariate normality. Spearman needs almost nothing — it only uses the ordering.
•  When to reach for Spearman: bounded variables, heavy skew, outliers, or data already given as ranks.
•  Same df both sides: n − 2. Do NOT let them use n − 1 here.
•  Note the tail counts differ between the two examples — left is one-sided at 1%, right is two-sided at 5%. Deliberate.
•  Kicker is the real takeaway: significance is partly a statement about your sample size.
FROM THE DESK — Correlation on 20 daily observations is noise you can talk yourself into. Correlation on five years of tick data is always significant and frequently meaningless. Once n is large, stop asking whether r differs from zero and start asking whether it is big enough to trade or to hedge on.
ASK THE ROOM — Expense ratios are bounded below at zero and alpha is bounded below at −100%. Pearson or Spearman?
NEXT — Both of those needed numeric variables. What if the data are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test that handles categories — and the one place where "one-sided" is forced on you by the algebra rather than chosen.
•  Compute one expected cell live: 503 × 148 / 1,594. Then let them do medium-growth (366 × 381 / 1,594 = 87.48).
•  df = (3−1)(3−1) = 4. Not 9, not 8. This is the marks-losing line.
•  Why only a right tail: every deviation is squared, so the statistic never goes negative and only large values are evidence against H₀.
•  32.08 against a critical 9.49 is not marginal — this is a decisive rejection.
•  Then the footnote: chi-square tells you THAT the classifications interact; the standardized residuals tell you WHERE. Medium growth is the culprit.
FROM THE DESK — Rating transition matrices are contingency tables. So is "downgrades by sector" and "covenant breaches by vintage". When a credit committee argues about whether an issue is concentrated in one bucket or spread evenly, this is the test that settles it — and the residuals are what actually get quoted.
NEXT — We can now test relationships. Next: measure them, and use them to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the payoff section. Everything built so far now assembles into the single most-used model in finance.
•  ~35 minutes. Seven slides, one dataset carried all the way through.
•  Announce the running example: six companies, ROA regressed on CAPEX, straight from the curriculum.
•  Tell them: beta, alpha, factor models, DCF drivers — all this machinery.
•  Reset energy here; this is the longest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Least squares is a choice, not a law. Ask why we square the residuals before you show a single formula.
•  Open with the question: why squared and not absolute deviations? Because it penalises big misses harder and gives a closed-form solution.
•  Vertical distances only — regression minimises errors in Y, which is exactly why swapping X and Y changes the line.
•  Slope = cov(X,Y)/var(X). Sign of the slope always equals sign of the correlation, since the denominator is positive.
•  The regression line always passes through (X̄, Ȳ). Nice sanity check for their arithmetic.
•  Error vs residual: population versus sample. Same distinction as µ versus X̄ from §1.
•  Say it once and mean it: a fitted line is a conditional average, not a mechanism. Regression never proves causation.
FROM THE DESK — Beta is nothing more than b̂₁ from regressing a stock on an index. It arrives in models as a single confident number and almost never with the standard error that came out of the same output. Everything in this section is aimed at that omission.
NEXT — Six companies, two columns of data. Let us actually fit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the arithmetic in public. Two divisions and a subtraction — that is the whole of OLS estimation.
•  Give them the two sums and have the room compute 153.30 / 122.64 before you reveal it.
•  Intercept second, always — it needs the slope. b̂₀ = Ȳ − b̂₁X̄.
•  Check together that the line passes through (6.1, 12.5). It does: 4.875 + 7.625 = 12.5.
•  Press the intercept interpretation. Zero CAPEX is arguably a real state for these firms; zero money supply is not. Context decides.
•  Flag r = 0.8945 and tell them to remember it — R² on the next slide will be its square.
•  End on the answer bar: we have a slope. We have NOT yet shown it is different from zero.
FROM THE DESK — Six observations. In a live model this would be a two-line footnote at best, yet it is exactly the sample size behind most sector comps regressions in a pitch. The coefficient is easy; the honest question is always how many points went into it.
ASK THE ROOM — The slope is 1.25 and positive. Have we shown that CAPEX drives ROA?
NEXT — Before trusting any of it — what did OLS quietly assume?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assumptions, one diagnostic. If they leave remembering only "plot the residuals", the slide has done its job.
•  Mnemonic: L-H-I-N. Linearity, Homoskedasticity, Independence, Normality.
•  Correct the standard misreading of #4 out loud: residuals normal, NOT the data.
•  Draw three residual plots on the board — random cloud, fan, and wave. Ask which assumption each one kills.
•  The CFA revenue-vs-time question set violates all four at once. Worth mentioning as the worked cautionary tale.
•  Consequence framing: bad assumptions rarely destroy b̂₁, they destroy the standard error — so the t-stat and the p-value lie.
FROM THE DESK — Almost every financial time series is heteroskedastic and autocorrelated, and almost every model quietly ships anyway. The professional standard is not clean residuals — it is knowing which assumption you broke and adjusting the standard errors rather than the story.
NEXT — Assumptions checked. How much of Y did we actually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ANOVA table is the standard output of every regression package on earth. Teach them to read it, not to build it.
•  Start with the identity: 191.625 + 47.875 = 239.500. Make them check it.
•  df column: 1 for regression, n−2 = 4 for error, n−1 = 5 for total. They add up. Point that out.
•  R² = 0.8001 → CAPEX explains 80% of the cross-sectional variation in ROA.
•  Then puncture it: 80% on SIX observations. R² rises mechanically with fit, not with truth.
•  s_e = 3.46 percentage points is the ABSOLUTE measure — average distance of an observation from the line, in ROA units.
•  F = 16.01 versus critical 7.71 → reject. Preview: √16.01 = 4.00, which is the t-stat on the next slide.
FROM THE DESK — R² is the number that gets quoted in a meeting and the standard error of the estimate is the one that matters. A model explaining 80% of ROA with a typical miss of 3.5 percentage points is not something to underwrite a covenant on.
ASK THE ROOM — Would you rather have R² of 0.80 on six companies, or 0.30 on six hundred?
NEXT — The F-test judges the whole model. The t-test interrogates the coefficient.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Everyone tests b₁ = 0. Almost nobody tests the hypothesis they actually care about — and in finance that is usually b₁ = 1.
•  Left panel first, all four lines. It closes the ROA example: slope is real.
•  Show t² = F explicitly. In SIMPLE regression the two tests are algebraically the same test.
•  Then the right panel, and slow down. Both t-statistics come from the SAME standard error.
•  t = 18.89 against zero. t = −0.35 against one. Ask which of those a research note would print.
•  Land it: "statistically significant" is meaningless until you say significantly different from WHAT.
•  Same six steps as slide 16. Only the statistic and the df changed. Say so.
FROM THE DESK — A beta of 0.98 with a standard error of 0.05 is a beta of 1.00 for every practical purpose — yet it will be carried to three decimals through a WACC build and defended in a negotiation. When two banks are 20% apart on a valuation, this kind of false precision is usually somewhere in the gap.
ASK THE ROOM — Your model needs beta. The regression says 0.982 ± 0.052. What number do you put in the WACC?
NEXT — Coefficients tested. Now use the line to forecast — and be honest about the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slide that should make them uncomfortable. An 80% R² model produces a forecast range spanning twenty percentage points.
•  Show the point forecast first. 12.375%. Let it look precise for a moment.
•  Then build the interval and let the width land on its own.
•  Walk the three terms under the root: 1 = residual noise, 1/n = uncertainty in the line, third term = distance from X̄.
•  X_f = 6 versus X̄ = 6.1, so the third term is essentially zero. This is the best case and it is still this wide.
•  Ask what happens at X_f = 20. The third term explodes and the interval blows out — that is Exhibit 35.
•  Contrast: a confidence interval for the MEAN at X_f drops the "1 +" and is much tighter. Different question.
FROM THE DESK — Every DCF forecasts far outside the range of the data that calibrated it — five years of history, then a terminal value at year infinity. Nobody prints the prediction interval, and if anyone did the sensitivity table would look very different.
NEXT — One last regression tool: what if the relationship simply is not a straight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Non-linearity is not a reason to abandon regression. It is a reason to change the units.
•  Name the pattern first: log on the LEFT means percentage change in Y; log on the RIGHT means percentage change in X.
•  Log-lin slope of 0.1087 reads as roughly 10.9% growth per period. Say it in plain language.
•  Log-log is the one they will actually use — the slope IS the elasticity. 1.3686 means +1% ad spend → +1.37% revenue.
•  Look at the R² jumps: 0.21 to 0.85 on the same data. Functional form is not cosmetic.
•  Then the discipline in the left callout — do not compare R² across different Y forms. Common and embarrassing.
•  Close on the antilog trap. Make them say e to the power of the fitted value.
FROM THE DESK — Every revenue CAGR in a model is a log-lin regression whether anyone calls it that or not. And price elasticity of demand — the number that drives pricing strategy in almost every consumer diligence — falls straight out of a log-log slope.
NEXT — That is the classical toolkit. Ten minutes on where it goes when the data gets huge.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vocabulary section, deliberately light. Do not let it swell.
•  ~15 minutes, three slides. Definitions, taxonomy, one genuine warning.
•  Frame it: this is where everything we just did scales, and where it breaks.
•  Energy is low by now — pick up the pace and keep it conversational.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Vs are exam vocabulary. Veracity is the one that will actually cost somebody their job.
•  Volume, velocity, variety — thirty seconds each, no more. They are definitions.
•  Veracity only enters when the data is used for INFERENCE or prediction. That trigger is examinable.
•  Structured / semi-structured / unstructured with one example each. HTML is the semi-structured one they forget.
•  Footnote: the three alternative-data sources — individuals, business processes, sensors. Easy marks.
•  Flag the legal angle in the callout: web scraping can capture personal data, and the rules differ by jurisdiction.
FROM THE DESK — Alternative data vendors sell you volume and variety because those are easy to demonstrate. Veracity is transferred to you along with the invoice, and it is the expensive part — cleaning, backfilling and validating a satellite or card-panel feed costs more than the licence.
NEXT — Given the data, what actually learns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Connect the section back to §5 rather than treating ML as a separate universe. That link is what they should leave with.
•  The one dividing question: do you have a labelled target variable? Yes → supervised. No → unsupervised.
•  Deep learning is not a third category on that axis — it can be either. It is about ARCHITECTURE, hidden layers.
•  Mention NLP explicitly: sentiment on earnings calls and analyst commentary is the exam-relevant application.
•  Then the callout, and make it land: OLS IS supervised learning with one feature.
•  The trade they should understand: flexibility bought with interpretability. A regression coefficient explains itself.
FROM THE DESK — A great deal of what gets called AI inside a bank is logistic regression with a better front end and a bigger budget. That is not a criticism — the boring model is usually the one that survives model validation, precisely because someone can explain it.
ASK THE ROOM — You want to group 3,000 corporates into peer sets without using standard sector codes. Which class of ML?
NEXT — One warning before we close, and it is the one that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last real idea of the deck, and the one with the shortest path to losing money. Give it proper weight.
•  Define both failure modes in one sentence each: noise mistaken for signal, and signal mistaken for noise.
•  The diagnostic is the gap between training and test performance, not the training score itself.
•  Three fixes: more data, a simpler model, regularisation.
•  Flag that 60/20/20 is industry convention, not curriculum. The three-way split IS curriculum.
•  Tie it back: R² of 0.80 on six observations from slide 27 was overfitting in miniature.
FROM THE DESK — Assume every backtest presented to you has been overfitted, because the strategies that looked bad were quietly discarded and never shown. The only question worth asking in that meeting is how many variants were tried before this one — and the answer is almost never in the deck.
NEXT — Recap,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Eight cards, two minutes. Do not re-teach — reinforce the three things you most want surviving the walk to lunch.
•  Read only three aloud: the CI interpretation, the six steps, and t against a hypothesised value.
•  Ask the room for the one thing they will change about how they read a number. Take two answers.
•  Signpost forward: Deck 04 moves from tools to economics; every empirical claim there rests on this deck.
•  Point them at the two worked examples worth redoing tonight — Sendar and ROA-on-CAPEX.
•  Close on the sentence: statistics does not tell you what is true, it tells you what the data can and cannot rule out.
ASK THE ROOM — Someone hands you a regression with R² of 0.92. What are your first two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03  ·  WEEK 2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Sampling, Hypothesis</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Testing &amp; Regression</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From a sample to a population — the inferential toolkit underlying every empirical claim in finance</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1 Learning Modules 7–11</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Sampling, Hypothesis Testing &amp; Simple Linear Regression</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6 sections · ~2 hours · Built bottom-up from CFA readings</a:t>
            </a:r>
            <a:endParaRPr lang="en-US" sz="1300" dirty="0"/>
          </a:p>
        </p:txBody>
      </p:sp>
      <p:sp>
        <p:nvSpPr>
          <p:cNvPr id="8" name="Shape 6"/>
          <p:cNvSpPr/>
          <p:nvPr/>
        </p:nvSpPr>
        <p:spPr>
          <a:xfrm>
            <a:off x="320040" y="1207008"/>
            <a:ext cx="8503920" cy="560832"/>
          </a:xfrm>
          <a:prstGeom prst="rect">
            <a:avLst/>
          </a:prstGeom>
          <a:solidFill>
            <a:srgbClr val="FFFFFF"/>
          </a:solidFill>
          <a:ln/>
        </p:spPr>
      </p:sp>
      <p:sp>
        <p:nvSpPr>
          <p:cNvPr id="9" name="Shape 7"/>
          <p:cNvSpPr/>
          <p:nvPr/>
        </p:nvSpPr>
        <p:spPr>
          <a:xfrm>
            <a:off x="320040" y="1207008"/>
            <a:ext cx="594360" cy="560832"/>
          </a:xfrm>
          <a:prstGeom prst="rect">
            <a:avLst/>
          </a:prstGeom>
          <a:solidFill>
            <a:srgbClr val="1B2A4A"/>
          </a:solidFill>
          <a:ln/>
        </p:spPr>
      </p:sp>
      <p:sp>
        <p:nvSpPr>
          <p:cNvPr id="10" name="Text 8"/>
          <p:cNvSpPr txBox="1"/>
          <p:nvPr/>
        </p:nvSpPr>
        <p:spPr>
          <a:xfrm>
            <a:off x="320040" y="120700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Sampling distributions &amp; CLT</a:t>
            </a:r>
            <a:endParaRPr lang="en-US" sz="1200" dirty="0"/>
          </a:p>
        </p:txBody>
      </p:sp>
      <p:sp>
        <p:nvSpPr>
          <p:cNvPr id="12" name="Text 10"/>
          <p:cNvSpPr txBox="1"/>
          <p:nvPr/>
        </p:nvSpPr>
        <p:spPr>
          <a:xfrm>
            <a:off x="1024128" y="145938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Probability vs non-probability sampling · CLT · standard error · bootstrap &amp; jackknife</a:t>
            </a:r>
            <a:endParaRPr lang="en-US" sz="1100" dirty="0"/>
          </a:p>
        </p:txBody>
      </p:sp>
      <p:sp>
        <p:nvSpPr>
          <p:cNvPr id="13" name="Shape 11"/>
          <p:cNvSpPr/>
          <p:nvPr/>
        </p:nvSpPr>
        <p:spPr>
          <a:xfrm>
            <a:off x="320040" y="1804416"/>
            <a:ext cx="8503920" cy="560832"/>
          </a:xfrm>
          <a:prstGeom prst="rect">
            <a:avLst/>
          </a:prstGeom>
          <a:solidFill>
            <a:srgbClr val="F5F7FA"/>
          </a:solidFill>
          <a:ln/>
        </p:spPr>
      </p:sp>
      <p:sp>
        <p:nvSpPr>
          <p:cNvPr id="14" name="Shape 12"/>
          <p:cNvSpPr/>
          <p:nvPr/>
        </p:nvSpPr>
        <p:spPr>
          <a:xfrm>
            <a:off x="320040" y="1804416"/>
            <a:ext cx="594360" cy="560832"/>
          </a:xfrm>
          <a:prstGeom prst="rect">
            <a:avLst/>
          </a:prstGeom>
          <a:solidFill>
            <a:srgbClr val="1B2A4A"/>
          </a:solidFill>
          <a:ln/>
        </p:spPr>
      </p:sp>
      <p:sp>
        <p:nvSpPr>
          <p:cNvPr id="15" name="Text 13"/>
          <p:cNvSpPr txBox="1"/>
          <p:nvPr/>
        </p:nvSpPr>
        <p:spPr>
          <a:xfrm>
            <a:off x="320040" y="1804416"/>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850136"/>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Confidence intervals</a:t>
            </a:r>
            <a:endParaRPr lang="en-US" sz="1200" dirty="0"/>
          </a:p>
        </p:txBody>
      </p:sp>
      <p:sp>
        <p:nvSpPr>
          <p:cNvPr id="17" name="Text 15"/>
          <p:cNvSpPr txBox="1"/>
          <p:nvPr/>
        </p:nvSpPr>
        <p:spPr>
          <a:xfrm>
            <a:off x="1024128" y="2056790"/>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Reliability factors · t vs z · Sendar Fund 95% CI · what the interval does NOT mean</a:t>
            </a:r>
            <a:endParaRPr lang="en-US" sz="1100" dirty="0"/>
          </a:p>
        </p:txBody>
      </p:sp>
      <p:sp>
        <p:nvSpPr>
          <p:cNvPr id="18" name="Shape 16"/>
          <p:cNvSpPr/>
          <p:nvPr/>
        </p:nvSpPr>
        <p:spPr>
          <a:xfrm>
            <a:off x="320040" y="2401824"/>
            <a:ext cx="8503920" cy="560832"/>
          </a:xfrm>
          <a:prstGeom prst="rect">
            <a:avLst/>
          </a:prstGeom>
          <a:solidFill>
            <a:srgbClr val="FFFFFF"/>
          </a:solidFill>
          <a:ln/>
        </p:spPr>
      </p:sp>
      <p:sp>
        <p:nvSpPr>
          <p:cNvPr id="19" name="Shape 17"/>
          <p:cNvSpPr/>
          <p:nvPr/>
        </p:nvSpPr>
        <p:spPr>
          <a:xfrm>
            <a:off x="320040" y="2401824"/>
            <a:ext cx="594360" cy="560832"/>
          </a:xfrm>
          <a:prstGeom prst="rect">
            <a:avLst/>
          </a:prstGeom>
          <a:solidFill>
            <a:srgbClr val="1B2A4A"/>
          </a:solidFill>
          <a:ln/>
        </p:spPr>
      </p:sp>
      <p:sp>
        <p:nvSpPr>
          <p:cNvPr id="20" name="Text 18"/>
          <p:cNvSpPr txBox="1"/>
          <p:nvPr/>
        </p:nvSpPr>
        <p:spPr>
          <a:xfrm>
            <a:off x="320040" y="2401824"/>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447544"/>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Hypothesis-testing framework</a:t>
            </a:r>
            <a:endParaRPr lang="en-US" sz="1200" dirty="0"/>
          </a:p>
        </p:txBody>
      </p:sp>
      <p:sp>
        <p:nvSpPr>
          <p:cNvPr id="22" name="Text 20"/>
          <p:cNvSpPr txBox="1"/>
          <p:nvPr/>
        </p:nvSpPr>
        <p:spPr>
          <a:xfrm>
            <a:off x="1024128" y="2654198"/>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Six-step process · Type I / Type II · power · p-values · two-tailed t-test case study</a:t>
            </a:r>
            <a:endParaRPr lang="en-US" sz="1100" dirty="0"/>
          </a:p>
        </p:txBody>
      </p:sp>
      <p:sp>
        <p:nvSpPr>
          <p:cNvPr id="23" name="Shape 21"/>
          <p:cNvSpPr/>
          <p:nvPr/>
        </p:nvSpPr>
        <p:spPr>
          <a:xfrm>
            <a:off x="320040" y="2999232"/>
            <a:ext cx="8503920" cy="560832"/>
          </a:xfrm>
          <a:prstGeom prst="rect">
            <a:avLst/>
          </a:prstGeom>
          <a:solidFill>
            <a:srgbClr val="F5F7FA"/>
          </a:solidFill>
          <a:ln/>
        </p:spPr>
      </p:sp>
      <p:sp>
        <p:nvSpPr>
          <p:cNvPr id="24" name="Shape 22"/>
          <p:cNvSpPr/>
          <p:nvPr/>
        </p:nvSpPr>
        <p:spPr>
          <a:xfrm>
            <a:off x="320040" y="2999232"/>
            <a:ext cx="594360" cy="560832"/>
          </a:xfrm>
          <a:prstGeom prst="rect">
            <a:avLst/>
          </a:prstGeom>
          <a:solidFill>
            <a:srgbClr val="1B2A4A"/>
          </a:solidFill>
          <a:ln/>
        </p:spPr>
      </p:sp>
      <p:sp>
        <p:nvSpPr>
          <p:cNvPr id="25" name="Text 23"/>
          <p:cNvSpPr txBox="1"/>
          <p:nvPr/>
        </p:nvSpPr>
        <p:spPr>
          <a:xfrm>
            <a:off x="320040" y="2999232"/>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044952"/>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Common tests (t, χ², F, ρ)</a:t>
            </a:r>
            <a:endParaRPr lang="en-US" sz="1200" dirty="0"/>
          </a:p>
        </p:txBody>
      </p:sp>
      <p:sp>
        <p:nvSpPr>
          <p:cNvPr id="27" name="Text 25"/>
          <p:cNvSpPr txBox="1"/>
          <p:nvPr/>
        </p:nvSpPr>
        <p:spPr>
          <a:xfrm>
            <a:off x="1024128" y="3251606"/>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Cheat sheet · single variance · variance ratio · correlation (Pearson &amp; Spearman) · independence</a:t>
            </a:r>
            <a:endParaRPr lang="en-US" sz="1100" dirty="0"/>
          </a:p>
        </p:txBody>
      </p:sp>
      <p:sp>
        <p:nvSpPr>
          <p:cNvPr id="28" name="Shape 26"/>
          <p:cNvSpPr/>
          <p:nvPr/>
        </p:nvSpPr>
        <p:spPr>
          <a:xfrm>
            <a:off x="320040" y="3596640"/>
            <a:ext cx="8503920" cy="560832"/>
          </a:xfrm>
          <a:prstGeom prst="rect">
            <a:avLst/>
          </a:prstGeom>
          <a:solidFill>
            <a:srgbClr val="FFFFFF"/>
          </a:solidFill>
          <a:ln/>
        </p:spPr>
      </p:sp>
      <p:sp>
        <p:nvSpPr>
          <p:cNvPr id="29" name="Shape 27"/>
          <p:cNvSpPr/>
          <p:nvPr/>
        </p:nvSpPr>
        <p:spPr>
          <a:xfrm>
            <a:off x="320040" y="3596640"/>
            <a:ext cx="594360" cy="560832"/>
          </a:xfrm>
          <a:prstGeom prst="rect">
            <a:avLst/>
          </a:prstGeom>
          <a:solidFill>
            <a:srgbClr val="1B2A4A"/>
          </a:solidFill>
          <a:ln/>
        </p:spPr>
      </p:sp>
      <p:sp>
        <p:nvSpPr>
          <p:cNvPr id="30" name="Text 28"/>
          <p:cNvSpPr txBox="1"/>
          <p:nvPr/>
        </p:nvSpPr>
        <p:spPr>
          <a:xfrm>
            <a:off x="320040" y="3596640"/>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3642360"/>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Simple linear regression</a:t>
            </a:r>
            <a:endParaRPr lang="en-US" sz="1200" dirty="0"/>
          </a:p>
        </p:txBody>
      </p:sp>
      <p:sp>
        <p:nvSpPr>
          <p:cNvPr id="32" name="Text 30"/>
          <p:cNvSpPr txBox="1"/>
          <p:nvPr/>
        </p:nvSpPr>
        <p:spPr>
          <a:xfrm>
            <a:off x="1024128" y="3849014"/>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OLS · four assumptions · ANOVA &amp; R² · coefficient tests · prediction intervals · functional forms</a:t>
            </a:r>
            <a:endParaRPr lang="en-US" sz="1100" dirty="0"/>
          </a:p>
        </p:txBody>
      </p:sp>
      <p:sp>
        <p:nvSpPr>
          <p:cNvPr id="33" name="Shape 31"/>
          <p:cNvSpPr/>
          <p:nvPr/>
        </p:nvSpPr>
        <p:spPr>
          <a:xfrm>
            <a:off x="320040" y="4194048"/>
            <a:ext cx="8503920" cy="560832"/>
          </a:xfrm>
          <a:prstGeom prst="rect">
            <a:avLst/>
          </a:prstGeom>
          <a:solidFill>
            <a:srgbClr val="F5F7FA"/>
          </a:solidFill>
          <a:ln/>
        </p:spPr>
      </p:sp>
      <p:sp>
        <p:nvSpPr>
          <p:cNvPr id="34" name="Shape 32"/>
          <p:cNvSpPr/>
          <p:nvPr/>
        </p:nvSpPr>
        <p:spPr>
          <a:xfrm>
            <a:off x="320040" y="4194048"/>
            <a:ext cx="594360" cy="560832"/>
          </a:xfrm>
          <a:prstGeom prst="rect">
            <a:avLst/>
          </a:prstGeom>
          <a:solidFill>
            <a:srgbClr val="1B2A4A"/>
          </a:solidFill>
          <a:ln/>
        </p:spPr>
      </p:sp>
      <p:sp>
        <p:nvSpPr>
          <p:cNvPr id="35" name="Text 33"/>
          <p:cNvSpPr txBox="1"/>
          <p:nvPr/>
        </p:nvSpPr>
        <p:spPr>
          <a:xfrm>
            <a:off x="320040" y="419404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6" name="Text 34"/>
          <p:cNvSpPr txBox="1"/>
          <p:nvPr/>
        </p:nvSpPr>
        <p:spPr>
          <a:xfrm>
            <a:off x="1024128" y="423976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Big data &amp; ML wrap</a:t>
            </a:r>
            <a:endParaRPr lang="en-US" sz="1200" dirty="0"/>
          </a:p>
        </p:txBody>
      </p:sp>
      <p:sp>
        <p:nvSpPr>
          <p:cNvPr id="37" name="Text 35"/>
          <p:cNvSpPr txBox="1"/>
          <p:nvPr/>
        </p:nvSpPr>
        <p:spPr>
          <a:xfrm>
            <a:off x="1024128" y="444642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Three Vs + veracity · supervised / unsupervised / deep learning · overfitting · train-validate-test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Choose between simple random, systematic, stratified, cluster, convenience and judgmental sampling, and compute the standard error of a sample mean using the central limit theorem.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Build a confidence interval for a population mean using the correct reliability factor, and state precisely what the interval does and does not claim.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Run the six-step hypothesis-testing process, distinguishing Type I from Type II errors and one-tailed from two-tailed critical values.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Apply the right test statistic — t, z, chi-square or F — to a question about means, variances, correlations or categorical independence, and know its degrees of freedom.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Estimate a simple linear regression, test whether its slope differs from zero (or from any hypothesised value), and interpret R², the standard error of estimate, prediction intervals and log functional forms — then place all of it inside the big-data / ML landscape.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Sampling distributions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CLT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6  ·  Deck 3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Probability sampling gives every element a known chance of selection; non-probability sampling buys speed and cost at the risk of a non-representative sample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For a given sample size, cluster sampling is usually the LEAST accurate probability method — but the most time- and cost-efficient.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7, §2 Sampling Methods, pp. 197–201.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All else equal, probability methods yield more accuracy and reliability; non-probability methods trade precision for speed and cost.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00200"/>
                <a:gridCol w="1371600"/>
                <a:gridCol w="3108960"/>
                <a:gridCol w="2423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Method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How it works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Best when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Simple random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Probability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Every element equally likely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Homogeneous population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Systematic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Probability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Take every kth element in a list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Population cannot be listed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Stratified random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Probability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Sample each stratum pro rata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Indexing, known risk factors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Cluster (one/two stage)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Probability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Pick clusters, then sample within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Broad geographic surveys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Convenience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Non-probability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Take the cheapest data to access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Pilot studies, cost limits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Judgmental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Non-probability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An expert hand-picks the sample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Auditing, specialist tasks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429000"/>
            <a:ext cx="8503920" cy="914400"/>
          </a:xfrm>
          <a:prstGeom prst="rect">
            <a:avLst/>
          </a:prstGeom>
          <a:solidFill>
            <a:srgbClr val="FEF0E7"/>
          </a:solidFill>
          <a:ln/>
        </p:spPr>
      </p:sp>
      <p:sp>
        <p:nvSpPr>
          <p:cNvPr id="12" name="Shape 9"/>
          <p:cNvSpPr/>
          <p:nvPr/>
        </p:nvSpPr>
        <p:spPr>
          <a:xfrm>
            <a:off x="320040" y="3429000"/>
            <a:ext cx="73152" cy="914400"/>
          </a:xfrm>
          <a:prstGeom prst="rect">
            <a:avLst/>
          </a:prstGeom>
          <a:solidFill>
            <a:srgbClr val="E8600A"/>
          </a:solidFill>
          <a:ln/>
        </p:spPr>
      </p:sp>
      <p:sp>
        <p:nvSpPr>
          <p:cNvPr id="13" name="Text 10"/>
          <p:cNvSpPr txBox="1"/>
          <p:nvPr/>
        </p:nvSpPr>
        <p:spPr>
          <a:xfrm>
            <a:off x="457200" y="34747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STRATIFIED BEATS SIMPLE RANDOM IN FIXED INCOME</a:t>
            </a:r>
            <a:endParaRPr lang="en-US" sz="1100" dirty="0"/>
          </a:p>
        </p:txBody>
      </p:sp>
      <p:sp>
        <p:nvSpPr>
          <p:cNvPr id="14" name="Text 11"/>
          <p:cNvSpPr txBox="1"/>
          <p:nvPr/>
        </p:nvSpPr>
        <p:spPr>
          <a:xfrm>
            <a:off x="457200" y="374904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Full replication of a bond index means owning thousands of illiquid issues. Stratify instead: split the universe by duration, cash-flow profile, sector, credit quality and call exposure, then sample each cell in proportion to its index weight. Same risk exposures, a fraction of the line items — and smaller estimation variance than a simple random draw.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Whatever shape the population has, the sample mean goes approximately Normal(µ, σ²/n) once n is large — n ≥ 30 is the working rule of thumb</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7, §3 Central Limit Theorem and Inference, pp. 205–208.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CLT is the bedrock of inference: it lets us point normal-distribution tooling at a sample mean even when the underlying returns are nowhere near normal.</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X̄   ≈   N ( µ ,  σ² / n )      for large  n</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µ = population mean; σ² = population variance (must be FINITE); n = sample size. Requires a random sample; says nothing about any single observation.</a:t>
            </a:r>
            <a:endParaRPr lang="en-US" sz="1100" dirty="0"/>
          </a:p>
        </p:txBody>
      </p:sp>
      <p:sp>
        <p:nvSpPr>
          <p:cNvPr id="12" name="Shape 10"/>
          <p:cNvSpPr/>
          <p:nvPr/>
        </p:nvSpPr>
        <p:spPr>
          <a:xfrm>
            <a:off x="320040" y="2331720"/>
            <a:ext cx="2743200" cy="1920240"/>
          </a:xfrm>
          <a:prstGeom prst="rect">
            <a:avLst/>
          </a:prstGeom>
          <a:solidFill>
            <a:srgbClr val="F5F7FA"/>
          </a:solidFill>
          <a:ln/>
        </p:spPr>
      </p:sp>
      <p:sp>
        <p:nvSpPr>
          <p:cNvPr id="13" name="Shape 11"/>
          <p:cNvSpPr/>
          <p:nvPr/>
        </p:nvSpPr>
        <p:spPr>
          <a:xfrm>
            <a:off x="320040" y="2331720"/>
            <a:ext cx="73152" cy="1920240"/>
          </a:xfrm>
          <a:prstGeom prst="rect">
            <a:avLst/>
          </a:prstGeom>
          <a:solidFill>
            <a:srgbClr val="1B2A4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SHAPE</a:t>
            </a:r>
            <a:endParaRPr lang="en-US" sz="1100" dirty="0"/>
          </a:p>
        </p:txBody>
      </p:sp>
      <p:sp>
        <p:nvSpPr>
          <p:cNvPr id="15" name="Text 13"/>
          <p:cNvSpPr txBox="1"/>
          <p:nvPr/>
        </p:nvSpPr>
        <p:spPr>
          <a:xfrm>
            <a:off x="45720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Skewed, bimodal or heavy-tailed population — the distribution of the sample MEAN still converges to a bell curve. If the population is badly non-normal, n well above 30 may be needed.</a:t>
            </a:r>
            <a:endParaRPr lang="en-US" sz="1200" dirty="0"/>
          </a:p>
        </p:txBody>
      </p:sp>
      <p:sp>
        <p:nvSpPr>
          <p:cNvPr id="16" name="Shape 14"/>
          <p:cNvSpPr/>
          <p:nvPr/>
        </p:nvSpPr>
        <p:spPr>
          <a:xfrm>
            <a:off x="3200400" y="2331720"/>
            <a:ext cx="2743200" cy="1920240"/>
          </a:xfrm>
          <a:prstGeom prst="rect">
            <a:avLst/>
          </a:prstGeom>
          <a:solidFill>
            <a:srgbClr val="FEF0E7"/>
          </a:solidFill>
          <a:ln/>
        </p:spPr>
      </p:sp>
      <p:sp>
        <p:nvSpPr>
          <p:cNvPr id="17" name="Shape 15"/>
          <p:cNvSpPr/>
          <p:nvPr/>
        </p:nvSpPr>
        <p:spPr>
          <a:xfrm>
            <a:off x="3200400" y="2331720"/>
            <a:ext cx="73152" cy="1920240"/>
          </a:xfrm>
          <a:prstGeom prst="rect">
            <a:avLst/>
          </a:prstGeom>
          <a:solidFill>
            <a:srgbClr val="E8600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CENTRE</a:t>
            </a:r>
            <a:endParaRPr lang="en-US" sz="1100" dirty="0"/>
          </a:p>
        </p:txBody>
      </p:sp>
      <p:sp>
        <p:nvSpPr>
          <p:cNvPr id="19" name="Text 17"/>
          <p:cNvSpPr txBox="1"/>
          <p:nvPr/>
        </p:nvSpPr>
        <p:spPr>
          <a:xfrm>
            <a:off x="333756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sampling distribution is centred on µ: the sample mean is an UNBIASED estimator. More data does not move the centre — it tightens the spread.</a:t>
            </a:r>
            <a:endParaRPr lang="en-US" sz="1200" dirty="0"/>
          </a:p>
        </p:txBody>
      </p:sp>
      <p:sp>
        <p:nvSpPr>
          <p:cNvPr id="20" name="Shape 18"/>
          <p:cNvSpPr/>
          <p:nvPr/>
        </p:nvSpPr>
        <p:spPr>
          <a:xfrm>
            <a:off x="6080760" y="2331720"/>
            <a:ext cx="2743200" cy="1920240"/>
          </a:xfrm>
          <a:prstGeom prst="rect">
            <a:avLst/>
          </a:prstGeom>
          <a:solidFill>
            <a:srgbClr val="F5F7FA"/>
          </a:solidFill>
          <a:ln/>
        </p:spPr>
      </p:sp>
      <p:sp>
        <p:nvSpPr>
          <p:cNvPr id="21" name="Shape 19"/>
          <p:cNvSpPr/>
          <p:nvPr/>
        </p:nvSpPr>
        <p:spPr>
          <a:xfrm>
            <a:off x="6080760" y="2331720"/>
            <a:ext cx="73152" cy="1920240"/>
          </a:xfrm>
          <a:prstGeom prst="rect">
            <a:avLst/>
          </a:prstGeom>
          <a:solidFill>
            <a:srgbClr val="1B2A4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SPREAD</a:t>
            </a:r>
            <a:endParaRPr lang="en-US" sz="1100" dirty="0"/>
          </a:p>
        </p:txBody>
      </p:sp>
      <p:sp>
        <p:nvSpPr>
          <p:cNvPr id="23" name="Text 21"/>
          <p:cNvSpPr txBox="1"/>
          <p:nvPr/>
        </p:nvSpPr>
        <p:spPr>
          <a:xfrm>
            <a:off x="621792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Variance shrinks by 1/n, so standard deviation shrinks by 1/√n. That standard deviation has its own name: the STANDARD ERROR of the mean.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Standard error falls like 1/√n — quadrupling the sample only halves the error, so precision gets expensive fast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7, Example 2 (EAA Equity Index), Exhibit 2, pp. 201–202.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CFA Example 2: 1,258 daily returns of the EAA Equity Index are the "population" (mean 0.035%). Samples are drawn 100 times at each size and the mean absolute error recorded.</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σ_X̄ = σ/√n   (σ known)        s_X̄ = s/√n   (σ unknown)</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s² = Σ(Xᵢ − X̄)² / (n−1). The n−1 denominator is what makes s² an unbiased estimator of σ². In practice we almost always use 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2286000"/>
          <a:ext cx="8503920" cy="914400"/>
        </p:xfrm>
        <a:graphic>
          <a:graphicData uri="http://schemas.openxmlformats.org/drawingml/2006/table">
            <a:tbl>
              <a:tblPr/>
              <a:tblGrid>
                <a:gridCol w="1371600"/>
                <a:gridCol w="1737360"/>
                <a:gridCol w="1874520"/>
                <a:gridCol w="1737360"/>
                <a:gridCol w="1783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Sample size 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Random MAE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Stratified MAE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Ratio vs n = 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Theory √(5/n)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0.297%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0.152%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0.55×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0.083%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0.31×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0.051%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0.13×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0.019%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Bootstrap and jackknife estimate a sampling distribution from the data itself — the tool of choice when no analytical standard-error formula exists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7, §4 Resampling, Example 4, pp. 209–212.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Both are model-free: no assumption about the shape of the underlying population, and no closed-form statistic required.</a:t>
            </a:r>
            <a:endParaRPr lang="en-US" sz="1300" dirty="0"/>
          </a:p>
        </p:txBody>
      </p:sp>
      <p:sp>
        <p:nvSpPr>
          <p:cNvPr id="9" name="Shape 7"/>
          <p:cNvSpPr/>
          <p:nvPr/>
        </p:nvSpPr>
        <p:spPr>
          <a:xfrm>
            <a:off x="320040" y="1188720"/>
            <a:ext cx="4160520" cy="2286000"/>
          </a:xfrm>
          <a:prstGeom prst="rect">
            <a:avLst/>
          </a:prstGeom>
          <a:solidFill>
            <a:srgbClr val="FEF0E7"/>
          </a:solidFill>
          <a:ln/>
        </p:spPr>
      </p:sp>
      <p:sp>
        <p:nvSpPr>
          <p:cNvPr id="10" name="Shape 8"/>
          <p:cNvSpPr/>
          <p:nvPr/>
        </p:nvSpPr>
        <p:spPr>
          <a:xfrm>
            <a:off x="320040" y="1188720"/>
            <a:ext cx="73152" cy="228600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BOOTSTRAP  ·  DRAW WITH REPLACEMENT</a:t>
            </a:r>
            <a:endParaRPr lang="en-US" sz="1100" dirty="0"/>
          </a:p>
        </p:txBody>
      </p:sp>
      <p:sp>
        <p:nvSpPr>
          <p:cNvPr id="12" name="Text 10"/>
          <p:cNvSpPr txBox="1"/>
          <p:nvPr/>
        </p:nvSpPr>
        <p:spPr>
          <a:xfrm>
            <a:off x="457200" y="1508760"/>
            <a:ext cx="3931920" cy="1920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Draw B resamples, each of the SAME size n as the original sample, sampling with replacement. Compute the statistic on each. The spread of those B values approximates the true sampling distribution.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 is your choice. Results differ run to run.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Use for: standard error or CI of a median, a Sharpe ratio, a drawdown — anything with no formula.</a:t>
            </a:r>
            <a:endParaRPr lang="en-US" sz="1200" dirty="0"/>
          </a:p>
        </p:txBody>
      </p:sp>
      <p:sp>
        <p:nvSpPr>
          <p:cNvPr id="13" name="Shape 11"/>
          <p:cNvSpPr/>
          <p:nvPr/>
        </p:nvSpPr>
        <p:spPr>
          <a:xfrm>
            <a:off x="4663440" y="1188720"/>
            <a:ext cx="4160520" cy="2286000"/>
          </a:xfrm>
          <a:prstGeom prst="rect">
            <a:avLst/>
          </a:prstGeom>
          <a:solidFill>
            <a:srgbClr val="F5F7FA"/>
          </a:solidFill>
          <a:ln/>
        </p:spPr>
      </p:sp>
      <p:sp>
        <p:nvSpPr>
          <p:cNvPr id="14" name="Shape 12"/>
          <p:cNvSpPr/>
          <p:nvPr/>
        </p:nvSpPr>
        <p:spPr>
          <a:xfrm>
            <a:off x="4663440" y="1188720"/>
            <a:ext cx="73152" cy="228600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JACKKNIFE  ·  LEAVE ONE OUT</a:t>
            </a:r>
            <a:endParaRPr lang="en-US" sz="1100" dirty="0"/>
          </a:p>
        </p:txBody>
      </p:sp>
      <p:sp>
        <p:nvSpPr>
          <p:cNvPr id="16" name="Text 14"/>
          <p:cNvSpPr txBox="1"/>
          <p:nvPr/>
        </p:nvSpPr>
        <p:spPr>
          <a:xfrm>
            <a:off x="4800600" y="1508760"/>
            <a:ext cx="3931920" cy="1920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Remove one observation at a time and recompute the statistic on the remaining n − 1. Exactly n repetitions — no more, no fewer.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Deterministic: same answer every run.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Use for: reducing the BIAS of an estimator, plus standard errors and confidence intervals.</a:t>
            </a:r>
            <a:endParaRPr lang="en-US" sz="1200" dirty="0"/>
          </a:p>
        </p:txBody>
      </p:sp>
      <p:sp>
        <p:nvSpPr>
          <p:cNvPr id="17" name="Shape 15"/>
          <p:cNvSpPr/>
          <p:nvPr/>
        </p:nvSpPr>
        <p:spPr>
          <a:xfrm>
            <a:off x="320040" y="3566160"/>
            <a:ext cx="8503920" cy="777240"/>
          </a:xfrm>
          <a:prstGeom prst="rect">
            <a:avLst/>
          </a:prstGeom>
          <a:solidFill>
            <a:srgbClr val="FEF0E7"/>
          </a:solidFill>
          <a:ln/>
        </p:spPr>
      </p:sp>
      <p:sp>
        <p:nvSpPr>
          <p:cNvPr id="18" name="Shape 16"/>
          <p:cNvSpPr/>
          <p:nvPr/>
        </p:nvSpPr>
        <p:spPr>
          <a:xfrm>
            <a:off x="320040" y="3566160"/>
            <a:ext cx="73152" cy="777240"/>
          </a:xfrm>
          <a:prstGeom prst="rect">
            <a:avLst/>
          </a:prstGeom>
          <a:solidFill>
            <a:srgbClr val="E8600A"/>
          </a:solidFill>
          <a:ln/>
        </p:spPr>
      </p:sp>
      <p:sp>
        <p:nvSpPr>
          <p:cNvPr id="19" name="Text 17"/>
          <p:cNvSpPr txBox="1"/>
          <p:nvPr/>
        </p:nvSpPr>
        <p:spPr>
          <a:xfrm>
            <a:off x="457200" y="36118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EXAMPLE 4  ·  BOOTSTRAPPING A THINLY TRADED STOCK</a:t>
            </a:r>
            <a:endParaRPr lang="en-US" sz="1100" dirty="0"/>
          </a:p>
        </p:txBody>
      </p:sp>
      <p:sp>
        <p:nvSpPr>
          <p:cNvPr id="20" name="Text 18"/>
          <p:cNvSpPr txBox="1"/>
          <p:nvPr/>
        </p:nvSpPr>
        <p:spPr>
          <a:xfrm>
            <a:off x="457200" y="3886200"/>
            <a:ext cx="8275320" cy="411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12 monthly returns, B = 1,000 resamples. Mean across all resample means = −0.01367; Σ(θ̂b − θ̄)² = 1.94143. Standard error = √(1.94143 / 999) = 0.04408, i.e. 4.4% — computed without ever writing down σ/√n.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Confidence intervals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6  ·  Deck 3 of 20  ·  Studio Tonton Gug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confidence interval is the point estimate plus and minus a reliability factor times the standard error — t when σ is unknown, z when σ is known or n is very large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 reliability factors from Learning Module 12, Appendix B (Student's t) and Appendix A (standard normal).</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 finance σ is essentially never known, so the t-distribution is the default. As df grows, t collapses onto z — look down the last column.</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CI = X̄ ± t_{α/2, n−1} · s/√n        ( z_{α/2} if σ known )</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X̄ = sample mean; s = sample standard deviation; n = sample size. The reliability factor depends on the confidence level AND on the degrees of freedom.</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2286000"/>
          <a:ext cx="8503920" cy="914400"/>
        </p:xfrm>
        <a:graphic>
          <a:graphicData uri="http://schemas.openxmlformats.org/drawingml/2006/table">
            <a:tbl>
              <a:tblPr/>
              <a:tblGrid>
                <a:gridCol w="2103120"/>
                <a:gridCol w="914400"/>
                <a:gridCol w="1371600"/>
                <a:gridCol w="1371600"/>
                <a:gridCol w="137160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Confidence level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α</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z_{α/2}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(df = 10)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(df = 30)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(df = 120)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1.697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2.228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99%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2.576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2.617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3" name="Shape 10"/>
          <p:cNvSpPr/>
          <p:nvPr/>
        </p:nvSpPr>
        <p:spPr>
          <a:xfrm>
            <a:off x="320040" y="3520440"/>
            <a:ext cx="8503920" cy="960120"/>
          </a:xfrm>
          <a:prstGeom prst="rect">
            <a:avLst/>
          </a:prstGeom>
          <a:solidFill>
            <a:srgbClr val="FEF0E7"/>
          </a:solidFill>
          <a:ln/>
        </p:spPr>
      </p:sp>
      <p:sp>
        <p:nvSpPr>
          <p:cNvPr id="14" name="Shape 11"/>
          <p:cNvSpPr/>
          <p:nvPr/>
        </p:nvSpPr>
        <p:spPr>
          <a:xfrm>
            <a:off x="320040" y="3520440"/>
            <a:ext cx="73152" cy="960120"/>
          </a:xfrm>
          <a:prstGeom prst="rect">
            <a:avLst/>
          </a:prstGeom>
          <a:solidFill>
            <a:srgbClr val="E8600A"/>
          </a:solidFill>
          <a:ln/>
        </p:spPr>
      </p:sp>
      <p:sp>
        <p:nvSpPr>
          <p:cNvPr id="15" name="Text 12"/>
          <p:cNvSpPr txBox="1"/>
          <p:nvPr/>
        </p:nvSpPr>
        <p:spPr>
          <a:xfrm>
            <a:off x="457200" y="35661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A 95% INTERVAL DOES NOT MEAN</a:t>
            </a:r>
            <a:endParaRPr lang="en-US" sz="1100" dirty="0"/>
          </a:p>
        </p:txBody>
      </p:sp>
      <p:sp>
        <p:nvSpPr>
          <p:cNvPr id="16" name="Text 13"/>
          <p:cNvSpPr txBox="1"/>
          <p:nvPr/>
        </p:nvSpPr>
        <p:spPr>
          <a:xfrm>
            <a:off x="457200" y="384048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It does NOT mean "there is a 95% probability that µ lies between these two numbers". µ is a fixed constant — it is either in there or it is not. It means: if we repeated the sampling exercise many times and built an interval each time, 95% of those intervals would contain µ. The randomness is in the interval, not in µ.</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Sendar Fund's 95% interval for mean monthly return runs from −0.02% to +3.02% — wide enough to swallow the 1.10% model benchmark whole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8, §3 Tests of Return and Risk, Exhibit 5, pp. 224–225.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Building a confidence interval and running a two-tailed test at the same α are two views of one calculation. Hold that thought — we prove it in §3.</a:t>
            </a:r>
            <a:endParaRPr lang="en-US" sz="1300" dirty="0"/>
          </a:p>
        </p:txBody>
      </p:sp>
      <p:sp>
        <p:nvSpPr>
          <p:cNvPr id="9" name="Shape 7"/>
          <p:cNvSpPr/>
          <p:nvPr/>
        </p:nvSpPr>
        <p:spPr>
          <a:xfrm>
            <a:off x="320040" y="1188720"/>
            <a:ext cx="8503920" cy="3154680"/>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SENDAR EQUITY FUND — 95% CONFIDENCE INTERVAL FOR THE MEAN MONTHLY RETURN</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Sendar Equity Fund, a mid-cap growth fund with a 24-month track record: X̄ = 1.50%, s = 3.60%. A pricing model says the fund should have earned 1.10% a month given its market risk. Build the 95% interval and see whether 1.10% sits inside it.</a:t>
            </a:r>
            <a:endParaRPr lang="en-US" sz="1200" dirty="0"/>
          </a:p>
        </p:txBody>
      </p:sp>
      <p:sp>
        <p:nvSpPr>
          <p:cNvPr id="12" name="Text 10"/>
          <p:cNvSpPr txBox="1"/>
          <p:nvPr/>
        </p:nvSpPr>
        <p:spPr>
          <a:xfrm>
            <a:off x="457200" y="2039112"/>
            <a:ext cx="8229600" cy="17922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Degrees of freedom: n − 1 = 24 − 1 = 23.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Reliability factor, 95% two-sided, df = 23:  t*₀.₀₂₅,₂₃ = 2.069.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Standard error:  s / √n = 3.60 / √24 = 3.60 / 4.8990 = 0.7348.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Margin of error:  t* × SE = 2.069 × 0.7348 = 1.5204.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95% CI:  1.50 ± 1.5204  →  [ −0.0204% , +3.0204% ].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1.10% lies INSIDE the interval, so the data cannot distinguish the fund's mean from the model expectation at 5% significance.</a:t>
            </a:r>
            <a:endParaRPr lang="en-US" sz="1200" dirty="0"/>
          </a:p>
        </p:txBody>
      </p:sp>
      <p:sp>
        <p:nvSpPr>
          <p:cNvPr id="13" name="Shape 11"/>
          <p:cNvSpPr/>
          <p:nvPr/>
        </p:nvSpPr>
        <p:spPr>
          <a:xfrm>
            <a:off x="411480" y="3904488"/>
            <a:ext cx="8321040" cy="365760"/>
          </a:xfrm>
          <a:prstGeom prst="rect">
            <a:avLst/>
          </a:prstGeom>
          <a:solidFill>
            <a:srgbClr val="E8600A"/>
          </a:solidFill>
          <a:ln/>
        </p:spPr>
      </p:sp>
      <p:sp>
        <p:nvSpPr>
          <p:cNvPr id="14" name="Text 12"/>
          <p:cNvSpPr txBox="1"/>
          <p:nvPr/>
        </p:nvSpPr>
        <p:spPr>
          <a:xfrm>
            <a:off x="457200" y="3904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95% CI = [ −0.02% , +3.02% ]   ·   1.10% is inside   ·   no evidence of outperformance.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Hypothesis-testing</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framework</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6  ·  Deck 3 of 20  ·  Studio Tonton Gug</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Every hypothesis test is the same six steps — state, choose, set α, write the rule, compute, decide</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We never "accept" H₀ — only reject or fail to reject. Failing to reject means weak evidence, not a true null.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8, §2 The Process of Hypothesis Testing, Exhibit 1, pp. 219–222.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H₀ and Hₐ are statements about a POPULATION PARAMETER, and they must be mutually exclusive and collectively exhaustive. The "hoped-for" or suspected condition goes in Hₐ.</a:t>
            </a:r>
            <a:endParaRPr lang="en-US" sz="1300" dirty="0"/>
          </a:p>
        </p:txBody>
      </p:sp>
      <p:sp>
        <p:nvSpPr>
          <p:cNvPr id="10" name="Shape 8"/>
          <p:cNvSpPr/>
          <p:nvPr/>
        </p:nvSpPr>
        <p:spPr>
          <a:xfrm>
            <a:off x="320040" y="1143000"/>
            <a:ext cx="8503920" cy="521208"/>
          </a:xfrm>
          <a:prstGeom prst="rect">
            <a:avLst/>
          </a:prstGeom>
          <a:solidFill>
            <a:srgbClr val="FFFFFF"/>
          </a:solidFill>
          <a:ln/>
        </p:spPr>
      </p:sp>
      <p:sp>
        <p:nvSpPr>
          <p:cNvPr id="11" name="Shape 9"/>
          <p:cNvSpPr/>
          <p:nvPr/>
        </p:nvSpPr>
        <p:spPr>
          <a:xfrm>
            <a:off x="320040" y="1143000"/>
            <a:ext cx="91440" cy="521208"/>
          </a:xfrm>
          <a:prstGeom prst="rect">
            <a:avLst/>
          </a:prstGeom>
          <a:solidFill>
            <a:srgbClr val="E8600A"/>
          </a:solidFill>
          <a:ln/>
        </p:spPr>
      </p:sp>
      <p:sp>
        <p:nvSpPr>
          <p:cNvPr id="12" name="Text 10"/>
          <p:cNvSpPr txBox="1"/>
          <p:nvPr/>
        </p:nvSpPr>
        <p:spPr>
          <a:xfrm>
            <a:off x="502920" y="1143000"/>
            <a:ext cx="365760" cy="5212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3" name="Text 11"/>
          <p:cNvSpPr txBox="1"/>
          <p:nvPr/>
        </p:nvSpPr>
        <p:spPr>
          <a:xfrm>
            <a:off x="868680" y="1179576"/>
            <a:ext cx="7863840" cy="23454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State the hypotheses</a:t>
            </a:r>
            <a:endParaRPr lang="en-US" sz="1200" dirty="0"/>
          </a:p>
        </p:txBody>
      </p:sp>
      <p:sp>
        <p:nvSpPr>
          <p:cNvPr id="14" name="Text 12"/>
          <p:cNvSpPr txBox="1"/>
          <p:nvPr/>
        </p:nvSpPr>
        <p:spPr>
          <a:xfrm>
            <a:off x="868680" y="1377544"/>
            <a:ext cx="7863840" cy="28666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Write H₀ and Hₐ in terms of the population parameter. Two-sided (=  vs  ≠) or one-sided (≤ vs &gt;, ≥ vs &lt;).</a:t>
            </a:r>
            <a:endParaRPr lang="en-US" sz="1200" dirty="0"/>
          </a:p>
        </p:txBody>
      </p:sp>
      <p:sp>
        <p:nvSpPr>
          <p:cNvPr id="15" name="Shape 13"/>
          <p:cNvSpPr/>
          <p:nvPr/>
        </p:nvSpPr>
        <p:spPr>
          <a:xfrm>
            <a:off x="320040" y="1691640"/>
            <a:ext cx="8503920" cy="521208"/>
          </a:xfrm>
          <a:prstGeom prst="rect">
            <a:avLst/>
          </a:prstGeom>
          <a:solidFill>
            <a:srgbClr val="F5F7FA"/>
          </a:solidFill>
          <a:ln/>
        </p:spPr>
      </p:sp>
      <p:sp>
        <p:nvSpPr>
          <p:cNvPr id="16" name="Shape 14"/>
          <p:cNvSpPr/>
          <p:nvPr/>
        </p:nvSpPr>
        <p:spPr>
          <a:xfrm>
            <a:off x="320040" y="1691640"/>
            <a:ext cx="91440" cy="521208"/>
          </a:xfrm>
          <a:prstGeom prst="rect">
            <a:avLst/>
          </a:prstGeom>
          <a:solidFill>
            <a:srgbClr val="E8600A"/>
          </a:solidFill>
          <a:ln/>
        </p:spPr>
      </p:sp>
      <p:sp>
        <p:nvSpPr>
          <p:cNvPr id="17" name="Text 15"/>
          <p:cNvSpPr txBox="1"/>
          <p:nvPr/>
        </p:nvSpPr>
        <p:spPr>
          <a:xfrm>
            <a:off x="502920" y="1691640"/>
            <a:ext cx="365760" cy="5212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8" name="Text 16"/>
          <p:cNvSpPr txBox="1"/>
          <p:nvPr/>
        </p:nvSpPr>
        <p:spPr>
          <a:xfrm>
            <a:off x="868680" y="1728216"/>
            <a:ext cx="7863840" cy="23454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Identify the test statistic</a:t>
            </a:r>
            <a:endParaRPr lang="en-US" sz="1200" dirty="0"/>
          </a:p>
        </p:txBody>
      </p:sp>
      <p:sp>
        <p:nvSpPr>
          <p:cNvPr id="19" name="Text 17"/>
          <p:cNvSpPr txBox="1"/>
          <p:nvPr/>
        </p:nvSpPr>
        <p:spPr>
          <a:xfrm>
            <a:off x="868680" y="1926184"/>
            <a:ext cx="7863840" cy="28666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Driven entirely by what you are testing: t for a mean, χ² for a variance, F for a variance ratio, χ² for independence.</a:t>
            </a:r>
            <a:endParaRPr lang="en-US" sz="1200" dirty="0"/>
          </a:p>
        </p:txBody>
      </p:sp>
      <p:sp>
        <p:nvSpPr>
          <p:cNvPr id="20" name="Shape 18"/>
          <p:cNvSpPr/>
          <p:nvPr/>
        </p:nvSpPr>
        <p:spPr>
          <a:xfrm>
            <a:off x="320040" y="2240280"/>
            <a:ext cx="8503920" cy="521208"/>
          </a:xfrm>
          <a:prstGeom prst="rect">
            <a:avLst/>
          </a:prstGeom>
          <a:solidFill>
            <a:srgbClr val="FFFFFF"/>
          </a:solidFill>
          <a:ln/>
        </p:spPr>
      </p:sp>
      <p:sp>
        <p:nvSpPr>
          <p:cNvPr id="21" name="Shape 19"/>
          <p:cNvSpPr/>
          <p:nvPr/>
        </p:nvSpPr>
        <p:spPr>
          <a:xfrm>
            <a:off x="320040" y="2240280"/>
            <a:ext cx="91440" cy="521208"/>
          </a:xfrm>
          <a:prstGeom prst="rect">
            <a:avLst/>
          </a:prstGeom>
          <a:solidFill>
            <a:srgbClr val="E8600A"/>
          </a:solidFill>
          <a:ln/>
        </p:spPr>
      </p:sp>
      <p:sp>
        <p:nvSpPr>
          <p:cNvPr id="22" name="Text 20"/>
          <p:cNvSpPr txBox="1"/>
          <p:nvPr/>
        </p:nvSpPr>
        <p:spPr>
          <a:xfrm>
            <a:off x="502920" y="2240280"/>
            <a:ext cx="365760" cy="5212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3" name="Text 21"/>
          <p:cNvSpPr txBox="1"/>
          <p:nvPr/>
        </p:nvSpPr>
        <p:spPr>
          <a:xfrm>
            <a:off x="868680" y="2276856"/>
            <a:ext cx="7863840" cy="23454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Specify the significance level</a:t>
            </a:r>
            <a:endParaRPr lang="en-US" sz="1200" dirty="0"/>
          </a:p>
        </p:txBody>
      </p:sp>
      <p:sp>
        <p:nvSpPr>
          <p:cNvPr id="24" name="Text 22"/>
          <p:cNvSpPr txBox="1"/>
          <p:nvPr/>
        </p:nvSpPr>
        <p:spPr>
          <a:xfrm>
            <a:off x="868680" y="2474824"/>
            <a:ext cx="7863840" cy="28666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α = the probability of a Type I error you are willing to run. Convention: 10%, 5%, 1%. Lower α = harder to reject.</a:t>
            </a:r>
            <a:endParaRPr lang="en-US" sz="1200" dirty="0"/>
          </a:p>
        </p:txBody>
      </p:sp>
      <p:sp>
        <p:nvSpPr>
          <p:cNvPr id="25" name="Shape 23"/>
          <p:cNvSpPr/>
          <p:nvPr/>
        </p:nvSpPr>
        <p:spPr>
          <a:xfrm>
            <a:off x="320040" y="2788920"/>
            <a:ext cx="8503920" cy="521208"/>
          </a:xfrm>
          <a:prstGeom prst="rect">
            <a:avLst/>
          </a:prstGeom>
          <a:solidFill>
            <a:srgbClr val="F5F7FA"/>
          </a:solidFill>
          <a:ln/>
        </p:spPr>
      </p:sp>
      <p:sp>
        <p:nvSpPr>
          <p:cNvPr id="26" name="Shape 24"/>
          <p:cNvSpPr/>
          <p:nvPr/>
        </p:nvSpPr>
        <p:spPr>
          <a:xfrm>
            <a:off x="320040" y="2788920"/>
            <a:ext cx="91440" cy="521208"/>
          </a:xfrm>
          <a:prstGeom prst="rect">
            <a:avLst/>
          </a:prstGeom>
          <a:solidFill>
            <a:srgbClr val="E8600A"/>
          </a:solidFill>
          <a:ln/>
        </p:spPr>
      </p:sp>
      <p:sp>
        <p:nvSpPr>
          <p:cNvPr id="27" name="Text 25"/>
          <p:cNvSpPr txBox="1"/>
          <p:nvPr/>
        </p:nvSpPr>
        <p:spPr>
          <a:xfrm>
            <a:off x="502920" y="2788920"/>
            <a:ext cx="365760" cy="5212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8" name="Text 26"/>
          <p:cNvSpPr txBox="1"/>
          <p:nvPr/>
        </p:nvSpPr>
        <p:spPr>
          <a:xfrm>
            <a:off x="868680" y="2825496"/>
            <a:ext cx="7863840" cy="23454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State the decision rule</a:t>
            </a:r>
            <a:endParaRPr lang="en-US" sz="1200" dirty="0"/>
          </a:p>
        </p:txBody>
      </p:sp>
      <p:sp>
        <p:nvSpPr>
          <p:cNvPr id="29" name="Text 27"/>
          <p:cNvSpPr txBox="1"/>
          <p:nvPr/>
        </p:nvSpPr>
        <p:spPr>
          <a:xfrm>
            <a:off x="868680" y="3023464"/>
            <a:ext cx="7863840" cy="28666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Look up the critical value(s) for this α, this df AND this number of tails. Reject if the statistic is MORE EXTREME.</a:t>
            </a:r>
            <a:endParaRPr lang="en-US" sz="1200" dirty="0"/>
          </a:p>
        </p:txBody>
      </p:sp>
      <p:sp>
        <p:nvSpPr>
          <p:cNvPr id="30" name="Shape 28"/>
          <p:cNvSpPr/>
          <p:nvPr/>
        </p:nvSpPr>
        <p:spPr>
          <a:xfrm>
            <a:off x="320040" y="3337560"/>
            <a:ext cx="8503920" cy="521208"/>
          </a:xfrm>
          <a:prstGeom prst="rect">
            <a:avLst/>
          </a:prstGeom>
          <a:solidFill>
            <a:srgbClr val="FFFFFF"/>
          </a:solidFill>
          <a:ln/>
        </p:spPr>
      </p:sp>
      <p:sp>
        <p:nvSpPr>
          <p:cNvPr id="31" name="Shape 29"/>
          <p:cNvSpPr/>
          <p:nvPr/>
        </p:nvSpPr>
        <p:spPr>
          <a:xfrm>
            <a:off x="320040" y="3337560"/>
            <a:ext cx="91440" cy="521208"/>
          </a:xfrm>
          <a:prstGeom prst="rect">
            <a:avLst/>
          </a:prstGeom>
          <a:solidFill>
            <a:srgbClr val="E8600A"/>
          </a:solidFill>
          <a:ln/>
        </p:spPr>
      </p:sp>
      <p:sp>
        <p:nvSpPr>
          <p:cNvPr id="32" name="Text 30"/>
          <p:cNvSpPr txBox="1"/>
          <p:nvPr/>
        </p:nvSpPr>
        <p:spPr>
          <a:xfrm>
            <a:off x="502920" y="3337560"/>
            <a:ext cx="365760" cy="5212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5</a:t>
            </a:r>
            <a:endParaRPr lang="en-US" sz="1300" dirty="0"/>
          </a:p>
        </p:txBody>
      </p:sp>
      <p:sp>
        <p:nvSpPr>
          <p:cNvPr id="33" name="Text 31"/>
          <p:cNvSpPr txBox="1"/>
          <p:nvPr/>
        </p:nvSpPr>
        <p:spPr>
          <a:xfrm>
            <a:off x="868680" y="3374136"/>
            <a:ext cx="7863840" cy="23454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Calculate the test statistic</a:t>
            </a:r>
            <a:endParaRPr lang="en-US" sz="1200" dirty="0"/>
          </a:p>
        </p:txBody>
      </p:sp>
      <p:sp>
        <p:nvSpPr>
          <p:cNvPr id="34" name="Text 32"/>
          <p:cNvSpPr txBox="1"/>
          <p:nvPr/>
        </p:nvSpPr>
        <p:spPr>
          <a:xfrm>
            <a:off x="868680" y="3572104"/>
            <a:ext cx="7863840" cy="28666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Plug the sample into the formula. Report the value and, wherever software allows, the p-value alongside it.</a:t>
            </a:r>
            <a:endParaRPr lang="en-US" sz="1200" dirty="0"/>
          </a:p>
        </p:txBody>
      </p:sp>
      <p:sp>
        <p:nvSpPr>
          <p:cNvPr id="35" name="Shape 33"/>
          <p:cNvSpPr/>
          <p:nvPr/>
        </p:nvSpPr>
        <p:spPr>
          <a:xfrm>
            <a:off x="320040" y="3886200"/>
            <a:ext cx="8503920" cy="521208"/>
          </a:xfrm>
          <a:prstGeom prst="rect">
            <a:avLst/>
          </a:prstGeom>
          <a:solidFill>
            <a:srgbClr val="F5F7FA"/>
          </a:solidFill>
          <a:ln/>
        </p:spPr>
      </p:sp>
      <p:sp>
        <p:nvSpPr>
          <p:cNvPr id="36" name="Shape 34"/>
          <p:cNvSpPr/>
          <p:nvPr/>
        </p:nvSpPr>
        <p:spPr>
          <a:xfrm>
            <a:off x="320040" y="3886200"/>
            <a:ext cx="91440" cy="521208"/>
          </a:xfrm>
          <a:prstGeom prst="rect">
            <a:avLst/>
          </a:prstGeom>
          <a:solidFill>
            <a:srgbClr val="E8600A"/>
          </a:solidFill>
          <a:ln/>
        </p:spPr>
      </p:sp>
      <p:sp>
        <p:nvSpPr>
          <p:cNvPr id="37" name="Text 35"/>
          <p:cNvSpPr txBox="1"/>
          <p:nvPr/>
        </p:nvSpPr>
        <p:spPr>
          <a:xfrm>
            <a:off x="502920" y="3886200"/>
            <a:ext cx="365760" cy="52120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6</a:t>
            </a:r>
            <a:endParaRPr lang="en-US" sz="1300" dirty="0"/>
          </a:p>
        </p:txBody>
      </p:sp>
      <p:sp>
        <p:nvSpPr>
          <p:cNvPr id="38" name="Text 36"/>
          <p:cNvSpPr txBox="1"/>
          <p:nvPr/>
        </p:nvSpPr>
        <p:spPr>
          <a:xfrm>
            <a:off x="868680" y="3922776"/>
            <a:ext cx="7863840" cy="23454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Make a decision</a:t>
            </a:r>
            <a:endParaRPr lang="en-US" sz="1200" dirty="0"/>
          </a:p>
        </p:txBody>
      </p:sp>
      <p:sp>
        <p:nvSpPr>
          <p:cNvPr id="39" name="Text 37"/>
          <p:cNvSpPr txBox="1"/>
          <p:nvPr/>
        </p:nvSpPr>
        <p:spPr>
          <a:xfrm>
            <a:off x="868680" y="4120744"/>
            <a:ext cx="7863840" cy="28666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Reject H₀ if the statistic is beyond the critical value — equivalently, if p ≤ α. Otherwise, fail to reject.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Type I rejects a true null (false positive, probability α); Type II fails to reject a false null (false negative, probability β) — and lowering one raises the other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8, §2 Errors and Power, Exhibits 3–4, pp. 221–222.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ONLY way to reduce both error probabilities at the same time is to increase the sample size n. Everything else is a trade.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3017520"/>
                <a:gridCol w="2743200"/>
                <a:gridCol w="27432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Your decision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H₀ is TRUE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H₀ is FALSE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Fail to reject H₀</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Correct decision  (1 − α)</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TYPE II — false negative (β)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Reject H₀</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TYPE I — false positive (α)</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Correct — POWER (1 − 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331720"/>
            <a:ext cx="4160520" cy="1920240"/>
          </a:xfrm>
          <a:prstGeom prst="rect">
            <a:avLst/>
          </a:prstGeom>
          <a:solidFill>
            <a:srgbClr val="FEF0E7"/>
          </a:solidFill>
          <a:ln/>
        </p:spPr>
      </p:sp>
      <p:sp>
        <p:nvSpPr>
          <p:cNvPr id="11" name="Shape 8"/>
          <p:cNvSpPr/>
          <p:nvPr/>
        </p:nvSpPr>
        <p:spPr>
          <a:xfrm>
            <a:off x="320040" y="2331720"/>
            <a:ext cx="73152" cy="1920240"/>
          </a:xfrm>
          <a:prstGeom prst="rect">
            <a:avLst/>
          </a:prstGeom>
          <a:solidFill>
            <a:srgbClr val="E8600A"/>
          </a:solidFill>
          <a:ln/>
        </p:spPr>
      </p:sp>
      <p:sp>
        <p:nvSpPr>
          <p:cNvPr id="12" name="Text 9"/>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WHICH ERROR HURTS MORE?</a:t>
            </a:r>
            <a:endParaRPr lang="en-US" sz="1100" dirty="0"/>
          </a:p>
        </p:txBody>
      </p:sp>
      <p:sp>
        <p:nvSpPr>
          <p:cNvPr id="13" name="Text 10"/>
          <p:cNvSpPr txBox="1"/>
          <p:nvPr/>
        </p:nvSpPr>
        <p:spPr>
          <a:xfrm>
            <a:off x="4572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It depends entirely on the consequences, and that is what should set α. Approving a drug that does not work is a costly Type I. Missing a borrower who then defaults is a costly Type II. Choose α from the cost of being wrong, not from habit.</a:t>
            </a:r>
            <a:endParaRPr lang="en-US" sz="1200" dirty="0"/>
          </a:p>
        </p:txBody>
      </p:sp>
      <p:sp>
        <p:nvSpPr>
          <p:cNvPr id="14" name="Shape 11"/>
          <p:cNvSpPr/>
          <p:nvPr/>
        </p:nvSpPr>
        <p:spPr>
          <a:xfrm>
            <a:off x="4663440" y="2331720"/>
            <a:ext cx="4160520" cy="1920240"/>
          </a:xfrm>
          <a:prstGeom prst="rect">
            <a:avLst/>
          </a:prstGeom>
          <a:solidFill>
            <a:srgbClr val="F5F7FA"/>
          </a:solidFill>
          <a:ln/>
        </p:spPr>
      </p:sp>
      <p:sp>
        <p:nvSpPr>
          <p:cNvPr id="15" name="Shape 12"/>
          <p:cNvSpPr/>
          <p:nvPr/>
        </p:nvSpPr>
        <p:spPr>
          <a:xfrm>
            <a:off x="4663440" y="2331720"/>
            <a:ext cx="73152" cy="1920240"/>
          </a:xfrm>
          <a:prstGeom prst="rect">
            <a:avLst/>
          </a:prstGeom>
          <a:solidFill>
            <a:srgbClr val="1B2A4A"/>
          </a:solidFill>
          <a:ln/>
        </p:spPr>
      </p:sp>
      <p:sp>
        <p:nvSpPr>
          <p:cNvPr id="16" name="Text 13"/>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POWER  =  1 − β</a:t>
            </a:r>
            <a:endParaRPr lang="en-US" sz="1100" dirty="0"/>
          </a:p>
        </p:txBody>
      </p:sp>
      <p:sp>
        <p:nvSpPr>
          <p:cNvPr id="17" name="Text 14"/>
          <p:cNvSpPr txBox="1"/>
          <p:nvPr/>
        </p:nvSpPr>
        <p:spPr>
          <a:xfrm>
            <a:off x="48006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Power = P(reject H₀ | H₀ is false) — the ability to detect a real effect. It rises with a larger true effect, a larger n, a smaller σ, and a higher α. An underpowered study is worse than no study: it produces a confident "no effect".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p-value is the smallest α at which the null could be rejected — reject when p ≤ α, and never read it as the probability that H₀ is true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8, §2 Decision Rule and p-Values, pp. 222–223.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two-tailed p-value is TWICE the one-tail probability beyond |t_calc|. Reporting p is strictly more informative than reporting a binary reject / fail-to-reject.</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 = P( |T| ≥ |t_calc| | H₀ true )        Reject H₀  iff  p ≤ α</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 = the test-statistic random variable under H₀; t_calc = the value realised from this sample. p is a statement about the DATA given H₀ — not about H₀ given the data.</a:t>
            </a:r>
            <a:endParaRPr lang="en-US" sz="1100" dirty="0"/>
          </a:p>
        </p:txBody>
      </p:sp>
      <p:sp>
        <p:nvSpPr>
          <p:cNvPr id="12" name="Shape 10"/>
          <p:cNvSpPr/>
          <p:nvPr/>
        </p:nvSpPr>
        <p:spPr>
          <a:xfrm>
            <a:off x="320040" y="2331720"/>
            <a:ext cx="2743200" cy="1920240"/>
          </a:xfrm>
          <a:prstGeom prst="rect">
            <a:avLst/>
          </a:prstGeom>
          <a:solidFill>
            <a:srgbClr val="F5F7FA"/>
          </a:solidFill>
          <a:ln/>
        </p:spPr>
      </p:sp>
      <p:sp>
        <p:nvSpPr>
          <p:cNvPr id="13" name="Shape 11"/>
          <p:cNvSpPr/>
          <p:nvPr/>
        </p:nvSpPr>
        <p:spPr>
          <a:xfrm>
            <a:off x="320040" y="2331720"/>
            <a:ext cx="73152" cy="1920240"/>
          </a:xfrm>
          <a:prstGeom prst="rect">
            <a:avLst/>
          </a:prstGeom>
          <a:solidFill>
            <a:srgbClr val="1B2A4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TWO-TAILED</a:t>
            </a:r>
            <a:endParaRPr lang="en-US" sz="1100" dirty="0"/>
          </a:p>
        </p:txBody>
      </p:sp>
      <p:sp>
        <p:nvSpPr>
          <p:cNvPr id="15" name="Text 13"/>
          <p:cNvSpPr txBox="1"/>
          <p:nvPr/>
        </p:nvSpPr>
        <p:spPr>
          <a:xfrm>
            <a:off x="45720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H₀: θ = θ₀   vs   Hₐ: θ ≠ θ₀</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Reject if |t_calc| &gt; t_{α/2, df}</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 = 2 × P( T &gt; |t_calc| )</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α is SPLIT across both tails.</a:t>
            </a:r>
            <a:endParaRPr lang="en-US" sz="1200" dirty="0"/>
          </a:p>
        </p:txBody>
      </p:sp>
      <p:sp>
        <p:nvSpPr>
          <p:cNvPr id="16" name="Shape 14"/>
          <p:cNvSpPr/>
          <p:nvPr/>
        </p:nvSpPr>
        <p:spPr>
          <a:xfrm>
            <a:off x="3200400" y="2331720"/>
            <a:ext cx="2743200" cy="1920240"/>
          </a:xfrm>
          <a:prstGeom prst="rect">
            <a:avLst/>
          </a:prstGeom>
          <a:solidFill>
            <a:srgbClr val="FEF0E7"/>
          </a:solidFill>
          <a:ln/>
        </p:spPr>
      </p:sp>
      <p:sp>
        <p:nvSpPr>
          <p:cNvPr id="17" name="Shape 15"/>
          <p:cNvSpPr/>
          <p:nvPr/>
        </p:nvSpPr>
        <p:spPr>
          <a:xfrm>
            <a:off x="3200400" y="2331720"/>
            <a:ext cx="73152" cy="1920240"/>
          </a:xfrm>
          <a:prstGeom prst="rect">
            <a:avLst/>
          </a:prstGeom>
          <a:solidFill>
            <a:srgbClr val="E8600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RIGHT-TAILED</a:t>
            </a:r>
            <a:endParaRPr lang="en-US" sz="1100" dirty="0"/>
          </a:p>
        </p:txBody>
      </p:sp>
      <p:sp>
        <p:nvSpPr>
          <p:cNvPr id="19" name="Text 17"/>
          <p:cNvSpPr txBox="1"/>
          <p:nvPr/>
        </p:nvSpPr>
        <p:spPr>
          <a:xfrm>
            <a:off x="333756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H₀: θ ≤ θ₀   vs   Hₐ: θ &gt; θ₀</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Reject if t_calc &gt; t_{α, df}</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 = P( T &gt; t_calc )</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All of α sits in the upper tail.</a:t>
            </a:r>
            <a:endParaRPr lang="en-US" sz="1200" dirty="0"/>
          </a:p>
        </p:txBody>
      </p:sp>
      <p:sp>
        <p:nvSpPr>
          <p:cNvPr id="20" name="Shape 18"/>
          <p:cNvSpPr/>
          <p:nvPr/>
        </p:nvSpPr>
        <p:spPr>
          <a:xfrm>
            <a:off x="6080760" y="2331720"/>
            <a:ext cx="2743200" cy="1920240"/>
          </a:xfrm>
          <a:prstGeom prst="rect">
            <a:avLst/>
          </a:prstGeom>
          <a:solidFill>
            <a:srgbClr val="F5F7FA"/>
          </a:solidFill>
          <a:ln/>
        </p:spPr>
      </p:sp>
      <p:sp>
        <p:nvSpPr>
          <p:cNvPr id="21" name="Shape 19"/>
          <p:cNvSpPr/>
          <p:nvPr/>
        </p:nvSpPr>
        <p:spPr>
          <a:xfrm>
            <a:off x="6080760" y="2331720"/>
            <a:ext cx="73152" cy="1920240"/>
          </a:xfrm>
          <a:prstGeom prst="rect">
            <a:avLst/>
          </a:prstGeom>
          <a:solidFill>
            <a:srgbClr val="1B2A4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LEFT-TAILED</a:t>
            </a:r>
            <a:endParaRPr lang="en-US" sz="1100" dirty="0"/>
          </a:p>
        </p:txBody>
      </p:sp>
      <p:sp>
        <p:nvSpPr>
          <p:cNvPr id="23" name="Text 21"/>
          <p:cNvSpPr txBox="1"/>
          <p:nvPr/>
        </p:nvSpPr>
        <p:spPr>
          <a:xfrm>
            <a:off x="621792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H₀: θ ≥ θ₀   vs   Hₐ: θ &lt; θ₀</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Reject if t_calc &lt; −t_{α, df}</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 = P( T &lt; t_calc )</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All of α sits in the lower tail.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Sendar's t-statistic of 0.544 sits well inside the ±2.069 band, so at 5% we fail to reject the 1.10% benchmark — exactly what the confidence interval already told us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8, §3 Test of a Single Mean, Exhibit 5, pp. 224–225.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fund, same numbers, same α as slide 11 — and necessarily the same conclusion. A two-tailed test at α and a 100(1−α)% interval are one calculation in two costumes.</a:t>
            </a:r>
            <a:endParaRPr lang="en-US" sz="1300" dirty="0"/>
          </a:p>
        </p:txBody>
      </p:sp>
      <p:sp>
        <p:nvSpPr>
          <p:cNvPr id="9" name="Shape 7"/>
          <p:cNvSpPr/>
          <p:nvPr/>
        </p:nvSpPr>
        <p:spPr>
          <a:xfrm>
            <a:off x="320040" y="1188720"/>
            <a:ext cx="8503920" cy="3154680"/>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SIX STEPS APPLIED — t-TEST OF A SINGLE MEAN</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Sendar Equity Fund: X̄ = 1.50%, s = 3.60%, n = 24 months. Test at α = 5% whether the true mean monthly return differs from the 1.10% implied by the pricing model. Returns assumed approximately normal.</a:t>
            </a:r>
            <a:endParaRPr lang="en-US" sz="1200" dirty="0"/>
          </a:p>
        </p:txBody>
      </p:sp>
      <p:sp>
        <p:nvSpPr>
          <p:cNvPr id="12" name="Text 10"/>
          <p:cNvSpPr txBox="1"/>
          <p:nvPr/>
        </p:nvSpPr>
        <p:spPr>
          <a:xfrm>
            <a:off x="457200" y="2039112"/>
            <a:ext cx="8229600" cy="17922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Hypotheses.  H₀: µ = 1.10%   vs   Hₐ: µ ≠ 1.10%   — two-tailed, because "differs" has no direction.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Test statistic.  t = (X̄ − µ₀) / (s/√n), t-distributed with df = n − 1 = 23. (σ unknown → t, not z.)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Significance.  α = 5%, split as 2.5% in each tail.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Decision rule.  Reject if t_calc &lt; −2.069 or t_calc &gt; +2.069.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Compute.  t = (1.50 − 1.10) / (3.60/√24) = 0.40 / 0.7348 = 0.5443.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Decide.  |0.5443| &lt; 2.069 → fail to reject H₀ (two-tailed p ≈ 0.59, nowhere near 0.05).</a:t>
            </a:r>
            <a:endParaRPr lang="en-US" sz="1200" dirty="0"/>
          </a:p>
        </p:txBody>
      </p:sp>
      <p:sp>
        <p:nvSpPr>
          <p:cNvPr id="13" name="Shape 11"/>
          <p:cNvSpPr/>
          <p:nvPr/>
        </p:nvSpPr>
        <p:spPr>
          <a:xfrm>
            <a:off x="411480" y="3904488"/>
            <a:ext cx="8321040" cy="365760"/>
          </a:xfrm>
          <a:prstGeom prst="rect">
            <a:avLst/>
          </a:prstGeom>
          <a:solidFill>
            <a:srgbClr val="E8600A"/>
          </a:solidFill>
          <a:ln/>
        </p:spPr>
      </p:sp>
      <p:sp>
        <p:nvSpPr>
          <p:cNvPr id="14" name="Text 12"/>
          <p:cNvSpPr txBox="1"/>
          <p:nvPr/>
        </p:nvSpPr>
        <p:spPr>
          <a:xfrm>
            <a:off x="457200" y="3904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Fail to reject H₀ — insufficient evidence that the mean differs from 1.10%. NOT "the fund earns 1.10%".</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Common tests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(t, z, χ², F, ρ)</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6  ·  Deck 3 of 20  ·  Studio Tonton Gug</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One table maps every question about means, variances, correlations or categories to its test statistic and degrees of freedom</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Pooled variance s²_p = [(n₁−1)s²₁ + (n₂−1)s²₂] / (n₁+n₂−2). Assumes independent samples, normal populations, equal variances.
</a:t>
            </a:r>
            <a:pPr indent="0" marL="0">
              <a:buNone/>
            </a:pPr>
            <a:r>
              <a:rPr lang="en-US" sz="1000" dirty="0">
                <a:solidFill>
                  <a:srgbClr val="6B7A8D"/>
                </a:solidFill>
                <a:latin typeface="Calibri" pitchFamily="34" charset="0"/>
                <a:ea typeface="Calibri" pitchFamily="34" charset="-122"/>
                <a:cs typeface="Calibri" pitchFamily="34" charset="-120"/>
              </a:rPr>
              <a:t>² Paired data (same days, same companies)? Use the mean-of-differences test — more powerful, because it strips out shared variation.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8, Exhibit 2, p. 221; Learning Module 9, §2–§3, pp. 246–256.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Step 1 of every test is always the same question: which row of this table matches what I am asking? Everything after that is mechanical.</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926080"/>
                <a:gridCol w="3200400"/>
                <a:gridCol w="128016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we test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Test statistic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Distribution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Degrees of freedom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Single mean (σ unknown)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(X̄ − µ₀) / (s/√n)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 − 1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Difference in means (independent)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(X̄₁ − X̄₂) / √(s²_p/n₁ + s²_p/n₂)</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n₁ + n₂ − 2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Mean of paired differences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(d̄ − µ_d0) / s_d̄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 − 1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Single variance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χ² = (n − 1)s² / σ₀²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χ²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 − 1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Equality of two variances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 = s²₁ / s²₂</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n₁−1,  n₂−1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Correlation equals zero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r √(n−2) / √(1 − r²)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 − 2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Independence of two categoricals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χ² = Σ (O_ij − E_ij)² / E_ij</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χ²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(r−1)(c−1)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Chi-square tests a single variance against a hypothesised level — and because the distribution is asymmetric, the two tails have completely different critical values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8, §3 Test of a Single Variance, Exhibit 6, pp. 225–226.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Unlike t and z, chi-square is skewed and lives on [0, ∞). You cannot flip the sign of a critical value to get the other tail — you must look up each one separately.</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χ²  =  (n − 1) · s²  /  σ₀²                df  =  n − 1</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s² = sample variance; σ₀² = hypothesised population variance. Assumes the underlying population is normally distributed — this test is not robust to that.</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SENDAR FUND — IS TRUE VOLATILITY BELOW THE 4% TRIGGER?</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Same fund: n = 24, s = 3.60% so s² = 12.96. A mandate trigger sits at σ = 4%, i.e. σ² = 16. Test at α = 5%.</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H₀: σ² ≥ 16  vs  Hₐ: σ² &lt; 16 — one-sided, LEFT tail (the suspected condition goes in Hₐ).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χ²_calc = (24 − 1) × 12.96 / 16 = 23 × 0.81 = 18.63,  with df = 23.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Critical value with 23 df and 5% in the LEFT tail = 13.091.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Decision rule: reject H₀ only if χ²_calc &lt; 13.091.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Decide: 18.63 &gt; 13.091 → fail to reject.</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Fail to reject — no evidence that true volatility is below 4%, even though observed s = 3.60%.</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F-test compares two variances as a ratio — and the same F of 1.185 fails two-tailed but rejects one-tailed, which is why the tail count is never a detail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8, §3 Equality of Two Variances, Example 3, Exhibit 9, pp. 229–230.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Modern practice does not force the larger variance on top: software returns a lower AND an upper critical value, and either tail can reject. Forming the ratio the other way up gives the same conclusion.</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  =  s²₁ / s²₂              df  =  ( n₁ − 1 ,  n₂ − 1 )</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Numerator df comes from sample 1, denominator df from sample 2. F is right-skewed on [0, ∞). Both populations assumed normal — the F-test is sensitive to that assumption.</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DID A REGULATORY CHANGE ALTER INDEX VOLATILITY?  ·  CFA EXAMPLE 3</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418 weekly returns before a market regulation change (variance 4.644) and 418 weeks after (variance 3.919). α = 5%, df = (417, 417). F_calc = 4.644 / 3.919 = 1.185 either way you ask the question.</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TWO-TAILED — H₀: σ²_before = σ²_after. Critical values 0.8251 and 1.2119. 1.185 falls inside → FAIL TO REJECT.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ONE-TAILED — H₀: σ²_before ≤ σ²_after. Single critical value 1.1750. 1.185 &gt; 1.1750 → REJECT.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Identical data, identical statistic, opposite conclusions — the whole difference is where you put the 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The tail count is fixed by the QUESTION ("different?" vs "greater?"), and must be fixed before you see the data.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Practitioner use: this is also the check on the equal-variance assumption behind a pooled t-test.</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Two-tailed: no evidence of a change. One-tailed: volatility was significantly higher before. Choose the tails first.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Test a correlation with a t-statistic on n−2 degrees of freedom — and when the data are far from normal, run the same test on RANKS instead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9, §2 Tests Concerning Correlation, Examples 1–2 and Exhibit 4, pp. 246–252.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required |r| to reach significance collapses as n grows: r = 0.35 is insignificant at n = 12 (t = 1.18) and significant at n = 32 (t = 2.05). At big-data sample sizes, almost everything "rejects".</a:t>
            </a:r>
            <a:endParaRPr lang="en-US" sz="1300" dirty="0"/>
          </a:p>
        </p:txBody>
      </p:sp>
      <p:sp>
        <p:nvSpPr>
          <p:cNvPr id="9" name="Shape 7"/>
          <p:cNvSpPr/>
          <p:nvPr/>
        </p:nvSpPr>
        <p:spPr>
          <a:xfrm>
            <a:off x="320040" y="1097280"/>
            <a:ext cx="8503920" cy="548640"/>
          </a:xfrm>
          <a:prstGeom prst="rect">
            <a:avLst/>
          </a:prstGeom>
          <a:solidFill>
            <a:srgbClr val="1B2A4A"/>
          </a:solidFill>
          <a:ln/>
        </p:spPr>
      </p:sp>
      <p:sp>
        <p:nvSpPr>
          <p:cNvPr id="10" name="Text 8"/>
          <p:cNvSpPr txBox="1"/>
          <p:nvPr/>
        </p:nvSpPr>
        <p:spPr>
          <a:xfrm>
            <a:off x="411480" y="1097280"/>
            <a:ext cx="8321040" cy="54864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t = r √(n−2) / √(1 − r²)        r_s = 1 − 6 Σd²ᵢ / [ n(n² − 1) ]</a:t>
            </a:r>
            <a:endParaRPr lang="en-US" sz="1800" dirty="0"/>
          </a:p>
        </p:txBody>
      </p:sp>
      <p:sp>
        <p:nvSpPr>
          <p:cNvPr id="11" name="Text 9"/>
          <p:cNvSpPr txBox="1"/>
          <p:nvPr/>
        </p:nvSpPr>
        <p:spPr>
          <a:xfrm>
            <a:off x="320040" y="167335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Left: the t-test on a Pearson correlation, df = n − 2. Right: the Spearman rank correlation — run the SAME t-test on r_s once n &gt; 30.</a:t>
            </a:r>
            <a:endParaRPr lang="en-US" sz="1100" dirty="0"/>
          </a:p>
        </p:txBody>
      </p:sp>
      <p:sp>
        <p:nvSpPr>
          <p:cNvPr id="12" name="Shape 10"/>
          <p:cNvSpPr/>
          <p:nvPr/>
        </p:nvSpPr>
        <p:spPr>
          <a:xfrm>
            <a:off x="320040" y="2011680"/>
            <a:ext cx="4160520" cy="2560320"/>
          </a:xfrm>
          <a:prstGeom prst="rect">
            <a:avLst/>
          </a:prstGeom>
          <a:solidFill>
            <a:srgbClr val="FEF0E7"/>
          </a:solidFill>
          <a:ln w="9525">
            <a:solidFill>
              <a:srgbClr val="E8600A"/>
            </a:solidFill>
            <a:prstDash val="solid"/>
          </a:ln>
        </p:spPr>
      </p:sp>
      <p:sp>
        <p:nvSpPr>
          <p:cNvPr id="13" name="Text 11"/>
          <p:cNvSpPr txBox="1"/>
          <p:nvPr/>
        </p:nvSpPr>
        <p:spPr>
          <a:xfrm>
            <a:off x="457200" y="205740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PEARSON  ·  PARAMETRIC</a:t>
            </a:r>
            <a:endParaRPr lang="en-US" sz="1100" dirty="0"/>
          </a:p>
        </p:txBody>
      </p:sp>
      <p:sp>
        <p:nvSpPr>
          <p:cNvPr id="14" name="Text 12"/>
          <p:cNvSpPr txBox="1"/>
          <p:nvPr/>
        </p:nvSpPr>
        <p:spPr>
          <a:xfrm>
            <a:off x="457200" y="235000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Annual returns on Investment One and Investment Two over 33 years. Sample correlation r = 0.43051. Is it significantly POSITIVE at α = 1%?</a:t>
            </a:r>
            <a:endParaRPr lang="en-US" sz="1200" dirty="0"/>
          </a:p>
        </p:txBody>
      </p:sp>
      <p:sp>
        <p:nvSpPr>
          <p:cNvPr id="15" name="Text 13"/>
          <p:cNvSpPr txBox="1"/>
          <p:nvPr/>
        </p:nvSpPr>
        <p:spPr>
          <a:xfrm>
            <a:off x="457200" y="2862072"/>
            <a:ext cx="3886200" cy="119786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H₀: ρ ≤ 0  vs  Hₐ: ρ &gt; 0 — one-sided, right tail.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df = 33 − 2 = 31; critical value = 2.4528.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 = 0.43051 × √31 / √(1 − 0.18534) = 2.6557.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2.6557 &gt; 2.4528 → reject H₀.</a:t>
            </a:r>
            <a:endParaRPr lang="en-US" sz="1200" dirty="0"/>
          </a:p>
        </p:txBody>
      </p:sp>
      <p:sp>
        <p:nvSpPr>
          <p:cNvPr id="16" name="Shape 14"/>
          <p:cNvSpPr/>
          <p:nvPr/>
        </p:nvSpPr>
        <p:spPr>
          <a:xfrm>
            <a:off x="411480" y="4133088"/>
            <a:ext cx="3977640" cy="365760"/>
          </a:xfrm>
          <a:prstGeom prst="rect">
            <a:avLst/>
          </a:prstGeom>
          <a:solidFill>
            <a:srgbClr val="E8600A"/>
          </a:solidFill>
          <a:ln/>
        </p:spPr>
      </p:sp>
      <p:sp>
        <p:nvSpPr>
          <p:cNvPr id="17" name="Text 15"/>
          <p:cNvSpPr txBox="1"/>
          <p:nvPr/>
        </p:nvSpPr>
        <p:spPr>
          <a:xfrm>
            <a:off x="457200" y="413308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Significantly positive correlation at 1%.</a:t>
            </a:r>
            <a:endParaRPr lang="en-US" sz="1150" dirty="0"/>
          </a:p>
        </p:txBody>
      </p:sp>
      <p:sp>
        <p:nvSpPr>
          <p:cNvPr id="18" name="Shape 16"/>
          <p:cNvSpPr/>
          <p:nvPr/>
        </p:nvSpPr>
        <p:spPr>
          <a:xfrm>
            <a:off x="4663440" y="2011680"/>
            <a:ext cx="4160520" cy="2560320"/>
          </a:xfrm>
          <a:prstGeom prst="rect">
            <a:avLst/>
          </a:prstGeom>
          <a:solidFill>
            <a:srgbClr val="FEF0E7"/>
          </a:solidFill>
          <a:ln w="9525">
            <a:solidFill>
              <a:srgbClr val="E8600A"/>
            </a:solidFill>
            <a:prstDash val="solid"/>
          </a:ln>
        </p:spPr>
      </p:sp>
      <p:sp>
        <p:nvSpPr>
          <p:cNvPr id="19" name="Text 17"/>
          <p:cNvSpPr txBox="1"/>
          <p:nvPr/>
        </p:nvSpPr>
        <p:spPr>
          <a:xfrm>
            <a:off x="4800600" y="205740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SPEARMAN  ·  NON-PARAMETRIC</a:t>
            </a:r>
            <a:endParaRPr lang="en-US" sz="1100" dirty="0"/>
          </a:p>
        </p:txBody>
      </p:sp>
      <p:sp>
        <p:nvSpPr>
          <p:cNvPr id="20" name="Text 18"/>
          <p:cNvSpPr txBox="1"/>
          <p:nvPr/>
        </p:nvSpPr>
        <p:spPr>
          <a:xfrm>
            <a:off x="4800600" y="235000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Funds A and B over 35 years, but the returns depart badly from normality. Rank each series, take rank differences: Σd² = 2,202.</a:t>
            </a:r>
            <a:endParaRPr lang="en-US" sz="1200" dirty="0"/>
          </a:p>
        </p:txBody>
      </p:sp>
      <p:sp>
        <p:nvSpPr>
          <p:cNvPr id="21" name="Text 19"/>
          <p:cNvSpPr txBox="1"/>
          <p:nvPr/>
        </p:nvSpPr>
        <p:spPr>
          <a:xfrm>
            <a:off x="4800600" y="2862072"/>
            <a:ext cx="3886200" cy="119786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r_s = 1 − 6(2,202) / [35 × (1,225 − 1)] = 0.6916.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H₀: r_s = 0 vs Hₐ: r_s ≠ 0; df = 33, critical ±2.0345.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 = 0.6916 × √33 / √(1 − 0.6916²) = 5.5005.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|5.5005| &gt; 2.0345 → reject H₀.</a:t>
            </a:r>
            <a:endParaRPr lang="en-US" sz="1200" dirty="0"/>
          </a:p>
        </p:txBody>
      </p:sp>
      <p:sp>
        <p:nvSpPr>
          <p:cNvPr id="22" name="Shape 20"/>
          <p:cNvSpPr/>
          <p:nvPr/>
        </p:nvSpPr>
        <p:spPr>
          <a:xfrm>
            <a:off x="4754880" y="4133088"/>
            <a:ext cx="3977640" cy="365760"/>
          </a:xfrm>
          <a:prstGeom prst="rect">
            <a:avLst/>
          </a:prstGeom>
          <a:solidFill>
            <a:srgbClr val="E8600A"/>
          </a:solidFill>
          <a:ln/>
        </p:spPr>
      </p:sp>
      <p:sp>
        <p:nvSpPr>
          <p:cNvPr id="23" name="Text 21"/>
          <p:cNvSpPr txBox="1"/>
          <p:nvPr/>
        </p:nvSpPr>
        <p:spPr>
          <a:xfrm>
            <a:off x="4800600" y="413308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Rank correlation is significantly non-zero.</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chi-square test of independence compares observed counts with the counts you would expect if the two classifications were unrelated — always a right-tail test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Standardized (Pearson) residual = (O − E)/√E locates the dependence: medium-cap growth is +3.69, large-cap growth is −2.72.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9, §3 Contingency Table Data, Exhibits 7–9, pp. 255–258.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Expected frequency under independence: E_ij = (row total × column total) / grand total. Degrees of freedom = (rows − 1) × (columns − 1) — never r × c.</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4160520" cy="914400"/>
        </p:xfrm>
        <a:graphic>
          <a:graphicData uri="http://schemas.openxmlformats.org/drawingml/2006/table">
            <a:tbl>
              <a:tblPr/>
              <a:tblGrid>
                <a:gridCol w="1325880"/>
                <a:gridCol w="685800"/>
                <a:gridCol w="822960"/>
                <a:gridCol w="685800"/>
                <a:gridCol w="640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Style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Small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Medium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Large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Total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Growth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Blend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Text 8"/>
          <p:cNvSpPr txBox="1"/>
          <p:nvPr/>
        </p:nvSpPr>
        <p:spPr>
          <a:xfrm>
            <a:off x="320040" y="2606040"/>
            <a:ext cx="4160520" cy="1691640"/>
          </a:xfrm>
          <a:prstGeom prst="rect">
            <a:avLst/>
          </a:prstGeom>
          <a:noFill/>
          <a:ln/>
        </p:spPr>
        <p:txBody>
          <a:bodyPr wrap="square" lIns="508" tIns="508" rIns="508" bIns="508" rtlCol="0" anchor="t">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Observed frequencies: 1,594 ETFs cross-tabulated by market-cap size (small / medium / large) and investment style (value / growth / blend). A 3 × 3 contingency table, so m = 9 cells and df = 2 × 2 = 4.</a:t>
            </a:r>
            <a:endParaRPr lang="en-US" sz="1100" dirty="0"/>
          </a:p>
          <a:p>
            <a:pPr algn="l" indent="0" marL="0">
              <a:buNone/>
            </a:pPr>
            <a:endParaRPr lang="en-US" sz="1100" dirty="0"/>
          </a:p>
          <a:p>
            <a:pPr algn="l" indent="0" marL="0">
              <a:buNone/>
            </a:pPr>
            <a:r>
              <a:rPr lang="en-US" sz="1100" i="1" dirty="0">
                <a:solidFill>
                  <a:srgbClr val="334155"/>
                </a:solidFill>
                <a:latin typeface="Calibri" pitchFamily="34" charset="0"/>
                <a:ea typeface="Calibri" pitchFamily="34" charset="-122"/>
                <a:cs typeface="Calibri" pitchFamily="34" charset="-120"/>
              </a:rPr>
              <a:t>Why chi-square and not correlation? Style is a category, not a number — there is no covariance to compute.</a:t>
            </a:r>
            <a:endParaRPr lang="en-US" sz="1100" dirty="0"/>
          </a:p>
        </p:txBody>
      </p:sp>
      <p:sp>
        <p:nvSpPr>
          <p:cNvPr id="12" name="Shape 9"/>
          <p:cNvSpPr/>
          <p:nvPr/>
        </p:nvSpPr>
        <p:spPr>
          <a:xfrm>
            <a:off x="4663440" y="1143000"/>
            <a:ext cx="4160520" cy="3200400"/>
          </a:xfrm>
          <a:prstGeom prst="rect">
            <a:avLst/>
          </a:prstGeom>
          <a:solidFill>
            <a:srgbClr val="FEF0E7"/>
          </a:solidFill>
          <a:ln w="9525">
            <a:solidFill>
              <a:srgbClr val="E8600A"/>
            </a:solidFill>
            <a:prstDash val="solid"/>
          </a:ln>
        </p:spPr>
      </p:sp>
      <p:sp>
        <p:nvSpPr>
          <p:cNvPr id="13" name="Text 10"/>
          <p:cNvSpPr txBox="1"/>
          <p:nvPr/>
        </p:nvSpPr>
        <p:spPr>
          <a:xfrm>
            <a:off x="4800600" y="118872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TEST OF INDEPENDENCE  ·  α = 5%</a:t>
            </a:r>
            <a:endParaRPr lang="en-US" sz="1100" dirty="0"/>
          </a:p>
        </p:txBody>
      </p:sp>
      <p:sp>
        <p:nvSpPr>
          <p:cNvPr id="14" name="Text 11"/>
          <p:cNvSpPr txBox="1"/>
          <p:nvPr/>
        </p:nvSpPr>
        <p:spPr>
          <a:xfrm>
            <a:off x="4800600" y="148132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H₀: size and style are independent.  Hₐ: they are related. One-sided by construction: deviations of either sign are squared, so the statistic can only push right.</a:t>
            </a:r>
            <a:endParaRPr lang="en-US" sz="1200" dirty="0"/>
          </a:p>
        </p:txBody>
      </p:sp>
      <p:sp>
        <p:nvSpPr>
          <p:cNvPr id="15" name="Text 12"/>
          <p:cNvSpPr txBox="1"/>
          <p:nvPr/>
        </p:nvSpPr>
        <p:spPr>
          <a:xfrm>
            <a:off x="4800600" y="1993392"/>
            <a:ext cx="3886200" cy="183794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Expected: E_ij = (row × column) / 1,594. Small-value: 503 × 148 / 1,594 = 46.70.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Cell contribution: (O − E)²/E. Small-value: (50 − 46.70)² / 46.70 = 0.233.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Sum all 9 cells:  χ²_calc = 32.080.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Critical value, df = 4, 5% right tail = 9.4877.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32.080 &gt; 9.4877 → reject H₀.</a:t>
            </a:r>
            <a:endParaRPr lang="en-US" sz="1200" dirty="0"/>
          </a:p>
        </p:txBody>
      </p:sp>
      <p:sp>
        <p:nvSpPr>
          <p:cNvPr id="16" name="Shape 13"/>
          <p:cNvSpPr/>
          <p:nvPr/>
        </p:nvSpPr>
        <p:spPr>
          <a:xfrm>
            <a:off x="4754880" y="3904488"/>
            <a:ext cx="3977640" cy="365760"/>
          </a:xfrm>
          <a:prstGeom prst="rect">
            <a:avLst/>
          </a:prstGeom>
          <a:solidFill>
            <a:srgbClr val="E8600A"/>
          </a:solidFill>
          <a:ln/>
        </p:spPr>
      </p:sp>
      <p:sp>
        <p:nvSpPr>
          <p:cNvPr id="17" name="Text 14"/>
          <p:cNvSpPr txBox="1"/>
          <p:nvPr/>
        </p:nvSpPr>
        <p:spPr>
          <a:xfrm>
            <a:off x="4800600" y="390448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Size and investment style are related, not independent.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Simple linear</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regression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6  ·  Deck 3 of 20  ·  Studio Tonton Gug</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Simple linear regression fits Y = b₀ + b₁X + ε by minimising the sum of SQUARED residuals — the least-squares criterion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10, §2 Estimation of the SLR Model, pp. 267–273.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b₀ = intercept, the fitted value of Y when X = 0. b₁ = slope, the change in Y per one-unit change in X. Residual eᵢ = Yᵢ − Ŷᵢ, in the same units as Y.</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b̂₁ = Σ(Xᵢ−X̄)(Yᵢ−Ȳ) / Σ(Xᵢ−X̄)²      b̂₀ = Ȳ − b̂₁X̄      min Σeᵢ²</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b̂₁ is the covariance of X and Y divided by the variance of X. The denominators cancel, so only the two sums are needed. Both estimators are closed-form — no search, no iteration.</a:t>
            </a:r>
            <a:endParaRPr lang="en-US" sz="1100" dirty="0"/>
          </a:p>
        </p:txBody>
      </p:sp>
      <p:sp>
        <p:nvSpPr>
          <p:cNvPr id="12" name="Shape 10"/>
          <p:cNvSpPr/>
          <p:nvPr/>
        </p:nvSpPr>
        <p:spPr>
          <a:xfrm>
            <a:off x="320040" y="2331720"/>
            <a:ext cx="4160520" cy="1920240"/>
          </a:xfrm>
          <a:prstGeom prst="rect">
            <a:avLst/>
          </a:prstGeom>
          <a:solidFill>
            <a:srgbClr val="FEF0E7"/>
          </a:solidFill>
          <a:ln/>
        </p:spPr>
      </p:sp>
      <p:sp>
        <p:nvSpPr>
          <p:cNvPr id="13" name="Shape 11"/>
          <p:cNvSpPr/>
          <p:nvPr/>
        </p:nvSpPr>
        <p:spPr>
          <a:xfrm>
            <a:off x="320040" y="2331720"/>
            <a:ext cx="73152" cy="1920240"/>
          </a:xfrm>
          <a:prstGeom prst="rect">
            <a:avLst/>
          </a:prstGeom>
          <a:solidFill>
            <a:srgbClr val="E8600A"/>
          </a:solidFill>
          <a:ln/>
        </p:spPr>
      </p:sp>
      <p:sp>
        <p:nvSpPr>
          <p:cNvPr id="14" name="Text 12"/>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DEPENDENT vs INDEPENDENT</a:t>
            </a:r>
            <a:endParaRPr lang="en-US" sz="1100" dirty="0"/>
          </a:p>
        </p:txBody>
      </p:sp>
      <p:sp>
        <p:nvSpPr>
          <p:cNvPr id="15" name="Text 13"/>
          <p:cNvSpPr txBox="1"/>
          <p:nvPr/>
        </p:nvSpPr>
        <p:spPr>
          <a:xfrm>
            <a:off x="4572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Y (dependent, explained) on the vertical axis; X (independent, explanatory) on the horizontal. Theory picks X, not the software. Swap them and you get a different line — regression is not symmetric, and it is not evidence of causation.</a:t>
            </a:r>
            <a:endParaRPr lang="en-US" sz="1200" dirty="0"/>
          </a:p>
        </p:txBody>
      </p:sp>
      <p:sp>
        <p:nvSpPr>
          <p:cNvPr id="16" name="Shape 14"/>
          <p:cNvSpPr/>
          <p:nvPr/>
        </p:nvSpPr>
        <p:spPr>
          <a:xfrm>
            <a:off x="4663440" y="2331720"/>
            <a:ext cx="4160520" cy="1920240"/>
          </a:xfrm>
          <a:prstGeom prst="rect">
            <a:avLst/>
          </a:prstGeom>
          <a:solidFill>
            <a:srgbClr val="F5F7FA"/>
          </a:solidFill>
          <a:ln/>
        </p:spPr>
      </p:sp>
      <p:sp>
        <p:nvSpPr>
          <p:cNvPr id="17" name="Shape 15"/>
          <p:cNvSpPr/>
          <p:nvPr/>
        </p:nvSpPr>
        <p:spPr>
          <a:xfrm>
            <a:off x="4663440" y="2331720"/>
            <a:ext cx="73152" cy="1920240"/>
          </a:xfrm>
          <a:prstGeom prst="rect">
            <a:avLst/>
          </a:prstGeom>
          <a:solidFill>
            <a:srgbClr val="1B2A4A"/>
          </a:solidFill>
          <a:ln/>
        </p:spPr>
      </p:sp>
      <p:sp>
        <p:nvSpPr>
          <p:cNvPr id="18" name="Text 16"/>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ERROR vs RESIDUAL</a:t>
            </a:r>
            <a:endParaRPr lang="en-US" sz="1100" dirty="0"/>
          </a:p>
        </p:txBody>
      </p:sp>
      <p:sp>
        <p:nvSpPr>
          <p:cNvPr id="19" name="Text 17"/>
          <p:cNvSpPr txBox="1"/>
          <p:nvPr/>
        </p:nvSpPr>
        <p:spPr>
          <a:xfrm>
            <a:off x="48006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ERROR ε: unobservable, measured from the TRUE population line.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RESIDUAL e: observable, measured from the FITTED sample line.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Least squares forces Σe = 0 by construction, so a zero mean residual proves nothing about fit.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Regressing ROA on CAPEX across six companies gives Ŷ = 4.875 + 1.25X — one extra point of CAPEX buys 1.25 points of ROA on average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Same machinery, new labels: regress a stock on the market and b̂₁ is beta, b̂₀ is alpha. We test that regression on slide 28.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10, §2 Estimation, Exhibits 2–7, pp. 268–275.</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This dataset runs through the rest of the section — estimation here, then ANOVA, then the slope test, then the prediction interval. Same six companies throughout.</a:t>
            </a:r>
            <a:endParaRPr lang="en-US" sz="1300" dirty="0"/>
          </a:p>
        </p:txBody>
      </p:sp>
      <p:sp>
        <p:nvSpPr>
          <p:cNvPr id="10" name="Shape 8"/>
          <p:cNvSpPr/>
          <p:nvPr/>
        </p:nvSpPr>
        <p:spPr>
          <a:xfrm>
            <a:off x="320040" y="1188720"/>
            <a:ext cx="8503920" cy="3063240"/>
          </a:xfrm>
          <a:prstGeom prst="rect">
            <a:avLst/>
          </a:prstGeom>
          <a:solidFill>
            <a:srgbClr val="FEF0E7"/>
          </a:solidFill>
          <a:ln w="9525">
            <a:solidFill>
              <a:srgbClr val="E8600A"/>
            </a:solidFill>
            <a:prstDash val="solid"/>
          </a:ln>
        </p:spPr>
      </p:sp>
      <p:sp>
        <p:nvSpPr>
          <p:cNvPr id="11" name="Text 9"/>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RETURN ON ASSETS REGRESSED ON SCALED CAPEX  ·  n = 6 COMPANIES</a:t>
            </a:r>
            <a:endParaRPr lang="en-US" sz="1100" dirty="0"/>
          </a:p>
        </p:txBody>
      </p:sp>
      <p:sp>
        <p:nvSpPr>
          <p:cNvPr id="12" name="Text 10"/>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Six companies. ROA (Y) averages 12.5%; CAPEX scaled by prior-period PP&amp;E (X) averages 6.1%. From the cross-products table: Σ(Xᵢ − X̄)² = 122.64 and Σ(Yᵢ − Ȳ)(Xᵢ − X̄) = 153.30, with Σ(Yᵢ − Ȳ)² = 239.50.</a:t>
            </a:r>
            <a:endParaRPr lang="en-US" sz="1200" dirty="0"/>
          </a:p>
        </p:txBody>
      </p:sp>
      <p:sp>
        <p:nvSpPr>
          <p:cNvPr id="13" name="Text 11"/>
          <p:cNvSpPr txBox="1"/>
          <p:nvPr/>
        </p:nvSpPr>
        <p:spPr>
          <a:xfrm>
            <a:off x="457200" y="2039112"/>
            <a:ext cx="8229600" cy="170078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Slope:  b̂₁ = 153.30 / 122.64 = 1.25.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Intercept:  b̂₀ = Ȳ − b̂₁X̄ = 12.5 − (1.25 × 6.1) = 12.5 − 7.625 = 4.875.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Fitted model:  Ŷᵢ = 4.875 + 1.25 Xᵢ.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Read the slope: CAPEX up from 4% to 5% → predicted ROA up 1.25 percentage points.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Read the intercept: predicted ROA of 4.875% at zero CAPEX — meaningful only if X = 0 is a plausible state.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Correlation:  r = 30.66 / (6.9210 × 4.9526) = 0.8945. Note r and b̂₁ always share a sign.</a:t>
            </a:r>
            <a:endParaRPr lang="en-US" sz="1200" dirty="0"/>
          </a:p>
        </p:txBody>
      </p:sp>
      <p:sp>
        <p:nvSpPr>
          <p:cNvPr id="14" name="Shape 12"/>
          <p:cNvSpPr/>
          <p:nvPr/>
        </p:nvSpPr>
        <p:spPr>
          <a:xfrm>
            <a:off x="411480" y="3813048"/>
            <a:ext cx="8321040" cy="365760"/>
          </a:xfrm>
          <a:prstGeom prst="rect">
            <a:avLst/>
          </a:prstGeom>
          <a:solidFill>
            <a:srgbClr val="E8600A"/>
          </a:solidFill>
          <a:ln/>
        </p:spPr>
      </p:sp>
      <p:sp>
        <p:nvSpPr>
          <p:cNvPr id="15" name="Text 13"/>
          <p:cNvSpPr txBox="1"/>
          <p:nvPr/>
        </p:nvSpPr>
        <p:spPr>
          <a:xfrm>
            <a:off x="457200" y="381304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Ŷ = 4.875 + 1.25 X     ·     r = 0.8945     ·     significance still to be established.</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OLS rests on four assumptions — linearity, homoskedasticity, independence, normality — and the residual plot is where you go to check all four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10, §3 Assumptions of the SLR Model, pp. 277–284.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Coefficients can survive mild violations. STANDARD ERRORS cannot — and standard errors are what every t-statistic, confidence interval and prediction interval is built from.</a:t>
            </a:r>
            <a:endParaRPr lang="en-US" sz="1300" dirty="0"/>
          </a:p>
        </p:txBody>
      </p:sp>
      <p:sp>
        <p:nvSpPr>
          <p:cNvPr id="9" name="Shape 7"/>
          <p:cNvSpPr/>
          <p:nvPr/>
        </p:nvSpPr>
        <p:spPr>
          <a:xfrm>
            <a:off x="320040" y="1143000"/>
            <a:ext cx="8503920" cy="772668"/>
          </a:xfrm>
          <a:prstGeom prst="rect">
            <a:avLst/>
          </a:prstGeom>
          <a:solidFill>
            <a:srgbClr val="FFFFFF"/>
          </a:solidFill>
          <a:ln/>
        </p:spPr>
      </p:sp>
      <p:sp>
        <p:nvSpPr>
          <p:cNvPr id="10" name="Shape 8"/>
          <p:cNvSpPr/>
          <p:nvPr/>
        </p:nvSpPr>
        <p:spPr>
          <a:xfrm>
            <a:off x="320040" y="1143000"/>
            <a:ext cx="91440" cy="772668"/>
          </a:xfrm>
          <a:prstGeom prst="rect">
            <a:avLst/>
          </a:prstGeom>
          <a:solidFill>
            <a:srgbClr val="E8600A"/>
          </a:solidFill>
          <a:ln/>
        </p:spPr>
      </p:sp>
      <p:sp>
        <p:nvSpPr>
          <p:cNvPr id="11" name="Text 9"/>
          <p:cNvSpPr txBox="1"/>
          <p:nvPr/>
        </p:nvSpPr>
        <p:spPr>
          <a:xfrm>
            <a:off x="502920" y="1143000"/>
            <a:ext cx="365760" cy="7726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179576"/>
            <a:ext cx="7863840" cy="34770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Linearity</a:t>
            </a:r>
            <a:endParaRPr lang="en-US" sz="1200" dirty="0"/>
          </a:p>
        </p:txBody>
      </p:sp>
      <p:sp>
        <p:nvSpPr>
          <p:cNvPr id="13" name="Text 11"/>
          <p:cNvSpPr txBox="1"/>
          <p:nvPr/>
        </p:nvSpPr>
        <p:spPr>
          <a:xfrm>
            <a:off x="868680" y="1490701"/>
            <a:ext cx="7863840" cy="424967"/>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E[Y|X] is a straight line in X, and X is non-stochastic. Curvature in the residual plot means the model is biased — transform a variable (see slide 30) rather than shrug.</a:t>
            </a:r>
            <a:endParaRPr lang="en-US" sz="1200" dirty="0"/>
          </a:p>
        </p:txBody>
      </p:sp>
      <p:sp>
        <p:nvSpPr>
          <p:cNvPr id="14" name="Shape 12"/>
          <p:cNvSpPr/>
          <p:nvPr/>
        </p:nvSpPr>
        <p:spPr>
          <a:xfrm>
            <a:off x="320040" y="1943100"/>
            <a:ext cx="8503920" cy="772668"/>
          </a:xfrm>
          <a:prstGeom prst="rect">
            <a:avLst/>
          </a:prstGeom>
          <a:solidFill>
            <a:srgbClr val="F5F7FA"/>
          </a:solidFill>
          <a:ln/>
        </p:spPr>
      </p:sp>
      <p:sp>
        <p:nvSpPr>
          <p:cNvPr id="15" name="Shape 13"/>
          <p:cNvSpPr/>
          <p:nvPr/>
        </p:nvSpPr>
        <p:spPr>
          <a:xfrm>
            <a:off x="320040" y="1943100"/>
            <a:ext cx="91440" cy="772668"/>
          </a:xfrm>
          <a:prstGeom prst="rect">
            <a:avLst/>
          </a:prstGeom>
          <a:solidFill>
            <a:srgbClr val="E8600A"/>
          </a:solidFill>
          <a:ln/>
        </p:spPr>
      </p:sp>
      <p:sp>
        <p:nvSpPr>
          <p:cNvPr id="16" name="Text 14"/>
          <p:cNvSpPr txBox="1"/>
          <p:nvPr/>
        </p:nvSpPr>
        <p:spPr>
          <a:xfrm>
            <a:off x="502920" y="1943100"/>
            <a:ext cx="365760" cy="7726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1979676"/>
            <a:ext cx="7863840" cy="34770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Homoskedasticity</a:t>
            </a:r>
            <a:endParaRPr lang="en-US" sz="1200" dirty="0"/>
          </a:p>
        </p:txBody>
      </p:sp>
      <p:sp>
        <p:nvSpPr>
          <p:cNvPr id="18" name="Text 16"/>
          <p:cNvSpPr txBox="1"/>
          <p:nvPr/>
        </p:nvSpPr>
        <p:spPr>
          <a:xfrm>
            <a:off x="868680" y="2290801"/>
            <a:ext cx="7863840" cy="424967"/>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Residual variance is constant across observations. A fan shape, or two visibly different regimes, signals heteroskedasticity — the CFA interest-rate example splits cleanly into normal-rate and low-rate eras.</a:t>
            </a:r>
            <a:endParaRPr lang="en-US" sz="1200" dirty="0"/>
          </a:p>
        </p:txBody>
      </p:sp>
      <p:sp>
        <p:nvSpPr>
          <p:cNvPr id="19" name="Shape 17"/>
          <p:cNvSpPr/>
          <p:nvPr/>
        </p:nvSpPr>
        <p:spPr>
          <a:xfrm>
            <a:off x="320040" y="2743200"/>
            <a:ext cx="8503920" cy="772668"/>
          </a:xfrm>
          <a:prstGeom prst="rect">
            <a:avLst/>
          </a:prstGeom>
          <a:solidFill>
            <a:srgbClr val="FFFFFF"/>
          </a:solidFill>
          <a:ln/>
        </p:spPr>
      </p:sp>
      <p:sp>
        <p:nvSpPr>
          <p:cNvPr id="20" name="Shape 18"/>
          <p:cNvSpPr/>
          <p:nvPr/>
        </p:nvSpPr>
        <p:spPr>
          <a:xfrm>
            <a:off x="320040" y="2743200"/>
            <a:ext cx="91440" cy="772668"/>
          </a:xfrm>
          <a:prstGeom prst="rect">
            <a:avLst/>
          </a:prstGeom>
          <a:solidFill>
            <a:srgbClr val="E8600A"/>
          </a:solidFill>
          <a:ln/>
        </p:spPr>
      </p:sp>
      <p:sp>
        <p:nvSpPr>
          <p:cNvPr id="21" name="Text 19"/>
          <p:cNvSpPr txBox="1"/>
          <p:nvPr/>
        </p:nvSpPr>
        <p:spPr>
          <a:xfrm>
            <a:off x="502920" y="2743200"/>
            <a:ext cx="365760" cy="7726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779776"/>
            <a:ext cx="7863840" cy="34770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Independence</a:t>
            </a:r>
            <a:endParaRPr lang="en-US" sz="1200" dirty="0"/>
          </a:p>
        </p:txBody>
      </p:sp>
      <p:sp>
        <p:nvSpPr>
          <p:cNvPr id="23" name="Text 21"/>
          <p:cNvSpPr txBox="1"/>
          <p:nvPr/>
        </p:nvSpPr>
        <p:spPr>
          <a:xfrm>
            <a:off x="868680" y="3090901"/>
            <a:ext cx="7863840" cy="424967"/>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Observations, and therefore residuals, are uncorrelated. In time series look for autocorrelation: the quarterly-revenue example spikes every Q4 and falls back — a pattern the model never sees.</a:t>
            </a:r>
            <a:endParaRPr lang="en-US" sz="1200" dirty="0"/>
          </a:p>
        </p:txBody>
      </p:sp>
      <p:sp>
        <p:nvSpPr>
          <p:cNvPr id="24" name="Shape 22"/>
          <p:cNvSpPr/>
          <p:nvPr/>
        </p:nvSpPr>
        <p:spPr>
          <a:xfrm>
            <a:off x="320040" y="3543300"/>
            <a:ext cx="8503920" cy="772668"/>
          </a:xfrm>
          <a:prstGeom prst="rect">
            <a:avLst/>
          </a:prstGeom>
          <a:solidFill>
            <a:srgbClr val="F5F7FA"/>
          </a:solidFill>
          <a:ln/>
        </p:spPr>
      </p:sp>
      <p:sp>
        <p:nvSpPr>
          <p:cNvPr id="25" name="Shape 23"/>
          <p:cNvSpPr/>
          <p:nvPr/>
        </p:nvSpPr>
        <p:spPr>
          <a:xfrm>
            <a:off x="320040" y="3543300"/>
            <a:ext cx="91440" cy="772668"/>
          </a:xfrm>
          <a:prstGeom prst="rect">
            <a:avLst/>
          </a:prstGeom>
          <a:solidFill>
            <a:srgbClr val="E8600A"/>
          </a:solidFill>
          <a:ln/>
        </p:spPr>
      </p:sp>
      <p:sp>
        <p:nvSpPr>
          <p:cNvPr id="26" name="Text 24"/>
          <p:cNvSpPr txBox="1"/>
          <p:nvPr/>
        </p:nvSpPr>
        <p:spPr>
          <a:xfrm>
            <a:off x="502920" y="3543300"/>
            <a:ext cx="365760" cy="7726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7" name="Text 25"/>
          <p:cNvSpPr txBox="1"/>
          <p:nvPr/>
        </p:nvSpPr>
        <p:spPr>
          <a:xfrm>
            <a:off x="868680" y="3579876"/>
            <a:ext cx="7863840" cy="34770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Normality</a:t>
            </a:r>
            <a:endParaRPr lang="en-US" sz="1200" dirty="0"/>
          </a:p>
        </p:txBody>
      </p:sp>
      <p:sp>
        <p:nvSpPr>
          <p:cNvPr id="28" name="Text 26"/>
          <p:cNvSpPr txBox="1"/>
          <p:nvPr/>
        </p:nvSpPr>
        <p:spPr>
          <a:xfrm>
            <a:off x="868680" y="3891001"/>
            <a:ext cx="7863840" cy="424967"/>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RESIDUALS are normally distributed — not X, not Y. Critical in small samples; in large samples the CLT lets you relax it. Outliers do more damage here than anything else.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Total variation splits into explained (SSR) plus unexplained (SSE) — R² is the explained share, and the F-test asks whether that share could have arisen by chance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10, §4–§5 ANOVA and Measures of Fit, Exhibits 20 and 33, pp. 285–298.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 SIMPLE linear regression R² is just the squared correlation: r = 0.8945 → r² = 0.8001 = R². And the F-test of the whole model is exactly the t-test on the single slope, squared.</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SST = SSR + SSE     R² = SSR/SST     F = MSR/MSE     s_e = √MSE</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SST = Σ(Y−Ȳ)²; SSR = Σ(Ŷ−Ȳ)²; SSE = Σ(Y−Ŷ)². MSR = SSR/1; MSE = SSE/(n−2). F has df (1, n−2) and is always a RIGHT-tail test.</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1828800"/>
                <a:gridCol w="2194560"/>
                <a:gridCol w="914400"/>
                <a:gridCol w="228600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Source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Sum of squares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df</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Mean square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Regression (SSR)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191.625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191.625  (MSR)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16.010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Error (SSE)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47.875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11.969  (MSE)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Total (SST)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239.500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R² = SSR/SST = 0.8001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s_e = √MSE = 3.4596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Critical F₀.₀₅,₁,₄ = 7.71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Reject H₀</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slope t-statistic tests b₁ against ANY hypothesised value on n−2 degrees of freedom — including the value that actually matters, b₁ = 1</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10, §5 Hypothesis Tests of Coefficients, Exhibits 21 and 27, pp. 285–295.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Note the two tail counts below: five percent split two ways for a "different from" question, all five percent on one side for a "greater than" question.</a:t>
            </a:r>
            <a:endParaRPr lang="en-US" sz="1300" dirty="0"/>
          </a:p>
        </p:txBody>
      </p:sp>
      <p:sp>
        <p:nvSpPr>
          <p:cNvPr id="9" name="Shape 7"/>
          <p:cNvSpPr/>
          <p:nvPr/>
        </p:nvSpPr>
        <p:spPr>
          <a:xfrm>
            <a:off x="320040" y="1097280"/>
            <a:ext cx="8503920" cy="548640"/>
          </a:xfrm>
          <a:prstGeom prst="rect">
            <a:avLst/>
          </a:prstGeom>
          <a:solidFill>
            <a:srgbClr val="1B2A4A"/>
          </a:solidFill>
          <a:ln/>
        </p:spPr>
      </p:sp>
      <p:sp>
        <p:nvSpPr>
          <p:cNvPr id="10" name="Text 8"/>
          <p:cNvSpPr txBox="1"/>
          <p:nvPr/>
        </p:nvSpPr>
        <p:spPr>
          <a:xfrm>
            <a:off x="411480" y="1097280"/>
            <a:ext cx="8321040" cy="54864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t = (b̂₁ − B₁) / s_b̂₁      s_b̂₁ = s_e / √Σ(Xᵢ−X̄)²      df = n − 2</a:t>
            </a:r>
            <a:endParaRPr lang="en-US" sz="1800" dirty="0"/>
          </a:p>
        </p:txBody>
      </p:sp>
      <p:sp>
        <p:nvSpPr>
          <p:cNvPr id="11" name="Text 9"/>
          <p:cNvSpPr txBox="1"/>
          <p:nvPr/>
        </p:nvSpPr>
        <p:spPr>
          <a:xfrm>
            <a:off x="320040" y="167335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B₁ is whatever you hypothesise — zero is the default, not the only option. The more the independent variable varies, the smaller s_b̂₁ and the sharper the test.</a:t>
            </a:r>
            <a:endParaRPr lang="en-US" sz="1100" dirty="0"/>
          </a:p>
        </p:txBody>
      </p:sp>
      <p:sp>
        <p:nvSpPr>
          <p:cNvPr id="12" name="Shape 10"/>
          <p:cNvSpPr/>
          <p:nvPr/>
        </p:nvSpPr>
        <p:spPr>
          <a:xfrm>
            <a:off x="320040" y="2011680"/>
            <a:ext cx="4160520" cy="2560320"/>
          </a:xfrm>
          <a:prstGeom prst="rect">
            <a:avLst/>
          </a:prstGeom>
          <a:solidFill>
            <a:srgbClr val="FEF0E7"/>
          </a:solidFill>
          <a:ln w="9525">
            <a:solidFill>
              <a:srgbClr val="E8600A"/>
            </a:solidFill>
            <a:prstDash val="solid"/>
          </a:ln>
        </p:spPr>
      </p:sp>
      <p:sp>
        <p:nvSpPr>
          <p:cNvPr id="13" name="Text 11"/>
          <p:cNvSpPr txBox="1"/>
          <p:nvPr/>
        </p:nvSpPr>
        <p:spPr>
          <a:xfrm>
            <a:off x="457200" y="205740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ROA ON CAPEX  ·  IS THE SLOPE ZERO?</a:t>
            </a:r>
            <a:endParaRPr lang="en-US" sz="1100" dirty="0"/>
          </a:p>
        </p:txBody>
      </p:sp>
      <p:sp>
        <p:nvSpPr>
          <p:cNvPr id="14" name="Text 12"/>
          <p:cNvSpPr txBox="1"/>
          <p:nvPr/>
        </p:nvSpPr>
        <p:spPr>
          <a:xfrm>
            <a:off x="457200" y="235000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Continuing the six companies: b̂₁ = 1.25, s_e = 3.4596, Σ(X − X̄)² = 122.64, n = 6. Test H₀: b₁ = 0 at α = 5%, two-tailed.</a:t>
            </a:r>
            <a:endParaRPr lang="en-US" sz="1200" dirty="0"/>
          </a:p>
        </p:txBody>
      </p:sp>
      <p:sp>
        <p:nvSpPr>
          <p:cNvPr id="15" name="Text 13"/>
          <p:cNvSpPr txBox="1"/>
          <p:nvPr/>
        </p:nvSpPr>
        <p:spPr>
          <a:xfrm>
            <a:off x="457200" y="2862072"/>
            <a:ext cx="3886200" cy="119786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s_b̂₁ = 3.4596 / √122.64 = 3.4596 / 11.074 = 0.3124.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df = 6 − 2 = 4; critical values ±2.776.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 = (1.25 − 0) / 0.3124 = 4.0013;  p = 0.016.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Reject H₀. Note t² = 4.0013² = 16.010 = the F-statistic.</a:t>
            </a:r>
            <a:endParaRPr lang="en-US" sz="1200" dirty="0"/>
          </a:p>
        </p:txBody>
      </p:sp>
      <p:sp>
        <p:nvSpPr>
          <p:cNvPr id="16" name="Shape 14"/>
          <p:cNvSpPr/>
          <p:nvPr/>
        </p:nvSpPr>
        <p:spPr>
          <a:xfrm>
            <a:off x="411480" y="4133088"/>
            <a:ext cx="3977640" cy="365760"/>
          </a:xfrm>
          <a:prstGeom prst="rect">
            <a:avLst/>
          </a:prstGeom>
          <a:solidFill>
            <a:srgbClr val="E8600A"/>
          </a:solidFill>
          <a:ln/>
        </p:spPr>
      </p:sp>
      <p:sp>
        <p:nvSpPr>
          <p:cNvPr id="17" name="Text 15"/>
          <p:cNvSpPr txBox="1"/>
          <p:nvPr/>
        </p:nvSpPr>
        <p:spPr>
          <a:xfrm>
            <a:off x="457200" y="413308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Slope significantly different from zero.</a:t>
            </a:r>
            <a:endParaRPr lang="en-US" sz="1150" dirty="0"/>
          </a:p>
        </p:txBody>
      </p:sp>
      <p:sp>
        <p:nvSpPr>
          <p:cNvPr id="18" name="Shape 16"/>
          <p:cNvSpPr/>
          <p:nvPr/>
        </p:nvSpPr>
        <p:spPr>
          <a:xfrm>
            <a:off x="4663440" y="2011680"/>
            <a:ext cx="4160520" cy="2560320"/>
          </a:xfrm>
          <a:prstGeom prst="rect">
            <a:avLst/>
          </a:prstGeom>
          <a:solidFill>
            <a:srgbClr val="FEF0E7"/>
          </a:solidFill>
          <a:ln w="9525">
            <a:solidFill>
              <a:srgbClr val="E8600A"/>
            </a:solidFill>
            <a:prstDash val="solid"/>
          </a:ln>
        </p:spPr>
      </p:sp>
      <p:sp>
        <p:nvSpPr>
          <p:cNvPr id="19" name="Text 17"/>
          <p:cNvSpPr txBox="1"/>
          <p:nvPr/>
        </p:nvSpPr>
        <p:spPr>
          <a:xfrm>
            <a:off x="4800600" y="205740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MARKET MODEL  ·  IS BETA REALLY 1?</a:t>
            </a:r>
            <a:endParaRPr lang="en-US" sz="1100" dirty="0"/>
          </a:p>
        </p:txBody>
      </p:sp>
      <p:sp>
        <p:nvSpPr>
          <p:cNvPr id="20" name="Text 18"/>
          <p:cNvSpPr txBox="1"/>
          <p:nvPr/>
        </p:nvSpPr>
        <p:spPr>
          <a:xfrm>
            <a:off x="4800600" y="235000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ABC daily returns regressed on the EAA equity index: b̂₁ = 0.982, s_e = 1.26, sd(X) = 0.70, n = 1,200. Critical values ±1.96.</a:t>
            </a:r>
            <a:endParaRPr lang="en-US" sz="1200" dirty="0"/>
          </a:p>
        </p:txBody>
      </p:sp>
      <p:sp>
        <p:nvSpPr>
          <p:cNvPr id="21" name="Text 19"/>
          <p:cNvSpPr txBox="1"/>
          <p:nvPr/>
        </p:nvSpPr>
        <p:spPr>
          <a:xfrm>
            <a:off x="4800600" y="2862072"/>
            <a:ext cx="3886200" cy="119786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Σ(X − X̄)² = 0.70² × 1,199 = 587.51; s_b̂₁ = 1.26/√587.51 = 0.0520.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Versus zero: t = 0.982 / 0.0520 = 18.89 → reject, emphatically.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Versus one: t = (0.982 − 1) / 0.0520 = −0.35 → fail to reject.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Beta is overwhelmingly non-zero and statistically indistinguishable from 1.0.</a:t>
            </a:r>
            <a:endParaRPr lang="en-US" sz="1200" dirty="0"/>
          </a:p>
        </p:txBody>
      </p:sp>
      <p:sp>
        <p:nvSpPr>
          <p:cNvPr id="22" name="Shape 20"/>
          <p:cNvSpPr/>
          <p:nvPr/>
        </p:nvSpPr>
        <p:spPr>
          <a:xfrm>
            <a:off x="4754880" y="4133088"/>
            <a:ext cx="3977640" cy="365760"/>
          </a:xfrm>
          <a:prstGeom prst="rect">
            <a:avLst/>
          </a:prstGeom>
          <a:solidFill>
            <a:srgbClr val="E8600A"/>
          </a:solidFill>
          <a:ln/>
        </p:spPr>
      </p:sp>
      <p:sp>
        <p:nvSpPr>
          <p:cNvPr id="23" name="Text 21"/>
          <p:cNvSpPr txBox="1"/>
          <p:nvPr/>
        </p:nvSpPr>
        <p:spPr>
          <a:xfrm>
            <a:off x="4800600" y="413308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Significant ≠ different from one.</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prediction interval widens the further X_f sits from the sample mean — forecast uncertainty is smallest at the sample's centre of gravity and grows in both directions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10, §6 Prediction and Prediction Intervals, Exhibits 34–35, pp. 299–301.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interval carries BOTH the uncertainty in the fitted line and the irreducible residual noise — which is why the "1 +" sits inside the square root and why it is always wider than a confidence interval for the mean at X_f.</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s_f = s_e √[1 + 1/n + (X_f − X̄)²/Σ(Xᵢ−X̄)²]      PI = Ŷ_f ± t*·s_f</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s_e = standard error of the estimate; s_f = standard error of the forecast; X_f = the value of X you are forecasting at. Better fit, bigger n, and X_f closer to X̄ all shrink s_f.</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FORECAST ROA AT CAPEX = 6%  ·  SAME SIX COMPANIES</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Ŷ = 4.875 + 1.25X; s_e = 3.4596; X̄ = 6.1; Σ(X − X̄)² = 122.64; n = 6; t*₀.₀₂₅,₄ = 2.776.</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Point forecast:  Ŷ_f = 4.875 + (1.25 × 6) = 12.375%.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Forecast SE:  s_f = 3.4596 × √(1 + 1/6 + (6 − 6.1)²/122.64) = 3.4596 × √1.16675 = 3.7369.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Margin:  2.776 × 3.7369 = 10.3737.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95% PI:  12.375 ± 10.374  →  [ 2.00% , 22.75% ].</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Point forecast 12.4%; 95% interval [2.0%, 22.7%] — and this is the NARROWEST it gets, since X_f ≈ X̄.</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When the relationship is not linear, take logs — log-lin gives a growth rate, lin-log a level response, log-log an elasticity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10, §7 Functional Forms, Exhibits 38–43, pp. 304–309.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Simple linear regression is still doing the work — you are just feeding it transformed variables. The model stays linear in its PARAMETERS.</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097280"/>
                <a:gridCol w="1920240"/>
                <a:gridCol w="2743200"/>
                <a:gridCol w="27432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Equation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the slope means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R²: plain vs transformed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Log-lin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ln Y = b₀ + b₁X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%Δ in Y per unit Δ in X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Revenues on time: 0.948 → 0.981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Lin-log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 = b₀ + b₁ ln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Unit Δ in Y per %Δ in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Margin on units: 0.551 → 0.972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Log-log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ln Y = b₀ + b₁ ln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An ELASTICITY: %Δ Y per %Δ 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Revenues on ads: 0.209 → 0.849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514600"/>
            <a:ext cx="4160520" cy="1783080"/>
          </a:xfrm>
          <a:prstGeom prst="rect">
            <a:avLst/>
          </a:prstGeom>
          <a:solidFill>
            <a:srgbClr val="FEF0E7"/>
          </a:solidFill>
          <a:ln/>
        </p:spPr>
      </p:sp>
      <p:sp>
        <p:nvSpPr>
          <p:cNvPr id="11" name="Shape 8"/>
          <p:cNvSpPr/>
          <p:nvPr/>
        </p:nvSpPr>
        <p:spPr>
          <a:xfrm>
            <a:off x="320040" y="2514600"/>
            <a:ext cx="73152" cy="1783080"/>
          </a:xfrm>
          <a:prstGeom prst="rect">
            <a:avLst/>
          </a:prstGeom>
          <a:solidFill>
            <a:srgbClr val="E8600A"/>
          </a:solidFill>
          <a:ln/>
        </p:spPr>
      </p:sp>
      <p:sp>
        <p:nvSpPr>
          <p:cNvPr id="12" name="Text 9"/>
          <p:cNvSpPr txBox="1"/>
          <p:nvPr/>
        </p:nvSpPr>
        <p:spPr>
          <a:xfrm>
            <a:off x="457200" y="25603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COMPARING MODELS FAIRLY</a:t>
            </a:r>
            <a:endParaRPr lang="en-US" sz="1100" dirty="0"/>
          </a:p>
        </p:txBody>
      </p:sp>
      <p:sp>
        <p:nvSpPr>
          <p:cNvPr id="13" name="Text 10"/>
          <p:cNvSpPr txBox="1"/>
          <p:nvPr/>
        </p:nvSpPr>
        <p:spPr>
          <a:xfrm>
            <a:off x="457200" y="2834640"/>
            <a:ext cx="3931920" cy="1417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You may NOT compare R² or F across models whose dependent variable is in a different form — lnY and Y are not the same quantity. When Y is unchanged (lin-log), s_e is comparable: 2.2528 falls to 0.5659. Otherwise, judge by the residual plot.</a:t>
            </a:r>
            <a:endParaRPr lang="en-US" sz="1200" dirty="0"/>
          </a:p>
        </p:txBody>
      </p:sp>
      <p:sp>
        <p:nvSpPr>
          <p:cNvPr id="14" name="Shape 11"/>
          <p:cNvSpPr/>
          <p:nvPr/>
        </p:nvSpPr>
        <p:spPr>
          <a:xfrm>
            <a:off x="4663440" y="2514600"/>
            <a:ext cx="4160520" cy="1783080"/>
          </a:xfrm>
          <a:prstGeom prst="rect">
            <a:avLst/>
          </a:prstGeom>
          <a:solidFill>
            <a:srgbClr val="F5F7FA"/>
          </a:solidFill>
          <a:ln/>
        </p:spPr>
      </p:sp>
      <p:sp>
        <p:nvSpPr>
          <p:cNvPr id="15" name="Shape 12"/>
          <p:cNvSpPr/>
          <p:nvPr/>
        </p:nvSpPr>
        <p:spPr>
          <a:xfrm>
            <a:off x="4663440" y="2514600"/>
            <a:ext cx="73152" cy="1783080"/>
          </a:xfrm>
          <a:prstGeom prst="rect">
            <a:avLst/>
          </a:prstGeom>
          <a:solidFill>
            <a:srgbClr val="1B2A4A"/>
          </a:solidFill>
          <a:ln/>
        </p:spPr>
      </p:sp>
      <p:sp>
        <p:nvSpPr>
          <p:cNvPr id="16" name="Text 13"/>
          <p:cNvSpPr txBox="1"/>
          <p:nvPr/>
        </p:nvSpPr>
        <p:spPr>
          <a:xfrm>
            <a:off x="4800600" y="25603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FORECASTING FROM A LOG MODEL</a:t>
            </a:r>
            <a:endParaRPr lang="en-US" sz="1100" dirty="0"/>
          </a:p>
        </p:txBody>
      </p:sp>
      <p:sp>
        <p:nvSpPr>
          <p:cNvPr id="17" name="Text 14"/>
          <p:cNvSpPr txBox="1"/>
          <p:nvPr/>
        </p:nvSpPr>
        <p:spPr>
          <a:xfrm>
            <a:off x="4800600" y="2834640"/>
            <a:ext cx="3931920" cy="1417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model predicts ln Y, not Y. If ln Y = −7 + 2X and X = 2.5, the prediction is ln Y = −2, so Ŷ = e⁻² = 0.1353. Forgetting the antilog is the most common error in the whole learning module.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06</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Big data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ML wrap</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6 of 6  ·  Deck 3 of 20  ·  Studio Tonton Gug</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Big data is defined by three Vs — volume, velocity, variety — plus a fourth, veracity, the moment the data is used for inference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Alternative data has three sources: individuals, business processes and sensors (satellites, geolocation, the Internet of Things).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11, §2 Fintech and Big Data, Exhibits 1–2, pp. 330–334.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Traditional data — prices, filings, economic releases — has not gone away. Alternative data has simply grown around it far faster, and with far weaker provenance.</a:t>
            </a:r>
            <a:endParaRPr lang="en-US" sz="1300" dirty="0"/>
          </a:p>
        </p:txBody>
      </p:sp>
      <p:sp>
        <p:nvSpPr>
          <p:cNvPr id="10" name="Shape 8"/>
          <p:cNvSpPr/>
          <p:nvPr/>
        </p:nvSpPr>
        <p:spPr>
          <a:xfrm>
            <a:off x="320040" y="1188720"/>
            <a:ext cx="2743200" cy="2103120"/>
          </a:xfrm>
          <a:prstGeom prst="rect">
            <a:avLst/>
          </a:prstGeom>
          <a:solidFill>
            <a:srgbClr val="F5F7FA"/>
          </a:solidFill>
          <a:ln/>
        </p:spPr>
      </p:sp>
      <p:sp>
        <p:nvSpPr>
          <p:cNvPr id="11" name="Shape 9"/>
          <p:cNvSpPr/>
          <p:nvPr/>
        </p:nvSpPr>
        <p:spPr>
          <a:xfrm>
            <a:off x="320040" y="1188720"/>
            <a:ext cx="73152" cy="2103120"/>
          </a:xfrm>
          <a:prstGeom prst="rect">
            <a:avLst/>
          </a:prstGeom>
          <a:solidFill>
            <a:srgbClr val="1B2A4A"/>
          </a:solidFill>
          <a:ln/>
        </p:spPr>
      </p:sp>
      <p:sp>
        <p:nvSpPr>
          <p:cNvPr id="12" name="Text 10"/>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VOLUME</a:t>
            </a:r>
            <a:endParaRPr lang="en-US" sz="1100" dirty="0"/>
          </a:p>
        </p:txBody>
      </p:sp>
      <p:sp>
        <p:nvSpPr>
          <p:cNvPr id="13" name="Text 11"/>
          <p:cNvSpPr txBox="1"/>
          <p:nvPr/>
        </p:nvSpPr>
        <p:spPr>
          <a:xfrm>
            <a:off x="457200" y="150876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Megabyte → gigabyte → terabyte → petabyte. Millions to billions of data points in a single dataset.</a:t>
            </a:r>
            <a:endParaRPr lang="en-US" sz="1200" dirty="0"/>
          </a:p>
        </p:txBody>
      </p:sp>
      <p:sp>
        <p:nvSpPr>
          <p:cNvPr id="14" name="Shape 12"/>
          <p:cNvSpPr/>
          <p:nvPr/>
        </p:nvSpPr>
        <p:spPr>
          <a:xfrm>
            <a:off x="3200400" y="1188720"/>
            <a:ext cx="2743200" cy="2103120"/>
          </a:xfrm>
          <a:prstGeom prst="rect">
            <a:avLst/>
          </a:prstGeom>
          <a:solidFill>
            <a:srgbClr val="FEF0E7"/>
          </a:solidFill>
          <a:ln/>
        </p:spPr>
      </p:sp>
      <p:sp>
        <p:nvSpPr>
          <p:cNvPr id="15" name="Shape 13"/>
          <p:cNvSpPr/>
          <p:nvPr/>
        </p:nvSpPr>
        <p:spPr>
          <a:xfrm>
            <a:off x="3200400" y="1188720"/>
            <a:ext cx="73152" cy="2103120"/>
          </a:xfrm>
          <a:prstGeom prst="rect">
            <a:avLst/>
          </a:prstGeom>
          <a:solidFill>
            <a:srgbClr val="E8600A"/>
          </a:solidFill>
          <a:ln/>
        </p:spPr>
      </p:sp>
      <p:sp>
        <p:nvSpPr>
          <p:cNvPr id="16" name="Text 14"/>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VELOCITY</a:t>
            </a:r>
            <a:endParaRPr lang="en-US" sz="1100" dirty="0"/>
          </a:p>
        </p:txBody>
      </p:sp>
      <p:sp>
        <p:nvSpPr>
          <p:cNvPr id="17" name="Text 15"/>
          <p:cNvSpPr txBox="1"/>
          <p:nvPr/>
        </p:nvSpPr>
        <p:spPr>
          <a:xfrm>
            <a:off x="3337560" y="150876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Real-time and near-real-time ticks, clickstreams and sensor feeds. Batch and periodic updates still exist but are no longer the default.</a:t>
            </a:r>
            <a:endParaRPr lang="en-US" sz="1200" dirty="0"/>
          </a:p>
        </p:txBody>
      </p:sp>
      <p:sp>
        <p:nvSpPr>
          <p:cNvPr id="18" name="Shape 16"/>
          <p:cNvSpPr/>
          <p:nvPr/>
        </p:nvSpPr>
        <p:spPr>
          <a:xfrm>
            <a:off x="6080760" y="1188720"/>
            <a:ext cx="2743200" cy="2103120"/>
          </a:xfrm>
          <a:prstGeom prst="rect">
            <a:avLst/>
          </a:prstGeom>
          <a:solidFill>
            <a:srgbClr val="F5F7FA"/>
          </a:solidFill>
          <a:ln/>
        </p:spPr>
      </p:sp>
      <p:sp>
        <p:nvSpPr>
          <p:cNvPr id="19" name="Shape 17"/>
          <p:cNvSpPr/>
          <p:nvPr/>
        </p:nvSpPr>
        <p:spPr>
          <a:xfrm>
            <a:off x="6080760" y="1188720"/>
            <a:ext cx="73152" cy="2103120"/>
          </a:xfrm>
          <a:prstGeom prst="rect">
            <a:avLst/>
          </a:prstGeom>
          <a:solidFill>
            <a:srgbClr val="1B2A4A"/>
          </a:solidFill>
          <a:ln/>
        </p:spPr>
      </p:sp>
      <p:sp>
        <p:nvSpPr>
          <p:cNvPr id="20" name="Text 18"/>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VARIETY</a:t>
            </a:r>
            <a:endParaRPr lang="en-US" sz="1100" dirty="0"/>
          </a:p>
        </p:txBody>
      </p:sp>
      <p:sp>
        <p:nvSpPr>
          <p:cNvPr id="21" name="Text 19"/>
          <p:cNvSpPr txBox="1"/>
          <p:nvPr/>
        </p:nvSpPr>
        <p:spPr>
          <a:xfrm>
            <a:off x="6217920" y="1508760"/>
            <a:ext cx="251460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Structured (SQL tables), semi-structured (HTML, JSON), unstructured (video, audio, free text). The pipeline has to handle all three.</a:t>
            </a:r>
            <a:endParaRPr lang="en-US" sz="1200" dirty="0"/>
          </a:p>
        </p:txBody>
      </p:sp>
      <p:sp>
        <p:nvSpPr>
          <p:cNvPr id="22" name="Shape 20"/>
          <p:cNvSpPr/>
          <p:nvPr/>
        </p:nvSpPr>
        <p:spPr>
          <a:xfrm>
            <a:off x="320040" y="3429000"/>
            <a:ext cx="8503920" cy="914400"/>
          </a:xfrm>
          <a:prstGeom prst="rect">
            <a:avLst/>
          </a:prstGeom>
          <a:solidFill>
            <a:srgbClr val="FEF0E7"/>
          </a:solidFill>
          <a:ln/>
        </p:spPr>
      </p:sp>
      <p:sp>
        <p:nvSpPr>
          <p:cNvPr id="23" name="Shape 21"/>
          <p:cNvSpPr/>
          <p:nvPr/>
        </p:nvSpPr>
        <p:spPr>
          <a:xfrm>
            <a:off x="320040" y="3429000"/>
            <a:ext cx="73152" cy="914400"/>
          </a:xfrm>
          <a:prstGeom prst="rect">
            <a:avLst/>
          </a:prstGeom>
          <a:solidFill>
            <a:srgbClr val="E8600A"/>
          </a:solidFill>
          <a:ln/>
        </p:spPr>
      </p:sp>
      <p:sp>
        <p:nvSpPr>
          <p:cNvPr id="24" name="Text 22"/>
          <p:cNvSpPr txBox="1"/>
          <p:nvPr/>
        </p:nvSpPr>
        <p:spPr>
          <a:xfrm>
            <a:off x="457200" y="34747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FOURTH V  ·  VERACITY</a:t>
            </a:r>
            <a:endParaRPr lang="en-US" sz="1100" dirty="0"/>
          </a:p>
        </p:txBody>
      </p:sp>
      <p:sp>
        <p:nvSpPr>
          <p:cNvPr id="25" name="Text 23"/>
          <p:cNvSpPr txBox="1"/>
          <p:nvPr/>
        </p:nvSpPr>
        <p:spPr>
          <a:xfrm>
            <a:off x="457200" y="374904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Scraped reviews, unverified posts, mislabelled satellite imagery, sensor drift. Big data amplifies the oldest problem in the discipline — separating quality from quantity — and adds legal and ethical exposure when the data was never meant to be public. Assessing the source is now a first-order analytical step, not a footnote.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Machine learning splits by whether you have labels — supervised, unsupervised, or deep learning through multi-layer neural nets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11, §3 Advanced Analytical Tools: AI and Machine Learning, pp. 334–337.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"Find the pattern, apply the pattern" is the curriculum's one-line summary of ML. It needs enormous training data, which is precisely why big data and ML arrived together.</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03120"/>
                <a:gridCol w="347472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Class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Training data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Example use in investing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Supervised learning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Inputs AND labelled outputs (a target)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Forecast next-day return direction; predict credit losses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Unsupervised learning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Inputs only — no labels, no target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Cluster stocks into peer groups; flag anomalous trades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Deep learning (neural nets)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Either — hidden layers build the features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NLP on earnings calls; image recognition on satellite data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17520"/>
            <a:ext cx="8503920" cy="1325880"/>
          </a:xfrm>
          <a:prstGeom prst="rect">
            <a:avLst/>
          </a:prstGeom>
          <a:solidFill>
            <a:srgbClr val="FEF0E7"/>
          </a:solidFill>
          <a:ln/>
        </p:spPr>
      </p:sp>
      <p:sp>
        <p:nvSpPr>
          <p:cNvPr id="11" name="Shape 8"/>
          <p:cNvSpPr/>
          <p:nvPr/>
        </p:nvSpPr>
        <p:spPr>
          <a:xfrm>
            <a:off x="320040" y="3017520"/>
            <a:ext cx="73152" cy="1325880"/>
          </a:xfrm>
          <a:prstGeom prst="rect">
            <a:avLst/>
          </a:prstGeom>
          <a:solidFill>
            <a:srgbClr val="E8600A"/>
          </a:solidFill>
          <a:ln/>
        </p:spPr>
      </p:sp>
      <p:sp>
        <p:nvSpPr>
          <p:cNvPr id="12" name="Text 9"/>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YOUR REGRESSION WAS ALREADY SUPERVISED LEARNING</a:t>
            </a:r>
            <a:endParaRPr lang="en-US" sz="1100" dirty="0"/>
          </a:p>
        </p:txBody>
      </p:sp>
      <p:sp>
        <p:nvSpPr>
          <p:cNvPr id="13" name="Text 10"/>
          <p:cNvSpPr txBox="1"/>
          <p:nvPr/>
        </p:nvSpPr>
        <p:spPr>
          <a:xfrm>
            <a:off x="457200" y="333756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Simple linear regression is the simplest supervised-learning algorithm there is: labelled (X, Y) pairs, a model that learns a mapping, and an out-of-sample question. ML generalises it to non-linear forms and thousands of features — but the bias-variance trade-off, the train / validate / test discipline and the "is this real or is this noise" question are identical. The cost of the generality is interpretability: an ML model is often a black box, and a regression coefficient never is.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Overfitting is the cardinal sin — a model that fits the training data perfectly and fails on data it has never seen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11, §3 Advanced Analytical Tools, pp. 335–336.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Split the data three ways: train to fit, validate to tune, test to measure honest out-of-sample performance. Touch the test set once, at the end, or it stops being a test. (The 60/20/20 split below is market convention, not curriculum.)</a:t>
            </a:r>
            <a:endParaRPr lang="en-US" sz="1300" dirty="0"/>
          </a:p>
        </p:txBody>
      </p:sp>
      <p:sp>
        <p:nvSpPr>
          <p:cNvPr id="9" name="Shape 7"/>
          <p:cNvSpPr/>
          <p:nvPr/>
        </p:nvSpPr>
        <p:spPr>
          <a:xfrm>
            <a:off x="320040" y="1188720"/>
            <a:ext cx="4160520" cy="2011680"/>
          </a:xfrm>
          <a:prstGeom prst="rect">
            <a:avLst/>
          </a:prstGeom>
          <a:solidFill>
            <a:srgbClr val="FEF0E7"/>
          </a:solidFill>
          <a:ln/>
        </p:spPr>
      </p:sp>
      <p:sp>
        <p:nvSpPr>
          <p:cNvPr id="10" name="Shape 8"/>
          <p:cNvSpPr/>
          <p:nvPr/>
        </p:nvSpPr>
        <p:spPr>
          <a:xfrm>
            <a:off x="320040" y="1188720"/>
            <a:ext cx="73152" cy="201168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OVERFITTING  ·  TOO COMPLEX</a:t>
            </a:r>
            <a:endParaRPr lang="en-US" sz="1100" dirty="0"/>
          </a:p>
        </p:txBody>
      </p:sp>
      <p:sp>
        <p:nvSpPr>
          <p:cNvPr id="12" name="Text 10"/>
          <p:cNvSpPr txBox="1"/>
          <p:nvPr/>
        </p:nvSpPr>
        <p:spPr>
          <a:xfrm>
            <a:off x="457200" y="1508760"/>
            <a:ext cx="393192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model treats noise as if it were signal — "overtrained". Near-perfect in training, poor out of sample. Typical causes: too many parameters, too few observations, no regularisation. It discovers relationships that were never there.</a:t>
            </a:r>
            <a:endParaRPr lang="en-US" sz="1200" dirty="0"/>
          </a:p>
        </p:txBody>
      </p:sp>
      <p:sp>
        <p:nvSpPr>
          <p:cNvPr id="13" name="Shape 11"/>
          <p:cNvSpPr/>
          <p:nvPr/>
        </p:nvSpPr>
        <p:spPr>
          <a:xfrm>
            <a:off x="4663440" y="1188720"/>
            <a:ext cx="4160520" cy="2011680"/>
          </a:xfrm>
          <a:prstGeom prst="rect">
            <a:avLst/>
          </a:prstGeom>
          <a:solidFill>
            <a:srgbClr val="F5F7FA"/>
          </a:solidFill>
          <a:ln/>
        </p:spPr>
      </p:sp>
      <p:sp>
        <p:nvSpPr>
          <p:cNvPr id="14" name="Shape 12"/>
          <p:cNvSpPr/>
          <p:nvPr/>
        </p:nvSpPr>
        <p:spPr>
          <a:xfrm>
            <a:off x="4663440" y="1188720"/>
            <a:ext cx="73152" cy="201168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UNDERFITTING  ·  TOO SIMPLE</a:t>
            </a:r>
            <a:endParaRPr lang="en-US" sz="1100" dirty="0"/>
          </a:p>
        </p:txBody>
      </p:sp>
      <p:sp>
        <p:nvSpPr>
          <p:cNvPr id="16" name="Text 14"/>
          <p:cNvSpPr txBox="1"/>
          <p:nvPr/>
        </p:nvSpPr>
        <p:spPr>
          <a:xfrm>
            <a:off x="4800600" y="1508760"/>
            <a:ext cx="393192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model treats real signal as if it were noise. Poor in training AND poor out of sample. Typical cause: a functional form too restrictive for the data — a straight line through an obviously curved relationship.</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20040" y="3291840"/>
          <a:ext cx="8503920" cy="914400"/>
        </p:xfrm>
        <a:graphic>
          <a:graphicData uri="http://schemas.openxmlformats.org/drawingml/2006/table">
            <a:tbl>
              <a:tblPr/>
              <a:tblGrid>
                <a:gridCol w="1828800"/>
                <a:gridCol w="484632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Split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share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Training set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Fit the model parameters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Validation set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Tune hyperparameters; choose between model families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Test set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Report honest out-of-sample performance — once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3 — Sampling, Hypothesis Testing &amp; Simple Linear Regression</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Probability sampling (simple, systematic, stratified, cluster) gives every element a known selection chance; non-probability sampling (convenience, judgmental) trades accuracy for speed.</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CLT: X̄ ≈ N(µ, σ²/n) for ANY finite-variance population once n is large. Standard error falls with 1/√n — quadruple the data to halve the error.</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CI for µ = X̄ ± t*·s/√n, df = n − 1. It does NOT say there is a 95% chance µ is inside; the randomness lives in the interval, not in µ.</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Six steps every time: state H₀/Hₐ, pick the statistic, set α, write the rule, compute, decide. p ≤ α ⇔ reject. Never "accept" the null.</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Type I is α, Type II is β, power is 1 − β. Only a bigger n improves both. Fix the number of tails from the QUESTION, before the data.</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Match test to question: t (means), χ² (a variance, and independence), F (two variances), t on r (correlation, Pearson or Spearman rank).</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OLS: b̂₁ = cov(X,Y)/var(X), b̂₀ = Ȳ − b̂₁X̄. R² = SSR/SST = r² in SLR; slope t = (b̂₁ − B₁)/s_b̂₁ with df = n − 2, and t² = F. Test against 1, not just 0.</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Prediction intervals widen away from X̄. Take logs when the relation curves: log-log slopes are elasticities. Big data: 3 Vs + veracity; ML is supervised / unsupervised / deep; overfitting is the default failure.</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3 · Sampling, Hypothesis Testing &amp; Simple Linear Regression</dc:title>
  <dc:subject>PptxGenJS Presentation</dc:subject>
  <dc:creator>Studio Tonton Gug</dc:creator>
  <cp:lastModifiedBy>Studio Tonton Gug</cp:lastModifiedBy>
  <cp:revision>1</cp:revision>
  <dcterms:created xsi:type="dcterms:W3CDTF">2026-08-30T20:48:19Z</dcterms:created>
  <dcterms:modified xsi:type="dcterms:W3CDTF">2026-08-30T20:48:19Z</dcterms:modified>
</cp:coreProperties>
</file>