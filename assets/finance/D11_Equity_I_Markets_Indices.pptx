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11  ·  WEEK 6  ·  MORNING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I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Markets, Indices &amp; Security Types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equity trades, how we measure the market, and what we are actually buying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5 Learning Modules 1–4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Equity I — Markets, Indices, Efficiency &amp; Security Types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structure &amp; order types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93799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of the financial system · market vs limit vs stop · limit order book · quote- vs order-driven vs brokered · call vs continuous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103120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2148840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market indexes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489911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market &amp; selection · price / equal / cap / float / fundamental weighting · divisor mechanics on stock splits · rebalance vs reconstitute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044952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efficiency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3386023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vs market value · weak / semi-strong / strong · anomalies (calendar, size, value, momentum, earnings surprise) · behavioral finance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895344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941064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security taxonomy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4282135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vs preferred · callable / putable / cumulative / participating / convertible · public vs private · ADR / GDR / GRS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market, limit, and stop orders — and trace how a marketable limit buy walks up a live limit order book.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value and return of price-weighted, equal-weighted, market-cap-weighted, and float-adjusted indexes, and adjust the divisor correctly for a stock split.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three forms of the efficient market hypothesis, identify which form each documented anomaly challenges, and give the standard counter-explanation.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an equity security by common vs preferred and by bolt-on features (callable, putable, cumulative, participating, convertible); decompose a convertible preferred into a bond floor plus an embedded call.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public vs private equity routes (VC, LBO, PIPE) and describe how an investor accesses non-domestic equity via direct listing, ADRs, GDRs, and GRSs.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structure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order types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4  ·  Deck 11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systems perform three jobs at once — they move capital, pool risk, and discover prices; orderly trading venues make all three cheaper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1, §1 "Functions of the Financial System", pp. 5–12.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Exchanges, OTC venues, and brokered markets all exist to reduce the cost of the same bilateral search: matching someone with cash to someone with an asset.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· SAVE &amp; BORROW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purchasing power through time. Individuals save for retirement; firms borrow to fund investment. Both sides need a market to meet.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· POOL &amp; DIVERSIFY RISK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lumpy, idiosyncratic exposures into tradeable pieces. Insurance, securitization, derivatives, and listed equity all pool risk across many holders.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· DISCOVER PRICES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private views into a public price. The best-bid / best-ask spread is the visible output; capital-allocation efficiency is the social benefit.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4343400"/>
            <a:ext cx="8503920" cy="3200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4343400"/>
            <a:ext cx="73152" cy="3200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43891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COMMON THREAD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663440"/>
            <a:ext cx="8275320" cy="-45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jobs get cheaper when liquidity is deeper, information is more symmetric, and trading rules are transparent.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order is a triplet of instructions — execution, validity, and clearing — and market vs limit is the single most important execution decision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1, §12 "Orders and Execution Instructions", pp. 44–50.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order = speed at the cost of price certainty. Limit order = price protection at the cost of fill uncertainty.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11480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Instruction set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specifies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Common variants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HOW to fill — what price and size conditions to accept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Market · Limit · Marketable-limit · AON · Hidden / Iceberg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WHEN the order can be filled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Day · GTC · IOC (fill-or-kill) · Market-on-close · Stop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HOW to settle the trade once filled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 vs short sale · Prime broker give-up · Cash / DvP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560320"/>
            <a:ext cx="4160520" cy="17373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560320"/>
            <a:ext cx="73152" cy="17373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6060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ORDER — TAKES THE MARKET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880360"/>
            <a:ext cx="393192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immediately against the best resting offer. Speed is guaranteed; price concession is not. Dangerous in thin markets — a large market order can walk several levels up the book.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2560320"/>
            <a:ext cx="4160520" cy="17373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4663440" y="2560320"/>
            <a:ext cx="73152" cy="17373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00600" y="26060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 ORDER — MAKES THE MARKET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2880360"/>
            <a:ext cx="393192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a worst-acceptable price. If unmatched it joins the limit order book and becomes a standing offer. Better price — but may never execute. Aggressively-priced limits (above best offer on buy) are "marketable".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limit order book ranks resting orders by price then time; "the market" is the best bid / best offer, and anything inside it makes a new market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1, Exhibit 2 + Example 21, pp. 46–48.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book for ticker RENKO. The market is 26 bid, 28 offered. Price-time priority is the dominant matching rule on modern exchanges.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Bid size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Offer size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  far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31  behind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  near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  BEST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  inside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  BEST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  near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  behind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  far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623560" y="1188720"/>
            <a:ext cx="3200400" cy="822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5623560" y="1188720"/>
            <a:ext cx="73152" cy="822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60720" y="1234440"/>
            <a:ext cx="2971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/ INSIDE / BEHIND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1508760"/>
            <a:ext cx="2971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market = best bid or best offer. Inside the market = between them (a new limit here makes a new market). Behind / away = beyond the best — may never fill.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23560" y="2103120"/>
            <a:ext cx="3200400" cy="822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5623560" y="2103120"/>
            <a:ext cx="73152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760720" y="2148840"/>
            <a:ext cx="2971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 VS PASSIVE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60720" y="2423160"/>
            <a:ext cx="2971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29 is aggressively priced (above best bid); buy 24 is passive. Aggressive orders fill faster but at worse prices — the core liquidity trade-off.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23560" y="3017520"/>
            <a:ext cx="3200400" cy="12801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9" name="Shape 16"/>
          <p:cNvSpPr/>
          <p:nvPr/>
        </p:nvSpPr>
        <p:spPr>
          <a:xfrm>
            <a:off x="5623560" y="3017520"/>
            <a:ext cx="73152" cy="12801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760720" y="3063240"/>
            <a:ext cx="2971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PRIORITY RULES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760720" y="3337560"/>
            <a:ext cx="29718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Price priority: highest buy / lowest sell first.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Display precedence: visible size beats hidden at same price.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Time precedence: first-in wins among equals.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 a 15-lot marketable limit buy in a continuous order-driven market clears the book from the best offer upward — a worked trade walk-through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1, Example 27 "Filling a Large Order", pp. 58–60.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— the continuous order-driven market for ticker AZURIS has the following book BEFORE our arriving order. We submit: BUY 15 shares, limit 100.5, day.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4069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41732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Bid size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 (¥)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Offer size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 (Miku)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  (Sakura)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  (Hina)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480560" y="1188720"/>
            <a:ext cx="434340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17720" y="1234440"/>
            <a:ext cx="4069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— WALK THE BOOK UPWARD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527048"/>
            <a:ext cx="4069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Tsubasa submits BUY 15 @ limit 100.5 (day). Discriminatory pricing rule applies.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2039112"/>
            <a:ext cx="406908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take Hina at 100.4 for 4 lots (best offer).  Remaining: 11 lots.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take Sakura at 100.5 for 6 lots (still at or below limit).  Remaining: 5 lots.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Miku is offered at 100.6 &gt; limit 100.5 → STOP. Residual 5 lots rest on the book as a new best bid at 100.5.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fill price = (4·100.4 + 6·100.5) / 10 = 100.46. Post-trade book: best bid 100.5 (5 @ Tsubasa), best offer 100.6.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0" y="3904488"/>
            <a:ext cx="416052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17720" y="3904488"/>
            <a:ext cx="406908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⇒  10 lots filled at avg ¥100.46; 5 lots standing. Spread tightens from 100.3/100.4 to 100.5/100.6.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 orders and marketable limits are conditionals layered on top of the basic pair — useful for risk management, dangerous as liquidity destroyers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Stop-sell orders trigger when prices fall and then add more sell pressure — a positive-feedback loop that can amplify flash crashes.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A stop-limit combines a trigger (stop) with a price floor (limit) — safer than stop-market in thin markets, but may not execute.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1, §13 "Validity Instructions; Stop Orders", pp. 49–51.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 price says WHAT price is acceptable. The stop price says WHEN the order becomes valid. They are orthogonal — and can be combined.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3444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468880"/>
                <a:gridCol w="210312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Order 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Trigger condition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Fill rule once valid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use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always valid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take best available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Immediate exit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 (buy)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always valid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fill ≤ limit price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Price-sensitive entry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Stop-market (sell)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 trades at/below stop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take best available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 downside on long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Stop-limit (sell)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 trades at/below stop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fill ≥ limit price (or wait)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 downside, avoid bad prints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Marketable-limit (buy)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always valid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limit set above best offer → immediate partial/full fill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 fill, bounded slippage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320040" y="3611880"/>
            <a:ext cx="8503920" cy="7315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040" y="3611880"/>
            <a:ext cx="73152" cy="7315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7200" y="36576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CFA TEXT CALLS STOPS "STOP-LOSS"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931920"/>
            <a:ext cx="82753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trader long at 40 submits "GTC, stop 30, market sell". If RENKO prints 30, the stop condition is satisfied and a market sell is released into the book — which may execute well below 30 if the market is falling fast. The stop triggers the order but does not guarantee a 30 fill.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Secondary markets come in three flavours — quote-driven, order-driven, and brokered — and most modern venues blend them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1, §15 "Secondary Security Market Structures", pp. 55–60.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venue that matches the instrument: dealer markets for capital-heavy inventory; exchanges for standardised instruments; brokers for unique blocks.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192024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Venue 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How trades happen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Dominant asset classes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 transparency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Quote-driven (dealer)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Customer trades AT the dealer's quoted bid/ask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Bonds, currencies, most spot commodities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Low–mid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Order-driven (exchange)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Electronic order-matching engine pairs buyers &amp; sellers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Listed equities, listed futures, listed FX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Broker runs a bilateral search; bespoke terms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Real estate, IP, large share blocks, art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154680"/>
            <a:ext cx="8503920" cy="11887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154680"/>
            <a:ext cx="73152" cy="11887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004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BLENDED VENUES ARE NOW THE NORM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74720"/>
            <a:ext cx="82753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NYSE and Nasdaq are order-driven with designated market makers (quote-driven layer). OTC swap markets post electronic dealer quotes (quote-driven with screen transparency). Upstairs block desks hand-cross large equity orders off-exchange (brokered supplement to order-driven core). The three types are ideal-type poles, not mutually exclusive bins.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Call auctions concentrate liquidity at a single crossing price; continuous trading gives immediacy but at the cost of a wider spread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1, §15 Trading Sessions / Execution Mechanisms, pp. 56–58.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continuous markets open and close with a call auction. Open cross sets the day's opening print; close cross sets the reference price for settlement and NAV.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CALL AUCTION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orders batched. Single uniform price chosen to maximise volume traded (supply–demand cross). Between calls the market is illiquid — no trades possible.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market opens, market closes, IPO price discovery, and some lower-liquidity venues throughout the day.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uniform. Participation: pooled. Cost: must wait until the call.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 TRADING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match against resting liquidity any time the market is open. Discriminatory pricing rule: the arriving order pays the limit price of each standing order it consumes (walks the book).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pay fast, sellers hit the bid fast. Spreads compensate liquidity providers for adverse selection.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path-dependent. Participation: continuous. Cost: the spread.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indexes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4  ·  Deck 11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index is built in three decisions — target market, security selection, and weighting — and each choice silently shapes the reported return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2, §2 "Index Construction", pp. 82–88.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index is an opinion about what "the market" means — operationalised in rules. Two indexes on the same universe can report very different returns on the same day.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4632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Decision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fixes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Target 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Asset class, geography, exchange, sector, cap size, style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S&amp;P 500 = large-cap US equity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Security selection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 constituents vs sample; fixed N vs variable N; rules vs committee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FTSE 100 = top 100 by cap; BSE SENSEX = committee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Weighting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 / equal / market-cap / float-adjusted / fundamental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Dow = price-weighted; S&amp;P 500 = float-cap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972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46120"/>
            <a:ext cx="73152" cy="10972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918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RULES-BASED VS COMMITTEE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66160"/>
            <a:ext cx="82753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Rules-based indexes (FTSE, MSCI, CRSP) re-run a mechanical selection each reconstitution — predictable, backtestable, transparent. Committee-run indexes (S&amp;P 500, BSE SENSEX) allow human override to handle edge cases (mergers, distress, sector balance) — at the cost of some opacity.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single-period return of an index is just a weighted average of its constituents' returns — price return vs total return differ only by the dividend leg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2, §2 "Calculation of Single-Period Returns", pp. 83–85.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BOP weights determine each stock's contribution; EOP weights show where the index drifted to.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R_index  =  Σᵢ  wᵢ_BOP  ×  Rᵢ            R_total  =  R_price  +  (dividends / BOP index value)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wᵢ_BOP = constituent weight at beginning of period; Rᵢ = single-period constituent return.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MINI-EXAMPLE — 2-STOCK PRICE-WEIGHTED INDEX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HELION BOP 50, EOP 55, dividend 0.75. RENKO BOP 25, EOP 22, dividend 0.10. Divisor = 2.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BOP index = (50+25)/2 = 37.50.  EOP index = (55+22)/2 = 38.50.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return = (38.50−37.50)/37.50 = +2.67%.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dividends paid on 1-share-each basis = 0.85. Total value flow = price change 1.00 + div 0.85 = 1.85.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= 1.85/37.50 = +4.93%.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return 2.67% vs total return 4.93% — dividends added 226 bps in this single period.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 weighting makes high-price stocks dominate by accident of quotation — and a stock split forces the divisor to be re-scaled to preserve index level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2, §3 "Price Weighting", Exhibits 1–2, pp. 87–89.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Price-weighted weights reflect only the share price — not market cap, not economic size. A $200 stock carries 10× the weight of a $20 stock regardless of how big either company is.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wᵢ_P  =  Pᵢ  /  Σⱼ Pⱼ          Index value  =  Σ Pᵢ  /  Divisor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Divisor is set at inception = N (number of constituents). Rescaled on splits / changes so index level is preserved.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6596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280160"/>
                <a:gridCol w="1417320"/>
                <a:gridCol w="1280160"/>
                <a:gridCol w="1463040"/>
                <a:gridCol w="15087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Security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BOP price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BOP weight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EOP price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 return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EOP weight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49.26%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55.00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+10.00%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52.38%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RENKO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−12.00%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20.95%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12.32%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−36.00%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7.62%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9.85%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+40.00%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13.33%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CORYN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3.94%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+50.00%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5.72%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 / Index (divisor 5)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101.50 → 20.30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105.00 → 21.00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+3.45%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4023360"/>
            <a:ext cx="8503920" cy="3200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4023360"/>
            <a:ext cx="73152" cy="3200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40690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HEADLINE INSIGHT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343400"/>
            <a:ext cx="8275320" cy="-45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HELION drives 49% of the index return with only 26% of the combined market cap — price-weighting systematically overweights expensive-looking shares.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Comparing price-weighted vs market-cap-weighted after a 2-for-1 split in HELION — same five stocks, two different "market" readings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Shares outstanding are illustrative; the CFA exhibit uses 3,000 / 10,000 / 5,000 / 8,000 / 7,000 for the five securities with identical BOP prices.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2, Exhibits 1–2 &amp; 4, pp. 87–92.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— at EOP, HELION does a 2-for-1 split. Share price 55 → 27.50, shares 3,000 → 6,000. Market cap unchanged. But the price-weighted index must rescale its divisor.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097280"/>
            <a:ext cx="8503920" cy="22860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1430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 — SPLIT MECHANICS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4356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both indexes BEFORE and AFTER the HELION 2-for-1 split. Show why the price-weighted divisor changes and the cap-weighted index does not.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947672"/>
            <a:ext cx="8229600" cy="923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Price-weighted BEFORE split: Σ prices = 55+22+8+14+6 = 105. Divisor = 5. Index = 21.00.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split, ΣP = 27.50+22+8+14+6 = 77.50. To keep index at 21.00: new divisor = 77.50 / 21.00 = 3.6905.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Cap-weighted BEFORE: ΣMCap = 3000·55 + 10000·22 + 5000·8 + 8000·14 + 7000·6 = 165k+220k+40k+112k+42k = 579k.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Cap-weighted AFTER split: HELION shares 3000→6000 at price 55→27.50 → mcap unchanged at 165k. Total unchanged at 579k. Index value unchanged.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1480" y="29443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9443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⇒  Price-weighted: divisor 5 → 3.6905, index preserved at 21.00. Cap-weighted: no adjustment — split is a non-event.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520440"/>
          <a:ext cx="8503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737360"/>
                <a:gridCol w="1828800"/>
                <a:gridCol w="1645920"/>
                <a:gridCol w="16459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Security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 post-split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Weight P-W after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Mkt cap (k)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Weight cap-W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27.50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35.48%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165.0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28.50%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RENKO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28.39%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38.00%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10.32%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6.91%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18.07%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112.0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19.34%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CORYN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Equal, market-cap, float-adjusted, and fundamental weightings each solve one problem and create another — the choice is always a trade-off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2, §3 Weighting Methods, pp. 89–95.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Float-adjusted cap-weighting is now the industry default for broad indexes — combines investability, minimal rebalancing, and representativeness.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201168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Method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Weight rule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Advantage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Disadvantage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Price-weighted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wᵢ = Pᵢ / ΣP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Dead-simple computation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Arbitrary — splits redistribute weights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Equal-weighted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wᵢ = 1/N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Small-cap / size-effect tilt free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Constant rebalancing; underweights big names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wᵢ = (QᵢPᵢ) / Σ(QⱼPⱼ)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Self-rebalancing; investable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Concentrates in overvalued names (momentum drift)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Float-adjusted 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 × % publicly tradable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Excludes locked-up / strategic holdings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Float data must be maintained by provider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Fundamental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wᵢ ∝ sales, book, CF, or dividends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Decouples from price — anti-bubble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Opinionated — introduces value tilt by design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703320"/>
            <a:ext cx="8503920" cy="6400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703320"/>
            <a:ext cx="73152" cy="6400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490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INTUITION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023360"/>
            <a:ext cx="82753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Cap-weighted indexes are "the market" under CAPM equilibrium (every investor holds the market portfolio in proportion to supply). Fundamental-weighted indexes are an active bet against the market — even if dressed up as passive.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need rebalancing (weights drift) and reconstitution (constituents drop in/out) — two different kinds of turnover that every passive fund must track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2, §4 "Index Management", pp. 95–97.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Cap-weighted indexes barely need rebalancing; equal-weighted indexes need constant rebalancing. Both need periodic reconstitution.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REBALANCING — REFRESH WEIGHTS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weights back to the target rule. Cap-weighted: mostly automatic (weights drift to their "true" value when prices move). Equal-weighted: requires selling winners and buying losers every rebalance — meaningful turnover, tax drag, trading costs.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Frequency: monthly, quarterly, or semi-annually for most major indexes.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RECONSTITUTION — REFRESH MEMBERSHIP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 remove constituents. Driven by target market rules — e.g., a stock that drops below size / liquidity thresholds exits. Additions often pop on announcement (index-inclusion effect) as passive funds pre-position.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cap-weighted indexes, reconstitution forces a weight recalculation of ALL names — not just the ones that moved.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indexes are organised into four families — broad, multi-market, sector, and style — each serving a different analytical question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2, §6 "Equity Indexes", pp. 99–102.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index that matches the question. "Did US large caps rise?" → S&amp;P 500. "Did tech outperform staples?" → sector indexes. "Did value beat growth?" → style indexes.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3774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Family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represents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uses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Large slice of a domestic equity market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Market sentiment · benchmark · asset allocation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S&amp;P 500, FTSE All-Share, TOPIX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Bundle of countries or regions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allocation · EM vs DM tilt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MSCI EAFE, MSCI ACWI, FTSE Emerging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Companies in a single industry group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Sector rotation · industry analysis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S&amp;P 500 Financials, MSCI World Energy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Size × value/growth classification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Style drift · factor exposure benchmark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Russell 1000 Growth, Russell 2000 Value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74720"/>
            <a:ext cx="8503920" cy="868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74720"/>
            <a:ext cx="73152" cy="868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204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3×2 STYLE BOX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94760"/>
            <a:ext cx="8275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dimension: large / mid / small cap. Style dimension: value / growth. Gives six canonical style categories (e.g., "large-cap value", "small-cap growth") that anchor manager benchmarking and factor attribution.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efficiency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4  ·  Deck 11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efficiency says prices adjust quickly and accurately to new information — intrinsic value can still differ from market value, but only briefly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3, §2 "Concept of Market Efficiency", pp. 125–131.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a spectrum — driven by how many informed participants trade, how fast information spreads, how costly it is to trade, and what limits-to-arbitrage are present.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value  ≈  Intrinsic value      Abnormal return  =  Actual return  −  Expected (risk-adjusted) return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In a fully efficient market expected abnormal returns on any trading rule are zero — after transaction costs and risk adjustment.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286000"/>
          <a:ext cx="8503920" cy="914400"/>
        </p:xfrm>
        <a:graphic>
          <a:graphicData uri="http://schemas.openxmlformats.org/drawingml/2006/table">
            <a:tbl>
              <a:tblPr/>
              <a:tblGrid>
                <a:gridCol w="4251960"/>
                <a:gridCol w="42519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Factor that pushes TOWARD efficiency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Factor that pushes AWAY from efficiency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number of profit-motivated informed traders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 information-acquisition costs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Mandatory timely disclosure (10-K, IFRS quarterly)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Transaction costs and bid-ask spreads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trading costs + deep 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Short-selling restrictions / stock borrow costs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Well-functioning derivatives &amp; arbitrage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Limited investor attention / behavioral biases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forms of EMH stack like Russian dolls — weak ⊂ semi-strong ⊂ strong — and the evidence supports only the first two in developed markets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3, §4 "Forms of Market Efficiency", pp. 132–137.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 is a statement about what information is already priced — and therefore what trading strategy cannot earn abnormal returns.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2651760"/>
                <a:gridCol w="16459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prices reflect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Useless trading strategy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Developed-market evidence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 PAST market data (prices &amp; volume)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Technical analysis / chart patterns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Largely supported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Semi-strong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 PUBLIC information (weak + fundamentals)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Fundamental analysis based on public data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Broadly supported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 PUBLIC + PRIVATE information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Insider trading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Rejected — insiders do profit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972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46120"/>
            <a:ext cx="73152" cy="10972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918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IMPLICATION — WHY ACTIVE MANAGEMENT STRUGGLES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66160"/>
            <a:ext cx="82753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markets are semi-strong efficient, skill in analysing public information does not reliably generate alpha — the information is already priced. Mutual-fund studies bear this out: net-of-fees, the average active manager underperforms the benchmark. Fundamental analysis still has value: it is the mechanism by which markets ACHIEVE semi-strong efficiency.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Documented anomalies span calendar, cross-sectional, and event-driven effects — but most shrink or vanish once risk-adjusted and net of transaction costs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Fama–French (1995): value premium largely disappears when the 3-factor model is used instead of CAPM — the anomaly becomes a risk factor.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Fama (1998): if data-mining thousands of strategies, some will look anomalous purely by chance — survivorship in the journals is not evidence.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3, §6–7 "Market Pricing Anomalies", Exhibits 3–4, pp. 139–145.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 — an anomaly is real only if it survives three tests: out-of-sample replication, risk adjustment, and after-transaction-cost profitability.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80160"/>
                <a:gridCol w="3017520"/>
                <a:gridCol w="22860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Anomaly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Category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Observation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Standard counter-explanation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 effect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Time-series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Small-cap returns spike in early January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Tax-loss selling + window dressing — faded post-2000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Momentum (3–12m)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Time-series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Past winners keep winning over 3–12m horizon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Rational shocks to cash-flow growth (Johnson 2002)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effect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Cross-sectional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Small caps outperform large caps risk-adjusted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Present only in microcaps; illiquidity premium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effect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Cross-sectional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 P/B stocks beat high P/B stocks long-run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Fama–French 3-factor: distress / value risk factor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Earnings surprise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Event-driven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Positive surprises drift up AFTER announcement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Survives in studies; weakens after transaction costs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Closed-end-fund discount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Event-driven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CEFs trade 4–10% below NAV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Illiquidity + deferred-tax-liability overhang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 long-run underperformance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Event-driven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IPOs beat day-1, then underperform over 3–5y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Methodology artifact + initial overreaction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Behavioral finance offers a microfoundation for anomalies — loss aversion, herding, and overconfidence — but the market can still clear efficiently even if individuals do not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3, §8 "Behavioral Finance", pp. 146–149.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does not require that every investor be rational — only that enough rational arbitrageurs force prices back to fundamentals.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LOSS AVERSION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of a loss outweighs pleasure of an equal-size gain (~2× in experiments).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disposition effect — investors hold losers too long, sell winners too early.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explain overreaction to bad news — but so can undereaction, so behavioral theory alone is not decisive.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HERDING &amp; INFORMATION CASCADES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trade on the same side of the market simultaneously — often ignoring private information.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create momentum (herd toward rising names) or overreaction (herd away from distressed names).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 micro-foundation: information cascades — each investor rationally infers others know something they do not.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OVERCONFIDENCE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overestimate precision of their own forecasts — especially after a recent success.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to excessive trading, under-diversification, and mispricing of low-probability tail events.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aggregate may produce return volatility in excess of fundamentals — but arbitrageurs still force mean reversion.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security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taxonomy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4  ·  Deck 11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shares give ownership, residual claim, and voting rights; preferred shares rank higher on cash flows but typically vote only when dividends are in arrears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4, §2 Common + Preference Shares, pp. 165–170.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shares are a hybrid — bond-like cash flows, equity-like perpetual life, second-to-last in liquidation.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7472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Feature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Common shares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Preferred shares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Discretionary; can be zero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Fixed rate (stated %); not a contractual obligation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Dividend priority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Last — after all preferred and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Before common; may accumulate if cumulative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Liquidation priority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Last (residual claimant)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Before common, after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Voting rights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One vote per share (typical); statutory / cumulative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 typically; voting triggered if divs in arrears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Participation in earnings growth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Full — captures upside via price &amp; dividend growth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Limited — cash flows capped at stated coupon unless participating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Perpetual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Usually perpetual; may be callable / putable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886200"/>
            <a:ext cx="8503920" cy="4572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886200"/>
            <a:ext cx="73152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9319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VS STATUTORY VOTING FOR COMMON SHARES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206240"/>
            <a:ext cx="8275320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= one vote per share per candidate (one-share-one-vote per line). Cumulative = total votes can be concentrated on a single candidate — protects minority shareholders by making board representation achievable below 50% ownership.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Bolt-on features — callable, putable, cumulative, participating, convertible — turn a plain preferred share into five economically different securities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4, §2 Preference Shares, Exhibits 9–10, pp. 169–170.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bolt-on is an embedded option that shifts value between issuer and investor. The shareholder's return is the coupon plus the net value of all embedded options.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474720"/>
                <a:gridCol w="15544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Feature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Who holds the option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does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Direction of value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Issuer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Issuer can buy back at set price — valuable if rates fall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Negative to investor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Investor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Investor can sell back to issuer at set price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Positive to investor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Investor (automatic)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Missed dividends accrue and must be paid before common divs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Positive to investor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Investor (automatic)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Extra dividend when profits exceed threshold; upside in liq.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Positive to investor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Investor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Can swap into a fixed number of common shares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Positive to investor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2900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2900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747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VC DEALS ALMOST ALWAYS USE CONVERTIBLE PREFERRED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4904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Convertible preferred = bond-like floor (safety if the startup fails) + call option on common (full upside if the startup succeeds). Matches VC payoff asymmetry better than either straight preferred or straight common. Combined with cumulative + participating features, it also protects investors in interim liquidations.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convertible preferred decomposes into a fixed-income floor plus an embedded call option on the common — a two-component valuation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4, §2 Convertible Preference Shares, pp. 169–170.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floor = value as a straight preferred. Conversion value = today's value of the common shares it can convert into. Traded price ≥ max(floor, conversion value).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4300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P_convertible  =  max( Bond floor ,  Conversion value )  +  Time value of the embedded option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2880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Bond floor = PV of coupons &amp; par as straight preferred · Conversion value = conversion ratio × common share price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86000"/>
            <a:ext cx="8503920" cy="2057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31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AZURIS SERIES C 6% CONVERTIBLE PREFERRED — DECOMPOSITION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24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USD 50 · annual coupon 6% (USD 3) · conversion ratio 2.5 · AZURIS common trading at USD 18 · market yield on comparable straight preferreds = 7.14%. Observed market price of the convertible preferred = USD 48.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36392"/>
            <a:ext cx="822960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floor: PV of a perpetual 3/yr cash flow at 7.14% ≈ 3 / 0.0714 = USD 42.00.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value: 2.5 × USD 18 = USD 45.00.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Floor-or-convert: max(42.00, 45.00) = USD 45.00 (would convert today to capture the common).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price 48.00 − 45.00 = USD 3.00 = time value of the remaining optionality (waiting to convert at a higher common price).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⇒  P = 45 (intrinsic) + 3 (option time value) = USD 48.00. Above the bond floor by 6.00 — equity-like; below pure common of 45, but with downside protection at 42.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equity — VC, LBO, PIPE — and public equity occupy the same asset class but with wildly different liquidity, disclosure, and return patterns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4, §3 "Private Versus Public Equity Securities", pp. 170–173.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on private equity is partly compensation for illiquidity and partly compensation for the active-management / governance work performed by the GP.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VENTURE CAPITAL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/ early / mezzanine capital into pre-profit companies.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Instrument: convertible preferred (cumulative, participating, anti-dilution).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Hold: 5–10y. Exit: IPO or trade sale. Failure rate is high; winners subsidise losers via portfolio construction.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LEVERAGED BUYOUT (LBO / MBO)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group uses heavy debt to take an already-public company private.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Targets: undervalued asset-heavy firms with steady cash flow (to service debt).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creation: operational improvement + financial engineering + re-listing at higher multiple years later.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INVESTMENT IN PUBLIC EQUITY (PIPE)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company sells sizeable equity stake to a private investor(s), usually at discount to market.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when the issuer needs capital fast and wants to avoid a long registered secondary offering.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public liquidity for the underlying shares, private-negotiation economics on the block.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Investors reach foreign equity via direct listing, depository receipts (ADR / GDR), or global registered shares — each choice trades FX friction for regulatory burden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4, §4 "Non-Domestic Equity Securities", pp. 173–178.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depository bank holds the underlying foreign shares and issues receipts denominated in the investor's currency — turning a cross-border trade into a local one.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1645920"/>
                <a:gridCol w="17373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Route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Trades 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Currency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Regulatory overhead for issuer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investor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investing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Issuer's home exchange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Foreign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 extra (domestic listing only)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Institutional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Level I (unlisted)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 OTC pink sheets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Minimal — Form F-6 only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Retail + inst.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Level II (listed)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NYSE / NASDAQ / AMEX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Full SEC disclosure, no new capital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Broad US market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Level III (listed, capital)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NYSE / NASDAQ / AMEX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Full SEC + public offering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Broad US market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Rule 144A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Private QIB placement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 with SEC (Rule 144A carve-out)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QIBs only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London / Luxembourg typically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Usually USD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Local disclosure, no SEC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Non-US inst.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Registered Share (GRS)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Multiple exchanges simultaneously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Local of each exchange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Highest — multi-jurisdiction filings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inst.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11 — Equity I — Markets, Indices, Efficiency &amp; Security Types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order is execution × validity × clearing; market orders TAKE liquidity (speed, price risk), limit orders MAKE liquidity (price protection, fill risk).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limit order book ranks by price then time; arriving marketable orders walk the book, paying each standing order's limit price under the discriminatory pricing rule.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Venues blend three archetypes — quote-driven (bonds, FX), order-driven (listed equities), brokered (unique blocks). Call auctions vs continuous trading differ by liquidity concentration.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are defined by target market × security selection × weighting. Price weighting is dominated by high-priced names and needs divisor rescaling on splits; cap weighting is self-rebalancing; equal weighting requires constant turnover.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EMH: weak ⊂ semi-strong ⊂ strong. Developed markets broadly support weak &amp; semi-strong forms. Insider profits reject the strong form. Most documented anomalies shrink once risk-adjusted and net of costs.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finance (loss aversion, herding, overconfidence) gives microfoundations to anomalies — but market efficiency only requires enough arbitrageurs, not rational individuals.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shares = bond-like priority + equity-like perpetual life. Five bolt-ons: callable (issuer), putable (investor), cumulative, participating, convertible. Convertible preferred = bond floor + embedded call on common.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Non-domestic access: direct, ADR I–III + Rule 144A, GDR, GRS. Trade FX + foreign-rule friction for SEC / multi-jurisdiction disclosure friction.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11 · Equity I — Markets, Indices, Efficiency &amp; Security Types</dc:title>
  <dc:subject>PptxGenJS Presentation</dc:subject>
  <dc:creator>Studio Tonton Gug</dc:creator>
  <cp:lastModifiedBy>Studio Tonton Gug</cp:lastModifiedBy>
  <cp:revision>1</cp:revision>
  <dcterms:created xsi:type="dcterms:W3CDTF">2026-04-23T09:33:43Z</dcterms:created>
  <dcterms:modified xsi:type="dcterms:W3CDTF">2026-04-23T09:33:43Z</dcterms:modified>
</cp:coreProperties>
</file>