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Set the frame in 60 seconds: this morning is plumbing and measurement, not valuation. Valuation is tomorrow.
•  Two hours, four blocks, three of them end in a number you must be able to compute.
•  Say up front: order types, index divisor, EMH forms and margin call price are the exam-day workhorses.
•  Tell them the deck follows Vol 5 LMs 1–4 — page cites are printed pages, they can check every claim.
•  Housekeeping: hands up mid-slide, not at the end.
NEXT — Roadmap — where the two hours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Show the arc: how it trades → how we measure it → is the price right → what exactly did you buy.
•  Block 1 is the widest — it carries three separate LOS including the margin maths.
•  Block 2 is where the arithmetic lives: divisor adjustment is the classic exam trap.
•  Block 3 is conceptual but heavily tested — the nesting of the three forms.
•  Block 4 is taxonomy; the payoff is understanding why VC uses convertible preferred.
•  Flag the two full worked examples now so they know when to put pens down and compute.
NEXT — What you should be able to DO by 12:30.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These are verbs, not topics. Every one of them can be examined as a calculation or a classification.
•  Read 1 and 2 aloud — those two are the ones that get computed under time pressure.
•  Objective 3: stress "rescale the divisor", not "remember the divisor".
•  Objective 4: the word to underline is SUBSUMES — the nesting is the exam question.
•  Objective 5: taxonomy questions are free marks if the table is memorised.
ASK THE ROOM — Who has actually placed a limit order with their own money? Keep that trade in mind for the next 40 minutes.
NEXT — Start where every trade starts — the system that exists to make the trade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Block 1 — roughly 45 minutes. The mechanics block.
•  Pace: functions 5 min · orders 10 · book 10 · venues 10 · leverage 10.
•  The order-book walk-through is the energy point — do not rush it.
•  Park any valuation question: "tomorrow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Fix the counts in their heads on the first content slide: THREE functions, SIX purposes. Decks get this wrong constantly.
•  Write "3 functions / 6 purposes" on the board and leave it up.
•  Function 1 is the retail-facing one; functions 2 and 3 are the macro payoff.
•  Purpose 6 — "trade on information" — is the one students forget; it is why analysts have jobs.
•  The three efficiency words at the bottom come back verbatim in the EMH block.
•  Land it: the system is not a place, it is a cost-reduction technology for bilateral search.
FROM THE DESK — On a live financing the "complete markets" test is brutally practical: if no one will quote the instrument you designed, it does not exist. Half of structuring is picking a wrapper someone already trades.
ASK THE ROOM — Which of the six purposes is a corporate treasurer serving when she rolls a 3-month FX forward?
NEXT — Those purposes reach the market as orders. Every order carries three instruction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Students collapse "order type" into one dimension. It is three orthogonal dimensions, and the exam tests you on mixing them.
•  Say the three words in order — execution, validity, clearing — and make them repeat it.
•  Stop is a VALIDITY instruction, not an execution one. This is the classic trip-up.
•  Make vs take: limit orders make markets, market and marketable-limit orders take them.
•  Marketable limit = the bridge between the two columns; flag it now, it returns in two slides.
•  Clearing sounds boring — but "long sale or short sale?" is a required flag on every sell order.
FROM THE DESK — On a real desk almost nothing goes in as a naked market order. It arrives as a schedule — VWAP, TWAP, POV — which is a machine slicing the parent into thousands of marketable limits and IOCs.
ASK THE ROOM — Your PM has news that expires in one hour. Market or limit — and what does the answer depend on?
NEXT — To see what a limit order actually joins, open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Make the book physical. Once they can point at "inside the market" the whole vocabulary falls into place.
•  Read the market out loud the way a trader does: "26 bid, offered at 28".
•  The spread here is 2 — walk them from 26 up to 28 with a finger.
•  Only four labels exist. "Near the market" is not one of them — do not let them invent it.
•  Precedence: price, then display, then time. Three rules, in that order, every time.
•  Point out why the rules exist: they pay traders to improve price, show size, and arrive early — that is liquidity.
FROM THE DESK — Display precedence is why iceberg orders are a real cost, not a free option: the hidden slice loses queue position to anyone who shows size at your price. You pay for invisibility in fill probability.
ASK THE ROOM — I place a buy limit at 27 for 5 lots. What is the market immediately afterwards?
NEXT — Now send a real order into this book and watch it climb.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the single most exam-like mechanic in block 1. Make them compute the average price before you show it.
•  Put the book up, give them 90 seconds, take answers, THEN reveal the steps.
•  Discriminatory pricing: the STANDING order sets the price, not the arriving one. Say it twice.
•  Why it stops at 100.6: her limit is above his limit. No trade is possible, not "no liquidity".
•  Day order → residual rests and becomes the new best bid. IOC → the 5 would simply be cancelled.
•  The spread does NOT tighten: it stays 0.10 wide and moves up a level. Kill that misconception.
FROM THE DESK — Real books are deeper but thinner per level and refresh in microseconds. Which is why a human "average fill 100.46" is really the output of a scheduler that decided how fast to consume the queue.
ASK THE ROOM — Same order, but submitted immediate-or-cancel. What changes — and what does the book look like after?
NEXT — Add a trigger to the order and you get the last order type: the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point to land: a stop is a switch, not a floor. Students believe stop-loss means loss stopped.
•  Two prices, two questions: limit answers "what price?", stop answers "when?".
•  Walk the 40 / stop 30 example and ask where it actually fills in a gap-down.
•  Then the stop-limit fix — and its cost: it may not execute at all.
•  Stop-buy is the one they never see coming: confirmation before conviction.
•  Close on the positive-feedback point — stops sell into falling markets, which is why they amplify crashes.
FROM THE DESK — The reason retail stops get hit and then reverse is not conspiracy, it is queue mechanics: clustered stops at round numbers are a pool of forced market orders, and liquidity providers price that in.
ASK THE ROOM — If you genuinely need to guarantee a sale at 30, what do you buy — and what does it cost you?
NEXT — Where the order lands depends on the venue. Three archetypes.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mechanisms, one question each: who supplies the liquidity? Dealer, other traders, or a broker’s phone book.
•  Quote-driven: dealers supply liquidity from inventory — hence bonds and FX.
•  Order-driven: traders supply liquidity to each other — hence listed equities.
•  Brokered: nobody will hold inventory, so the broker finds the counterparty.
•  Give them the CFA one-liner from Example 28 as the memory hook.
•  Finish on transparency — pre-trade vs post-trade — and why dealers prefer opacity.
FROM THE DESK — A block trade is brokered even when it prints on an exchange. The desk quietly sounds out three or four natural holders, agrees size and price, then crosses it. The tape shows a trade; it does not show the two days of calls.
ASK THE ROOM — Why do corporate bonds still trade quote-driven when the technology for an order book obviously exists?
NEXT — Second structural choice: does trading happen continuously, or all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session types, three pricing rules. Students reliably remember two of the three rules — the derivative one is the gap.
•  Call = liquidity concentrated in time. Continuous = liquidity available but thin.
•  The single-price auction rule: maximise volume traded, where supply and demand cross.
•  Uniform vs discriminatory is the contrast that explains slide 8’s average price of 100.46.
•  Derivative pricing = crossing networks; the price comes from somewhere else entirely.
•  Tie back: the close cross sets the reference price mutual funds strike NAV against.
FROM THE DESK — The closing auction has quietly become the biggest liquidity event of the day in most equity markets, because index funds must trade at the close. If you have size, the close is often the cheapest print you will get.
ASK THE ROOM — If the call auction is so liquid, why not run the whole day as a sequence of calls?
NEXT — One last mechanic before we measure the market: what happens when you buy with borrowed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an explicit LOS and it is pure arithmetic — no excuse for losing the mark. Make them derive P* rather than memorise it.
•  Start from the definition: leverage ratio = position / equity = 1 / initial margin.
•  Sanity check the multiplier: 40% margin → 2.5× → a 10% move becomes 25% on equity, both ways.
•  Build the equity-per-share expression on the board before showing the algebra.
•  Then reveal the shortcut formula — and stress it is the SAME equation rearranged.
•  Close with Example 19: −68.9% vs −25%. Interest and commissions do the rest of the damage.
FROM THE DESK — The call money rate is negotiable, and that negotiation is most of the economics for a prime brokerage client. Retail pays a spread over the bill rate; a large fund posting good collateral pays almost nothing.
ASK THE ROOM — Same trade, but maintenance margin is 30% instead of 25%. Does the call come earlier or later — and at what price?
NEXT — That is how equity trades. Now — how do we measure whether "the market" went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Block 2 — about 35 minutes, and the most computational stretch of the morning.
•  Warn them: pens out, two numerical slides back to back.
•  Pace: construction 5 · returns 8 · price weighting 8 · split 8 · weighting trade-offs 6.
•  The single fact to leave with: the weighting scheme IS the answer to "did the market go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Correct the count first: the curriculum poses FIVE questions, not three. Three build the index, two manage it.
•  Read the five as questions, exactly as p.86 poses them.
•  Decisions 1–3 = construction; 4–5 = management. That split is the section boundary in the text.
•  The S&amp;P 500 is committee-run — say it out loud, most students assume it is mechanical.
•  Fixed N (S&amp;P 500, FTSE 100) vs variable N (TOPIX) — the name often tells you which.
•  Land the framing: an index is a portfolio with published rules. Nothing more mystical than that.
FROM THE DESK — Index committees are lobbied. Getting a stock into a major benchmark is a real capital-markets objective — it converts a one-off placement into permanent passive demand, and issuers structure share classes with that in mind.
ASK THE ROOM — Two providers cover "US large cap". Name three of the five decisions where they could legitimately differ.
NEXT — Decision 3 does most of the damage. But first — how is any index return actually 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trap only, and it is the whole slide: dividends must be converted to index points before you add them.
•  Two routes to the same number: index-level change, or weighted average of constituent returns. Show both agree.
•  Step 2 proves the equivalence — 2.67% from prices, 2.67% from weights.
•  Step 3 is where marks are lost: 0.85 of dividends is only 0.425 of index.
•  Cross-check with them: 0.6667(11.50%) + 0.3333(−11.60%) = 3.80%. Same answer.
•  Note the structural point: total return index and price return index start equal and diverge for ever.
FROM THE DESK — Which version you quote is not a detail. Over twenty years a broad equity index compounds a two-percent-plus dividend leg — comparing a total-return fund to a price-return benchmark manufactures alpha out of nothing.
ASK THE ROOM — Same two stocks, but the divisor is 1 instead of 2. Which of the four numbers on this slide change?
NEXT — Now put five securities behind it and watch price weighting distort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Show the distortion numerically rather than asserting it. HELION is half the index and a quarter of the economics.
•  Weights come from prices alone — point at 50.00 → 49.26% and let them do the division.
•  AZURIS falls 36% and barely dents the index; that is the whole critique in one row.
•  Index level = Σ prices / divisor. Divisor starts at N = 5. Say "starts at" — it will move.
•  Total return 4.33% vs price return 3.45%: the 0.90 of dividends is 0.18 of index.
•  Compare 49.26% weight against 26.29% of market cap (that figure comes from Exhibit 4).
FROM THE DESK — The Dow survives because it is a brand, not because anyone benchmarks to it. No serious mandate is written against a price-weighted index — you cannot buy it in economically meaningful proportions.
ASK THE ROOM — HELION doubles to 110 and everything else is flat. What happens to its weight — and should it?
NEXT — Now split HELION two-for-one. Nothing economic changes. Watch the index try to 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exam version of this question gives you Σ prices after and the index level before, and asks for the divisor. Drill the ratio.
•  Hammer the direction: divisor FALLS on a split, because Σ prices fell and the level must not.
•  The formula is one line: new divisor = new Σ prices / old index level.
•  HELION goes from 52.38% to 35.48% of the index — a corporate action nobody voted on.
•  Meanwhile the cap weights in the last column do not move at all. That contrast is the slide.
•  Say the general rule: the divisor absorbs anything that is not a genuine price change.
FROM THE DESK — This is also why constituent changes need a divisor adjustment: swap a company out and the level would jump on membership alone. Index providers publish the new divisor in advance so trackers can hit the close cleanly.
ASK THE ROOM — Reverse the split — HELION does 1-for-2 and trades at 110. Which way does the divisor move?
NEXT — So each weighting scheme fixes one problem and creates another. Line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the slide students get backwards. Momentum belongs to cap weighting; contrarian and value belong to fundamental weighting.
•  Go left to right on the last column and make them repeat each bias.
•  Cap-weighted = momentum. Fundamental = contrarian. Say the pair together so it sticks.
•  Equal weighting has TWO stated disadvantages — count them out.
•  Float adjustment is not a different philosophy, it is cap weighting made investable.
•  Note the CAPM framing: only the cap-weighted index can be "the market portfolio".
FROM THE DESK — Free float is the number that decides whether a placement can be done at all. If 70% of a company is locked up with a founder, the index weight and the tradable liquidity are both a fraction of the headline market cap.
ASK THE ROOM — Your smart-beta fund weights by dividends. Passive or active — and what tilt have you just bought?
NEXT — Weights drift and constituents change. Those are two different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words that sound interchangeable and are not. Weights vs membership — and the second one moves prices.
•  Ask which weighting scheme needs no rebalancing at all before you reveal it (price-weighted).
•  Use the drifted equal weights from Exhibit 3 — 20% became 27.17% for CORYN in one period.
•  Reconstitution recalculates everyone: a deletion is not a local event in a cap-weighted index.
•  Walk the Uranium Energy timeline; it is the curriculum’s own example and it lands hard.
•  Close on the cost: passive funds are forced buyers on a known date. That is not free.
FROM THE DESK — Index inclusion is a corporate-finance objective, not trivia. Passive demand on the effective date is real, sticky and predictable — which is exactly why it gets front-run, and why an issuer will restructure share classes to qualify.
ASK THE ROOM — You run a fund tracking the Russell 2000. Do you trade on announcement day or on the effective date?
NEXT — Last index question: which index should you even be looking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lists worth memorising: four families, five uses, six style boxes. Counts are the cheap marks.
•  Four families — ask them to place the FTSE 100 and the MSCI EAFE before you show the table.
•  Sector families are built so the sum of the family reconstructs the broad index.
•  Six style boxes: 3 × 2. Point out there is no universal definition of large / mid / small.
•  The five uses run from casual (sentiment) to contractual (benchmark, product).
•  Note the turnover point — style indexes churn because stocks migrate between boxes.
FROM THE DESK — Use number four is the one with teeth. Once a benchmark is written into an IMA, it stops being a measuring stick and becomes a constraint — deviate and you are taking career risk, not just tracking error.
ASK THE ROOM — A manager benchmarked to small-cap value keeps buying mid-cap growth names. What is that called, and how would you detect it?
NEXT — We can now measure the market. Next question: is the price it reports actually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Block 3 — about 25 minutes. Conceptual, heavily examined, and the block where opinions show up.
•  Expect pushback here. Welcome it — but insist arguments are framed as "which form?".
•  Pace: concept 6 · three forms 8 · anomalies 7 · behavioral 4.
•  Keep one sentence in reserve: efficiency is a claim about NET-of-cost abnormal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Move them off "efficient / inefficient" and onto "how efficient, for whom, net of what costs".
•  Market value vs intrinsic value: one is observed, one is an estimate. Repeat that phrasing.
•  Run the CFA’s Example 3 logic: your value estimate exceeds price — the likely error is YOUR risk estimate.
•  Factors: participants, disclosure, limits to trading, transaction and information costs. Four headings.
•  Bounds of arbitrage: narrow in T-bills, wide in illiquid names. Same principle, different width.
•  Grossman–Stiglitz is the punchline: perfect efficiency would destroy the incentive that creates it.
FROM THE DESK — Everybody on a research desk is implicitly a semi-strong sceptic — otherwise the job makes no sense. The honest version is narrower: efficient for the top 50 names, much less so three tiers down where nobody publishes.
ASK THE ROOM — A small-cap has two analysts covering it and a mega-cap has forty. Which price would you trust more, and why?
NEXT — Fama gave us the vocabulary for exactly that argument: three nested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nesting is the exam answer. The paradox is the thing they will remember in ten years.
•  Draw three circles on the board before showing the table. Weak inside semi-strong inside strong.
•  Match each form to the strategy it kills: charts, then public-information analysis, then insider trading.
•  Strong form is rejected — and note WHY it was never plausible: insider trading laws exist.
•  Developed vs developing: the CFA flags technical-analysis profits in some developing markets.
•  End on the paradox — analysts are the mechanism of efficiency, not its victims.
FROM THE DESK — Nobody on a desk says "the market is efficient". They say "that is in the price" — which is the same claim, made stock by stock, and it is usually right about the obvious and wrong about the second-order read.
ASK THE ROOM — You correctly predict tomorrow’s earnings beat from a satellite feed nobody else buys. Which form does your profit violate?
NEXT — Except that researchers keep finding patterns. Are they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not teach this as a list of free money. Teach it as a list of hypotheses that mostly failed their audit.
•  Categories are about RESEARCH METHOD, not economics — time series, cross-section, other.
•  January: tax-loss selling and window dressing each explain part; neither explains all; risk adjustment kills it.
•  Momentum is the awkward one — it survives, and it contradicts weak-form efficiency head-on.
•  Value: Fama–French turned the anomaly into a risk factor. That move is the template.
•  Closed-end funds: the profit is real on paper and gone once you cost the arbitrage.
•  Three-test rule from the kicker: replicate, risk-adjust, net of costs.
FROM THE DESK — Every one of these is now a crowded systematic strategy with a fee attached. When an anomaly becomes a product it usually stops being an anomaly — the flow that harvests it is also the flow that arbitrages it.
ASK THE ROOM — You backtest 2,000 signals and one is significant at 5%. What have you actually discovered?
NEXT — If the patterns are partly real, where do they come from? Behavioral finance offers a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Behavioral finance explains why an anomaly COULD exist. It does not prove one does — that is the balance to strike.
•  Loss aversion is not risk aversion. Make them articulate the difference.
•  The Fama counter is the whole reason this is in an efficiency reading — say it explicitly.
•  Herding vs information cascade: related, not identical. Cascade = transmission from first movers.
•  Cascades can be RATIONAL. That surprises students who expect all biases to be irrational.
•  Overconfidence bites hardest in high-growth names — the ones hardest to value anyway.
•  Close the block: efficiency needs enough arbitrageurs, not a room full of rational people.
FROM THE DESK — The most expensive bias on a real desk is not on this slide — it is anchoring to your own entry price. The market has no memory of what you paid, and every risk system in the world is built to enforce that.
ASK THE ROOM — Herding pushes a stock up. Is that over-reaction or is it information being incorporated? How would you tell them apart?
NEXT — We have covered how equity trades and how it is priced. Last question: what exactly have you bought?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Block 4 — about 25 minutes. Classification, which means it is the cheapest block to score in.
•  Pace: common vs preference 6 · bolt-ons 6 · convertible maths 6 · private 4 · non-domestic 5.
•  Tell them the convertible-preferred slide is an instructor illustration, not a CFA example.
•  Leave five minutes for the takeaways slide — do not let it get squeezed.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Six rows, one idea: preference shares trade upside for priority. Everything else follows from that trade.
•  Start at the bottom of the capital structure and climb: common, preferred, debt.
•  Preference dividends are FIXED but not CONTRACTUAL — that distinction is examinable.
•  Voting: the CFA says none unless explicitly granted at issuance. Do not embroider it.
•  Run the 100 shares × 4 directors = 400 votes arithmetic on the board; it clicks instantly.
•  Mention dual-class structures (Viacom, Ford in the text) as the real-world governance version.
FROM THE DESK — In a private deal the preference stack is where the value actually sits — liquidation preference, participation, seniority between rounds. The common shares the founders hold are the last claim standing.
ASK THE ROOM — You own 10% of a company and there are five board seats. Which voting system do you want written into the charter?
NEXT — Now bolt options onto the preference share and watch it become five different securities.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not let them memorise five words. Make them say who holds the option in each row — that is the whole logic.
•  Callable is the only one that favours the issuer. Ask them why before you say it.
•  Cumulative and participating are automatic entitlements, not exercisable options — flag the difference.
•  Non-cumulative: a skipped dividend is gone for good, but common still cannot be paid first.
•  Read the four advantages as the CFA lists them; they map one-to-one onto exam answers.
•  Then the punchline: floor plus upside is the payoff shape venture capital needs.
FROM THE DESK — In a real term sheet these features are never sold separately. Participating cumulative convertible preferred with a 1× liquidation preference is a single negotiated object, and the argument is always about the participation cap.
ASK THE ROOM — Rates fall sharply. Which feature has just cost the investor money, and why?
NEXT — Put numbers on the convertible and the two components separate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State plainly that this is my illustration, not the curriculum’s. Then use it, because the shape is what makes VC structures obvious.
•  Say the disclaimer out loud once — the CFA text here is qualitative only.
•  Build the floor first: 3.00 in perpetuity at 7.14% is 42.00. Ask why the yield is above 6%.
•  Conversion value is pure arithmetic: 2.5 × 18. Vary the 18 and let them watch it move.
•  Time value = the premium for keeping the option alive rather than converting now.
•  Draw the hockey stick: flat at 42 on the left, 45-degree line on the right, curve joining them.
FROM THE DESK — The reason this instrument dominates venture rounds is not elegance, it is negotiation: the floor lets the investor say yes to a valuation they do not believe, because the downside is capped by the preference.
ASK THE ROOM — AZURIS common halves to 9. What is the conversion value, and roughly where should this security trade?
NEXT — That instrument mostly lives in private markets. So how do private and public equity actually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routes, one shared feature: no observable price. Everything difficult about private equity follows from that.
•  Name the three before showing them: VC, LBO (or MBO), PIPE.
•  VC exit horizon per the CFA is 3 to 10 years — do not let them shorten it.
•  LBO target profile: sellable assets plus dependable cash flow. Both, not either.
•  PIPE is the odd one — private economics on a public security, priced at a discount.
•  Note the trend: LBO holding periods went from 3–5 years in the 80s and 90s to about 10.
FROM THE DESK — The longer hold changed the job. Ten years is long enough that the return has to come from operations, not multiple arbitrage — which is why funds now staff operating partners rather than only deal teams.
ASK THE ROOM — Why would a listed company accept a discounted PIPE instead of running a normal secondary offering?
NEXT — Final question of the morning: how do you buy equity in a company listed somewhere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discriminator organises the whole ADR table: can the issuer raise new money? Level III and 144A yes, Levels I and II no.
•  Level I = OTC, existing shares, minimal filing. Level II = listed, existing shares. Level III = listed, NEW shares.
•  Rule 144A (or Reg S) skips SEC registration entirely by staying private with QIBs.
•  GDRs are issued outside the home country AND outside the US — they dodge home-country capital controls.
•  An ADR is a form of GDR; not every GDR is an ADR, because GDRs cannot be publicly traded in the US.
•  ADR vs ADS: the receipt trades in New York, the share sits underneath. Alibaba: one ADS = one ordinary share.
•  Then the sponsored / unsponsored point — it decides who holds the vote.
FROM THE DESK — The DR ratio is a marketing decision. Banks set it so the receipt prints in a familiar price range for local investors — which is why one receipt can be ten underlying shares, or a tenth of one.
ASK THE ROOM — A German mid-cap wants US institutional money but has no intention of issuing new shares. Which route?
NEXT — That is the morning. Eight things to take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Close on the four numbers they must be able to reproduce cold: 100.46, $16, divisor 3.69, and 3.80% total return.
•  Do not read the cards. Ask the room for one takeaway per block, then fill the gaps.
•  Re-test the divisor: give them Σ prices after and the level before, ask for the divisor.
•  Re-test the margin call in one line: 20 × 0.60 / 0.75.
•  Flag tomorrow: valuation. Today was plumbing and measurement; tomorrow is what a share is worth.
•  Point them at LM 1 Examples 19–20, 21, 23, 27 and LM 2 Exhibits 1–5 for self-testing.
ASK THE ROOM — One sentence each: which idea from this morning changes how you would place your next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11  ·  WEEK 6  ·  MORNING 1</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Equity I</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Markets, Indices &amp; Security Types</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How equity trades, how we measure the market, and what we are actually buying</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5 Learning Modules 1–4</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Equity I — Markets, Indices, Efficiency &amp; Security Types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4 sections · ~2 hours · Built bottom-up from CFA readings</a:t>
            </a:r>
            <a:endParaRPr lang="en-US" sz="1300" dirty="0"/>
          </a:p>
        </p:txBody>
      </p:sp>
      <p:sp>
        <p:nvSpPr>
          <p:cNvPr id="8" name="Shape 6"/>
          <p:cNvSpPr/>
          <p:nvPr/>
        </p:nvSpPr>
        <p:spPr>
          <a:xfrm>
            <a:off x="320040" y="1207008"/>
            <a:ext cx="8503920" cy="859536"/>
          </a:xfrm>
          <a:prstGeom prst="rect">
            <a:avLst/>
          </a:prstGeom>
          <a:solidFill>
            <a:srgbClr val="FFFFFF"/>
          </a:solidFill>
          <a:ln/>
        </p:spPr>
      </p:sp>
      <p:sp>
        <p:nvSpPr>
          <p:cNvPr id="9" name="Shape 7"/>
          <p:cNvSpPr/>
          <p:nvPr/>
        </p:nvSpPr>
        <p:spPr>
          <a:xfrm>
            <a:off x="320040" y="1207008"/>
            <a:ext cx="594360" cy="859536"/>
          </a:xfrm>
          <a:prstGeom prst="rect">
            <a:avLst/>
          </a:prstGeom>
          <a:solidFill>
            <a:srgbClr val="1B2A4A"/>
          </a:solidFill>
          <a:ln/>
        </p:spPr>
      </p:sp>
      <p:sp>
        <p:nvSpPr>
          <p:cNvPr id="10" name="Text 8"/>
          <p:cNvSpPr txBox="1"/>
          <p:nvPr/>
        </p:nvSpPr>
        <p:spPr>
          <a:xfrm>
            <a:off x="320040" y="1207008"/>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Market structure, order types &amp; leverage</a:t>
            </a:r>
            <a:endParaRPr lang="en-US" sz="1200" dirty="0"/>
          </a:p>
        </p:txBody>
      </p:sp>
      <p:sp>
        <p:nvSpPr>
          <p:cNvPr id="12" name="Text 10"/>
          <p:cNvSpPr txBox="1"/>
          <p:nvPr/>
        </p:nvSpPr>
        <p:spPr>
          <a:xfrm>
            <a:off x="1024128" y="1593799"/>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three functions of the financial system · market vs limit vs stop · limit order book · quote- vs order-driven vs brokered · call vs continuous · leverage ratio &amp; margin call price</a:t>
            </a:r>
            <a:endParaRPr lang="en-US" sz="1100" dirty="0"/>
          </a:p>
        </p:txBody>
      </p:sp>
      <p:sp>
        <p:nvSpPr>
          <p:cNvPr id="13" name="Shape 11"/>
          <p:cNvSpPr/>
          <p:nvPr/>
        </p:nvSpPr>
        <p:spPr>
          <a:xfrm>
            <a:off x="320040" y="2103120"/>
            <a:ext cx="8503920" cy="859536"/>
          </a:xfrm>
          <a:prstGeom prst="rect">
            <a:avLst/>
          </a:prstGeom>
          <a:solidFill>
            <a:srgbClr val="F5F7FA"/>
          </a:solidFill>
          <a:ln/>
        </p:spPr>
      </p:sp>
      <p:sp>
        <p:nvSpPr>
          <p:cNvPr id="14" name="Shape 12"/>
          <p:cNvSpPr/>
          <p:nvPr/>
        </p:nvSpPr>
        <p:spPr>
          <a:xfrm>
            <a:off x="320040" y="2103120"/>
            <a:ext cx="594360" cy="859536"/>
          </a:xfrm>
          <a:prstGeom prst="rect">
            <a:avLst/>
          </a:prstGeom>
          <a:solidFill>
            <a:srgbClr val="1B2A4A"/>
          </a:solidFill>
          <a:ln/>
        </p:spPr>
      </p:sp>
      <p:sp>
        <p:nvSpPr>
          <p:cNvPr id="15" name="Text 13"/>
          <p:cNvSpPr txBox="1"/>
          <p:nvPr/>
        </p:nvSpPr>
        <p:spPr>
          <a:xfrm>
            <a:off x="320040" y="2103120"/>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2148840"/>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Security market indexes</a:t>
            </a:r>
            <a:endParaRPr lang="en-US" sz="1200" dirty="0"/>
          </a:p>
        </p:txBody>
      </p:sp>
      <p:sp>
        <p:nvSpPr>
          <p:cNvPr id="17" name="Text 15"/>
          <p:cNvSpPr txBox="1"/>
          <p:nvPr/>
        </p:nvSpPr>
        <p:spPr>
          <a:xfrm>
            <a:off x="1024128" y="2489911"/>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the five construction &amp; management decisions · price / equal / cap / float / fundamental weighting · divisor mechanics on a split · rebalance vs reconstitute</a:t>
            </a:r>
            <a:endParaRPr lang="en-US" sz="1100" dirty="0"/>
          </a:p>
        </p:txBody>
      </p:sp>
      <p:sp>
        <p:nvSpPr>
          <p:cNvPr id="18" name="Shape 16"/>
          <p:cNvSpPr/>
          <p:nvPr/>
        </p:nvSpPr>
        <p:spPr>
          <a:xfrm>
            <a:off x="320040" y="2999232"/>
            <a:ext cx="8503920" cy="859536"/>
          </a:xfrm>
          <a:prstGeom prst="rect">
            <a:avLst/>
          </a:prstGeom>
          <a:solidFill>
            <a:srgbClr val="FFFFFF"/>
          </a:solidFill>
          <a:ln/>
        </p:spPr>
      </p:sp>
      <p:sp>
        <p:nvSpPr>
          <p:cNvPr id="19" name="Shape 17"/>
          <p:cNvSpPr/>
          <p:nvPr/>
        </p:nvSpPr>
        <p:spPr>
          <a:xfrm>
            <a:off x="320040" y="2999232"/>
            <a:ext cx="594360" cy="859536"/>
          </a:xfrm>
          <a:prstGeom prst="rect">
            <a:avLst/>
          </a:prstGeom>
          <a:solidFill>
            <a:srgbClr val="1B2A4A"/>
          </a:solidFill>
          <a:ln/>
        </p:spPr>
      </p:sp>
      <p:sp>
        <p:nvSpPr>
          <p:cNvPr id="20" name="Text 18"/>
          <p:cNvSpPr txBox="1"/>
          <p:nvPr/>
        </p:nvSpPr>
        <p:spPr>
          <a:xfrm>
            <a:off x="320040" y="2999232"/>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3044952"/>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Market efficiency</a:t>
            </a:r>
            <a:endParaRPr lang="en-US" sz="1200" dirty="0"/>
          </a:p>
        </p:txBody>
      </p:sp>
      <p:sp>
        <p:nvSpPr>
          <p:cNvPr id="22" name="Text 20"/>
          <p:cNvSpPr txBox="1"/>
          <p:nvPr/>
        </p:nvSpPr>
        <p:spPr>
          <a:xfrm>
            <a:off x="1024128" y="3386023"/>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intrinsic vs market value · weak / semi-strong / strong · anomalies (calendar, size, value, momentum, earnings surprise) · behavioral finance</a:t>
            </a:r>
            <a:endParaRPr lang="en-US" sz="1100" dirty="0"/>
          </a:p>
        </p:txBody>
      </p:sp>
      <p:sp>
        <p:nvSpPr>
          <p:cNvPr id="23" name="Shape 21"/>
          <p:cNvSpPr/>
          <p:nvPr/>
        </p:nvSpPr>
        <p:spPr>
          <a:xfrm>
            <a:off x="320040" y="3895344"/>
            <a:ext cx="8503920" cy="859536"/>
          </a:xfrm>
          <a:prstGeom prst="rect">
            <a:avLst/>
          </a:prstGeom>
          <a:solidFill>
            <a:srgbClr val="F5F7FA"/>
          </a:solidFill>
          <a:ln/>
        </p:spPr>
      </p:sp>
      <p:sp>
        <p:nvSpPr>
          <p:cNvPr id="24" name="Shape 22"/>
          <p:cNvSpPr/>
          <p:nvPr/>
        </p:nvSpPr>
        <p:spPr>
          <a:xfrm>
            <a:off x="320040" y="3895344"/>
            <a:ext cx="594360" cy="859536"/>
          </a:xfrm>
          <a:prstGeom prst="rect">
            <a:avLst/>
          </a:prstGeom>
          <a:solidFill>
            <a:srgbClr val="1B2A4A"/>
          </a:solidFill>
          <a:ln/>
        </p:spPr>
      </p:sp>
      <p:sp>
        <p:nvSpPr>
          <p:cNvPr id="25" name="Text 23"/>
          <p:cNvSpPr txBox="1"/>
          <p:nvPr/>
        </p:nvSpPr>
        <p:spPr>
          <a:xfrm>
            <a:off x="320040" y="3895344"/>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3941064"/>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Equity security taxonomy</a:t>
            </a:r>
            <a:endParaRPr lang="en-US" sz="1200" dirty="0"/>
          </a:p>
        </p:txBody>
      </p:sp>
      <p:sp>
        <p:nvSpPr>
          <p:cNvPr id="27" name="Text 25"/>
          <p:cNvSpPr txBox="1"/>
          <p:nvPr/>
        </p:nvSpPr>
        <p:spPr>
          <a:xfrm>
            <a:off x="1024128" y="4282135"/>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common vs preference · callable / putable / cumulative / participating / convertible · public vs private · ADR / GDR / GRS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Distinguish market, limit and stop orders, and trace how a marketable limit buy walks a live limit order book under the discriminatory pricing rule.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Compute the leverage ratio and the rate of return on a margin transaction, and solve for the price at which a margin call is triggered.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Compute the value and return of price-, equal-, market-cap- and float-adjusted indexes, and rescale the divisor correctly after a stock split.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State the three forms of the efficient market hypothesis, say which information set each subsumes, and give the standard counter-explanation for each documented anomaly.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Classify an equity security by common vs preference and by bolt-on feature, and compare access routes to non-domestic equity (direct, ADR I–III / 144A, GDR, GRS).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Market structure,</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order types &amp; leverage</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4  ·  Deck 11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financial system has three jobs — serve six user purposes, discover the clearing rate of return, and allocate capital to its best use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1, §2 "The Functions of the Financial System", pp. 4–12; well-functioning systems, pp. 60–61.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Exchanges, OTC venues and brokered markets all exist to cut the cost of the same bilateral search: matching someone with cash to someone with an asset.</a:t>
            </a:r>
            <a:endParaRPr lang="en-US" sz="1300" dirty="0"/>
          </a:p>
        </p:txBody>
      </p:sp>
      <p:sp>
        <p:nvSpPr>
          <p:cNvPr id="9" name="Shape 7"/>
          <p:cNvSpPr/>
          <p:nvPr/>
        </p:nvSpPr>
        <p:spPr>
          <a:xfrm>
            <a:off x="320040" y="1188720"/>
            <a:ext cx="2743200" cy="2331720"/>
          </a:xfrm>
          <a:prstGeom prst="rect">
            <a:avLst/>
          </a:prstGeom>
          <a:solidFill>
            <a:srgbClr val="F5F7FA"/>
          </a:solidFill>
          <a:ln/>
        </p:spPr>
      </p:sp>
      <p:sp>
        <p:nvSpPr>
          <p:cNvPr id="10" name="Shape 8"/>
          <p:cNvSpPr/>
          <p:nvPr/>
        </p:nvSpPr>
        <p:spPr>
          <a:xfrm>
            <a:off x="320040" y="1188720"/>
            <a:ext cx="73152" cy="2331720"/>
          </a:xfrm>
          <a:prstGeom prst="rect">
            <a:avLst/>
          </a:prstGeom>
          <a:solidFill>
            <a:srgbClr val="1B2A4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1 · SIX PURPOSES</a:t>
            </a:r>
            <a:endParaRPr lang="en-US" sz="1100" dirty="0"/>
          </a:p>
        </p:txBody>
      </p:sp>
      <p:sp>
        <p:nvSpPr>
          <p:cNvPr id="12" name="Text 10"/>
          <p:cNvSpPr txBox="1"/>
          <p:nvPr/>
        </p:nvSpPr>
        <p:spPr>
          <a:xfrm>
            <a:off x="457200" y="1508760"/>
            <a:ext cx="2514600" cy="19659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Facilitate the six things people use the system for: (1) save for the future, (2) borrow for current use, (3) raise equity capital, (4) manage risk, (5) exchange assets for immediate or future delivery, (6) trade on information.</a:t>
            </a:r>
            <a:endParaRPr lang="en-US" sz="1200" dirty="0"/>
          </a:p>
        </p:txBody>
      </p:sp>
      <p:sp>
        <p:nvSpPr>
          <p:cNvPr id="13" name="Shape 11"/>
          <p:cNvSpPr/>
          <p:nvPr/>
        </p:nvSpPr>
        <p:spPr>
          <a:xfrm>
            <a:off x="3200400" y="1188720"/>
            <a:ext cx="2743200" cy="2331720"/>
          </a:xfrm>
          <a:prstGeom prst="rect">
            <a:avLst/>
          </a:prstGeom>
          <a:solidFill>
            <a:srgbClr val="FEF0E7"/>
          </a:solidFill>
          <a:ln/>
        </p:spPr>
      </p:sp>
      <p:sp>
        <p:nvSpPr>
          <p:cNvPr id="14" name="Shape 12"/>
          <p:cNvSpPr/>
          <p:nvPr/>
        </p:nvSpPr>
        <p:spPr>
          <a:xfrm>
            <a:off x="3200400" y="1188720"/>
            <a:ext cx="73152" cy="2331720"/>
          </a:xfrm>
          <a:prstGeom prst="rect">
            <a:avLst/>
          </a:prstGeom>
          <a:solidFill>
            <a:srgbClr val="E8600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2 · RATE DISCOVERY</a:t>
            </a:r>
            <a:endParaRPr lang="en-US" sz="1100" dirty="0"/>
          </a:p>
        </p:txBody>
      </p:sp>
      <p:sp>
        <p:nvSpPr>
          <p:cNvPr id="16" name="Text 14"/>
          <p:cNvSpPr txBox="1"/>
          <p:nvPr/>
        </p:nvSpPr>
        <p:spPr>
          <a:xfrm>
            <a:off x="3337560" y="1508760"/>
            <a:ext cx="2514600" cy="19659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Discover the rate of return that equates aggregate savings with aggregate borrowing.</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That equilibrium rate is the price of time. Every discount rate you will use later is a quote off this market.</a:t>
            </a:r>
            <a:endParaRPr lang="en-US" sz="1200" dirty="0"/>
          </a:p>
        </p:txBody>
      </p:sp>
      <p:sp>
        <p:nvSpPr>
          <p:cNvPr id="17" name="Shape 15"/>
          <p:cNvSpPr/>
          <p:nvPr/>
        </p:nvSpPr>
        <p:spPr>
          <a:xfrm>
            <a:off x="6080760" y="1188720"/>
            <a:ext cx="2743200" cy="2331720"/>
          </a:xfrm>
          <a:prstGeom prst="rect">
            <a:avLst/>
          </a:prstGeom>
          <a:solidFill>
            <a:srgbClr val="F5F7FA"/>
          </a:solidFill>
          <a:ln/>
        </p:spPr>
      </p:sp>
      <p:sp>
        <p:nvSpPr>
          <p:cNvPr id="18" name="Shape 16"/>
          <p:cNvSpPr/>
          <p:nvPr/>
        </p:nvSpPr>
        <p:spPr>
          <a:xfrm>
            <a:off x="6080760" y="1188720"/>
            <a:ext cx="73152" cy="2331720"/>
          </a:xfrm>
          <a:prstGeom prst="rect">
            <a:avLst/>
          </a:prstGeom>
          <a:solidFill>
            <a:srgbClr val="1B2A4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3 · ALLOCATION</a:t>
            </a:r>
            <a:endParaRPr lang="en-US" sz="1100" dirty="0"/>
          </a:p>
        </p:txBody>
      </p:sp>
      <p:sp>
        <p:nvSpPr>
          <p:cNvPr id="20" name="Text 18"/>
          <p:cNvSpPr txBox="1"/>
          <p:nvPr/>
        </p:nvSpPr>
        <p:spPr>
          <a:xfrm>
            <a:off x="6217920" y="1508760"/>
            <a:ext cx="2514600" cy="19659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Allocate capital to its best uses — the projects with the highest risk-adjusted prospects.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This is capital-allocation efficiency: the social payoff, and the reason regulators care about market quality at all.</a:t>
            </a:r>
            <a:endParaRPr lang="en-US" sz="1200" dirty="0"/>
          </a:p>
        </p:txBody>
      </p:sp>
      <p:sp>
        <p:nvSpPr>
          <p:cNvPr id="21" name="Shape 19"/>
          <p:cNvSpPr/>
          <p:nvPr/>
        </p:nvSpPr>
        <p:spPr>
          <a:xfrm>
            <a:off x="320040" y="4069080"/>
            <a:ext cx="8503920" cy="548640"/>
          </a:xfrm>
          <a:prstGeom prst="rect">
            <a:avLst/>
          </a:prstGeom>
          <a:solidFill>
            <a:srgbClr val="FEF0E7"/>
          </a:solidFill>
          <a:ln/>
        </p:spPr>
      </p:sp>
      <p:sp>
        <p:nvSpPr>
          <p:cNvPr id="22" name="Shape 20"/>
          <p:cNvSpPr/>
          <p:nvPr/>
        </p:nvSpPr>
        <p:spPr>
          <a:xfrm>
            <a:off x="320040" y="4069080"/>
            <a:ext cx="73152" cy="548640"/>
          </a:xfrm>
          <a:prstGeom prst="rect">
            <a:avLst/>
          </a:prstGeom>
          <a:solidFill>
            <a:srgbClr val="E8600A"/>
          </a:solidFill>
          <a:ln/>
        </p:spPr>
      </p:sp>
      <p:sp>
        <p:nvSpPr>
          <p:cNvPr id="23" name="Text 21"/>
          <p:cNvSpPr txBox="1"/>
          <p:nvPr/>
        </p:nvSpPr>
        <p:spPr>
          <a:xfrm>
            <a:off x="457200" y="41148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 WELL-FUNCTIONING SYSTEM</a:t>
            </a:r>
            <a:endParaRPr lang="en-US" sz="1100" dirty="0"/>
          </a:p>
        </p:txBody>
      </p:sp>
      <p:sp>
        <p:nvSpPr>
          <p:cNvPr id="24" name="Text 22"/>
          <p:cNvSpPr txBox="1"/>
          <p:nvPr/>
        </p:nvSpPr>
        <p:spPr>
          <a:xfrm>
            <a:off x="457200" y="4389120"/>
            <a:ext cx="8275320" cy="1828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Complete = the instruments people need exist. Operationally efficient = commissions, spreads and price impact are low. Informationally efficient = prices track fundamental values.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Every order carries three instruction sets — execution, validity, clearing — and market vs limit is the single most important execution choice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1, §12–13 "Orders and Execution Instructions" / "Validity and Clearing Instructions", pp. 44–51.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Market order = speed at the cost of price certainty. Limit order = price certainty at the cost of execution certainty. You never get both.</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737360"/>
                <a:gridCol w="3200400"/>
                <a:gridCol w="35661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Instruction set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specifies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Common variants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Execution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HOW to fill — price/size conditions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Market · Limit · Marketable · AON · Hidden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Validity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WHEN the order may be filled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Day · GTC · IOC · On-close · Stop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Clearing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HOW the trade is finally settled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Long vs short · Give-up · Custodian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514600"/>
            <a:ext cx="4160520" cy="1828800"/>
          </a:xfrm>
          <a:prstGeom prst="rect">
            <a:avLst/>
          </a:prstGeom>
          <a:solidFill>
            <a:srgbClr val="FEF0E7"/>
          </a:solidFill>
          <a:ln/>
        </p:spPr>
      </p:sp>
      <p:sp>
        <p:nvSpPr>
          <p:cNvPr id="11" name="Shape 8"/>
          <p:cNvSpPr/>
          <p:nvPr/>
        </p:nvSpPr>
        <p:spPr>
          <a:xfrm>
            <a:off x="320040" y="2514600"/>
            <a:ext cx="73152" cy="1828800"/>
          </a:xfrm>
          <a:prstGeom prst="rect">
            <a:avLst/>
          </a:prstGeom>
          <a:solidFill>
            <a:srgbClr val="E8600A"/>
          </a:solidFill>
          <a:ln/>
        </p:spPr>
      </p:sp>
      <p:sp>
        <p:nvSpPr>
          <p:cNvPr id="12" name="Text 9"/>
          <p:cNvSpPr txBox="1"/>
          <p:nvPr/>
        </p:nvSpPr>
        <p:spPr>
          <a:xfrm>
            <a:off x="457200" y="25603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MARKET ORDER — TAKES THE MARKET</a:t>
            </a:r>
            <a:endParaRPr lang="en-US" sz="1100" dirty="0"/>
          </a:p>
        </p:txBody>
      </p:sp>
      <p:sp>
        <p:nvSpPr>
          <p:cNvPr id="13" name="Text 10"/>
          <p:cNvSpPr txBox="1"/>
          <p:nvPr/>
        </p:nvSpPr>
        <p:spPr>
          <a:xfrm>
            <a:off x="457200" y="2834640"/>
            <a:ext cx="3931920" cy="1463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Executes immediately against the best resting offer. Execution is certain; price is not. In a thin book a large market order walks several price levels up and pays for every one of them.</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Use when the information is perishable and delay costs more than slippage.</a:t>
            </a:r>
            <a:endParaRPr lang="en-US" sz="1200" dirty="0"/>
          </a:p>
        </p:txBody>
      </p:sp>
      <p:sp>
        <p:nvSpPr>
          <p:cNvPr id="14" name="Shape 11"/>
          <p:cNvSpPr/>
          <p:nvPr/>
        </p:nvSpPr>
        <p:spPr>
          <a:xfrm>
            <a:off x="4663440" y="2514600"/>
            <a:ext cx="4160520" cy="1828800"/>
          </a:xfrm>
          <a:prstGeom prst="rect">
            <a:avLst/>
          </a:prstGeom>
          <a:solidFill>
            <a:srgbClr val="F5F7FA"/>
          </a:solidFill>
          <a:ln/>
        </p:spPr>
      </p:sp>
      <p:sp>
        <p:nvSpPr>
          <p:cNvPr id="15" name="Shape 12"/>
          <p:cNvSpPr/>
          <p:nvPr/>
        </p:nvSpPr>
        <p:spPr>
          <a:xfrm>
            <a:off x="4663440" y="2514600"/>
            <a:ext cx="73152" cy="1828800"/>
          </a:xfrm>
          <a:prstGeom prst="rect">
            <a:avLst/>
          </a:prstGeom>
          <a:solidFill>
            <a:srgbClr val="1B2A4A"/>
          </a:solidFill>
          <a:ln/>
        </p:spPr>
      </p:sp>
      <p:sp>
        <p:nvSpPr>
          <p:cNvPr id="16" name="Text 13"/>
          <p:cNvSpPr txBox="1"/>
          <p:nvPr/>
        </p:nvSpPr>
        <p:spPr>
          <a:xfrm>
            <a:off x="4800600" y="25603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LIMIT ORDER — MAKES THE MARKET</a:t>
            </a:r>
            <a:endParaRPr lang="en-US" sz="1100" dirty="0"/>
          </a:p>
        </p:txBody>
      </p:sp>
      <p:sp>
        <p:nvSpPr>
          <p:cNvPr id="17" name="Text 14"/>
          <p:cNvSpPr txBox="1"/>
          <p:nvPr/>
        </p:nvSpPr>
        <p:spPr>
          <a:xfrm>
            <a:off x="4800600" y="2834640"/>
            <a:ext cx="3931920" cy="1463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Sets the worst acceptable price. If unmatched it joins the limit order book and becomes a standing offer to trade — it MAKES a market.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 buy limit priced above the best offer is "marketable": it behaves like a market order but with a bounded worst price.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limit order book ranks resting orders by price then time; "the market" is the best bid and best offer, and anything inside them makes a new market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Condensed from Exhibit 2, which runs across 13 price levels (33 down to 21). Sizes are illustrative — the CFA exhibit shows prices and labels only.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1, Exhibit 2 "Terms Traders Use to Describe Standing Limit Orders" + Example 21, pp. 46–47; order precedence hierarchy from §15 "Order Matching Rules", p. 57.</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market is 26 bid, offered at 28. There are only four labels to learn: at the market, inside the market, behind (away from) the market, far from the market.</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4754880" cy="914400"/>
        </p:xfrm>
        <a:graphic>
          <a:graphicData uri="http://schemas.openxmlformats.org/drawingml/2006/table">
            <a:tbl>
              <a:tblPr/>
              <a:tblGrid>
                <a:gridCol w="1463040"/>
                <a:gridCol w="1737360"/>
                <a:gridCol w="15544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Bid size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Price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Offer size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33  far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31  behind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29  behind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28  BEST OFFER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27  inside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26  BEST BID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25  behind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23  behind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21  far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5257800" y="1188720"/>
            <a:ext cx="3566160" cy="960120"/>
          </a:xfrm>
          <a:prstGeom prst="rect">
            <a:avLst/>
          </a:prstGeom>
          <a:solidFill>
            <a:srgbClr val="FEF0E7"/>
          </a:solidFill>
          <a:ln/>
        </p:spPr>
      </p:sp>
      <p:sp>
        <p:nvSpPr>
          <p:cNvPr id="12" name="Shape 9"/>
          <p:cNvSpPr/>
          <p:nvPr/>
        </p:nvSpPr>
        <p:spPr>
          <a:xfrm>
            <a:off x="5257800" y="1188720"/>
            <a:ext cx="73152" cy="960120"/>
          </a:xfrm>
          <a:prstGeom prst="rect">
            <a:avLst/>
          </a:prstGeom>
          <a:solidFill>
            <a:srgbClr val="E8600A"/>
          </a:solidFill>
          <a:ln/>
        </p:spPr>
      </p:sp>
      <p:sp>
        <p:nvSpPr>
          <p:cNvPr id="13" name="Text 10"/>
          <p:cNvSpPr txBox="1"/>
          <p:nvPr/>
        </p:nvSpPr>
        <p:spPr>
          <a:xfrm>
            <a:off x="5394960" y="1234440"/>
            <a:ext cx="333756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AT / INSIDE / BEHIND / FAR</a:t>
            </a:r>
            <a:endParaRPr lang="en-US" sz="1100" dirty="0"/>
          </a:p>
        </p:txBody>
      </p:sp>
      <p:sp>
        <p:nvSpPr>
          <p:cNvPr id="14" name="Text 11"/>
          <p:cNvSpPr txBox="1"/>
          <p:nvPr/>
        </p:nvSpPr>
        <p:spPr>
          <a:xfrm>
            <a:off x="5394960" y="1508760"/>
            <a:ext cx="3337560" cy="594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At the market = the best bid or the best offer. Inside the market = between them; a new limit here makes a NEW market. Behind (away) and far = beyond the best, may never fill.</a:t>
            </a:r>
            <a:endParaRPr lang="en-US" sz="1200" dirty="0"/>
          </a:p>
        </p:txBody>
      </p:sp>
      <p:sp>
        <p:nvSpPr>
          <p:cNvPr id="15" name="Shape 12"/>
          <p:cNvSpPr/>
          <p:nvPr/>
        </p:nvSpPr>
        <p:spPr>
          <a:xfrm>
            <a:off x="5257800" y="2240280"/>
            <a:ext cx="3566160" cy="960120"/>
          </a:xfrm>
          <a:prstGeom prst="rect">
            <a:avLst/>
          </a:prstGeom>
          <a:solidFill>
            <a:srgbClr val="F5F7FA"/>
          </a:solidFill>
          <a:ln/>
        </p:spPr>
      </p:sp>
      <p:sp>
        <p:nvSpPr>
          <p:cNvPr id="16" name="Shape 13"/>
          <p:cNvSpPr/>
          <p:nvPr/>
        </p:nvSpPr>
        <p:spPr>
          <a:xfrm>
            <a:off x="5257800" y="2240280"/>
            <a:ext cx="73152" cy="960120"/>
          </a:xfrm>
          <a:prstGeom prst="rect">
            <a:avLst/>
          </a:prstGeom>
          <a:solidFill>
            <a:srgbClr val="1B2A4A"/>
          </a:solidFill>
          <a:ln/>
        </p:spPr>
      </p:sp>
      <p:sp>
        <p:nvSpPr>
          <p:cNvPr id="17" name="Text 14"/>
          <p:cNvSpPr txBox="1"/>
          <p:nvPr/>
        </p:nvSpPr>
        <p:spPr>
          <a:xfrm>
            <a:off x="5394960" y="2286000"/>
            <a:ext cx="333756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AGGRESSIVE VS PASSIVE</a:t>
            </a:r>
            <a:endParaRPr lang="en-US" sz="1100" dirty="0"/>
          </a:p>
        </p:txBody>
      </p:sp>
      <p:sp>
        <p:nvSpPr>
          <p:cNvPr id="18" name="Text 15"/>
          <p:cNvSpPr txBox="1"/>
          <p:nvPr/>
        </p:nvSpPr>
        <p:spPr>
          <a:xfrm>
            <a:off x="5394960" y="2560320"/>
            <a:ext cx="3337560" cy="594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buy at 27 is aggressively priced — it makes a new market. A buy at 29 is marketable: it crosses the best offer and trades at once. A buy at 23 is passive and waits.</a:t>
            </a:r>
            <a:endParaRPr lang="en-US" sz="1200" dirty="0"/>
          </a:p>
        </p:txBody>
      </p:sp>
      <p:sp>
        <p:nvSpPr>
          <p:cNvPr id="19" name="Shape 16"/>
          <p:cNvSpPr/>
          <p:nvPr/>
        </p:nvSpPr>
        <p:spPr>
          <a:xfrm>
            <a:off x="5257800" y="3291840"/>
            <a:ext cx="3566160" cy="960120"/>
          </a:xfrm>
          <a:prstGeom prst="rect">
            <a:avLst/>
          </a:prstGeom>
          <a:solidFill>
            <a:srgbClr val="FEF0E7"/>
          </a:solidFill>
          <a:ln/>
        </p:spPr>
      </p:sp>
      <p:sp>
        <p:nvSpPr>
          <p:cNvPr id="20" name="Shape 17"/>
          <p:cNvSpPr/>
          <p:nvPr/>
        </p:nvSpPr>
        <p:spPr>
          <a:xfrm>
            <a:off x="5257800" y="3291840"/>
            <a:ext cx="73152" cy="960120"/>
          </a:xfrm>
          <a:prstGeom prst="rect">
            <a:avLst/>
          </a:prstGeom>
          <a:solidFill>
            <a:srgbClr val="E8600A"/>
          </a:solidFill>
          <a:ln/>
        </p:spPr>
      </p:sp>
      <p:sp>
        <p:nvSpPr>
          <p:cNvPr id="21" name="Text 18"/>
          <p:cNvSpPr txBox="1"/>
          <p:nvPr/>
        </p:nvSpPr>
        <p:spPr>
          <a:xfrm>
            <a:off x="5394960" y="3337560"/>
            <a:ext cx="333756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ORDER PRECEDENCE HIERARCHY</a:t>
            </a:r>
            <a:endParaRPr lang="en-US" sz="1100" dirty="0"/>
          </a:p>
        </p:txBody>
      </p:sp>
      <p:sp>
        <p:nvSpPr>
          <p:cNvPr id="22" name="Text 19"/>
          <p:cNvSpPr txBox="1"/>
          <p:nvPr/>
        </p:nvSpPr>
        <p:spPr>
          <a:xfrm>
            <a:off x="5394960" y="3611880"/>
            <a:ext cx="3337560" cy="594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 Price priority — highest buy, lowest sell first.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2 Display precedence — shown size beats hidden size at the same price.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3 Time precedence — first in wins among equals.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 15-lot marketable limit buy clears the book from the best offer upward, then rests — CFA Example 27, walked step by step</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1, Example 27 "Filling a Large Order in a Continuous Trading Market", p. 58.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book on the Tokyo Stock Exchange BEFORE our order arrives. Tsubasa submits: BUY 15 contracts, limit ¥100.5, day order.</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3977640" cy="914400"/>
        </p:xfrm>
        <a:graphic>
          <a:graphicData uri="http://schemas.openxmlformats.org/drawingml/2006/table">
            <a:tbl>
              <a:tblPr/>
              <a:tblGrid>
                <a:gridCol w="1234440"/>
                <a:gridCol w="1325880"/>
                <a:gridCol w="14173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Bid size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Price (¥)</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Offer size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12 Miku</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 Sakura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 Hina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 Shou</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8 Hiroto</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15 Takumi</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4480560" y="1188720"/>
            <a:ext cx="4343400" cy="3154680"/>
          </a:xfrm>
          <a:prstGeom prst="rect">
            <a:avLst/>
          </a:prstGeom>
          <a:solidFill>
            <a:srgbClr val="FEF0E7"/>
          </a:solidFill>
          <a:ln w="9525">
            <a:solidFill>
              <a:srgbClr val="E8600A"/>
            </a:solidFill>
            <a:prstDash val="solid"/>
          </a:ln>
        </p:spPr>
      </p:sp>
      <p:sp>
        <p:nvSpPr>
          <p:cNvPr id="11" name="Text 8"/>
          <p:cNvSpPr txBox="1"/>
          <p:nvPr/>
        </p:nvSpPr>
        <p:spPr>
          <a:xfrm>
            <a:off x="4617720" y="1234440"/>
            <a:ext cx="406908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SOLUTION — WALK THE BOOK UPWARD</a:t>
            </a:r>
            <a:endParaRPr lang="en-US" sz="1100" dirty="0"/>
          </a:p>
        </p:txBody>
      </p:sp>
      <p:sp>
        <p:nvSpPr>
          <p:cNvPr id="12" name="Text 9"/>
          <p:cNvSpPr txBox="1"/>
          <p:nvPr/>
        </p:nvSpPr>
        <p:spPr>
          <a:xfrm>
            <a:off x="4617720" y="1527048"/>
            <a:ext cx="406908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Continuous trading, so the discriminatory pricing rule applies: each standing order fills at ITS OWN limit price.</a:t>
            </a:r>
            <a:endParaRPr lang="en-US" sz="1200" dirty="0"/>
          </a:p>
        </p:txBody>
      </p:sp>
      <p:sp>
        <p:nvSpPr>
          <p:cNvPr id="13" name="Text 10"/>
          <p:cNvSpPr txBox="1"/>
          <p:nvPr/>
        </p:nvSpPr>
        <p:spPr>
          <a:xfrm>
            <a:off x="4617720" y="2039112"/>
            <a:ext cx="4069080" cy="179222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Take Hina at 100.4 for 4 contracts (most aggressive offer). 11 left.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Take Sakura at 100.5 for 6 contracts (still at the limit). 5 left.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Miku is offered at 100.6 &gt; limit 100.5 → stop. The residual 5 rest on the bid at 100.5.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Average price = (4 × 100.4 + 6 × 100.5) / 10 = ¥100.46.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A day order rests. An immediate-or-cancel order would simply have cancelled the remaining 5.</a:t>
            </a:r>
            <a:endParaRPr lang="en-US" sz="1200" dirty="0"/>
          </a:p>
        </p:txBody>
      </p:sp>
      <p:sp>
        <p:nvSpPr>
          <p:cNvPr id="14" name="Shape 11"/>
          <p:cNvSpPr/>
          <p:nvPr/>
        </p:nvSpPr>
        <p:spPr>
          <a:xfrm>
            <a:off x="4572000" y="3904488"/>
            <a:ext cx="4160520" cy="365760"/>
          </a:xfrm>
          <a:prstGeom prst="rect">
            <a:avLst/>
          </a:prstGeom>
          <a:solidFill>
            <a:srgbClr val="E8600A"/>
          </a:solidFill>
          <a:ln/>
        </p:spPr>
      </p:sp>
      <p:sp>
        <p:nvSpPr>
          <p:cNvPr id="15" name="Text 12"/>
          <p:cNvSpPr txBox="1"/>
          <p:nvPr/>
        </p:nvSpPr>
        <p:spPr>
          <a:xfrm>
            <a:off x="4617720" y="3904488"/>
            <a:ext cx="406908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  10 filled at ¥100.46; 5 rest. Market moves 100.3/100.4 → 100.5/100.6 — same 0.10 spread.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limit price says WHAT price is acceptable; a stop price says WHEN the order becomes valid — they are orthogonal and can be combined</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Stop-sells become valid when prices fall and stop-buys when prices rise, so stop orders add to market momentum and often execute at poor prices.
</a:t>
            </a:r>
            <a:pPr indent="0" marL="0">
              <a:buNone/>
            </a:pPr>
            <a:r>
              <a:rPr lang="en-US" sz="1000" dirty="0">
                <a:solidFill>
                  <a:srgbClr val="6B7A8D"/>
                </a:solidFill>
                <a:latin typeface="Calibri" pitchFamily="34" charset="0"/>
                <a:ea typeface="Calibri" pitchFamily="34" charset="-122"/>
                <a:cs typeface="Calibri" pitchFamily="34" charset="-120"/>
              </a:rPr>
              <a:t>² Only a purchased put actually guarantees a selling price. The option premium is the price of that guarantee; a stop order is not insurance.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1, §13 "Stop Orders", Example 23, pp. 49–51.</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stop-loss order does not stop losses at the stop price. It only releases an order once the market has traded through the trigger.</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1207008"/>
          <a:ext cx="8503920" cy="914400"/>
        </p:xfrm>
        <a:graphic>
          <a:graphicData uri="http://schemas.openxmlformats.org/drawingml/2006/table">
            <a:tbl>
              <a:tblPr/>
              <a:tblGrid>
                <a:gridCol w="1737360"/>
                <a:gridCol w="2103120"/>
                <a:gridCol w="2468880"/>
                <a:gridCol w="21945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Order type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Valid when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Fill rule once valid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Typical use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Market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always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take best available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Immediate exit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Limit (buy)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always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fill at or below limit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Price-sensitive entry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Stop-market (sell)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trades at/below stop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take best available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Cap downside on a long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Stop-limit (sell)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trades at/below stop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fill at or above limit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Avoid bad prints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Marketable limit (buy)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always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immediate fill up to limit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Fast fill, bounded slip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3017520"/>
            <a:ext cx="8503920" cy="1188720"/>
          </a:xfrm>
          <a:prstGeom prst="rect">
            <a:avLst/>
          </a:prstGeom>
          <a:solidFill>
            <a:srgbClr val="FEF0E7"/>
          </a:solidFill>
          <a:ln/>
        </p:spPr>
      </p:sp>
      <p:sp>
        <p:nvSpPr>
          <p:cNvPr id="12" name="Shape 9"/>
          <p:cNvSpPr/>
          <p:nvPr/>
        </p:nvSpPr>
        <p:spPr>
          <a:xfrm>
            <a:off x="320040" y="3017520"/>
            <a:ext cx="73152" cy="1188720"/>
          </a:xfrm>
          <a:prstGeom prst="rect">
            <a:avLst/>
          </a:prstGeom>
          <a:solidFill>
            <a:srgbClr val="E8600A"/>
          </a:solidFill>
          <a:ln/>
        </p:spPr>
      </p:sp>
      <p:sp>
        <p:nvSpPr>
          <p:cNvPr id="13" name="Text 10"/>
          <p:cNvSpPr txBox="1"/>
          <p:nvPr/>
        </p:nvSpPr>
        <p:spPr>
          <a:xfrm>
            <a:off x="457200" y="30632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CURRICULUM’S OWN TWO EXAMPLES — LEARN THEM AS A PAIR</a:t>
            </a:r>
            <a:endParaRPr lang="en-US" sz="1100" dirty="0"/>
          </a:p>
        </p:txBody>
      </p:sp>
      <p:sp>
        <p:nvSpPr>
          <p:cNvPr id="14" name="Text 11"/>
          <p:cNvSpPr txBox="1"/>
          <p:nvPr/>
        </p:nvSpPr>
        <p:spPr>
          <a:xfrm>
            <a:off x="457200" y="3337560"/>
            <a:ext cx="8275320" cy="8229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Stop-loss: long at 40, submits "GTC, stop 30, market sell". If the stock prints 30 the market sell is released — and may execute well below 30 in a fast market. Unwilling to sell below 25? Then "GTC, stop 30, limit 25 sell".</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Stop-buy: the manager thinks a 50 RMB stock is worth 100 but wants market confirmation first, so submits "GTC, stop 65 RMB, limit 100 RMB buy". Note the CFA caveat — leaning on the market instead of research risks Standard V.A.2.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Secondary markets come in three execution mechanisms — quote-driven, order-driven and brokered — and most real venues blend them</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1, §15 "Secondary Security Market and Contract Market Structures", Example 28, pp. 55–59.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Match the venue to the instrument: dealers where inventory capital is needed, exchanges where instruments are standardised, brokers where each item is unique.</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828800"/>
                <a:gridCol w="3017520"/>
                <a:gridCol w="2514600"/>
                <a:gridCol w="11430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Mechanism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How a trade happens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Dominant asset classes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Transparency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Quote-driven (dealer)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Trade at the dealer’s quoted price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Bonds, FX, spot commodities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Low–mid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Order-driven (exchange)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Rules match buy to sell orders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Listed equities and futures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Brokered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Broker runs a bilateral search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Real estate, IP, big blocks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331720"/>
            <a:ext cx="8503920" cy="1051560"/>
          </a:xfrm>
          <a:prstGeom prst="rect">
            <a:avLst/>
          </a:prstGeom>
          <a:solidFill>
            <a:srgbClr val="FEF0E7"/>
          </a:solidFill>
          <a:ln/>
        </p:spPr>
      </p:sp>
      <p:sp>
        <p:nvSpPr>
          <p:cNvPr id="11" name="Shape 8"/>
          <p:cNvSpPr/>
          <p:nvPr/>
        </p:nvSpPr>
        <p:spPr>
          <a:xfrm>
            <a:off x="320040" y="2331720"/>
            <a:ext cx="73152" cy="1051560"/>
          </a:xfrm>
          <a:prstGeom prst="rect">
            <a:avLst/>
          </a:prstGeom>
          <a:solidFill>
            <a:srgbClr val="E8600A"/>
          </a:solidFill>
          <a:ln/>
        </p:spPr>
      </p:sp>
      <p:sp>
        <p:nvSpPr>
          <p:cNvPr id="12" name="Text 9"/>
          <p:cNvSpPr txBox="1"/>
          <p:nvPr/>
        </p:nvSpPr>
        <p:spPr>
          <a:xfrm>
            <a:off x="457200" y="23774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BROKERED MARKETS EXIST AT ALL</a:t>
            </a:r>
            <a:endParaRPr lang="en-US" sz="1100" dirty="0"/>
          </a:p>
        </p:txBody>
      </p:sp>
      <p:sp>
        <p:nvSpPr>
          <p:cNvPr id="13" name="Text 10"/>
          <p:cNvSpPr txBox="1"/>
          <p:nvPr/>
        </p:nvSpPr>
        <p:spPr>
          <a:xfrm>
            <a:off x="457200" y="2651760"/>
            <a:ext cx="8275320" cy="6858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Dealers will not warehouse assets they cannot hedge or value — very large share blocks, real estate, fine art, intellectual property, operating companies, taxi medallions. Too few traders would ever post orders for an order-driven venue to work. So the broker sells the one thing that is scarce: a network of people who might trade.</a:t>
            </a:r>
            <a:endParaRPr lang="en-US" sz="1200" dirty="0"/>
          </a:p>
        </p:txBody>
      </p:sp>
      <p:sp>
        <p:nvSpPr>
          <p:cNvPr id="14" name="Shape 11"/>
          <p:cNvSpPr/>
          <p:nvPr/>
        </p:nvSpPr>
        <p:spPr>
          <a:xfrm>
            <a:off x="320040" y="3474720"/>
            <a:ext cx="8503920" cy="868680"/>
          </a:xfrm>
          <a:prstGeom prst="rect">
            <a:avLst/>
          </a:prstGeom>
          <a:solidFill>
            <a:srgbClr val="F5F7FA"/>
          </a:solidFill>
          <a:ln/>
        </p:spPr>
      </p:sp>
      <p:sp>
        <p:nvSpPr>
          <p:cNvPr id="15" name="Shape 12"/>
          <p:cNvSpPr/>
          <p:nvPr/>
        </p:nvSpPr>
        <p:spPr>
          <a:xfrm>
            <a:off x="320040" y="3474720"/>
            <a:ext cx="73152" cy="868680"/>
          </a:xfrm>
          <a:prstGeom prst="rect">
            <a:avLst/>
          </a:prstGeom>
          <a:solidFill>
            <a:srgbClr val="1B2A4A"/>
          </a:solidFill>
          <a:ln/>
        </p:spPr>
      </p:sp>
      <p:sp>
        <p:nvSpPr>
          <p:cNvPr id="16" name="Text 13"/>
          <p:cNvSpPr txBox="1"/>
          <p:nvPr/>
        </p:nvSpPr>
        <p:spPr>
          <a:xfrm>
            <a:off x="457200" y="35204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THE THREE ARE POLES, NOT BINS</a:t>
            </a:r>
            <a:endParaRPr lang="en-US" sz="1100" dirty="0"/>
          </a:p>
        </p:txBody>
      </p:sp>
      <p:sp>
        <p:nvSpPr>
          <p:cNvPr id="17" name="Text 14"/>
          <p:cNvSpPr txBox="1"/>
          <p:nvPr/>
        </p:nvSpPr>
        <p:spPr>
          <a:xfrm>
            <a:off x="457200" y="3794760"/>
            <a:ext cx="8275320" cy="502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Exchanges run order-driven engines with designated dealers on top. OTC swap markets post dealer quotes on screens. Upstairs desks cross blocks away from the exchange. The CFA itself notes many trading systems use more than one structure.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Call auctions concentrate all liquidity into one crossing price; continuous trading buys immediacy and pays for it with the spread</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1, §15 "Trading Sessions" and "Execution Mechanisms", Example 26, pp. 55–59.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Many continuous markets open with a call auction and some close with one; traders who only want the closing price submit market- or limit-on-close orders.</a:t>
            </a:r>
            <a:endParaRPr lang="en-US" sz="1300" dirty="0"/>
          </a:p>
        </p:txBody>
      </p:sp>
      <p:sp>
        <p:nvSpPr>
          <p:cNvPr id="9" name="Shape 7"/>
          <p:cNvSpPr/>
          <p:nvPr/>
        </p:nvSpPr>
        <p:spPr>
          <a:xfrm>
            <a:off x="320040" y="1188720"/>
            <a:ext cx="4160520" cy="2103120"/>
          </a:xfrm>
          <a:prstGeom prst="rect">
            <a:avLst/>
          </a:prstGeom>
          <a:solidFill>
            <a:srgbClr val="FEF0E7"/>
          </a:solidFill>
          <a:ln/>
        </p:spPr>
      </p:sp>
      <p:sp>
        <p:nvSpPr>
          <p:cNvPr id="10" name="Shape 8"/>
          <p:cNvSpPr/>
          <p:nvPr/>
        </p:nvSpPr>
        <p:spPr>
          <a:xfrm>
            <a:off x="320040" y="1188720"/>
            <a:ext cx="73152" cy="2103120"/>
          </a:xfrm>
          <a:prstGeom prst="rect">
            <a:avLst/>
          </a:prstGeom>
          <a:solidFill>
            <a:srgbClr val="E8600A"/>
          </a:solidFill>
          <a:ln/>
        </p:spPr>
      </p:sp>
      <p:sp>
        <p:nvSpPr>
          <p:cNvPr id="11" name="Text 9"/>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CALL MARKET</a:t>
            </a:r>
            <a:endParaRPr lang="en-US" sz="1100" dirty="0"/>
          </a:p>
        </p:txBody>
      </p:sp>
      <p:sp>
        <p:nvSpPr>
          <p:cNvPr id="12" name="Text 10"/>
          <p:cNvSpPr txBox="1"/>
          <p:nvPr/>
        </p:nvSpPr>
        <p:spPr>
          <a:xfrm>
            <a:off x="457200" y="1508760"/>
            <a:ext cx="393192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Trades can only be arranged when the market is called. All interest is present at once, so the call itself can be extremely liquid — and between calls the market is completely illiquid.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Most calls use a single-price auction: the price that maximises total volume traded, where the order books cross.</a:t>
            </a:r>
            <a:endParaRPr lang="en-US" sz="1200" dirty="0"/>
          </a:p>
        </p:txBody>
      </p:sp>
      <p:sp>
        <p:nvSpPr>
          <p:cNvPr id="13" name="Shape 11"/>
          <p:cNvSpPr/>
          <p:nvPr/>
        </p:nvSpPr>
        <p:spPr>
          <a:xfrm>
            <a:off x="4663440" y="1188720"/>
            <a:ext cx="4160520" cy="2103120"/>
          </a:xfrm>
          <a:prstGeom prst="rect">
            <a:avLst/>
          </a:prstGeom>
          <a:solidFill>
            <a:srgbClr val="F5F7FA"/>
          </a:solidFill>
          <a:ln/>
        </p:spPr>
      </p:sp>
      <p:sp>
        <p:nvSpPr>
          <p:cNvPr id="14" name="Shape 12"/>
          <p:cNvSpPr/>
          <p:nvPr/>
        </p:nvSpPr>
        <p:spPr>
          <a:xfrm>
            <a:off x="4663440" y="1188720"/>
            <a:ext cx="73152" cy="2103120"/>
          </a:xfrm>
          <a:prstGeom prst="rect">
            <a:avLst/>
          </a:prstGeom>
          <a:solidFill>
            <a:srgbClr val="1B2A4A"/>
          </a:solidFill>
          <a:ln/>
        </p:spPr>
      </p:sp>
      <p:sp>
        <p:nvSpPr>
          <p:cNvPr id="15" name="Text 13"/>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CONTINUOUS TRADING MARKET</a:t>
            </a:r>
            <a:endParaRPr lang="en-US" sz="1100" dirty="0"/>
          </a:p>
        </p:txBody>
      </p:sp>
      <p:sp>
        <p:nvSpPr>
          <p:cNvPr id="16" name="Text 14"/>
          <p:cNvSpPr txBox="1"/>
          <p:nvPr/>
        </p:nvSpPr>
        <p:spPr>
          <a:xfrm>
            <a:off x="4800600" y="1508760"/>
            <a:ext cx="393192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Trades can be arranged any time the market is open — but only if a willing counterparty (or her order) is there at that moment.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Immediacy is the product being sold. The bid–ask spread is what liquidity providers charge for supplying it and for the adverse selection they absorb.</a:t>
            </a:r>
            <a:endParaRPr lang="en-US" sz="1200" dirty="0"/>
          </a:p>
        </p:txBody>
      </p:sp>
      <p:sp>
        <p:nvSpPr>
          <p:cNvPr id="17" name="Shape 15"/>
          <p:cNvSpPr/>
          <p:nvPr/>
        </p:nvSpPr>
        <p:spPr>
          <a:xfrm>
            <a:off x="320040" y="3383280"/>
            <a:ext cx="8503920" cy="960120"/>
          </a:xfrm>
          <a:prstGeom prst="rect">
            <a:avLst/>
          </a:prstGeom>
          <a:solidFill>
            <a:srgbClr val="FEF0E7"/>
          </a:solidFill>
          <a:ln/>
        </p:spPr>
      </p:sp>
      <p:sp>
        <p:nvSpPr>
          <p:cNvPr id="18" name="Shape 16"/>
          <p:cNvSpPr/>
          <p:nvPr/>
        </p:nvSpPr>
        <p:spPr>
          <a:xfrm>
            <a:off x="320040" y="3383280"/>
            <a:ext cx="73152" cy="960120"/>
          </a:xfrm>
          <a:prstGeom prst="rect">
            <a:avLst/>
          </a:prstGeom>
          <a:solidFill>
            <a:srgbClr val="E8600A"/>
          </a:solidFill>
          <a:ln/>
        </p:spPr>
      </p:sp>
      <p:sp>
        <p:nvSpPr>
          <p:cNvPr id="19" name="Text 17"/>
          <p:cNvSpPr txBox="1"/>
          <p:nvPr/>
        </p:nvSpPr>
        <p:spPr>
          <a:xfrm>
            <a:off x="457200" y="34290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THREE TRADE PRICING RULES — KNOW ALL THREE, NOT TWO</a:t>
            </a:r>
            <a:endParaRPr lang="en-US" sz="1100" dirty="0"/>
          </a:p>
        </p:txBody>
      </p:sp>
      <p:sp>
        <p:nvSpPr>
          <p:cNvPr id="20" name="Text 18"/>
          <p:cNvSpPr txBox="1"/>
          <p:nvPr/>
        </p:nvSpPr>
        <p:spPr>
          <a:xfrm>
            <a:off x="457200" y="3703320"/>
            <a:ext cx="8275320" cy="594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Uniform (call markets): every matched trade prints at the same volume-maximising price.  ·  Discriminatory (continuous markets): the standing order’s limit price sets each print, so a large order walks the book.  ·  Derivative (crossing networks such as POSIT): the price is imported from another market, usually the midpoint of the primary exchange’s best bid and offer.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Leverage turns a 20% price fall into a margin call and a 50% loss of equity — the leverage ratio tells you exactly how fast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CFA Example 19: the same stock bought at 2.5× leverage falls from $20 to $15 and the equity return is −68.9%, not −25%.
</a:t>
            </a:r>
            <a:pPr indent="0" marL="0">
              <a:buNone/>
            </a:pPr>
            <a:r>
              <a:rPr lang="en-US" sz="1000" dirty="0">
                <a:solidFill>
                  <a:srgbClr val="6B7A8D"/>
                </a:solidFill>
                <a:latin typeface="Calibri" pitchFamily="34" charset="0"/>
                <a:ea typeface="Calibri" pitchFamily="34" charset="-122"/>
                <a:cs typeface="Calibri" pitchFamily="34" charset="-120"/>
              </a:rPr>
              <a:t>² Short sellers post margin too: their equity is eroded when prices RISE, and the broker buys the stock back if the account is not topped up.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1, §11 "Leveraged Positions", Examples 19–20, pp. 41–44.</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Initial margin is the minimum equity fraction at purchase. Maintenance margin — usually 25% — is the minimum you must keep. Between them sits the margin call price.</a:t>
            </a:r>
            <a:endParaRPr lang="en-US" sz="1300" dirty="0"/>
          </a:p>
        </p:txBody>
      </p:sp>
      <p:sp>
        <p:nvSpPr>
          <p:cNvPr id="10" name="Shape 8"/>
          <p:cNvSpPr/>
          <p:nvPr/>
        </p:nvSpPr>
        <p:spPr>
          <a:xfrm>
            <a:off x="320040" y="1115568"/>
            <a:ext cx="8503920" cy="603504"/>
          </a:xfrm>
          <a:prstGeom prst="rect">
            <a:avLst/>
          </a:prstGeom>
          <a:solidFill>
            <a:srgbClr val="1B2A4A"/>
          </a:solidFill>
          <a:ln/>
        </p:spPr>
      </p:sp>
      <p:sp>
        <p:nvSpPr>
          <p:cNvPr id="11" name="Text 9"/>
          <p:cNvSpPr txBox="1"/>
          <p:nvPr/>
        </p:nvSpPr>
        <p:spPr>
          <a:xfrm>
            <a:off x="411480" y="1115568"/>
            <a:ext cx="8321040" cy="603504"/>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Leverage ratio  =  Position value / Equity  =  1 / initial margin</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Margin call price   P*  =  P0 (1 − m_init) / (1 − m_maint)</a:t>
            </a:r>
            <a:endParaRPr lang="en-US" sz="1800" dirty="0"/>
          </a:p>
        </p:txBody>
      </p:sp>
      <p:sp>
        <p:nvSpPr>
          <p:cNvPr id="12" name="Text 10"/>
          <p:cNvSpPr txBox="1"/>
          <p:nvPr/>
        </p:nvSpPr>
        <p:spPr>
          <a:xfrm>
            <a:off x="320040" y="1746504"/>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P0 = purchase price · m_init = initial margin requirement · m_maint = maintenance margin requirement. Equity per share after a move to P is P0·m_init + (P − P0).</a:t>
            </a:r>
            <a:endParaRPr lang="en-US" sz="1100" dirty="0"/>
          </a:p>
        </p:txBody>
      </p:sp>
      <p:sp>
        <p:nvSpPr>
          <p:cNvPr id="13" name="Shape 11"/>
          <p:cNvSpPr/>
          <p:nvPr/>
        </p:nvSpPr>
        <p:spPr>
          <a:xfrm>
            <a:off x="320040" y="2011680"/>
            <a:ext cx="8503920" cy="2240280"/>
          </a:xfrm>
          <a:prstGeom prst="rect">
            <a:avLst/>
          </a:prstGeom>
          <a:solidFill>
            <a:srgbClr val="FEF0E7"/>
          </a:solidFill>
          <a:ln w="9525">
            <a:solidFill>
              <a:srgbClr val="E8600A"/>
            </a:solidFill>
            <a:prstDash val="solid"/>
          </a:ln>
        </p:spPr>
      </p:sp>
      <p:sp>
        <p:nvSpPr>
          <p:cNvPr id="14" name="Text 12"/>
          <p:cNvSpPr txBox="1"/>
          <p:nvPr/>
        </p:nvSpPr>
        <p:spPr>
          <a:xfrm>
            <a:off x="457200" y="205740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EXAMPLE 20 — AT WHAT PRICE DOES THE CALL COME?</a:t>
            </a:r>
            <a:endParaRPr lang="en-US" sz="1100" dirty="0"/>
          </a:p>
        </p:txBody>
      </p:sp>
      <p:sp>
        <p:nvSpPr>
          <p:cNvPr id="15" name="Text 13"/>
          <p:cNvSpPr txBox="1"/>
          <p:nvPr/>
        </p:nvSpPr>
        <p:spPr>
          <a:xfrm>
            <a:off x="457200" y="235000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trader buys stock at $20 posting 40% initial margin. The maintenance margin requirement is 25%. Below what price does a margin call occur?</a:t>
            </a:r>
            <a:endParaRPr lang="en-US" sz="1200" dirty="0"/>
          </a:p>
        </p:txBody>
      </p:sp>
      <p:sp>
        <p:nvSpPr>
          <p:cNvPr id="16" name="Text 14"/>
          <p:cNvSpPr txBox="1"/>
          <p:nvPr/>
        </p:nvSpPr>
        <p:spPr>
          <a:xfrm>
            <a:off x="457200" y="2862072"/>
            <a:ext cx="8229600" cy="87782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Equity = 40% × $20 = $8/share; margin loan = $12/share. Leverage ratio = 20 / 8 = 2.5× = 1 / 0.40.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Equity per share at any price P is $8 + (P − 20). A call comes when equity / price falls below 25%.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Solve ($8 + P − 20) / P = 0.25  →  0.75P = 12  →  P = $16.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Shortcut: P* = 20 × (1 − 0.40) / (1 − 0.25) = 20 × 0.60 / 0.75 = $16.</a:t>
            </a:r>
            <a:endParaRPr lang="en-US" sz="1150" dirty="0"/>
          </a:p>
        </p:txBody>
      </p:sp>
      <p:sp>
        <p:nvSpPr>
          <p:cNvPr id="17" name="Shape 15"/>
          <p:cNvSpPr/>
          <p:nvPr/>
        </p:nvSpPr>
        <p:spPr>
          <a:xfrm>
            <a:off x="411480" y="3813048"/>
            <a:ext cx="8321040" cy="365760"/>
          </a:xfrm>
          <a:prstGeom prst="rect">
            <a:avLst/>
          </a:prstGeom>
          <a:solidFill>
            <a:srgbClr val="E8600A"/>
          </a:solidFill>
          <a:ln/>
        </p:spPr>
      </p:sp>
      <p:sp>
        <p:nvSpPr>
          <p:cNvPr id="18" name="Text 16"/>
          <p:cNvSpPr txBox="1"/>
          <p:nvPr/>
        </p:nvSpPr>
        <p:spPr>
          <a:xfrm>
            <a:off x="457200" y="381304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  Call below $16. A 20% price fall costs 50% of the equity — 2.5× the price move, as advertised.</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Security</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market indexes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4  ·  Deck 11 of 20  ·  Studio Tonton Gug</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An index is five decisions — target market, selection, weighting, rebalancing, reconstitution — and every one of them shapes the reported return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2, §3 "Index Construction" (the five questions, p. 86) and §4 "Index Management", pp. 86–96.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An index is an opinion about what "the market" means, written down as rules. Two indexes over the same universe can report very different returns on the same day.</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920240"/>
                <a:gridCol w="4617720"/>
                <a:gridCol w="19659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Decision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fixes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Illustration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 · Target market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Asset class, geography, exchange, sector, size, style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S&amp;P 500: US large cap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 · Security selection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All constituents or a sample; fixed N or variable 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FTSE 100 fixes 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 · Weighting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Price / equal / market-cap / float-adjusted / fundamental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Dow: price-weighted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4 · Rebalancing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How often weights reset to the rule (usually quarterly)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Equal-W: high turnover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 · Reconstitution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When selection and weighting rules are re-applied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Russell 2000: annual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017520"/>
            <a:ext cx="8503920" cy="1280160"/>
          </a:xfrm>
          <a:prstGeom prst="rect">
            <a:avLst/>
          </a:prstGeom>
          <a:solidFill>
            <a:srgbClr val="FEF0E7"/>
          </a:solidFill>
          <a:ln/>
        </p:spPr>
      </p:sp>
      <p:sp>
        <p:nvSpPr>
          <p:cNvPr id="11" name="Shape 8"/>
          <p:cNvSpPr/>
          <p:nvPr/>
        </p:nvSpPr>
        <p:spPr>
          <a:xfrm>
            <a:off x="320040" y="3017520"/>
            <a:ext cx="73152" cy="1280160"/>
          </a:xfrm>
          <a:prstGeom prst="rect">
            <a:avLst/>
          </a:prstGeom>
          <a:solidFill>
            <a:srgbClr val="E8600A"/>
          </a:solidFill>
          <a:ln/>
        </p:spPr>
      </p:sp>
      <p:sp>
        <p:nvSpPr>
          <p:cNvPr id="12" name="Text 9"/>
          <p:cNvSpPr txBox="1"/>
          <p:nvPr/>
        </p:nvSpPr>
        <p:spPr>
          <a:xfrm>
            <a:off x="457200" y="30632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RULES-BASED VS COMMITTEE — AND WHY IT MATTERS</a:t>
            </a:r>
            <a:endParaRPr lang="en-US" sz="1100" dirty="0"/>
          </a:p>
        </p:txBody>
      </p:sp>
      <p:sp>
        <p:nvSpPr>
          <p:cNvPr id="13" name="Text 10"/>
          <p:cNvSpPr txBox="1"/>
          <p:nvPr/>
        </p:nvSpPr>
        <p:spPr>
          <a:xfrm>
            <a:off x="457200" y="3337560"/>
            <a:ext cx="8275320" cy="9144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Objective, mechanical rules determine the constituents of most indexes: the TOPIX takes every stock meeting the Tokyo First Section criteria, and a stock that stops meeting them drops out automatically. But not all indexes work that way — the CFA names the S&amp;P 500 and the S&amp;P BSE SENSEX as using a selection committee and more subjective decision rules.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Rules-based means predictable and backtestable; committee-run means human judgement can handle mergers, distress and sector balance — at the cost of some opacity for anyone trying to front-run the change.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An index return is a weighted average of constituent returns — price and total return differ only by the income leg, taken at index level</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2, §2 "Calculation of Single-Period Returns", equations 2–9, pp. 83–85.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Beginning-of-period weights determine each constituent’s contribution. End-of-period weights only tell you where the index has drifted to.</a:t>
            </a:r>
            <a:endParaRPr lang="en-US" sz="1300" dirty="0"/>
          </a:p>
        </p:txBody>
      </p:sp>
      <p:sp>
        <p:nvSpPr>
          <p:cNvPr id="9" name="Shape 7"/>
          <p:cNvSpPr/>
          <p:nvPr/>
        </p:nvSpPr>
        <p:spPr>
          <a:xfrm>
            <a:off x="320040" y="1170432"/>
            <a:ext cx="8503920" cy="640080"/>
          </a:xfrm>
          <a:prstGeom prst="rect">
            <a:avLst/>
          </a:prstGeom>
          <a:solidFill>
            <a:srgbClr val="1B2A4A"/>
          </a:solidFill>
          <a:ln/>
        </p:spPr>
      </p:sp>
      <p:sp>
        <p:nvSpPr>
          <p:cNvPr id="10" name="Text 8"/>
          <p:cNvSpPr txBox="1"/>
          <p:nvPr/>
        </p:nvSpPr>
        <p:spPr>
          <a:xfrm>
            <a:off x="411480" y="1170432"/>
            <a:ext cx="8321040" cy="64008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PR_I  =  Σ wᵢ PRᵢ                    TR_I  =  Σ wᵢ TRᵢ</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TRᵢ  =  (P1ᵢ − P0ᵢ + Incᵢ) / P0ᵢ</a:t>
            </a:r>
            <a:endParaRPr lang="en-US" sz="1800" dirty="0"/>
          </a:p>
        </p:txBody>
      </p:sp>
      <p:sp>
        <p:nvSpPr>
          <p:cNvPr id="11" name="Text 9"/>
          <p:cNvSpPr txBox="1"/>
          <p:nvPr/>
        </p:nvSpPr>
        <p:spPr>
          <a:xfrm>
            <a:off x="320040" y="1837944"/>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wᵢ = BOP weight of constituent i · P0, P1 = price at start and end of the period · Incᵢ = income per unit. At index level, income is divided by the divisor first.</a:t>
            </a:r>
            <a:endParaRPr lang="en-US" sz="1100" dirty="0"/>
          </a:p>
        </p:txBody>
      </p:sp>
      <p:sp>
        <p:nvSpPr>
          <p:cNvPr id="12" name="Shape 10"/>
          <p:cNvSpPr/>
          <p:nvPr/>
        </p:nvSpPr>
        <p:spPr>
          <a:xfrm>
            <a:off x="320040" y="2103120"/>
            <a:ext cx="8503920" cy="2240280"/>
          </a:xfrm>
          <a:prstGeom prst="rect">
            <a:avLst/>
          </a:prstGeom>
          <a:solidFill>
            <a:srgbClr val="FEF0E7"/>
          </a:solidFill>
          <a:ln w="9525">
            <a:solidFill>
              <a:srgbClr val="E8600A"/>
            </a:solidFill>
            <a:prstDash val="solid"/>
          </a:ln>
        </p:spPr>
      </p:sp>
      <p:sp>
        <p:nvSpPr>
          <p:cNvPr id="13" name="Text 11"/>
          <p:cNvSpPr txBox="1"/>
          <p:nvPr/>
        </p:nvSpPr>
        <p:spPr>
          <a:xfrm>
            <a:off x="457200" y="21488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MINI-EXAMPLE — TWO-STOCK PRICE-WEIGHTED INDEX, DIVISOR 2</a:t>
            </a:r>
            <a:endParaRPr lang="en-US" sz="1100" dirty="0"/>
          </a:p>
        </p:txBody>
      </p:sp>
      <p:sp>
        <p:nvSpPr>
          <p:cNvPr id="14" name="Text 12"/>
          <p:cNvSpPr txBox="1"/>
          <p:nvPr/>
        </p:nvSpPr>
        <p:spPr>
          <a:xfrm>
            <a:off x="457200" y="24414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HELION: 50.00 → 55.00, dividend 0.75.  RENKO: 25.00 → 22.00, dividend 0.10.  Divisor = 2 (= number of constituents at inception).</a:t>
            </a:r>
            <a:endParaRPr lang="en-US" sz="1200" dirty="0"/>
          </a:p>
        </p:txBody>
      </p:sp>
      <p:sp>
        <p:nvSpPr>
          <p:cNvPr id="15" name="Text 13"/>
          <p:cNvSpPr txBox="1"/>
          <p:nvPr/>
        </p:nvSpPr>
        <p:spPr>
          <a:xfrm>
            <a:off x="457200" y="2953512"/>
            <a:ext cx="8229600" cy="87782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Index value: BOP = (50 + 25) / 2 = 37.50.   EOP = (55 + 22) / 2 = 38.50.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Price return = (38.50 − 37.50) / 37.50 = +2.67%  =  0.6667(+10.00%) + 0.3333(−12.00%).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Income at INDEX level = (0.75 + 0.10) / 2 = 0.425 points — divide by the divisor first.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Total return = (38.50 − 37.50 + 0.425) / 37.50 = 1.425 / 37.50 = +3.80%.</a:t>
            </a:r>
            <a:endParaRPr lang="en-US" sz="1150" dirty="0"/>
          </a:p>
        </p:txBody>
      </p:sp>
      <p:sp>
        <p:nvSpPr>
          <p:cNvPr id="16" name="Shape 14"/>
          <p:cNvSpPr/>
          <p:nvPr/>
        </p:nvSpPr>
        <p:spPr>
          <a:xfrm>
            <a:off x="411480" y="3904488"/>
            <a:ext cx="8321040" cy="365760"/>
          </a:xfrm>
          <a:prstGeom prst="rect">
            <a:avLst/>
          </a:prstGeom>
          <a:solidFill>
            <a:srgbClr val="E8600A"/>
          </a:solidFill>
          <a:ln/>
        </p:spPr>
      </p:sp>
      <p:sp>
        <p:nvSpPr>
          <p:cNvPr id="17" name="Text 15"/>
          <p:cNvSpPr txBox="1"/>
          <p:nvPr/>
        </p:nvSpPr>
        <p:spPr>
          <a:xfrm>
            <a:off x="457200" y="390448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  Price return 2.67% vs total return 3.80% — the income leg is worth 113 bps this period.</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Price weighting lets the highest-quoted share dominate by accident of quotation — nothing to do with the size of the company</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2, §3 "Price Weighting", Exhibit 1, pp. 87–88; market caps from Exhibit 4, p. 92.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$200 share carries ten times the weight of a $20 share regardless of which company is bigger. This is the Dow Jones Industrial Average’s original sin.</a:t>
            </a:r>
            <a:endParaRPr lang="en-US" sz="1300" dirty="0"/>
          </a:p>
        </p:txBody>
      </p:sp>
      <p:sp>
        <p:nvSpPr>
          <p:cNvPr id="9" name="Shape 7"/>
          <p:cNvSpPr/>
          <p:nvPr/>
        </p:nvSpPr>
        <p:spPr>
          <a:xfrm>
            <a:off x="320040" y="1143000"/>
            <a:ext cx="8503920" cy="566928"/>
          </a:xfrm>
          <a:prstGeom prst="rect">
            <a:avLst/>
          </a:prstGeom>
          <a:solidFill>
            <a:srgbClr val="1B2A4A"/>
          </a:solidFill>
          <a:ln/>
        </p:spPr>
      </p:sp>
      <p:sp>
        <p:nvSpPr>
          <p:cNvPr id="10" name="Text 8"/>
          <p:cNvSpPr txBox="1"/>
          <p:nvPr/>
        </p:nvSpPr>
        <p:spPr>
          <a:xfrm>
            <a:off x="411480" y="1143000"/>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wᵢ  =  Pᵢ / Σ Pⱼ                 Index value  =  Σ Pᵢ / Divisor</a:t>
            </a:r>
            <a:endParaRPr lang="en-US" sz="1800" dirty="0"/>
          </a:p>
        </p:txBody>
      </p:sp>
      <p:sp>
        <p:nvSpPr>
          <p:cNvPr id="11" name="Text 9"/>
          <p:cNvSpPr txBox="1"/>
          <p:nvPr/>
        </p:nvSpPr>
        <p:spPr>
          <a:xfrm>
            <a:off x="320040" y="173736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The divisor is set at inception, typically to the number of constituents, then rescaled on splits and constituent changes so the level is preserved.</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20040" y="2029968"/>
          <a:ext cx="8503920" cy="914400"/>
        </p:xfrm>
        <a:graphic>
          <a:graphicData uri="http://schemas.openxmlformats.org/drawingml/2006/table">
            <a:tbl>
              <a:tblPr/>
              <a:tblGrid>
                <a:gridCol w="1554480"/>
                <a:gridCol w="1280160"/>
                <a:gridCol w="1417320"/>
                <a:gridCol w="1280160"/>
                <a:gridCol w="1463040"/>
                <a:gridCol w="15087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Security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BOP price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BOP weight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EOP price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Price return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EOP weight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HELION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49.26%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52.38%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RENKO</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24.63%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22.00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−12.00%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20.95%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AZURIS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12.32%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7.62%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NOVEX</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9.85%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13.33%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CORYN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3.94%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5.72%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Index (D = 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101.50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105.00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+3.45%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3" name="Shape 10"/>
          <p:cNvSpPr/>
          <p:nvPr/>
        </p:nvSpPr>
        <p:spPr>
          <a:xfrm>
            <a:off x="320040" y="4041648"/>
            <a:ext cx="8503920" cy="603504"/>
          </a:xfrm>
          <a:prstGeom prst="rect">
            <a:avLst/>
          </a:prstGeom>
          <a:solidFill>
            <a:srgbClr val="FEF0E7"/>
          </a:solidFill>
          <a:ln/>
        </p:spPr>
      </p:sp>
      <p:sp>
        <p:nvSpPr>
          <p:cNvPr id="14" name="Shape 11"/>
          <p:cNvSpPr/>
          <p:nvPr/>
        </p:nvSpPr>
        <p:spPr>
          <a:xfrm>
            <a:off x="320040" y="4041648"/>
            <a:ext cx="73152" cy="603504"/>
          </a:xfrm>
          <a:prstGeom prst="rect">
            <a:avLst/>
          </a:prstGeom>
          <a:solidFill>
            <a:srgbClr val="E8600A"/>
          </a:solidFill>
          <a:ln/>
        </p:spPr>
      </p:sp>
      <p:sp>
        <p:nvSpPr>
          <p:cNvPr id="15" name="Text 12"/>
          <p:cNvSpPr txBox="1"/>
          <p:nvPr/>
        </p:nvSpPr>
        <p:spPr>
          <a:xfrm>
            <a:off x="457200" y="4087368"/>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HEADLINE</a:t>
            </a:r>
            <a:endParaRPr lang="en-US" sz="1100" dirty="0"/>
          </a:p>
        </p:txBody>
      </p:sp>
      <p:sp>
        <p:nvSpPr>
          <p:cNvPr id="16" name="Text 13"/>
          <p:cNvSpPr txBox="1"/>
          <p:nvPr/>
        </p:nvSpPr>
        <p:spPr>
          <a:xfrm>
            <a:off x="457200" y="4361688"/>
            <a:ext cx="8275320" cy="23774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Index 20.30 → 21.00, price return +3.45%, total return +4.33%. HELION carries 49.26% of the weight on 26.29% of the group’s market cap.</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stock split changes every weight in a price-weighted index and none in a cap-weighted one — so the divisor, not the level, must move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Shares outstanding are the curriculum’s own: 3,000 / 10,000 / 5,000 / 8,000 / 7,000 for HELION, RENKO, AZURIS, NOVEX and CORYN (Exhibit 4, p. 92).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2, Exhibit 2 "Impact of 2-for-1 Split in Security A", p. 89; cap weights from Exhibit 4, p. 92.</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At end of period HELION splits 2-for-1: price 55.00 → 27.50, shares 3,000 → 6,000. Market capitalisation is unchanged. Yet Σ prices drops from 105.00 to 77.50.</a:t>
            </a:r>
            <a:endParaRPr lang="en-US" sz="1300" dirty="0"/>
          </a:p>
        </p:txBody>
      </p:sp>
      <p:sp>
        <p:nvSpPr>
          <p:cNvPr id="10" name="Shape 8"/>
          <p:cNvSpPr/>
          <p:nvPr/>
        </p:nvSpPr>
        <p:spPr>
          <a:xfrm>
            <a:off x="320040" y="1078992"/>
            <a:ext cx="8503920" cy="1645920"/>
          </a:xfrm>
          <a:prstGeom prst="rect">
            <a:avLst/>
          </a:prstGeom>
          <a:solidFill>
            <a:srgbClr val="FEF0E7"/>
          </a:solidFill>
          <a:ln w="9525">
            <a:solidFill>
              <a:srgbClr val="E8600A"/>
            </a:solidFill>
            <a:prstDash val="solid"/>
          </a:ln>
        </p:spPr>
      </p:sp>
      <p:sp>
        <p:nvSpPr>
          <p:cNvPr id="11" name="Text 9"/>
          <p:cNvSpPr txBox="1"/>
          <p:nvPr/>
        </p:nvSpPr>
        <p:spPr>
          <a:xfrm>
            <a:off x="457200" y="1124712"/>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WORKED EXAMPLE — RESCALING THE DIVISOR</a:t>
            </a:r>
            <a:endParaRPr lang="en-US" sz="1100" dirty="0"/>
          </a:p>
        </p:txBody>
      </p:sp>
      <p:sp>
        <p:nvSpPr>
          <p:cNvPr id="12" name="Text 10"/>
          <p:cNvSpPr txBox="1"/>
          <p:nvPr/>
        </p:nvSpPr>
        <p:spPr>
          <a:xfrm>
            <a:off x="457200" y="1417320"/>
            <a:ext cx="8229600" cy="795528"/>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Before the split: Σ prices = 55 + 22 + 8 + 14 + 6 = 105.00; divisor 5.00 → index = 21.00.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After the split: Σ prices = 27.50 + 22 + 8 + 14 + 6 = 77.50 — but nothing economic has changed.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New divisor = Σ prices after ÷ index before = 77.50 / 21.00 = 3.69, so the index still reads 21.00.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Cap-weighted: HELION 3,000 → 6,000 shares at 27.50 → cap still 165,000; total still 579,000.</a:t>
            </a:r>
            <a:endParaRPr lang="en-US" sz="1100" dirty="0"/>
          </a:p>
        </p:txBody>
      </p:sp>
      <p:sp>
        <p:nvSpPr>
          <p:cNvPr id="13" name="Shape 11"/>
          <p:cNvSpPr/>
          <p:nvPr/>
        </p:nvSpPr>
        <p:spPr>
          <a:xfrm>
            <a:off x="411480" y="2286000"/>
            <a:ext cx="8321040" cy="365760"/>
          </a:xfrm>
          <a:prstGeom prst="rect">
            <a:avLst/>
          </a:prstGeom>
          <a:solidFill>
            <a:srgbClr val="E8600A"/>
          </a:solidFill>
          <a:ln/>
        </p:spPr>
      </p:sp>
      <p:sp>
        <p:nvSpPr>
          <p:cNvPr id="14" name="Text 12"/>
          <p:cNvSpPr txBox="1"/>
          <p:nvPr/>
        </p:nvSpPr>
        <p:spPr>
          <a:xfrm>
            <a:off x="457200" y="2286000"/>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  Price-weighted divisor 5.00 → 3.69. Cap-weighted: the split is a complete non-event.</a:t>
            </a:r>
            <a:endParaRPr lang="en-US" sz="11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20040" y="2761488"/>
          <a:ext cx="8503920" cy="914400"/>
        </p:xfrm>
        <a:graphic>
          <a:graphicData uri="http://schemas.openxmlformats.org/drawingml/2006/table">
            <a:tbl>
              <a:tblPr/>
              <a:tblGrid>
                <a:gridCol w="1645920"/>
                <a:gridCol w="1737360"/>
                <a:gridCol w="1828800"/>
                <a:gridCol w="1645920"/>
                <a:gridCol w="16459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Security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Price post-split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P-W weight after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Mkt cap (EOP)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Cap-W weight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HELION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27.50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35.48%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165,000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28.50%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RENKO</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22.00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28.39%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220,000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38.00%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AZURIS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10.32%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6.91%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NOVEX</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18.07%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112,000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19.34%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CORYN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7.74%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42,000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Each weighting method solves one problem and creates another — and the bias it creates is the exam question, every time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CFA p. 93 treats float-adjusted weighting as market-cap weighting for advantages and disadvantages: float changes the share count, not the tilt.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2, §3 "Index Weighting", price / equal / cap / float-adjusted / fundamental, pp. 87–95.</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Float-adjusted market-cap weighting is now the industry default — the CFA notes that unless stated otherwise, "market-capitalization weighting" means float-adjusted.</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645920"/>
                <a:gridCol w="2423160"/>
                <a:gridCol w="1874520"/>
                <a:gridCol w="25603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Method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Weight rule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Advantage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Disadvantage / effect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Price-weighted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wᵢ = Pᵢ / Σ Pⱼ</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Simplicity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Splits reshuffle all weights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Equal-weighted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wᵢ = 1/N at inception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Simplicity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Big names under-represented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Market-cap</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wᵢ = QᵢPᵢ / Σ QⱼPⱼ</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Held at market value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Overweights what has risen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Float-adjusted cap</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wᵢ = fᵢQᵢPᵢ / Σ fⱼQⱼPⱼ</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Only tradable shares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Momentum tilt, as with cap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Fundamental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wᵢ = Fᵢ / Σ Fⱼ</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Price-independent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Deliberate value tilt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3017520"/>
            <a:ext cx="8503920" cy="1280160"/>
          </a:xfrm>
          <a:prstGeom prst="rect">
            <a:avLst/>
          </a:prstGeom>
          <a:solidFill>
            <a:srgbClr val="FEF0E7"/>
          </a:solidFill>
          <a:ln/>
        </p:spPr>
      </p:sp>
      <p:sp>
        <p:nvSpPr>
          <p:cNvPr id="12" name="Shape 9"/>
          <p:cNvSpPr/>
          <p:nvPr/>
        </p:nvSpPr>
        <p:spPr>
          <a:xfrm>
            <a:off x="320040" y="3017520"/>
            <a:ext cx="73152" cy="1280160"/>
          </a:xfrm>
          <a:prstGeom prst="rect">
            <a:avLst/>
          </a:prstGeom>
          <a:solidFill>
            <a:srgbClr val="E8600A"/>
          </a:solidFill>
          <a:ln/>
        </p:spPr>
      </p:sp>
      <p:sp>
        <p:nvSpPr>
          <p:cNvPr id="13" name="Text 10"/>
          <p:cNvSpPr txBox="1"/>
          <p:nvPr/>
        </p:nvSpPr>
        <p:spPr>
          <a:xfrm>
            <a:off x="457200" y="30632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GET THE BIAS ON THE RIGHT SCHEME</a:t>
            </a:r>
            <a:endParaRPr lang="en-US" sz="1100" dirty="0"/>
          </a:p>
        </p:txBody>
      </p:sp>
      <p:sp>
        <p:nvSpPr>
          <p:cNvPr id="14" name="Text 11"/>
          <p:cNvSpPr txBox="1"/>
          <p:nvPr/>
        </p:nvSpPr>
        <p:spPr>
          <a:xfrm>
            <a:off x="457200" y="3337560"/>
            <a:ext cx="8275320" cy="9144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Equal weighting: two disadvantages, not one — the largest names are under-represented AND the weights stop being equal the moment prices move, so it needs frequent rebalancing.</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Market-cap weighting: the CFA calls the effect similar to a MOMENTUM strategy — whatever has risen (and may be overvalued) gets a bigger weight, and float adjustment does NOT remove that tilt.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Fundamental weighting (F = book value, cash flow, revenue, earnings, dividends, employees): a value tilt by construction, and a CONTRARIAN effect on rebalancing. Price weighting is never rebalanced; cap weighting largely rebalances itself.</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Rebalancing refreshes the weights, reconstitution refreshes the membership — two different kinds of turnover a tracker must absorb</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2, §4 "Index Management: Rebalancing and Reconstitution", Exhibit 6, pp. 95–97.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Price-weighted indexes are never rebalanced; cap-weighted indexes largely rebalance themselves; equal-weighted indexes must be rebalanced constantly. All of them get reconstituted.</a:t>
            </a:r>
            <a:endParaRPr lang="en-US" sz="1300" dirty="0"/>
          </a:p>
        </p:txBody>
      </p:sp>
      <p:sp>
        <p:nvSpPr>
          <p:cNvPr id="9" name="Shape 7"/>
          <p:cNvSpPr/>
          <p:nvPr/>
        </p:nvSpPr>
        <p:spPr>
          <a:xfrm>
            <a:off x="320040" y="1188720"/>
            <a:ext cx="4160520" cy="1965960"/>
          </a:xfrm>
          <a:prstGeom prst="rect">
            <a:avLst/>
          </a:prstGeom>
          <a:solidFill>
            <a:srgbClr val="FEF0E7"/>
          </a:solidFill>
          <a:ln/>
        </p:spPr>
      </p:sp>
      <p:sp>
        <p:nvSpPr>
          <p:cNvPr id="10" name="Shape 8"/>
          <p:cNvSpPr/>
          <p:nvPr/>
        </p:nvSpPr>
        <p:spPr>
          <a:xfrm>
            <a:off x="320040" y="1188720"/>
            <a:ext cx="73152" cy="1965960"/>
          </a:xfrm>
          <a:prstGeom prst="rect">
            <a:avLst/>
          </a:prstGeom>
          <a:solidFill>
            <a:srgbClr val="E8600A"/>
          </a:solidFill>
          <a:ln/>
        </p:spPr>
      </p:sp>
      <p:sp>
        <p:nvSpPr>
          <p:cNvPr id="11" name="Text 9"/>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REBALANCING — WEIGHTS</a:t>
            </a:r>
            <a:endParaRPr lang="en-US" sz="1100" dirty="0"/>
          </a:p>
        </p:txBody>
      </p:sp>
      <p:sp>
        <p:nvSpPr>
          <p:cNvPr id="12" name="Text 10"/>
          <p:cNvSpPr txBox="1"/>
          <p:nvPr/>
        </p:nvSpPr>
        <p:spPr>
          <a:xfrm>
            <a:off x="457200" y="1508760"/>
            <a:ext cx="393192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Adjust the constituents’ weights back to the rule, on scheduled rebalancing dates, usually quarterly.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In the CFA’s equal-weighted example the weights had already drifted from 20% each to 19.93 / 15.94 / 11.60 / 25.36 / 27.17 in a single period — so the winners get sold and the losers bought.</a:t>
            </a:r>
            <a:endParaRPr lang="en-US" sz="1200" dirty="0"/>
          </a:p>
        </p:txBody>
      </p:sp>
      <p:sp>
        <p:nvSpPr>
          <p:cNvPr id="13" name="Shape 11"/>
          <p:cNvSpPr/>
          <p:nvPr/>
        </p:nvSpPr>
        <p:spPr>
          <a:xfrm>
            <a:off x="4663440" y="1188720"/>
            <a:ext cx="4160520" cy="1965960"/>
          </a:xfrm>
          <a:prstGeom prst="rect">
            <a:avLst/>
          </a:prstGeom>
          <a:solidFill>
            <a:srgbClr val="F5F7FA"/>
          </a:solidFill>
          <a:ln/>
        </p:spPr>
      </p:sp>
      <p:sp>
        <p:nvSpPr>
          <p:cNvPr id="14" name="Shape 12"/>
          <p:cNvSpPr/>
          <p:nvPr/>
        </p:nvSpPr>
        <p:spPr>
          <a:xfrm>
            <a:off x="4663440" y="1188720"/>
            <a:ext cx="73152" cy="1965960"/>
          </a:xfrm>
          <a:prstGeom prst="rect">
            <a:avLst/>
          </a:prstGeom>
          <a:solidFill>
            <a:srgbClr val="1B2A4A"/>
          </a:solidFill>
          <a:ln/>
        </p:spPr>
      </p:sp>
      <p:sp>
        <p:nvSpPr>
          <p:cNvPr id="15" name="Text 13"/>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RECONSTITUTION — MEMBERSHIP</a:t>
            </a:r>
            <a:endParaRPr lang="en-US" sz="1100" dirty="0"/>
          </a:p>
        </p:txBody>
      </p:sp>
      <p:sp>
        <p:nvSpPr>
          <p:cNvPr id="16" name="Text 14"/>
          <p:cNvSpPr txBox="1"/>
          <p:nvPr/>
        </p:nvSpPr>
        <p:spPr>
          <a:xfrm>
            <a:off x="4800600" y="1508760"/>
            <a:ext cx="393192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On the reconstitution date the provider re-applies the inclusion criteria, drops what no longer qualifies, adds what does — then re-applies the weighting method to everyone.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So for a cap-weighted index one deletion forces a weight change across ALL remaining names, not just the two that moved.</a:t>
            </a:r>
            <a:endParaRPr lang="en-US" sz="1200" dirty="0"/>
          </a:p>
        </p:txBody>
      </p:sp>
      <p:sp>
        <p:nvSpPr>
          <p:cNvPr id="17" name="Shape 15"/>
          <p:cNvSpPr/>
          <p:nvPr/>
        </p:nvSpPr>
        <p:spPr>
          <a:xfrm>
            <a:off x="320040" y="3246120"/>
            <a:ext cx="8503920" cy="1051560"/>
          </a:xfrm>
          <a:prstGeom prst="rect">
            <a:avLst/>
          </a:prstGeom>
          <a:solidFill>
            <a:srgbClr val="FEF0E7"/>
          </a:solidFill>
          <a:ln/>
        </p:spPr>
      </p:sp>
      <p:sp>
        <p:nvSpPr>
          <p:cNvPr id="18" name="Shape 16"/>
          <p:cNvSpPr/>
          <p:nvPr/>
        </p:nvSpPr>
        <p:spPr>
          <a:xfrm>
            <a:off x="320040" y="3246120"/>
            <a:ext cx="73152" cy="1051560"/>
          </a:xfrm>
          <a:prstGeom prst="rect">
            <a:avLst/>
          </a:prstGeom>
          <a:solidFill>
            <a:srgbClr val="E8600A"/>
          </a:solidFill>
          <a:ln/>
        </p:spPr>
      </p:sp>
      <p:sp>
        <p:nvSpPr>
          <p:cNvPr id="19" name="Text 17"/>
          <p:cNvSpPr txBox="1"/>
          <p:nvPr/>
        </p:nvSpPr>
        <p:spPr>
          <a:xfrm>
            <a:off x="457200" y="32918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RECONSTITUTION IS NOT A BACK-OFFICE EVENT — THE CURRICULUM’S OWN CASE</a:t>
            </a:r>
            <a:endParaRPr lang="en-US" sz="1100" dirty="0"/>
          </a:p>
        </p:txBody>
      </p:sp>
      <p:sp>
        <p:nvSpPr>
          <p:cNvPr id="20" name="Text 18"/>
          <p:cNvSpPr txBox="1"/>
          <p:nvPr/>
        </p:nvSpPr>
        <p:spPr>
          <a:xfrm>
            <a:off x="457200" y="3566160"/>
            <a:ext cx="8275320" cy="6858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Russell 2000 reconstitutes annually, and managers front-run it: they buy what they think will be added and sell what they think will be dropped. Uranium Energy Corporation was bid up from late April 2009; by the 12 June preliminary announcement it had already risen more than 300%, and it closed the 30 June reconstitution date up nearly 400% for the quarter. That is the index-inclusion effect, paid for by the tracker.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Equity indexes come in four families — broad market, multi-market, sector and style — and each answers a different analytical question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2, §6 "Equity indexes", pp. 99–102; uses of market indexes, §5, pp. 97–99.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Pick the index that matches the question. "Did US large caps rise?" → broad. "Did tech beat staples?" → sector. "Did value beat growth?" → style.</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600200"/>
                <a:gridCol w="2606040"/>
                <a:gridCol w="2377440"/>
                <a:gridCol w="19202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Family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represents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Typical use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Examples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Broad market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 whole domestic equity market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Sentiment, benchmarking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S&amp;P 500, TOPIX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Multi-market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Several countries or regions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Global / EM vs DM tilt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MSCI ACWI, MSCI EAFE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Sector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One economic sector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Sector rotation analysis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MSCI World Energy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Style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Size × value / growth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Style-drift, factor tilt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Russell 1000 Growth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2743200"/>
            <a:ext cx="4160520" cy="1554480"/>
          </a:xfrm>
          <a:prstGeom prst="rect">
            <a:avLst/>
          </a:prstGeom>
          <a:solidFill>
            <a:srgbClr val="FEF0E7"/>
          </a:solidFill>
          <a:ln/>
        </p:spPr>
      </p:sp>
      <p:sp>
        <p:nvSpPr>
          <p:cNvPr id="11" name="Shape 8"/>
          <p:cNvSpPr/>
          <p:nvPr/>
        </p:nvSpPr>
        <p:spPr>
          <a:xfrm>
            <a:off x="320040" y="2743200"/>
            <a:ext cx="73152" cy="1554480"/>
          </a:xfrm>
          <a:prstGeom prst="rect">
            <a:avLst/>
          </a:prstGeom>
          <a:solidFill>
            <a:srgbClr val="E8600A"/>
          </a:solidFill>
          <a:ln/>
        </p:spPr>
      </p:sp>
      <p:sp>
        <p:nvSpPr>
          <p:cNvPr id="12" name="Text 9"/>
          <p:cNvSpPr txBox="1"/>
          <p:nvPr/>
        </p:nvSpPr>
        <p:spPr>
          <a:xfrm>
            <a:off x="457200" y="27889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SIX STYLE CATEGORIES</a:t>
            </a:r>
            <a:endParaRPr lang="en-US" sz="1100" dirty="0"/>
          </a:p>
        </p:txBody>
      </p:sp>
      <p:sp>
        <p:nvSpPr>
          <p:cNvPr id="13" name="Text 10"/>
          <p:cNvSpPr txBox="1"/>
          <p:nvPr/>
        </p:nvSpPr>
        <p:spPr>
          <a:xfrm>
            <a:off x="457200" y="3063240"/>
            <a:ext cx="3931920" cy="11887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Three size buckets (large / mid / small) × two styles (value / growth) = six categories: large-cap value, large-cap growth, mid-cap value, mid-cap growth, small-cap value, small-cap growth.</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Stocks migrate between boxes on reconstitution, so style indexes turn over far more than broad market indexes.</a:t>
            </a:r>
            <a:endParaRPr lang="en-US" sz="1200" dirty="0"/>
          </a:p>
        </p:txBody>
      </p:sp>
      <p:sp>
        <p:nvSpPr>
          <p:cNvPr id="14" name="Shape 11"/>
          <p:cNvSpPr/>
          <p:nvPr/>
        </p:nvSpPr>
        <p:spPr>
          <a:xfrm>
            <a:off x="4663440" y="2743200"/>
            <a:ext cx="4160520" cy="1554480"/>
          </a:xfrm>
          <a:prstGeom prst="rect">
            <a:avLst/>
          </a:prstGeom>
          <a:solidFill>
            <a:srgbClr val="F5F7FA"/>
          </a:solidFill>
          <a:ln/>
        </p:spPr>
      </p:sp>
      <p:sp>
        <p:nvSpPr>
          <p:cNvPr id="15" name="Shape 12"/>
          <p:cNvSpPr/>
          <p:nvPr/>
        </p:nvSpPr>
        <p:spPr>
          <a:xfrm>
            <a:off x="4663440" y="2743200"/>
            <a:ext cx="73152" cy="1554480"/>
          </a:xfrm>
          <a:prstGeom prst="rect">
            <a:avLst/>
          </a:prstGeom>
          <a:solidFill>
            <a:srgbClr val="1B2A4A"/>
          </a:solidFill>
          <a:ln/>
        </p:spPr>
      </p:sp>
      <p:sp>
        <p:nvSpPr>
          <p:cNvPr id="16" name="Text 13"/>
          <p:cNvSpPr txBox="1"/>
          <p:nvPr/>
        </p:nvSpPr>
        <p:spPr>
          <a:xfrm>
            <a:off x="4800600" y="27889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THE FIVE USES OF AN INDEX</a:t>
            </a:r>
            <a:endParaRPr lang="en-US" sz="1100" dirty="0"/>
          </a:p>
        </p:txBody>
      </p:sp>
      <p:sp>
        <p:nvSpPr>
          <p:cNvPr id="17" name="Text 14"/>
          <p:cNvSpPr txBox="1"/>
          <p:nvPr/>
        </p:nvSpPr>
        <p:spPr>
          <a:xfrm>
            <a:off x="4800600" y="3063240"/>
            <a:ext cx="3931920" cy="11887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 Gauge of market sentiment.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2 Proxy for measuring and modelling return, systematic risk and risk-adjusted performance.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3 Proxy for an asset class in allocation models.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4 Benchmark for actively managed portfolios.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5 Model portfolio for index funds and ETFs.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Market</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efficiency</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4  ·  Deck 11 of 20  ·  Studio Tonton Gug</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Efficiency is a continuum, not a switch — and a market is inefficient only if you can beat it AFTER costs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3, §2 "The Concept of Market Efficiency" and §3 "Factors Affecting Market Efficiency", pp. 125–132; abnormal return defined p. 133.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Intrinsic value must be estimated; market value is observed. Active management is the bet that the gap between them is real, exploitable and large enough to pay for itself.</a:t>
            </a:r>
            <a:endParaRPr lang="en-US" sz="1300" dirty="0"/>
          </a:p>
        </p:txBody>
      </p:sp>
      <p:sp>
        <p:nvSpPr>
          <p:cNvPr id="9" name="Shape 7"/>
          <p:cNvSpPr/>
          <p:nvPr/>
        </p:nvSpPr>
        <p:spPr>
          <a:xfrm>
            <a:off x="320040" y="1170432"/>
            <a:ext cx="8503920" cy="603504"/>
          </a:xfrm>
          <a:prstGeom prst="rect">
            <a:avLst/>
          </a:prstGeom>
          <a:solidFill>
            <a:srgbClr val="1B2A4A"/>
          </a:solidFill>
          <a:ln/>
        </p:spPr>
      </p:sp>
      <p:sp>
        <p:nvSpPr>
          <p:cNvPr id="10" name="Text 8"/>
          <p:cNvSpPr txBox="1"/>
          <p:nvPr/>
        </p:nvSpPr>
        <p:spPr>
          <a:xfrm>
            <a:off x="411480" y="1170432"/>
            <a:ext cx="8321040" cy="603504"/>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Abnormal return  =  Actual return  −  Expected return</a:t>
            </a:r>
            <a:endParaRPr lang="en-US" sz="1800" dirty="0"/>
          </a:p>
        </p:txBody>
      </p:sp>
      <p:sp>
        <p:nvSpPr>
          <p:cNvPr id="11" name="Text 9"/>
          <p:cNvSpPr txBox="1"/>
          <p:nvPr/>
        </p:nvSpPr>
        <p:spPr>
          <a:xfrm>
            <a:off x="320040" y="1801368"/>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Expected return means risk-adjusted. Consistently earning abnormal returns by trading on a given information set is the evidence AGAINST efficiency with respect to that set.</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20040" y="2103120"/>
          <a:ext cx="8503920" cy="914400"/>
        </p:xfrm>
        <a:graphic>
          <a:graphicData uri="http://schemas.openxmlformats.org/drawingml/2006/table">
            <a:tbl>
              <a:tblPr/>
              <a:tblGrid>
                <a:gridCol w="4251960"/>
                <a:gridCol w="42519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Pushes a market TOWARD efficiency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Pushes a market AWAY from efficiency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More participants: investors and analysts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 information-acquisition costs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Fair-disclosure rules (e.g. SEC Regulation FD)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Transaction costs and wide spreads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Active arbitrage and low operational frictions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Short-selling limits and borrow costs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Opening the market to foreign investors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Thin trading and illiquid instruments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3" name="Shape 10"/>
          <p:cNvSpPr/>
          <p:nvPr/>
        </p:nvSpPr>
        <p:spPr>
          <a:xfrm>
            <a:off x="320040" y="3566160"/>
            <a:ext cx="8503920" cy="777240"/>
          </a:xfrm>
          <a:prstGeom prst="rect">
            <a:avLst/>
          </a:prstGeom>
          <a:solidFill>
            <a:srgbClr val="FEF0E7"/>
          </a:solidFill>
          <a:ln/>
        </p:spPr>
      </p:sp>
      <p:sp>
        <p:nvSpPr>
          <p:cNvPr id="14" name="Shape 11"/>
          <p:cNvSpPr/>
          <p:nvPr/>
        </p:nvSpPr>
        <p:spPr>
          <a:xfrm>
            <a:off x="320040" y="3566160"/>
            <a:ext cx="73152" cy="777240"/>
          </a:xfrm>
          <a:prstGeom prst="rect">
            <a:avLst/>
          </a:prstGeom>
          <a:solidFill>
            <a:srgbClr val="E8600A"/>
          </a:solidFill>
          <a:ln/>
        </p:spPr>
      </p:sp>
      <p:sp>
        <p:nvSpPr>
          <p:cNvPr id="15" name="Text 12"/>
          <p:cNvSpPr txBox="1"/>
          <p:nvPr/>
        </p:nvSpPr>
        <p:spPr>
          <a:xfrm>
            <a:off x="457200" y="361188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MODERN VIEW — EFFICIENT WITHIN THE BOUNDS OF TRANSACTION COSTS</a:t>
            </a:r>
            <a:endParaRPr lang="en-US" sz="1100" dirty="0"/>
          </a:p>
        </p:txBody>
      </p:sp>
      <p:sp>
        <p:nvSpPr>
          <p:cNvPr id="16" name="Text 13"/>
          <p:cNvSpPr txBox="1"/>
          <p:nvPr/>
        </p:nvSpPr>
        <p:spPr>
          <a:xfrm>
            <a:off x="457200" y="3886200"/>
            <a:ext cx="8275320" cy="411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Two identical assets can trade at different prices and both prices are efficient if the gap is smaller than the cheapest trader’s cost of arbitraging it. Grossman and Stiglitz add the other half: prices must offer SOME return to information acquisition, or nobody would gather information at all.</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three forms nest — weak inside semi-strong inside strong — and developed-market evidence supports the first two but rejects the third</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3, §4 "Forms of Market Efficiency", pp. 132–137; implications, §5, pp. 137–138.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Each form is a claim about which information is ALREADY in the price — and therefore about which analysis cannot earn abnormal returns.</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371600"/>
                <a:gridCol w="2377440"/>
                <a:gridCol w="2560320"/>
                <a:gridCol w="21945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Form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Prices reflect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Strategy that cannot work</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Developed-market evidence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Weak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Past prices and volume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Technical analysis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Largely supported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Semi-strong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Weak + all public info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Fundamental analysis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Broadly supported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Strong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Public + private info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Trading on inside information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Rejected by evidence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395728"/>
            <a:ext cx="8503920" cy="868680"/>
          </a:xfrm>
          <a:prstGeom prst="rect">
            <a:avLst/>
          </a:prstGeom>
          <a:solidFill>
            <a:srgbClr val="FEF0E7"/>
          </a:solidFill>
          <a:ln/>
        </p:spPr>
      </p:sp>
      <p:sp>
        <p:nvSpPr>
          <p:cNvPr id="11" name="Shape 8"/>
          <p:cNvSpPr/>
          <p:nvPr/>
        </p:nvSpPr>
        <p:spPr>
          <a:xfrm>
            <a:off x="320040" y="2395728"/>
            <a:ext cx="73152" cy="868680"/>
          </a:xfrm>
          <a:prstGeom prst="rect">
            <a:avLst/>
          </a:prstGeom>
          <a:solidFill>
            <a:srgbClr val="E8600A"/>
          </a:solidFill>
          <a:ln/>
        </p:spPr>
      </p:sp>
      <p:sp>
        <p:nvSpPr>
          <p:cNvPr id="12" name="Text 9"/>
          <p:cNvSpPr txBox="1"/>
          <p:nvPr/>
        </p:nvSpPr>
        <p:spPr>
          <a:xfrm>
            <a:off x="457200" y="2441448"/>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THEY NEST</a:t>
            </a:r>
            <a:endParaRPr lang="en-US" sz="1100" dirty="0"/>
          </a:p>
        </p:txBody>
      </p:sp>
      <p:sp>
        <p:nvSpPr>
          <p:cNvPr id="13" name="Text 10"/>
          <p:cNvSpPr txBox="1"/>
          <p:nvPr/>
        </p:nvSpPr>
        <p:spPr>
          <a:xfrm>
            <a:off x="457200" y="2715768"/>
            <a:ext cx="8275320" cy="502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Public information includes past market data, so semi-strong efficiency implies weak-form efficiency. Private plus public includes both, so strong-form implies the other two. The evidence runs the other way: markets clear the first hurdle, mostly clear the second, and fail the third because insiders demonstrably earn abnormal profits.</a:t>
            </a:r>
            <a:endParaRPr lang="en-US" sz="1200" dirty="0"/>
          </a:p>
        </p:txBody>
      </p:sp>
      <p:sp>
        <p:nvSpPr>
          <p:cNvPr id="14" name="Shape 11"/>
          <p:cNvSpPr/>
          <p:nvPr/>
        </p:nvSpPr>
        <p:spPr>
          <a:xfrm>
            <a:off x="320040" y="3383280"/>
            <a:ext cx="8503920" cy="960120"/>
          </a:xfrm>
          <a:prstGeom prst="rect">
            <a:avLst/>
          </a:prstGeom>
          <a:solidFill>
            <a:srgbClr val="F5F7FA"/>
          </a:solidFill>
          <a:ln/>
        </p:spPr>
      </p:sp>
      <p:sp>
        <p:nvSpPr>
          <p:cNvPr id="15" name="Shape 12"/>
          <p:cNvSpPr/>
          <p:nvPr/>
        </p:nvSpPr>
        <p:spPr>
          <a:xfrm>
            <a:off x="320040" y="3383280"/>
            <a:ext cx="73152" cy="960120"/>
          </a:xfrm>
          <a:prstGeom prst="rect">
            <a:avLst/>
          </a:prstGeom>
          <a:solidFill>
            <a:srgbClr val="1B2A4A"/>
          </a:solidFill>
          <a:ln/>
        </p:spPr>
      </p:sp>
      <p:sp>
        <p:nvSpPr>
          <p:cNvPr id="16" name="Text 13"/>
          <p:cNvSpPr txBox="1"/>
          <p:nvPr/>
        </p:nvSpPr>
        <p:spPr>
          <a:xfrm>
            <a:off x="457200" y="34290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IMPLICATIONS — AND THE PARADOX</a:t>
            </a:r>
            <a:endParaRPr lang="en-US" sz="1100" dirty="0"/>
          </a:p>
        </p:txBody>
      </p:sp>
      <p:sp>
        <p:nvSpPr>
          <p:cNvPr id="17" name="Text 14"/>
          <p:cNvSpPr txBox="1"/>
          <p:nvPr/>
        </p:nvSpPr>
        <p:spPr>
          <a:xfrm>
            <a:off x="457200" y="3703320"/>
            <a:ext cx="8275320" cy="594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Technical analysts keep the market weak-form efficient by arbitraging away the patterns they find; fundamental analysts keep it semi-strong efficient by disseminating value-relevant information. Both destroy the edge they are hunting. Mutual funds perform roughly like the market before fees and worse after them — the case for passive management.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Anomalies fall into three research categories — time-series, cross-sectional and other — and most dissolve once risk-adjusted and costed</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Fama and French (1995): apply the three-factor model instead of the CAPM and the value anomaly disappears — it was a risk factor all along.
</a:t>
            </a:r>
            <a:pPr indent="0" marL="0">
              <a:buNone/>
            </a:pPr>
            <a:r>
              <a:rPr lang="en-US" sz="1000" dirty="0">
                <a:solidFill>
                  <a:srgbClr val="6B7A8D"/>
                </a:solidFill>
                <a:latin typeface="Calibri" pitchFamily="34" charset="0"/>
                <a:ea typeface="Calibri" pitchFamily="34" charset="-122"/>
                <a:cs typeface="Calibri" pitchFamily="34" charset="-120"/>
              </a:rPr>
              <a:t>² Fama (1998): fix the methodology and most anomalies vanish; over-reactions are as common as under-reactions, so markets are efficient on average.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3, §6–7 "Market Pricing Anomalies", Exhibits 3–4, pp. 139–145.</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three-part test for a real anomaly: does it replicate out of sample, does it survive risk adjustment, and is it still profitable after transaction costs?</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20040" y="1115568"/>
          <a:ext cx="8503920" cy="914400"/>
        </p:xfrm>
        <a:graphic>
          <a:graphicData uri="http://schemas.openxmlformats.org/drawingml/2006/table">
            <a:tbl>
              <a:tblPr/>
              <a:tblGrid>
                <a:gridCol w="1737360"/>
                <a:gridCol w="1463040"/>
                <a:gridCol w="3017520"/>
                <a:gridCol w="22860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Anomaly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Category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Observation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Standard counter-explanation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January effect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Time series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Small caps spike in early January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Gone once risk-adjusted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Momentum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Time series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Short-term winners keep winning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Rational cash-flow shocks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Size effect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Cross-sectional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Small caps beat large, risk-adjusted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Microcaps only (FF 2008)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Value effect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Cross-sectional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 P/E and P/B beat growth stocks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FF 3-factor: it is risk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Earnings surprise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Other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Prices drift AFTER the announcement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Costs and risk not netted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Closed-end discount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Other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Funds trade 4–10% below NAV</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Arbitrage costs kill 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IPO long-run returns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Other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Day-1 pop, then weak long-run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Small-sample methodology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3383280"/>
            <a:ext cx="8503920" cy="896112"/>
          </a:xfrm>
          <a:prstGeom prst="rect">
            <a:avLst/>
          </a:prstGeom>
          <a:solidFill>
            <a:srgbClr val="FEF0E7"/>
          </a:solidFill>
          <a:ln/>
        </p:spPr>
      </p:sp>
      <p:sp>
        <p:nvSpPr>
          <p:cNvPr id="12" name="Shape 9"/>
          <p:cNvSpPr/>
          <p:nvPr/>
        </p:nvSpPr>
        <p:spPr>
          <a:xfrm>
            <a:off x="320040" y="3383280"/>
            <a:ext cx="73152" cy="896112"/>
          </a:xfrm>
          <a:prstGeom prst="rect">
            <a:avLst/>
          </a:prstGeom>
          <a:solidFill>
            <a:srgbClr val="E8600A"/>
          </a:solidFill>
          <a:ln/>
        </p:spPr>
      </p:sp>
      <p:sp>
        <p:nvSpPr>
          <p:cNvPr id="13" name="Text 10"/>
          <p:cNvSpPr txBox="1"/>
          <p:nvPr/>
        </p:nvSpPr>
        <p:spPr>
          <a:xfrm>
            <a:off x="457200" y="34290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EXHIBIT 4 — FOUR MORE CALENDAR EFFECTS, ALL LARGELY GONE</a:t>
            </a:r>
            <a:endParaRPr lang="en-US" sz="1100" dirty="0"/>
          </a:p>
        </p:txBody>
      </p:sp>
      <p:sp>
        <p:nvSpPr>
          <p:cNvPr id="14" name="Text 11"/>
          <p:cNvSpPr txBox="1"/>
          <p:nvPr/>
        </p:nvSpPr>
        <p:spPr>
          <a:xfrm>
            <a:off x="457200" y="3703320"/>
            <a:ext cx="8275320" cy="53035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Turn-of-the-month: returns higher on the last trading day of the month and the first three of the next. Day-of-the-week: Monday negative, the other four positive. Weekend: weekend returns below weekday returns. Holiday: returns higher the day before a market holiday. Most have been eliminated over time — either arbitraged away, or never really there.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Behavioral biases give anomalies a mechanism — but efficiency only requires that the MARKET be rational, not that every investor is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3, §8 "Behavioral Finance", pp. 146–149.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If some investors deviate from rationality, others are assumed to observe the deviation and trade against it. Those responses are what move the market back toward efficiency.</a:t>
            </a:r>
            <a:endParaRPr lang="en-US" sz="1300" dirty="0"/>
          </a:p>
        </p:txBody>
      </p:sp>
      <p:sp>
        <p:nvSpPr>
          <p:cNvPr id="9" name="Shape 7"/>
          <p:cNvSpPr/>
          <p:nvPr/>
        </p:nvSpPr>
        <p:spPr>
          <a:xfrm>
            <a:off x="320040" y="1188720"/>
            <a:ext cx="2743200" cy="3154680"/>
          </a:xfrm>
          <a:prstGeom prst="rect">
            <a:avLst/>
          </a:prstGeom>
          <a:solidFill>
            <a:srgbClr val="F5F7FA"/>
          </a:solidFill>
          <a:ln/>
        </p:spPr>
      </p:sp>
      <p:sp>
        <p:nvSpPr>
          <p:cNvPr id="10" name="Shape 8"/>
          <p:cNvSpPr/>
          <p:nvPr/>
        </p:nvSpPr>
        <p:spPr>
          <a:xfrm>
            <a:off x="320040" y="1188720"/>
            <a:ext cx="73152" cy="3154680"/>
          </a:xfrm>
          <a:prstGeom prst="rect">
            <a:avLst/>
          </a:prstGeom>
          <a:solidFill>
            <a:srgbClr val="1B2A4A"/>
          </a:solidFill>
          <a:ln/>
        </p:spPr>
      </p:sp>
      <p:sp>
        <p:nvSpPr>
          <p:cNvPr id="11" name="Text 9"/>
          <p:cNvSpPr txBox="1"/>
          <p:nvPr/>
        </p:nvSpPr>
        <p:spPr>
          <a:xfrm>
            <a:off x="45720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LOSS AVERSION</a:t>
            </a:r>
            <a:endParaRPr lang="en-US" sz="1100" dirty="0"/>
          </a:p>
        </p:txBody>
      </p:sp>
      <p:sp>
        <p:nvSpPr>
          <p:cNvPr id="12" name="Text 10"/>
          <p:cNvSpPr txBox="1"/>
          <p:nvPr/>
        </p:nvSpPr>
        <p:spPr>
          <a:xfrm>
            <a:off x="457200" y="1645920"/>
            <a:ext cx="2468880" cy="260604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Investors dislike losses more than they like equivalent gains — a stronger preference than plain risk aversion.</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If loss aversion dominates, we should observe OVERREACTION in prices.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The counter (Fama 1998): under-reaction turns out to be about as common as over-reaction, so the bias alone cannot explain the evidence.</a:t>
            </a:r>
            <a:endParaRPr lang="en-US" sz="1100" dirty="0"/>
          </a:p>
        </p:txBody>
      </p:sp>
      <p:sp>
        <p:nvSpPr>
          <p:cNvPr id="13" name="Shape 11"/>
          <p:cNvSpPr/>
          <p:nvPr/>
        </p:nvSpPr>
        <p:spPr>
          <a:xfrm>
            <a:off x="3200400" y="1188720"/>
            <a:ext cx="2743200" cy="3154680"/>
          </a:xfrm>
          <a:prstGeom prst="rect">
            <a:avLst/>
          </a:prstGeom>
          <a:solidFill>
            <a:srgbClr val="FEF0E7"/>
          </a:solidFill>
          <a:ln/>
        </p:spPr>
      </p:sp>
      <p:sp>
        <p:nvSpPr>
          <p:cNvPr id="14" name="Shape 12"/>
          <p:cNvSpPr/>
          <p:nvPr/>
        </p:nvSpPr>
        <p:spPr>
          <a:xfrm>
            <a:off x="3200400" y="1188720"/>
            <a:ext cx="73152" cy="3154680"/>
          </a:xfrm>
          <a:prstGeom prst="rect">
            <a:avLst/>
          </a:prstGeom>
          <a:solidFill>
            <a:srgbClr val="E8600A"/>
          </a:solidFill>
          <a:ln/>
        </p:spPr>
      </p:sp>
      <p:sp>
        <p:nvSpPr>
          <p:cNvPr id="15" name="Text 13"/>
          <p:cNvSpPr txBox="1"/>
          <p:nvPr/>
        </p:nvSpPr>
        <p:spPr>
          <a:xfrm>
            <a:off x="333756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HERDING &amp; CASCADES</a:t>
            </a:r>
            <a:endParaRPr lang="en-US" sz="1100" dirty="0"/>
          </a:p>
        </p:txBody>
      </p:sp>
      <p:sp>
        <p:nvSpPr>
          <p:cNvPr id="16" name="Text 14"/>
          <p:cNvSpPr txBox="1"/>
          <p:nvPr/>
        </p:nvSpPr>
        <p:spPr>
          <a:xfrm>
            <a:off x="3337560" y="1645920"/>
            <a:ext cx="2468880" cy="260604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Herding: investors trade the same side of the same securities at once, ignoring their own information. It can produce EITHER under- or over-reaction, depending on which way the herd runs.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An information cascade is the related but distinct idea: those who act first transmit information, and later traders imitate them.</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Cascades can be rational — if the informed act first, imitation helps prices incorporate information.</a:t>
            </a:r>
            <a:endParaRPr lang="en-US" sz="1100" dirty="0"/>
          </a:p>
        </p:txBody>
      </p:sp>
      <p:sp>
        <p:nvSpPr>
          <p:cNvPr id="17" name="Shape 15"/>
          <p:cNvSpPr/>
          <p:nvPr/>
        </p:nvSpPr>
        <p:spPr>
          <a:xfrm>
            <a:off x="6080760" y="1188720"/>
            <a:ext cx="2743200" cy="3154680"/>
          </a:xfrm>
          <a:prstGeom prst="rect">
            <a:avLst/>
          </a:prstGeom>
          <a:solidFill>
            <a:srgbClr val="F5F7FA"/>
          </a:solidFill>
          <a:ln/>
        </p:spPr>
      </p:sp>
      <p:sp>
        <p:nvSpPr>
          <p:cNvPr id="18" name="Shape 16"/>
          <p:cNvSpPr/>
          <p:nvPr/>
        </p:nvSpPr>
        <p:spPr>
          <a:xfrm>
            <a:off x="6080760" y="1188720"/>
            <a:ext cx="73152" cy="3154680"/>
          </a:xfrm>
          <a:prstGeom prst="rect">
            <a:avLst/>
          </a:prstGeom>
          <a:solidFill>
            <a:srgbClr val="1B2A4A"/>
          </a:solidFill>
          <a:ln/>
        </p:spPr>
      </p:sp>
      <p:sp>
        <p:nvSpPr>
          <p:cNvPr id="19" name="Text 17"/>
          <p:cNvSpPr txBox="1"/>
          <p:nvPr/>
        </p:nvSpPr>
        <p:spPr>
          <a:xfrm>
            <a:off x="621792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OVERCONFIDENCE</a:t>
            </a:r>
            <a:endParaRPr lang="en-US" sz="1100" dirty="0"/>
          </a:p>
        </p:txBody>
      </p:sp>
      <p:sp>
        <p:nvSpPr>
          <p:cNvPr id="20" name="Text 18"/>
          <p:cNvSpPr txBox="1"/>
          <p:nvPr/>
        </p:nvSpPr>
        <p:spPr>
          <a:xfrm>
            <a:off x="6217920" y="1645920"/>
            <a:ext cx="2468880" cy="260604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Investors overestimate their ability to process and interpret information, so they misprice securities.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Evidence of overconfidence mispricing is reported in the US, UK, German, French and Japanese markets — concentrated in higher-growth companies, whose prices react slowly.</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Most researchers argue the mispricing is temporary. It is exploitable only if the correction is slow AND predictable.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Equity security</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taxonomy</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4  ·  Deck 11 of 20  ·  Studio Tonton Gug</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Common shares are the residual claim with the votes; preference shares rank ahead on cash flow and liquidation but usually have no vote at all</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4, §2 "Characteristics of Equity Securities" — Common Shares and Preference Shares, pp. 165–170.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Preference shares are a hybrid: bond-like fixed dividends, equity-like perpetual life — and behind debt, ahead of common, in liquidation.</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103120"/>
                <a:gridCol w="3474720"/>
                <a:gridCol w="29260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Feature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Common shares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Preference shares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Dividend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Discretionary; can be zero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Fixed rate, not contractually owed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Dividend priority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Last, after preferred and debt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Ahead of common; accrues if cumul.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Liquidation priority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Last (residual claimant)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Ahead of common, behind debt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Voting rights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One vote per share (typical)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None unless granted at issuance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Share in earnings growth</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Full — price and dividend growth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Capped unless participating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Maturity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Perpetual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Usually perpetual; may be called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200400"/>
            <a:ext cx="8503920" cy="1097280"/>
          </a:xfrm>
          <a:prstGeom prst="rect">
            <a:avLst/>
          </a:prstGeom>
          <a:solidFill>
            <a:srgbClr val="FEF0E7"/>
          </a:solidFill>
          <a:ln/>
        </p:spPr>
      </p:sp>
      <p:sp>
        <p:nvSpPr>
          <p:cNvPr id="11" name="Shape 8"/>
          <p:cNvSpPr/>
          <p:nvPr/>
        </p:nvSpPr>
        <p:spPr>
          <a:xfrm>
            <a:off x="320040" y="3200400"/>
            <a:ext cx="73152" cy="1097280"/>
          </a:xfrm>
          <a:prstGeom prst="rect">
            <a:avLst/>
          </a:prstGeom>
          <a:solidFill>
            <a:srgbClr val="E8600A"/>
          </a:solidFill>
          <a:ln/>
        </p:spPr>
      </p:sp>
      <p:sp>
        <p:nvSpPr>
          <p:cNvPr id="12" name="Text 9"/>
          <p:cNvSpPr txBox="1"/>
          <p:nvPr/>
        </p:nvSpPr>
        <p:spPr>
          <a:xfrm>
            <a:off x="457200" y="32461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STATUTORY VS CUMULATIVE VOTING — THE CURRICULUM’S OWN ARITHMETIC</a:t>
            </a:r>
            <a:endParaRPr lang="en-US" sz="1100" dirty="0"/>
          </a:p>
        </p:txBody>
      </p:sp>
      <p:sp>
        <p:nvSpPr>
          <p:cNvPr id="13" name="Text 10"/>
          <p:cNvSpPr txBox="1"/>
          <p:nvPr/>
        </p:nvSpPr>
        <p:spPr>
          <a:xfrm>
            <a:off x="457200" y="3520440"/>
            <a:ext cx="8275320" cy="7315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Statutory voting: one vote per share, per candidate. Own 100 shares with four directors to elect and you may cast at most 100 votes for each.</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Cumulative voting: total votes = shares × directors being elected = 100 × 4 = 400, and you may pile all 400 onto a single candidate. That is the whole point — it lets a small holder win one board seat instead of losing every seat by the same margin.</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Five bolt-on features turn a plain preference share into five economically different securities — each one is an embedded option</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4, §2 "Preference Shares", Exhibits 9–10 (GDL Fund, TEN Ltd), pp. 168–170.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Each feature moves value between issuer and investor. The holder’s return is the stated dividend plus the net value of every embedded option.</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645920"/>
                <a:gridCol w="1828800"/>
                <a:gridCol w="3474720"/>
                <a:gridCol w="15544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Feature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Option held by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does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Value moves to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Callable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Issuer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Issuer buys back at a set price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Favours issuer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Putable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Investor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Investor sells back at a set price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Favours investor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Cumulative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Investor (automatic)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Unpaid dividends accrue and must be paid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Favours investor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Participating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Investor (automatic)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Extra dividend if profits beat a threshold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Favours investor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Convertible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Investor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Swap into a set number of common shares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Favours investor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017520"/>
            <a:ext cx="8503920" cy="1280160"/>
          </a:xfrm>
          <a:prstGeom prst="rect">
            <a:avLst/>
          </a:prstGeom>
          <a:solidFill>
            <a:srgbClr val="FEF0E7"/>
          </a:solidFill>
          <a:ln/>
        </p:spPr>
      </p:sp>
      <p:sp>
        <p:nvSpPr>
          <p:cNvPr id="11" name="Shape 8"/>
          <p:cNvSpPr/>
          <p:nvPr/>
        </p:nvSpPr>
        <p:spPr>
          <a:xfrm>
            <a:off x="320040" y="3017520"/>
            <a:ext cx="73152" cy="1280160"/>
          </a:xfrm>
          <a:prstGeom prst="rect">
            <a:avLst/>
          </a:prstGeom>
          <a:solidFill>
            <a:srgbClr val="E8600A"/>
          </a:solidFill>
          <a:ln/>
        </p:spPr>
      </p:sp>
      <p:sp>
        <p:nvSpPr>
          <p:cNvPr id="12" name="Text 9"/>
          <p:cNvSpPr txBox="1"/>
          <p:nvPr/>
        </p:nvSpPr>
        <p:spPr>
          <a:xfrm>
            <a:off x="457200" y="30632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CURRICULUM’S FOUR ADVANTAGES OF CONVERTIBLE PREFERENCE SHARES</a:t>
            </a:r>
            <a:endParaRPr lang="en-US" sz="1100" dirty="0"/>
          </a:p>
        </p:txBody>
      </p:sp>
      <p:sp>
        <p:nvSpPr>
          <p:cNvPr id="13" name="Text 10"/>
          <p:cNvSpPr txBox="1"/>
          <p:nvPr/>
        </p:nvSpPr>
        <p:spPr>
          <a:xfrm>
            <a:off x="457200" y="3337560"/>
            <a:ext cx="8275320" cy="9144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 A higher dividend than the company’s common shares.  2 The opportunity to share in the company’s profits.  3 The chance to benefit from a rise in the common share price, through the conversion option.  4 Less price volatility than the common, because the dividend is known and stable.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That asymmetry is exactly why convertible preference shares are a popular financing route in venture capital and private equity, where the issuer is high-risk and an IPO may be years away. Note also: participating preference shares are most common in smaller, riskier companies, where liquidation is a live concern.</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convertible preference share decomposes into a fixed-income floor plus an embedded call on the common — floor below, equity above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The curriculum does not put numbers on this decomposition; the maths is standard convertible arithmetic and returns in the fixed-income deck.
</a:t>
            </a:r>
            <a:pPr indent="0" marL="0">
              <a:buNone/>
            </a:pPr>
            <a:r>
              <a:rPr lang="en-US" sz="1000" dirty="0">
                <a:solidFill>
                  <a:srgbClr val="6B7A8D"/>
                </a:solidFill>
                <a:latin typeface="Calibri" pitchFamily="34" charset="0"/>
                <a:ea typeface="Calibri" pitchFamily="34" charset="-122"/>
                <a:cs typeface="Calibri" pitchFamily="34" charset="-120"/>
              </a:rPr>
              <a:t>² Conversion ratio is fixed at issuance, so conversion value moves one-for-one with the common price. The floor moves with credit spreads and rates.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4, §2 "Preference Shares", pp. 169–170. The arithmetic on this slide is an instructor illustration, not a CFA example.</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Bond floor = value as a straight preference share. Conversion value = conversion ratio × common price. The traded price sits above the higher of the two.</a:t>
            </a:r>
            <a:endParaRPr lang="en-US" sz="1300" dirty="0"/>
          </a:p>
        </p:txBody>
      </p:sp>
      <p:sp>
        <p:nvSpPr>
          <p:cNvPr id="10" name="Shape 8"/>
          <p:cNvSpPr/>
          <p:nvPr/>
        </p:nvSpPr>
        <p:spPr>
          <a:xfrm>
            <a:off x="320040" y="1115568"/>
            <a:ext cx="8503920" cy="566928"/>
          </a:xfrm>
          <a:prstGeom prst="rect">
            <a:avLst/>
          </a:prstGeom>
          <a:solidFill>
            <a:srgbClr val="1B2A4A"/>
          </a:solidFill>
          <a:ln/>
        </p:spPr>
      </p:sp>
      <p:sp>
        <p:nvSpPr>
          <p:cNvPr id="11" name="Text 9"/>
          <p:cNvSpPr txBox="1"/>
          <p:nvPr/>
        </p:nvSpPr>
        <p:spPr>
          <a:xfrm>
            <a:off x="411480" y="1115568"/>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Price = max( Bond floor , Conversion value ) + Time value</a:t>
            </a:r>
            <a:endParaRPr lang="en-US" sz="1800" dirty="0"/>
          </a:p>
        </p:txBody>
      </p:sp>
      <p:sp>
        <p:nvSpPr>
          <p:cNvPr id="12" name="Text 10"/>
          <p:cNvSpPr txBox="1"/>
          <p:nvPr/>
        </p:nvSpPr>
        <p:spPr>
          <a:xfrm>
            <a:off x="320040" y="1709928"/>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Bond floor = PV of the preference dividend stream at the yield on comparable straight preferreds · Conversion value = conversion ratio × common share price.</a:t>
            </a:r>
            <a:endParaRPr lang="en-US" sz="1100" dirty="0"/>
          </a:p>
        </p:txBody>
      </p:sp>
      <p:sp>
        <p:nvSpPr>
          <p:cNvPr id="13" name="Shape 11"/>
          <p:cNvSpPr/>
          <p:nvPr/>
        </p:nvSpPr>
        <p:spPr>
          <a:xfrm>
            <a:off x="320040" y="2011680"/>
            <a:ext cx="8503920" cy="2103120"/>
          </a:xfrm>
          <a:prstGeom prst="rect">
            <a:avLst/>
          </a:prstGeom>
          <a:solidFill>
            <a:srgbClr val="FEF0E7"/>
          </a:solidFill>
          <a:ln w="9525">
            <a:solidFill>
              <a:srgbClr val="E8600A"/>
            </a:solidFill>
            <a:prstDash val="solid"/>
          </a:ln>
        </p:spPr>
      </p:sp>
      <p:sp>
        <p:nvSpPr>
          <p:cNvPr id="14" name="Text 12"/>
          <p:cNvSpPr txBox="1"/>
          <p:nvPr/>
        </p:nvSpPr>
        <p:spPr>
          <a:xfrm>
            <a:off x="457200" y="205740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ILLUSTRATION (NOT A CFA EXAMPLE) — AZURIS 6% CONV. PREF.</a:t>
            </a:r>
            <a:endParaRPr lang="en-US" sz="1100" dirty="0"/>
          </a:p>
        </p:txBody>
      </p:sp>
      <p:sp>
        <p:nvSpPr>
          <p:cNvPr id="15" name="Text 13"/>
          <p:cNvSpPr txBox="1"/>
          <p:nvPr/>
        </p:nvSpPr>
        <p:spPr>
          <a:xfrm>
            <a:off x="457200" y="235000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Par 50 · dividend 6% of par = 3.00 a year, perpetual · conversion ratio 2.5 · AZURIS common at 18.00 · comparable straight preferreds yield 7.14% · convertible trades at 48.00.</a:t>
            </a:r>
            <a:endParaRPr lang="en-US" sz="1200" dirty="0"/>
          </a:p>
        </p:txBody>
      </p:sp>
      <p:sp>
        <p:nvSpPr>
          <p:cNvPr id="16" name="Text 14"/>
          <p:cNvSpPr txBox="1"/>
          <p:nvPr/>
        </p:nvSpPr>
        <p:spPr>
          <a:xfrm>
            <a:off x="457200" y="2862072"/>
            <a:ext cx="8229600" cy="74066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Bond floor = perpetuity 3.00 / 0.0714 = 42.00. This is the downside if the equity story fails.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Conversion value = 2.5 × 18.00 = 45.00. This is what the shares are worth if converted today.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Intrinsic value = max(42.00, 45.00) = 45.00 — the conversion option is in the money.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Time value = traded 48.00 − intrinsic 45.00 = 3.00, the value of waiting rather than converting.</a:t>
            </a:r>
            <a:endParaRPr lang="en-US" sz="1100" dirty="0"/>
          </a:p>
        </p:txBody>
      </p:sp>
      <p:sp>
        <p:nvSpPr>
          <p:cNvPr id="17" name="Shape 15"/>
          <p:cNvSpPr/>
          <p:nvPr/>
        </p:nvSpPr>
        <p:spPr>
          <a:xfrm>
            <a:off x="411480" y="3675888"/>
            <a:ext cx="8321040" cy="365760"/>
          </a:xfrm>
          <a:prstGeom prst="rect">
            <a:avLst/>
          </a:prstGeom>
          <a:solidFill>
            <a:srgbClr val="E8600A"/>
          </a:solidFill>
          <a:ln/>
        </p:spPr>
      </p:sp>
      <p:sp>
        <p:nvSpPr>
          <p:cNvPr id="18" name="Text 16"/>
          <p:cNvSpPr txBox="1"/>
          <p:nvPr/>
        </p:nvSpPr>
        <p:spPr>
          <a:xfrm>
            <a:off x="457200" y="367588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  48.00 = 45.00 intrinsic + 3.00 time value; 6.00 above the 42.00 floor. Bond below, equity above.</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Private equity comes in three types — venture capital, leveraged buyout and PIPE — with no quoted price, no active secondary market and no mandated disclosure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4, §3 "Private Versus Public Equity Securities", Exhibit 11, pp. 170–172.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Private equity securities are placed with institutions in non-public offerings, so they have no market-determined price, are highly illiquid, and require negotiation to trade at all.</a:t>
            </a:r>
            <a:endParaRPr lang="en-US" sz="1300" dirty="0"/>
          </a:p>
        </p:txBody>
      </p:sp>
      <p:sp>
        <p:nvSpPr>
          <p:cNvPr id="9" name="Shape 7"/>
          <p:cNvSpPr/>
          <p:nvPr/>
        </p:nvSpPr>
        <p:spPr>
          <a:xfrm>
            <a:off x="320040" y="1188720"/>
            <a:ext cx="2743200" cy="3154680"/>
          </a:xfrm>
          <a:prstGeom prst="rect">
            <a:avLst/>
          </a:prstGeom>
          <a:solidFill>
            <a:srgbClr val="F5F7FA"/>
          </a:solidFill>
          <a:ln/>
        </p:spPr>
      </p:sp>
      <p:sp>
        <p:nvSpPr>
          <p:cNvPr id="10" name="Shape 8"/>
          <p:cNvSpPr/>
          <p:nvPr/>
        </p:nvSpPr>
        <p:spPr>
          <a:xfrm>
            <a:off x="320040" y="1188720"/>
            <a:ext cx="73152" cy="3154680"/>
          </a:xfrm>
          <a:prstGeom prst="rect">
            <a:avLst/>
          </a:prstGeom>
          <a:solidFill>
            <a:srgbClr val="1B2A4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VENTURE CAPITAL</a:t>
            </a:r>
            <a:endParaRPr lang="en-US" sz="1100" dirty="0"/>
          </a:p>
        </p:txBody>
      </p:sp>
      <p:sp>
        <p:nvSpPr>
          <p:cNvPr id="12" name="Text 10"/>
          <p:cNvSpPr txBox="1"/>
          <p:nvPr/>
        </p:nvSpPr>
        <p:spPr>
          <a:xfrm>
            <a:off x="457200" y="1508760"/>
            <a:ext cx="2514600" cy="2788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Seed, early-stage or mezzanine capital for companies still building product and growth.</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Exit is typically 3 to 10 years from start-up, via IPO or sale to other investors — and the exit price is the whole return.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Instrument of choice: convertible preference shares, increasingly so as holding periods lengthen.</a:t>
            </a:r>
            <a:endParaRPr lang="en-US" sz="1200" dirty="0"/>
          </a:p>
        </p:txBody>
      </p:sp>
      <p:sp>
        <p:nvSpPr>
          <p:cNvPr id="13" name="Shape 11"/>
          <p:cNvSpPr/>
          <p:nvPr/>
        </p:nvSpPr>
        <p:spPr>
          <a:xfrm>
            <a:off x="3200400" y="1188720"/>
            <a:ext cx="2743200" cy="3154680"/>
          </a:xfrm>
          <a:prstGeom prst="rect">
            <a:avLst/>
          </a:prstGeom>
          <a:solidFill>
            <a:srgbClr val="FEF0E7"/>
          </a:solidFill>
          <a:ln/>
        </p:spPr>
      </p:sp>
      <p:sp>
        <p:nvSpPr>
          <p:cNvPr id="14" name="Shape 12"/>
          <p:cNvSpPr/>
          <p:nvPr/>
        </p:nvSpPr>
        <p:spPr>
          <a:xfrm>
            <a:off x="3200400" y="1188720"/>
            <a:ext cx="73152" cy="3154680"/>
          </a:xfrm>
          <a:prstGeom prst="rect">
            <a:avLst/>
          </a:prstGeom>
          <a:solidFill>
            <a:srgbClr val="E8600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LEVERAGED BUYOUT</a:t>
            </a:r>
            <a:endParaRPr lang="en-US" sz="1100" dirty="0"/>
          </a:p>
        </p:txBody>
      </p:sp>
      <p:sp>
        <p:nvSpPr>
          <p:cNvPr id="16" name="Text 14"/>
          <p:cNvSpPr txBox="1"/>
          <p:nvPr/>
        </p:nvSpPr>
        <p:spPr>
          <a:xfrm>
            <a:off x="3337560" y="1508760"/>
            <a:ext cx="2514600" cy="2788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group uses a large amount of debt to buy all the shares of a listed company; the shares stop trading and the company is taken private. If the buyers are mainly existing management it is an MBO.</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Targets: undervalued assets that can be sold to cut debt, plus high cash flows to service it.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Objective: restructure, then re-list.</a:t>
            </a:r>
            <a:endParaRPr lang="en-US" sz="1200" dirty="0"/>
          </a:p>
        </p:txBody>
      </p:sp>
      <p:sp>
        <p:nvSpPr>
          <p:cNvPr id="17" name="Shape 15"/>
          <p:cNvSpPr/>
          <p:nvPr/>
        </p:nvSpPr>
        <p:spPr>
          <a:xfrm>
            <a:off x="6080760" y="1188720"/>
            <a:ext cx="2743200" cy="3154680"/>
          </a:xfrm>
          <a:prstGeom prst="rect">
            <a:avLst/>
          </a:prstGeom>
          <a:solidFill>
            <a:srgbClr val="F5F7FA"/>
          </a:solidFill>
          <a:ln/>
        </p:spPr>
      </p:sp>
      <p:sp>
        <p:nvSpPr>
          <p:cNvPr id="18" name="Shape 16"/>
          <p:cNvSpPr/>
          <p:nvPr/>
        </p:nvSpPr>
        <p:spPr>
          <a:xfrm>
            <a:off x="6080760" y="1188720"/>
            <a:ext cx="73152" cy="3154680"/>
          </a:xfrm>
          <a:prstGeom prst="rect">
            <a:avLst/>
          </a:prstGeom>
          <a:solidFill>
            <a:srgbClr val="1B2A4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PIPE</a:t>
            </a:r>
            <a:endParaRPr lang="en-US" sz="1100" dirty="0"/>
          </a:p>
        </p:txBody>
      </p:sp>
      <p:sp>
        <p:nvSpPr>
          <p:cNvPr id="20" name="Text 18"/>
          <p:cNvSpPr txBox="1"/>
          <p:nvPr/>
        </p:nvSpPr>
        <p:spPr>
          <a:xfrm>
            <a:off x="6217920" y="1508760"/>
            <a:ext cx="2514600" cy="2788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Private investment in public equity. A listed company needs capital fast and sells a sizeable stake to a private investor or group.</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Triggers: a big expansion opportunity, heavy indebtedness, or a rapid deterioration in operations.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The more urgent the need and the larger the cheque, the deeper the discount to the quoted price.</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Non-domestic equity reaches you three ways — direct, a depository receipt, or a global registered share — and the ADR levels differ on one thing: capital</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4, §4 "Non-Domestic Equity Securities", Exhibits 13–14, pp. 173–178.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depository receipt is created when a bank holds the foreign shares and issues receipts against them, in the local currency, at a stated ratio — so a cross-border trade becomes a local one.</a:t>
            </a:r>
            <a:endParaRPr lang="en-US" sz="13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600200"/>
                <a:gridCol w="2148840"/>
                <a:gridCol w="1828800"/>
                <a:gridCol w="1280160"/>
                <a:gridCol w="16459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Route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Trades 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SEC registration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Raise capital?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Typical investor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Direct investing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Issuer’s home exchange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None extra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Institutional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ADR Level I</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 OTC market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Form F-6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Retail + inst.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ADR Level II</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NYSE / NASDAQ / AMEX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Form F-6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Broad US market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ADR Level III</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NYSE / NASDAQ / AMEX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Forms F-1 and F-6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Yes — public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Broad US market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ADR Rule 144A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Private placement, PORTAL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Yes — private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QIBs only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GDR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London, Luxembourg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 SEC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Non-US inst.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Global registered share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Several exchanges at once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Each market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Global inst.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474720"/>
            <a:ext cx="8503920" cy="868680"/>
          </a:xfrm>
          <a:prstGeom prst="rect">
            <a:avLst/>
          </a:prstGeom>
          <a:solidFill>
            <a:srgbClr val="FEF0E7"/>
          </a:solidFill>
          <a:ln/>
        </p:spPr>
      </p:sp>
      <p:sp>
        <p:nvSpPr>
          <p:cNvPr id="11" name="Shape 8"/>
          <p:cNvSpPr/>
          <p:nvPr/>
        </p:nvSpPr>
        <p:spPr>
          <a:xfrm>
            <a:off x="320040" y="3474720"/>
            <a:ext cx="73152" cy="868680"/>
          </a:xfrm>
          <a:prstGeom prst="rect">
            <a:avLst/>
          </a:prstGeom>
          <a:solidFill>
            <a:srgbClr val="E8600A"/>
          </a:solidFill>
          <a:ln/>
        </p:spPr>
      </p:sp>
      <p:sp>
        <p:nvSpPr>
          <p:cNvPr id="12" name="Text 9"/>
          <p:cNvSpPr txBox="1"/>
          <p:nvPr/>
        </p:nvSpPr>
        <p:spPr>
          <a:xfrm>
            <a:off x="457200" y="35204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SPONSORED VS UNSPONSORED — THE DISTINCTION THAT DECIDES WHO VOTES</a:t>
            </a:r>
            <a:endParaRPr lang="en-US" sz="1100" dirty="0"/>
          </a:p>
        </p:txBody>
      </p:sp>
      <p:sp>
        <p:nvSpPr>
          <p:cNvPr id="13" name="Text 10"/>
          <p:cNvSpPr txBox="1"/>
          <p:nvPr/>
        </p:nvSpPr>
        <p:spPr>
          <a:xfrm>
            <a:off x="457200" y="3794760"/>
            <a:ext cx="8275320" cy="502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Sponsored: the foreign issuer is directly involved in the programme, and holders get the same rights as direct shareholders, including the vote and the dividend. Unsponsored: the depository buys the shares itself and issues receipts through brokers — the DEPOSITORY keeps the voting rights, not you. Sponsored DRs face greater reporting requirements; in the US they must be registered with the SEC. Levels I–III are all sponsored.</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11 — Equity I — Markets, Indices, Efficiency &amp; Security Types</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Three functions, six purposes. Every order carries execution, validity and clearing instructions; market orders TAKE liquidity, limit orders MAKE it.</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Books rank by price, then display, then time. Continuous markets use the discriminatory rule, so an arriving order pays each standing order’s own limit price.</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Leverage ratio = 1 / initial margin. Margin call at P* = P0(1 − m_init)/(1 − m_maint): $20 bought on 40% margin, 25% maintenance, calls at $16.</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An index is five decisions. On a split the price-weighted DIVISOR is rescaled (5.00 → 3.69) to hold the level; the cap-weighted index does not move at all.</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Cap weighting drifts toward momentum; fundamental weighting is a value tilt and a contrarian rebalance; equal weighting under-represents big names and churns.</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Weak ⊂ semi-strong ⊂ strong. Developed markets support the first two and reject the third. Anomalies must survive replication, risk adjustment AND costs.</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Preference shares trade upside for priority. Five bolt-ons: callable (issuer), putable, cumulative, participating, convertible — the last four favour the investor.</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Non-domestic access: direct, ADR I–III and Rule 144A, GDR, GRS. Only Level III and 144A raise new capital; only sponsored DRs carry the vote.</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11 · Equity I — Markets, Indices, Efficiency &amp; Security Types</dc:title>
  <dc:subject>PptxGenJS Presentation</dc:subject>
  <dc:creator>Studio Tonton Gug</dc:creator>
  <cp:lastModifiedBy>Studio Tonton Gug</cp:lastModifiedBy>
  <cp:revision>1</cp:revision>
  <dcterms:created xsi:type="dcterms:W3CDTF">2026-09-02T13:46:00Z</dcterms:created>
  <dcterms:modified xsi:type="dcterms:W3CDTF">2026-09-02T13:46:00Z</dcterms:modified>
</cp:coreProperties>
</file>