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06  ·  WEEK 3  ·  MORNING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FSA I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Framework, IS &amp; BS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financial statements like an analyst — from IFRS 15 revenue to goodwill impairment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4 Learning Modules 1–3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FSA I — Framework, Income Statement &amp; Balance Sheet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FSA framework &amp; reporting standards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1314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5-phase framework · 4 source layers · IFRS vs US GAAP · audit opinion ladder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923898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96961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Income statement — revenue &amp; expense recognition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23003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15 five-step · AtlasBuild long-term contract · principal vs agent · inventory · depreciation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640787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68650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Non-recurring items &amp; EPS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4692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Discontinued ops · basic EPS with weighted shares · if-converted · treasury-stock method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357677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40339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 sheet — classification &amp; measurement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66381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vs non-current · historical · amortized · fair value · IFRS 9 three buckets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074566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120286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Intangibles, goodwill &amp; common-size analysis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438070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dev-phase capitalize · RivieraCorp goodwill · BrightCo vs ShoreInc peer compare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five phases of a financial statement analysis and identify the source layers — statements, notes, MD&amp;A, audit report — that feed each phase.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converged IFRS 15 / ASC 606 five-step revenue-recognition model to a long-term contract and explain how principal-vs-agent classification reshapes reported revenue.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company's reported earnings for non-recurring items and compute both basic and diluted EPS under the if-converted and treasury-stock methods.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balance-sheet items as current vs non-current and identify which measurement basis — historical, amortized, or fair value — applies to each line.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identifiable intangibles from goodwill, capitalize the right development-phase costs under IFRS, and use common-size statements to compare two peers on one axis.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FSA framework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standards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5  ·  Deck 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statement analysis is a disciplined five-phase process that turns raw filings into a defensible investment or credit recommendation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1, Exhibit 1, pp. 5–8.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Phase 1 is the most common analyst error — ratios without a purpose answer no question.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Phase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Input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Output / deliverable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Articulate purpose &amp;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Mandate, client needs, institutional guidelines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Written list of questions to answer; scope, deadline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Collect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Financials, filings, site visits, IR conversations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Raw financial + industry data in usable form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Process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Phase 2 data, analytical tools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Adjusted statements, common-size, ratios, charts, forecasts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Analyze &amp; interpret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Processed data + peer / industry context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Valuations, forecasts, conclusions to support a recommendation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Follow-up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 information, actual vs expected outcomes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Revised forecasts, updated recommendation, repeat as needed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FRAMEWORK MATTERS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forces the analyst to separate fact-gathering from interpretation, and interpretation from recommendation — the same three-step discipline that underpins CFA Standard V(B) on communicating recommendations.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complete analyst file draws on four source layers: the statements themselves, the notes, management's commentary, and the auditor's report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1, pp. 13–20.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answers a different question. The statements give the "what"; the notes give the "how"; MD&amp;A gives the "why"; the audit gives the "can we trust it?"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91440" cy="7132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3657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225296"/>
            <a:ext cx="7863840" cy="32095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statements (BS, IS, CF, equity)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509674"/>
            <a:ext cx="7863840" cy="3922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quantified backbone. Report what was owned, what was earned, and how cash moved. Standardised under IFRS or US GAAP; audited.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1965960"/>
            <a:ext cx="8503920" cy="7132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1965960"/>
            <a:ext cx="91440" cy="7132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1965960"/>
            <a:ext cx="3657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2002536"/>
            <a:ext cx="7863840" cy="32095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Notes &amp; supplementary schedules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286914"/>
            <a:ext cx="7863840" cy="3922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of preparation, accounting policies, segment data, contingencies, related-party transactions. Often account for &gt;60 pages — where the real answers live.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743200"/>
            <a:ext cx="850392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743200"/>
            <a:ext cx="91440" cy="7132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43200"/>
            <a:ext cx="3657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779776"/>
            <a:ext cx="7863840" cy="32095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 Discussion &amp; Analysis (MD&amp;A)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064154"/>
            <a:ext cx="7863840" cy="3922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Management's narrative on results, liquidity, capital resources, critical estimates, known trends. Unaudited — weigh it against the numbers.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520440"/>
            <a:ext cx="8503920" cy="7132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520440"/>
            <a:ext cx="91440" cy="71323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3520440"/>
            <a:ext cx="3657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3557016"/>
            <a:ext cx="7863840" cy="32095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Auditor's report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3841394"/>
            <a:ext cx="7863840" cy="3922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opinion on whether statements fairly present the company's position under the applicable framework. Highlights key audit matters.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IFRS and US GAAP have converged on revenue and leases but still diverge on R&amp;D, LIFO, inventory write-downs, and development costs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Modules 1–3, comparison summary.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is a direction of travel, not a destination. An analyst comparing cross-border peers must isolate the residual differences.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71800"/>
                <a:gridCol w="2971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Area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IFRS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 GAAP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recognition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IFRS 15 — converged 5-step model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ASC 606 — identical 5-step model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Leases (lessee)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IFRS 16 — single on-BS lease liability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ASC 842 — on-BS, but operating vs finance P&amp;L split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— LIFO allowed?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Prohibited — FIFO or weighted-average only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Permitted — widely used for tax benefits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write-downs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Reversible if NRV recovers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Write-downs are permanent — no reversal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R&amp;D — development phase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Capitalize if 6 technical/commercial criteria met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Expense all R&amp;D as incurred (narrow software exception)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Intangibles — revaluation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Cost or revaluation model allowed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Cost model only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03320"/>
            <a:ext cx="8503920" cy="6400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03320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490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PRACTICAL CONSEQUENCE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23360"/>
            <a:ext cx="8275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companies with identical cash flows can report materially different EBITDA, margins, and book value under the two frameworks. Adjust before comparing.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auditor's opinion sits on a four-step ladder from unqualified clean bill through adverse rejection — read the opinion before the numbers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1, pp. 20–23.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other than unqualified is a red flag. Disclaimers in particular mean the auditor could not gather enough evidence to form an opinion.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9768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Opinion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Meaning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Analyst action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Unqualified (clean)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Statements present fairly in all material respects under IFRS/US GAAP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Proceed with standard analysis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Statements fair except for a specific identified issue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Isolate the issue; adjust or exclude the affected 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Adverse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Statements do NOT present fairly — material and pervasive misstatement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Halt model — the numbers cannot be relied upon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Disclaimer of opinion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Auditor could not obtain sufficient evidence to form any opinion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Treat as unaudited — severely downgrade data quality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4160520" cy="1005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37560"/>
            <a:ext cx="73152" cy="1005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8328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INTERNAL-CONTROL OPINION (US SOX)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3931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US issuers, the auditor also opines on effectiveness of internal control over financial reporting under Section 404 of Sarbanes–Oxley. A material weakness flag should be read as seriously as a qualified financial-statement opinion.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3337560"/>
            <a:ext cx="4160520" cy="1005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3337560"/>
            <a:ext cx="73152" cy="10058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338328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AUDIT MATTERS (IFRS)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3657600"/>
            <a:ext cx="393192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ISA 701, auditors highlight matters of most significance — revenue recognition, goodwill impairment, tax provisions. These are a direct map of where management judgment drives the numbers.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Income statement: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&amp; expense recognition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5  ·  Deck 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IFRS 15 and ASC 606 collapse all revenue recognition into a single principles-based five-step model, applied to every contract with a customer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pp. 40–44. IFRS 15 / ASC 606 Core Principle.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 — revenue is recognised to depict the transfer of promised goods or services at an amount that reflects the consideration the entity expects to be entitled to.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Contract  →  Performance obligations  →  Transaction price  →  Allocate price  →  Recognise revenue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Steps 1–2 identify WHAT is promised. Steps 3–4 quantify HOW MUCH. Step 5 determines WHEN.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57400"/>
            <a:ext cx="85039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57400"/>
            <a:ext cx="91440" cy="43891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2057400"/>
            <a:ext cx="3657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2093976"/>
            <a:ext cx="7863840" cy="1975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Identify the contract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2254910"/>
            <a:ext cx="7863840" cy="2414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Enforceable agreement with commercial substance and probable collectability. IFRS "probable" = more likely than not; US GAAP = likely.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514600"/>
            <a:ext cx="8503920" cy="43891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514600"/>
            <a:ext cx="91440" cy="43891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2920" y="2514600"/>
            <a:ext cx="3657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551176"/>
            <a:ext cx="7863840" cy="1975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Identify performance obligations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712110"/>
            <a:ext cx="7863840" cy="2414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Promises to transfer distinct goods or services. A good/service is distinct if the customer can benefit on its own.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971800"/>
            <a:ext cx="85039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" y="2971800"/>
            <a:ext cx="91440" cy="43891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2920" y="2971800"/>
            <a:ext cx="3657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3008376"/>
            <a:ext cx="7863840" cy="1975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Determine the transaction price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3169310"/>
            <a:ext cx="7863840" cy="2414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Consideration the seller expects. Include variable consideration (discounts, rebates) constrained to amount not likely to reverse.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20040" y="3429000"/>
            <a:ext cx="8503920" cy="43891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3429000"/>
            <a:ext cx="91440" cy="43891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2920" y="3429000"/>
            <a:ext cx="3657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3465576"/>
            <a:ext cx="7863840" cy="1975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Allocate to performance obligations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3626510"/>
            <a:ext cx="7863840" cy="2414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transaction price by relative standalone selling prices when a contract has multiple obligations.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0040" y="3886200"/>
            <a:ext cx="85039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320040" y="3886200"/>
            <a:ext cx="91440" cy="43891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02920" y="3886200"/>
            <a:ext cx="36576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68680" y="3922776"/>
            <a:ext cx="7863840" cy="19751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Recognise revenue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68680" y="4083710"/>
            <a:ext cx="7863840" cy="2414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(point in time) or as (over time) control transfers to the customer. Use output or input methods for over-time progress.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Applied to a long-term defense contract, IFRS 15 unlocks percentage-of-completion revenue even when cash lags production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Example 1 "Long-Term Contracts", pp. 43–44.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Over-time recognition applies when the customer controls the asset as it is built, or when the asset has no alternative use and the entity has an enforceable right to payment.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154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ATLASBUILD INC.  ·  USD 10M WEAPONS-SYSTEM CONTRACT  ·  INPUT METHOD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price USD 10.0m. Estimated total cost USD 7.0m → expected profit USD 3.0m. Two-year build. Year 1 actual costs USD 4.2m.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92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contract is enforceable with a government customer — collectability probable ✓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single performance obligation — bespoke weapons system with no alternative use ✓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transaction price = USD 10.0m (no variable consideration)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all of USD 10.0m allocated to the single performance obligation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over time, input method: % complete = 4.2 / 7.0 = 60%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 recognised = 60% × 10.0m = USD 6.0m;  COGS = 4.2m;  Profit = USD 1.8m (= 60% × 3.0m)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1: Revenue 6.0m · COGS 4.2m · Profit 1.8m  ·  cumulative 60% of contract recognised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principal-vs-agent decision changes reported revenue by a factor of 3 without touching a single dollar of cash profit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Example 1 "Principal vs Agent", pp. 42–43.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controls the good before transfer and recognises GROSS revenue. Agent arranges the transfer and recognises only the NET commission.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377440"/>
                <a:gridCol w="23774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Line item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Principal (controls product)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Agent (arranges transfer)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Δ %-points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−70%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sales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identical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operating costs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identical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+70 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+46.7 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57600"/>
            <a:ext cx="8503920" cy="6858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57600"/>
            <a:ext cx="73152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033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ANALYSTS CARE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77640"/>
            <a:ext cx="8275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platforms (marketplaces vs first-party), ride-hailing apps, and digital ad-tech all mix principal and agent sales. Growth rates and margins are not comparable unless the mix is disclosed and tracked over time.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Expense recognition follows one of three rules: match to related revenue, expense as incurred, or capitalize and amortize over useful life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pp. 45–54.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choice is determined by whether the spending consumes a benefit today, in the same period as revenue, or over multiple future periods.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· MATCHING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expense in the same period as the related revenue.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cost of goods sold matched to sales; warranty provision matched to the sale that triggered it.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calls this a "matching concept" rather than principle — a subtle semantic but the mechanic is the same.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· PERIOD — AS INCURRED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as consumed regardless of revenue.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administrative salaries, rent, utilities, advertising, R&amp;D (IFRS research + US GAAP R&amp;D).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when the benefit is consumed in the same period as the outflow with no clear revenue link.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· CAPITALIZE + AMORTIZE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the cost as an asset, then spread recognition over useful life.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PP&amp;E → depreciation; intangibles → amortization; development-phase software (IFRS only).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depreciation method and useful-life estimate become analyst-scrutinised judgements.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cost-flow assumptions (FIFO, weighted-average, LIFO) move COGS and gross margin even when purchase prices are identical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LIFO is permitted under US GAAP (widely used for tax deferral) but prohibited under IFRS — adjust before comparing US and non-US peers.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Weighted-average cost = total cost of units available / total units available. Recomputed with each purchase under a perpetual system.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Example 2, pp. 45–48.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BrightCo purchases 7,600 units in rising-cost lots and sells 5,600. Same cash flows, three different reported gross profits.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34440"/>
          <a:ext cx="8503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1783080"/>
                <a:gridCol w="1783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Measure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FIFO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Weighted-avg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LIFO (US GAAP only)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purchased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purchase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321,600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321,600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321,600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5,600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(5,600 × 50)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280,000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280,000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280,000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231,800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237,053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242,100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48,200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42,947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37,900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Ending inventory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89,800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84,547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79,500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Gross margin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Depreciation method and useful-life estimate are management choices that reshape both the income statement and the balance sheet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"Depreciation and Amortization", pp. 50–54.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BrightCo purchases a USD 1,200 asset with 5-year useful life and zero salvage. Straight-line is smooth; double-declining front-loads expense.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74520"/>
                <a:gridCol w="1874520"/>
                <a:gridCol w="1874520"/>
                <a:gridCol w="1874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Year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SL depreciation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SL net book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DDB depreciation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DDB net book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1,200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USD 1,200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49040"/>
            <a:ext cx="8503920" cy="5943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49040"/>
            <a:ext cx="73152" cy="5943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94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ANALYST TAKE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69080"/>
            <a:ext cx="8275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Accelerated methods depress early-year earnings and ROA but lower tax bills earlier, lifting free cash flow. Total lifetime depreciation (and total lifetime earnings) are identical — it is purely a timing choice.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Non-recurring items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EPS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5  ·  Deck 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Analysts strip out items that will not repeat — discontinued operations, restructuring charges, asset-sale gains — before forecasting future earnings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"Non-Recurring Items", pp. 64–68.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distinct treatments. The key analyst question is always: is this item going to recur?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22860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Item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Treatment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Analyst action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Discontinued operations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Reported NET OF TAX at bottom of IS, below continuing ops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Exclude entirely when forecasting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Unusual or infrequent 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 of continuing ops but presented separately (restructuring, asset-sale gains)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Case-by-case — often excluded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in accounting 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Retrospective application — restate prior periods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Comparable data — use restated numbers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in accounting 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Prospective only — no restatement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Watch for repeated estimate changes = earnings management risk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74720"/>
            <a:ext cx="8503920" cy="868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74720"/>
            <a:ext cx="73152" cy="868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204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REPORTED TO "CORE" EARNINGS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94760"/>
            <a:ext cx="827532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net income − after-tax discontinued ops − unusual one-off gains + unusual one-off charges = core continuing earnings. Most sell-side forecasts apply multiples to this core number, not headline GAAP EPS.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Basic EPS is straightforward division — the only tricky piece is the weighted-average number of shares outstanding over the period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Examples 8–10, pp. 70–72.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change in share count is weighted by the fraction of the year for which the new count was outstanding.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Basic EPS  =  (Net income  −  Preferred dividends)  /  Weighted-avg common shares outstanding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Stock splits and stock dividends are treated as if they occurred at the beginning of the period — retroactive restatement.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ANGLER PRODUCTS  ·  FULL-YEAR 2018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USD 2,500,000. Preferred dividends USD 200,000. Share history below.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outstanding 1 Jan: 1,000,000 → × (3/12) = 250,000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issuance 1 Apr 2018: +200,000, so 1,200,000 × (6/12) = 600,000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 1 Oct 2018: −100,000, so 1,100,000 × (3/12) = 275,000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Weighted-avg shares = 250,000 + 600,000 + 275,000 = 1,125,000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EPS = (2,500,000 − 200,000) / 1,125,000 = USD 2.04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Basic EPS = USD 2.04  (after deducting preferred dividends and weighting each share count by its time outstanding)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Diluted EPS adds back convertible interest (net of tax) and the new shares, then recomputes — the if-converted method for convertible bonds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Example 12, pp. 73–74.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run the antidilutive test: if "diluted" EPS comes out HIGHER than basic, the security is antidilutive and is ignored.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Diluted EPS  =  [ NI  +  (Interest × (1 − t)) ]  /  [ WA shares  +  new shares on conversion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Numerator is adjusted upward (interest saved net of tax); denominator is adjusted upward (new conversion shares). Both directions matter for the final EPS.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NOVASOFT  ·  CONVERTIBLE BOND DILUTION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USD 750,000. WA shares 690,000. USD 50,000 of 6% convertible bonds → 10,000 new shares. Tax rate 30%.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avoided: 50,000 × 6% = USD 3,000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After-tax interest add-back: 3,000 × (1 − 0.30) = USD 2,100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EPS = 750,000 / 690,000 = USD 1.087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EPS = (750,000 + 2,100) / (690,000 + 10,000) = 752,100 / 700,000 = USD 1.074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Antidilutive test: 1.074 &lt; 1.087 ✓ dilutive — include in reported diluted EPS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Basic EPS = USD 1.087  ·  Diluted EPS = USD 1.074  (1.3% dilution)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 options and warrants dilute EPS through the treasury-stock method: new shares issued at strike, cash proceeds assumed used to buy back at market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"Diluted EPS: The Treasury Stock Method", pp. 74–76.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in-the-money options dilute. Out-of-the-money options are ignored (antidilutive by definition — no rational exercise).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 new shares  =  Options  ×  [ (Avg market − Strike)  /  Avg market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Derivation: options issue N shares; cash proceeds (N × strike) buy back (N × strike / market) shares at average market price. Net = N × (1 − strike/market).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HARBORTECH  ·  100,000 OPTIONS AT USD 20 STRIKE  ·  AVG MARKET USD 25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income USD 1,200,000. Weighted-average shares 800,000. No preferred, no convertible debt.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shares issued on exercise: 100,000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proceeds: 100,000 × 20 = USD 2,000,000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 bought back at USD 25 avg market: 2,000,000 / 25 = 80,000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shares added to denominator: 100,000 − 80,000 = 20,000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EPS = 1,200,000 / 800,000 = USD 1.500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EPS = 1,200,000 / (800,000 + 20,000) = USD 1.463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Basic EPS = USD 1.500  ·  Diluted EPS = USD 1.463  (2.4% dilution from in-the-money options)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 sheet: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classification &amp; measurement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5  ·  Deck 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vs non-current classification tells an analyst in one glance whether the company can pay its bills next year or whether capital is locked up for decades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3, pp. 93–96.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current if realised/settled within 12 months OR within the normal operating cycle (whichever is longer). Everything else is non-current.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11480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Current (≤ 12m or operating cycle)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Non-current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Cash &amp; equivalents · marketable securities · A/R · inventory · prepaid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PP&amp;E · intangibles · goodwill · long-term investments · deferred tax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A/P · short-term debt · current portion of LT debt · accrued expenses · taxes payable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Long-term debt · bonds payable · pension obligations · lease liabilities · deferred tax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 (not classified by current/non-current)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 capital · retained earnings · accumulated OCI · treasury stock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063240"/>
            <a:ext cx="8503920" cy="12801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063240"/>
            <a:ext cx="73152" cy="12801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1089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CLASSIFICATION MATTERS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383280"/>
            <a:ext cx="827532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drives the three standard liquidity ratios that any credit committee will run in seconds: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Current ratio = Current assets / Current liabilities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Quick ratio = (Cash + MS + A/R) / Current liabilities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Cash ratio = (Cash + MS) / Current liabilities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Misclassification — e.g. refinanced debt left in current — can distort all three.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every balance-sheet line is measured the same way — historical cost, amortized cost, and fair value coexist on the same page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3, pp. 91–93 and IFRS 13 / ASC 820.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Mixed-attribute model. An analyst must know what each number represents before using it in a ratio or valuation.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HISTORICAL COST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paid when the asset was acquired; not updated for later value changes.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land, PP&amp;E (gross), inventory under FIFO/LIFO/wtd-avg.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Pro: verifiable.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Con: can be decades out of date for long-lived assets.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AMORTIZED COST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recognition amount, minus principal repayments, plus/minus amortisation of discount/premium, minus impairment.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held-to-maturity debt, loans, notes receivable, most long-term debt issued.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Reflects effective interest rate through the life of the instrument.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 VALUE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that would be received to sell an asset (or paid to transfer a liability) in an orderly transaction at the measurement date.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trading securities (FVPL), equity investments, derivatives, investment property (IFRS elect).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/ 2 / 3 hierarchy — disclose inputs.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assets split into three measurement buckets under IFRS 9 — amortized cost, FVOCI, FVPL — each with different P&amp;L sensitivity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3, Exhibit 4, pp. 100–103. IFRS 9 / ASC 825.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depends on (1) the business model objective and (2) whether the contractual cash flows are solely principal and interest (SPPI test).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02336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Bucket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IFRS 9 test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hits P&amp;L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Amortized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Business model = hold to collect + SPPI cash flows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only (realised)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value through OCI (FVOCI)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Business model = hold to collect + sell, SPPI for debt (or equity irrevocable election)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only; fair-value Δ → OCI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value through profit or loss (FVPL)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 remaining — trading, non-SPPI, or FV election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Fair-value Δ hits net income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560320"/>
            <a:ext cx="4160520" cy="17830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560320"/>
            <a:ext cx="73152" cy="1783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 GAAP COMPARABLE CATEGORIES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880360"/>
            <a:ext cx="393192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Held-to-maturity (HTM) ≈ amortized cost.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Available-for-sale (AFS, debt only) ≈ FVOCI.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(debt) and all equity investments ≈ FVPL.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GAAP has no FVOCI election for equity.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2560320"/>
            <a:ext cx="4160520" cy="17830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663440" y="2560320"/>
            <a:ext cx="73152" cy="1783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00600" y="26060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880360"/>
            <a:ext cx="393192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banks holding identical bond portfolios can report very different earnings volatility purely based on bucket choice. The business-model assertion is made at acquisition and is hard to change.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Intangibles, goodwill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common-size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5  ·  Deck 6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Internally developed intangibles are expensed under US GAAP but partially capitalized under IFRS once development-phase criteria are met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IFRS development-phase capitalization requires all six criteria: technical feasibility, intention to complete, ability to use/sell, future economic benefits, adequate resources, reliable cost measurement.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Purchased (acquired) intangibles are capitalized under both IFRS and US GAAP — the divergence concerns only internally developed intangibles.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3, pp. 93–97. IAS 38.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 companies with identical R&amp;D spend but different domiciles can report materially different operating margins and total assets.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4160520" cy="22860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IFRS (IAS 38)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00200"/>
            <a:ext cx="379476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phase  →  expense as incurred.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phase  →  CAPITALIZE as intangible asset once all six criteria met (technical feasibility, intent to complete, ability to use/sell, probable future benefits, adequate resources, reliable measurement).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Amortize over useful life; annual impairment test for indefinite-life intangibles.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22860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22860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 GAAP (ASC 730 / 350)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00200"/>
            <a:ext cx="379476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R&amp;D expensed as incurred, both research and development phases.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exception: internal-use software (ASC 350-40) and software to be sold/licensed (ASC 985-20) once technological feasibility is achieved.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lower reported assets, lower reported earnings early, higher ROA later.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611880"/>
            <a:ext cx="8503920" cy="6858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3611880"/>
            <a:ext cx="73152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6576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ALWAYS EXPENSED UNDER BOTH FRAMEWORKS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31920"/>
            <a:ext cx="8275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generated brands, mastheads, customer lists · start-up costs · training · advertising &amp; promotion · relocation · reorganization · redundancy costs.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Goodwill is the accounting residual when a buyer pays more than the fair value of identifiable net assets — it sits on the balance sheet until an impairment test says otherwise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3, pp. 97–100. IFRS 3 / ASC 805.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goodwill only arises in acquisitions. Economic goodwill — the present value of excess returns — is unmeasured and reflected only in the share price.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Goodwill  =  Purchase price  −  Fair value of identifiable net assets acquired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Identifiable net assets = FV of identifiable tangible + intangible assets − FV of liabilities and contingent liabilities assumed.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RIVIERACORP  ·  ACQUIRES COASTALCO FOR USD 800M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FV identifiable assets USD 600m (PP&amp;E 350 · intangibles 180 · working capital 70). FV liabilities assumed USD 150m.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value of identifiable net assets = 600 − 150 = USD 450m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consideration transferred = USD 800m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Goodwill = 800 − 450 = USD 350m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Goodwill is NOT amortized — tested for impairment at least annually at the CGU (IFRS) or reporting-unit (US GAAP) level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RivieraCorp later writes down the goodwill by USD 200m, that impairment charge hits the income statement as a non-cash expense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Goodwill recognized at acquisition = USD 350m  (43.8% of purchase price)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Common-size income statements strip out scale and reveal the margin architecture of each company on a single percentage-of-revenue axis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2, "Common-Size Analysis of the Income Statement", pp. 85–88.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expressed as % of revenue. BrightCo is a branded consumer-staples peer; ShoreInc is a low-margin distributor — same sector, very different models.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371600"/>
                <a:gridCol w="16459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Line item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BrightCo (USDm)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BrightCo 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ShoreInc (USDm)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ShoreInc 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2,500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2,500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goods sold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(1,100)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(44.0%)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(2,000)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(80.0%)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1,400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56.0%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SG&amp;A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(650)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(26.0%)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(250)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(10.0%)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(150)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(6.0%)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(10)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(0.4%)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11880"/>
            <a:ext cx="8503920" cy="7315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11880"/>
            <a:ext cx="73152" cy="7315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576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PERCENTAGES REVEAL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31920"/>
            <a:ext cx="827532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revenue and similar operating income %, but BrightCo spends 6% on R&amp;D (brand innovation) and 26% on SG&amp;A (marketing) — hallmarks of a branded staples peer. ShoreInc runs a low-margin, high-volume distribution model with minimal overhead.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common-size balance sheet scales every line to total assets and exposes capital structure, inventory intensity, and goodwill concentration at a glance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4, Learning Module 3, Example 1 and Exhibit 12, pp. 111–114.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exercise on the BS — every line as % of total assets. BeaconUtility is capital-intensive; NovaSoft is asset-light and goodwill-heavy from prior acquisitions.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64592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Line item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BeaconUtility 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NovaSoft 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Reading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&amp; marketable securities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NovaSoft self-funds capex from cash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receivable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Similar collection cycles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Services model vs regulated utility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Property, plant &amp;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Capital intensity gap is the whole story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Goodwill + intangibles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NovaSoft is acquisition-built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liabilities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Utility leverage vs software conservatism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Equity cushion 2× at NovaSoft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57600"/>
            <a:ext cx="8503920" cy="6858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57600"/>
            <a:ext cx="73152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033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COMMON-SIZE FIRST, RATIOS SECOND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77640"/>
            <a:ext cx="8275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Common-size statements are the gateway to ratio analysis — they force an analyst to see the shape of the firm before drilling into individual liquidity, solvency, and activity ratios.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6 — FSA I — Framework, Income Statement &amp; Balance Sheet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is a five-phase discipline — articulate purpose, collect, process, interpret, follow up — drawing on four source layers (statements, notes, MD&amp;A, auditor report).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 and US GAAP are converged on revenue (IFRS 15 / ASC 606) and leases but still diverge on LIFO, inventory write-down reversal, R&amp;D capitalization, and intangible revaluation.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under IFRS 15 follows a single five-step model: contract → obligations → price → allocate → recognize. AtlasBuild 60% complete → 6m revenue, 1.8m profit on a 10m/7m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vs agent can change reported revenue by 3× (100 → 30) while leaving net profit unchanged (both 20). Analysts must know the mix before comparing growth rates.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out non-recurring items (discontinued ops, unusual/infrequent, policy changes) before forecasting. Reported EPS is reconciled to "core" EPS for multiples.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EPS weights share counts by time. Diluted EPS adds back convertible interest net of tax (if-converted) and net new option shares (treasury stock) — only when dilutive.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lines live on a mixed-attribute model: historical, amortized, or fair value. IFRS 9 sorts financial assets into amortized cost / FVOCI / FVPL by business model + SPPI test.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developed intangibles: IFRS capitalizes development-phase once 6 criteria met; US GAAP expenses all R&amp;D. Goodwill = price − FV net identifiable; annual impairment test, not amortized.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6 · FSA I — Framework, Income Statement &amp; Balance Sheet</dc:title>
  <dc:subject>PptxGenJS Presentation</dc:subject>
  <dc:creator>Studio Tonton Gug</dc:creator>
  <cp:lastModifiedBy>Studio Tonton Gug</cp:lastModifiedBy>
  <cp:revision>1</cp:revision>
  <dcterms:created xsi:type="dcterms:W3CDTF">2026-04-23T09:29:30Z</dcterms:created>
  <dcterms:modified xsi:type="dcterms:W3CDTF">2026-04-23T09:29:30Z</dcterms:modified>
</cp:coreProperties>
</file>