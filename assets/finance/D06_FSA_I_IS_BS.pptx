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First accounting morning of the course. Set the frame: this is not bookkeeping, it is learning to distrust a number politely.
•  Two hours, five sections. Sections 2 and 3 are where the exam marks are.
•  Say it up front: every worked example today is a real one from the curriculum. Name the exhibit each time.
•  Warn them the balance sheet half is shorter than the income statement half. That reflects the exam, not importance.
•  Calculators out from section 3 (EPS). Not before.
NEXT — Roadmap — thirty seconds,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Show them the shape of the morning so the accounting does not feel like an undifferentiated wall.
•  Sections 1 and 4 are vocabulary. Sections 2, 3 and 5 are where the work is.
•  Point at section 3: EPS is the single most reliably examined thing in this deck.
•  Break after section 3. Tell them now so nobody drifts.
•  Every named company on this page is from the curriculum text — that is deliberate, they can go and look them up.
NEXT — Objectives — read two, summarise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objectives, one per section. This is the marking scheme, not a wish list.
•  Objective 3 is the one that carries the most exam weight. Say so.
•  Objective 1 contains the correction most students need: SIX phases, not five.
•  Objectives 4 and 5 are recognition-and-measurement, not calculation. Different revision technique.
•  Do not read all five aloud.
NEXT — Section 1 — the framework and where the numbers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20 minutes. This is scaffolding — do not overspend, but do not skip it either.
•  The framework and the audit ladder are examinable in their own right.
•  The IFRS/US GAAP table will be referenced all morning. Tell them to dog-ear it.
•  Keep the pace up: no worked examples in this section.
NEXT — Start with the process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Everyone remembers "collect, process, analyse". The two phases either side of that are the ones the exam asks about.
•  Count them out loud: six. Most students carry a five-phase version in their heads.
•  Phase 1: if you could have every ratio instantly, what question would it answer? That is the test.
•  Phase 3 vs Phase 4 — processing produces ratios; ANALYSIS produces forecasts and valuations.
•  Phase 5 is the deliverable. Phase 6 is what makes it a loop rather than a one-off.
•  Land it: the framework is why an analyst is not a spreadsheet.
FROM THE DESK — On a live mandate Phase 1 is written down and signed off, because the scope is the fee. The most expensive mistake juniors make is producing a beautiful model that answers a question nobody asked.
NEXT — Phase 2 says "collect data". From where,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think "financial statements" means the four statements. It means the whole filing, and the interesting part is never on the face of the statements.
•  Run the four questions: what / how / why / can we trust it.
•  Form numbers: 10-K annual US, 20-F non-US, 40-F Canada, 10-Q quarterly, 8-K events, DEF-14A proxy.
•  The 60-pages-of-notes number lands hard. Use it.
•  MD&amp;A is unaudited. Say that twice — it is the layer with the most forward-looking content and the least assurance.
•  Proxy statement: where you find management pay and therefore management incentives.
FROM THE DESK — In diligence the reading order is inverted — notes first, then MD&amp;A, then the face of the statements. The face is what management chose to show you; the notes are what they were required to.
ASK THE ROOM — Where would you look to find out whether a customer concentration risk exists?
NEXT — Two of these layers depend on which rulebook the issuer uses. So which rulebooks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table gets referenced four more times this morning. Make them mark it.
•  Direction matters and students reverse it: LIFO is US-only; write-down REVERSAL is IFRS-only.
•  Development costs: IFRS capitalises, US GAAP expenses. Comes back in section 5.
•  Interest paid is the sneaky one — IFRS gives a choice, so cash from operations is not comparable.
•  Principles vs rules is not a value judgement. It predicts where the judgement calls sit.
•  One line to land: cash flows identical, reported numbers different.
FROM THE DESK — Cross-border comparables are where this bites. Before you put a US and a European peer in the same table you strip LIFO reserves back to FIFO and pull capitalised development costs out of EBITDA — otherwise the multiple is measuring accounting, not business.
NEXT — One more piece of infrastructure: who signs off on all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rungs, and the bottom two should stop a model dead. Most students have never read an audit report — say what it physically looks like.
•  Unqualified is the normal case. Everything else is news.
•  Qualified = one identified problem, ring-fence it. Adverse = the statements are wrong.
•  Disclaimer is the worst: not "we found a problem" but "we could not look".
•  KAM / CAM are a free map of where management judgement lives. Free reading before you model.
•  Reasonable, not absolute, assurance. Audits sample.
FROM THE DESK — In practice the opinion is almost never modified — the signal arrives earlier, as an auditor resignation, a late filing, or a material weakness under SOX 404. By the time you get an adverse opinion the equity has already moved.
ASK THE ROOM — Auditor resigns two weeks before the filing deadline. What is your first assumption?
NEXT — Infrastructure done. Now the income statement — starting with the top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Six slides, 35 minutes. The heart of the morning — revenue timing and expense timing are where reported earnings are actually made.
•  Three worked examples here, all straight from the curriculum. Slow down for them.
•  Recurring theme to plant now: same cash, different reported profit.
•  Do not let the IFRS 15 five steps become a memorised list. Make them apply it once.
NEXT — One model for every contract with a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Before 2018 there were dozens of industry-specific revenue rules. Now there is one. Sell the simplification before you teach the steps.
•  Read the core principle once, slowly. Every step is a servant of that sentence.
•  Steps 1–2 = what. Steps 3–4 = how much. Step 5 = when. That is the whole map.
•  Step 1 hides a real IFRS/US GAAP gap: "probable" means more likely than not vs likely.
•  "Distinct" in step 2 is the workhorse — it decides whether a bundle is one sale or three.
•  Control, not risk-and-reward, is the trigger in step 5. That changed in 2018.
FROM THE DESK — Step 3 is where the aggressive accounting lives. Variable consideration — rebates, volume discounts, earn-outs — is estimated, and the constraint ("only to the extent it will not reverse") is a judgement call that shows up as a restatement two years later.
NEXT — Now run all five steps on one contract that spans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percentage is easy. The lesson is Year 2: over-time revenue is built on an ESTIMATE, and estimates move.
•  Do Year 1 on the board with them. 4.2 / 7.0 — let them say 60%.
•  Stress that revenue is 60% of the PRICE, not 60% of the cost. Common slip.
•  Then drop the Year 2 cost overrun. Ask what happens to the 1.8m already booked.
•  Answer: nothing is restated — the shortfall lands entirely in Year 2. Profit 0.7m, not 1.2m.
•  Land it: a cost-to-cost model makes the final year absorb every estimation error.
FROM THE DESK — This is why defence and E&amp;C names get valued on backlog margin, not reported margin. A percentage-of-completion book can show a clean margin for three years and take the whole hit in year four — the tell is the ratio of contract assets to revenue creeping up.
ASK THE ROOM — If costs came in UNDER estimate in year 2 instead, what happens to the reported margin?
NEXT — Same standard, different question: is the revenue even yours to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transaction, one economic outcome, two completely different income statements. This is the cleanest demonstration all morning that revenue is a choice of presentation.
•  Cover the right column first. Ask them which company they would rather own.
•  Reveal: same company, same sale, same USD 20 of profit.
•  Net margin 20% vs 67%, gross margin 30% vs 100% — and the cash is identical.
•  The test is CONTROL before transfer: pricing power, inventory risk, fulfilment responsibility.
•  Land it: never compare margins across marketplaces without knowing the mix.
FROM THE DESK — A shift from principal to agent shows up as a revenue decline and a margin expansion at the same time — which reads like a disaster and a triumph in the same print. Half the "growth deceleration" stories in e-commerce are this and nothing else.
NEXT — That is the top line. Now the costs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models, and the third one is the only one management can really play with. Set that up here so the next two slides land.
•  Matching: the cost follows the sale, not the payment. COGS is the example.
•  Period costs: no revenue link, so no waiting. Salaries, rent, advertising, research.
•  Capitalise-and-amortise: same money, spread over years — and it leaves operating cash flow.
•  Flag column 3 as the one that comes back twice today: Kahn, then CAP vs NOW.
•  Do not spend more than four minutes here.
FROM THE DESK — The capitalisation line is the single most common place for quiet earnings management. Watch capex growing faster than revenue with depreciation flat — that is deferred expense, and it always arrives eventually.
NEXT — Matching, made concrete. Kahn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curriculum only asks for the first column. The other two are there to show that "cost of goods sold" is an assumption, not a fact.
•  Start with the identity: purchases = COGS + ending inventory. 321,600 every time.
•  Specific ID here happens to equal FIFO because the unsold units are the newest ones.
•  Weighted average: one number, 42.32, applied to everything. Show the division.
•  LIFO expenses the most recent — highest — costs, so in a rising market COGS is highest.
•  Punchline: USD 48,200 vs USD 38,400 of gross profit. Same trucks, same cash, same year.
FROM THE DESK — For a US filer on LIFO, the LIFO reserve in the notes is the adjustment you actually make — add it back to inventory and to equity before you compare with an IFRS peer. Analysts who skip it systematically understate US book values.
NEXT — Same idea one layer up: should the cost be an expense at all, or an asset?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most important table in the section. Identical companies, identical cash, and a growth story that is entirely manufactured by an accounting choice.
•  Cover the NOW columns. Ask them to describe NOW from Y1 to Y2: 70 to 700, tenfold growth.
•  Reveal: the businesses are identical. The growth is the EUR 900 washing out.
•  Year 1 CAP looks better — ROE 39% vs 7%. Years 2 and 3 it looks worse.
•  Sum the net income column: 1,470 both ways. Nothing was created.
•  Cash from operations: 790 vs 70. Capitalising moves the outflow to investing. Say it twice.
FROM THE DESK — This is why the EBITDA-minus-capex discipline exists. A company that capitalises aggressively prints beautiful operating cash flow, so you compare capex to depreciation: capex running persistently above depreciation with flat revenue is deferred expense, not investment.
ASK THE ROOM — If NOW keeps buying an identical machine every year, when do the two income statements converge?
NEXT — Costs done. Now which parts of the earnings number you should actually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30 minutes, and the highest exam density in the deck. Calculators out.
•  Three EPS calculations, all real curriculum examples. Do every one on the board.
•  The antidilution check is the single most-missed point at Level I. Flag it early.
•  Break after this section.
NEXT — First: what to throw away before you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whole discipline of "adjusted earnings" starts here — and so does the abuse of it.
•  Policy vs estimate is the exam question. Policy = retrospective. Estimate = prospective.
•  Mnemonic: you restate a POLICY because everyone must be able to compare; you never restate an ESTIMATE because nobody knew better at the time.
•  Discontinued ops are already net of tax and already below the line. Easy exclusion.
•  Unusual items are the judgement call — restructuring "every year" is not unusual.
•  Scope and FX are not required disclosures. That is why organic growth is a negotiation.
FROM THE DESK — A company that reports a restructuring charge every single year has a cost base, not a one-off. The screen worth running is cumulative "exceptional" charges over five years against cumulative reported net income — above 20% and management is normalising away its own business.
ASK THE ROOM — Useful life of the fleet goes from 8 years to 12. Policy or estimate?
NEXT — Now the denominator. 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Nobody gets the division wrong. They get the denominator wrong, and always the same way.
•  Draw the timeline on the board: Jan / Apr / Oct / Dec. Three segments, three weights.
•  Weight is the fraction of the year the count was outstanding — 3/12, 6/12, 3/12.
•  Point at the answer bar: closing count 1,100,000 but weighted average 1,125,000. That gap is the whole lesson.
•  Preferred dividends leave the numerator. Common dividends never do.
•  Then the footnote: a split is retroactive to 1 January, however late in the year it happens.
FROM THE DESK — Buybacks late in the year barely move EPS — a December repurchase gets a weight of about one-twelfth. Management knows this, which is why the buyback-driven "EPS beat" is usually about the prior year's programme, not this one's.
NEXT — That is basic. Now what happens when the company has securities that could become shares.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Students remember to add the shares and forget to add the interest. Make the numerator adjustment the thing they leave with.
•  Ask why the numerator changes at all. Answer: if it were equity, no interest would have been paid.
•  Net of tax, because the interest was deductible. 3,000 × 0.70 = 2,100.
•  Denominator: the conversion shares, at the terms in the indenture.
•  Compute both. 1.09 vs 1.07 — it is dilutive, so it goes in.
•  Preferred version in the footnote: same machinery, dividend instead of interest, no tax adjustment.
•  Then the antidilution check. Diluted can never exceed basic — if your arithmetic says it does, you exclude the security.
FROM THE DESK — Diluted EPS still understates the real claim on a business with a heavy convertible stack, because it ignores the cash the company will have to find to settle in cash rather than shares. Credit analysts model the convert as debt until it converts, not as an EPS footnote.
NEXT — Convertibles use if-converted. Options use something else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method sounds artificial until you say what it is modelling: the company gets real cash on exercise, and that cash has value.
•  Walk the long route once — issue 30,000, collect 1,050,000, buy back 19,091, net 10,909.
•  Then show the shortcut: 30,000 × (1 − 35/55). Same number, ten seconds.
•  AVERAGE market price for the period, not the year-end price. Common slip.
•  Numerator does not move. Say it explicitly — this is the difference from if-converted.
•  Out-of-the-money options: strike above market, formula goes negative, so ignore them.
FROM THE DESK — Treasury stock flatters reality in a bull market: it assumes the company actually spends the exercise proceeds on buybacks, which most do not. For a heavily option-compensated business, look at total shares outstanding year on year — that is the real dilution, and it is usually worse than the diluted count implies.
NEXT — Income statement closed. Break, then the balance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slides, 20 minutes. Conceptual, not computational — recognition and measurement, not arithmetic.
•  The theme: a balance sheet is not one measurement. It is three, on one page.
•  IFRS 9 buckets are examinable. The rest is vocabulary — keep moving.
•  Energy back up after the break: this section is where attention dips.
NEXT — Start with the split that makes every liquidity ratio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classification looks like bookkeeping trivia. It is actually the input to every ratio a credit committee runs in the first ninety seconds.
•  The test: twelve months OR the operating cycle, whichever is LONGER. Shipbuilders and distillers live off that.
•  Equity is not split. Students try to. Kill it early.
•  Three liquidity ratios, increasingly strict: current, quick, cash. Inventory drops out first, then receivables.
•  Four solvency ratios, all leverage in different clothes.
•  SAP numbers are real and they all moved the same way — use them to show a trend read, not a point read.
FROM THE DESK — The current ratio is trivially manageable at a period end — pay down a revolver on 30 December, draw it again on 2 January. Which is why credit work looks at the average balance and at the maturity wall, not at the balance-sheet-date snapshot.
NEXT — Those ratios assume the numbers are comparable. They are not — because they are not measured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one idea: the mixed-attribute model. Total assets is a sum of numbers that answer different questions, so it is not a value.
•  Give each column its question: what did we pay / what is still owed / what is it worth.
•  Historical cost is why book value understates asset-heavy old companies. Land especially.
•  Amortised cost is a bond concept — carry it forward, do not remark it.
•  Fair value: the Level 1/2/3 hierarchy is the disclosure that tells you how much of it is a model.
•  Land it: never treat total assets as an economic value. It is an accounting artefact.
FROM THE DESK — Level 3 as a share of total fair-value assets is the number a rating committee reads first on a financial institution. Level 3 is marked to model, which means marked to management — and it is the last thing to fall in a crisis, on paper.
NEXT — For financial assets specifically, IFRS 9 turns that choice into three named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Do not teach the buckets as definitions. Teach them with the Exhibit 5 numbers — same bond, three different profits.
•  Two tests: business model, then SPPI. Both must pass for amortized cost.
•  Go straight to the right-hand box. Same EUR 100m bond, P&amp;L of 2.5m, 2.5m, 4.5m.
•  The 2.0m gain either disappears (amortized), sits in OCI (FVOCI), or hits income (FVPL).
•  US GAAP: AFS is debt only. All equity goes through P&amp;L. That is the exam distinction.
•  The classification is made at acquisition and is hard to change. Not a quarterly lever.
FROM THE DESK — This is exactly what the 2023 US regional bank episode was about — enormous unrealised losses sitting quietly in held-to-maturity at amortized cost, invisible in earnings and in capital, until a deposit run forced the sale that realised them.
NEXT — Last section — the assets with no physical substance, and how to compare any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slides, 25 minutes. Ends on common-size, which is the bridge into the ratio deck.
•  Intangibles and goodwill are where the IFRS/US GAAP gap has the biggest balance-sheet effect.
•  Two real common-size exhibits to close — Companies A/B/C, then Apple vs Microsoft.
•  Leave five minutes for takeaways. Do not run over.
NEXT — Start with the R&amp;D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Same laboratory, same euros, and one framework builds an asset while the other builds nothing.
•  The line between research and development is "are we still looking, or are we now building?"
•  Alpha Project 1 vs Project 2 makes it concrete. Read the two descriptions aloud.
•  Watch the administrative personnel trap: 5% attributable to each project, still not capitalised.
•  Third column matters — brands, training and advertising are expensed everywhere, always.
•  Consequence: an IFRS filer shows higher assets, higher early margin, and lower later ROA.
FROM THE DESK — In a software or pharma comp set this is the first normalisation you make: either capitalise everyone's R&amp;D on a common life or expense everyone's. Leaving it as reported means your EV/EBITDA is ranking accounting regimes rather than businesses.
NEXT — Identifiable intangibles have names. The residual has one too — goodwill.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Goodwill is not an asset in any ordinary sense. It is the price of a decision, parked on the balance sheet until somebody admits it was wrong.
•  Walk the three steps: cost, fair value of net identifiable assets, residual.
•  Emphasise net — liabilities assumed come off before the subtraction. Classic error.
•  Bargain purchase: negative goodwill is a gain in P&amp;L, not a negative asset.
•  Then Safeway: 82.6% of the goodwill gone in one quarter, 11.3% of total assets.
•  Note what an impairment does to ratios: assets fall, so ROA can RISE afterwards.
•  Land it: an impairment is management marking its own past M&amp;A to market, late.
FROM THE DESK — A rating committee treats a goodwill write-off as information, not as an event — it is non-cash and covenants usually exclude it, but it is the clearest admission you will get that the synergy case did not land. What actually moves the rating is the leverage that funded the deal.
ASK THE ROOM — A company impairs half its goodwill. What happens to return on assets next year, and why is that not good news?
NEXT — Last tool of the morning, and it works on both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lessons from one exhibit: percentages remove size, and then they expose strategy. Do them in that order.
•  Cover the percentage columns. Ask who is the best business. They will say A, then B.
•  Reveal C: one fifth the size, exactly the same shape, and a HIGHER operating margin than B.
•  Per USD 100 of sales, C makes USD 5 more operating profit than B. That is the whole point.
•  Then A vs B: 70% gross margin against 25%. Why? Look down — R&amp;D and advertising.
•  B is buying volume with price; A is buying margin with brand and technology.
•  Tax is the exception: compare it to pre-tax income, not to sales.
FROM THE DESK — The first thing anyone does with a target's P&amp;L is common-size it against three comparables, because that is what turns a number into a question. A gross margin 800bps above the peer set is either a moat or an accounting policy, and diligence exists to work out which.
NEXT — Same tool, balance sheet, real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Real balance sheets, one axis, and the business model falls out of the page. This is the payoff slide for the whole morning.
•  Both hold enormous liquidity — but Apple's is LONG-dated, 51.9% in long-term securities.
•  Apple receivables 4.8% vs Microsoft 8.2%: retail and direct sales, collected in cash.
•  Goodwill 1.5% vs 14.6% — that one row is Apple building versus Microsoft buying.
•  Microsoft deferred revenue 14.1% of assets: the subscription book, prepaid by customers.
•  Inventory is near zero for both — Apple uses contract manufacturers, so it may be understated.
•  Close it: total liabilities 64.3% vs 70.0%. Leverage is NOT the difference. Strategy is.
FROM THE DESK — Deferred revenue is the most under-read line on a software balance sheet: it is a liability that costs nothing and gets settled in product, so it is negative working capital and a forward order book at the same time. Growth in it usually leads reported revenue by a couple of quarters.
NEXT — Takeaways, and then we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lines. Do not read them — pick the three they will actually be tested on and say why.
•  Correct the count out loud one last time: SIX phases.
•  Point at the EPS line. That is the highest-yield sentence on the page.
•  Remind them every named company here is in the curriculum text — go and read the originals.
•  The through-line for the whole morning: same cash, different reported profit. Say it once more.
•  Next session picks up cash flow statements, inventory and long-lived assets.
NEXT — Stop here. Questions in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06  ·  WEEK 3  ·  MORNING 2</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FSA I</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Framework, IS &amp; BS</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Reading financial statements like an analyst — from IFRS 15 revenue to goodwill impairment</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4 Learning Modules 1–3</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FSA I — Framework, Income Statement &amp; Balance Sheet</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5 sections · ~2 hours · Built bottom-up from CFA readings</a:t>
            </a:r>
            <a:endParaRPr lang="en-US" sz="1300" dirty="0"/>
          </a:p>
        </p:txBody>
      </p:sp>
      <p:sp>
        <p:nvSpPr>
          <p:cNvPr id="8" name="Shape 6"/>
          <p:cNvSpPr/>
          <p:nvPr/>
        </p:nvSpPr>
        <p:spPr>
          <a:xfrm>
            <a:off x="320040" y="1207008"/>
            <a:ext cx="8503920" cy="680314"/>
          </a:xfrm>
          <a:prstGeom prst="rect">
            <a:avLst/>
          </a:prstGeom>
          <a:solidFill>
            <a:srgbClr val="FFFFFF"/>
          </a:solidFill>
          <a:ln/>
        </p:spPr>
      </p:sp>
      <p:sp>
        <p:nvSpPr>
          <p:cNvPr id="9" name="Shape 7"/>
          <p:cNvSpPr/>
          <p:nvPr/>
        </p:nvSpPr>
        <p:spPr>
          <a:xfrm>
            <a:off x="320040" y="1207008"/>
            <a:ext cx="594360" cy="680314"/>
          </a:xfrm>
          <a:prstGeom prst="rect">
            <a:avLst/>
          </a:prstGeom>
          <a:solidFill>
            <a:srgbClr val="1B2A4A"/>
          </a:solidFill>
          <a:ln/>
        </p:spPr>
      </p:sp>
      <p:sp>
        <p:nvSpPr>
          <p:cNvPr id="10" name="Text 8"/>
          <p:cNvSpPr txBox="1"/>
          <p:nvPr/>
        </p:nvSpPr>
        <p:spPr>
          <a:xfrm>
            <a:off x="320040" y="120700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FSA framework &amp; reporting standards</a:t>
            </a:r>
            <a:endParaRPr lang="en-US" sz="1200" dirty="0"/>
          </a:p>
        </p:txBody>
      </p:sp>
      <p:sp>
        <p:nvSpPr>
          <p:cNvPr id="12" name="Text 10"/>
          <p:cNvSpPr txBox="1"/>
          <p:nvPr/>
        </p:nvSpPr>
        <p:spPr>
          <a:xfrm>
            <a:off x="1024128" y="151314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Six-phase framework · four regulated source layers · IFRS vs US GAAP · the audit opinion ladder</a:t>
            </a:r>
            <a:endParaRPr lang="en-US" sz="1100" dirty="0"/>
          </a:p>
        </p:txBody>
      </p:sp>
      <p:sp>
        <p:nvSpPr>
          <p:cNvPr id="13" name="Shape 11"/>
          <p:cNvSpPr/>
          <p:nvPr/>
        </p:nvSpPr>
        <p:spPr>
          <a:xfrm>
            <a:off x="320040" y="1923898"/>
            <a:ext cx="8503920" cy="680314"/>
          </a:xfrm>
          <a:prstGeom prst="rect">
            <a:avLst/>
          </a:prstGeom>
          <a:solidFill>
            <a:srgbClr val="F5F7FA"/>
          </a:solidFill>
          <a:ln/>
        </p:spPr>
      </p:sp>
      <p:sp>
        <p:nvSpPr>
          <p:cNvPr id="14" name="Shape 12"/>
          <p:cNvSpPr/>
          <p:nvPr/>
        </p:nvSpPr>
        <p:spPr>
          <a:xfrm>
            <a:off x="320040" y="1923898"/>
            <a:ext cx="594360" cy="680314"/>
          </a:xfrm>
          <a:prstGeom prst="rect">
            <a:avLst/>
          </a:prstGeom>
          <a:solidFill>
            <a:srgbClr val="1B2A4A"/>
          </a:solidFill>
          <a:ln/>
        </p:spPr>
      </p:sp>
      <p:sp>
        <p:nvSpPr>
          <p:cNvPr id="15" name="Text 13"/>
          <p:cNvSpPr txBox="1"/>
          <p:nvPr/>
        </p:nvSpPr>
        <p:spPr>
          <a:xfrm>
            <a:off x="320040" y="1923898"/>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1969618"/>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Income statement — revenue &amp; expense recognition</a:t>
            </a:r>
            <a:endParaRPr lang="en-US" sz="1200" dirty="0"/>
          </a:p>
        </p:txBody>
      </p:sp>
      <p:sp>
        <p:nvSpPr>
          <p:cNvPr id="17" name="Text 15"/>
          <p:cNvSpPr txBox="1"/>
          <p:nvPr/>
        </p:nvSpPr>
        <p:spPr>
          <a:xfrm>
            <a:off x="1024128" y="2230039"/>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IFRS 15 five steps · Armored Vehicles long-term contract · MegaDigital principal vs agent · Kahn inventory · CAP vs NOW</a:t>
            </a:r>
            <a:endParaRPr lang="en-US" sz="1100" dirty="0"/>
          </a:p>
        </p:txBody>
      </p:sp>
      <p:sp>
        <p:nvSpPr>
          <p:cNvPr id="18" name="Shape 16"/>
          <p:cNvSpPr/>
          <p:nvPr/>
        </p:nvSpPr>
        <p:spPr>
          <a:xfrm>
            <a:off x="320040" y="2640787"/>
            <a:ext cx="8503920" cy="680314"/>
          </a:xfrm>
          <a:prstGeom prst="rect">
            <a:avLst/>
          </a:prstGeom>
          <a:solidFill>
            <a:srgbClr val="FFFFFF"/>
          </a:solidFill>
          <a:ln/>
        </p:spPr>
      </p:sp>
      <p:sp>
        <p:nvSpPr>
          <p:cNvPr id="19" name="Shape 17"/>
          <p:cNvSpPr/>
          <p:nvPr/>
        </p:nvSpPr>
        <p:spPr>
          <a:xfrm>
            <a:off x="320040" y="2640787"/>
            <a:ext cx="594360" cy="680314"/>
          </a:xfrm>
          <a:prstGeom prst="rect">
            <a:avLst/>
          </a:prstGeom>
          <a:solidFill>
            <a:srgbClr val="1B2A4A"/>
          </a:solidFill>
          <a:ln/>
        </p:spPr>
      </p:sp>
      <p:sp>
        <p:nvSpPr>
          <p:cNvPr id="20" name="Text 18"/>
          <p:cNvSpPr txBox="1"/>
          <p:nvPr/>
        </p:nvSpPr>
        <p:spPr>
          <a:xfrm>
            <a:off x="320040" y="264078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268650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Non-recurring items &amp; EPS</a:t>
            </a:r>
            <a:endParaRPr lang="en-US" sz="1200" dirty="0"/>
          </a:p>
        </p:txBody>
      </p:sp>
      <p:sp>
        <p:nvSpPr>
          <p:cNvPr id="22" name="Text 20"/>
          <p:cNvSpPr txBox="1"/>
          <p:nvPr/>
        </p:nvSpPr>
        <p:spPr>
          <a:xfrm>
            <a:off x="1024128" y="294692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Discontinued ops · Angler weighted shares · Oppnox if-converted · Hihotech treasury stock</a:t>
            </a:r>
            <a:endParaRPr lang="en-US" sz="1100" dirty="0"/>
          </a:p>
        </p:txBody>
      </p:sp>
      <p:sp>
        <p:nvSpPr>
          <p:cNvPr id="23" name="Shape 21"/>
          <p:cNvSpPr/>
          <p:nvPr/>
        </p:nvSpPr>
        <p:spPr>
          <a:xfrm>
            <a:off x="320040" y="3357677"/>
            <a:ext cx="8503920" cy="680314"/>
          </a:xfrm>
          <a:prstGeom prst="rect">
            <a:avLst/>
          </a:prstGeom>
          <a:solidFill>
            <a:srgbClr val="F5F7FA"/>
          </a:solidFill>
          <a:ln/>
        </p:spPr>
      </p:sp>
      <p:sp>
        <p:nvSpPr>
          <p:cNvPr id="24" name="Shape 22"/>
          <p:cNvSpPr/>
          <p:nvPr/>
        </p:nvSpPr>
        <p:spPr>
          <a:xfrm>
            <a:off x="320040" y="3357677"/>
            <a:ext cx="594360" cy="680314"/>
          </a:xfrm>
          <a:prstGeom prst="rect">
            <a:avLst/>
          </a:prstGeom>
          <a:solidFill>
            <a:srgbClr val="1B2A4A"/>
          </a:solidFill>
          <a:ln/>
        </p:spPr>
      </p:sp>
      <p:sp>
        <p:nvSpPr>
          <p:cNvPr id="25" name="Text 23"/>
          <p:cNvSpPr txBox="1"/>
          <p:nvPr/>
        </p:nvSpPr>
        <p:spPr>
          <a:xfrm>
            <a:off x="320040" y="3357677"/>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403397"/>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Balance sheet — classification &amp; measurement</a:t>
            </a:r>
            <a:endParaRPr lang="en-US" sz="1200" dirty="0"/>
          </a:p>
        </p:txBody>
      </p:sp>
      <p:sp>
        <p:nvSpPr>
          <p:cNvPr id="27" name="Text 25"/>
          <p:cNvSpPr txBox="1"/>
          <p:nvPr/>
        </p:nvSpPr>
        <p:spPr>
          <a:xfrm>
            <a:off x="1024128" y="366381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Current vs non-current · historical, amortized, fair value · IFRS 9 three buckets · Exhibit 13 ratios</a:t>
            </a:r>
            <a:endParaRPr lang="en-US" sz="1100" dirty="0"/>
          </a:p>
        </p:txBody>
      </p:sp>
      <p:sp>
        <p:nvSpPr>
          <p:cNvPr id="28" name="Shape 26"/>
          <p:cNvSpPr/>
          <p:nvPr/>
        </p:nvSpPr>
        <p:spPr>
          <a:xfrm>
            <a:off x="320040" y="4074566"/>
            <a:ext cx="8503920" cy="680314"/>
          </a:xfrm>
          <a:prstGeom prst="rect">
            <a:avLst/>
          </a:prstGeom>
          <a:solidFill>
            <a:srgbClr val="FFFFFF"/>
          </a:solidFill>
          <a:ln/>
        </p:spPr>
      </p:sp>
      <p:sp>
        <p:nvSpPr>
          <p:cNvPr id="29" name="Shape 27"/>
          <p:cNvSpPr/>
          <p:nvPr/>
        </p:nvSpPr>
        <p:spPr>
          <a:xfrm>
            <a:off x="320040" y="4074566"/>
            <a:ext cx="594360" cy="680314"/>
          </a:xfrm>
          <a:prstGeom prst="rect">
            <a:avLst/>
          </a:prstGeom>
          <a:solidFill>
            <a:srgbClr val="1B2A4A"/>
          </a:solidFill>
          <a:ln/>
        </p:spPr>
      </p:sp>
      <p:sp>
        <p:nvSpPr>
          <p:cNvPr id="30" name="Text 28"/>
          <p:cNvSpPr txBox="1"/>
          <p:nvPr/>
        </p:nvSpPr>
        <p:spPr>
          <a:xfrm>
            <a:off x="320040" y="4074566"/>
            <a:ext cx="594360" cy="680314"/>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05</a:t>
            </a:r>
            <a:endParaRPr lang="en-US" sz="1300" dirty="0"/>
          </a:p>
        </p:txBody>
      </p:sp>
      <p:sp>
        <p:nvSpPr>
          <p:cNvPr id="31" name="Text 29"/>
          <p:cNvSpPr txBox="1"/>
          <p:nvPr/>
        </p:nvSpPr>
        <p:spPr>
          <a:xfrm>
            <a:off x="1024128" y="4120286"/>
            <a:ext cx="7726680" cy="30614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Intangibles, goodwill &amp; common-size analysis</a:t>
            </a:r>
            <a:endParaRPr lang="en-US" sz="1200" dirty="0"/>
          </a:p>
        </p:txBody>
      </p:sp>
      <p:sp>
        <p:nvSpPr>
          <p:cNvPr id="32" name="Text 30"/>
          <p:cNvSpPr txBox="1"/>
          <p:nvPr/>
        </p:nvSpPr>
        <p:spPr>
          <a:xfrm>
            <a:off x="1024128" y="4380708"/>
            <a:ext cx="7726680" cy="374172"/>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Alpha Inc. development costs · Safeway impairment · Companies A/B/C · Apple vs Microsoft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Walk through the six phases of a financial statement analysis and identify the four regulated source layers — filings, notes, MD&amp;A, audit report — that feed each phase.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Apply the converged IFRS 15 / ASC 606 five-step revenue-recognition model to a long-term contract and explain how principal-vs-agent classification reshapes reported revenue.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Adjust reported earnings for non-recurring items and compute basic and diluted EPS under the if-converted and treasury-stock methods, including the antidilution check.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Identify which measurement basis — historical cost, amortized cost, or fair value — applies to a balance-sheet line, and sort financial assets into the three IFRS 9 buckets.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Distinguish identifiable intangibles from goodwill, capitalize the right development-phase costs under IFRS, and read a common-size statement of either kind.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FSA framework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reporting standards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5  ·  Deck 6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Financial statement analysis is a disciplined six-phase process that ends with a communicated recommendation, not with a ratio</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 Exhibit 1 "Financial Statement Analysis Framework", p. 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Phase 1 is the one students skip; Phase 5 is the one they forget exists. Ratios without a question answer nothing, and analysis never communicated is not analysis.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788920"/>
                <a:gridCol w="2880360"/>
                <a:gridCol w="28346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Phase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Sources of information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Output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 · Articulate purpose &amp; context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Mandate, client need, guidelines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Questions to answer; timetable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2 · Collect data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Filings, IR calls, site visits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Usable data; questionnaires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3 · Process data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phase-2 data, plus tools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Adjusted stmts, ratios, charts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4 · Analyze and interpret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Raw plus processed data</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Results, forecasts, valuations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 · Conclude and communicate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Results plus prior reports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The report and the call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 · Follow-up</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Actual vs expected; new facts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Revised forecasts and rating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429000"/>
            <a:ext cx="8503920" cy="868680"/>
          </a:xfrm>
          <a:prstGeom prst="rect">
            <a:avLst/>
          </a:prstGeom>
          <a:solidFill>
            <a:srgbClr val="FEF0E7"/>
          </a:solidFill>
          <a:ln/>
        </p:spPr>
      </p:sp>
      <p:sp>
        <p:nvSpPr>
          <p:cNvPr id="11" name="Shape 8"/>
          <p:cNvSpPr/>
          <p:nvPr/>
        </p:nvSpPr>
        <p:spPr>
          <a:xfrm>
            <a:off x="320040" y="3429000"/>
            <a:ext cx="73152" cy="868680"/>
          </a:xfrm>
          <a:prstGeom prst="rect">
            <a:avLst/>
          </a:prstGeom>
          <a:solidFill>
            <a:srgbClr val="E8600A"/>
          </a:solidFill>
          <a:ln/>
        </p:spPr>
      </p:sp>
      <p:sp>
        <p:nvSpPr>
          <p:cNvPr id="12" name="Text 9"/>
          <p:cNvSpPr txBox="1"/>
          <p:nvPr/>
        </p:nvSpPr>
        <p:spPr>
          <a:xfrm>
            <a:off x="457200" y="34747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THE FRAMEWORK IS EXAMINABLE</a:t>
            </a:r>
            <a:endParaRPr lang="en-US" sz="1100" dirty="0"/>
          </a:p>
        </p:txBody>
      </p:sp>
      <p:sp>
        <p:nvSpPr>
          <p:cNvPr id="13" name="Text 10"/>
          <p:cNvSpPr txBox="1"/>
          <p:nvPr/>
        </p:nvSpPr>
        <p:spPr>
          <a:xfrm>
            <a:off x="457200" y="3749040"/>
            <a:ext cx="8275320" cy="502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It separates fact-gathering from interpretation, and interpretation from recommendation. Note where forecasts and valuations actually live: Phase 4, not Phase 3. Phase 3 only reshapes the data — common-size statements, ratios, charts. Confusing the two is the classic exam trap.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complete analyst file draws on four regulated layers: the filings, the notes, management's commentary, and the auditor's report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 "Regulated Sources of Information", pp. 13–26.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layer answers a different question. The statements give the "what"; the notes give the "how"; MD&amp;A gives the "why"; the audit gives the "can we trust it?"</a:t>
            </a:r>
            <a:endParaRPr lang="en-US" sz="1300" dirty="0"/>
          </a:p>
        </p:txBody>
      </p:sp>
      <p:sp>
        <p:nvSpPr>
          <p:cNvPr id="9" name="Shape 7"/>
          <p:cNvSpPr/>
          <p:nvPr/>
        </p:nvSpPr>
        <p:spPr>
          <a:xfrm>
            <a:off x="320040" y="1188720"/>
            <a:ext cx="8503920" cy="713232"/>
          </a:xfrm>
          <a:prstGeom prst="rect">
            <a:avLst/>
          </a:prstGeom>
          <a:solidFill>
            <a:srgbClr val="FFFFFF"/>
          </a:solidFill>
          <a:ln/>
        </p:spPr>
      </p:sp>
      <p:sp>
        <p:nvSpPr>
          <p:cNvPr id="10" name="Shape 8"/>
          <p:cNvSpPr/>
          <p:nvPr/>
        </p:nvSpPr>
        <p:spPr>
          <a:xfrm>
            <a:off x="320040" y="1188720"/>
            <a:ext cx="91440" cy="713232"/>
          </a:xfrm>
          <a:prstGeom prst="rect">
            <a:avLst/>
          </a:prstGeom>
          <a:solidFill>
            <a:srgbClr val="E8600A"/>
          </a:solidFill>
          <a:ln/>
        </p:spPr>
      </p:sp>
      <p:sp>
        <p:nvSpPr>
          <p:cNvPr id="11" name="Text 9"/>
          <p:cNvSpPr txBox="1"/>
          <p:nvPr/>
        </p:nvSpPr>
        <p:spPr>
          <a:xfrm>
            <a:off x="502920" y="1188720"/>
            <a:ext cx="365760" cy="7132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2" name="Text 10"/>
          <p:cNvSpPr txBox="1"/>
          <p:nvPr/>
        </p:nvSpPr>
        <p:spPr>
          <a:xfrm>
            <a:off x="868680" y="1225296"/>
            <a:ext cx="7863840" cy="3209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Regulatory filings &amp; financial statements</a:t>
            </a:r>
            <a:endParaRPr lang="en-US" sz="1200" dirty="0"/>
          </a:p>
        </p:txBody>
      </p:sp>
      <p:sp>
        <p:nvSpPr>
          <p:cNvPr id="13" name="Text 11"/>
          <p:cNvSpPr txBox="1"/>
          <p:nvPr/>
        </p:nvSpPr>
        <p:spPr>
          <a:xfrm>
            <a:off x="868680" y="1509674"/>
            <a:ext cx="7863840" cy="39227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Forms 10-K / 20-F / 40-F annually, 10-Q quarterly, 8-K for material events, DEF-14A proxy for compensation and governance. The four statements sit inside them: balance sheet, income statement, cash flows, changes in equity.</a:t>
            </a:r>
            <a:endParaRPr lang="en-US" sz="1200" dirty="0"/>
          </a:p>
        </p:txBody>
      </p:sp>
      <p:sp>
        <p:nvSpPr>
          <p:cNvPr id="14" name="Shape 12"/>
          <p:cNvSpPr/>
          <p:nvPr/>
        </p:nvSpPr>
        <p:spPr>
          <a:xfrm>
            <a:off x="320040" y="1965960"/>
            <a:ext cx="8503920" cy="713232"/>
          </a:xfrm>
          <a:prstGeom prst="rect">
            <a:avLst/>
          </a:prstGeom>
          <a:solidFill>
            <a:srgbClr val="F5F7FA"/>
          </a:solidFill>
          <a:ln/>
        </p:spPr>
      </p:sp>
      <p:sp>
        <p:nvSpPr>
          <p:cNvPr id="15" name="Shape 13"/>
          <p:cNvSpPr/>
          <p:nvPr/>
        </p:nvSpPr>
        <p:spPr>
          <a:xfrm>
            <a:off x="320040" y="1965960"/>
            <a:ext cx="91440" cy="713232"/>
          </a:xfrm>
          <a:prstGeom prst="rect">
            <a:avLst/>
          </a:prstGeom>
          <a:solidFill>
            <a:srgbClr val="E8600A"/>
          </a:solidFill>
          <a:ln/>
        </p:spPr>
      </p:sp>
      <p:sp>
        <p:nvSpPr>
          <p:cNvPr id="16" name="Text 14"/>
          <p:cNvSpPr txBox="1"/>
          <p:nvPr/>
        </p:nvSpPr>
        <p:spPr>
          <a:xfrm>
            <a:off x="502920" y="1965960"/>
            <a:ext cx="365760" cy="7132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7" name="Text 15"/>
          <p:cNvSpPr txBox="1"/>
          <p:nvPr/>
        </p:nvSpPr>
        <p:spPr>
          <a:xfrm>
            <a:off x="868680" y="2002536"/>
            <a:ext cx="7863840" cy="3209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Notes &amp; supplementary schedules</a:t>
            </a:r>
            <a:endParaRPr lang="en-US" sz="1200" dirty="0"/>
          </a:p>
        </p:txBody>
      </p:sp>
      <p:sp>
        <p:nvSpPr>
          <p:cNvPr id="18" name="Text 16"/>
          <p:cNvSpPr txBox="1"/>
          <p:nvPr/>
        </p:nvSpPr>
        <p:spPr>
          <a:xfrm>
            <a:off x="868680" y="2286914"/>
            <a:ext cx="7863840" cy="39227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Basis of preparation, accounting policies and estimates, segment data, contingencies, related parties. Sea Ltd.'s 2021 statements run to more than 60 pages of notes — this is where the real answers live.</a:t>
            </a:r>
            <a:endParaRPr lang="en-US" sz="1200" dirty="0"/>
          </a:p>
        </p:txBody>
      </p:sp>
      <p:sp>
        <p:nvSpPr>
          <p:cNvPr id="19" name="Shape 17"/>
          <p:cNvSpPr/>
          <p:nvPr/>
        </p:nvSpPr>
        <p:spPr>
          <a:xfrm>
            <a:off x="320040" y="2743200"/>
            <a:ext cx="8503920" cy="713232"/>
          </a:xfrm>
          <a:prstGeom prst="rect">
            <a:avLst/>
          </a:prstGeom>
          <a:solidFill>
            <a:srgbClr val="FFFFFF"/>
          </a:solidFill>
          <a:ln/>
        </p:spPr>
      </p:sp>
      <p:sp>
        <p:nvSpPr>
          <p:cNvPr id="20" name="Shape 18"/>
          <p:cNvSpPr/>
          <p:nvPr/>
        </p:nvSpPr>
        <p:spPr>
          <a:xfrm>
            <a:off x="320040" y="2743200"/>
            <a:ext cx="91440" cy="713232"/>
          </a:xfrm>
          <a:prstGeom prst="rect">
            <a:avLst/>
          </a:prstGeom>
          <a:solidFill>
            <a:srgbClr val="E8600A"/>
          </a:solidFill>
          <a:ln/>
        </p:spPr>
      </p:sp>
      <p:sp>
        <p:nvSpPr>
          <p:cNvPr id="21" name="Text 19"/>
          <p:cNvSpPr txBox="1"/>
          <p:nvPr/>
        </p:nvSpPr>
        <p:spPr>
          <a:xfrm>
            <a:off x="502920" y="2743200"/>
            <a:ext cx="365760" cy="7132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2" name="Text 20"/>
          <p:cNvSpPr txBox="1"/>
          <p:nvPr/>
        </p:nvSpPr>
        <p:spPr>
          <a:xfrm>
            <a:off x="868680" y="2779776"/>
            <a:ext cx="7863840" cy="3209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Management commentary / MD&amp;A</a:t>
            </a:r>
            <a:endParaRPr lang="en-US" sz="1200" dirty="0"/>
          </a:p>
        </p:txBody>
      </p:sp>
      <p:sp>
        <p:nvSpPr>
          <p:cNvPr id="23" name="Text 21"/>
          <p:cNvSpPr txBox="1"/>
          <p:nvPr/>
        </p:nvSpPr>
        <p:spPr>
          <a:xfrm>
            <a:off x="868680" y="3064154"/>
            <a:ext cx="7863840" cy="39227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The IASB Practice Statement frames five elements: nature of the business, objectives and strategy, resources and risks, results, critical performance measures. Unaudited almost everywhere — Germany is the exception.</a:t>
            </a:r>
            <a:endParaRPr lang="en-US" sz="1200" dirty="0"/>
          </a:p>
        </p:txBody>
      </p:sp>
      <p:sp>
        <p:nvSpPr>
          <p:cNvPr id="24" name="Shape 22"/>
          <p:cNvSpPr/>
          <p:nvPr/>
        </p:nvSpPr>
        <p:spPr>
          <a:xfrm>
            <a:off x="320040" y="3520440"/>
            <a:ext cx="8503920" cy="713232"/>
          </a:xfrm>
          <a:prstGeom prst="rect">
            <a:avLst/>
          </a:prstGeom>
          <a:solidFill>
            <a:srgbClr val="F5F7FA"/>
          </a:solidFill>
          <a:ln/>
        </p:spPr>
      </p:sp>
      <p:sp>
        <p:nvSpPr>
          <p:cNvPr id="25" name="Shape 23"/>
          <p:cNvSpPr/>
          <p:nvPr/>
        </p:nvSpPr>
        <p:spPr>
          <a:xfrm>
            <a:off x="320040" y="3520440"/>
            <a:ext cx="91440" cy="713232"/>
          </a:xfrm>
          <a:prstGeom prst="rect">
            <a:avLst/>
          </a:prstGeom>
          <a:solidFill>
            <a:srgbClr val="E8600A"/>
          </a:solidFill>
          <a:ln/>
        </p:spPr>
      </p:sp>
      <p:sp>
        <p:nvSpPr>
          <p:cNvPr id="26" name="Text 24"/>
          <p:cNvSpPr txBox="1"/>
          <p:nvPr/>
        </p:nvSpPr>
        <p:spPr>
          <a:xfrm>
            <a:off x="502920" y="3520440"/>
            <a:ext cx="365760" cy="71323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7" name="Text 25"/>
          <p:cNvSpPr txBox="1"/>
          <p:nvPr/>
        </p:nvSpPr>
        <p:spPr>
          <a:xfrm>
            <a:off x="868680" y="3557016"/>
            <a:ext cx="7863840" cy="320954"/>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Auditor's report</a:t>
            </a:r>
            <a:endParaRPr lang="en-US" sz="1200" dirty="0"/>
          </a:p>
        </p:txBody>
      </p:sp>
      <p:sp>
        <p:nvSpPr>
          <p:cNvPr id="28" name="Text 26"/>
          <p:cNvSpPr txBox="1"/>
          <p:nvPr/>
        </p:nvSpPr>
        <p:spPr>
          <a:xfrm>
            <a:off x="868680" y="3841394"/>
            <a:ext cx="7863840" cy="39227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Opinion on fair presentation, the basis for that opinion, and for listed issuers the Key or Critical Audit Matters. Reasonable assurance, never absolute — audits sample and statements contain estimates.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IFRS and US GAAP have converged on revenue and leases but still diverge on LIFO, write-down reversal, development costs and revaluation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 Exhibit 6 "Selected Major Differences between IFRS and US GAAP", p. 27; revaluation model per LM 3, p. 93.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Convergence is a direction of travel, not a destination. An analyst comparing cross-border peers has to isolate the residual differences before comparing anything.</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560320"/>
                <a:gridCol w="2971800"/>
                <a:gridCol w="29718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Area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IFRS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 GAAP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Standard setter and style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IASB — principles-based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FASB — rules-based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Revenue recognition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IFRS 15 — the converged 5 steps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ASC 606 — the same 5 steps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Interest paid — cash flow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OR financing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Operating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Inventory — LIFO</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Prohibited: FIFO or wtd-average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Permitted, widely used for tax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Inventory write-down reversal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Permitted if NRV recovers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Prohibited — write-down sticks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Internal development costs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Capitalise once criteria met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Expensed (software exception)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Intangibles — revaluation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Cost or revaluation model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Cost model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520440"/>
            <a:ext cx="8503920" cy="777240"/>
          </a:xfrm>
          <a:prstGeom prst="rect">
            <a:avLst/>
          </a:prstGeom>
          <a:solidFill>
            <a:srgbClr val="FEF0E7"/>
          </a:solidFill>
          <a:ln/>
        </p:spPr>
      </p:sp>
      <p:sp>
        <p:nvSpPr>
          <p:cNvPr id="11" name="Shape 8"/>
          <p:cNvSpPr/>
          <p:nvPr/>
        </p:nvSpPr>
        <p:spPr>
          <a:xfrm>
            <a:off x="320040" y="3520440"/>
            <a:ext cx="73152" cy="777240"/>
          </a:xfrm>
          <a:prstGeom prst="rect">
            <a:avLst/>
          </a:prstGeom>
          <a:solidFill>
            <a:srgbClr val="E8600A"/>
          </a:solidFill>
          <a:ln/>
        </p:spPr>
      </p:sp>
      <p:sp>
        <p:nvSpPr>
          <p:cNvPr id="12" name="Text 9"/>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PRACTICAL CONSEQUENCE</a:t>
            </a:r>
            <a:endParaRPr lang="en-US" sz="1100" dirty="0"/>
          </a:p>
        </p:txBody>
      </p:sp>
      <p:sp>
        <p:nvSpPr>
          <p:cNvPr id="13" name="Text 10"/>
          <p:cNvSpPr txBox="1"/>
          <p:nvPr/>
        </p:nvSpPr>
        <p:spPr>
          <a:xfrm>
            <a:off x="457200" y="384048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Revenue (IFRS 15 / ASC 606) and leases (IFRS 16 / ASC 842) are converged or close. The residue still matters: two companies with identical cash flows can report different EBITDA, book value and ROA.</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auditor's opinion sits on a four-step ladder from unqualified clean bill down to no opinion at all — read it before the numbers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1, "Audit Reports", pp. 23–26.</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Anything other than unqualified is a flag. An audit gives reasonable assurance, never absolute — it samples, and the statements it checks are full of estimates.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103120"/>
                <a:gridCol w="4297680"/>
                <a:gridCol w="21031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Opinion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means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Analyst action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Unqualified — "clean"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Fairly presented, in all material respects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Proceed as normal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Qualified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 scope limitation or a specific exception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Isolate it, then adjust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Adverse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Materially departs from standards — not fair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Halt the model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Disclaimer of opinion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Auditor could not form an opinion at all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Treat it as unaudited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2743200"/>
            <a:ext cx="4160520" cy="1554480"/>
          </a:xfrm>
          <a:prstGeom prst="rect">
            <a:avLst/>
          </a:prstGeom>
          <a:solidFill>
            <a:srgbClr val="FEF0E7"/>
          </a:solidFill>
          <a:ln/>
        </p:spPr>
      </p:sp>
      <p:sp>
        <p:nvSpPr>
          <p:cNvPr id="11" name="Shape 8"/>
          <p:cNvSpPr/>
          <p:nvPr/>
        </p:nvSpPr>
        <p:spPr>
          <a:xfrm>
            <a:off x="320040" y="2743200"/>
            <a:ext cx="73152" cy="1554480"/>
          </a:xfrm>
          <a:prstGeom prst="rect">
            <a:avLst/>
          </a:prstGeom>
          <a:solidFill>
            <a:srgbClr val="E8600A"/>
          </a:solidFill>
          <a:ln/>
        </p:spPr>
      </p:sp>
      <p:sp>
        <p:nvSpPr>
          <p:cNvPr id="12" name="Text 9"/>
          <p:cNvSpPr txBox="1"/>
          <p:nvPr/>
        </p:nvSpPr>
        <p:spPr>
          <a:xfrm>
            <a:off x="457200" y="27889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 — THE SECOND OPINION (SOX)</a:t>
            </a:r>
            <a:endParaRPr lang="en-US" sz="1100" dirty="0"/>
          </a:p>
        </p:txBody>
      </p:sp>
      <p:sp>
        <p:nvSpPr>
          <p:cNvPr id="13" name="Text 10"/>
          <p:cNvSpPr txBox="1"/>
          <p:nvPr/>
        </p:nvSpPr>
        <p:spPr>
          <a:xfrm>
            <a:off x="457200" y="3063240"/>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Under Sarbanes-Oxley the auditor also opines on internal control over financial reporting, and management must accept responsibility for its effectiveness in writing. A material-weakness flag deserves the same weight as a qualified opinion on the numbers.</a:t>
            </a:r>
            <a:endParaRPr lang="en-US" sz="1200" dirty="0"/>
          </a:p>
        </p:txBody>
      </p:sp>
      <p:sp>
        <p:nvSpPr>
          <p:cNvPr id="14" name="Shape 11"/>
          <p:cNvSpPr/>
          <p:nvPr/>
        </p:nvSpPr>
        <p:spPr>
          <a:xfrm>
            <a:off x="4663440" y="2743200"/>
            <a:ext cx="4160520" cy="1554480"/>
          </a:xfrm>
          <a:prstGeom prst="rect">
            <a:avLst/>
          </a:prstGeom>
          <a:solidFill>
            <a:srgbClr val="F5F7FA"/>
          </a:solidFill>
          <a:ln/>
        </p:spPr>
      </p:sp>
      <p:sp>
        <p:nvSpPr>
          <p:cNvPr id="15" name="Shape 12"/>
          <p:cNvSpPr/>
          <p:nvPr/>
        </p:nvSpPr>
        <p:spPr>
          <a:xfrm>
            <a:off x="4663440" y="2743200"/>
            <a:ext cx="73152" cy="1554480"/>
          </a:xfrm>
          <a:prstGeom prst="rect">
            <a:avLst/>
          </a:prstGeom>
          <a:solidFill>
            <a:srgbClr val="1B2A4A"/>
          </a:solidFill>
          <a:ln/>
        </p:spPr>
      </p:sp>
      <p:sp>
        <p:nvSpPr>
          <p:cNvPr id="16" name="Text 13"/>
          <p:cNvSpPr txBox="1"/>
          <p:nvPr/>
        </p:nvSpPr>
        <p:spPr>
          <a:xfrm>
            <a:off x="4800600" y="27889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KEY AND CRITICAL AUDIT MATTERS</a:t>
            </a:r>
            <a:endParaRPr lang="en-US" sz="1100" dirty="0"/>
          </a:p>
        </p:txBody>
      </p:sp>
      <p:sp>
        <p:nvSpPr>
          <p:cNvPr id="17" name="Text 14"/>
          <p:cNvSpPr txBox="1"/>
          <p:nvPr/>
        </p:nvSpPr>
        <p:spPr>
          <a:xfrm>
            <a:off x="4800600" y="3063240"/>
            <a:ext cx="3931920" cy="11887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ISA 701 requires Key Audit Matters internationally; the PCAOB requires Critical Audit Matters in the US. Both map where judgement drives the numbers — revenue, impairment, tax. The curriculum is blunt that these are not necessarily what matters most to an investor.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Income statement: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revenue &amp; expense recognition</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5  ·  Deck 6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IFRS 15 and ASC 606 collapse all revenue recognition into a single principles-based five-step model, applied to every contract with a customer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"Accounting Standards for Revenue Recognition", p. 40. IFRS 15 / ASC 606 core principle.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Core principle — recognise revenue to depict the transfer of promised goods or services in an amount reflecting the consideration the entity expects to be entitled to.</a:t>
            </a:r>
            <a:endParaRPr lang="en-US" sz="1300" dirty="0"/>
          </a:p>
        </p:txBody>
      </p:sp>
      <p:sp>
        <p:nvSpPr>
          <p:cNvPr id="9" name="Shape 7"/>
          <p:cNvSpPr/>
          <p:nvPr/>
        </p:nvSpPr>
        <p:spPr>
          <a:xfrm>
            <a:off x="320040" y="1170432"/>
            <a:ext cx="8503920" cy="566928"/>
          </a:xfrm>
          <a:prstGeom prst="rect">
            <a:avLst/>
          </a:prstGeom>
          <a:solidFill>
            <a:srgbClr val="1B2A4A"/>
          </a:solidFill>
          <a:ln/>
        </p:spPr>
      </p:sp>
      <p:sp>
        <p:nvSpPr>
          <p:cNvPr id="10" name="Text 8"/>
          <p:cNvSpPr txBox="1"/>
          <p:nvPr/>
        </p:nvSpPr>
        <p:spPr>
          <a:xfrm>
            <a:off x="411480" y="1170432"/>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Contract  →  Obligations  →  Price  →  Allocate  →  Recognise</a:t>
            </a:r>
            <a:endParaRPr lang="en-US" sz="1800" dirty="0"/>
          </a:p>
        </p:txBody>
      </p:sp>
      <p:sp>
        <p:nvSpPr>
          <p:cNvPr id="11" name="Text 9"/>
          <p:cNvSpPr txBox="1"/>
          <p:nvPr/>
        </p:nvSpPr>
        <p:spPr>
          <a:xfrm>
            <a:off x="320040" y="1764792"/>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Steps 1–2 identify WHAT is promised. Steps 3–4 quantify HOW MUCH. Step 5 alone determines WHEN.</a:t>
            </a:r>
            <a:endParaRPr lang="en-US" sz="1100" dirty="0"/>
          </a:p>
        </p:txBody>
      </p:sp>
      <p:sp>
        <p:nvSpPr>
          <p:cNvPr id="12" name="Shape 10"/>
          <p:cNvSpPr/>
          <p:nvPr/>
        </p:nvSpPr>
        <p:spPr>
          <a:xfrm>
            <a:off x="320040" y="2084832"/>
            <a:ext cx="8503920" cy="438912"/>
          </a:xfrm>
          <a:prstGeom prst="rect">
            <a:avLst/>
          </a:prstGeom>
          <a:solidFill>
            <a:srgbClr val="FFFFFF"/>
          </a:solidFill>
          <a:ln/>
        </p:spPr>
      </p:sp>
      <p:sp>
        <p:nvSpPr>
          <p:cNvPr id="13" name="Shape 11"/>
          <p:cNvSpPr/>
          <p:nvPr/>
        </p:nvSpPr>
        <p:spPr>
          <a:xfrm>
            <a:off x="320040" y="2084832"/>
            <a:ext cx="91440" cy="438912"/>
          </a:xfrm>
          <a:prstGeom prst="rect">
            <a:avLst/>
          </a:prstGeom>
          <a:solidFill>
            <a:srgbClr val="E8600A"/>
          </a:solidFill>
          <a:ln/>
        </p:spPr>
      </p:sp>
      <p:sp>
        <p:nvSpPr>
          <p:cNvPr id="14" name="Text 12"/>
          <p:cNvSpPr txBox="1"/>
          <p:nvPr/>
        </p:nvSpPr>
        <p:spPr>
          <a:xfrm>
            <a:off x="502920" y="2084832"/>
            <a:ext cx="365760" cy="43891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5" name="Text 13"/>
          <p:cNvSpPr txBox="1"/>
          <p:nvPr/>
        </p:nvSpPr>
        <p:spPr>
          <a:xfrm>
            <a:off x="868680" y="2121408"/>
            <a:ext cx="7863840" cy="19751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Identify the contract</a:t>
            </a:r>
            <a:endParaRPr lang="en-US" sz="1200" dirty="0"/>
          </a:p>
        </p:txBody>
      </p:sp>
      <p:sp>
        <p:nvSpPr>
          <p:cNvPr id="16" name="Text 14"/>
          <p:cNvSpPr txBox="1"/>
          <p:nvPr/>
        </p:nvSpPr>
        <p:spPr>
          <a:xfrm>
            <a:off x="868680" y="2282342"/>
            <a:ext cx="7863840" cy="2414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Enforceable, commercial substance, collection probable. IFRS: more likely than not. US GAAP: likely.</a:t>
            </a:r>
            <a:endParaRPr lang="en-US" sz="1200" dirty="0"/>
          </a:p>
        </p:txBody>
      </p:sp>
      <p:sp>
        <p:nvSpPr>
          <p:cNvPr id="17" name="Shape 15"/>
          <p:cNvSpPr/>
          <p:nvPr/>
        </p:nvSpPr>
        <p:spPr>
          <a:xfrm>
            <a:off x="320040" y="2542032"/>
            <a:ext cx="8503920" cy="438912"/>
          </a:xfrm>
          <a:prstGeom prst="rect">
            <a:avLst/>
          </a:prstGeom>
          <a:solidFill>
            <a:srgbClr val="F5F7FA"/>
          </a:solidFill>
          <a:ln/>
        </p:spPr>
      </p:sp>
      <p:sp>
        <p:nvSpPr>
          <p:cNvPr id="18" name="Shape 16"/>
          <p:cNvSpPr/>
          <p:nvPr/>
        </p:nvSpPr>
        <p:spPr>
          <a:xfrm>
            <a:off x="320040" y="2542032"/>
            <a:ext cx="91440" cy="438912"/>
          </a:xfrm>
          <a:prstGeom prst="rect">
            <a:avLst/>
          </a:prstGeom>
          <a:solidFill>
            <a:srgbClr val="E8600A"/>
          </a:solidFill>
          <a:ln/>
        </p:spPr>
      </p:sp>
      <p:sp>
        <p:nvSpPr>
          <p:cNvPr id="19" name="Text 17"/>
          <p:cNvSpPr txBox="1"/>
          <p:nvPr/>
        </p:nvSpPr>
        <p:spPr>
          <a:xfrm>
            <a:off x="502920" y="2542032"/>
            <a:ext cx="365760" cy="43891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20" name="Text 18"/>
          <p:cNvSpPr txBox="1"/>
          <p:nvPr/>
        </p:nvSpPr>
        <p:spPr>
          <a:xfrm>
            <a:off x="868680" y="2578608"/>
            <a:ext cx="7863840" cy="19751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Identify performance obligations</a:t>
            </a:r>
            <a:endParaRPr lang="en-US" sz="1200" dirty="0"/>
          </a:p>
        </p:txBody>
      </p:sp>
      <p:sp>
        <p:nvSpPr>
          <p:cNvPr id="21" name="Text 19"/>
          <p:cNvSpPr txBox="1"/>
          <p:nvPr/>
        </p:nvSpPr>
        <p:spPr>
          <a:xfrm>
            <a:off x="868680" y="2739542"/>
            <a:ext cx="7863840" cy="2414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Promises to transfer DISTINCT goods or services — the customer can benefit from each on its own.</a:t>
            </a:r>
            <a:endParaRPr lang="en-US" sz="1200" dirty="0"/>
          </a:p>
        </p:txBody>
      </p:sp>
      <p:sp>
        <p:nvSpPr>
          <p:cNvPr id="22" name="Shape 20"/>
          <p:cNvSpPr/>
          <p:nvPr/>
        </p:nvSpPr>
        <p:spPr>
          <a:xfrm>
            <a:off x="320040" y="2999232"/>
            <a:ext cx="8503920" cy="438912"/>
          </a:xfrm>
          <a:prstGeom prst="rect">
            <a:avLst/>
          </a:prstGeom>
          <a:solidFill>
            <a:srgbClr val="FFFFFF"/>
          </a:solidFill>
          <a:ln/>
        </p:spPr>
      </p:sp>
      <p:sp>
        <p:nvSpPr>
          <p:cNvPr id="23" name="Shape 21"/>
          <p:cNvSpPr/>
          <p:nvPr/>
        </p:nvSpPr>
        <p:spPr>
          <a:xfrm>
            <a:off x="320040" y="2999232"/>
            <a:ext cx="91440" cy="438912"/>
          </a:xfrm>
          <a:prstGeom prst="rect">
            <a:avLst/>
          </a:prstGeom>
          <a:solidFill>
            <a:srgbClr val="E8600A"/>
          </a:solidFill>
          <a:ln/>
        </p:spPr>
      </p:sp>
      <p:sp>
        <p:nvSpPr>
          <p:cNvPr id="24" name="Text 22"/>
          <p:cNvSpPr txBox="1"/>
          <p:nvPr/>
        </p:nvSpPr>
        <p:spPr>
          <a:xfrm>
            <a:off x="502920" y="2999232"/>
            <a:ext cx="365760" cy="43891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5" name="Text 23"/>
          <p:cNvSpPr txBox="1"/>
          <p:nvPr/>
        </p:nvSpPr>
        <p:spPr>
          <a:xfrm>
            <a:off x="868680" y="3035808"/>
            <a:ext cx="7863840" cy="19751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Determine the transaction price</a:t>
            </a:r>
            <a:endParaRPr lang="en-US" sz="1200" dirty="0"/>
          </a:p>
        </p:txBody>
      </p:sp>
      <p:sp>
        <p:nvSpPr>
          <p:cNvPr id="26" name="Text 24"/>
          <p:cNvSpPr txBox="1"/>
          <p:nvPr/>
        </p:nvSpPr>
        <p:spPr>
          <a:xfrm>
            <a:off x="868680" y="3196742"/>
            <a:ext cx="7863840" cy="2414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What the seller expects to receive. Variable consideration included only if it will not reverse.</a:t>
            </a:r>
            <a:endParaRPr lang="en-US" sz="1200" dirty="0"/>
          </a:p>
        </p:txBody>
      </p:sp>
      <p:sp>
        <p:nvSpPr>
          <p:cNvPr id="27" name="Shape 25"/>
          <p:cNvSpPr/>
          <p:nvPr/>
        </p:nvSpPr>
        <p:spPr>
          <a:xfrm>
            <a:off x="320040" y="3456432"/>
            <a:ext cx="8503920" cy="438912"/>
          </a:xfrm>
          <a:prstGeom prst="rect">
            <a:avLst/>
          </a:prstGeom>
          <a:solidFill>
            <a:srgbClr val="F5F7FA"/>
          </a:solidFill>
          <a:ln/>
        </p:spPr>
      </p:sp>
      <p:sp>
        <p:nvSpPr>
          <p:cNvPr id="28" name="Shape 26"/>
          <p:cNvSpPr/>
          <p:nvPr/>
        </p:nvSpPr>
        <p:spPr>
          <a:xfrm>
            <a:off x="320040" y="3456432"/>
            <a:ext cx="91440" cy="438912"/>
          </a:xfrm>
          <a:prstGeom prst="rect">
            <a:avLst/>
          </a:prstGeom>
          <a:solidFill>
            <a:srgbClr val="E8600A"/>
          </a:solidFill>
          <a:ln/>
        </p:spPr>
      </p:sp>
      <p:sp>
        <p:nvSpPr>
          <p:cNvPr id="29" name="Text 27"/>
          <p:cNvSpPr txBox="1"/>
          <p:nvPr/>
        </p:nvSpPr>
        <p:spPr>
          <a:xfrm>
            <a:off x="502920" y="3456432"/>
            <a:ext cx="365760" cy="43891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30" name="Text 28"/>
          <p:cNvSpPr txBox="1"/>
          <p:nvPr/>
        </p:nvSpPr>
        <p:spPr>
          <a:xfrm>
            <a:off x="868680" y="3493008"/>
            <a:ext cx="7863840" cy="19751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Allocate to the obligations</a:t>
            </a:r>
            <a:endParaRPr lang="en-US" sz="1200" dirty="0"/>
          </a:p>
        </p:txBody>
      </p:sp>
      <p:sp>
        <p:nvSpPr>
          <p:cNvPr id="31" name="Text 29"/>
          <p:cNvSpPr txBox="1"/>
          <p:nvPr/>
        </p:nvSpPr>
        <p:spPr>
          <a:xfrm>
            <a:off x="868680" y="3653942"/>
            <a:ext cx="7863840" cy="2414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Split by relative standalone selling prices when the contract bundles several obligations.</a:t>
            </a:r>
            <a:endParaRPr lang="en-US" sz="1200" dirty="0"/>
          </a:p>
        </p:txBody>
      </p:sp>
      <p:sp>
        <p:nvSpPr>
          <p:cNvPr id="32" name="Shape 30"/>
          <p:cNvSpPr/>
          <p:nvPr/>
        </p:nvSpPr>
        <p:spPr>
          <a:xfrm>
            <a:off x="320040" y="3913632"/>
            <a:ext cx="8503920" cy="438912"/>
          </a:xfrm>
          <a:prstGeom prst="rect">
            <a:avLst/>
          </a:prstGeom>
          <a:solidFill>
            <a:srgbClr val="FFFFFF"/>
          </a:solidFill>
          <a:ln/>
        </p:spPr>
      </p:sp>
      <p:sp>
        <p:nvSpPr>
          <p:cNvPr id="33" name="Shape 31"/>
          <p:cNvSpPr/>
          <p:nvPr/>
        </p:nvSpPr>
        <p:spPr>
          <a:xfrm>
            <a:off x="320040" y="3913632"/>
            <a:ext cx="91440" cy="438912"/>
          </a:xfrm>
          <a:prstGeom prst="rect">
            <a:avLst/>
          </a:prstGeom>
          <a:solidFill>
            <a:srgbClr val="E8600A"/>
          </a:solidFill>
          <a:ln/>
        </p:spPr>
      </p:sp>
      <p:sp>
        <p:nvSpPr>
          <p:cNvPr id="34" name="Text 32"/>
          <p:cNvSpPr txBox="1"/>
          <p:nvPr/>
        </p:nvSpPr>
        <p:spPr>
          <a:xfrm>
            <a:off x="502920" y="3913632"/>
            <a:ext cx="365760" cy="438912"/>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5" name="Text 33"/>
          <p:cNvSpPr txBox="1"/>
          <p:nvPr/>
        </p:nvSpPr>
        <p:spPr>
          <a:xfrm>
            <a:off x="868680" y="3950208"/>
            <a:ext cx="7863840" cy="197510"/>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Recognise revenue</a:t>
            </a:r>
            <a:endParaRPr lang="en-US" sz="1200" dirty="0"/>
          </a:p>
        </p:txBody>
      </p:sp>
      <p:sp>
        <p:nvSpPr>
          <p:cNvPr id="36" name="Text 34"/>
          <p:cNvSpPr txBox="1"/>
          <p:nvPr/>
        </p:nvSpPr>
        <p:spPr>
          <a:xfrm>
            <a:off x="868680" y="4111142"/>
            <a:ext cx="7863840" cy="24140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When (point in time) or as (over time) control transfers. Output or input methods measure progress.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On a long-term contract IFRS 15 recognises revenue as the work progresses — and a revised cost estimate rewrites the profit you already booked</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Revenue = cost of sales recognised as incurred, plus a proportionate share of the estimated profit. Progress measured by an input method (cost-to-cost).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1 "Long-Term Contracts" (Armored Vehicles Inc.), pp. 43–44.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Over-time recognition applies when the asset has no alternative use to the seller and there is an enforceable right to payment for work completed — a bespoke weapons system qualifies.</a:t>
            </a:r>
            <a:endParaRPr lang="en-US" sz="1300" dirty="0"/>
          </a:p>
        </p:txBody>
      </p:sp>
      <p:sp>
        <p:nvSpPr>
          <p:cNvPr id="10" name="Shape 8"/>
          <p:cNvSpPr/>
          <p:nvPr/>
        </p:nvSpPr>
        <p:spPr>
          <a:xfrm>
            <a:off x="320040" y="1188720"/>
            <a:ext cx="8503920" cy="3108960"/>
          </a:xfrm>
          <a:prstGeom prst="rect">
            <a:avLst/>
          </a:prstGeom>
          <a:solidFill>
            <a:srgbClr val="FEF0E7"/>
          </a:solidFill>
          <a:ln w="9525">
            <a:solidFill>
              <a:srgbClr val="E8600A"/>
            </a:solidFill>
            <a:prstDash val="solid"/>
          </a:ln>
        </p:spPr>
      </p:sp>
      <p:sp>
        <p:nvSpPr>
          <p:cNvPr id="11" name="Text 9"/>
          <p:cNvSpPr txBox="1"/>
          <p:nvPr/>
        </p:nvSpPr>
        <p:spPr>
          <a:xfrm>
            <a:off x="457200" y="123444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ARMORED VEHICLES INC.  ·  USD 10M WEAPONS SYSTEM  ·  INPUT METHOD</a:t>
            </a:r>
            <a:endParaRPr lang="en-US" sz="1100" dirty="0"/>
          </a:p>
        </p:txBody>
      </p:sp>
      <p:sp>
        <p:nvSpPr>
          <p:cNvPr id="12" name="Text 10"/>
          <p:cNvSpPr txBox="1"/>
          <p:nvPr/>
        </p:nvSpPr>
        <p:spPr>
          <a:xfrm>
            <a:off x="457200" y="152704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Contract price USD 10.0m. Estimated total cost USD 7.0m → expected profit USD 3.0m. Two-year build. Year 1 costs USD 4.2m.</a:t>
            </a:r>
            <a:endParaRPr lang="en-US" sz="1200" dirty="0"/>
          </a:p>
        </p:txBody>
      </p:sp>
      <p:sp>
        <p:nvSpPr>
          <p:cNvPr id="13" name="Text 11"/>
          <p:cNvSpPr txBox="1"/>
          <p:nvPr/>
        </p:nvSpPr>
        <p:spPr>
          <a:xfrm>
            <a:off x="457200" y="2039112"/>
            <a:ext cx="8229600" cy="174650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Over-time test met: no alternative use, enforceable right to payment for work done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Single performance obligation; transaction price USD 10.0m, all allocated to it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Input method — progress = costs incurred / total estimated costs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1: 4.2 / 7.0 = 60% → revenue 60% × 10.0 = USD 6.0m, profit 60% × 3.0 = USD 1.8m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2 the estimate moves: cumulative cost comes in at USD 7.5m, not USD 7.0m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6.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Year 2 revenue = 10.0 − 6.0 = USD 4.0m; cost = 7.5 − 4.2 = USD 3.3m → profit USD 0.7m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7.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Cumulative profit = 1.8 + 0.7 = USD 2.5m, not the USD 3.0m originally expected</a:t>
            </a:r>
            <a:endParaRPr lang="en-US" sz="1150" dirty="0"/>
          </a:p>
        </p:txBody>
      </p:sp>
      <p:sp>
        <p:nvSpPr>
          <p:cNvPr id="14" name="Shape 12"/>
          <p:cNvSpPr/>
          <p:nvPr/>
        </p:nvSpPr>
        <p:spPr>
          <a:xfrm>
            <a:off x="411480" y="3858768"/>
            <a:ext cx="8321040" cy="365760"/>
          </a:xfrm>
          <a:prstGeom prst="rect">
            <a:avLst/>
          </a:prstGeom>
          <a:solidFill>
            <a:srgbClr val="E8600A"/>
          </a:solidFill>
          <a:ln/>
        </p:spPr>
      </p:sp>
      <p:sp>
        <p:nvSpPr>
          <p:cNvPr id="15" name="Text 13"/>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Y1: rev 6.0m, profit 1.8m  ·  Y2: rev 4.0m, profit 0.7m  ·  cumulative 2.5m</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Principal versus agent cuts reported revenue by 70% and lifts net margin from 20% to 67% — with identical cash profit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1 "Principal Versus Agent" (MegaDigital), pp. 41–42.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principal controls the good before it transfers and reports GROSS revenue. An agent merely arranges the transfer and reports only its NET fee or commission.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651760"/>
                <a:gridCol w="292608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Line item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MegaDigital as PRINCIPAL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MegaDigital as AGENT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100   ·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30   ·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Cost of 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70   ·   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0   ·   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30   ·   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30   ·   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SG&amp;A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10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10   ·   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20   ·   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20   ·   67%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063240"/>
            <a:ext cx="4160520" cy="1234440"/>
          </a:xfrm>
          <a:prstGeom prst="rect">
            <a:avLst/>
          </a:prstGeom>
          <a:solidFill>
            <a:srgbClr val="FEF0E7"/>
          </a:solidFill>
          <a:ln/>
        </p:spPr>
      </p:sp>
      <p:sp>
        <p:nvSpPr>
          <p:cNvPr id="11" name="Shape 8"/>
          <p:cNvSpPr/>
          <p:nvPr/>
        </p:nvSpPr>
        <p:spPr>
          <a:xfrm>
            <a:off x="320040" y="3063240"/>
            <a:ext cx="73152" cy="1234440"/>
          </a:xfrm>
          <a:prstGeom prst="rect">
            <a:avLst/>
          </a:prstGeom>
          <a:solidFill>
            <a:srgbClr val="E8600A"/>
          </a:solidFill>
          <a:ln/>
        </p:spPr>
      </p:sp>
      <p:sp>
        <p:nvSpPr>
          <p:cNvPr id="12" name="Text 9"/>
          <p:cNvSpPr txBox="1"/>
          <p:nvPr/>
        </p:nvSpPr>
        <p:spPr>
          <a:xfrm>
            <a:off x="457200" y="31089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TEST — WHO CONTROLS THE GOOD?</a:t>
            </a:r>
            <a:endParaRPr lang="en-US" sz="1100" dirty="0"/>
          </a:p>
        </p:txBody>
      </p:sp>
      <p:sp>
        <p:nvSpPr>
          <p:cNvPr id="13" name="Text 10"/>
          <p:cNvSpPr txBox="1"/>
          <p:nvPr/>
        </p:nvSpPr>
        <p:spPr>
          <a:xfrm>
            <a:off x="457200" y="3383280"/>
            <a:ext cx="3931920" cy="8686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Principal if the entity controls the good or service before it transfers to the customer: it sets the price, holds the inventory risk, and is primarily responsible for fulfilment. Otherwise it is an agent, and only the commission is revenue.</a:t>
            </a:r>
            <a:endParaRPr lang="en-US" sz="1200" dirty="0"/>
          </a:p>
        </p:txBody>
      </p:sp>
      <p:sp>
        <p:nvSpPr>
          <p:cNvPr id="14" name="Shape 11"/>
          <p:cNvSpPr/>
          <p:nvPr/>
        </p:nvSpPr>
        <p:spPr>
          <a:xfrm>
            <a:off x="4663440" y="3063240"/>
            <a:ext cx="4160520" cy="1234440"/>
          </a:xfrm>
          <a:prstGeom prst="rect">
            <a:avLst/>
          </a:prstGeom>
          <a:solidFill>
            <a:srgbClr val="F5F7FA"/>
          </a:solidFill>
          <a:ln/>
        </p:spPr>
      </p:sp>
      <p:sp>
        <p:nvSpPr>
          <p:cNvPr id="15" name="Shape 12"/>
          <p:cNvSpPr/>
          <p:nvPr/>
        </p:nvSpPr>
        <p:spPr>
          <a:xfrm>
            <a:off x="4663440" y="3063240"/>
            <a:ext cx="73152" cy="1234440"/>
          </a:xfrm>
          <a:prstGeom prst="rect">
            <a:avLst/>
          </a:prstGeom>
          <a:solidFill>
            <a:srgbClr val="1B2A4A"/>
          </a:solidFill>
          <a:ln/>
        </p:spPr>
      </p:sp>
      <p:sp>
        <p:nvSpPr>
          <p:cNvPr id="16" name="Text 13"/>
          <p:cNvSpPr txBox="1"/>
          <p:nvPr/>
        </p:nvSpPr>
        <p:spPr>
          <a:xfrm>
            <a:off x="4800600" y="31089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WHY ANALYSTS CARE</a:t>
            </a:r>
            <a:endParaRPr lang="en-US" sz="1100" dirty="0"/>
          </a:p>
        </p:txBody>
      </p:sp>
      <p:sp>
        <p:nvSpPr>
          <p:cNvPr id="17" name="Text 14"/>
          <p:cNvSpPr txBox="1"/>
          <p:nvPr/>
        </p:nvSpPr>
        <p:spPr>
          <a:xfrm>
            <a:off x="4800600" y="3383280"/>
            <a:ext cx="3931920" cy="8686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Marketplaces, ride-hailing, travel and ad-tech all run a mix of principal and agent sales. Growth rates and margins are not comparable across peers — or across time in the same company — unless the mix is disclosed and tracked.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Expense recognition follows one of three models: match to the related revenue, expense as incurred, or capitalize and amortize over useful life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"Expense Recognition — General Principles", pp. 45–47.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choice turns on when the economic benefit is consumed: alongside the revenue it produced, in the current period regardless, or across several future periods.</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1 · MATCHING</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Recognise the expense in the same period as the revenue it produced.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Cost of goods sold is the archetype — the Kahn example on the next slide is exactly this.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IFRS avoids the phrase "matching principle" and speaks of a matching concept. The mechanic is identical.</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2 · PERIOD — AS INCURRED</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Expense when consumed, with no attempt to link it to revenue.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Administrative and managerial salaries, IT, rent, utilities, advertising, repairs and maintenance, research.</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Used when the benefit is used up in the period and no revenue link is identifiable.</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3 · CAPITALIZE + AMORTIZE</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Park the cost on the balance sheet, then release it over the asset's useful life.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PP&amp;E to depreciation, intangibles to amortization, development-phase software.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Also an investing cash outflow, not an operating one — which is where the mischief starts.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Matching, not payment, sets cost of goods sold — and which units you call "sold" moves gross profit by a quarter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Curriculum solution uses specific identification: 1,900 unsold units from Q4, 100 from Q3. With these lots that gives the same answer as FIFO.
</a:t>
            </a:r>
            <a:pPr indent="0" marL="0">
              <a:buNone/>
            </a:pPr>
            <a:r>
              <a:rPr lang="en-US" sz="1000" dirty="0">
                <a:solidFill>
                  <a:srgbClr val="6B7A8D"/>
                </a:solidFill>
                <a:latin typeface="Calibri" pitchFamily="34" charset="0"/>
                <a:ea typeface="Calibri" pitchFamily="34" charset="-122"/>
                <a:cs typeface="Calibri" pitchFamily="34" charset="-120"/>
              </a:rPr>
              <a:t>² LIFO is permitted under US GAAP only; IFRS allows FIFO or weighted average. Cost-flow methods are developed in the Inventories module.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2 "The Matching of Inventory Costs with Revenues" (Kahn Distribution Ltd), pp. 45–46.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Kahn buys 7,600 units in four rising-price lots and sells 5,600 at USD 50. Identical cash out and cash in — three different reported gross profits.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926080"/>
                <a:gridCol w="2011680"/>
                <a:gridCol w="1783080"/>
                <a:gridCol w="1783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Kahn Distribution Ltd — 20X1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Specific ID¹</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Weighted-avg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LIFO²</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Purchases — 7,600 units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321,600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321,600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321,600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Revenue — 5,600 × USD 50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Cost of goods sold</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231,800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236,968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241,600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48,200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43,032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38,400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Ending inventory (2,000 units)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89,800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84,632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USD 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Gross margin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17.2%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13.7%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1" name="Shape 8"/>
          <p:cNvSpPr/>
          <p:nvPr/>
        </p:nvSpPr>
        <p:spPr>
          <a:xfrm>
            <a:off x="320040" y="3218688"/>
            <a:ext cx="8503920" cy="960120"/>
          </a:xfrm>
          <a:prstGeom prst="rect">
            <a:avLst/>
          </a:prstGeom>
          <a:solidFill>
            <a:srgbClr val="FEF0E7"/>
          </a:solidFill>
          <a:ln/>
        </p:spPr>
      </p:sp>
      <p:sp>
        <p:nvSpPr>
          <p:cNvPr id="12" name="Shape 9"/>
          <p:cNvSpPr/>
          <p:nvPr/>
        </p:nvSpPr>
        <p:spPr>
          <a:xfrm>
            <a:off x="320040" y="3218688"/>
            <a:ext cx="73152" cy="960120"/>
          </a:xfrm>
          <a:prstGeom prst="rect">
            <a:avLst/>
          </a:prstGeom>
          <a:solidFill>
            <a:srgbClr val="E8600A"/>
          </a:solidFill>
          <a:ln/>
        </p:spPr>
      </p:sp>
      <p:sp>
        <p:nvSpPr>
          <p:cNvPr id="13" name="Text 10"/>
          <p:cNvSpPr txBox="1"/>
          <p:nvPr/>
        </p:nvSpPr>
        <p:spPr>
          <a:xfrm>
            <a:off x="457200" y="3264408"/>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LOTS, AND WHY THE COLUMNS DIFFER</a:t>
            </a:r>
            <a:endParaRPr lang="en-US" sz="1100" dirty="0"/>
          </a:p>
        </p:txBody>
      </p:sp>
      <p:sp>
        <p:nvSpPr>
          <p:cNvPr id="14" name="Text 11"/>
          <p:cNvSpPr txBox="1"/>
          <p:nvPr/>
        </p:nvSpPr>
        <p:spPr>
          <a:xfrm>
            <a:off x="457200" y="3538728"/>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Q1 2,000 @ 40 · Q2 1,500 @ 41 · Q3 2,200 @ 43 · Q4 1,900 @ 45 = 7,600 units for USD 321,600. Weighted-average unit cost = 321,600 / 7,600 = USD 42.32. LIFO leaves the cheap Q1 units on the balance sheet and expenses the dear ones — USD 9,800 less gross profit on identical cash flows.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Capitalizing an expenditure instead of expensing it lifts first-year profit and ROE — and guarantees you give every euro of it back later</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3 and Exhibit 1 "Capitalizing versus Expensing" (CAP Inc. vs NOW Inc.), pp. 47–49.</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identical companies: EUR 1,000 of equity, revenue 1,500 a year, cash costs 500, one EUR 900 machine with a three-year life, 30% tax. CAP capitalizes it; NOW expenses it.</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920240"/>
                <a:gridCol w="1097280"/>
                <a:gridCol w="1097280"/>
                <a:gridCol w="1097280"/>
                <a:gridCol w="1097280"/>
                <a:gridCol w="1097280"/>
                <a:gridCol w="10972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EUR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CAP Y1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CAP Y2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CAP Y3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NOW Y1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NOW Y2</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NOW Y3</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expenses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Depreciation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income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from operations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profit margin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ROE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703320"/>
            <a:ext cx="8503920" cy="713232"/>
          </a:xfrm>
          <a:prstGeom prst="rect">
            <a:avLst/>
          </a:prstGeom>
          <a:solidFill>
            <a:srgbClr val="FEF0E7"/>
          </a:solidFill>
          <a:ln/>
        </p:spPr>
      </p:sp>
      <p:sp>
        <p:nvSpPr>
          <p:cNvPr id="11" name="Shape 8"/>
          <p:cNvSpPr/>
          <p:nvPr/>
        </p:nvSpPr>
        <p:spPr>
          <a:xfrm>
            <a:off x="320040" y="3703320"/>
            <a:ext cx="73152" cy="713232"/>
          </a:xfrm>
          <a:prstGeom prst="rect">
            <a:avLst/>
          </a:prstGeom>
          <a:solidFill>
            <a:srgbClr val="E8600A"/>
          </a:solidFill>
          <a:ln/>
        </p:spPr>
      </p:sp>
      <p:sp>
        <p:nvSpPr>
          <p:cNvPr id="12" name="Text 9"/>
          <p:cNvSpPr txBox="1"/>
          <p:nvPr/>
        </p:nvSpPr>
        <p:spPr>
          <a:xfrm>
            <a:off x="457200" y="37490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THIS IS REALLY ABOUT</a:t>
            </a:r>
            <a:endParaRPr lang="en-US" sz="1100" dirty="0"/>
          </a:p>
        </p:txBody>
      </p:sp>
      <p:sp>
        <p:nvSpPr>
          <p:cNvPr id="13" name="Text 10"/>
          <p:cNvSpPr txBox="1"/>
          <p:nvPr/>
        </p:nvSpPr>
        <p:spPr>
          <a:xfrm>
            <a:off x="457200" y="4023360"/>
            <a:ext cx="8275320" cy="34747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Three-year totals are identical: EUR 1,470 of net income and EUR 1,470 of cash either way. Only the shape differs — and CAP books the EUR 900 as investing, so its cash from operations looks EUR 900 better.</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Non-recurring items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EPS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5  ·  Deck 6 of 20  ·  Studio Tonton Gug</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Strip out what will not repeat — discontinued operations, unusual items, policy changes — before you forecast anything</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"Non-Recurring Items", pp. 63–68.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Six distinct treatments, one question behind all of them: is this item going to happen again? The curriculum warns against the lazy answer of ignoring every unusual item.</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286000"/>
                <a:gridCol w="3931920"/>
                <a:gridCol w="22860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Item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Accounting treatment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Analyst action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Discontinued operations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Net of tax, own line below continuing ops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Exclude when forecasting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Unusual or infrequent items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Inside continuing ops but shown separately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Case by case; often strip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Change in accounting POLICY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Retrospective — prior periods restated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Use the restated series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Change in accounting ESTIMATE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Prospective only — no restatement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Repeat changes = red flag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Prior-period error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Restate all prior periods presented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Check the control note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Change in scope / FX</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 disclosure required — issuers volunteer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Ask for organic growth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291840"/>
            <a:ext cx="8503920" cy="914400"/>
          </a:xfrm>
          <a:prstGeom prst="rect">
            <a:avLst/>
          </a:prstGeom>
          <a:solidFill>
            <a:srgbClr val="FEF0E7"/>
          </a:solidFill>
          <a:ln/>
        </p:spPr>
      </p:sp>
      <p:sp>
        <p:nvSpPr>
          <p:cNvPr id="11" name="Shape 8"/>
          <p:cNvSpPr/>
          <p:nvPr/>
        </p:nvSpPr>
        <p:spPr>
          <a:xfrm>
            <a:off x="320040" y="3291840"/>
            <a:ext cx="73152" cy="914400"/>
          </a:xfrm>
          <a:prstGeom prst="rect">
            <a:avLst/>
          </a:prstGeom>
          <a:solidFill>
            <a:srgbClr val="E8600A"/>
          </a:solidFill>
          <a:ln/>
        </p:spPr>
      </p:sp>
      <p:sp>
        <p:nvSpPr>
          <p:cNvPr id="12" name="Text 9"/>
          <p:cNvSpPr txBox="1"/>
          <p:nvPr/>
        </p:nvSpPr>
        <p:spPr>
          <a:xfrm>
            <a:off x="457200" y="33375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FROM REPORTED TO CORE EARNINGS</a:t>
            </a:r>
            <a:endParaRPr lang="en-US" sz="1100" dirty="0"/>
          </a:p>
        </p:txBody>
      </p:sp>
      <p:sp>
        <p:nvSpPr>
          <p:cNvPr id="13" name="Text 10"/>
          <p:cNvSpPr txBox="1"/>
          <p:nvPr/>
        </p:nvSpPr>
        <p:spPr>
          <a:xfrm>
            <a:off x="457200" y="3611880"/>
            <a:ext cx="8275320" cy="5486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Reported net income, less after-tax discontinued operations, less one-off gains, plus one-off charges = core continuing earnings. That is the number multiples are applied to. Danone's "exceptional" note is the curriculum's illustration: disposal gains, arbitration receipts, integration costs and intangible impairments, all in one line.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Basic EPS is straightforward division — the only tricky piece is the weighted-average number of shares outstanding over the period</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Example 10 extends this: a 2-for-1 split on 1 December is treated as if it happened on 1 January → 2,250,000 weighted shares and basic EPS of USD 1.02.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9 "A Basic EPS Calculation (2)" and Exhibit 13 (Angler Products), p. 71.</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Each change in the share count is weighted by the fraction of the year for which that count was actually outstanding. Splits and stock dividends are the exception — they are retroactive.</a:t>
            </a:r>
            <a:endParaRPr lang="en-US" sz="1300" dirty="0"/>
          </a:p>
        </p:txBody>
      </p:sp>
      <p:sp>
        <p:nvSpPr>
          <p:cNvPr id="10" name="Shape 8"/>
          <p:cNvSpPr/>
          <p:nvPr/>
        </p:nvSpPr>
        <p:spPr>
          <a:xfrm>
            <a:off x="320040" y="1170432"/>
            <a:ext cx="8503920" cy="530352"/>
          </a:xfrm>
          <a:prstGeom prst="rect">
            <a:avLst/>
          </a:prstGeom>
          <a:solidFill>
            <a:srgbClr val="1B2A4A"/>
          </a:solidFill>
          <a:ln/>
        </p:spPr>
      </p:sp>
      <p:sp>
        <p:nvSpPr>
          <p:cNvPr id="11" name="Text 9"/>
          <p:cNvSpPr txBox="1"/>
          <p:nvPr/>
        </p:nvSpPr>
        <p:spPr>
          <a:xfrm>
            <a:off x="411480" y="1170432"/>
            <a:ext cx="8321040" cy="530352"/>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Basic EPS  =  (Net income − Preferred dividends) / WA shares</a:t>
            </a:r>
            <a:endParaRPr lang="en-US" sz="1800" dirty="0"/>
          </a:p>
        </p:txBody>
      </p:sp>
      <p:sp>
        <p:nvSpPr>
          <p:cNvPr id="12" name="Text 10"/>
          <p:cNvSpPr txBox="1"/>
          <p:nvPr/>
        </p:nvSpPr>
        <p:spPr>
          <a:xfrm>
            <a:off x="320040" y="1728216"/>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WA = weighted average common shares outstanding. Preferred dividends come out whether or not they were declared as an obligation of the period.</a:t>
            </a:r>
            <a:endParaRPr lang="en-US" sz="1100" dirty="0"/>
          </a:p>
        </p:txBody>
      </p:sp>
      <p:sp>
        <p:nvSpPr>
          <p:cNvPr id="13" name="Shape 11"/>
          <p:cNvSpPr/>
          <p:nvPr/>
        </p:nvSpPr>
        <p:spPr>
          <a:xfrm>
            <a:off x="320040" y="2084832"/>
            <a:ext cx="8503920" cy="2258568"/>
          </a:xfrm>
          <a:prstGeom prst="rect">
            <a:avLst/>
          </a:prstGeom>
          <a:solidFill>
            <a:srgbClr val="FEF0E7"/>
          </a:solidFill>
          <a:ln w="9525">
            <a:solidFill>
              <a:srgbClr val="E8600A"/>
            </a:solidFill>
            <a:prstDash val="solid"/>
          </a:ln>
        </p:spPr>
      </p:sp>
      <p:sp>
        <p:nvSpPr>
          <p:cNvPr id="14" name="Text 12"/>
          <p:cNvSpPr txBox="1"/>
          <p:nvPr/>
        </p:nvSpPr>
        <p:spPr>
          <a:xfrm>
            <a:off x="457200" y="213055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ANGLER PRODUCTS  ·  YEAR ENDED 31 DECEMBER 2018</a:t>
            </a:r>
            <a:endParaRPr lang="en-US" sz="1100" dirty="0"/>
          </a:p>
        </p:txBody>
      </p:sp>
      <p:sp>
        <p:nvSpPr>
          <p:cNvPr id="15" name="Text 13"/>
          <p:cNvSpPr txBox="1"/>
          <p:nvPr/>
        </p:nvSpPr>
        <p:spPr>
          <a:xfrm>
            <a:off x="457200" y="242316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Net income USD 2,500,000. Preferred dividends declared and paid USD 200,000. Share count moves twice during the year.</a:t>
            </a:r>
            <a:endParaRPr lang="en-US" sz="1200" dirty="0"/>
          </a:p>
        </p:txBody>
      </p:sp>
      <p:sp>
        <p:nvSpPr>
          <p:cNvPr id="16" name="Text 14"/>
          <p:cNvSpPr txBox="1"/>
          <p:nvPr/>
        </p:nvSpPr>
        <p:spPr>
          <a:xfrm>
            <a:off x="457200" y="2935224"/>
            <a:ext cx="8229600" cy="896112"/>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1 Jan: 1,000,000 shares outstanding × 3/12 = 250,000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1 Apr issue of +200,000 → 1,200,000 × 6/12 = 600,000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1 Oct buyback of −100,000 → 1,100,000 × 3/12 = 275,000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Weighted average = 250,000 + 600,000 + 275,000 = 1,125,000 shares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Basic EPS = (2,500,000 − 200,000) / 1,125,000 = USD 2.04</a:t>
            </a:r>
            <a:endParaRPr lang="en-US" sz="1100" dirty="0"/>
          </a:p>
        </p:txBody>
      </p:sp>
      <p:sp>
        <p:nvSpPr>
          <p:cNvPr id="17" name="Shape 15"/>
          <p:cNvSpPr/>
          <p:nvPr/>
        </p:nvSpPr>
        <p:spPr>
          <a:xfrm>
            <a:off x="411480" y="3904488"/>
            <a:ext cx="8321040" cy="365760"/>
          </a:xfrm>
          <a:prstGeom prst="rect">
            <a:avLst/>
          </a:prstGeom>
          <a:solidFill>
            <a:srgbClr val="E8600A"/>
          </a:solidFill>
          <a:ln/>
        </p:spPr>
      </p:sp>
      <p:sp>
        <p:nvSpPr>
          <p:cNvPr id="18" name="Text 16"/>
          <p:cNvSpPr txBox="1"/>
          <p:nvPr/>
        </p:nvSpPr>
        <p:spPr>
          <a:xfrm>
            <a:off x="457200" y="39044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Basic EPS = USD 2.04   ·   note the closing count is 1,100,000, not 1,125,000</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if-converted method adds back the interest saved net of tax AND the new shares, then recomputes — both ends of the fraction move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Convertible preferred: add back the preferred dividend, not interest. Example 11 — Bright-Warm Utility, USD 3.10 basic → USD 2.92 diluted.
</a:t>
            </a:r>
            <a:pPr indent="0" marL="0">
              <a:buNone/>
            </a:pPr>
            <a:r>
              <a:rPr lang="en-US" sz="1000" dirty="0">
                <a:solidFill>
                  <a:srgbClr val="6B7A8D"/>
                </a:solidFill>
                <a:latin typeface="Calibri" pitchFamily="34" charset="0"/>
                <a:ea typeface="Calibri" pitchFamily="34" charset="-122"/>
                <a:cs typeface="Calibri" pitchFamily="34" charset="-120"/>
              </a:rPr>
              <a:t>² Example 15 (Dim-Cool Utility): if-converted gives USD 3.13 against basic USD 3.10 — antidilutive, excluded, reported diluted EPS stays USD 3.10.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12 and Exhibit 15 (Oppnox Company), p. 74.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Always run the antidilution check. If the "diluted" figure comes out HIGHER than basic, the security is antidilutive, it is excluded, and diluted EPS equals basic EPS.</a:t>
            </a:r>
            <a:endParaRPr lang="en-US" sz="1300" dirty="0"/>
          </a:p>
        </p:txBody>
      </p:sp>
      <p:sp>
        <p:nvSpPr>
          <p:cNvPr id="10" name="Shape 8"/>
          <p:cNvSpPr/>
          <p:nvPr/>
        </p:nvSpPr>
        <p:spPr>
          <a:xfrm>
            <a:off x="320040" y="1170432"/>
            <a:ext cx="8503920" cy="502920"/>
          </a:xfrm>
          <a:prstGeom prst="rect">
            <a:avLst/>
          </a:prstGeom>
          <a:solidFill>
            <a:srgbClr val="1B2A4A"/>
          </a:solidFill>
          <a:ln/>
        </p:spPr>
      </p:sp>
      <p:sp>
        <p:nvSpPr>
          <p:cNvPr id="11" name="Text 9"/>
          <p:cNvSpPr txBox="1"/>
          <p:nvPr/>
        </p:nvSpPr>
        <p:spPr>
          <a:xfrm>
            <a:off x="411480" y="1170432"/>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Diluted EPS  =  [ NI + interest × (1 − t) ] / [ WA + new shares ]</a:t>
            </a:r>
            <a:endParaRPr lang="en-US" sz="1800" dirty="0"/>
          </a:p>
        </p:txBody>
      </p:sp>
      <p:sp>
        <p:nvSpPr>
          <p:cNvPr id="12" name="Text 10"/>
          <p:cNvSpPr txBox="1"/>
          <p:nvPr/>
        </p:nvSpPr>
        <p:spPr>
          <a:xfrm>
            <a:off x="320040" y="170078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Numerator rises by the after-tax interest the company would not have paid; denominator rises by the shares it would have issued.</a:t>
            </a:r>
            <a:endParaRPr lang="en-US" sz="1100" dirty="0"/>
          </a:p>
        </p:txBody>
      </p:sp>
      <p:sp>
        <p:nvSpPr>
          <p:cNvPr id="13" name="Shape 11"/>
          <p:cNvSpPr/>
          <p:nvPr/>
        </p:nvSpPr>
        <p:spPr>
          <a:xfrm>
            <a:off x="320040" y="1993392"/>
            <a:ext cx="8503920" cy="2304288"/>
          </a:xfrm>
          <a:prstGeom prst="rect">
            <a:avLst/>
          </a:prstGeom>
          <a:solidFill>
            <a:srgbClr val="FEF0E7"/>
          </a:solidFill>
          <a:ln w="9525">
            <a:solidFill>
              <a:srgbClr val="E8600A"/>
            </a:solidFill>
            <a:prstDash val="solid"/>
          </a:ln>
        </p:spPr>
      </p:sp>
      <p:sp>
        <p:nvSpPr>
          <p:cNvPr id="14" name="Text 12"/>
          <p:cNvSpPr txBox="1"/>
          <p:nvPr/>
        </p:nvSpPr>
        <p:spPr>
          <a:xfrm>
            <a:off x="457200" y="203911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OPPNOX COMPANY  ·  CONVERTIBLE BOND  ·  YEAR ENDED 31 DECEMBER 2018</a:t>
            </a:r>
            <a:endParaRPr lang="en-US" sz="1100" dirty="0"/>
          </a:p>
        </p:txBody>
      </p:sp>
      <p:sp>
        <p:nvSpPr>
          <p:cNvPr id="15" name="Text 13"/>
          <p:cNvSpPr txBox="1"/>
          <p:nvPr/>
        </p:nvSpPr>
        <p:spPr>
          <a:xfrm>
            <a:off x="457200" y="233172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Net income USD 750,000. Weighted-average shares 690,000. One potentially dilutive security: USD 50,000 of 6% convertible bonds, convertible into 10,000 shares. Tax rate 30%.</a:t>
            </a:r>
            <a:endParaRPr lang="en-US" sz="1200" dirty="0"/>
          </a:p>
        </p:txBody>
      </p:sp>
      <p:sp>
        <p:nvSpPr>
          <p:cNvPr id="16" name="Text 14"/>
          <p:cNvSpPr txBox="1"/>
          <p:nvPr/>
        </p:nvSpPr>
        <p:spPr>
          <a:xfrm>
            <a:off x="457200" y="2843784"/>
            <a:ext cx="8229600" cy="941832"/>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Interest saved if converted: 50,000 × 6% = USD 3,000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After-tax add-back: 3,000 × (1 − 0.30) = USD 2,100 → numerator USD 752,100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Denominator: 690,000 + 10,000 conversion shares = 700,000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Basic EPS = 750,000 / 690,000 = USD 1.09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Diluted EPS = 752,100 / 700,000 = USD 1.07 → below basic, so dilutive: report it</a:t>
            </a:r>
            <a:endParaRPr lang="en-US" sz="110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Basic USD 1.09  ·  Diluted USD 1.07  ·  both ends of the fraction moved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Options dilute through the treasury-stock method: shares issued at the strike, and the cash raised is assumed spent buying stock back at market</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IFRS gets there differently — proceeds are treated as issuing 19,091 "inferred" shares at market; 30,000 − 19,091 = 10,909. Same answer (Example 14).
</a:t>
            </a:r>
            <a:pPr indent="0" marL="0">
              <a:buNone/>
            </a:pPr>
            <a:r>
              <a:rPr lang="en-US" sz="1000" dirty="0">
                <a:solidFill>
                  <a:srgbClr val="6B7A8D"/>
                </a:solidFill>
                <a:latin typeface="Calibri" pitchFamily="34" charset="0"/>
                <a:ea typeface="Calibri" pitchFamily="34" charset="-122"/>
                <a:cs typeface="Calibri" pitchFamily="34" charset="-120"/>
              </a:rPr>
              <a:t>² Out-of-the-money options are antidilutive and ignored: if the strike exceeds average market price the formula returns a negative number.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Example 13 and Exhibit 16 (Hihotech Company), pp. 75–76.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The numerator never moves — exercising an option does not change net income. Only the share count does, and only by the net amount.</a:t>
            </a:r>
            <a:endParaRPr lang="en-US" sz="1300" dirty="0"/>
          </a:p>
        </p:txBody>
      </p:sp>
      <p:sp>
        <p:nvSpPr>
          <p:cNvPr id="10" name="Shape 8"/>
          <p:cNvSpPr/>
          <p:nvPr/>
        </p:nvSpPr>
        <p:spPr>
          <a:xfrm>
            <a:off x="320040" y="1170432"/>
            <a:ext cx="8503920" cy="502920"/>
          </a:xfrm>
          <a:prstGeom prst="rect">
            <a:avLst/>
          </a:prstGeom>
          <a:solidFill>
            <a:srgbClr val="1B2A4A"/>
          </a:solidFill>
          <a:ln/>
        </p:spPr>
      </p:sp>
      <p:sp>
        <p:nvSpPr>
          <p:cNvPr id="11" name="Text 9"/>
          <p:cNvSpPr txBox="1"/>
          <p:nvPr/>
        </p:nvSpPr>
        <p:spPr>
          <a:xfrm>
            <a:off x="411480" y="1170432"/>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Incremental shares  =  N  ×  ( 1 − Strike / Avg market )</a:t>
            </a:r>
            <a:endParaRPr lang="en-US" sz="1800" dirty="0"/>
          </a:p>
        </p:txBody>
      </p:sp>
      <p:sp>
        <p:nvSpPr>
          <p:cNvPr id="12" name="Text 10"/>
          <p:cNvSpPr txBox="1"/>
          <p:nvPr/>
        </p:nvSpPr>
        <p:spPr>
          <a:xfrm>
            <a:off x="320040" y="170078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 = options outstanding. 30,000 × (1 − 35/55) = 10,909 — the same answer as the long route through proceeds and buy-back.</a:t>
            </a:r>
            <a:endParaRPr lang="en-US" sz="1100" dirty="0"/>
          </a:p>
        </p:txBody>
      </p:sp>
      <p:sp>
        <p:nvSpPr>
          <p:cNvPr id="13" name="Shape 11"/>
          <p:cNvSpPr/>
          <p:nvPr/>
        </p:nvSpPr>
        <p:spPr>
          <a:xfrm>
            <a:off x="320040" y="1993392"/>
            <a:ext cx="8503920" cy="2304288"/>
          </a:xfrm>
          <a:prstGeom prst="rect">
            <a:avLst/>
          </a:prstGeom>
          <a:solidFill>
            <a:srgbClr val="FEF0E7"/>
          </a:solidFill>
          <a:ln w="9525">
            <a:solidFill>
              <a:srgbClr val="E8600A"/>
            </a:solidFill>
            <a:prstDash val="solid"/>
          </a:ln>
        </p:spPr>
      </p:sp>
      <p:sp>
        <p:nvSpPr>
          <p:cNvPr id="14" name="Text 12"/>
          <p:cNvSpPr txBox="1"/>
          <p:nvPr/>
        </p:nvSpPr>
        <p:spPr>
          <a:xfrm>
            <a:off x="457200" y="2039112"/>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HIHOTECH COMPANY  ·  YEAR ENDED 30 JUNE 2018  ·  30,000 OPTIONS</a:t>
            </a:r>
            <a:endParaRPr lang="en-US" sz="1100" dirty="0"/>
          </a:p>
        </p:txBody>
      </p:sp>
      <p:sp>
        <p:nvSpPr>
          <p:cNvPr id="15" name="Text 13"/>
          <p:cNvSpPr txBox="1"/>
          <p:nvPr/>
        </p:nvSpPr>
        <p:spPr>
          <a:xfrm>
            <a:off x="457200" y="2331720"/>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Net income USD 2,300,000. Weighted-average shares 800,000. Options outstanding from the start of the year: 30,000 at a USD 35 exercise price. Average market price over the year USD 55.</a:t>
            </a:r>
            <a:endParaRPr lang="en-US" sz="1200" dirty="0"/>
          </a:p>
        </p:txBody>
      </p:sp>
      <p:sp>
        <p:nvSpPr>
          <p:cNvPr id="16" name="Text 14"/>
          <p:cNvSpPr txBox="1"/>
          <p:nvPr/>
        </p:nvSpPr>
        <p:spPr>
          <a:xfrm>
            <a:off x="457200" y="2843784"/>
            <a:ext cx="8229600" cy="941832"/>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Assume exercise: 30,000 new shares issued at the USD 35 strike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Cash proceeds = 30,000 × 35 = USD 1,050,000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Shares repurchased at the USD 55 average market price = 1,050,000 / 55 = 19,091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Incremental shares = 30,000 − 19,091 = 10,909; numerator unchanged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5.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Basic = 2,300,000 / 800,000 = USD 2.88; diluted = 2,300,000 / 810,909 = USD 2.84</a:t>
            </a:r>
            <a:endParaRPr lang="en-US" sz="1100" dirty="0"/>
          </a:p>
        </p:txBody>
      </p:sp>
      <p:sp>
        <p:nvSpPr>
          <p:cNvPr id="17" name="Shape 15"/>
          <p:cNvSpPr/>
          <p:nvPr/>
        </p:nvSpPr>
        <p:spPr>
          <a:xfrm>
            <a:off x="411480" y="3858768"/>
            <a:ext cx="8321040" cy="365760"/>
          </a:xfrm>
          <a:prstGeom prst="rect">
            <a:avLst/>
          </a:prstGeom>
          <a:solidFill>
            <a:srgbClr val="E8600A"/>
          </a:solidFill>
          <a:ln/>
        </p:spPr>
      </p:sp>
      <p:sp>
        <p:nvSpPr>
          <p:cNvPr id="18" name="Text 16"/>
          <p:cNvSpPr txBox="1"/>
          <p:nvPr/>
        </p:nvSpPr>
        <p:spPr>
          <a:xfrm>
            <a:off x="457200" y="385876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Basic USD 2.88  ·  Diluted USD 2.84  ·  denominator only, numerator untouched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Balance sheet:</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classification &amp; measurement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5  ·  Deck 6 of 20  ·  Studio Tonton Gug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current / non-current split is what makes liquidity and solvency ratios computable — misclassify one line and all of them move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Exhibit 13 "Balance Sheet Ratios", p. 114; SAP and Apple balance sheets, Exhibits 2, 3, 6 and 7, pp. 96–103.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Current if it will be realised or settled within twelve months or within one normal operating cycle, whichever is longer. Everything else is non-current.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011680"/>
                <a:gridCol w="4114800"/>
                <a:gridCol w="23774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Category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Current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Non-current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Assets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Cash · marketable securities · A/R · inventory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PP&amp;E, intangibles, goodwill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Liabilities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 · short-term debt · current LT debt · accruals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LT debt, leases, pensions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Equity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Not split — sits below all liabilities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Share capital, RE, AOCI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68880"/>
            <a:ext cx="4160520" cy="1828800"/>
          </a:xfrm>
          <a:prstGeom prst="rect">
            <a:avLst/>
          </a:prstGeom>
          <a:solidFill>
            <a:srgbClr val="FEF0E7"/>
          </a:solidFill>
          <a:ln/>
        </p:spPr>
      </p:sp>
      <p:sp>
        <p:nvSpPr>
          <p:cNvPr id="11" name="Shape 8"/>
          <p:cNvSpPr/>
          <p:nvPr/>
        </p:nvSpPr>
        <p:spPr>
          <a:xfrm>
            <a:off x="320040" y="2468880"/>
            <a:ext cx="73152" cy="1828800"/>
          </a:xfrm>
          <a:prstGeom prst="rect">
            <a:avLst/>
          </a:prstGeom>
          <a:solidFill>
            <a:srgbClr val="E8600A"/>
          </a:solidFill>
          <a:ln/>
        </p:spPr>
      </p:sp>
      <p:sp>
        <p:nvSpPr>
          <p:cNvPr id="12" name="Text 9"/>
          <p:cNvSpPr txBox="1"/>
          <p:nvPr/>
        </p:nvSpPr>
        <p:spPr>
          <a:xfrm>
            <a:off x="457200" y="25146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LIQUIDITY — EXHIBIT 13</a:t>
            </a:r>
            <a:endParaRPr lang="en-US" sz="1100" dirty="0"/>
          </a:p>
        </p:txBody>
      </p:sp>
      <p:sp>
        <p:nvSpPr>
          <p:cNvPr id="13" name="Text 10"/>
          <p:cNvSpPr txBox="1"/>
          <p:nvPr/>
        </p:nvSpPr>
        <p:spPr>
          <a:xfrm>
            <a:off x="457200" y="278892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Current = Current assets / Current liabilities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Quick = (Cash + Mkt sec + Receivables) / CL</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Cash = (Cash + Mkt sec) / CL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SAP 2017: 1.17 · 1.07 · 0.49 — all three below the 2016 levels of 1.20 · 1.11 · 0.50.</a:t>
            </a:r>
            <a:endParaRPr lang="en-US" sz="1200" dirty="0"/>
          </a:p>
        </p:txBody>
      </p:sp>
      <p:sp>
        <p:nvSpPr>
          <p:cNvPr id="14" name="Shape 11"/>
          <p:cNvSpPr/>
          <p:nvPr/>
        </p:nvSpPr>
        <p:spPr>
          <a:xfrm>
            <a:off x="4663440" y="2468880"/>
            <a:ext cx="4160520" cy="1828800"/>
          </a:xfrm>
          <a:prstGeom prst="rect">
            <a:avLst/>
          </a:prstGeom>
          <a:solidFill>
            <a:srgbClr val="F5F7FA"/>
          </a:solidFill>
          <a:ln/>
        </p:spPr>
      </p:sp>
      <p:sp>
        <p:nvSpPr>
          <p:cNvPr id="15" name="Shape 12"/>
          <p:cNvSpPr/>
          <p:nvPr/>
        </p:nvSpPr>
        <p:spPr>
          <a:xfrm>
            <a:off x="4663440" y="2468880"/>
            <a:ext cx="73152" cy="1828800"/>
          </a:xfrm>
          <a:prstGeom prst="rect">
            <a:avLst/>
          </a:prstGeom>
          <a:solidFill>
            <a:srgbClr val="1B2A4A"/>
          </a:solidFill>
          <a:ln/>
        </p:spPr>
      </p:sp>
      <p:sp>
        <p:nvSpPr>
          <p:cNvPr id="16" name="Text 13"/>
          <p:cNvSpPr txBox="1"/>
          <p:nvPr/>
        </p:nvSpPr>
        <p:spPr>
          <a:xfrm>
            <a:off x="4800600" y="25146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SOLVENCY — EXHIBIT 13</a:t>
            </a:r>
            <a:endParaRPr lang="en-US" sz="1100" dirty="0"/>
          </a:p>
        </p:txBody>
      </p:sp>
      <p:sp>
        <p:nvSpPr>
          <p:cNvPr id="17" name="Text 14"/>
          <p:cNvSpPr txBox="1"/>
          <p:nvPr/>
        </p:nvSpPr>
        <p:spPr>
          <a:xfrm>
            <a:off x="4800600" y="278892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Debt-to-equity = Total debt / Total equity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LT debt-to-equity = LT debt / Total equity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Total debt = Total debt / Total assets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Financial leverage = Total assets / Total equity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SAP 2017: D/E 25.8%, leverage 1.66× — both improved on 2016.</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Not every balance-sheet line is measured the same way — historical cost, amortized cost and fair value coexist on the same page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 mixed-measurement overview, p. 91, and "Financial Instruments", p. 100. IFRS 13 / ASC 820.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balance sheet total is not a valuation. It is three different questions answered in three different ways and then added together — know which one you are reading.</a:t>
            </a:r>
            <a:endParaRPr lang="en-US" sz="1300" dirty="0"/>
          </a:p>
        </p:txBody>
      </p:sp>
      <p:sp>
        <p:nvSpPr>
          <p:cNvPr id="9" name="Shape 7"/>
          <p:cNvSpPr/>
          <p:nvPr/>
        </p:nvSpPr>
        <p:spPr>
          <a:xfrm>
            <a:off x="320040" y="1188720"/>
            <a:ext cx="2743200" cy="3108960"/>
          </a:xfrm>
          <a:prstGeom prst="rect">
            <a:avLst/>
          </a:prstGeom>
          <a:solidFill>
            <a:srgbClr val="F5F7FA"/>
          </a:solidFill>
          <a:ln/>
        </p:spPr>
      </p:sp>
      <p:sp>
        <p:nvSpPr>
          <p:cNvPr id="10" name="Shape 8"/>
          <p:cNvSpPr/>
          <p:nvPr/>
        </p:nvSpPr>
        <p:spPr>
          <a:xfrm>
            <a:off x="320040" y="1188720"/>
            <a:ext cx="73152" cy="3108960"/>
          </a:xfrm>
          <a:prstGeom prst="rect">
            <a:avLst/>
          </a:prstGeom>
          <a:solidFill>
            <a:srgbClr val="1B2A4A"/>
          </a:solidFill>
          <a:ln/>
        </p:spPr>
      </p:sp>
      <p:sp>
        <p:nvSpPr>
          <p:cNvPr id="11" name="Text 9"/>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HISTORICAL COST</a:t>
            </a:r>
            <a:endParaRPr lang="en-US" sz="1100" dirty="0"/>
          </a:p>
        </p:txBody>
      </p:sp>
      <p:sp>
        <p:nvSpPr>
          <p:cNvPr id="12" name="Text 10"/>
          <p:cNvSpPr txBox="1"/>
          <p:nvPr/>
        </p:nvSpPr>
        <p:spPr>
          <a:xfrm>
            <a:off x="45720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What was paid on acquisition, never revisited for value.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Land, PP&amp;E at gross, inventory at cost.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Answers "what did we pay?"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Verifiable and auditable. Can be decades stale — a plant bought in 1985 sits at 1985 money.</a:t>
            </a:r>
            <a:endParaRPr lang="en-US" sz="1200" dirty="0"/>
          </a:p>
        </p:txBody>
      </p:sp>
      <p:sp>
        <p:nvSpPr>
          <p:cNvPr id="13" name="Shape 11"/>
          <p:cNvSpPr/>
          <p:nvPr/>
        </p:nvSpPr>
        <p:spPr>
          <a:xfrm>
            <a:off x="3200400" y="1188720"/>
            <a:ext cx="2743200" cy="3108960"/>
          </a:xfrm>
          <a:prstGeom prst="rect">
            <a:avLst/>
          </a:prstGeom>
          <a:solidFill>
            <a:srgbClr val="FEF0E7"/>
          </a:solidFill>
          <a:ln/>
        </p:spPr>
      </p:sp>
      <p:sp>
        <p:nvSpPr>
          <p:cNvPr id="14" name="Shape 12"/>
          <p:cNvSpPr/>
          <p:nvPr/>
        </p:nvSpPr>
        <p:spPr>
          <a:xfrm>
            <a:off x="3200400" y="1188720"/>
            <a:ext cx="73152" cy="3108960"/>
          </a:xfrm>
          <a:prstGeom prst="rect">
            <a:avLst/>
          </a:prstGeom>
          <a:solidFill>
            <a:srgbClr val="E8600A"/>
          </a:solidFill>
          <a:ln/>
        </p:spPr>
      </p:sp>
      <p:sp>
        <p:nvSpPr>
          <p:cNvPr id="15" name="Text 13"/>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AMORTIZED COST</a:t>
            </a:r>
            <a:endParaRPr lang="en-US" sz="1100" dirty="0"/>
          </a:p>
        </p:txBody>
      </p:sp>
      <p:sp>
        <p:nvSpPr>
          <p:cNvPr id="16" name="Text 14"/>
          <p:cNvSpPr txBox="1"/>
          <p:nvPr/>
        </p:nvSpPr>
        <p:spPr>
          <a:xfrm>
            <a:off x="333756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Initial amount, less principal repaid, plus or minus amortisation of discount or premium, less impairment.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Held-to-maturity debt, loans, notes receivable, most debt issued.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Answers "what is still owed on the original terms?"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Drives the effective interest rate.</a:t>
            </a:r>
            <a:endParaRPr lang="en-US" sz="1200" dirty="0"/>
          </a:p>
        </p:txBody>
      </p:sp>
      <p:sp>
        <p:nvSpPr>
          <p:cNvPr id="17" name="Shape 15"/>
          <p:cNvSpPr/>
          <p:nvPr/>
        </p:nvSpPr>
        <p:spPr>
          <a:xfrm>
            <a:off x="6080760" y="1188720"/>
            <a:ext cx="2743200" cy="3108960"/>
          </a:xfrm>
          <a:prstGeom prst="rect">
            <a:avLst/>
          </a:prstGeom>
          <a:solidFill>
            <a:srgbClr val="F5F7FA"/>
          </a:solidFill>
          <a:ln/>
        </p:spPr>
      </p:sp>
      <p:sp>
        <p:nvSpPr>
          <p:cNvPr id="18" name="Shape 16"/>
          <p:cNvSpPr/>
          <p:nvPr/>
        </p:nvSpPr>
        <p:spPr>
          <a:xfrm>
            <a:off x="6080760" y="1188720"/>
            <a:ext cx="73152" cy="3108960"/>
          </a:xfrm>
          <a:prstGeom prst="rect">
            <a:avLst/>
          </a:prstGeom>
          <a:solidFill>
            <a:srgbClr val="1B2A4A"/>
          </a:solidFill>
          <a:ln/>
        </p:spPr>
      </p:sp>
      <p:sp>
        <p:nvSpPr>
          <p:cNvPr id="19" name="Text 17"/>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FAIR VALUE</a:t>
            </a:r>
            <a:endParaRPr lang="en-US" sz="1100" dirty="0"/>
          </a:p>
        </p:txBody>
      </p:sp>
      <p:sp>
        <p:nvSpPr>
          <p:cNvPr id="20" name="Text 18"/>
          <p:cNvSpPr txBox="1"/>
          <p:nvPr/>
        </p:nvSpPr>
        <p:spPr>
          <a:xfrm>
            <a:off x="6217920" y="1508760"/>
            <a:ext cx="2514600" cy="2743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Price received to sell an asset, or paid to transfer a liability, in an orderly transaction at the measurement date.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Trading securities, equity investments, derivatives.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Answers "what is it worth today?"</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Level 1 / 2 / 3 inputs must be disclosed.</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Financial assets sort into three measurement buckets — amortized cost, FVOCI, FVPL — and only one of them lets market moves reach net income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Exhibits 4 and 5, "Financial Instruments", pp. 101–102. IFRS 9 / IAS 32.</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tests decide the bucket: what is the business model for holding the asset, and are the contractual cash flows solely principal and interest?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560320"/>
                <a:gridCol w="4023360"/>
                <a:gridCol w="1920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Bucket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IFRS 9 test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hits P&amp;L</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Amortized cost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Hold to collect + cash flows solely P&amp;I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only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Fair value through OCI</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Hold to collect and sell; equity by election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Interest; FV → OCI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Fair value through P&amp;L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Everything else — trading, non-SPPI, elected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FV move hits income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2468880"/>
            <a:ext cx="4160520" cy="1828800"/>
          </a:xfrm>
          <a:prstGeom prst="rect">
            <a:avLst/>
          </a:prstGeom>
          <a:solidFill>
            <a:srgbClr val="FEF0E7"/>
          </a:solidFill>
          <a:ln/>
        </p:spPr>
      </p:sp>
      <p:sp>
        <p:nvSpPr>
          <p:cNvPr id="11" name="Shape 8"/>
          <p:cNvSpPr/>
          <p:nvPr/>
        </p:nvSpPr>
        <p:spPr>
          <a:xfrm>
            <a:off x="320040" y="2468880"/>
            <a:ext cx="73152" cy="1828800"/>
          </a:xfrm>
          <a:prstGeom prst="rect">
            <a:avLst/>
          </a:prstGeom>
          <a:solidFill>
            <a:srgbClr val="E8600A"/>
          </a:solidFill>
          <a:ln/>
        </p:spPr>
      </p:sp>
      <p:sp>
        <p:nvSpPr>
          <p:cNvPr id="12" name="Text 9"/>
          <p:cNvSpPr txBox="1"/>
          <p:nvPr/>
        </p:nvSpPr>
        <p:spPr>
          <a:xfrm>
            <a:off x="457200" y="25146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 GAAP EQUIVALENTS</a:t>
            </a:r>
            <a:endParaRPr lang="en-US" sz="1100" dirty="0"/>
          </a:p>
        </p:txBody>
      </p:sp>
      <p:sp>
        <p:nvSpPr>
          <p:cNvPr id="13" name="Text 10"/>
          <p:cNvSpPr txBox="1"/>
          <p:nvPr/>
        </p:nvSpPr>
        <p:spPr>
          <a:xfrm>
            <a:off x="457200" y="278892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Held-to-maturity ≈ amortized cost.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Available-for-sale, DEBT only ≈ FVOCI.</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Trading debt ≈ FVPL.</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Under US GAAP every equity investment goes to FVPL — there is no FVOCI election for equity. That single difference is what moves reported earnings volatility.</a:t>
            </a:r>
            <a:endParaRPr lang="en-US" sz="1200" dirty="0"/>
          </a:p>
        </p:txBody>
      </p:sp>
      <p:sp>
        <p:nvSpPr>
          <p:cNvPr id="14" name="Shape 11"/>
          <p:cNvSpPr/>
          <p:nvPr/>
        </p:nvSpPr>
        <p:spPr>
          <a:xfrm>
            <a:off x="4663440" y="2468880"/>
            <a:ext cx="4160520" cy="1828800"/>
          </a:xfrm>
          <a:prstGeom prst="rect">
            <a:avLst/>
          </a:prstGeom>
          <a:solidFill>
            <a:srgbClr val="F5F7FA"/>
          </a:solidFill>
          <a:ln/>
        </p:spPr>
      </p:sp>
      <p:sp>
        <p:nvSpPr>
          <p:cNvPr id="15" name="Shape 12"/>
          <p:cNvSpPr/>
          <p:nvPr/>
        </p:nvSpPr>
        <p:spPr>
          <a:xfrm>
            <a:off x="4663440" y="2468880"/>
            <a:ext cx="73152" cy="1828800"/>
          </a:xfrm>
          <a:prstGeom prst="rect">
            <a:avLst/>
          </a:prstGeom>
          <a:solidFill>
            <a:srgbClr val="1B2A4A"/>
          </a:solidFill>
          <a:ln/>
        </p:spPr>
      </p:sp>
      <p:sp>
        <p:nvSpPr>
          <p:cNvPr id="16" name="Text 13"/>
          <p:cNvSpPr txBox="1"/>
          <p:nvPr/>
        </p:nvSpPr>
        <p:spPr>
          <a:xfrm>
            <a:off x="4800600" y="251460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EXHIBIT 5 — ONE BOND, THREE ANSWERS</a:t>
            </a:r>
            <a:endParaRPr lang="en-US" sz="1100" dirty="0"/>
          </a:p>
        </p:txBody>
      </p:sp>
      <p:sp>
        <p:nvSpPr>
          <p:cNvPr id="17" name="Text 14"/>
          <p:cNvSpPr txBox="1"/>
          <p:nvPr/>
        </p:nvSpPr>
        <p:spPr>
          <a:xfrm>
            <a:off x="4800600" y="2788920"/>
            <a:ext cx="3931920" cy="14630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EUR 100m bond at 5%. Six months in: EUR 2.5m coupon received, market value up EUR 2.0m.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Amortized cost → P&amp;L 2.5m, asset 100m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FVOCI → P&amp;L 2.5m, OCI 2.0m, asset 102m</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FVPL → P&amp;L 4.5m, asset 102m</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05</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Intangibles, goodwill</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&amp; common-size</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5 of 5  ·  Deck 6 of 20  ·  Studio Tonton Gug</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Internally developed intangibles are expensed under US GAAP but capitalized under IFRS once the development-phase criteria are met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IAS 38 requires all six: technical feasibility, intent to complete, ability to use or sell, probable benefits, resources, reliable measurement.
</a:t>
            </a:r>
            <a:pPr indent="0" marL="0">
              <a:buNone/>
            </a:pPr>
            <a:r>
              <a:rPr lang="en-US" sz="1000" dirty="0">
                <a:solidFill>
                  <a:srgbClr val="6B7A8D"/>
                </a:solidFill>
                <a:latin typeface="Calibri" pitchFamily="34" charset="0"/>
                <a:ea typeface="Calibri" pitchFamily="34" charset="-122"/>
                <a:cs typeface="Calibri" pitchFamily="34" charset="-120"/>
              </a:rPr>
              <a:t>² Purchased intangibles are capitalised under both frameworks — the divergence concerns only internally generated ones.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"Intangible Assets" and Exhibit 1 "Summary of Expenses" (Alpha Inc.), pp. 93–95. IAS 38.</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technology companies with identical R&amp;D spend but different domiciles will report different operating margins, different total assets and different ROA — forever.</a:t>
            </a:r>
            <a:endParaRPr lang="en-US" sz="1300" dirty="0"/>
          </a:p>
        </p:txBody>
      </p:sp>
      <p:sp>
        <p:nvSpPr>
          <p:cNvPr id="10" name="Shape 8"/>
          <p:cNvSpPr/>
          <p:nvPr/>
        </p:nvSpPr>
        <p:spPr>
          <a:xfrm>
            <a:off x="320040" y="1188720"/>
            <a:ext cx="2743200" cy="1783080"/>
          </a:xfrm>
          <a:prstGeom prst="rect">
            <a:avLst/>
          </a:prstGeom>
          <a:solidFill>
            <a:srgbClr val="F5F7FA"/>
          </a:solidFill>
          <a:ln/>
        </p:spPr>
      </p:sp>
      <p:sp>
        <p:nvSpPr>
          <p:cNvPr id="11" name="Shape 9"/>
          <p:cNvSpPr/>
          <p:nvPr/>
        </p:nvSpPr>
        <p:spPr>
          <a:xfrm>
            <a:off x="320040" y="1188720"/>
            <a:ext cx="73152" cy="1783080"/>
          </a:xfrm>
          <a:prstGeom prst="rect">
            <a:avLst/>
          </a:prstGeom>
          <a:solidFill>
            <a:srgbClr val="1B2A4A"/>
          </a:solidFill>
          <a:ln/>
        </p:spPr>
      </p:sp>
      <p:sp>
        <p:nvSpPr>
          <p:cNvPr id="12" name="Text 10"/>
          <p:cNvSpPr txBox="1"/>
          <p:nvPr/>
        </p:nvSpPr>
        <p:spPr>
          <a:xfrm>
            <a:off x="45720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IFRS — IAS 38</a:t>
            </a:r>
            <a:endParaRPr lang="en-US" sz="1100" dirty="0"/>
          </a:p>
        </p:txBody>
      </p:sp>
      <p:sp>
        <p:nvSpPr>
          <p:cNvPr id="13" name="Text 11"/>
          <p:cNvSpPr txBox="1"/>
          <p:nvPr/>
        </p:nvSpPr>
        <p:spPr>
          <a:xfrm>
            <a:off x="457200" y="1508760"/>
            <a:ext cx="251460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Research phase: expense.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Development phase: capitalise once all six criteria are met.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Finite life → amortise. Indefinite life → no amortisation, annual impairment test.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Cost OR revaluation model.</a:t>
            </a:r>
            <a:endParaRPr lang="en-US" sz="1200" dirty="0"/>
          </a:p>
        </p:txBody>
      </p:sp>
      <p:sp>
        <p:nvSpPr>
          <p:cNvPr id="14" name="Shape 12"/>
          <p:cNvSpPr/>
          <p:nvPr/>
        </p:nvSpPr>
        <p:spPr>
          <a:xfrm>
            <a:off x="3200400" y="1188720"/>
            <a:ext cx="2743200" cy="1783080"/>
          </a:xfrm>
          <a:prstGeom prst="rect">
            <a:avLst/>
          </a:prstGeom>
          <a:solidFill>
            <a:srgbClr val="FEF0E7"/>
          </a:solidFill>
          <a:ln/>
        </p:spPr>
      </p:sp>
      <p:sp>
        <p:nvSpPr>
          <p:cNvPr id="15" name="Shape 13"/>
          <p:cNvSpPr/>
          <p:nvPr/>
        </p:nvSpPr>
        <p:spPr>
          <a:xfrm>
            <a:off x="3200400" y="1188720"/>
            <a:ext cx="73152" cy="1783080"/>
          </a:xfrm>
          <a:prstGeom prst="rect">
            <a:avLst/>
          </a:prstGeom>
          <a:solidFill>
            <a:srgbClr val="E8600A"/>
          </a:solidFill>
          <a:ln/>
        </p:spPr>
      </p:sp>
      <p:sp>
        <p:nvSpPr>
          <p:cNvPr id="16" name="Text 14"/>
          <p:cNvSpPr txBox="1"/>
          <p:nvPr/>
        </p:nvSpPr>
        <p:spPr>
          <a:xfrm>
            <a:off x="333756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 GAAP — ASC 730 / 350</a:t>
            </a:r>
            <a:endParaRPr lang="en-US" sz="1100" dirty="0"/>
          </a:p>
        </p:txBody>
      </p:sp>
      <p:sp>
        <p:nvSpPr>
          <p:cNvPr id="17" name="Text 15"/>
          <p:cNvSpPr txBox="1"/>
          <p:nvPr/>
        </p:nvSpPr>
        <p:spPr>
          <a:xfrm>
            <a:off x="3337560" y="1508760"/>
            <a:ext cx="251460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All internally developed intangibles and R&amp;D expensed as incurred.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Exception: software development costs, once technological feasibility is established.</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Cost model only — no revaluation.</a:t>
            </a:r>
            <a:endParaRPr lang="en-US" sz="1200" dirty="0"/>
          </a:p>
        </p:txBody>
      </p:sp>
      <p:sp>
        <p:nvSpPr>
          <p:cNvPr id="18" name="Shape 16"/>
          <p:cNvSpPr/>
          <p:nvPr/>
        </p:nvSpPr>
        <p:spPr>
          <a:xfrm>
            <a:off x="6080760" y="1188720"/>
            <a:ext cx="2743200" cy="1783080"/>
          </a:xfrm>
          <a:prstGeom prst="rect">
            <a:avLst/>
          </a:prstGeom>
          <a:solidFill>
            <a:srgbClr val="F5F7FA"/>
          </a:solidFill>
          <a:ln/>
        </p:spPr>
      </p:sp>
      <p:sp>
        <p:nvSpPr>
          <p:cNvPr id="19" name="Shape 17"/>
          <p:cNvSpPr/>
          <p:nvPr/>
        </p:nvSpPr>
        <p:spPr>
          <a:xfrm>
            <a:off x="6080760" y="1188720"/>
            <a:ext cx="73152" cy="1783080"/>
          </a:xfrm>
          <a:prstGeom prst="rect">
            <a:avLst/>
          </a:prstGeom>
          <a:solidFill>
            <a:srgbClr val="1B2A4A"/>
          </a:solidFill>
          <a:ln/>
        </p:spPr>
      </p:sp>
      <p:sp>
        <p:nvSpPr>
          <p:cNvPr id="20" name="Text 18"/>
          <p:cNvSpPr txBox="1"/>
          <p:nvPr/>
        </p:nvSpPr>
        <p:spPr>
          <a:xfrm>
            <a:off x="6217920" y="123444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EXPENSED UNDER BOTH</a:t>
            </a:r>
            <a:endParaRPr lang="en-US" sz="1100" dirty="0"/>
          </a:p>
        </p:txBody>
      </p:sp>
      <p:sp>
        <p:nvSpPr>
          <p:cNvPr id="21" name="Text 19"/>
          <p:cNvSpPr txBox="1"/>
          <p:nvPr/>
        </p:nvSpPr>
        <p:spPr>
          <a:xfrm>
            <a:off x="6217920" y="1508760"/>
            <a:ext cx="2514600" cy="14173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Internally generated brands, mastheads, publishing titles, customer lists · start-up costs · training · administrative and general overhead · advertising and promotion · relocation and reorganisation · redundancy costs.</a:t>
            </a:r>
            <a:endParaRPr lang="en-US" sz="1200" dirty="0"/>
          </a:p>
        </p:txBody>
      </p:sp>
      <p:sp>
        <p:nvSpPr>
          <p:cNvPr id="22" name="Shape 20"/>
          <p:cNvSpPr/>
          <p:nvPr/>
        </p:nvSpPr>
        <p:spPr>
          <a:xfrm>
            <a:off x="320040" y="3090672"/>
            <a:ext cx="8503920" cy="1207008"/>
          </a:xfrm>
          <a:prstGeom prst="rect">
            <a:avLst/>
          </a:prstGeom>
          <a:solidFill>
            <a:srgbClr val="FEF0E7"/>
          </a:solidFill>
          <a:ln/>
        </p:spPr>
      </p:sp>
      <p:sp>
        <p:nvSpPr>
          <p:cNvPr id="23" name="Shape 21"/>
          <p:cNvSpPr/>
          <p:nvPr/>
        </p:nvSpPr>
        <p:spPr>
          <a:xfrm>
            <a:off x="320040" y="3090672"/>
            <a:ext cx="73152" cy="1207008"/>
          </a:xfrm>
          <a:prstGeom prst="rect">
            <a:avLst/>
          </a:prstGeom>
          <a:solidFill>
            <a:srgbClr val="E8600A"/>
          </a:solidFill>
          <a:ln/>
        </p:spPr>
      </p:sp>
      <p:sp>
        <p:nvSpPr>
          <p:cNvPr id="24" name="Text 22"/>
          <p:cNvSpPr txBox="1"/>
          <p:nvPr/>
        </p:nvSpPr>
        <p:spPr>
          <a:xfrm>
            <a:off x="457200" y="3136392"/>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EXHIBIT 1 — ALPHA INC., TWO PROJECTS (EUR 000s)</a:t>
            </a:r>
            <a:endParaRPr lang="en-US" sz="1100" dirty="0"/>
          </a:p>
        </p:txBody>
      </p:sp>
      <p:sp>
        <p:nvSpPr>
          <p:cNvPr id="25" name="Text 23"/>
          <p:cNvSpPr txBox="1"/>
          <p:nvPr/>
        </p:nvSpPr>
        <p:spPr>
          <a:xfrm>
            <a:off x="457200" y="3410712"/>
            <a:ext cx="8275320" cy="841248"/>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Project 1 — a steering mechanism that reacts to finger impulses: still seeking new knowledge, so RESEARCH. Nothing capitalised under either framework.</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Project 2 — a prototype electronic welding rig, already judged technically feasible, saleable and producible: DEVELOPMENT. Under IFRS capitalise materials 620 + direct labour 320 + design, construction and testing 470 = EUR 1,410. Administrative personnel costs are never capitalised. Under US GAAP: zero, all expensed.</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Goodwill is the residual when a buyer pays more than the fair value of identifiable net assets — impairment is where it comes back</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Goodwill is never amortised. It is tested for impairment at least annually, at the cash-generating-unit (IFRS) or reporting-unit (US GAAP) level.
</a:t>
            </a:r>
            <a:pPr indent="0" marL="0">
              <a:buNone/>
            </a:pPr>
            <a:r>
              <a:rPr lang="en-US" sz="1000" dirty="0">
                <a:solidFill>
                  <a:srgbClr val="6B7A8D"/>
                </a:solidFill>
                <a:latin typeface="Calibri" pitchFamily="34" charset="0"/>
                <a:ea typeface="Calibri" pitchFamily="34" charset="-122"/>
                <a:cs typeface="Calibri" pitchFamily="34" charset="-120"/>
              </a:rPr>
              <a:t>² Many analysts strip goodwill out of the balance sheet for ratios and strip impairment out of earnings when reading operating trends.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"Goodwill" — three-step recognition and the Safeway Q4 2009 impairment, pp. 97–99. IFRS 3 / ASC 805.</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Accounting goodwill only ever arises in an acquisition. Economic goodwill — the present value of excess returns — never touches the balance sheet; it lives in the share price.</a:t>
            </a:r>
            <a:endParaRPr lang="en-US" sz="1300" dirty="0"/>
          </a:p>
        </p:txBody>
      </p:sp>
      <p:sp>
        <p:nvSpPr>
          <p:cNvPr id="10" name="Shape 8"/>
          <p:cNvSpPr/>
          <p:nvPr/>
        </p:nvSpPr>
        <p:spPr>
          <a:xfrm>
            <a:off x="320040" y="1170432"/>
            <a:ext cx="8503920" cy="502920"/>
          </a:xfrm>
          <a:prstGeom prst="rect">
            <a:avLst/>
          </a:prstGeom>
          <a:solidFill>
            <a:srgbClr val="1B2A4A"/>
          </a:solidFill>
          <a:ln/>
        </p:spPr>
      </p:sp>
      <p:sp>
        <p:nvSpPr>
          <p:cNvPr id="11" name="Text 9"/>
          <p:cNvSpPr txBox="1"/>
          <p:nvPr/>
        </p:nvSpPr>
        <p:spPr>
          <a:xfrm>
            <a:off x="411480" y="1170432"/>
            <a:ext cx="8321040" cy="50292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Goodwill  =  Cost to purchase  −  Net identifiable assets</a:t>
            </a:r>
            <a:endParaRPr lang="en-US" sz="1800" dirty="0"/>
          </a:p>
        </p:txBody>
      </p:sp>
      <p:sp>
        <p:nvSpPr>
          <p:cNvPr id="12" name="Text 10"/>
          <p:cNvSpPr txBox="1"/>
          <p:nvPr/>
        </p:nvSpPr>
        <p:spPr>
          <a:xfrm>
            <a:off x="320040" y="1700784"/>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Net identifiable assets = fair value of identifiable tangible and intangible assets, less fair value of liabilities and contingent liabilities assumed.</a:t>
            </a:r>
            <a:endParaRPr lang="en-US" sz="1100" dirty="0"/>
          </a:p>
        </p:txBody>
      </p:sp>
      <p:sp>
        <p:nvSpPr>
          <p:cNvPr id="13" name="Shape 11"/>
          <p:cNvSpPr/>
          <p:nvPr/>
        </p:nvSpPr>
        <p:spPr>
          <a:xfrm>
            <a:off x="320040" y="2029968"/>
            <a:ext cx="4160520" cy="2267712"/>
          </a:xfrm>
          <a:prstGeom prst="rect">
            <a:avLst/>
          </a:prstGeom>
          <a:solidFill>
            <a:srgbClr val="FEF0E7"/>
          </a:solidFill>
          <a:ln/>
        </p:spPr>
      </p:sp>
      <p:sp>
        <p:nvSpPr>
          <p:cNvPr id="14" name="Shape 12"/>
          <p:cNvSpPr/>
          <p:nvPr/>
        </p:nvSpPr>
        <p:spPr>
          <a:xfrm>
            <a:off x="320040" y="2029968"/>
            <a:ext cx="73152" cy="2267712"/>
          </a:xfrm>
          <a:prstGeom prst="rect">
            <a:avLst/>
          </a:prstGeom>
          <a:solidFill>
            <a:srgbClr val="E8600A"/>
          </a:solidFill>
          <a:ln/>
        </p:spPr>
      </p:sp>
      <p:sp>
        <p:nvSpPr>
          <p:cNvPr id="15" name="Text 13"/>
          <p:cNvSpPr txBox="1"/>
          <p:nvPr/>
        </p:nvSpPr>
        <p:spPr>
          <a:xfrm>
            <a:off x="457200" y="2075688"/>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THREE STEPS — ILLUSTRATIVE</a:t>
            </a:r>
            <a:endParaRPr lang="en-US" sz="1100" dirty="0"/>
          </a:p>
        </p:txBody>
      </p:sp>
      <p:sp>
        <p:nvSpPr>
          <p:cNvPr id="16" name="Text 14"/>
          <p:cNvSpPr txBox="1"/>
          <p:nvPr/>
        </p:nvSpPr>
        <p:spPr>
          <a:xfrm>
            <a:off x="457200" y="2350008"/>
            <a:ext cx="3931920" cy="19019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Step 1 — cost to purchase the target: USD 800m.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Step 2 — fair value of identifiable assets 600m, less liabilities and contingent liabilities assumed 150m = net identifiable assets 450m.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Step 3 — goodwill = 800 − 450 = USD 350m, 44% of the price.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Pay less than 450 and it is a bargain purchase: the gain goes straight to P&amp;L.</a:t>
            </a:r>
            <a:endParaRPr lang="en-US" sz="1200" dirty="0"/>
          </a:p>
        </p:txBody>
      </p:sp>
      <p:sp>
        <p:nvSpPr>
          <p:cNvPr id="17" name="Shape 15"/>
          <p:cNvSpPr/>
          <p:nvPr/>
        </p:nvSpPr>
        <p:spPr>
          <a:xfrm>
            <a:off x="4663440" y="2029968"/>
            <a:ext cx="4160520" cy="2267712"/>
          </a:xfrm>
          <a:prstGeom prst="rect">
            <a:avLst/>
          </a:prstGeom>
          <a:solidFill>
            <a:srgbClr val="F5F7FA"/>
          </a:solidFill>
          <a:ln/>
        </p:spPr>
      </p:sp>
      <p:sp>
        <p:nvSpPr>
          <p:cNvPr id="18" name="Shape 16"/>
          <p:cNvSpPr/>
          <p:nvPr/>
        </p:nvSpPr>
        <p:spPr>
          <a:xfrm>
            <a:off x="4663440" y="2029968"/>
            <a:ext cx="73152" cy="2267712"/>
          </a:xfrm>
          <a:prstGeom prst="rect">
            <a:avLst/>
          </a:prstGeom>
          <a:solidFill>
            <a:srgbClr val="1B2A4A"/>
          </a:solidFill>
          <a:ln/>
        </p:spPr>
      </p:sp>
      <p:sp>
        <p:nvSpPr>
          <p:cNvPr id="19" name="Text 17"/>
          <p:cNvSpPr txBox="1"/>
          <p:nvPr/>
        </p:nvSpPr>
        <p:spPr>
          <a:xfrm>
            <a:off x="4800600" y="2075688"/>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SAFEWAY, Q4 2009 — WHEN IT UNWINDS</a:t>
            </a:r>
            <a:endParaRPr lang="en-US" sz="1100" dirty="0"/>
          </a:p>
        </p:txBody>
      </p:sp>
      <p:sp>
        <p:nvSpPr>
          <p:cNvPr id="20" name="Text 18"/>
          <p:cNvSpPr txBox="1"/>
          <p:nvPr/>
        </p:nvSpPr>
        <p:spPr>
          <a:xfrm>
            <a:off x="4800600" y="2350008"/>
            <a:ext cx="3931920" cy="1901952"/>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Non-cash goodwill impairment of USD 1,974.2m, USD 1,818.2m net of tax. Reported net loss USD 1,609.1m, or USD 4.06 per diluted share. Without the charge: net income of USD 209.1m, USD 0.53 per share.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That is 82.6% of opening goodwill and 11.3% of opening total assets — and it says the acquisitions were worth less than what was paid for them.</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Common-size statements strip out scale, and what is left is strategy — C is a fifth of A's size and structurally identical</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2, Exhibit 18 "Income Statement for Three Hypothetical Companies", pp. 79–80.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Three companies in one industry. A and B each do USD 10m of sales; C does USD 2m. Every line as a percentage of sales — and the absolute numbers stop mattering.</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606040"/>
                <a:gridCol w="1188720"/>
                <a:gridCol w="777240"/>
                <a:gridCol w="1188720"/>
                <a:gridCol w="777240"/>
                <a:gridCol w="1188720"/>
                <a:gridCol w="7772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Cost of sales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Gross profit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SG&amp;A</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Research &amp; development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Advertising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Operating profit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2,000,000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1,500,000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400,000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
        <p:nvSpPr>
          <p:cNvPr id="10" name="Shape 7"/>
          <p:cNvSpPr/>
          <p:nvPr/>
        </p:nvSpPr>
        <p:spPr>
          <a:xfrm>
            <a:off x="320040" y="3520440"/>
            <a:ext cx="8503920" cy="777240"/>
          </a:xfrm>
          <a:prstGeom prst="rect">
            <a:avLst/>
          </a:prstGeom>
          <a:solidFill>
            <a:srgbClr val="FEF0E7"/>
          </a:solidFill>
          <a:ln/>
        </p:spPr>
      </p:sp>
      <p:sp>
        <p:nvSpPr>
          <p:cNvPr id="11" name="Shape 8"/>
          <p:cNvSpPr/>
          <p:nvPr/>
        </p:nvSpPr>
        <p:spPr>
          <a:xfrm>
            <a:off x="320040" y="3520440"/>
            <a:ext cx="73152" cy="777240"/>
          </a:xfrm>
          <a:prstGeom prst="rect">
            <a:avLst/>
          </a:prstGeom>
          <a:solidFill>
            <a:srgbClr val="E8600A"/>
          </a:solidFill>
          <a:ln/>
        </p:spPr>
      </p:sp>
      <p:sp>
        <p:nvSpPr>
          <p:cNvPr id="12" name="Text 9"/>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PERCENTAGES SAY</a:t>
            </a:r>
            <a:endParaRPr lang="en-US" sz="1100" dirty="0"/>
          </a:p>
        </p:txBody>
      </p:sp>
      <p:sp>
        <p:nvSpPr>
          <p:cNvPr id="13" name="Text 10"/>
          <p:cNvSpPr txBox="1"/>
          <p:nvPr/>
        </p:nvSpPr>
        <p:spPr>
          <a:xfrm>
            <a:off x="457200" y="384048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and C are the same business at different scale — identical on every line, so C's smaller profit is not worse performance. A versus B is strategy: 20% R&amp;D plus 20% advertising buys A a 70% gross margin; B spends nothing and gets 25%.</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Scale every line to total assets and strategy becomes visible — Apple grew organically, Microsoft bought growth</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4, Learning Module 3, Example 1 and Exhibit 12 "Cross-Sectional Analysis" (Apple FY2017, Microsoft FY2017), pp. 112–113.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Two companies in the same industry, both asset-light, both cash-rich, both similarly levered. One row — goodwill — separates their entire approach to growth.</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77440"/>
                <a:gridCol w="1508760"/>
                <a:gridCol w="1691640"/>
                <a:gridCol w="29260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 of total assets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Apple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Microsoft</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says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Cash &amp; short-term securities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55.2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Both hoard — Microsoft short-dated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Long-term marketable securities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51.9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Apple parks a decade of cash flow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Accounts receivable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Apple sells direct, and for cash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Total current assets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different, both very liquid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Property, plant &amp; equipment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Both asset-light, at sector median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Goodwill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Organic growth versus acquisition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Acquired intangibles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Same story, second line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Deferred revenue (current)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14.1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Microsoft is a subscription book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Total liabilities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64.3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Leverage is not the difference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Total shareholders'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30.0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Total assets = 100.0 for both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6 — FSA I — Framework, Income Statement &amp; Balance Sheet</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FSA is a SIX-phase discipline — purpose, collect, process, analyze, conclude and communicate, follow up — drawing on four regulated layers: filings, notes, MD&amp;A, auditor report.</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IFRS and US GAAP are converged on revenue and leases but still diverge on LIFO, inventory write-down reversal, interest paid in the cash flow statement, development costs and revaluation.</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IFRS 15 is one five-step model: contract → obligations → price → allocate → recognize. Armored Vehicles at 60% complete books 6.0m of revenue and 1.8m of profit — until the cost estimate moves.</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Principal versus agent cuts MegaDigital's revenue from 100 to 30 and lifts net margin from 20% to 67%, with identical cash profit. Know the mix before comparing any marketplace.</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Expense recognition is match, expense as incurred, or capitalize and amortize. CAP and NOW earn the same EUR 1,470 over three years — capitalizing only changes the shape and flatters operating cash flow.</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Basic EPS weights share counts by time (Angler: 1,125,000, EPS 2.04). Diluted adds back after-tax interest and conversion shares (Oppnox: 1.09 → 1.07) or net option shares (Hihotech: 2.88 → 2.84) — only when dilutive.</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The balance sheet is a mixed-measurement model: historical cost, amortized cost, fair value. IFRS 9 sorts financial assets by business model plus the SPPI test into amortized cost, FVOCI and FVPL.</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IFRS capitalizes development-phase costs once six criteria are met (Alpha: EUR 1,410); US GAAP expenses all of it. Goodwill = cost less net identifiable assets, never amortized, tested annually — Safeway wrote off 82.6% of it in one quarter.</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6 · FSA I — Framework, Income Statement &amp; Balance Sheet</dc:title>
  <dc:subject>PptxGenJS Presentation</dc:subject>
  <dc:creator>Studio Tonton Gug</dc:creator>
  <cp:lastModifiedBy>Studio Tonton Gug</cp:lastModifiedBy>
  <cp:revision>1</cp:revision>
  <dcterms:created xsi:type="dcterms:W3CDTF">2026-09-02T08:26:50Z</dcterms:created>
  <dcterms:modified xsi:type="dcterms:W3CDTF">2026-09-02T08:26:50Z</dcterms:modified>
</cp:coreProperties>
</file>