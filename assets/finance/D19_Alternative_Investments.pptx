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19  ·  WEEK 10  ·  AFTERNOON 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Alternative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Investments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Private capital, real assets, hedge funds, and digital assets — what traditional long-only portfolios cannot do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Level I · Vol 8 Learning Modules 1–7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— Alternative Investments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sections · ~2 hours · Built bottom-up from CFA readings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850392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207008"/>
            <a:ext cx="594360" cy="47548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207008"/>
            <a:ext cx="59436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252728"/>
            <a:ext cx="7726680" cy="21397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Features, methods, structures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1420978"/>
            <a:ext cx="7726680" cy="26151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alt categories · fund / co-invest / direct · LP-GP term sheet &amp; committed capital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719072"/>
            <a:ext cx="8503920" cy="47548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1719072"/>
            <a:ext cx="594360" cy="47548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1719072"/>
            <a:ext cx="59436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1764792"/>
            <a:ext cx="7726680" cy="21397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 &amp; fees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1933042"/>
            <a:ext cx="7726680" cy="26151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J-curve · IRR vs MOIC · 2-and-20 with 8% hurdle · catch-up, HWM, clawback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231136"/>
            <a:ext cx="850392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231136"/>
            <a:ext cx="594360" cy="47548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231136"/>
            <a:ext cx="59436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276856"/>
            <a:ext cx="7726680" cy="21397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Private capital — PE &amp; private debt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2445106"/>
            <a:ext cx="7726680" cy="26151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 / growth / buyout · LBO IRR build · exits · direct lending / mezz / distressed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2743200"/>
            <a:ext cx="8503920" cy="47548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2743200"/>
            <a:ext cx="594360" cy="47548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0040" y="2743200"/>
            <a:ext cx="59436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2788920"/>
            <a:ext cx="7726680" cy="21397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estate &amp; infrastructure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2957170"/>
            <a:ext cx="7726680" cy="26151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→ opportunistic · cap rate vs REIT FFO multiple · BOT infra, greenfield / brownfield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3255264"/>
            <a:ext cx="850392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320040" y="3255264"/>
            <a:ext cx="594360" cy="47548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0040" y="3255264"/>
            <a:ext cx="59436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3300984"/>
            <a:ext cx="7726680" cy="21397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 resources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24128" y="3469234"/>
            <a:ext cx="7726680" cy="26151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Farmland &amp; timberland · commodities via futures · roll yield, contango vs backwardation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20040" y="3767328"/>
            <a:ext cx="8503920" cy="47548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4" name="Shape 32"/>
          <p:cNvSpPr/>
          <p:nvPr/>
        </p:nvSpPr>
        <p:spPr>
          <a:xfrm>
            <a:off x="320040" y="3767328"/>
            <a:ext cx="594360" cy="47548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20040" y="3767328"/>
            <a:ext cx="59436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" y="3813048"/>
            <a:ext cx="7726680" cy="21397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Hedge funds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3981298"/>
            <a:ext cx="7726680" cy="26151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L/S equity · event-driven · relative value · macro / CTA · 2-and-20, HWM, lockups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20040" y="4279392"/>
            <a:ext cx="850392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320040" y="4279392"/>
            <a:ext cx="594360" cy="47548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20040" y="4279392"/>
            <a:ext cx="59436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4325112"/>
            <a:ext cx="7726680" cy="21397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Digital assets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24128" y="4493362"/>
            <a:ext cx="7726680" cy="26151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DLT, PoW vs PoS · crypto vs tokens · direct wallet / futures / ETFs · custody &amp; regulatory risk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822960"/>
            <a:ext cx="8503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deck you should be able to: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1188720"/>
            <a:ext cx="8503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any alternative investment into private capital, real assets, or hedge funds, and describe the access methods (fund / co-invest / direct) and their respective control-vs-fees trade-offs.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 GP's performance fee under 2-and-20 with hard and soft hurdles, with and without a catch-up clause; define high-water mark and clawback.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IRR from MOIC / DPI / TVPI and explain why IRR is the preferred headline return for long-lived alts.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Categorise private equity (VC, growth, buyout) and private debt (direct lending, mezzanine, venture debt, distressed) and place each on the risk–return ladder.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a piece of commercial real estate using a cap rate on NOI and value a REIT using an FFO multiple, and explain why they can diverge in real time.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hedge-fund strategy taxonomy (equity L/S, event-driven, relative value, macro, multi-manager) and the core investment features of digital assets including custody and regulatory risks.
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Features, methods,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7  ·  Deck 19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Alternatives are grouped by what they are NOT — they lack the liquidity, transparency, and easy-to-benchmark returns of public equity and public debt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1, pp. 6–11.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broad categories, five features in common — longer horizon, illiquidity, specialised knowledge, complex fees, appraisal-based valuation.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2860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Category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Sub-classes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Investment approach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capital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Private equity (VC / growth / buyout), private debt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Long-horizon ownership or lending to non-public firms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assets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Real estate, infrastructure, natural resources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Tangible physical ownership — leases, tolls, harvests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Hedge funds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L/S equity, event-driven, relative value, macro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Leverage + shorting + derivatives on traditional assets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834640"/>
            <a:ext cx="8503920" cy="14173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2834640"/>
            <a:ext cx="73152" cy="14173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28803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FIVE FEATURES IN COMMON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154680"/>
            <a:ext cx="827532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Specialised knowledge to value cash flows and risks.   2. Low correlation with traditional asset returns — the headline diversification pitch.   3. Illiquidity, long horizons, large capital outlays.   4. Performance-based, not flat, compensation to align GP incentives.   5. Appraisal-based valuations (Level 3 fair value) — risk of smoothed, understated volatility.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Fund investing, co-investing, and direct investing trade off control for access on a sliding scale of sophistication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1, pp. 12–18.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institutional investors start in funds, graduate to co-investments, and — if large enough — run direct investing in-house (sovereign wealth funds, largest pensions).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FUND INVESTING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251460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capital to a GP; GP sources, selects, and manages the underlying deals. No control over individual investments.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Typical fee: 1.5 – 2.0% mgmt + 20% carry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Control: lowest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Suited for: LPs without specialised in-house team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CO-INVESTING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508760"/>
            <a:ext cx="251460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in the fund AND have rights to deploy additional capital directly alongside the GP into specific portfolio companies.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Typical fee: 0 – 1% + reduced carry on the co-invest slice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Control: medium — deal-by-deal opt-in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Suited for: experienced LPs seeking fee relief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 INVESTING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508760"/>
            <a:ext cx="251460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directly in assets without a fund intermediary. Full diligence, structuring, and management done in-house.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Typical fee: none (internal costs only)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Control: maximum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Suited for: largest SWFs, pensions — they compete with GPs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Limited partnerships concentrate capital from many LPs and decision-making in a single GP — whose incentives must be carefully aligned through complex compensation terms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1, Exhibit 3 (Tenderledge term sheet), pp. 19–28.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LPs commit capital over 10y; GP draws it down as deals close (capital calls). GP runs the business and bears (theoretically) unlimited liability.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ROLES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GP = Fund Manager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– Sources, selects, manages, exits deals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– Receives management fee + carried interest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– ≥ 2% LP commitment common (skin-in-game)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LPs = Outside investors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– Passive, no role in day-to-day decisions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– Commit capital; small upfront cash outflow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– Capital calls drawn over 3–5y investment period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TENDERLEDGE FUND VIII — TERM SHEET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Size: up to USD 750m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GP commitment: ≥ 2% of aggregate LP commitments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Term: 10 years from initial closing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Management fee: 1.5% p.a. on committed capital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Hurdle rate: hard 10% preferred return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Performance fee: 20% above the hurdle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Waterfall: whole-of-fund (European) with clawback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Side letters: bilateral, override the LPA for one LP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 &amp; fees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7  ·  Deck 19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private-capital J-curve records a predictable sequence — early fees depress returns before capital-deployment gains and, eventually, exit distributions dominate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2, Exhibit 1, pp. 36–44.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cash flows are lumpy and staged, periodic "TWR" on a PE portfolio is misleading — IRR is the only sensible headline.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·  COMMITMENT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251460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0–2: Fund is closed, LPs committed, GP identifies deals.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&amp; setup costs accrue IMMEDIATELY; little or no invested capital → return is NEGATIVE.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bottom of the "J".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 ·  DEPLOYMENT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508760"/>
            <a:ext cx="251460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2–5: Capital is called and invested; portfolio companies restructure / grow.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begin to compound but management fees still drag. Valuations appraisal-based — often anchored near cost.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·  DISTRIBUTION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508760"/>
            <a:ext cx="251460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5–10+: Successful exits trigger distributions (trade sale, IPO, SPAC, recap).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accelerate — the "up-stroke of the J". Cash distributions flow back to LPs net of carry.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 captures the timing of cash flows; MOIC captures the multiple — they answer different questions and both are needed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325112"/>
            <a:ext cx="8503920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DPI (Distributions to Paid-In) = Σ cash distributed / Σ paid-in capital — "realised" return. TVPI = (Distributions + NAV) / Paid-in — total including unrealised.
</a:t>
            </a:r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 RVPI = NAV / Paid-in. TVPI = DPI + RVPI; as the fund matures, RVPI falls to zero and TVPI converges to DPI.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2, pp. 46–52.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 treats USD 1 returned in year 2 identically to USD 1 returned in year 15. IRR does not. Both matter.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IRR:  Σ  CFₜ / (1 + IRR)ᵗ  =  0         MOIC  =  (Realised + Unrealised) / Invested capital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Invested capital = paid-in capital less management fees and fund expenses.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377440"/>
            <a:ext cx="8503920" cy="19202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4231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KNOWLEDGE CHECK — HIMITSU INVESTS IN ZZZ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157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0: invest JPY 3.8bn.  Year 2: +JPY 1.2bn.  Year 3: +JPY 0.2bn.  Year 8: sell for JPY 8.5bn.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227832"/>
            <a:ext cx="822960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invested: 3.8 + 1.2 + 0.2 = JPY 5.2bn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 = 8.5 / 5.2 = 1.63×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≈ 20% p.a. (solves NPV = 0 across the staged cash flows)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1.63× MOIC sounds modest — until you see it was earned in 8 years, giving a ~20% IRR.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MOIC = 1.63×   ·   IRR ≈ 20%. A 2× MOIC over 15 years is a 4.7% IRR — the timing matters.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2-and-20 fee structure pairs a 2% management fee on assets with 20% carried interest above an 8% hurdle — the industry default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1, Compensation structures, pp. 22–28.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 typically bases mgmt fee on COMMITTED capital (disincentivises rush-to-deploy). Hedge funds base mgmt fee on AUM.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r_GP  =  max[ 0 ,  p × (r  −  r_h) ]            (no catch-up)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r = single-period fund return; r_h = hurdle rate; p = GP performance-fee rate (20% is standard).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77440"/>
            <a:ext cx="8503920" cy="19202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1 — FUND EARNS 18%, HARD 8% HURDLE, 20% CARRY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157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management fees. Single-period fund rate of return r = 18%. Hard hurdle r_h = 8%. GP carry p = 20%. Compute the GP's share and the LP's share.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27832"/>
            <a:ext cx="822960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 above hurdle: 18% − 8% = 10%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 share (no catch-up): r_GP = 20% × 10% = 2.0%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share: 18% − 2.0% = 16.0%  →  the LP receives the full 8% hurdle PLUS 80% of the 10% excess = 8% + 8% = 16%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check: GP + LP = 2.0% + 16.0% = 18.0%  ✓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 = 2.0%   ·   LP = 16.0%. Under a hard hurdle without catch-up, GP only earns on the excess.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Catch-up clauses accelerate the GP's share above the hurdle; high-water marks and clawbacks limit double-dipping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1, Exhibits 9–11, pp. 22–28.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18% / 8% / 20% fund — GP walks away with 2.0% (no catch-up) or 3.6% (full catch-up). That's a 1.6 pp swing on a single deal.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r_GP  =  max[ 0 ,  r_cu  +  p × (r  −  r_h  −  r_cu) ]            (with catch-up)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r_cu = catch-up return paid entirely to GP after LP receives hurdle; r_cu such that cumulative split reaches 80/20.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4160520" cy="1920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20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 FULL CATCH-UP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393192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earns the 8% hurdle first. Then GP receives 100% of next returns until total split = 80/20. Remaining split 80/20.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LP gets 8% + 6.4% + 0% = 14.4%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GP gets 0% + 2.0% + 1.6% = 3.6% (vs 2.0% without)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2331720"/>
            <a:ext cx="416052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4663440" y="233172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006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PROTECTIONS AGAINST DOUBLE-DIP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2651760"/>
            <a:ext cx="393192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High-water mark (HWM) — GP earns carry only above fund's previous NAV peak. Prevents paying twice for the same gain.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Clawback — LPs reclaim carry already paid when later losses bring the fund below the hurdle on aggregate.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Private capital —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 &amp; private debt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of 7  ·  Deck 19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Private equity spans a company's life cycle from idea (VC) to maturity (growth) to turnaround (buyout) — each stage with its own risk, return, and skill set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3, Exhibits 1–2, pp. 68–72.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 investors underwrite product-market fit. Buyout investors underwrite operational turnaround. Growth equity sits in between.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920240"/>
                <a:gridCol w="1554480"/>
                <a:gridCol w="13716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Stage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Revenues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Cash flow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Business risk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Typical PE form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 / pre-seed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Negative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Very high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Angel / VC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Start-up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 to none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Negative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Early-stage VC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Increasing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Increasing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Late-stage VC / Growth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Positive, predictable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Positive, predictable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LBO / buyout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Decline / turnaround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Declining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Declining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Increasing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Buyout / distressed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337560"/>
            <a:ext cx="8503920" cy="914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337560"/>
            <a:ext cx="73152" cy="914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3832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EXIT ROUTES DIFFER BY STAGE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657600"/>
            <a:ext cx="82753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 typically exits via IPO or trade sale to strategic buyer. Buyouts exit via IPO, SPAC, secondary sale (PE-to-PE), or dividend recap. Average hold period: ~5 years — but 6 months to 10+ years in the tails.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leveraged buyout creates equity value through three levers — cash-flow growth, multiple expansion, and debt paydown — quantified in a textbook IRR build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3, Private Equity Investment Characteristics, pp. 68–78.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below are illustrative for training. Real-world LBOs layer in fees, transaction costs, add-on M&amp;A, and management incentive plans.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30632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TEXTBOOK BUYOUT — 5-YEAR HOLD, 60% DEBT, 6× → 7× EBITDA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27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 target: EBITDA₀ = USD 100; 6.0× entry → EV = USD 600. Capital: USD 360 debt (60%) + USD 240 equity. Hold 5 years; EBITDA grows 6% p.a. → EBITDA₅ = USD 134. Exit at 7.0× → EV₅ = USD 938. Debt paid down to USD 210.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39112"/>
            <a:ext cx="8229600" cy="1700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equity: 240;  Exit enterprise value: 7.0 × 134 = 938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equity = EV − Net debt = 938 − 210 = 728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equity multiple (MOIC) = 728 / 240 = 3.03×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= (3.03)^(1/5) − 1 ≈ 24.8%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Decomposition: EBITDA growth +34%, multiple expansion +17%, debt paydown +150 → ≈ 25% IRR over 5y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81304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81304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MOIC ≈ 3.0×   ·   IRR ≈ 25%. Leverage amplifies — a 10% EBITDA miss would drop equity by ~25%.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Trade sale, IPO, SPAC, recap, secondary, write-off — PE exit routes are not equal and the choice shapes realized returns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3, Exhibit 3, pp. 73–77.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pre-plan exit route at entry. Strategic buyer at a synergy premium is still the single most common PE exit.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474720"/>
                <a:gridCol w="29260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Exit route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Key advantage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Key drawback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 sale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Strategic buyer pays synergy premium; fast execution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Limited universe of strategic buyers; regulatory scrutiny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Highest potential price; management retention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 cost, long lead time, market volatility, lockup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Faster than IPO; fixed valuation; forward guidance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Dilution from warrants; post-merger stockholder overhang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Secondary sale (PE-to-PE)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Liquidity without public-market exposure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Price discovery limited to other sponsors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Recapitalization (dividend recap)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Extract cash without losing control; boosts IRR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Increases leverage on portfolio company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Write-off / liquidation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Closes failed deal, frees team for next project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Signals loss — drags fund performance and track record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Private debt fills the gap between bank loans and public bonds — four flavours: direct lending, mezzanine, venture debt, distressed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471416"/>
            <a:ext cx="8503920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Private-debt market grew after the 2008 crisis as banks retrenched under tightened regulation. Private-debt funds filled the gap, charging an illiquidity premium.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3, pp. 79–84.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Unitranche and leveraged loans are variants; covenants, seniority, and collateral define risk far more than nominal coupon.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2560320"/>
                <a:gridCol w="1280160"/>
                <a:gridCol w="13716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Category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Seniority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Typical borrower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Yield pickup*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Risk profile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lending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Senior, secured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Mid-market corporates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+300–500 bps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Moderate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Mezzanine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 to senior, sr to equity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LBOs, recaps, acquisitions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+800–1200 bps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 — with warrants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Venture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Senior to equity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Start-ups / early-stage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+500–1000 bps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 — equity-like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Distressed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Varies by tranche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Firms at / near bankruptcy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+1000 bps+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Very high — workout risk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Unitranche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Blended senior / sub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Mid-market LBOs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+400–700 bps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Moderate-to-high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320040" y="3474720"/>
            <a:ext cx="8503920" cy="777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2" name="Shape 9"/>
          <p:cNvSpPr/>
          <p:nvPr/>
        </p:nvSpPr>
        <p:spPr>
          <a:xfrm>
            <a:off x="320040" y="3474720"/>
            <a:ext cx="73152" cy="777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7200" y="35204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*YIELD PICKUP OVER COMPARABLE PUBLIC DEBT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3794760"/>
            <a:ext cx="82753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ranges from broker research. Rates quoted off a reference rate (SOFR / MRR) — coupon floats with policy-rate moves. The illiquidity premium is real but hard to measure because appraisal-based marks smooth observed volatility.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and return rise smoothly as you move from senior infrastructure debt up the capital stack to private equity co-investments — each rung adds a specific risk premium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3, Exhibit 6, pp. 85–87.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correlations of private capital with public indexes range 0.63–0.86 (Preqin vs MSCI World / S&amp;P 500) — meaningfully positive.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27432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Rung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Position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Risk premium paid for...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 ·  Infrastructure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Most senior real-asset debt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Illiquidity; long duration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 ·  Senior real-estate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First-lien mortgages; IG CMBS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Illiquidity; collateral diligence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·  Senior direct lending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Senior secured corporate loans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Credit risk of non-public borrowers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·  Unitranche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Blended senior / subordinated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Credit + subordination risk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 ·  Mezzanine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 to senior, sr to equity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Subordination + embedded equity upside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 ·  Private equity (buyout / growth)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Common equity in private company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Leverage, illiquidity, concentration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 ·  PE co-investments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Concentrated direct equity stakes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 of PE + deal-specific concentration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estate &amp;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infrastructure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of 7  ·  Deck 19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estate returns run a spectrum from bond-like core to equity-like opportunistic — leverage and development risk drive the escalation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4, Exhibit 4, pp. 102–106.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deeper you go up the ladder, the more of total return comes from price appreciation rather than rental income.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75488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Strategy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Character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Example deal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Bond-like; first mortgages, investment-grade CMBS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IG CMBS pool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Stable income producing; long leases; many lessors; low leverage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Trophy CBD office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Core-plus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Below-IG CMBS, tenant repositioning, stabilising cash flow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Minor refurbishment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Value-add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Re-leasing, redevelopment, property repositioning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B-grade office retrofit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Opportunistic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Development, distressed, mezzanine RE debt, major redevelopment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Ground-up development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474720"/>
            <a:ext cx="8503920" cy="777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474720"/>
            <a:ext cx="73152" cy="777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5204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DRIVES THE ESCALATION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794760"/>
            <a:ext cx="82753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(LTV rises from ~50% in core to 70%+ in value-add/opportunistic), vacancy risk (stabilised vs speculative leasing), construction risk (zoning, cost overruns, permitting), and market risk (cyclical cap-rate compression / expansion).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 real estate is valued off a cap rate on stabilised NOI; public REITs trade on an FFO multiple — the two numbers should reconcile but rarely do in real time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471416"/>
            <a:ext cx="8503920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FFO (Funds From Operations) = Net income + Real-estate depreciation − Gains on property sales. A REIT-specific GAAP-adjustment because RE depreciation is largely non-economic.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4, REIT valuation and FFO, pp. 100–106.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NAV-to-market premium/discount persists for public REITs — daily pricing vs annual appraisals creates a persistent gap.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188720"/>
            <a:ext cx="4160520" cy="3108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  ·  CAP RATE ON NOI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27048"/>
            <a:ext cx="38862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building: annual rents USD 8m, opex USD 2m, vacancy factor already included.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039112"/>
            <a:ext cx="3886200" cy="1746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 = Rents − Opex = 8 − 2 = USD 6m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cap rate for comparable CBD office: 5.5%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= NOI / cap rate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6 / 0.055 = USD 109m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1480" y="3858768"/>
            <a:ext cx="39776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3858768"/>
            <a:ext cx="38862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 RE value ≈ USD 109m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63440" y="1188720"/>
            <a:ext cx="4160520" cy="3108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123444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REIT  ·  FFO MULTIPLE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800600" y="1527048"/>
            <a:ext cx="38862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REIT: Net income USD 1.60/sh; RE depreciation USD 0.80/sh; no property sales this year.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2039112"/>
            <a:ext cx="3886200" cy="1746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FFO/sh = 1.60 + 0.80 = USD 2.40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Peer-group FFO multiple: 15×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share price = 15 × 2.40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USD 36/sh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3858768"/>
            <a:ext cx="39776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00600" y="3858768"/>
            <a:ext cx="38862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REIT implied price ≈ USD 36/sh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REITs remove double taxation by distributing 90–100% of taxable rental income — the price of that gift is limited retained capital for growth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4, pp. 98–106.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REIT vs direct RE: daily liquidity but higher correlation with public equity; lower minimum ticket but reduced control over property decisions.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EQUITY REITs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251460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&amp; operate income-producing property. Maximise occupancy × rent minus opex.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90–100% payout of taxable income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Primary return: dividend + appreciation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Valued on FFO / AFFO multiples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MORTGAGE REITs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508760"/>
            <a:ext cx="251460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real-estate debt instead of real estate itself.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Portfolio of MBS and whole mortgages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Highly leveraged; NIM-driven return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Sensitive to interest-rate moves and credit spreads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 REITs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508760"/>
            <a:ext cx="251460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equity and debt real-estate exposure in one vehicle.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Lower sector-specific risk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Return driven by mix of rental + interest income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Less common than pure-equity or pure-mortgage REITs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Infrastructure is real-asset cousin to real estate but distinguished by public-use purpose, concession contracts, and long-duration availability-based cash flows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4, pp. 107–116.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infra cash flows look bond-like — regulated utility rates, availability payments, long-tenor tolls — attractive for LDI / pension matching.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840480"/>
                <a:gridCol w="21945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Category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Examples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Cash-flow mechanism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— Transportation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Toll roads, bridges, airports, ports, rail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Usage-based (traffic, tolls)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— ICT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Telecom towers, fibre, data centres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Long-term leases to carriers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— Utilities / energy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Power grid, gas pipelines, water, waste, LNG terminals, renewables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Regulated tariffs / take-or-pay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 — Education &amp; health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Schools, hospitals, clinics, correctional facilities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Availability payments from gov't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 — Gov't buildings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Municipal buildings, social housing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Lease from gov't under PPP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383280"/>
            <a:ext cx="8503920" cy="914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383280"/>
            <a:ext cx="73152" cy="914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4290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FINANCING STRUCTURE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703320"/>
            <a:ext cx="82753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Public–private partnership (PPP) under a long-term concession agreement — private investor builds, operates, and maintains; government retains underlying right and often buys off at the end. Typical concession tenor: 20–40 years.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greenfield-to-brownfield spectrum maps infrastructure risk: build-operate-transfer projects start with negative cash flows, stabilise through operations, and exit to long-duration investors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4, Exhibit 7, pp. 109–112.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J-curve resembles PE: build phase is cash-negative; operate phase is cash-positive; transfer phase realises terminal value.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GREENFIELD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251460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new asset from scratch.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Highest risk: construction, permitting, demand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BOT life cycle: Build → Operate → Transfer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Expected return highest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Typical investor: dev specialists + strategic partners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BROWNFIELD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508760"/>
            <a:ext cx="251460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/ upgrade existing asset, often via privatisation or sale-leaseback.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Operating history available → lower risk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Immediate cash flows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expected return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Investor: strategic + financial mix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SECONDARY-STAGE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508760"/>
            <a:ext cx="251460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operational asset, no further material capex.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Lowest risk — pure cash-flow asset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Stable, predictable distributions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Lowest expected return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Investor: pensions, insurers, SWFs seeking duration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 resources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7  ·  Deck 19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Raw land, farmland, and timberland share real-estate DNA but derive their value from the soil and the biology — not the buildings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5, Exhibit 1, pp. 124–128.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Timberland acts as both factory AND warehouse — you can delay harvest when lumber prices are weak. Farmland cannot.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011680"/>
                <a:gridCol w="2286000"/>
                <a:gridCol w="22860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Attribute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Raw land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Farmland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Timberland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drivers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Land price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Harvest qty · commodity prices · land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Biological growth · lumber · land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of 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Lease income (limited)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Crop sales + lease revenue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Timber sales + lease revenue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risks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Alternative-use optionality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Weather, climate, disease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Weather, disease, wildfire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Ownership forms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Direct / partnership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Direct / partnership / REIT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Direct / partnership / REIT / TIMO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owner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Mostly individuals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Family + inst'l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Mostly institutional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520440"/>
            <a:ext cx="8503920" cy="7315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520440"/>
            <a:ext cx="73152" cy="7315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5661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TIMBERLAND = FACTORY + WAREHOUSE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840480"/>
            <a:ext cx="827532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to timberland: trees keep growing when you don't harvest (biological growth continues). Farmland: harvest-or-lose-the-crop (no warehouse). This asymmetry is a core timberland selling point — it adds optionality on lumber prices.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Commodity total return equals spot return plus roll yield plus collateral yield — roll yield is where the shape of the forward curve enters portfolio P&amp;L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5, pp. 130–140.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commodity exposure is via futures. When the front contract rolls to the next month, the slope of the curve determines whether you bleed or gain.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F₀(T)  =  S₀ × e^((r + c − i) × T)         Total return  =  Spot return  +  Roll yield  +  Collateral yield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c = cost of carry (storage, insurance, transport); i = convenience yield (non-cash benefit of holding the physical); r = risk-free rate.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416052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BACKWARDATION  ·  ENHANCES RETURN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393192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curve SLOPES DOWN (future prices &lt; spot).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Convenience yield &gt; cost of carry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Typical when inventories are LOW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Long-only investor ROLLING forward BUYS CHEAP, sells rich → positive roll yield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2331720"/>
            <a:ext cx="4160520" cy="1920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63440" y="2331720"/>
            <a:ext cx="73152" cy="1920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006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CONTANGO  ·  DRAG ON RETURN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2651760"/>
            <a:ext cx="393192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curve SLOPES UP (future prices &gt; spot).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Cost of carry &gt; convenience yield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Typical when inventories are HIGH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Example: crude oil April 2020 flipped to deep contango as COVID crushed demand — long-only investors bled roll yield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Commodities have historically outperformed stocks and bonds during rising-inflation regimes — farmland and timberland add lower-correlation diversification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5, Exhibits 6 &amp; 8, pp. 136–140.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1992–2022. Commodities annualised 7.81% at 24.4% vol; rolling regimes matter as much as the headline return.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25880"/>
                <a:gridCol w="1325880"/>
                <a:gridCol w="109728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Metric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Global Stocks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Global Bonds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Commodities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Farmland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Timberland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Annualised return 1992–2022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6.89%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4.39%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10.95%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8.69%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Annualised standard deviation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16.8%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24.4%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— HIGH inflation years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+9.4%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+5.7%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+22.9%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+12.8%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+10.4%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— LOW inflation years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+5.4%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+4.2%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−9.3%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+9.9%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+5.7%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 w/ global stocks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0.12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TAKEAWAY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Inflation hedge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Lowest ρ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Hedge funds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of 7  ·  Deck 19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Hedge funds are defined by investment approach — leverage, shorting, derivatives — not by the underlying assets, which makes the strategy taxonomy the right way to classify them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6, Exhibit 1, pp. 150–157.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HFR, MSCI, and Preqin all converge on roughly these five buckets. Multi-strategy / multi-manager funds combine several of them under one GP.</a:t>
            </a:r>
            <a:endParaRPr lang="en-US" sz="13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023360"/>
                <a:gridCol w="2377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Strategy family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Sub-strategies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Typical characteristic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hedge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Fundamental L/S, market neutral, short biased, fund'l growth / value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Bottom-up stock selection; variable beta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Event-driven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Merger arb, distressed, special situations, activist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Corporate-catalyst-driven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Convertible arb, fixed-income arb, multi-strategy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Market-neutral by design; levered spreads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Opportunistic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Global macro, managed futures / CTAs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Top-down; directional on macro views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Multi-manager / FoHF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Pod shops (Millennium, Citadel), fund of hedge funds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Diversification across PMs &amp; strategies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Equity long-short is the original hedge fund strategy; market-neutral, short-bias, and fundamental growth/value are variants of the same long-plus-short core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6, pp. 152–154.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beta of each variant is chosen deliberately — from close to +1 (fund'l growth) through 0 (market neutral) to near −1 (short biased).</a:t>
            </a:r>
            <a:endParaRPr lang="en-US" sz="13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645920"/>
                <a:gridCol w="1188720"/>
                <a:gridCol w="2926080"/>
                <a:gridCol w="6400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Variant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Net exposure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Typical beta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Primary alpha source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Downside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Fundamental L/S (long-biased)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+30% to +60%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+0.4 to +0.7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 winners vs short losers within same sector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Fundamental growth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Long-biased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+0.6 to +1.0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 high-growth; short declining business models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Fundamental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Long-biased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+0.4 to +0.8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 undervalued turnarounds; short overpriced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neutral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≈ 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near 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Pure security selection; stable low single-digit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biased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−30% to −80%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−0.3 to −0.8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Forensic analysis; accounting/business flaws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520440"/>
            <a:ext cx="8503920" cy="7315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520440"/>
            <a:ext cx="73152" cy="7315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5661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CORRELATION EVIDENCE (LM6 EXAMPLE 1)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840480"/>
            <a:ext cx="827532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10y monthly data: fundamental value / growth correlate 0.80 / 0.67 with the market; market-neutral is 0.22; short-bias is −0.72. Market-neutral delivers stable sub-1% monthly vol but leverage is typical to amplify the low single-digit edge.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Event-driven and relative value strategies profit from specific corporate catalysts and temporary pricing dislocations — both use leverage to amplify modest spreads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6, pp. 154–156.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share a "spread compression" thesis — and both can get blown up when the catalyst fails (deal break, default, liquidity crunch).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EVENT-DRIVEN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Merger arbitrage — long target, short acquirer; profit as announced spread narrows to close. Risk: deal break.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Distressed / restructuring — buy bonds at deep discount pre-bankruptcy; "fulcrum security" for reorg equity.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Special situations — spinoffs, recaps, rescue finance, catalyst-driven equity.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Activist — take board seat, push for divestitures / buybacks / strategy change.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 VALUE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Convertible-bond arbitrage — long convert, short delta-equivalent stock; profit from mispricing of embedded option.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Fixed-income arbitrage — sovereign curve, yield-curve trades, credit spread vs treasuries, on-the-run vs off-the-run.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 / asset-backed RV — mortgage-backed, high-yield spread trades.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Multi-strategy — deploy capital across all of the above, reallocate dynamically.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Hedge funds typically charge 2-and-20 with a high-water mark and impose lockup / redemption gates — features that reshape investor liquidity and fee math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6, pp. 158–166.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"1-or-30" is emerging: manager earns greater of 1% mgmt fee or 30% of alpha vs benchmark. Realigns incentive around outperformance, not AUM.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FEES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251460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2-and-20: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2% mgmt on AUM (not committed)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20% of profit above HWM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Emerging 1-or-30: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Greater of 1% or 30% × alpha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FoHF: extra +1% mgmt and +10% incentive layered on top.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508760"/>
            <a:ext cx="251460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Master-feeder — onshore &amp; offshore feeders into one master fund; tax efficiency.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Separately managed account (SMA) — assets in investor's name; investor retains custody and legal title.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Fund of one — single LP.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LIQUIDITY RESTRICTIONS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508760"/>
            <a:ext cx="251460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Lockup — minimum hold period (1–3y typical).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Soft lockup — early redemption allowed with 1–5% fee payable to the fund.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Redemption notice — 30–90 days.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Gate — fund-wide cap on % of NAV that can be redeemed in any quarter.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Digital assets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of 7  ·  Deck 19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Distributed ledger technology turns a trusted database into a trustless network — every full node holds a verified copy; consensus replaces the central intermediary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7, pp. 181–184.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at the heart of DLT: decentralisation costs energy and throughput. Permissioned networks trade some decentralisation for speed.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 OF WORK  (PoW)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Miners solve a computationally expensive puzzle to propose the next block.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Energy-intensive (Bitcoin ≈ small country's draw)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Secured by economic cost of attacking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51% attack = control most computing power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Used by Bitcoin, legacy Ethereum (pre-Merge)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 OF STAKE  (PoS)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 lock ("stake") capital to vouch for a block's validity.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Far lower energy cost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Secured by economic cost of losing the stake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Ethereum moved PoW → PoS in Sept 2022 (The Merge)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Used by Ethereum, Solana, Cardano, etc.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520440"/>
            <a:ext cx="8503920" cy="7315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3520440"/>
            <a:ext cx="73152" cy="7315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5661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PERMISSIONED vs PERMISSIONLESS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840480"/>
            <a:ext cx="827532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Permissionless (Bitcoin, Ethereum) = open to anyone, governance decentralised. Permissioned (many enterprise chains) = gated membership, faster &amp; cheaper but requires trust in gatekeeper. Governance and throughput trade off against open participation.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Digital assets split into cryptocurrencies and tokens — with distinct investment characteristics and regulatory ambiguity across both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7, Exhibit 4 &amp; pp. 185–206.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+ Ether ≈ 80% of crypto market cap (as of July 2022). Everything else is the long tail.</a:t>
            </a:r>
            <a:endParaRPr lang="en-US" sz="13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566160"/>
                <a:gridCol w="26517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Sub-type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Use case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Cryptocurrencies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Bitcoin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Medium of exchange / store of value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Cryptocurrencies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Altcoins (Ether, Solana, …)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Programmable smart contracts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Cryptocurrencies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Stablecoins (USDC, Tether)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Peg to fiat — settlement rail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Cryptocurrencies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CBDCs (pilot: eCNY, digital euro)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Tokenised fiat issued by central bank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Security tokens (ICO)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Digitised ownership of a security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Utility tokens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Pay for services on a network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Governance tokens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Vote on protocol changes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NFTs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Unique authenticated digital object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4251960"/>
            <a:ext cx="8503920" cy="4114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4251960"/>
            <a:ext cx="73152" cy="4114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42976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 FORMS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572000"/>
            <a:ext cx="8275320" cy="45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(wallets on centralised / decentralised exchanges) · Indirect (crypto futures on CME, spot Bitcoin ETFs, listed miners, hedge funds).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Bitcoin and Ether have offered high returns, high volatility, and low correlation — but tokenisation, custody, and regulatory risks are existential, not academic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471416"/>
            <a:ext cx="8503920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Curriculum text characterises Bitcoin as "high return, high risk, low correlation" — but warns that correlation with risk assets has risen materially post-2022.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8, Learning Module 7, pp. 188–206.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Digital-asset risk is not a list of price drawdowns — it is a list of ways your position can go to zero independent of price.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188720"/>
            <a:ext cx="2743200" cy="3063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1" name="Shape 9"/>
          <p:cNvSpPr/>
          <p:nvPr/>
        </p:nvSpPr>
        <p:spPr>
          <a:xfrm>
            <a:off x="320040" y="1188720"/>
            <a:ext cx="73152" cy="306324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1  ·  CUSTODY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645920"/>
            <a:ext cx="2468880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Centralised exchanges hold your keys — hacks &amp; fraud (Mt. Gox, FTX) wipe out balances.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Self-custody shifts the risk to you — lost seed phrase = irrecoverable loss.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Institutional qualified custodians (Coinbase, Fidelity Digital) emerging but nascent.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0" y="1188720"/>
            <a:ext cx="2743200" cy="3063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0400" y="1188720"/>
            <a:ext cx="73152" cy="306324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3756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2  ·  REGULATORY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337560" y="1645920"/>
            <a:ext cx="2468880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Jurisdictional patchwork: legal in some countries, banned in others.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 / CFTC turf war on "security" vs "commodity" status of specific tokens.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Tax treatment evolving fast — rules from 2020 already outdated.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 can be criminal in several jurisdictions.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80760" y="1188720"/>
            <a:ext cx="2743200" cy="3063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9" name="Shape 17"/>
          <p:cNvSpPr/>
          <p:nvPr/>
        </p:nvSpPr>
        <p:spPr>
          <a:xfrm>
            <a:off x="6080760" y="1188720"/>
            <a:ext cx="73152" cy="306324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1792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3  ·  VALUATION &amp; PEG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1645920"/>
            <a:ext cx="2468880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cash flows → no fundamental anchor. Value is entirely expectation-driven.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Algorithmic stablecoins can de-peg fast: Terra/LUNA → USD 40bn market cap to ~0 in one week (May 2022).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Even collateralised stablecoins (Tether) face reserve-quality scrutiny.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2860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82296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19 — Alternative Investments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7" name="Shape 5"/>
          <p:cNvSpPr/>
          <p:nvPr/>
        </p:nvSpPr>
        <p:spPr>
          <a:xfrm>
            <a:off x="62179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Alts are defined by what they are NOT — three buckets (private capital, real assets, hedge funds) share illiquidity, specialised knowledge, appraisal-based valuations, and performance-based fees.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4058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0" name="Shape 8"/>
          <p:cNvSpPr/>
          <p:nvPr/>
        </p:nvSpPr>
        <p:spPr>
          <a:xfrm>
            <a:off x="480517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634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J-curve + IRR is the correct performance lens for long-lived alts; MOIC, DPI, TVPI each answer a different question and should be reported together.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2-and-20 with 8% hurdle: on a single-period 18% return, GP earns 2.0% (no catch-up) or 3.6% (full catch-up). Clawbacks and HWMs prevent double-dipping.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058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6" name="Shape 14"/>
          <p:cNvSpPr/>
          <p:nvPr/>
        </p:nvSpPr>
        <p:spPr>
          <a:xfrm>
            <a:off x="480517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0634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 spans VC → growth → buyout across the life cycle; LBO value creation = cash-flow growth + multiple expansion + debt paydown — a 5y textbook deal clears ~25% IRR.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Real-estate risk ladder runs from senior debt / core (bond-like) to opportunistic (equity-like); a building at 5.5% cap on USD 6m NOI = USD 109m; its REIT trades on FFO multiples.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4058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517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634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cash flows are bond-like under concession contracts; BOT life cycle separates greenfield (highest risk) from brownfield / secondary (lower risk, lower return).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Commodities beat stocks &amp; bonds in high-inflation regimes but lose in low-inflation regimes; roll yield (contango vs backwardation) dominates spot return in futures-based strategies.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4058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517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0634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Hedge funds classified by STRATEGY, not asset class: equity L/S, event-driven, relative value, macro/CTA, multi-manager. Digital assets add DLT-specific risks — custody, regulation, peg — on top of price volatility.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Studio Tonton Gug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 v2 · Deck 19 · Alternative Investments</dc:title>
  <dc:subject>PptxGenJS Presentation</dc:subject>
  <dc:creator>Studio Tonton Gug</dc:creator>
  <cp:lastModifiedBy>Studio Tonton Gug</cp:lastModifiedBy>
  <cp:revision>1</cp:revision>
  <dcterms:created xsi:type="dcterms:W3CDTF">2026-04-23T14:08:56Z</dcterms:created>
  <dcterms:modified xsi:type="dcterms:W3CDTF">2026-04-23T14:08:56Z</dcterms:modified>
</cp:coreProperties>
</file>