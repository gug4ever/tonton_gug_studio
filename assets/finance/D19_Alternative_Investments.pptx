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Whole deck hangs on one idea: alts are priced for illiquidity and complexity, and the fee schedule is where that price is actually paid.
•  Session runs ~110 minutes. Sections 2 (fees) and 5 (commodities) are the ones they will be tested on.
•  Say up front: I hold the CAIA charter — half of this is my day job, so push me.
•  Warn them now that §2 has arithmetic. Phones down, paper out.
•  Flag the convention rule early: every fee number in this deck states its base and its convention.
NEXT — Agenda — seven learning modules, six sittings.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Set the clock so the fee section does not get squeezed — it always does.
•  Budget: §1 10 min · §2 30 min · §3 20 min · §4 15 min · §5 15 min · §6 15 min · §7 10 min.
•  Tell them §2 is the exam section. Everything else is descriptive.
•  Seven CFA learning modules, six teaching blocks — LMs 1 and 2 are merged here.
NEXT — Objectives — what they should be able to compute by 17:00.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of the six are computational. Point at them and say so.
•  Objectives 2 and 3 are the ones that get marked. The rest are recall.
•  Objective 4 is the one they will use in an interview: IRR vs MOIC.
•  Objective 6 catches people out — it is about the CURVE, not the price.
•  Ask them to keep a running list of any number I quote without a page reference. There should be none.
NEXT — Start with the definition, because it is a negative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Ten minutes. Definition, the three ways in, and the LP/GP contract. No maths yet.
•  Keep it brisk — this is the vocabulary block.
•  The payoff slide is the term sheet. Everything before it is scaffolding.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curriculum does not give a flat list of features — it gives a causal chain. Three properties, and three structures those properties force. Teach the arrow, not the list.
•  Do NOT say "five features". Count them on the slide: 3 features, 3 consequences.
•  Feature 2 is the sales pitch; feature 3 is the price you pay for it.
•  Consequence 5 is the whole of §2 — fees exist because of information asymmetry.
•  Consequence 6 is why the next 30 minutes are about how you measure any of this.
•  Hedge funds are the odd one out: classified by approach, not by what they hold.
FROM THE DESK — Low correlation is partly an artefact. Private marks are appraisal-based and stale, so measured covariance with public markets is mechanically understated. When an LP tells you their portfolio vol is 8%, ask how often the book is remarked.
ASK THE ROOM — A hedge fund that owns only S&amp;P 500 large caps — alternative or traditional? Why?
NEXT — If those are the features, how do you actually get exposure? Three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sliding scale: as you take on more work, you pay less fee and get more control. Nothing is free at either end.
•  Read Example 5 out: Tenderledge caps itself at USD 1bn of a USD 1.5bn deal and offers the USD 0.5bn to LPs on reduced fee and NO carry.
•  Say why the GP does it — three curriculum reasons: accelerate timing, widen the opportunity set, diversify the fund.
•  Direct investing needs the resources, not just the appetite. That is the exam distractor.
•  Do NOT let them think co-invest is free money — the LP does its own diligence in days, not months.
FROM THE DESK — Co-invest allocations are not distributed on merit; they are distributed on speed. The LPs who get the good ones are the ones who can turn round a credit paper in 72 hours. That is a staffing decision made three years before the deal.
ASK THE ROOM — If co-invest is cheaper, why does anyone still pay full freight in the fund?
NEXT — Whichever route you take, the fund itself is a limited partnership. Look at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Make them read a real term sheet. Every line is a negotiated transfer of value, and the fee line names its base.
•  Point at the management-fee line: 1.5% of COMMITMENT, not of NAV, not of invested capital. That is the PE convention.
•  Point at the hurdle line: it says HARD. Slide 12 shows what that word is worth in cash.
•  GP commitment ≥ 2% — the skin-in-the-game term. Ask what happens if it is 0.5%.
•  Side letters here are MFN: a concession to one LP flows to everyone. That is the LP-friendly version.
•  Note what is NOT on this term sheet: no waterfall, no clawback, no key-man clause. Those live in the LPA.
FROM THE DESK — The marketing deck and the LPA rarely disagree on the RATE; they disagree on the BASE and on when the base steps down. "1.5% on commitments during the investment period, then on invested cost" is a completely different fee stream from "1.5% on commitments for ten years", and the second one is what you get if nobody reads past page four.
ASK THE ROOM — A GP offers you 1.0% instead of 1.5%. What is the first question you ask before saying yes?
NEXT — Now the part that gets marked: how these funds report performance, and what the fees actually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Thirty minutes, five slides, and the only arithmetic in the deck that is genuinely examinable.
•  Announce the rule for the whole section: every fee calculation states its base and its convention before any number appears.
•  Slides 11 to 13 are a single argument. Do not break for questions until the end of 13.
•  Have them write down three words now: BASE, CONVENTION,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Students read the J-curve as "PE loses money at first". It does not. It charges fees at first, against a book marked at cost.
•  Draw the J on the board before revealing the columns. Ask them why it starts below zero.
•  The answer is on the slide: fees incurred before deployment, assets generating nothing.
•  Phase 3 detail they miss: the curve LEVELS OFF, it does not keep rising — capital is leaving.
•  Curriculum point worth quoting: marks sit at cost through the middle period until an impairment or a realisation.
•  This is why a 3-year-old fund's IRR tells you nothing about the manager.
FROM THE DESK — An LP's reported IRR on a young fund is close to meaningless, and every experienced allocator knows it — which is exactly why GPs raising fund IV lead with fund II's number, not fund III's. When a pitchbook skips a vintage, that is the vintage to ask about.
ASK THE ROOM — Two funds, same vintage, same 5-year IRR. One has drawn 40% of commitments, the other 90%. Which do you prefer?
NEXT — If IRR is the starting point, what is the shortcut everyone actually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one slide where the curriculum itself is wrong. Use it — nothing teaches "check the arithmetic" like catching the textbook.
•  Compute the MOIC with them first. 8.5 / 5.2. That part is straightforward and it is the actual exam answer.
•  Then ask the room to sanity-check 1.63x over eight years BEFORE you show the IRR line.
•  Someone will say "about 6%". They are right. The curriculum's table says 20%.
•  Say plainly: the printed 20% does not solve those cash flows. Footnote 2 records it. Own it, do not hide it.
•  Land the general point: MOIC ignores the clock; IRR is the clock.
•  Curriculum trade-off, verbatim: IRR is preferred for long-lived alts but needs opportunity-cost and reinvestment assumptions; MOIC is easy and used as a shortcut.
FROM THE DESK — A GP quotes IRR because early distributions and subscription lines flatter it. An LP asks for MOIC and DPI because those cannot be accelerated. If the deck leads with gross IRR and the DPI column is blank at year six, nothing has actually been returned yet.
ASK THE ROOM — A GP borrows on a credit line, holds the deal for a year, then calls capital and exits immediately. What happens to IRR? What happens to MOIC?
NEXT — Both of those are gross of fees. Now the part that decides what you actually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single most error-prone calculation in the volume, and the error is never the arithmetic — it is not knowing which convention you were handed.
•  Do the base first and make it stick: hedge fund on AUM, PE on COMMITTED capital.
•  Give the curriculum's reason for committed capital: it removes the incentive to deploy fast, and the GP influences the asset values so paying on those values is inappropriate.
•  Work case 1 on the board. Then just change one word — "net" — and let them redo it.
•  Case 3 adds the hurdle INSIDE the bracket. Order matters: hurdle and fee both come out before the 20%.
•  Land it: 21.40 vs 22.92 is 152 bps. On a EUR 500m ticket that is EUR 7.6m a year.
•  Exam trap: "management fee based on year-end AUM" means P₁, not P₀. Read the sentence twice.
FROM THE DESK — Ask a manager "is the incentive fee net of the management fee?" and watch. Marketing material almost always shows the net-of-everything investor return, because it is the flattering one, while the LPA computes the fee on the gross convention. The two documents are both true and they describe different money.
ASK THE ROOM — Same fund, but the management fee is charged on BEGINNING AUM. Recompute case 1 — does the investor do better or worse?
NEXT — Case 3 introduced a hurdle. Hurdles come in two flavours, and the difference is not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adjective — hard or soft — moves $3.2m on a $60m profit. Make them feel the size of a word.
•  Build the waterfall live, step by step, in the soft column. Capital back, preferred, catch-up, residual.
•  Stop at step 3 and ask what the catch-up is FOR. Answer: to restore the GP to a full 20% of everything.
•  Then do the hard column. No step 3. The excess is $44m and the GP takes 20% of that.
•  Check the totals with them: $148 + $12 = $160 and $151.2 + $8.8 = $160. Both must reconcile.
•  Punchline: soft + full catch-up gives GP $12m = 20% × $60m — identical to having no hurdle at all.
•  So a soft hurdle is a TIMING protection, not an economic one. A hard hurdle is economic.
FROM THE DESK — Almost every European buyout LPA you will read is a hard preferred with a 100% catch-up — which is economically a soft hurdle wearing a hard hurdle's clothes. The genuinely LP-friendly term is a partial catch-up, typically 50/50, and it is the term GPs fight hardest over, because it is the only one that permanently changes their share.
ASK THE ROOM — The fund returns exactly 8% and not a basis point more. What does the GP earn under each column?
NEXT — Hurdles govern a good year. Now what happens after a bad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different failure modes, three different clauses. Students merge them; the exam separates them.
•  HWM = time-series protection, within one investor's account, on a round trip down and back up.
•  Clawback = cross-sectional protection, across deals, over the life of the fund.
•  Waterfall = the order of payment. American pays early per deal, European waits for the whole fund.
•  Walk the AWJ three-year path on the board — the year-3 fee is on $6.6m, not on $18m.
•  Curriculum nuance worth stating: hedge fund investors generally CANNOT claw back a prior calendar year; PE and real estate funds usually can, for the life of the fund.
•  Second nuance: a new investor entering after the drawdown gets NO high-water-mark benefit and pays more.
FROM THE DESK — A clawback is only as good as the escrow and the covenant behind it. If carry has already been distributed to individual partners and spent, "the LPs have the right to reclaim" is a right against people, not against a balance sheet. Look for the escrow percentage and whether there are personal guarantees — that is the clause that actually works.
ASK THE ROOM — Fund is down 30%. The GP closes it and launches a new one with a fresh high-water mark. What did the LPs just lose?
NEXT — That is the contract. Now the asset classes it wraps — private capital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Twenty minutes. Life cycle, how value is actually created, how you get out, and the debt side.
•  The value bridge slide is the one worth the time. Everything else is taxonomy.
•  Private debt gets short shrift in most courses — it is now bigger than the high-yield market.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axis — life-cycle stage — explains the instrument, the investor and the required return. Make them read the table left to right, not top to bottom.
•  Risk falls monotonically down the table until Decline, where it turns back up. Ask them why.
•  Instrument follows risk: convertible preferred early (liquidation preference), leverage late (predictable cash flow).
•  Mezzanine FINANCING (hybrid debt-equity instruments) is not mezzanine-STAGE financing (bridge to IPO). The curriculum flags the confusion explicitly.
•  PIPEs: private placement into an already-public company, common in rescue situations, dilutive, priced at a discount.
•  Five-year average hold, six months to ten years in the tails.
FROM THE DESK — Nobody in the market says "growth equity" and means the same thing twice. In practice it is defined by what it is not: too late for the VC fund's ownership target, too little leverage for the buyout fund's model. That gap is where the crowding has been, and it shows in entry multiples.
ASK THE ROOM — Why does a VC take convertible preferred rather than common, when the whole thesis is equity upside?
NEXT — Take the buyout end. Where does the equity return actually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bridge is the discipline. If the three levers do not sum to the equity value created, the model is wrong — and this is how you audit any sponsor's track record.
•  Build it on the board in the order on the slide. Do not skip the reconciliation line.
•  Make them notice the multiple expansion term: 133.8 of 486.7, about 27%, is pure market beta.
•  Ask what happens at a flat 6.0x exit: equity = 802.9 − 210 = 592.9, MOIC 2.47x, IRR 19.8%.
•  Then ask about a 5.0x exit: 669.1 − 210 = 459.1, MOIC 1.91x, IRR 13.8%. One turn is worth six points of IRR.
•  Leverage is the amplifier: a 10% EBITDA miss at exit costs ~94 of enterprise value and all of it hits the equity.
•  This is the arithmetic behind "the last decade of PE returns was a rates story".
FROM THE DESK — Every credible LP now asks a GP to split the track record into these three buckets, and asks for it at the deal level rather than the fund level. A manager who cannot produce that split usually has one whose multiple-expansion column is embarrassing. It is the single most useful question in a manager meeting.
ASK THE ROOM — If you could only guarantee ONE of the three levers for the next five years, which do you take?
NEXT — The exit multiple assumed a buyer. Who actually buys, and at what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Every route is a trade between price and certainty. Rank them on that axis and the table becomes memorable.
•  Highest expected price: IPO. Highest CERTAINTY of price: SPAC and trade sale. That is the whole tension.
•  Trade sale is a strategic buyer paying for synergies — that premium is the reason it is the default.
•  IPO leaves the sponsor holding stock through a lockup, so the exit price is not the price they get.
•  Curriculum lists four SPAC drawbacks: dilution, valuation divergence, redemption risk, post-merger overhang.
•  Dividend recap: flag it as an IRR-flattering move and connect it back to slide 10.
FROM THE DESK — Continuation funds are the route the Level I curriculum does not cover and the market now runs on: the GP sells the asset to a vehicle it also manages, crystallising carry and resetting the clock while the LP is asked to either roll or take a price the GP set. It solves a real problem — a good asset in a fund that has run out of life — and it also solves the GP's carry problem. Ask who priced it.
ASK THE ROOM — A sponsor exits at a 20% premium to a rival PE firm. Has value been created, or moved?
NEXT — Same companies, other side of the balance sheet — private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let them memorise a spread table — teach them to read seniority and collateral, then price it themselves.
•  Count them with the room: FOUR major categories, then unitranche and specialty as additions. The exam has asked this.
•  Direct lending: senior, secured, covenanted, fixed schedule. That is the boring 80% of the market.
•  Mezzanine: junior and usually UNSECURED, which is why it needs warrants — the equity kicker is compensation, not upside.
•  Venture debt exists so founders can raise without further dilution. That is the whole product.
•  Distressed is priced to expected recovery — so the skill is recovery analysis and restructuring, not credit spread work.
•  Unitranche blends secured and unsecured into ONE rate that sits between the two. Straightforward exam question.
•  Specialty: litigation finance is the curriculum's own example.
FROM THE DESK — Unitranche looks like one loan and behaves like two: behind it sits an agreement among lenders that splits the blended coupon into a first-out and last-out tranche. The borrower never sees it, and it only becomes visible in a workout — at which point the "single lender, single rate" simplicity you were sold turns into a negotiation between two creditors with opposite incentives.
ASK THE ROOM — Direct lending at SOFR + 500 versus a public high-yield bond at 8% fixed. Which has more risk, and of what kind?
NEXT — Stack all of it up and you get the private-capital risk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axes decide a private capital return: where you sit in the capital structure, and what year you started. Students only ever think about the first.
•  Walk the ladder once, naming only the incremental risk added at each step.
•  Anchor with the curriculum's own question set: senior direct lending lowest, mezzanine intermediate, private equity highest.
•  Then flip to vintage. Exhibit 5 shows 2020 returns by vintage running from 10.3% (VY2007) to 43.5% (VY2018).
•  Correlation reality check: 0.63–0.83 is not diversification, it is a lag.
•  Curriculum caveat on the data: PE indexes rely on self-reporting and carry survivorship and backfill bias — returns are overstated, volatility understated.
FROM THE DESK — Vintage diversification sounds like a portfolio-construction nicety and is really a governance defence. The pressure to deploy is always highest when prices are highest, because that is when everyone is raising. A committed programme that puts the same amount to work every single year is the only mechanism most institutions have that actually resists it.
ASK THE ROOM — Your board wants to start a PE programme and deploy the whole allocation this year. What do you say?
NEXT — From companies to things you can stand on. Real estate and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Fifteen minutes. The ladder, how the two markets are valued, REIT plumbing, and infrastructure.
•  Flag before slide 22 that the valuation maths is MY addition, not Level I. Be scrupulous about it.
•  The appraisal-lag point is the one they should leave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ladder, and the fund structure is determined by which rung you are on. That link is the part students never see.
•  Read the ladder bottom-up and ask at each step: what NEW risk did I just take on?
•  Be precise on Exhibit 4: below-investment-grade CMBS is VALUE-ADD; core-plus is refurbishment and tenant work.
•  Sale-leaseback belongs in CORE — the seller becomes the tenant, so default risk is low and the return is lease-like.
•  Then the wrapper point: open-end for core, closed-end for opportunistic. Liquidity of the vehicle must match liquidity of the asset.
•  This is the whole story of the 2022–23 open-end property fund gatings, in one sentence.
FROM THE DESK — Every property cycle produces the same mis-sold product: an open-end fund holding assets that need three years to reposition, offering quarterly liquidity because that is what raises money. It works until redemptions exceed the cash sleeve, and then the queue itself becomes the news that causes more redemptions.
ASK THE ROOM — Core real estate is called "bond-like". Name two ways it is nothing like a bond.
NEXT — The same building, valued two ways — privately and publicly. They rarely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Say the disclaimer out loud before the numbers: this is CAIA and market practice, not Level I. Then teach it properly, because they will need it.
•  Define NOI by what it EXCLUDES — interest, tax, depreciation, capex. That is where errors live.
•  Cap rate = NOI / value. It is a yield, so it moves inversely to price. Say that twice.
•  Direct capitalisation only works on a STABILISED NOI. Half-let building or a rent-free period ⇒ DCF.
•  FFO adds back property depreciation because a maintained building is not a depreciating asset in the accounting sense.
•  Do the sensitivity live: 5.5% → 6.0% takes 109 to 100. Nine per cent of value from 50 basis points.
•  Close on the timing point: the REIT reprices that in a morning; the appraisal takes a year.
FROM THE DESK — When public REITs trade at a 25% discount to their own reported NAV, one of the two numbers is stale, and it is not the one being quoted every second. In 2022 the listed market marked offices down long before a single appraisal moved. An appraisal is an opinion anchored on recent comparables — and when transactions stop, there are no comparables, so the mark simply stops moving. Absence of a mark is not absence of a loss.
ASK THE ROOM — A REIT trades at a 30% discount to NAV. Buy the shares or buy the buildings?
NEXT — That public wrapper has rules of its own. What a REIT is, structurally.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90–100% distribution rule is not a detail — it determines the entire capital structure and growth model of the sector.
•  Start from the tax logic: corporation taxed, then shareholder taxed. The REIT breaks the first leg.
•  Consequence: almost no retained earnings, so growth must be funded by issuing equity or debt.
•  That is why REIT share price matters operationally — it IS the cost of growth capital.
•  Mortgage REITs own the debt. Levered NIM, rate-sensitive. Different animal entirely.
•  Curriculum advantage worth quoting: a REIT is not forced to sell buildings the way an open-end fund facing mass redemptions is.
FROM THE DESK — Because a REIT cannot retain earnings, it is permanently in the market for capital, which means it issues when its shares are dear and stops when they are cheap. Read a REIT's issuance history and you get a fair read on when management thought its own stock was expensive.
ASK THE ROOM — If a REIT must pay out ~100% of taxable income, where does the cash for a new building come from?
NEXT — Same real-asset family, different contract.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exam split is economic versus social. The investment split is demand risk versus availability risk — and that is the one that decides whether you get paid.
•  Teach the two-by-two: economic/social on one axis, demand/availability on the other.
•  Toll road = demand risk. Hospital = availability. Same asset class, completely different cash flow.
•  Take-or-pay is the utility's way of converting demand risk into contracted risk.
•  Concession agreement grants exclusivity for a defined period and defines the handback. It IS the investment.
•  Exhibit 9 anchor: Preqin infrastructure returned 8.57% annualised, Mar 2008–Jun 2021, at lower volatility than listed infrastructure.
FROM THE DESK — The clause that decides an infrastructure return is usually the tariff-indexation formula and its reset date, not the traffic forecast. A concession that indexes at CPI minus an efficiency factor, reset by a regulator every five years, is a different asset in a 7% inflation world than the model assumed at close. Read the reset mechanism before the traffic study.
ASK THE ROOM — Toll road or hospital — which do you want in a recession, and which in an inflation spike?
NEXT — When you invest matters as much as what. The build-operate-transfer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asset, three completely different investments depending on when you arrive. Map it straight back onto the J-curve from slide 9.
•  Draw the BOT curve: negative through build, positive through operate, terminal value at transfer.
•  Greenfield risks to name: permitting, construction cost, commissioning, and then demand.
•  Brownfield's edge is EVIDENCE — an operating history you can underwrite instead of a forecast.
•  Secondary-stage is the duration-matching trade. Lowest return is a feature, not a complaint.
•  Ask them which stage a pension fund with 20-year liabilities should buy, and why.
FROM THE DESK — The transfer leg is the one that gets underwritten last and hurts most. Handback conditions typically require the asset returned to a defined standard, which means a capex programme in the final years that has no return attached to it at all. If the model shows a clean terminal value and no handback capex, the model is optimistic by construction.
ASK THE ROOM — Why would anyone take greenfield construction risk when brownfield exists?
NEXT — Last of the real assets: the ones that grow, and the ones you dig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Fifteen minutes. Land first, then commodities — and commodities is where the curve does the work.
•  The forward-curve slide is the most examinable thing in this section. Give it the time.
•  Flag that the three-way return decomposition is my extension, not Level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idea carries this slide: timberland has an embedded option that farmland does not. Everything else is a table.
•  Read the ownership row carefully — the curriculum says raw land is MOSTLY INSTITUTIONAL and farmland is MOSTLY INDIVIDUALS. It is counter-intuitive; do not invert it.
•  Raw land's only real risk in Exhibit 1 is "best alternative use" — it is an optionality asset, not a cash-flow asset.
•  Farmland and timberland share the same risk row: weather, climate, biology.
•  TIMO = timberland investment management organisation, for institutions with no forestry expertise in-house.
•  The factory-and-warehouse line is worth writing on the board. It is the exam-friendly framing.
FROM THE DESK — The "store it on the stump" option is real but it is not free. Standing timber past its optimal rotation ties up capital, keeps accruing management and fire cost, and eventually declines in grade. The option has a carry, and the funds that got hurt in the 2008–12 lumber trough were the ones that treated it as costless.
ASK THE ROOM — Lumber prices halve. What can a timberland owner do that a wheat farmer cannot?
NEXT — Commodities themselves generate no cash flow. So how do you actually own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Students think a commodity fund tracks the commodity. It does not — it tracks a rolling futures position, and in contango that position bleeds even when the spot price is flat.
•  Derive the shape from the equation, do not assert it: if i &gt; (r + c) the exponent is negative and F &lt; S. That is backwardation.
•  Tie the convenience yield to inventories: scarce inventory means holding the physical is valuable, so i is high.
•  Then the roll, concretely: you must sell the expiring contract and buy the next. Which direction is the curve?
•  The curriculum's own rule of thumb is one line — contango lowers a long-only return, backwardation raises it. Make them memorise it.
•  Be explicit that the three-way split is my extension. Say it, do not bury it in a footnote.
•  Land the 2020 oil example: same barrel, curve flipped, and long-only index investors were the ones paying for storage they never used.
FROM THE DESK — The reason a retail oil ETF can lose money over a year in which crude rose is entirely on this slide, and the fund documents say so — in the risk factors nobody reads. When someone tells you they are "long oil", ask which contract and how often they roll. Those two answers are the position.
ASK THE ROOM — Inventories are overflowing. Predict the curve shape, then predict what happens to a long-only index fund.
NEXT — Given all that, what have commodities actually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inflation-hedge claim is true for commodities and false for farmland and timberland — and the reason is the downside, not the upside.
•  Do the third and fourth rows together for commodities: +22.87% versus −9.26%. Thirty-two points.
•  Then the same two rows for farmland: +12.78% versus +9.85%. Three points. That is not a hedge, that is a good asset.
•  Correlation with inflation is the clean test: 0.54 versus −0.17 and 0.02.
•  Volatility caveat: NCREIF farmland and timberland are APPRAISAL-based, so 5.88% and 6.76% flatter them badly.
•  Highest 30-year return on the table is farmland at 10.95%, at a quarter of the volatility of commodities.
•  If someone asks about a stable-inflation regime: the curriculum says commodity returns there are low but positive.
FROM THE DESK — An inflation hedge that costs you 9% a year when inflation behaves is a put, not a portfolio holding, and it should be sized like one. Institutions that added commodities in 2021 were buying insurance after the fire started; the ones who held it through 2013–2020 paid for it every year and were the reason it was available.
ASK THE ROOM — Farmland beat every other column over 30 years at a fifth of the volatility. Why is nobody 100% farmland?
NEXT — From assets defined by what they hold to funds defined by how they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Fifteen minutes. Taxonomy, the evidence, and the plumbing that governs when you get your money back.
•  Open by asking what makes a fund a hedge fund. Wait for "shorting". The answer is: approach, not asset.
•  Slide 32 has the uncomfortable data. Do not soften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name is a misnomer and the curriculum admits it. Shorting, leverage and derivatives look like MORE risk taken individually; the claim is that in combination they neutralise market risk.
•  Count the categories out loud: five. Multi-strategy appears twice — under relative value and under multi-manager.
•  Say the curriculum's line: hedge funds "seem to amplify the risks", but the components hedge each other.
•  Hedge fund vs private equity, the exam pair: HF is shorter horizon, more liquid assets, funded up front, redeemable periodically. PE is committed and drawn.
•  Hedge fund vs mutual fund: HF fees are negotiable, mutual fund fees are not; HF is less restricted in what it can trade.
•  Run through the seven characteristics as a checklist — number 6 is the one investors forget until they need the money.
FROM THE DESK — The multi-manager pod platforms have quietly become a different business from the rest of this table: the LP pays a pass-through expense structure rather than a fixed management fee, so the operating cost of the platform — data, technology, PM compensation — lands on the fund. Headline "2 and 20" understates what actually leaves the NAV.
ASK THE ROOM — A fund holds only large-cap US equities, long only, no leverage, and charges 2-and-20. Hedge fund?
NEXT — Start with the original strategy, and look at what it has actually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Use the curriculum's own data to make the honest point: these strategies are bought for their correlation profile, not for beating the index.
•  Show the correlation column first. It validates the taxonomy — the betas are where they are supposed to be.
•  Then the return column, and let the silence sit. +0.30% index versus +0.03% for value.
•  Explain why an allocator still buys it: 1.0% monthly vol against 2.0%, and a different drawdown profile.
•  Market neutral is the clearest case — 0.5% vol, near-zero correlation, sub-single-digit gross edge that leverage must amplify.
•  Short bias is a hedge you pay for: −0.72 correlation, negative average return. It earns its keep in a crisis and nowhere else.
•  CAUTION if a student quotes the exhibit: its "coefficient of variation" row is mean divided by standard deviation — the INVERSE of the standard definition. Do not repeat it as CV.
FROM THE DESK — Allocators do not buy equity long-short to beat the S&amp;P; they buy it to change the shape of the drawdown. The trouble is that the fee is quoted on total return, so in a strong bull market the client pays performance fees on beta they could have bought for four basis points. That mismatch is what the 1-or-30 structure on slide 34 is trying to fix.
ASK THE ROOM — Would you pay 2-and-20 for +0.03% a month? Under what circumstance is that rational?
NEXT — Two families where the return does not depend on market direction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Both families sell the same thing: a spread that should converge. Leverage is not a choice here, it is the only way to make a thin spread pay.
•  Merger arb mechanics on the board: long target, short acquirer, spread narrows to zero at close.
•  Ask what the spread compensates for. Answer: probability and timing of the deal breaking.
•  Fulcrum security is the term to make them write down — the tranche that converts into the reorganised equity.
•  Activist vs private equity: same playbook, but activists work through PUBLIC markets and minority stakes.
•  Convertible arb: they are long the embedded option and short the stock. Long volatility, short credit.
•  Common failure mode across both: the spread is small, the leverage is large, and the exit needs liquidity precisely when there is none.
FROM THE DESK — Both families carry the same hidden short: a short position in market liquidity. The trade is right, the convergence eventually happens, and it happens after your prime broker has raised the haircut and your investors have filed redemptions. That is why the lockup terms on the next slide are not an administrative detail — they are part of the strategy's risk management.
ASK THE ROOM — A merger spread is unusually wide. Free money, or is the market telling you something?
NEXT — Which brings us to fees, structures and the terms that govern getting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Fees, wrapper and liquidity are not three topics — they are one negotiation, and the LP trades away liquidity to buy a lower fee.
•  Base first, again: hedge fund management fee is on AUM. Contrast it deliberately with the PE committed-capital base from slide 11.
•  HWM: connect straight back to slide 13. Same clause, different context.
•  1-or-30 is worth explaining properly — it is designed so the manager is paid for ALPHA, not for gathering assets.
•  FoHF double fee: run the curriculum's Example 7 numbers if there is time — 20% gross becomes 14% direct and 11.6% through the fund of funds.
•  SMA is the key structural point: assets registered in the INVESTOR'S name. That is custody risk removed.
•  Curriculum reason for lockups: some strategies need time to build and unwind positions; daily liquidity would be incompatible with them.
•  Curriculum links fees to longer lockups explicitly — accepting a longer lockup buys you a lower fee.
FROM THE DESK — The gate is the term that matters and the one nobody negotiates, because at subscription it reads as protection for the fund. It is, and that is exactly the problem: it protects the fund against you at the precise moment you want out. Read who may impose it, on what notice, and whether it is fund-level or investor-level — an investor-level gate lets the manager choose who gets paid.
ASK THE ROOM — You are offered a 25 bp fee cut for a two-year lockup instead of one. Take it?
NEXT — Last section. The asset class where the custody question has no good answer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Ten minutes, and keep it analytical. The exam tests mechanics and risk, not opinions about the price.
•  Do not editorialise. Teach the consensus mechanism, the taxonomy and the three risks.
•  If the room wants to argue about price, park it and offer the last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question drives the whole module: without a central party, who decides what is true? The answer is the consensus protocol, and it has a cost.
•  Start with the problem, not the technology: parties who do not trust each other must agree on one record.
•  PoW pays for security with electricity. PoS pays for it with pledged capital at risk.
•  51% is the exam number. State it as the threshold where an attacker can out-compute the honest network.
•  Exhibit 3 comparison for permissioned vs permissionless: speed, cost, decentralisation, access, governance.
•  The trade-off in one line: permissionless is open and slow and expensive; permissioned is fast and cheap and requires trust in a gatekeeper.
•  Permissionless advantage worth naming: no single point of failure, because every node holds the database.
FROM THE DESK — Enterprise blockchain pilots almost all ended up permissioned, at which point the honest question is what the ledger is doing that a shared database with good access control could not. The answer is usually "settling between parties who each want their own copy of the record" — which is a real problem, just a much narrower one than the pitch.
ASK THE ROOM — If a permissioned chain needs a trusted gatekeeper anyway, what has the blockchain bought you?
NEXT — That is the plumbing. Now what actually gets issued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Force them to sort by CLAIM, not by hype: a claim on a network, a claim on a peg, a claim on a security, or no claim at all.
•  Bitcoin and Ether are 80% of the market. Say it and move on — the tail is where the exam distractors live.
•  Stablecoins are classified as ALTCOINS in Exhibit 4. That trips people up.
•  Security token vs utility token is a regulatory distinction, not a technical one, and it decides who supervises it.
•  Memecoins are in the curriculum. So is the pump-and-dump example (EthereumMax). Use it if asked for evidence.
•  Asset-backed tokens are the bridge to the traditional world: fractional claims on gold, oil, property, equities — and regulators typically treat them as securities.
•  Indirect route detail worth noting: crypto ETFs typically hold FUTURES, not coin. Send them back to slide 28 for what that costs.
FROM THE DESK — The distinction that actually determines the risk is custody, not category. A token in your own wallet is a bearer instrument with no recovery if the key is lost; the same token at an exchange is an unsecured claim on that exchange's balance sheet. Neither is what an institutional investor means by "holding an asset", and the qualified-custodian question is the one every allocation committee gets stuck on.
ASK THE ROOM — A spot Bitcoin ETF versus coins in your own wallet — which risk have you swapped for which?
NEXT — Which leads to the three ways a position goes to zero for reasons that have nothing to do with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risks that are orthogonal to price. Any one of them takes the position to zero while the chart still looks fine.
•  Frame it: you can be right on direction and still lose everything. That is unusual and it is the point.
•  Custody: two bad options — trust an exchange, or trust yourself with a seed phrase. There is no third yet at scale.
•  Regulation: the security-versus-commodity question is unresolved and determines the supervisor, the disclosure and the venue.
•  Peg: use the curriculum's numbers, not market folklore. 350 million to 6.5 trillion Luna in a week; depeg on 9 May 2022.
•  Then the contagion point: the failure of an ALGORITHMIC stablecoin triggered redemptions on the COLLATERALISED ones.
•  Close the section by connecting back to slide 5 — appraisal risk in private markets, custody risk here. Both are risks to the CLAIM, not to the price.
FROM THE DESK — The institutional blocker has never been volatility — pensions hold plenty of volatile things. It is that most mandates require a qualified custodian and a clean legal opinion on what you own if the custodian fails, and for a bearer instrument on a permissionless chain that opinion has been slow to arrive. Everything else in the allocation debate is downstream of it.
ASK THE ROOM — You are right that Bitcoin doubles this year. Name three ways you still end up with nothing.
NEXT — Pull the whole afternoon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Eight lines. Read only three of them aloud — the fee ones — and let them read the rest.
•  Say the three words again: BASE, CONVENTION, ORDER. That is the whole fee section.
•  If they remember one number, make it 8.60 / 8.08 / 7.08.
•  If they remember one sentence, make it "a full catch-up turns a hard hurdle into a soft one".
•  Homework: LM2 practice problems 1–6 (Rotunda Advisers) and the LM1 waterfall question set.
•  Flag for next session that the portfolio-management deck picks up correlation and allocation.
ASK THE ROOM — Before you go: which convention does YOUR fund use, and where in the documents did you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19  ·  WEEK 10  ·  AFTERNOON 3</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Alternative</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Investments</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Private capital, real assets, hedge funds, and digital assets — what traditional long-only portfolios cannot do</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8 Learning Modules 1–7</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Alternative Investments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7 sections · ~2 hours · Built bottom-up from CFA readings</a:t>
            </a:r>
            <a:endParaRPr lang="en-US" sz="1300" dirty="0"/>
          </a:p>
        </p:txBody>
      </p:sp>
      <p:sp>
        <p:nvSpPr>
          <p:cNvPr id="8" name="Shape 6"/>
          <p:cNvSpPr/>
          <p:nvPr/>
        </p:nvSpPr>
        <p:spPr>
          <a:xfrm>
            <a:off x="320040" y="1207008"/>
            <a:ext cx="8503920" cy="475488"/>
          </a:xfrm>
          <a:prstGeom prst="rect">
            <a:avLst/>
          </a:prstGeom>
          <a:solidFill>
            <a:srgbClr val="FFFFFF"/>
          </a:solidFill>
          <a:ln/>
        </p:spPr>
      </p:sp>
      <p:sp>
        <p:nvSpPr>
          <p:cNvPr id="9" name="Shape 7"/>
          <p:cNvSpPr/>
          <p:nvPr/>
        </p:nvSpPr>
        <p:spPr>
          <a:xfrm>
            <a:off x="320040" y="1207008"/>
            <a:ext cx="594360" cy="475488"/>
          </a:xfrm>
          <a:prstGeom prst="rect">
            <a:avLst/>
          </a:prstGeom>
          <a:solidFill>
            <a:srgbClr val="1B2A4A"/>
          </a:solidFill>
          <a:ln/>
        </p:spPr>
      </p:sp>
      <p:sp>
        <p:nvSpPr>
          <p:cNvPr id="10" name="Text 8"/>
          <p:cNvSpPr txBox="1"/>
          <p:nvPr/>
        </p:nvSpPr>
        <p:spPr>
          <a:xfrm>
            <a:off x="320040" y="1207008"/>
            <a:ext cx="594360" cy="475488"/>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21397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Features, methods, structures</a:t>
            </a:r>
            <a:endParaRPr lang="en-US" sz="1200" dirty="0"/>
          </a:p>
        </p:txBody>
      </p:sp>
      <p:sp>
        <p:nvSpPr>
          <p:cNvPr id="12" name="Text 10"/>
          <p:cNvSpPr txBox="1"/>
          <p:nvPr/>
        </p:nvSpPr>
        <p:spPr>
          <a:xfrm>
            <a:off x="1024128" y="1420978"/>
            <a:ext cx="7726680" cy="26151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3 categories · fund / co-invest / direct · LP-GP term sheet &amp; committed capital</a:t>
            </a:r>
            <a:endParaRPr lang="en-US" sz="1100" dirty="0"/>
          </a:p>
        </p:txBody>
      </p:sp>
      <p:sp>
        <p:nvSpPr>
          <p:cNvPr id="13" name="Shape 11"/>
          <p:cNvSpPr/>
          <p:nvPr/>
        </p:nvSpPr>
        <p:spPr>
          <a:xfrm>
            <a:off x="320040" y="1719072"/>
            <a:ext cx="8503920" cy="475488"/>
          </a:xfrm>
          <a:prstGeom prst="rect">
            <a:avLst/>
          </a:prstGeom>
          <a:solidFill>
            <a:srgbClr val="F5F7FA"/>
          </a:solidFill>
          <a:ln/>
        </p:spPr>
      </p:sp>
      <p:sp>
        <p:nvSpPr>
          <p:cNvPr id="14" name="Shape 12"/>
          <p:cNvSpPr/>
          <p:nvPr/>
        </p:nvSpPr>
        <p:spPr>
          <a:xfrm>
            <a:off x="320040" y="1719072"/>
            <a:ext cx="594360" cy="475488"/>
          </a:xfrm>
          <a:prstGeom prst="rect">
            <a:avLst/>
          </a:prstGeom>
          <a:solidFill>
            <a:srgbClr val="1B2A4A"/>
          </a:solidFill>
          <a:ln/>
        </p:spPr>
      </p:sp>
      <p:sp>
        <p:nvSpPr>
          <p:cNvPr id="15" name="Text 13"/>
          <p:cNvSpPr txBox="1"/>
          <p:nvPr/>
        </p:nvSpPr>
        <p:spPr>
          <a:xfrm>
            <a:off x="320040" y="1719072"/>
            <a:ext cx="594360" cy="475488"/>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1764792"/>
            <a:ext cx="7726680" cy="21397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Performance &amp; fees</a:t>
            </a:r>
            <a:endParaRPr lang="en-US" sz="1200" dirty="0"/>
          </a:p>
        </p:txBody>
      </p:sp>
      <p:sp>
        <p:nvSpPr>
          <p:cNvPr id="17" name="Text 15"/>
          <p:cNvSpPr txBox="1"/>
          <p:nvPr/>
        </p:nvSpPr>
        <p:spPr>
          <a:xfrm>
            <a:off x="1024128" y="1933042"/>
            <a:ext cx="7726680" cy="26151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J-curve · IRR vs MOIC · net vs gross incentive fee · hard vs soft hurdle · HWM, clawback</a:t>
            </a:r>
            <a:endParaRPr lang="en-US" sz="1100" dirty="0"/>
          </a:p>
        </p:txBody>
      </p:sp>
      <p:sp>
        <p:nvSpPr>
          <p:cNvPr id="18" name="Shape 16"/>
          <p:cNvSpPr/>
          <p:nvPr/>
        </p:nvSpPr>
        <p:spPr>
          <a:xfrm>
            <a:off x="320040" y="2231136"/>
            <a:ext cx="8503920" cy="475488"/>
          </a:xfrm>
          <a:prstGeom prst="rect">
            <a:avLst/>
          </a:prstGeom>
          <a:solidFill>
            <a:srgbClr val="FFFFFF"/>
          </a:solidFill>
          <a:ln/>
        </p:spPr>
      </p:sp>
      <p:sp>
        <p:nvSpPr>
          <p:cNvPr id="19" name="Shape 17"/>
          <p:cNvSpPr/>
          <p:nvPr/>
        </p:nvSpPr>
        <p:spPr>
          <a:xfrm>
            <a:off x="320040" y="2231136"/>
            <a:ext cx="594360" cy="475488"/>
          </a:xfrm>
          <a:prstGeom prst="rect">
            <a:avLst/>
          </a:prstGeom>
          <a:solidFill>
            <a:srgbClr val="1B2A4A"/>
          </a:solidFill>
          <a:ln/>
        </p:spPr>
      </p:sp>
      <p:sp>
        <p:nvSpPr>
          <p:cNvPr id="20" name="Text 18"/>
          <p:cNvSpPr txBox="1"/>
          <p:nvPr/>
        </p:nvSpPr>
        <p:spPr>
          <a:xfrm>
            <a:off x="320040" y="2231136"/>
            <a:ext cx="594360" cy="475488"/>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2276856"/>
            <a:ext cx="7726680" cy="21397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Private capital — PE &amp; private debt</a:t>
            </a:r>
            <a:endParaRPr lang="en-US" sz="1200" dirty="0"/>
          </a:p>
        </p:txBody>
      </p:sp>
      <p:sp>
        <p:nvSpPr>
          <p:cNvPr id="22" name="Text 20"/>
          <p:cNvSpPr txBox="1"/>
          <p:nvPr/>
        </p:nvSpPr>
        <p:spPr>
          <a:xfrm>
            <a:off x="1024128" y="2445106"/>
            <a:ext cx="7726680" cy="26151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VC / growth / buyout · LBO value bridge · exits · direct lending / mezz / distressed</a:t>
            </a:r>
            <a:endParaRPr lang="en-US" sz="1100" dirty="0"/>
          </a:p>
        </p:txBody>
      </p:sp>
      <p:sp>
        <p:nvSpPr>
          <p:cNvPr id="23" name="Shape 21"/>
          <p:cNvSpPr/>
          <p:nvPr/>
        </p:nvSpPr>
        <p:spPr>
          <a:xfrm>
            <a:off x="320040" y="2743200"/>
            <a:ext cx="8503920" cy="475488"/>
          </a:xfrm>
          <a:prstGeom prst="rect">
            <a:avLst/>
          </a:prstGeom>
          <a:solidFill>
            <a:srgbClr val="F5F7FA"/>
          </a:solidFill>
          <a:ln/>
        </p:spPr>
      </p:sp>
      <p:sp>
        <p:nvSpPr>
          <p:cNvPr id="24" name="Shape 22"/>
          <p:cNvSpPr/>
          <p:nvPr/>
        </p:nvSpPr>
        <p:spPr>
          <a:xfrm>
            <a:off x="320040" y="2743200"/>
            <a:ext cx="594360" cy="475488"/>
          </a:xfrm>
          <a:prstGeom prst="rect">
            <a:avLst/>
          </a:prstGeom>
          <a:solidFill>
            <a:srgbClr val="1B2A4A"/>
          </a:solidFill>
          <a:ln/>
        </p:spPr>
      </p:sp>
      <p:sp>
        <p:nvSpPr>
          <p:cNvPr id="25" name="Text 23"/>
          <p:cNvSpPr txBox="1"/>
          <p:nvPr/>
        </p:nvSpPr>
        <p:spPr>
          <a:xfrm>
            <a:off x="320040" y="2743200"/>
            <a:ext cx="594360" cy="475488"/>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2788920"/>
            <a:ext cx="7726680" cy="21397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Real estate &amp; infrastructure</a:t>
            </a:r>
            <a:endParaRPr lang="en-US" sz="1200" dirty="0"/>
          </a:p>
        </p:txBody>
      </p:sp>
      <p:sp>
        <p:nvSpPr>
          <p:cNvPr id="27" name="Text 25"/>
          <p:cNvSpPr txBox="1"/>
          <p:nvPr/>
        </p:nvSpPr>
        <p:spPr>
          <a:xfrm>
            <a:off x="1024128" y="2957170"/>
            <a:ext cx="7726680" cy="26151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Core → opportunistic · cap rate vs REIT FFO multiple · BOT infra, greenfield / brownfield</a:t>
            </a:r>
            <a:endParaRPr lang="en-US" sz="1100" dirty="0"/>
          </a:p>
        </p:txBody>
      </p:sp>
      <p:sp>
        <p:nvSpPr>
          <p:cNvPr id="28" name="Shape 26"/>
          <p:cNvSpPr/>
          <p:nvPr/>
        </p:nvSpPr>
        <p:spPr>
          <a:xfrm>
            <a:off x="320040" y="3255264"/>
            <a:ext cx="8503920" cy="475488"/>
          </a:xfrm>
          <a:prstGeom prst="rect">
            <a:avLst/>
          </a:prstGeom>
          <a:solidFill>
            <a:srgbClr val="FFFFFF"/>
          </a:solidFill>
          <a:ln/>
        </p:spPr>
      </p:sp>
      <p:sp>
        <p:nvSpPr>
          <p:cNvPr id="29" name="Shape 27"/>
          <p:cNvSpPr/>
          <p:nvPr/>
        </p:nvSpPr>
        <p:spPr>
          <a:xfrm>
            <a:off x="320040" y="3255264"/>
            <a:ext cx="594360" cy="475488"/>
          </a:xfrm>
          <a:prstGeom prst="rect">
            <a:avLst/>
          </a:prstGeom>
          <a:solidFill>
            <a:srgbClr val="1B2A4A"/>
          </a:solidFill>
          <a:ln/>
        </p:spPr>
      </p:sp>
      <p:sp>
        <p:nvSpPr>
          <p:cNvPr id="30" name="Text 28"/>
          <p:cNvSpPr txBox="1"/>
          <p:nvPr/>
        </p:nvSpPr>
        <p:spPr>
          <a:xfrm>
            <a:off x="320040" y="3255264"/>
            <a:ext cx="594360" cy="475488"/>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1" name="Text 29"/>
          <p:cNvSpPr txBox="1"/>
          <p:nvPr/>
        </p:nvSpPr>
        <p:spPr>
          <a:xfrm>
            <a:off x="1024128" y="3300984"/>
            <a:ext cx="7726680" cy="21397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Natural resources</a:t>
            </a:r>
            <a:endParaRPr lang="en-US" sz="1200" dirty="0"/>
          </a:p>
        </p:txBody>
      </p:sp>
      <p:sp>
        <p:nvSpPr>
          <p:cNvPr id="32" name="Text 30"/>
          <p:cNvSpPr txBox="1"/>
          <p:nvPr/>
        </p:nvSpPr>
        <p:spPr>
          <a:xfrm>
            <a:off x="1024128" y="3469234"/>
            <a:ext cx="7726680" cy="26151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Farmland &amp; timberland · commodities via futures · contango vs backwardation</a:t>
            </a:r>
            <a:endParaRPr lang="en-US" sz="1100" dirty="0"/>
          </a:p>
        </p:txBody>
      </p:sp>
      <p:sp>
        <p:nvSpPr>
          <p:cNvPr id="33" name="Shape 31"/>
          <p:cNvSpPr/>
          <p:nvPr/>
        </p:nvSpPr>
        <p:spPr>
          <a:xfrm>
            <a:off x="320040" y="3767328"/>
            <a:ext cx="8503920" cy="475488"/>
          </a:xfrm>
          <a:prstGeom prst="rect">
            <a:avLst/>
          </a:prstGeom>
          <a:solidFill>
            <a:srgbClr val="F5F7FA"/>
          </a:solidFill>
          <a:ln/>
        </p:spPr>
      </p:sp>
      <p:sp>
        <p:nvSpPr>
          <p:cNvPr id="34" name="Shape 32"/>
          <p:cNvSpPr/>
          <p:nvPr/>
        </p:nvSpPr>
        <p:spPr>
          <a:xfrm>
            <a:off x="320040" y="3767328"/>
            <a:ext cx="594360" cy="475488"/>
          </a:xfrm>
          <a:prstGeom prst="rect">
            <a:avLst/>
          </a:prstGeom>
          <a:solidFill>
            <a:srgbClr val="1B2A4A"/>
          </a:solidFill>
          <a:ln/>
        </p:spPr>
      </p:sp>
      <p:sp>
        <p:nvSpPr>
          <p:cNvPr id="35" name="Text 33"/>
          <p:cNvSpPr txBox="1"/>
          <p:nvPr/>
        </p:nvSpPr>
        <p:spPr>
          <a:xfrm>
            <a:off x="320040" y="3767328"/>
            <a:ext cx="594360" cy="475488"/>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06</a:t>
            </a:r>
            <a:endParaRPr lang="en-US" sz="1300" dirty="0"/>
          </a:p>
        </p:txBody>
      </p:sp>
      <p:sp>
        <p:nvSpPr>
          <p:cNvPr id="36" name="Text 34"/>
          <p:cNvSpPr txBox="1"/>
          <p:nvPr/>
        </p:nvSpPr>
        <p:spPr>
          <a:xfrm>
            <a:off x="1024128" y="3813048"/>
            <a:ext cx="7726680" cy="21397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Hedge funds</a:t>
            </a:r>
            <a:endParaRPr lang="en-US" sz="1200" dirty="0"/>
          </a:p>
        </p:txBody>
      </p:sp>
      <p:sp>
        <p:nvSpPr>
          <p:cNvPr id="37" name="Text 35"/>
          <p:cNvSpPr txBox="1"/>
          <p:nvPr/>
        </p:nvSpPr>
        <p:spPr>
          <a:xfrm>
            <a:off x="1024128" y="3981298"/>
            <a:ext cx="7726680" cy="26151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L/S equity · event-driven · relative value · macro / CTA · 2-and-20, HWM, lockups</a:t>
            </a:r>
            <a:endParaRPr lang="en-US" sz="1100" dirty="0"/>
          </a:p>
        </p:txBody>
      </p:sp>
      <p:sp>
        <p:nvSpPr>
          <p:cNvPr id="38" name="Shape 36"/>
          <p:cNvSpPr/>
          <p:nvPr/>
        </p:nvSpPr>
        <p:spPr>
          <a:xfrm>
            <a:off x="320040" y="4279392"/>
            <a:ext cx="8503920" cy="475488"/>
          </a:xfrm>
          <a:prstGeom prst="rect">
            <a:avLst/>
          </a:prstGeom>
          <a:solidFill>
            <a:srgbClr val="FFFFFF"/>
          </a:solidFill>
          <a:ln/>
        </p:spPr>
      </p:sp>
      <p:sp>
        <p:nvSpPr>
          <p:cNvPr id="39" name="Shape 37"/>
          <p:cNvSpPr/>
          <p:nvPr/>
        </p:nvSpPr>
        <p:spPr>
          <a:xfrm>
            <a:off x="320040" y="4279392"/>
            <a:ext cx="594360" cy="475488"/>
          </a:xfrm>
          <a:prstGeom prst="rect">
            <a:avLst/>
          </a:prstGeom>
          <a:solidFill>
            <a:srgbClr val="1B2A4A"/>
          </a:solidFill>
          <a:ln/>
        </p:spPr>
      </p:sp>
      <p:sp>
        <p:nvSpPr>
          <p:cNvPr id="40" name="Text 38"/>
          <p:cNvSpPr txBox="1"/>
          <p:nvPr/>
        </p:nvSpPr>
        <p:spPr>
          <a:xfrm>
            <a:off x="320040" y="4279392"/>
            <a:ext cx="594360" cy="475488"/>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07</a:t>
            </a:r>
            <a:endParaRPr lang="en-US" sz="1300" dirty="0"/>
          </a:p>
        </p:txBody>
      </p:sp>
      <p:sp>
        <p:nvSpPr>
          <p:cNvPr id="41" name="Text 39"/>
          <p:cNvSpPr txBox="1"/>
          <p:nvPr/>
        </p:nvSpPr>
        <p:spPr>
          <a:xfrm>
            <a:off x="1024128" y="4325112"/>
            <a:ext cx="7726680" cy="21397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Digital assets</a:t>
            </a:r>
            <a:endParaRPr lang="en-US" sz="1200" dirty="0"/>
          </a:p>
        </p:txBody>
      </p:sp>
      <p:sp>
        <p:nvSpPr>
          <p:cNvPr id="42" name="Text 40"/>
          <p:cNvSpPr txBox="1"/>
          <p:nvPr/>
        </p:nvSpPr>
        <p:spPr>
          <a:xfrm>
            <a:off x="1024128" y="4493362"/>
            <a:ext cx="7726680" cy="26151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DLT, PoW vs PoS · crypto vs tokens · direct wallet / futures / ETFs · custody &amp; regulation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Classify any alternative investment into private capital, real assets, or hedge funds, and describe the access methods (fund / co-invest / direct) and their control-versus-fees trade-off.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Compute a GP's fees under 2-and-20 when the incentive fee is taken gross of the management fee, net of it, and net with a hurdle — and say which convention a term sheet is using.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Distinguish a hard hurdle from a soft hurdle, apply a catch-up clause, and explain what a high-water mark and a clawback each protect against.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Distinguish IRR from MOIC and explain why a high multiple over a long life can still be a poor return.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Categorise private equity (VC, growth, buyout) and private debt (direct lending, mezzanine, venture debt, distressed) and place each on the risk–return ladder.
</a:t>
            </a:r>
            <a:pPr indent="0" marL="0">
              <a:buNone/>
            </a:pPr>
            <a:r>
              <a:rPr lang="en-US" sz="1200" b="1" dirty="0">
                <a:solidFill>
                  <a:srgbClr val="E8600A"/>
                </a:solidFill>
                <a:latin typeface="Trebuchet MS" pitchFamily="34" charset="0"/>
                <a:ea typeface="Trebuchet MS" pitchFamily="34" charset="-122"/>
                <a:cs typeface="Trebuchet MS" pitchFamily="34" charset="-120"/>
              </a:rPr>
              <a:t>6. </a:t>
            </a:r>
            <a:pPr indent="0" marL="0">
              <a:buNone/>
            </a:pPr>
            <a:r>
              <a:rPr lang="en-US" sz="1200" dirty="0">
                <a:solidFill>
                  <a:srgbClr val="334155"/>
                </a:solidFill>
                <a:latin typeface="Calibri" pitchFamily="34" charset="0"/>
                <a:ea typeface="Calibri" pitchFamily="34" charset="-122"/>
                <a:cs typeface="Calibri" pitchFamily="34" charset="-120"/>
              </a:rPr>
              <a:t>Explain the shape of the commodity forward curve through cost of carry and convenience yield, and say which shape helps a long-only futures investor.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Features, methods,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structures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7  ·  Deck 19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Alternatives are defined by what they are NOT — they lack the liquidity, transparency, and easy benchmarking of public equity and public debt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1, Alternative Investment Features, printed pp. 6–11.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lists THREE distinguishing features — and says those three features are what force the three structural consequences below.</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737360"/>
                <a:gridCol w="3200400"/>
                <a:gridCol w="35661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Category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Sub-classes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you are actually buying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Private capital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Private equity + private debt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Ownership of / lending to private firms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Real assets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Real estate, infrastructure, resources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Tangible: leases, tolls, crops, harvests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Hedge funds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L/S equity, event-driven, macro, RV</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An approach, not an asset class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788920"/>
            <a:ext cx="8503920" cy="1463040"/>
          </a:xfrm>
          <a:prstGeom prst="rect">
            <a:avLst/>
          </a:prstGeom>
          <a:solidFill>
            <a:srgbClr val="FEF0E7"/>
          </a:solidFill>
          <a:ln/>
        </p:spPr>
      </p:sp>
      <p:sp>
        <p:nvSpPr>
          <p:cNvPr id="11" name="Shape 8"/>
          <p:cNvSpPr/>
          <p:nvPr/>
        </p:nvSpPr>
        <p:spPr>
          <a:xfrm>
            <a:off x="320040" y="2788920"/>
            <a:ext cx="73152" cy="1463040"/>
          </a:xfrm>
          <a:prstGeom prst="rect">
            <a:avLst/>
          </a:prstGeom>
          <a:solidFill>
            <a:srgbClr val="E8600A"/>
          </a:solidFill>
          <a:ln/>
        </p:spPr>
      </p:sp>
      <p:sp>
        <p:nvSpPr>
          <p:cNvPr id="12" name="Text 9"/>
          <p:cNvSpPr txBox="1"/>
          <p:nvPr/>
        </p:nvSpPr>
        <p:spPr>
          <a:xfrm>
            <a:off x="457200" y="28346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THREE FEATURES  ⇒  THREE CONSEQUENCES</a:t>
            </a:r>
            <a:endParaRPr lang="en-US" sz="1100" dirty="0"/>
          </a:p>
        </p:txBody>
      </p:sp>
      <p:sp>
        <p:nvSpPr>
          <p:cNvPr id="13" name="Text 10"/>
          <p:cNvSpPr txBox="1"/>
          <p:nvPr/>
        </p:nvSpPr>
        <p:spPr>
          <a:xfrm>
            <a:off x="457200" y="3108960"/>
            <a:ext cx="8275320" cy="10972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FEATURES (p. 6):   1. Specialised knowledge is needed to value the cash flows and the risks.   2. Typically low correlation of returns with traditional asset classes.   3. Illiquidity, long investment horizons, large capital outlays.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WHICH LEAD TO (p. 7):   4. Different investment structures, because direct investment is hard.   5. Incentive-based fees, to reduce the information asymmetry between manager and investor.   6. Performance-appraisal challenges.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Fund investing, co-investing, and direct investing trade control against effort — and the fee you pay falls at every step you take toward doing it yourself</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1, Alternative Investment Methods, printed pp. 13–17; Example 5, p. 16.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is explicit about the ladder: limited experience starts in funds, graduates to co-investing, and only the largest run direct.</a:t>
            </a:r>
            <a:endParaRPr lang="en-US" sz="1300" dirty="0"/>
          </a:p>
        </p:txBody>
      </p:sp>
      <p:sp>
        <p:nvSpPr>
          <p:cNvPr id="9" name="Shape 7"/>
          <p:cNvSpPr/>
          <p:nvPr/>
        </p:nvSpPr>
        <p:spPr>
          <a:xfrm>
            <a:off x="320040" y="1188720"/>
            <a:ext cx="2743200" cy="2240280"/>
          </a:xfrm>
          <a:prstGeom prst="rect">
            <a:avLst/>
          </a:prstGeom>
          <a:solidFill>
            <a:srgbClr val="F5F7FA"/>
          </a:solidFill>
          <a:ln/>
        </p:spPr>
      </p:sp>
      <p:sp>
        <p:nvSpPr>
          <p:cNvPr id="10" name="Shape 8"/>
          <p:cNvSpPr/>
          <p:nvPr/>
        </p:nvSpPr>
        <p:spPr>
          <a:xfrm>
            <a:off x="320040" y="1188720"/>
            <a:ext cx="73152" cy="224028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FUND INVESTING</a:t>
            </a:r>
            <a:endParaRPr lang="en-US" sz="1100" dirty="0"/>
          </a:p>
        </p:txBody>
      </p:sp>
      <p:sp>
        <p:nvSpPr>
          <p:cNvPr id="12" name="Text 10"/>
          <p:cNvSpPr txBox="1"/>
          <p:nvPr/>
        </p:nvSpPr>
        <p:spPr>
          <a:xfrm>
            <a:off x="457200" y="1508760"/>
            <a:ext cx="2514600" cy="1874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Commit capital to a GP. The FUND identifies, selects and makes the investments on your behalf.</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Fee: full management fee + full carry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Control: lowest — no deal-level say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For: investors without an in-house team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Pre-commitment, then capital calls</a:t>
            </a:r>
            <a:endParaRPr lang="en-US" sz="1200" dirty="0"/>
          </a:p>
        </p:txBody>
      </p:sp>
      <p:sp>
        <p:nvSpPr>
          <p:cNvPr id="13" name="Shape 11"/>
          <p:cNvSpPr/>
          <p:nvPr/>
        </p:nvSpPr>
        <p:spPr>
          <a:xfrm>
            <a:off x="3200400" y="1188720"/>
            <a:ext cx="2743200" cy="2240280"/>
          </a:xfrm>
          <a:prstGeom prst="rect">
            <a:avLst/>
          </a:prstGeom>
          <a:solidFill>
            <a:srgbClr val="FEF0E7"/>
          </a:solidFill>
          <a:ln/>
        </p:spPr>
      </p:sp>
      <p:sp>
        <p:nvSpPr>
          <p:cNvPr id="14" name="Shape 12"/>
          <p:cNvSpPr/>
          <p:nvPr/>
        </p:nvSpPr>
        <p:spPr>
          <a:xfrm>
            <a:off x="3200400" y="1188720"/>
            <a:ext cx="73152" cy="224028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CO-INVESTING</a:t>
            </a:r>
            <a:endParaRPr lang="en-US" sz="1100" dirty="0"/>
          </a:p>
        </p:txBody>
      </p:sp>
      <p:sp>
        <p:nvSpPr>
          <p:cNvPr id="16" name="Text 14"/>
          <p:cNvSpPr txBox="1"/>
          <p:nvPr/>
        </p:nvSpPr>
        <p:spPr>
          <a:xfrm>
            <a:off x="3337560" y="1508760"/>
            <a:ext cx="2514600" cy="1874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Invest in the fund AND hold co-investment rights to put more capital directly into the same deals.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Fee: reduced management fee, often ZERO carry on the co-invest slice (Example 5)</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Control: deal-by-deal opt-in</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Cost: higher oversight burden on you</a:t>
            </a:r>
            <a:endParaRPr lang="en-US" sz="1200" dirty="0"/>
          </a:p>
        </p:txBody>
      </p:sp>
      <p:sp>
        <p:nvSpPr>
          <p:cNvPr id="17" name="Shape 15"/>
          <p:cNvSpPr/>
          <p:nvPr/>
        </p:nvSpPr>
        <p:spPr>
          <a:xfrm>
            <a:off x="6080760" y="1188720"/>
            <a:ext cx="2743200" cy="2240280"/>
          </a:xfrm>
          <a:prstGeom prst="rect">
            <a:avLst/>
          </a:prstGeom>
          <a:solidFill>
            <a:srgbClr val="F5F7FA"/>
          </a:solidFill>
          <a:ln/>
        </p:spPr>
      </p:sp>
      <p:sp>
        <p:nvSpPr>
          <p:cNvPr id="18" name="Shape 16"/>
          <p:cNvSpPr/>
          <p:nvPr/>
        </p:nvSpPr>
        <p:spPr>
          <a:xfrm>
            <a:off x="6080760" y="1188720"/>
            <a:ext cx="73152" cy="224028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DIRECT INVESTING</a:t>
            </a:r>
            <a:endParaRPr lang="en-US" sz="1100" dirty="0"/>
          </a:p>
        </p:txBody>
      </p:sp>
      <p:sp>
        <p:nvSpPr>
          <p:cNvPr id="20" name="Text 18"/>
          <p:cNvSpPr txBox="1"/>
          <p:nvPr/>
        </p:nvSpPr>
        <p:spPr>
          <a:xfrm>
            <a:off x="6217920" y="1508760"/>
            <a:ext cx="2514600" cy="18745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Invest in the asset with no intermediary at all. Diligence, structuring and management are in-house.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Fee: none — internal cost only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Control: maximum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For: the largest, most sophisticated — SWFs, big pensions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limited partnership concentrates capital from many LPs and all decision rights in one GP — the term sheet is where that imbalance is priced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1, Exhibit 3 (Tenderledge term sheet), printed pp. 15–16; LP/GP structure, pp. 19–21.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LPs commit for 10 years; the GP draws the money down as deals close. The upfront cash outflow is a small fraction of the commitment.</a:t>
            </a:r>
            <a:endParaRPr lang="en-US" sz="1300" dirty="0"/>
          </a:p>
        </p:txBody>
      </p:sp>
      <p:sp>
        <p:nvSpPr>
          <p:cNvPr id="9" name="Shape 7"/>
          <p:cNvSpPr/>
          <p:nvPr/>
        </p:nvSpPr>
        <p:spPr>
          <a:xfrm>
            <a:off x="320040" y="1188720"/>
            <a:ext cx="4160520" cy="2450592"/>
          </a:xfrm>
          <a:prstGeom prst="rect">
            <a:avLst/>
          </a:prstGeom>
          <a:solidFill>
            <a:srgbClr val="F5F7FA"/>
          </a:solidFill>
          <a:ln/>
        </p:spPr>
      </p:sp>
      <p:sp>
        <p:nvSpPr>
          <p:cNvPr id="10" name="Shape 8"/>
          <p:cNvSpPr/>
          <p:nvPr/>
        </p:nvSpPr>
        <p:spPr>
          <a:xfrm>
            <a:off x="320040" y="1188720"/>
            <a:ext cx="73152" cy="2450592"/>
          </a:xfrm>
          <a:prstGeom prst="rect">
            <a:avLst/>
          </a:prstGeom>
          <a:solidFill>
            <a:srgbClr val="1B2A4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ROLES AND LIABILITY</a:t>
            </a:r>
            <a:endParaRPr lang="en-US" sz="1100" dirty="0"/>
          </a:p>
        </p:txBody>
      </p:sp>
      <p:sp>
        <p:nvSpPr>
          <p:cNvPr id="12" name="Text 10"/>
          <p:cNvSpPr txBox="1"/>
          <p:nvPr/>
        </p:nvSpPr>
        <p:spPr>
          <a:xfrm>
            <a:off x="457200" y="1508760"/>
            <a:ext cx="3931920" cy="208483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GP = the fund manager</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Sources, selects, manages and exits deals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Takes management fee + carried interest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Theoretically UNLIMITED liability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LPs = outside investors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Passive; no role in day-to-day decisions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Liability capped at their investment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Accredited-investor tests apply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Capital drawn down over 3–5 years</a:t>
            </a:r>
            <a:endParaRPr lang="en-US" sz="1200" dirty="0"/>
          </a:p>
        </p:txBody>
      </p:sp>
      <p:sp>
        <p:nvSpPr>
          <p:cNvPr id="13" name="Shape 11"/>
          <p:cNvSpPr/>
          <p:nvPr/>
        </p:nvSpPr>
        <p:spPr>
          <a:xfrm>
            <a:off x="4663440" y="1188720"/>
            <a:ext cx="4160520" cy="2450592"/>
          </a:xfrm>
          <a:prstGeom prst="rect">
            <a:avLst/>
          </a:prstGeom>
          <a:solidFill>
            <a:srgbClr val="FEF0E7"/>
          </a:solidFill>
          <a:ln/>
        </p:spPr>
      </p:sp>
      <p:sp>
        <p:nvSpPr>
          <p:cNvPr id="14" name="Shape 12"/>
          <p:cNvSpPr/>
          <p:nvPr/>
        </p:nvSpPr>
        <p:spPr>
          <a:xfrm>
            <a:off x="4663440" y="1188720"/>
            <a:ext cx="73152" cy="2450592"/>
          </a:xfrm>
          <a:prstGeom prst="rect">
            <a:avLst/>
          </a:prstGeom>
          <a:solidFill>
            <a:srgbClr val="E8600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TENDERLEDGE FUND VIII — EXHIBIT 3</a:t>
            </a:r>
            <a:endParaRPr lang="en-US" sz="1100" dirty="0"/>
          </a:p>
        </p:txBody>
      </p:sp>
      <p:sp>
        <p:nvSpPr>
          <p:cNvPr id="16" name="Text 14"/>
          <p:cNvSpPr txBox="1"/>
          <p:nvPr/>
        </p:nvSpPr>
        <p:spPr>
          <a:xfrm>
            <a:off x="4800600" y="1508760"/>
            <a:ext cx="3931920" cy="208483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Maximum size: not to exceed USD 750m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GP commitment: ≥ 2% of aggregate LP commitments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Initial closing: commitments ≥ USD 500m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Final closing: 12 months after initial</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Term: 10 years from initial closing</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Management fee: 1.5% p.a. of each LP's COMMITMENT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Hurdle: a HARD hurdle rate of 10%</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Performance fee: 20% of returns in excess of it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Side letters: a most-favoured-nation clause — better</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terms granted to one LP go to ALL LPs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Performance &amp; fees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7  ·  Deck 19 of 20  ·  Studio Tonton Gug</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private-capital J-curve is a fee artefact before it is a performance story — costs land in year one, value lands in year seven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2, Exhibit 1 (Investment Life Cycle), printed p. 37; J-curve, p. 38.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Because cash flows are staged and at the GP's discretion, the curriculum treats IRR as the right starting point — the GP is being judged on timing as well as selection.</a:t>
            </a:r>
            <a:endParaRPr lang="en-US" sz="1300" dirty="0"/>
          </a:p>
        </p:txBody>
      </p:sp>
      <p:sp>
        <p:nvSpPr>
          <p:cNvPr id="9" name="Shape 7"/>
          <p:cNvSpPr/>
          <p:nvPr/>
        </p:nvSpPr>
        <p:spPr>
          <a:xfrm>
            <a:off x="320040" y="1188720"/>
            <a:ext cx="2743200" cy="2450592"/>
          </a:xfrm>
          <a:prstGeom prst="rect">
            <a:avLst/>
          </a:prstGeom>
          <a:solidFill>
            <a:srgbClr val="F5F7FA"/>
          </a:solidFill>
          <a:ln/>
        </p:spPr>
      </p:sp>
      <p:sp>
        <p:nvSpPr>
          <p:cNvPr id="10" name="Shape 8"/>
          <p:cNvSpPr/>
          <p:nvPr/>
        </p:nvSpPr>
        <p:spPr>
          <a:xfrm>
            <a:off x="320040" y="1188720"/>
            <a:ext cx="73152" cy="2450592"/>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1  ·  COMMITMENT</a:t>
            </a:r>
            <a:endParaRPr lang="en-US" sz="1100" dirty="0"/>
          </a:p>
        </p:txBody>
      </p:sp>
      <p:sp>
        <p:nvSpPr>
          <p:cNvPr id="12" name="Text 10"/>
          <p:cNvSpPr txBox="1"/>
          <p:nvPr/>
        </p:nvSpPr>
        <p:spPr>
          <a:xfrm>
            <a:off x="457200" y="1508760"/>
            <a:ext cx="2514600" cy="208483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Managers identify and select investments; capital is called immediately or with a delay.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Fees and expenses are incurred BEFORE deployment, and the assets generate little or no income.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Returns are usually negative here. This is the bottom of the "J".</a:t>
            </a:r>
            <a:endParaRPr lang="en-US" sz="1200" dirty="0"/>
          </a:p>
        </p:txBody>
      </p:sp>
      <p:sp>
        <p:nvSpPr>
          <p:cNvPr id="13" name="Shape 11"/>
          <p:cNvSpPr/>
          <p:nvPr/>
        </p:nvSpPr>
        <p:spPr>
          <a:xfrm>
            <a:off x="3200400" y="1188720"/>
            <a:ext cx="2743200" cy="2450592"/>
          </a:xfrm>
          <a:prstGeom prst="rect">
            <a:avLst/>
          </a:prstGeom>
          <a:solidFill>
            <a:srgbClr val="FEF0E7"/>
          </a:solidFill>
          <a:ln/>
        </p:spPr>
      </p:sp>
      <p:sp>
        <p:nvSpPr>
          <p:cNvPr id="14" name="Shape 12"/>
          <p:cNvSpPr/>
          <p:nvPr/>
        </p:nvSpPr>
        <p:spPr>
          <a:xfrm>
            <a:off x="3200400" y="1188720"/>
            <a:ext cx="73152" cy="2450592"/>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2  ·  DEPLOYMENT</a:t>
            </a:r>
            <a:endParaRPr lang="en-US" sz="1100" dirty="0"/>
          </a:p>
        </p:txBody>
      </p:sp>
      <p:sp>
        <p:nvSpPr>
          <p:cNvPr id="16" name="Text 14"/>
          <p:cNvSpPr txBox="1"/>
          <p:nvPr/>
        </p:nvSpPr>
        <p:spPr>
          <a:xfrm>
            <a:off x="3337560" y="1508760"/>
            <a:ext cx="2514600" cy="208483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Funds are deployed: construction and improvements in real estate, turnaround spend in PE, operations for a start-up.</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Cash outflows still typically exceed inflows, and management fees keep reducing returns.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Marks stay near cost — the accounting "middle period".</a:t>
            </a:r>
            <a:endParaRPr lang="en-US" sz="1200" dirty="0"/>
          </a:p>
        </p:txBody>
      </p:sp>
      <p:sp>
        <p:nvSpPr>
          <p:cNvPr id="17" name="Shape 15"/>
          <p:cNvSpPr/>
          <p:nvPr/>
        </p:nvSpPr>
        <p:spPr>
          <a:xfrm>
            <a:off x="6080760" y="1188720"/>
            <a:ext cx="2743200" cy="2450592"/>
          </a:xfrm>
          <a:prstGeom prst="rect">
            <a:avLst/>
          </a:prstGeom>
          <a:solidFill>
            <a:srgbClr val="F5F7FA"/>
          </a:solidFill>
          <a:ln/>
        </p:spPr>
      </p:sp>
      <p:sp>
        <p:nvSpPr>
          <p:cNvPr id="18" name="Shape 16"/>
          <p:cNvSpPr/>
          <p:nvPr/>
        </p:nvSpPr>
        <p:spPr>
          <a:xfrm>
            <a:off x="6080760" y="1188720"/>
            <a:ext cx="73152" cy="2450592"/>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3  ·  DISTRIBUTION</a:t>
            </a:r>
            <a:endParaRPr lang="en-US" sz="1100" dirty="0"/>
          </a:p>
        </p:txBody>
      </p:sp>
      <p:sp>
        <p:nvSpPr>
          <p:cNvPr id="20" name="Text 18"/>
          <p:cNvSpPr txBox="1"/>
          <p:nvPr/>
        </p:nvSpPr>
        <p:spPr>
          <a:xfrm>
            <a:off x="6217920" y="1508760"/>
            <a:ext cx="2514600" cy="208483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turnaround, build-out or start-up phase completes. Assets appreciate or generate income above cost.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Returns accelerate; the fund realises gains by exiting — trade sale, IPO, SPAC.</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Returns then level off as capital is returned and the fund winds down.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IRR prices the timing of cash flows and MOIC ignores it — which is precisely why the GP quotes one and a careful LP asks for the other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Curriculum defines invested capital as paid-in capital LESS management fees and fund expenses — so MOIC's denominator is net of fees, not gross commitments.
</a:t>
            </a:r>
            <a:pPr indent="0" marL="0">
              <a:buNone/>
            </a:pPr>
            <a:r>
              <a:rPr lang="en-US" sz="1000" dirty="0">
                <a:solidFill>
                  <a:srgbClr val="6B7A8D"/>
                </a:solidFill>
                <a:latin typeface="Calibri" pitchFamily="34" charset="0"/>
                <a:ea typeface="Calibri" pitchFamily="34" charset="-122"/>
                <a:cs typeface="Calibri" pitchFamily="34" charset="-120"/>
              </a:rPr>
              <a:t>² The curriculum's summary table prints "IRR 20%" beside MOIC 1.63x. Solving NPV = 0 on the cash flows as printed gives 6.8%; 1.63x over 8 years cannot be 20%.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2, MOIC and Equation 1, printed p. 39; Knowledge Check (Himitsu / ZZZ), p. 39. DPI, RVPI and TVPI are market practice, not Vol 8 content.</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MOIC treats one euro returned in year 2 exactly like one euro returned in year 15. Market practice: DPI = distributions / paid-in; RVPI = NAV / paid-in; TVPI = DPI + RVPI.</a:t>
            </a:r>
            <a:endParaRPr lang="en-US" sz="1300" dirty="0"/>
          </a:p>
        </p:txBody>
      </p:sp>
      <p:sp>
        <p:nvSpPr>
          <p:cNvPr id="10" name="Shape 8"/>
          <p:cNvSpPr/>
          <p:nvPr/>
        </p:nvSpPr>
        <p:spPr>
          <a:xfrm>
            <a:off x="320040" y="1097280"/>
            <a:ext cx="8503920" cy="566928"/>
          </a:xfrm>
          <a:prstGeom prst="rect">
            <a:avLst/>
          </a:prstGeom>
          <a:solidFill>
            <a:srgbClr val="1B2A4A"/>
          </a:solidFill>
          <a:ln/>
        </p:spPr>
      </p:sp>
      <p:sp>
        <p:nvSpPr>
          <p:cNvPr id="11" name="Text 9"/>
          <p:cNvSpPr txBox="1"/>
          <p:nvPr/>
        </p:nvSpPr>
        <p:spPr>
          <a:xfrm>
            <a:off x="411480" y="109728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MOIC  =  (Realised value + Unrealised value) / Invested capital</a:t>
            </a:r>
            <a:endParaRPr lang="en-US" sz="1800" dirty="0"/>
          </a:p>
        </p:txBody>
      </p:sp>
      <p:sp>
        <p:nvSpPr>
          <p:cNvPr id="12" name="Shape 10"/>
          <p:cNvSpPr/>
          <p:nvPr/>
        </p:nvSpPr>
        <p:spPr>
          <a:xfrm>
            <a:off x="320040" y="1737360"/>
            <a:ext cx="8503920" cy="2423160"/>
          </a:xfrm>
          <a:prstGeom prst="rect">
            <a:avLst/>
          </a:prstGeom>
          <a:solidFill>
            <a:srgbClr val="FEF0E7"/>
          </a:solidFill>
          <a:ln w="9525">
            <a:solidFill>
              <a:srgbClr val="E8600A"/>
            </a:solidFill>
            <a:prstDash val="solid"/>
          </a:ln>
        </p:spPr>
      </p:sp>
      <p:sp>
        <p:nvSpPr>
          <p:cNvPr id="13" name="Text 11"/>
          <p:cNvSpPr txBox="1"/>
          <p:nvPr/>
        </p:nvSpPr>
        <p:spPr>
          <a:xfrm>
            <a:off x="457200" y="178308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2 KNOWLEDGE CHECK — HIMITSU INVESTS IN ZZZ</a:t>
            </a:r>
            <a:endParaRPr lang="en-US" sz="1100" dirty="0"/>
          </a:p>
        </p:txBody>
      </p:sp>
      <p:sp>
        <p:nvSpPr>
          <p:cNvPr id="14" name="Text 12"/>
          <p:cNvSpPr txBox="1"/>
          <p:nvPr/>
        </p:nvSpPr>
        <p:spPr>
          <a:xfrm>
            <a:off x="457200" y="207568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Year 0: invest JPY 3.8bn. Year 2: a further JPY 1.2bn. Year 3: a further JPY 0.2bn. Year 8: sell the stake for JPY 8.5bn.</a:t>
            </a:r>
            <a:endParaRPr lang="en-US" sz="1200" dirty="0"/>
          </a:p>
        </p:txBody>
      </p:sp>
      <p:sp>
        <p:nvSpPr>
          <p:cNvPr id="15" name="Text 13"/>
          <p:cNvSpPr txBox="1"/>
          <p:nvPr/>
        </p:nvSpPr>
        <p:spPr>
          <a:xfrm>
            <a:off x="457200" y="2587752"/>
            <a:ext cx="8229600" cy="106070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Total invested capital = 3.8 + 1.2 + 0.2 = JPY 5.2bn (paid-in, less fees and expenses)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MOIC = 8.5 / 5.2 = 1.63x   ← this is the number the CFA question actually asks for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IRR: solve −3.8 − 1.2/(1+r)² − 0.2/(1+r)³ + 8.5/(1+r)⁸ = 0   ⇒   r ≈ 6.8%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Sanity check: 1.63^(1/8) − 1 = 6.3%; the later draws lift it only to 6.8%. So 1.63x sounds respectable and is a single-digit annual return.</a:t>
            </a:r>
            <a:endParaRPr lang="en-US" sz="1200" dirty="0"/>
          </a:p>
        </p:txBody>
      </p:sp>
      <p:sp>
        <p:nvSpPr>
          <p:cNvPr id="16" name="Shape 14"/>
          <p:cNvSpPr/>
          <p:nvPr/>
        </p:nvSpPr>
        <p:spPr>
          <a:xfrm>
            <a:off x="411480" y="3721608"/>
            <a:ext cx="8321040" cy="365760"/>
          </a:xfrm>
          <a:prstGeom prst="rect">
            <a:avLst/>
          </a:prstGeom>
          <a:solidFill>
            <a:srgbClr val="E8600A"/>
          </a:solidFill>
          <a:ln/>
        </p:spPr>
      </p:sp>
      <p:sp>
        <p:nvSpPr>
          <p:cNvPr id="17" name="Text 15"/>
          <p:cNvSpPr txBox="1"/>
          <p:nvPr/>
        </p:nvSpPr>
        <p:spPr>
          <a:xfrm>
            <a:off x="457200" y="372160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MOIC = 1.63x  ·  IRR ≈ 6.8%. A 2.0x over 15 years is only 4.7% p.a. — the multiple hides the clock.</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incentive fee depends on a convention nobody states out loud — the same 2-and-20 on the same 30% year produces three different bills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2, Equations 4–7, printed pp. 46–47; Knowledge Check (AWJ Capital), pp. 50–51.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Base first: hedge funds and REITs charge the management fee on AUM, private equity on COMMITTED capital. Then the convention: which terms sit inside that bracket.</a:t>
            </a:r>
            <a:endParaRPr lang="en-US" sz="1300" dirty="0"/>
          </a:p>
        </p:txBody>
      </p:sp>
      <p:sp>
        <p:nvSpPr>
          <p:cNvPr id="9" name="Shape 7"/>
          <p:cNvSpPr/>
          <p:nvPr/>
        </p:nvSpPr>
        <p:spPr>
          <a:xfrm>
            <a:off x="320040" y="1097280"/>
            <a:ext cx="8503920" cy="566928"/>
          </a:xfrm>
          <a:prstGeom prst="rect">
            <a:avLst/>
          </a:prstGeom>
          <a:solidFill>
            <a:srgbClr val="1B2A4A"/>
          </a:solidFill>
          <a:ln/>
        </p:spPr>
      </p:sp>
      <p:sp>
        <p:nvSpPr>
          <p:cNvPr id="10" name="Text 8"/>
          <p:cNvSpPr txBox="1"/>
          <p:nvPr/>
        </p:nvSpPr>
        <p:spPr>
          <a:xfrm>
            <a:off x="411480" y="109728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R_GP  =  P₁ · r_m  +  max[ 0 , (P₁ − P₀ − fee − hurdle) × p ]</a:t>
            </a:r>
            <a:endParaRPr lang="en-US" sz="1800" dirty="0"/>
          </a:p>
        </p:txBody>
      </p:sp>
      <p:sp>
        <p:nvSpPr>
          <p:cNvPr id="11" name="Shape 9"/>
          <p:cNvSpPr/>
          <p:nvPr/>
        </p:nvSpPr>
        <p:spPr>
          <a:xfrm>
            <a:off x="320040" y="1755648"/>
            <a:ext cx="8503920" cy="2423160"/>
          </a:xfrm>
          <a:prstGeom prst="rect">
            <a:avLst/>
          </a:prstGeom>
          <a:solidFill>
            <a:srgbClr val="FEF0E7"/>
          </a:solidFill>
          <a:ln w="9525">
            <a:solidFill>
              <a:srgbClr val="E8600A"/>
            </a:solidFill>
            <a:prstDash val="solid"/>
          </a:ln>
        </p:spPr>
      </p:sp>
      <p:sp>
        <p:nvSpPr>
          <p:cNvPr id="12" name="Text 10"/>
          <p:cNvSpPr txBox="1"/>
          <p:nvPr/>
        </p:nvSpPr>
        <p:spPr>
          <a:xfrm>
            <a:off x="457200" y="1801368"/>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2 KNOWLEDGE CHECK — AWJ CAPITAL, USD 100m, 2-AND-20, +30% GROSS</a:t>
            </a:r>
            <a:endParaRPr lang="en-US" sz="1100" dirty="0"/>
          </a:p>
        </p:txBody>
      </p:sp>
      <p:sp>
        <p:nvSpPr>
          <p:cNvPr id="13" name="Text 11"/>
          <p:cNvSpPr txBox="1"/>
          <p:nvPr/>
        </p:nvSpPr>
        <p:spPr>
          <a:xfrm>
            <a:off x="457200" y="2093976"/>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P₀ = USD 100m, P₁ = USD 130m. Management fee 2% on YEAR-END AUM. Incentive fee 20%. Same fund, same year, three fee conventions.</a:t>
            </a:r>
            <a:endParaRPr lang="en-US" sz="1200" dirty="0"/>
          </a:p>
        </p:txBody>
      </p:sp>
      <p:sp>
        <p:nvSpPr>
          <p:cNvPr id="14" name="Text 12"/>
          <p:cNvSpPr txBox="1"/>
          <p:nvPr/>
        </p:nvSpPr>
        <p:spPr>
          <a:xfrm>
            <a:off x="457200" y="2606040"/>
            <a:ext cx="8229600" cy="106070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Management fee, identical in all three cases: 130 × 2% = USD 2.60m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GROSS of the management fee: (130 − 100) × 20% = 6.00m  ⇒  fees 8.60m, investor +21.40%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NET of the management fee: (130 − 100 − 2.60) × 20% = 5.48m  ⇒  fees 8.08m, investor +21.92%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NET, plus a 5% hard hurdle: (130 − 100 − 5 − 2.60) × 20% = 4.48m  ⇒  fees 7.08m, investor +22.92%</a:t>
            </a:r>
            <a:endParaRPr lang="en-US" sz="1200" dirty="0"/>
          </a:p>
        </p:txBody>
      </p:sp>
      <p:sp>
        <p:nvSpPr>
          <p:cNvPr id="15" name="Shape 13"/>
          <p:cNvSpPr/>
          <p:nvPr/>
        </p:nvSpPr>
        <p:spPr>
          <a:xfrm>
            <a:off x="411480" y="3739896"/>
            <a:ext cx="8321040" cy="365760"/>
          </a:xfrm>
          <a:prstGeom prst="rect">
            <a:avLst/>
          </a:prstGeom>
          <a:solidFill>
            <a:srgbClr val="E8600A"/>
          </a:solidFill>
          <a:ln/>
        </p:spPr>
      </p:sp>
      <p:sp>
        <p:nvSpPr>
          <p:cNvPr id="16" name="Text 14"/>
          <p:cNvSpPr txBox="1"/>
          <p:nvPr/>
        </p:nvSpPr>
        <p:spPr>
          <a:xfrm>
            <a:off x="457200" y="3739896"/>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Fees 8.60 / 8.08 / 7.08 — same manager, same year. The convention is worth 152 bps.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hard hurdle pays carry on the excess only; a soft hurdle pays carry on the whole return once the hurdle clears — and a full catch-up turns one into the other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1, hurdle definitions and Equations 1–2, printed pp. 23–24; Learning Module 2, Question Set 1–2, printed pp. 53–54.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Ignoring management fees throughout. USD 100m of capital, an 8% preferred return per annum, 80/20 carry, property sold at the end of Year 2 for USD 160m.</a:t>
            </a:r>
            <a:endParaRPr lang="en-US" sz="1300" dirty="0"/>
          </a:p>
        </p:txBody>
      </p:sp>
      <p:sp>
        <p:nvSpPr>
          <p:cNvPr id="9" name="Shape 7"/>
          <p:cNvSpPr/>
          <p:nvPr/>
        </p:nvSpPr>
        <p:spPr>
          <a:xfrm>
            <a:off x="320040" y="1152144"/>
            <a:ext cx="8503920" cy="658368"/>
          </a:xfrm>
          <a:prstGeom prst="rect">
            <a:avLst/>
          </a:prstGeom>
          <a:solidFill>
            <a:srgbClr val="1B2A4A"/>
          </a:solidFill>
          <a:ln/>
        </p:spPr>
      </p:sp>
      <p:sp>
        <p:nvSpPr>
          <p:cNvPr id="10" name="Text 8"/>
          <p:cNvSpPr txBox="1"/>
          <p:nvPr/>
        </p:nvSpPr>
        <p:spPr>
          <a:xfrm>
            <a:off x="411480" y="1152144"/>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HARD, no catch-up:   r_GP = max[ 0 , p (r − r_h) ]</a:t>
            </a:r>
            <a:endParaRPr lang="en-US" sz="1800" dirty="0"/>
          </a:p>
          <a:p>
            <a:pPr algn="ctr" indent="0" marL="0">
              <a:buNone/>
            </a:pPr>
            <a:r>
              <a:rPr lang="en-US" sz="1800" b="1" dirty="0">
                <a:solidFill>
                  <a:srgbClr val="FFFFFF"/>
                </a:solidFill>
                <a:latin typeface="Consolas" pitchFamily="34" charset="0"/>
                <a:ea typeface="Consolas" pitchFamily="34" charset="-122"/>
                <a:cs typeface="Consolas" pitchFamily="34" charset="-120"/>
              </a:rPr>
              <a:t>WITH catch-up:   r_GP = max[ 0 , r_cu + p (r − r_h − r_cu) ]</a:t>
            </a:r>
            <a:endParaRPr lang="en-US" sz="1800" dirty="0"/>
          </a:p>
        </p:txBody>
      </p:sp>
      <p:sp>
        <p:nvSpPr>
          <p:cNvPr id="11" name="Text 9"/>
          <p:cNvSpPr txBox="1"/>
          <p:nvPr/>
        </p:nvSpPr>
        <p:spPr>
          <a:xfrm>
            <a:off x="320040" y="183794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 = period return; r_h = hurdle; p = carry rate; r_cu = the catch-up, paid 100% to the GP until the cumulative split reaches 80/20.</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2212848"/>
          <a:ext cx="8503920" cy="914400"/>
        </p:xfrm>
        <a:graphic>
          <a:graphicData uri="http://schemas.openxmlformats.org/drawingml/2006/table">
            <a:tbl>
              <a:tblPr/>
              <a:tblGrid>
                <a:gridCol w="3017520"/>
                <a:gridCol w="1371600"/>
                <a:gridCol w="1371600"/>
                <a:gridCol w="1371600"/>
                <a:gridCol w="13716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Waterfall step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Soft — LP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Soft — GP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Hard — LP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Hard — GP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 Return of LP capital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$100m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 · 8% preferred return, two years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$16m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$16m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 · GP catch-up to a 20% share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 · Residual split 80 / 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$32m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$8m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$35.2m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$8.8m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TOTAL PAYOUT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$148m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$12m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$151.2m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$8.8m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3" name="Shape 10"/>
          <p:cNvSpPr/>
          <p:nvPr/>
        </p:nvSpPr>
        <p:spPr>
          <a:xfrm>
            <a:off x="320040" y="3913632"/>
            <a:ext cx="8503920" cy="658368"/>
          </a:xfrm>
          <a:prstGeom prst="rect">
            <a:avLst/>
          </a:prstGeom>
          <a:solidFill>
            <a:srgbClr val="FEF0E7"/>
          </a:solidFill>
          <a:ln/>
        </p:spPr>
      </p:sp>
      <p:sp>
        <p:nvSpPr>
          <p:cNvPr id="14" name="Shape 11"/>
          <p:cNvSpPr/>
          <p:nvPr/>
        </p:nvSpPr>
        <p:spPr>
          <a:xfrm>
            <a:off x="320040" y="3913632"/>
            <a:ext cx="73152" cy="658368"/>
          </a:xfrm>
          <a:prstGeom prst="rect">
            <a:avLst/>
          </a:prstGeom>
          <a:solidFill>
            <a:srgbClr val="E8600A"/>
          </a:solidFill>
          <a:ln/>
        </p:spPr>
      </p:sp>
      <p:sp>
        <p:nvSpPr>
          <p:cNvPr id="15" name="Text 12"/>
          <p:cNvSpPr txBox="1"/>
          <p:nvPr/>
        </p:nvSpPr>
        <p:spPr>
          <a:xfrm>
            <a:off x="457200" y="395935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THE CATCH-UP ACTUALLY DOES</a:t>
            </a:r>
            <a:endParaRPr lang="en-US" sz="1100" dirty="0"/>
          </a:p>
        </p:txBody>
      </p:sp>
      <p:sp>
        <p:nvSpPr>
          <p:cNvPr id="16" name="Text 13"/>
          <p:cNvSpPr txBox="1"/>
          <p:nvPr/>
        </p:nvSpPr>
        <p:spPr>
          <a:xfrm>
            <a:off x="457200" y="4233672"/>
            <a:ext cx="8275320" cy="29260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Full catch-up ⇒ the GP takes 20% of the entire $60m gain. Hard hurdle, no catch-up ⇒ 20% of the $44m excess only.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High-water marks, clawbacks and the waterfall all answer one question — how do you stop the GP being paid twice for the same gain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1, printed pp. 24–26 (Exhibits 10–11); Learning Module 2, Example 4 (AWJ) p. 51 and Example 6 (Tenderledge clawback) pp. 49–50.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high-water mark protects against paying twice on a round trip. A clawback protects against paying early on winners that later losers wipe out. They are not the same tool.</a:t>
            </a:r>
            <a:endParaRPr lang="en-US" sz="1300" dirty="0"/>
          </a:p>
        </p:txBody>
      </p:sp>
      <p:sp>
        <p:nvSpPr>
          <p:cNvPr id="9" name="Shape 7"/>
          <p:cNvSpPr/>
          <p:nvPr/>
        </p:nvSpPr>
        <p:spPr>
          <a:xfrm>
            <a:off x="320040" y="1188720"/>
            <a:ext cx="2743200" cy="3108960"/>
          </a:xfrm>
          <a:prstGeom prst="rect">
            <a:avLst/>
          </a:prstGeom>
          <a:solidFill>
            <a:srgbClr val="F5F7FA"/>
          </a:solidFill>
          <a:ln/>
        </p:spPr>
      </p:sp>
      <p:sp>
        <p:nvSpPr>
          <p:cNvPr id="10" name="Shape 8"/>
          <p:cNvSpPr/>
          <p:nvPr/>
        </p:nvSpPr>
        <p:spPr>
          <a:xfrm>
            <a:off x="320040" y="1188720"/>
            <a:ext cx="73152" cy="310896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HIGH-WATER MARK</a:t>
            </a:r>
            <a:endParaRPr lang="en-US" sz="1100" dirty="0"/>
          </a:p>
        </p:txBody>
      </p:sp>
      <p:sp>
        <p:nvSpPr>
          <p:cNvPr id="12" name="Text 10"/>
          <p:cNvSpPr txBox="1"/>
          <p:nvPr/>
        </p:nvSpPr>
        <p:spPr>
          <a:xfrm>
            <a:off x="45720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fund's peak value at a calculation date, NET of fees. Below it, no incentive fee until the peak is regained.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AWJ, same fund:</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Yr 1: $100m → $130m, HWM set at $121.4m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Yr 2: falls to $110m — mgmt fee $2.2m only, NO incentive fee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Yr 3: $128m — fee on ($128 − $121.4) × 20% = $1.32m, not on the whole $18m rebound</a:t>
            </a:r>
            <a:endParaRPr lang="en-US" sz="1200" dirty="0"/>
          </a:p>
        </p:txBody>
      </p:sp>
      <p:sp>
        <p:nvSpPr>
          <p:cNvPr id="13" name="Shape 11"/>
          <p:cNvSpPr/>
          <p:nvPr/>
        </p:nvSpPr>
        <p:spPr>
          <a:xfrm>
            <a:off x="3200400" y="1188720"/>
            <a:ext cx="2743200" cy="3108960"/>
          </a:xfrm>
          <a:prstGeom prst="rect">
            <a:avLst/>
          </a:prstGeom>
          <a:solidFill>
            <a:srgbClr val="FEF0E7"/>
          </a:solidFill>
          <a:ln/>
        </p:spPr>
      </p:sp>
      <p:sp>
        <p:nvSpPr>
          <p:cNvPr id="14" name="Shape 12"/>
          <p:cNvSpPr/>
          <p:nvPr/>
        </p:nvSpPr>
        <p:spPr>
          <a:xfrm>
            <a:off x="3200400" y="1188720"/>
            <a:ext cx="73152" cy="310896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CLAWBACK</a:t>
            </a:r>
            <a:endParaRPr lang="en-US" sz="1100" dirty="0"/>
          </a:p>
        </p:txBody>
      </p:sp>
      <p:sp>
        <p:nvSpPr>
          <p:cNvPr id="16" name="Text 14"/>
          <p:cNvSpPr txBox="1"/>
          <p:nvPr/>
        </p:nvSpPr>
        <p:spPr>
          <a:xfrm>
            <a:off x="333756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Gives LPs the right to RECLAIM performance fees already paid. Triggered when early exits win and later deals lose.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Tenderledge, $20m in two deals: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Arguston $10m sold at $22m ⇒ accrues 20% × $12m = $2.4m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Heartfield $10m fails, aggregate gain falls to $2m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Fee due is 20% × $2m = $0.4m; $2.0m is returned</a:t>
            </a:r>
            <a:endParaRPr lang="en-US" sz="1200" dirty="0"/>
          </a:p>
        </p:txBody>
      </p:sp>
      <p:sp>
        <p:nvSpPr>
          <p:cNvPr id="17" name="Shape 15"/>
          <p:cNvSpPr/>
          <p:nvPr/>
        </p:nvSpPr>
        <p:spPr>
          <a:xfrm>
            <a:off x="6080760" y="1188720"/>
            <a:ext cx="2743200" cy="3108960"/>
          </a:xfrm>
          <a:prstGeom prst="rect">
            <a:avLst/>
          </a:prstGeom>
          <a:solidFill>
            <a:srgbClr val="F5F7FA"/>
          </a:solidFill>
          <a:ln/>
        </p:spPr>
      </p:sp>
      <p:sp>
        <p:nvSpPr>
          <p:cNvPr id="18" name="Shape 16"/>
          <p:cNvSpPr/>
          <p:nvPr/>
        </p:nvSpPr>
        <p:spPr>
          <a:xfrm>
            <a:off x="6080760" y="1188720"/>
            <a:ext cx="73152" cy="310896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WATERFALL</a:t>
            </a:r>
            <a:endParaRPr lang="en-US" sz="1100" dirty="0"/>
          </a:p>
        </p:txBody>
      </p:sp>
      <p:sp>
        <p:nvSpPr>
          <p:cNvPr id="20" name="Text 18"/>
          <p:cNvSpPr txBox="1"/>
          <p:nvPr/>
        </p:nvSpPr>
        <p:spPr>
          <a:xfrm>
            <a:off x="621792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Deal-by-deal (AMERICAN): carry is taken per deal, so the GP is paid before LPs have their capital and hurdle back on the whole fund. GP-friendly.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Whole-of-fund (EUROPEAN): every distribution goes to LPs until capital and hurdle are met at fund level. LP-friendly.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In Exhibits 10 and 11 the fund breaks even overall: American pays $13m then claws it all back; European pays nothing at all.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Private capital —</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PE &amp; private debt</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7  ·  Deck 19 of 20  ·  Studio Tonton Gug</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Private equity is indexed to where a company sits in its life cycle — VC underwrites product-market fit, buyout underwrites operations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3, Exhibit 1 (life cycle), printed p. 70; Exhibit 2 (VC stages), p. 70; exits, p. 73.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Venture capital IS a form of private equity — a specialised one, and a small share of the market by value. The exam tests that sentence.</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45920"/>
                <a:gridCol w="2011680"/>
                <a:gridCol w="2011680"/>
                <a:gridCol w="1097280"/>
                <a:gridCol w="17373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Life-cycle stage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Revenues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Cash flow</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Risk</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Typical investor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Negative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Very 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Angel / pre-seed VC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Start-up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 to none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Negative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Early-stage VC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Growth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Increasing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Increasing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Later-stage VC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Maturity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Positive, predictable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Positive, predictable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LBO / buyout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Decline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Declining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Declining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Increasing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Buyout / distressed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926080"/>
            <a:ext cx="8503920" cy="1325880"/>
          </a:xfrm>
          <a:prstGeom prst="rect">
            <a:avLst/>
          </a:prstGeom>
          <a:solidFill>
            <a:srgbClr val="FEF0E7"/>
          </a:solidFill>
          <a:ln/>
        </p:spPr>
      </p:sp>
      <p:sp>
        <p:nvSpPr>
          <p:cNvPr id="11" name="Shape 8"/>
          <p:cNvSpPr/>
          <p:nvPr/>
        </p:nvSpPr>
        <p:spPr>
          <a:xfrm>
            <a:off x="320040" y="2926080"/>
            <a:ext cx="73152" cy="1325880"/>
          </a:xfrm>
          <a:prstGeom prst="rect">
            <a:avLst/>
          </a:prstGeom>
          <a:solidFill>
            <a:srgbClr val="E8600A"/>
          </a:solidFill>
          <a:ln/>
        </p:spPr>
      </p:sp>
      <p:sp>
        <p:nvSpPr>
          <p:cNvPr id="12" name="Text 9"/>
          <p:cNvSpPr txBox="1"/>
          <p:nvPr/>
        </p:nvSpPr>
        <p:spPr>
          <a:xfrm>
            <a:off x="457200" y="2971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SITS AT EACH END</a:t>
            </a:r>
            <a:endParaRPr lang="en-US" sz="1100" dirty="0"/>
          </a:p>
        </p:txBody>
      </p:sp>
      <p:sp>
        <p:nvSpPr>
          <p:cNvPr id="13" name="Text 10"/>
          <p:cNvSpPr txBox="1"/>
          <p:nvPr/>
        </p:nvSpPr>
        <p:spPr>
          <a:xfrm>
            <a:off x="457200" y="3246120"/>
            <a:ext cx="82753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EARLY: pre-seed (USD 5k–500k, mostly individuals) → seed (USD 25k–5m, the first stage VC funds usually enter) → early-stage → later-stage (USD 5m+, institutions). Convertible preferred is the standard instrument, because it ranks ahead of common in a liquidation.</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LATE: growth / minority equity takes a non-controlling stake in a maturing firm; buyout takes control. Average hold is about five years, with a tail from under six months to more than ten.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buyout creates equity value through exactly three levers — earnings growth, multiple expansion and debt paydown — and the bridge has to reconcile to the cent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Illustrative worked example built for this session. The CFA curriculum (Vol 8, LM 3, printed pp. 68–69) describes LBO value creation qualitatively but gives no numerical build.</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Figures are illustrative. Real deals also carry transaction fees, add-on M&amp;A, and a management incentive plan that dilutes the sponsor at exit.</a:t>
            </a:r>
            <a:endParaRPr lang="en-US" sz="1300" dirty="0"/>
          </a:p>
        </p:txBody>
      </p:sp>
      <p:sp>
        <p:nvSpPr>
          <p:cNvPr id="9" name="Shape 7"/>
          <p:cNvSpPr/>
          <p:nvPr/>
        </p:nvSpPr>
        <p:spPr>
          <a:xfrm>
            <a:off x="320040" y="1188720"/>
            <a:ext cx="8503920" cy="2962656"/>
          </a:xfrm>
          <a:prstGeom prst="rect">
            <a:avLst/>
          </a:prstGeom>
          <a:solidFill>
            <a:srgbClr val="FEF0E7"/>
          </a:solidFill>
          <a:ln w="9525">
            <a:solidFill>
              <a:srgbClr val="E8600A"/>
            </a:solidFill>
            <a:prstDash val="solid"/>
          </a:ln>
        </p:spPr>
      </p:sp>
      <p:sp>
        <p:nvSpPr>
          <p:cNvPr id="10" name="Text 8"/>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TEXTBOOK BUYOUT — 5-YEAR HOLD, 60% DEBT, 6.0x ENTRY → 7.0x EXIT</a:t>
            </a:r>
            <a:endParaRPr lang="en-US" sz="1100" dirty="0"/>
          </a:p>
        </p:txBody>
      </p:sp>
      <p:sp>
        <p:nvSpPr>
          <p:cNvPr id="11" name="Text 9"/>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EBITDA₀ = 100 at 6.0x ⇒ EV 600, funded 360 debt + 240 equity. EBITDA grows 6% p.a. Debt amortises to 210. Exit at 7.0x.</a:t>
            </a:r>
            <a:endParaRPr lang="en-US" sz="1200" dirty="0"/>
          </a:p>
        </p:txBody>
      </p:sp>
      <p:sp>
        <p:nvSpPr>
          <p:cNvPr id="12" name="Text 10"/>
          <p:cNvSpPr txBox="1"/>
          <p:nvPr/>
        </p:nvSpPr>
        <p:spPr>
          <a:xfrm>
            <a:off x="457200" y="2039112"/>
            <a:ext cx="8229600" cy="1600200"/>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EBITDA₅ = 100 × 1.06⁵ = 133.8   ·   Exit EV = 7.0 × 133.8 = 936.8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Exit equity = EV − net debt = 936.8 − 210.0 = 726.8   ⇒   MOIC = 726.8 / 240.0 = 3.03x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IRR = 3.03^(1/5) − 1 = 24.8% p.a.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BRIDGE — earnings growth: ΔEBITDA × entry multiple = 33.8 × 6.0 = 202.9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BRIDGE — multiple expansion: Δmultiple × exit EBITDA = 1.0 × 133.8 = 133.8   ·   debt paydown = 360 − 210 = 150.0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6.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Check: 202.9 + 133.8 + 150.0 = 486.7 = 726.8 − 240.0.  ✓  The bridge closes.</a:t>
            </a:r>
            <a:endParaRPr lang="en-US" sz="1200" dirty="0"/>
          </a:p>
        </p:txBody>
      </p:sp>
      <p:sp>
        <p:nvSpPr>
          <p:cNvPr id="13" name="Shape 11"/>
          <p:cNvSpPr/>
          <p:nvPr/>
        </p:nvSpPr>
        <p:spPr>
          <a:xfrm>
            <a:off x="411480" y="3712464"/>
            <a:ext cx="8321040" cy="365760"/>
          </a:xfrm>
          <a:prstGeom prst="rect">
            <a:avLst/>
          </a:prstGeom>
          <a:solidFill>
            <a:srgbClr val="E8600A"/>
          </a:solidFill>
          <a:ln/>
        </p:spPr>
      </p:sp>
      <p:sp>
        <p:nvSpPr>
          <p:cNvPr id="14" name="Text 12"/>
          <p:cNvSpPr txBox="1"/>
          <p:nvPr/>
        </p:nvSpPr>
        <p:spPr>
          <a:xfrm>
            <a:off x="457200" y="3712464"/>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MOIC 3.03x  ·  IRR 24.8%. Of the 486.7 created, 27% is multiple expansion the sponsor did not earn.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Exit route is chosen at entry, not at exit — and each route trades price against speed, certainty and disclosure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3, Exhibit 3 (pros and cons), printed p. 76; other exit strategies, p. 77.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treats trade sale and public listing as the two main routes; recapitalisation, secondary sale and write-off are grouped as "other".</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103120"/>
                <a:gridCol w="3474720"/>
                <a:gridCol w="2926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Exit route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Key advantage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Key drawback</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Trade sale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Synergy premium; fast, simple execution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Few buyers; regulatory scrutiny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IPO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Highest potential price; mgmt approval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Costly, slow, volatile, lockup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SPAC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Fixed valuation; forward guidance OK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Dilution; stockholder overhang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Direct listing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 underwriters, lower cost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Least common; raises no capital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Secondary sale (PE-to-PE)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Liquidity without public disclosure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 set by other sponsors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Recapitalisation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Extracts cash, keeps control; lifts IRR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Adds leverage; not a true exit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Write-off / liquidation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Frees the team; closes a failed deal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Marks a loss on the track record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493008"/>
            <a:ext cx="8503920" cy="758952"/>
          </a:xfrm>
          <a:prstGeom prst="rect">
            <a:avLst/>
          </a:prstGeom>
          <a:solidFill>
            <a:srgbClr val="FEF0E7"/>
          </a:solidFill>
          <a:ln/>
        </p:spPr>
      </p:sp>
      <p:sp>
        <p:nvSpPr>
          <p:cNvPr id="11" name="Shape 8"/>
          <p:cNvSpPr/>
          <p:nvPr/>
        </p:nvSpPr>
        <p:spPr>
          <a:xfrm>
            <a:off x="320040" y="3493008"/>
            <a:ext cx="73152" cy="758952"/>
          </a:xfrm>
          <a:prstGeom prst="rect">
            <a:avLst/>
          </a:prstGeom>
          <a:solidFill>
            <a:srgbClr val="E8600A"/>
          </a:solidFill>
          <a:ln/>
        </p:spPr>
      </p:sp>
      <p:sp>
        <p:nvSpPr>
          <p:cNvPr id="12" name="Text 9"/>
          <p:cNvSpPr txBox="1"/>
          <p:nvPr/>
        </p:nvSpPr>
        <p:spPr>
          <a:xfrm>
            <a:off x="457200" y="353872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TWO THAT ARE NOT REALLY EXITS</a:t>
            </a:r>
            <a:endParaRPr lang="en-US" sz="1100" dirty="0"/>
          </a:p>
        </p:txBody>
      </p:sp>
      <p:sp>
        <p:nvSpPr>
          <p:cNvPr id="13" name="Text 10"/>
          <p:cNvSpPr txBox="1"/>
          <p:nvPr/>
        </p:nvSpPr>
        <p:spPr>
          <a:xfrm>
            <a:off x="457200" y="3813048"/>
            <a:ext cx="8275320" cy="39319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recapitalisation adds leverage and pays the sponsor a dividend — the curriculum is explicit that it is NOT a true exit, because control is retained. A secondary sale only moves the asset from one sponsor to another.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Private debt has four major categories plus unitranche and specialty loans — and seniority, collateral and covenants matter far more than the coupon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Curriculum: private lending funds filled the financing gap left by traditional lenders after the 2008 crisis; the excess return is an illiquidity premium.
</a:t>
            </a:r>
            <a:pPr indent="0" marL="0">
              <a:buNone/>
            </a:pPr>
            <a:r>
              <a:rPr lang="en-US" sz="1000" dirty="0">
                <a:solidFill>
                  <a:srgbClr val="6B7A8D"/>
                </a:solidFill>
                <a:latin typeface="Calibri" pitchFamily="34" charset="0"/>
                <a:ea typeface="Calibri" pitchFamily="34" charset="-122"/>
                <a:cs typeface="Calibri" pitchFamily="34" charset="-120"/>
              </a:rPr>
              <a:t>² Vol 8 gives no spread table. Every spread on this slide is a figure the curriculum itself prints in an example, and is labelled as such.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3, Private Debt Investment Characteristics, printed pp. 79–83; Exhibit 4, p. 80.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Coupons float off a reference rate, so the headline yield moves with policy. Modelling private debt is hard: thin data and artificially smooth marks.</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645920"/>
                <a:gridCol w="2194560"/>
                <a:gridCol w="2103120"/>
                <a:gridCol w="25603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Category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Rank in the structure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Typical borrower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Defining feature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Direct lending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Senior, secured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Mid-market corporates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Fixed payment schedule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Mezzanine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Sub to senior, sr to eq.</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LBOs, recaps, M&amp;A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Warrants / conversion rights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Venture debt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Ranks above equity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Start-ups, early stage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Line of credit; equity rights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Distressed debt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Varies by tranche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Firms at/near default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Priced to expected recovery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Unitranche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Between senior and sub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Mid-market LBOs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One blended interest 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1" name="Shape 8"/>
          <p:cNvSpPr/>
          <p:nvPr/>
        </p:nvSpPr>
        <p:spPr>
          <a:xfrm>
            <a:off x="320040" y="2926080"/>
            <a:ext cx="8503920" cy="1325880"/>
          </a:xfrm>
          <a:prstGeom prst="rect">
            <a:avLst/>
          </a:prstGeom>
          <a:solidFill>
            <a:srgbClr val="FEF0E7"/>
          </a:solidFill>
          <a:ln/>
        </p:spPr>
      </p:sp>
      <p:sp>
        <p:nvSpPr>
          <p:cNvPr id="12" name="Shape 9"/>
          <p:cNvSpPr/>
          <p:nvPr/>
        </p:nvSpPr>
        <p:spPr>
          <a:xfrm>
            <a:off x="320040" y="2926080"/>
            <a:ext cx="73152" cy="1325880"/>
          </a:xfrm>
          <a:prstGeom prst="rect">
            <a:avLst/>
          </a:prstGeom>
          <a:solidFill>
            <a:srgbClr val="E8600A"/>
          </a:solidFill>
          <a:ln/>
        </p:spPr>
      </p:sp>
      <p:sp>
        <p:nvSpPr>
          <p:cNvPr id="13" name="Text 10"/>
          <p:cNvSpPr txBox="1"/>
          <p:nvPr/>
        </p:nvSpPr>
        <p:spPr>
          <a:xfrm>
            <a:off x="457200" y="2971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ONLY THREE SPREADS THE CURRICULUM ACTUALLY PRINTS</a:t>
            </a:r>
            <a:endParaRPr lang="en-US" sz="1100" dirty="0"/>
          </a:p>
        </p:txBody>
      </p:sp>
      <p:sp>
        <p:nvSpPr>
          <p:cNvPr id="14" name="Text 11"/>
          <p:cNvSpPr txBox="1"/>
          <p:nvPr/>
        </p:nvSpPr>
        <p:spPr>
          <a:xfrm>
            <a:off x="457200" y="3246120"/>
            <a:ext cx="82753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Generic private debt quoted as SOFR + 375 bps (p. 82).  ·  Peterburgh's syndicated commercial mortgages at MRR + 150 bps, first lien, 0.75 LTV, 15 years (p. 81).  ·  Hertz debtor-in-possession financing at MRR + 725 bps on USD 1.65bn while in Chapter 11 (p. 82). Note the spread ladder that implies: senior secured real estate 150, unsecured corporate 375, lending into a bankruptcy 725.</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Risk and return rise as you climb the private capital structure — each rung names the specific premium you are being paid to accept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3, Exhibit 6 (risk and return levels), printed p. 85; Exhibit 7 (correlations), p. 86.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Private capital is not uncorrelated: Preqin indices correlate 0.63 to 0.83 with public indexes (Exhibit 7). The curriculum calls the benefit "moderate", not absent.</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651760"/>
                <a:gridCol w="2926080"/>
                <a:gridCol w="2926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Rung — lowest risk first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is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The premium you are paid for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 Infrastructure debt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Most senior real-asset debt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Illiquidity; long duration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 · Senior real-estate debt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First liens; IG CMBS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Illiquidity; collateral work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 · Senior direct lending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Senior secured corporate loans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Credit risk of private firms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 · Unitranche debt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Blended senior / subordinated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Credit + subordination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 · Mezzanine debt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Junior to senior, above equity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Subordination + equity kicker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6 · Private equity, co-invest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Common equity in private firms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Leverage, illiquidity, concn.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00400"/>
            <a:ext cx="8503920" cy="1051560"/>
          </a:xfrm>
          <a:prstGeom prst="rect">
            <a:avLst/>
          </a:prstGeom>
          <a:solidFill>
            <a:srgbClr val="FEF0E7"/>
          </a:solidFill>
          <a:ln/>
        </p:spPr>
      </p:sp>
      <p:sp>
        <p:nvSpPr>
          <p:cNvPr id="11" name="Shape 8"/>
          <p:cNvSpPr/>
          <p:nvPr/>
        </p:nvSpPr>
        <p:spPr>
          <a:xfrm>
            <a:off x="320040" y="3200400"/>
            <a:ext cx="73152" cy="1051560"/>
          </a:xfrm>
          <a:prstGeom prst="rect">
            <a:avLst/>
          </a:prstGeom>
          <a:solidFill>
            <a:srgbClr val="E8600A"/>
          </a:solidFill>
          <a:ln/>
        </p:spPr>
      </p:sp>
      <p:sp>
        <p:nvSpPr>
          <p:cNvPr id="12" name="Text 9"/>
          <p:cNvSpPr txBox="1"/>
          <p:nvPr/>
        </p:nvSpPr>
        <p:spPr>
          <a:xfrm>
            <a:off x="457200" y="32461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VINTAGE YEAR IS THE OTHER AXIS</a:t>
            </a:r>
            <a:endParaRPr lang="en-US" sz="1100" dirty="0"/>
          </a:p>
        </p:txBody>
      </p:sp>
      <p:sp>
        <p:nvSpPr>
          <p:cNvPr id="13" name="Text 10"/>
          <p:cNvSpPr txBox="1"/>
          <p:nvPr/>
        </p:nvSpPr>
        <p:spPr>
          <a:xfrm>
            <a:off x="457200" y="3520440"/>
            <a:ext cx="8275320" cy="6858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fund's vintage is the year it makes its first investment; a typical fund runs 10–12 years, split into a roughly five-year investment period and a harvesting period. Funds seeded in a low-valuation recovery ride the recovery; funds that deploy into a high-valuation peak do not. The curriculum's remedy is not manager selection — it is diversifying ACROSS vintage years.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Real estate &amp;</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infrastructure</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7  ·  Deck 19 of 20  ·  Studio Tonton Gug</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Real estate runs a single spectrum from bond-like senior debt to equity-like opportunistic — and the further up you go, the more return comes from growth, not rent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4, Exhibit 4 (Real Estate Risk–Return Spectrum), printed p. 103; open-end vs closed-end funds, p. 101.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exhibit also splits the ladder a second way: the lower rungs are available through public vehicles, the upper rungs are primarily private.</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920240"/>
                <a:gridCol w="3840480"/>
                <a:gridCol w="27432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Strategy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sits in it (Exhibit 4)</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Return character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Senior debt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First mortgages; investment-grade CMBS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Bond-like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Stable income; long leases; sale-leaseback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Bond-like, lease-driven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Core-plus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Minimal refurbishment; tenant repositioning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Income + modest growth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Value-add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Vacant space; redevelopment; sub-IG CMBS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Cash-flow growth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Opportunistic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Development; mezz debt; unrated CMBS; distress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 appreciation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926080"/>
            <a:ext cx="8503920" cy="1325880"/>
          </a:xfrm>
          <a:prstGeom prst="rect">
            <a:avLst/>
          </a:prstGeom>
          <a:solidFill>
            <a:srgbClr val="FEF0E7"/>
          </a:solidFill>
          <a:ln/>
        </p:spPr>
      </p:sp>
      <p:sp>
        <p:nvSpPr>
          <p:cNvPr id="11" name="Shape 8"/>
          <p:cNvSpPr/>
          <p:nvPr/>
        </p:nvSpPr>
        <p:spPr>
          <a:xfrm>
            <a:off x="320040" y="2926080"/>
            <a:ext cx="73152" cy="1325880"/>
          </a:xfrm>
          <a:prstGeom prst="rect">
            <a:avLst/>
          </a:prstGeom>
          <a:solidFill>
            <a:srgbClr val="E8600A"/>
          </a:solidFill>
          <a:ln/>
        </p:spPr>
      </p:sp>
      <p:sp>
        <p:nvSpPr>
          <p:cNvPr id="12" name="Text 9"/>
          <p:cNvSpPr txBox="1"/>
          <p:nvPr/>
        </p:nvSpPr>
        <p:spPr>
          <a:xfrm>
            <a:off x="457200" y="2971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FUND WRAPPER FOLLOWS THE STRATEGY</a:t>
            </a:r>
            <a:endParaRPr lang="en-US" sz="1100" dirty="0"/>
          </a:p>
        </p:txBody>
      </p:sp>
      <p:sp>
        <p:nvSpPr>
          <p:cNvPr id="13" name="Text 10"/>
          <p:cNvSpPr txBox="1"/>
          <p:nvPr/>
        </p:nvSpPr>
        <p:spPr>
          <a:xfrm>
            <a:off x="457200" y="3246120"/>
            <a:ext cx="82753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Core sits in INFINITE-LIFE, OPEN-END funds and REITs — investors contribute and redeem throughout, like a mutual fund, because the underlying cash flows are stable enough to support it. Opportunistic sits in FINITE-LIFE, CLOSED-END funds, because development and repositioning cannot be unwound to meet a redemption. Mismatching the two is how open-end property funds end up gating.</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Direct property is valued off a cap rate on stabilised NOI and a REIT trades on an FFO multiple — the same building, two clocks, and they do not tick together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NOI excludes financing costs, depreciation, income tax and capital expenditure — it is a pre-financing, pre-tax property-level number.
</a:t>
            </a:r>
            <a:pPr indent="0" marL="0">
              <a:buNone/>
            </a:pPr>
            <a:r>
              <a:rPr lang="en-US" sz="1000" dirty="0">
                <a:solidFill>
                  <a:srgbClr val="6B7A8D"/>
                </a:solidFill>
                <a:latin typeface="Calibri" pitchFamily="34" charset="0"/>
                <a:ea typeface="Calibri" pitchFamily="34" charset="-122"/>
                <a:cs typeface="Calibri" pitchFamily="34" charset="-120"/>
              </a:rPr>
              <a:t>² Direct capitalisation (value = NOI / cap rate) assumes a stabilised, perpetual NOI. Use a DCF when the income is not yet stabilised.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INSTRUCTOR EXTENSION, not Level I. Vol 8 (LM 4, printed p. 100) mentions FFO only as adjusting for depreciation, distributions and preferred dividends; it gives no formula, no cap rate and no NOI.</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Curriculum point that anchors this slide: listed REITs are repriced continuously, private property is appraised perhaps once a year — the mismatch makes measured correlations artificially low.</a:t>
            </a:r>
            <a:endParaRPr lang="en-US" sz="1300" dirty="0"/>
          </a:p>
        </p:txBody>
      </p:sp>
      <p:sp>
        <p:nvSpPr>
          <p:cNvPr id="10" name="Shape 8"/>
          <p:cNvSpPr/>
          <p:nvPr/>
        </p:nvSpPr>
        <p:spPr>
          <a:xfrm>
            <a:off x="320040" y="1188720"/>
            <a:ext cx="4160520" cy="2450592"/>
          </a:xfrm>
          <a:prstGeom prst="rect">
            <a:avLst/>
          </a:prstGeom>
          <a:solidFill>
            <a:srgbClr val="FEF0E7"/>
          </a:solidFill>
          <a:ln w="9525">
            <a:solidFill>
              <a:srgbClr val="E8600A"/>
            </a:solidFill>
            <a:prstDash val="solid"/>
          </a:ln>
        </p:spPr>
      </p:sp>
      <p:sp>
        <p:nvSpPr>
          <p:cNvPr id="11" name="Text 9"/>
          <p:cNvSpPr txBox="1"/>
          <p:nvPr/>
        </p:nvSpPr>
        <p:spPr>
          <a:xfrm>
            <a:off x="457200" y="123444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DIRECT  ·  CAP RATE ON NOI</a:t>
            </a:r>
            <a:endParaRPr lang="en-US" sz="1100" dirty="0"/>
          </a:p>
        </p:txBody>
      </p:sp>
      <p:sp>
        <p:nvSpPr>
          <p:cNvPr id="12" name="Text 10"/>
          <p:cNvSpPr txBox="1"/>
          <p:nvPr/>
        </p:nvSpPr>
        <p:spPr>
          <a:xfrm>
            <a:off x="457200" y="152704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Office block: gross rents USD 8m, operating expenses USD 2m, vacancy already reflected.</a:t>
            </a:r>
            <a:endParaRPr lang="en-US" sz="1200" dirty="0"/>
          </a:p>
        </p:txBody>
      </p:sp>
      <p:sp>
        <p:nvSpPr>
          <p:cNvPr id="13" name="Text 11"/>
          <p:cNvSpPr txBox="1"/>
          <p:nvPr/>
        </p:nvSpPr>
        <p:spPr>
          <a:xfrm>
            <a:off x="457200" y="2039112"/>
            <a:ext cx="3886200" cy="1088136"/>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NOI = 8 − 2 = USD 6m (no interest, no tax, no capex)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Comparable transactions imply a 5.5% cap rate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Value = NOI / cap rate = 6 / 0.055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USD 109m. Cap rate up 50 bps to 6.0% ⇒ USD 100m.</a:t>
            </a:r>
            <a:endParaRPr lang="en-US" sz="1200" dirty="0"/>
          </a:p>
        </p:txBody>
      </p:sp>
      <p:sp>
        <p:nvSpPr>
          <p:cNvPr id="14" name="Shape 12"/>
          <p:cNvSpPr/>
          <p:nvPr/>
        </p:nvSpPr>
        <p:spPr>
          <a:xfrm>
            <a:off x="411480" y="3200400"/>
            <a:ext cx="3977640" cy="365760"/>
          </a:xfrm>
          <a:prstGeom prst="rect">
            <a:avLst/>
          </a:prstGeom>
          <a:solidFill>
            <a:srgbClr val="E8600A"/>
          </a:solidFill>
          <a:ln/>
        </p:spPr>
      </p:sp>
      <p:sp>
        <p:nvSpPr>
          <p:cNvPr id="15" name="Text 13"/>
          <p:cNvSpPr txBox="1"/>
          <p:nvPr/>
        </p:nvSpPr>
        <p:spPr>
          <a:xfrm>
            <a:off x="457200" y="3200400"/>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Value = USD 109m  ·  a 50 bp move costs 8%</a:t>
            </a:r>
            <a:endParaRPr lang="en-US" sz="1150" dirty="0"/>
          </a:p>
        </p:txBody>
      </p:sp>
      <p:sp>
        <p:nvSpPr>
          <p:cNvPr id="16" name="Shape 14"/>
          <p:cNvSpPr/>
          <p:nvPr/>
        </p:nvSpPr>
        <p:spPr>
          <a:xfrm>
            <a:off x="4663440" y="1188720"/>
            <a:ext cx="4160520" cy="2450592"/>
          </a:xfrm>
          <a:prstGeom prst="rect">
            <a:avLst/>
          </a:prstGeom>
          <a:solidFill>
            <a:srgbClr val="FEF0E7"/>
          </a:solidFill>
          <a:ln w="9525">
            <a:solidFill>
              <a:srgbClr val="E8600A"/>
            </a:solidFill>
            <a:prstDash val="solid"/>
          </a:ln>
        </p:spPr>
      </p:sp>
      <p:sp>
        <p:nvSpPr>
          <p:cNvPr id="17" name="Text 15"/>
          <p:cNvSpPr txBox="1"/>
          <p:nvPr/>
        </p:nvSpPr>
        <p:spPr>
          <a:xfrm>
            <a:off x="4800600" y="123444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PUBLIC  ·  FFO MULTIPLE</a:t>
            </a:r>
            <a:endParaRPr lang="en-US" sz="1100" dirty="0"/>
          </a:p>
        </p:txBody>
      </p:sp>
      <p:sp>
        <p:nvSpPr>
          <p:cNvPr id="18" name="Text 16"/>
          <p:cNvSpPr txBox="1"/>
          <p:nvPr/>
        </p:nvSpPr>
        <p:spPr>
          <a:xfrm>
            <a:off x="4800600" y="152704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REIT: net income USD 1.60/sh, real-estate depreciation USD 0.80/sh, no property sold this year.</a:t>
            </a:r>
            <a:endParaRPr lang="en-US" sz="1200" dirty="0"/>
          </a:p>
        </p:txBody>
      </p:sp>
      <p:sp>
        <p:nvSpPr>
          <p:cNvPr id="19" name="Text 17"/>
          <p:cNvSpPr txBox="1"/>
          <p:nvPr/>
        </p:nvSpPr>
        <p:spPr>
          <a:xfrm>
            <a:off x="4800600" y="2039112"/>
            <a:ext cx="3886200" cy="1088136"/>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FFO/sh = 1.60 + 0.80 = USD 2.40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Depreciation is added back: buildings are not consumed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Peer group trades at 15x FFO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15 × 2.40 = USD 36/sh</a:t>
            </a:r>
            <a:endParaRPr lang="en-US" sz="1200" dirty="0"/>
          </a:p>
        </p:txBody>
      </p:sp>
      <p:sp>
        <p:nvSpPr>
          <p:cNvPr id="20" name="Shape 18"/>
          <p:cNvSpPr/>
          <p:nvPr/>
        </p:nvSpPr>
        <p:spPr>
          <a:xfrm>
            <a:off x="4754880" y="3200400"/>
            <a:ext cx="3977640" cy="365760"/>
          </a:xfrm>
          <a:prstGeom prst="rect">
            <a:avLst/>
          </a:prstGeom>
          <a:solidFill>
            <a:srgbClr val="E8600A"/>
          </a:solidFill>
          <a:ln/>
        </p:spPr>
      </p:sp>
      <p:sp>
        <p:nvSpPr>
          <p:cNvPr id="21" name="Text 19"/>
          <p:cNvSpPr txBox="1"/>
          <p:nvPr/>
        </p:nvSpPr>
        <p:spPr>
          <a:xfrm>
            <a:off x="4800600" y="3200400"/>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Implied price = USD 36/sh</a:t>
            </a:r>
            <a:endParaRPr lang="en-US" sz="1150" dirty="0"/>
          </a:p>
        </p:txBody>
      </p:sp>
      <p:sp>
        <p:nvSpPr>
          <p:cNvPr id="22" name="Text 20"/>
          <p:cNvSpPr txBox="1"/>
          <p:nvPr/>
        </p:nvSpPr>
        <p:spPr>
          <a:xfrm>
            <a:off x="320040" y="3803904"/>
            <a:ext cx="8503920" cy="219456"/>
          </a:xfrm>
          <a:prstGeom prst="rect">
            <a:avLst/>
          </a:prstGeom>
          <a:noFill/>
          <a:ln/>
        </p:spPr>
        <p:txBody>
          <a:bodyPr wrap="square" lIns="508" tIns="508" rIns="508" bIns="508" rtlCol="0" anchor="ctr">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THE HONEST BRIDGE: mark the REIT's buildings at market cap rates, deduct the debt — that is NAV per share. Price versus NAV is the whole argument.</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REIT escapes double taxation by distributing 90–100% of taxable rental income — and the price of that exemption is that it cannot retain capital to grow</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4, REIT forms and structure, printed pp. 99–101; Exhibit 3, p. 100.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Three forms, one exemption. Curriculum's stated disadvantage of the listed wrapper: higher correlation with public equity than private real estate.</a:t>
            </a:r>
            <a:endParaRPr lang="en-US" sz="1300" dirty="0"/>
          </a:p>
        </p:txBody>
      </p:sp>
      <p:sp>
        <p:nvSpPr>
          <p:cNvPr id="9" name="Shape 7"/>
          <p:cNvSpPr/>
          <p:nvPr/>
        </p:nvSpPr>
        <p:spPr>
          <a:xfrm>
            <a:off x="320040" y="1188720"/>
            <a:ext cx="2743200" cy="3108960"/>
          </a:xfrm>
          <a:prstGeom prst="rect">
            <a:avLst/>
          </a:prstGeom>
          <a:solidFill>
            <a:srgbClr val="F5F7FA"/>
          </a:solidFill>
          <a:ln/>
        </p:spPr>
      </p:sp>
      <p:sp>
        <p:nvSpPr>
          <p:cNvPr id="10" name="Shape 8"/>
          <p:cNvSpPr/>
          <p:nvPr/>
        </p:nvSpPr>
        <p:spPr>
          <a:xfrm>
            <a:off x="320040" y="1188720"/>
            <a:ext cx="73152" cy="310896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EQUITY REITs</a:t>
            </a:r>
            <a:endParaRPr lang="en-US" sz="1100" dirty="0"/>
          </a:p>
        </p:txBody>
      </p:sp>
      <p:sp>
        <p:nvSpPr>
          <p:cNvPr id="12" name="Text 10"/>
          <p:cNvSpPr txBox="1"/>
          <p:nvPr/>
        </p:nvSpPr>
        <p:spPr>
          <a:xfrm>
            <a:off x="45720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Own properties outright or through partnerships and joint ventures.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Strategy: maximise occupancy and rents, minimise operating and maintenance cost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Distributes 90–100% of taxable net rental income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Reports GAAP/IFRS EPS but is judged on FFO</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Return: dividend plus appreciation</a:t>
            </a:r>
            <a:endParaRPr lang="en-US" sz="1200" dirty="0"/>
          </a:p>
        </p:txBody>
      </p:sp>
      <p:sp>
        <p:nvSpPr>
          <p:cNvPr id="13" name="Shape 11"/>
          <p:cNvSpPr/>
          <p:nvPr/>
        </p:nvSpPr>
        <p:spPr>
          <a:xfrm>
            <a:off x="3200400" y="1188720"/>
            <a:ext cx="2743200" cy="3108960"/>
          </a:xfrm>
          <a:prstGeom prst="rect">
            <a:avLst/>
          </a:prstGeom>
          <a:solidFill>
            <a:srgbClr val="FEF0E7"/>
          </a:solidFill>
          <a:ln/>
        </p:spPr>
      </p:sp>
      <p:sp>
        <p:nvSpPr>
          <p:cNvPr id="14" name="Shape 12"/>
          <p:cNvSpPr/>
          <p:nvPr/>
        </p:nvSpPr>
        <p:spPr>
          <a:xfrm>
            <a:off x="3200400" y="1188720"/>
            <a:ext cx="73152" cy="310896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MORTGAGE REITs</a:t>
            </a:r>
            <a:endParaRPr lang="en-US" sz="1100" dirty="0"/>
          </a:p>
        </p:txBody>
      </p:sp>
      <p:sp>
        <p:nvSpPr>
          <p:cNvPr id="16" name="Text 14"/>
          <p:cNvSpPr txBox="1"/>
          <p:nvPr/>
        </p:nvSpPr>
        <p:spPr>
          <a:xfrm>
            <a:off x="333756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Underwrite loans against real estate or hold mortgage-backed securities.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Owns the DEBT, not the building</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Return is a net interest margin, usually levered</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Sensitive to rates and to credit spreads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Can be private or publicly traded</a:t>
            </a:r>
            <a:endParaRPr lang="en-US" sz="1200" dirty="0"/>
          </a:p>
        </p:txBody>
      </p:sp>
      <p:sp>
        <p:nvSpPr>
          <p:cNvPr id="17" name="Shape 15"/>
          <p:cNvSpPr/>
          <p:nvPr/>
        </p:nvSpPr>
        <p:spPr>
          <a:xfrm>
            <a:off x="6080760" y="1188720"/>
            <a:ext cx="2743200" cy="3108960"/>
          </a:xfrm>
          <a:prstGeom prst="rect">
            <a:avLst/>
          </a:prstGeom>
          <a:solidFill>
            <a:srgbClr val="F5F7FA"/>
          </a:solidFill>
          <a:ln/>
        </p:spPr>
      </p:sp>
      <p:sp>
        <p:nvSpPr>
          <p:cNvPr id="18" name="Shape 16"/>
          <p:cNvSpPr/>
          <p:nvPr/>
        </p:nvSpPr>
        <p:spPr>
          <a:xfrm>
            <a:off x="6080760" y="1188720"/>
            <a:ext cx="73152" cy="310896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HYBRID REITs</a:t>
            </a:r>
            <a:endParaRPr lang="en-US" sz="1100" dirty="0"/>
          </a:p>
        </p:txBody>
      </p:sp>
      <p:sp>
        <p:nvSpPr>
          <p:cNvPr id="20" name="Text 18"/>
          <p:cNvSpPr txBox="1"/>
          <p:nvPr/>
        </p:nvSpPr>
        <p:spPr>
          <a:xfrm>
            <a:off x="621792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Hold both equity and debt exposure to real estate in one vehicle.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Return mixes rental and interest income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Lower sector-specific risk than either pure form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Less common than the two pure types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Why the listed wrapper at all: transparency, no direct property management, and no forced selling to meet redemptions.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Infrastructure is distinguished from real estate by public purpose, a concession contract, and cash flows that are contracted rather than negotiated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4, Exhibit 6 (Categorizing Infrastructure Investments), printed p. 108; concession and PPP, pp. 107–109.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Core infrastructure cash flows look bond-like — regulated tariffs, availability payments, long-dated tolls — which is exactly what a liability-driven pension wants.</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377440"/>
                <a:gridCol w="3566160"/>
                <a:gridCol w="25603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Category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Examples (Exhibit 6)</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Cash-flow mechanism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Economic — Transportation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Roads, bridges, tunnels, airports, ports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Usage / traffic — market risk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Economic — ICT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Telecom towers, data centres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Leases to carriers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Economic — Utility, energy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Grid, power, water, gas, LNG, waste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Tariffs or take-or-pay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Social — Education, health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Schools, hospitals, prisons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Availability payments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Social — Housing, buildings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Social housing, municipal buildings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Availability payments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926080"/>
            <a:ext cx="8503920" cy="1325880"/>
          </a:xfrm>
          <a:prstGeom prst="rect">
            <a:avLst/>
          </a:prstGeom>
          <a:solidFill>
            <a:srgbClr val="FEF0E7"/>
          </a:solidFill>
          <a:ln/>
        </p:spPr>
      </p:sp>
      <p:sp>
        <p:nvSpPr>
          <p:cNvPr id="11" name="Shape 8"/>
          <p:cNvSpPr/>
          <p:nvPr/>
        </p:nvSpPr>
        <p:spPr>
          <a:xfrm>
            <a:off x="320040" y="2926080"/>
            <a:ext cx="73152" cy="1325880"/>
          </a:xfrm>
          <a:prstGeom prst="rect">
            <a:avLst/>
          </a:prstGeom>
          <a:solidFill>
            <a:srgbClr val="E8600A"/>
          </a:solidFill>
          <a:ln/>
        </p:spPr>
      </p:sp>
      <p:sp>
        <p:nvSpPr>
          <p:cNvPr id="12" name="Text 9"/>
          <p:cNvSpPr txBox="1"/>
          <p:nvPr/>
        </p:nvSpPr>
        <p:spPr>
          <a:xfrm>
            <a:off x="457200" y="2971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CONTRACT IS THE ASSET</a:t>
            </a:r>
            <a:endParaRPr lang="en-US" sz="1100" dirty="0"/>
          </a:p>
        </p:txBody>
      </p:sp>
      <p:sp>
        <p:nvSpPr>
          <p:cNvPr id="13" name="Text 10"/>
          <p:cNvSpPr txBox="1"/>
          <p:nvPr/>
        </p:nvSpPr>
        <p:spPr>
          <a:xfrm>
            <a:off x="457200" y="3246120"/>
            <a:ext cx="82753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public–private partnership uses a special purpose entity to raise debt and equity, build and operate the asset, and hand it back or sell it at the end of a concession agreement. The distinction that matters for risk: DEMAND-based revenue (a toll road, an airport) carries traffic risk you cannot hedge, while AVAILABILITY-based revenue pays you for keeping the asset to standard whether or not anybody uses it. Exhibit 8 puts availability-based social infrastructure at the low-risk end and demand-based greenfield at the high-risk end.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Infrastructure has its own J-curve — greenfield builds through negative cash flows, brownfield buys the operating history, and secondary-stage buys only the cash flow</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4, Exhibit 7 (Build-Operate-Transfer model), printed p. 110; stages of development, pp. 109–110.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ranks the risk explicitly: secondary-stage lowest, brownfield incrementally riskier, greenfield riskiest of the three.</a:t>
            </a:r>
            <a:endParaRPr lang="en-US" sz="1300" dirty="0"/>
          </a:p>
        </p:txBody>
      </p:sp>
      <p:sp>
        <p:nvSpPr>
          <p:cNvPr id="9" name="Shape 7"/>
          <p:cNvSpPr/>
          <p:nvPr/>
        </p:nvSpPr>
        <p:spPr>
          <a:xfrm>
            <a:off x="320040" y="1188720"/>
            <a:ext cx="2743200" cy="3108960"/>
          </a:xfrm>
          <a:prstGeom prst="rect">
            <a:avLst/>
          </a:prstGeom>
          <a:solidFill>
            <a:srgbClr val="F5F7FA"/>
          </a:solidFill>
          <a:ln/>
        </p:spPr>
      </p:sp>
      <p:sp>
        <p:nvSpPr>
          <p:cNvPr id="10" name="Shape 8"/>
          <p:cNvSpPr/>
          <p:nvPr/>
        </p:nvSpPr>
        <p:spPr>
          <a:xfrm>
            <a:off x="320040" y="1188720"/>
            <a:ext cx="73152" cy="310896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GREENFIELD  ·  RISKIEST</a:t>
            </a:r>
            <a:endParaRPr lang="en-US" sz="1100" dirty="0"/>
          </a:p>
        </p:txBody>
      </p:sp>
      <p:sp>
        <p:nvSpPr>
          <p:cNvPr id="12" name="Text 10"/>
          <p:cNvSpPr txBox="1"/>
          <p:nvPr/>
        </p:nvSpPr>
        <p:spPr>
          <a:xfrm>
            <a:off x="45720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Develop a new asset that does not yet exist. Treated by the curriculum as an opportunistic investment.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BOT life cycle: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BUILD — long approval and construction phase, cash flows negative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OPERATE — concession agreement sets the revenue parameters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TRANSFER — handed to government, sold on, or decommissioned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Usually done alongside a developer or strategic partner.</a:t>
            </a:r>
            <a:endParaRPr lang="en-US" sz="1200" dirty="0"/>
          </a:p>
        </p:txBody>
      </p:sp>
      <p:sp>
        <p:nvSpPr>
          <p:cNvPr id="13" name="Shape 11"/>
          <p:cNvSpPr/>
          <p:nvPr/>
        </p:nvSpPr>
        <p:spPr>
          <a:xfrm>
            <a:off x="3200400" y="1188720"/>
            <a:ext cx="2743200" cy="3108960"/>
          </a:xfrm>
          <a:prstGeom prst="rect">
            <a:avLst/>
          </a:prstGeom>
          <a:solidFill>
            <a:srgbClr val="FEF0E7"/>
          </a:solidFill>
          <a:ln/>
        </p:spPr>
      </p:sp>
      <p:sp>
        <p:nvSpPr>
          <p:cNvPr id="14" name="Shape 12"/>
          <p:cNvSpPr/>
          <p:nvPr/>
        </p:nvSpPr>
        <p:spPr>
          <a:xfrm>
            <a:off x="3200400" y="1188720"/>
            <a:ext cx="73152" cy="310896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BROWNFIELD  ·  MIDDLE</a:t>
            </a:r>
            <a:endParaRPr lang="en-US" sz="1100" dirty="0"/>
          </a:p>
        </p:txBody>
      </p:sp>
      <p:sp>
        <p:nvSpPr>
          <p:cNvPr id="16" name="Text 14"/>
          <p:cNvSpPr txBox="1"/>
          <p:nvPr/>
        </p:nvSpPr>
        <p:spPr>
          <a:xfrm>
            <a:off x="333756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Expand or upgrade an EXISTING facility. Often arrives via privatisation, or as a sale-leaseback of a completed greenfield project.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Some financial and operating history exists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Shorter investment period, immediate cash flows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Still needs capital expenditure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Attracts both strategic operators and financial investors seeking stable long-term returns</a:t>
            </a:r>
            <a:endParaRPr lang="en-US" sz="1200" dirty="0"/>
          </a:p>
        </p:txBody>
      </p:sp>
      <p:sp>
        <p:nvSpPr>
          <p:cNvPr id="17" name="Shape 15"/>
          <p:cNvSpPr/>
          <p:nvPr/>
        </p:nvSpPr>
        <p:spPr>
          <a:xfrm>
            <a:off x="6080760" y="1188720"/>
            <a:ext cx="2743200" cy="3108960"/>
          </a:xfrm>
          <a:prstGeom prst="rect">
            <a:avLst/>
          </a:prstGeom>
          <a:solidFill>
            <a:srgbClr val="F5F7FA"/>
          </a:solidFill>
          <a:ln/>
        </p:spPr>
      </p:sp>
      <p:sp>
        <p:nvSpPr>
          <p:cNvPr id="18" name="Shape 16"/>
          <p:cNvSpPr/>
          <p:nvPr/>
        </p:nvSpPr>
        <p:spPr>
          <a:xfrm>
            <a:off x="6080760" y="1188720"/>
            <a:ext cx="73152" cy="310896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SECONDARY-STAGE</a:t>
            </a:r>
            <a:endParaRPr lang="en-US" sz="1100" dirty="0"/>
          </a:p>
        </p:txBody>
      </p:sp>
      <p:sp>
        <p:nvSpPr>
          <p:cNvPr id="20" name="Text 18"/>
          <p:cNvSpPr txBox="1"/>
          <p:nvPr/>
        </p:nvSpPr>
        <p:spPr>
          <a:xfrm>
            <a:off x="621792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Fully operational asset requiring no further material investment or development over the holding period.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Immediate cash flow, steady and predictable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Bond-like track record already established</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Lowest expected return of the three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Natural home for pensions, insurers and SWFs buying duration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Some assets never get here — they keep needing capital.</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Natural resources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5 of 7  ·  Deck 19 of 20  ·  Studio Tonton Gug</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Raw land, farmland and timberland share real-estate DNA but take their value from the soil and the biology, not from anything built on top</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5, Exhibit 1 (Raw Land, Farmland and Timberland), printed p. 125; land vs real estate, pp. 124–125.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defining difference from real estate: there is little or no focus on physical improvements. Soil quality, climate and geology set the value instead.</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737360"/>
                <a:gridCol w="2011680"/>
                <a:gridCol w="2377440"/>
                <a:gridCol w="23774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Attribute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Raw land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Farmland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Timberland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Return drivers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 of land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Harvest, crop prices, land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Growth, lumber prices, land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Direct revenue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Appreciation; leases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Crop sales; leases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Timber sales; leases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What sets value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Physical location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Location, cycle, soil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Location, quality, phase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Main risks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Best alternative use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Weather, climate, disease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Weather, climate, disease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Typical owner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Mostly institutional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Mostly individuals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Mostly institutional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Ownership forms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Direct / partnership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Direct / partnership / REIT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Direct, REIT, TIMO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00400"/>
            <a:ext cx="8503920" cy="1051560"/>
          </a:xfrm>
          <a:prstGeom prst="rect">
            <a:avLst/>
          </a:prstGeom>
          <a:solidFill>
            <a:srgbClr val="FEF0E7"/>
          </a:solidFill>
          <a:ln/>
        </p:spPr>
      </p:sp>
      <p:sp>
        <p:nvSpPr>
          <p:cNvPr id="11" name="Shape 8"/>
          <p:cNvSpPr/>
          <p:nvPr/>
        </p:nvSpPr>
        <p:spPr>
          <a:xfrm>
            <a:off x="320040" y="3200400"/>
            <a:ext cx="73152" cy="1051560"/>
          </a:xfrm>
          <a:prstGeom prst="rect">
            <a:avLst/>
          </a:prstGeom>
          <a:solidFill>
            <a:srgbClr val="E8600A"/>
          </a:solidFill>
          <a:ln/>
        </p:spPr>
      </p:sp>
      <p:sp>
        <p:nvSpPr>
          <p:cNvPr id="12" name="Text 9"/>
          <p:cNvSpPr txBox="1"/>
          <p:nvPr/>
        </p:nvSpPr>
        <p:spPr>
          <a:xfrm>
            <a:off x="457200" y="32461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TIMBERLAND IS BOTH THE FACTORY AND THE WAREHOUSE</a:t>
            </a:r>
            <a:endParaRPr lang="en-US" sz="1100" dirty="0"/>
          </a:p>
        </p:txBody>
      </p:sp>
      <p:sp>
        <p:nvSpPr>
          <p:cNvPr id="13" name="Text 10"/>
          <p:cNvSpPr txBox="1"/>
          <p:nvPr/>
        </p:nvSpPr>
        <p:spPr>
          <a:xfrm>
            <a:off x="457200" y="3520440"/>
            <a:ext cx="8275320" cy="6858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curriculum's own phrase (p. 126). Timber is GROWN — the factory — and can be STORED simply by not harvesting it — the warehouse. Farm products must be harvested when ripe, with little flexibility. That asymmetry is a real option on the lumber price, and it is the reason timberland behaves differently from every other agricultural asset. About 98% of US farmland is family owned; institutions hold roughly a quarter of the global investable timberland base.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Commodity exposure is bought through futures, so the SHAPE of the forward curve — not just the spot price — decides what a long-only investor earns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three-way decomposition in the orange band is standard market practice and CFA Level II / CAIA material. Vol 8 gives Equation 1 and the rule of thumb only.
</a:t>
            </a:r>
            <a:pPr indent="0" marL="0">
              <a:buNone/>
            </a:pPr>
            <a:r>
              <a:rPr lang="en-US" sz="1000" dirty="0">
                <a:solidFill>
                  <a:srgbClr val="6B7A8D"/>
                </a:solidFill>
                <a:latin typeface="Calibri" pitchFamily="34" charset="0"/>
                <a:ea typeface="Calibri" pitchFamily="34" charset="-122"/>
                <a:cs typeface="Calibri" pitchFamily="34" charset="-120"/>
              </a:rPr>
              <a:t>² Curriculum rule of thumb, verbatim: contango generally LOWERS the return of a long-only investor; backwardation ENHANCES it.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5, Equation 1 and the backwardation/contango rule, printed pp. 132–133; Example 1 (crude oil, 2020), p. 133.</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Commodities themselves pay no cash flow. You hold a contract, and every month that contract has to be rolled into the next one.</a:t>
            </a:r>
            <a:endParaRPr lang="en-US" sz="1300" dirty="0"/>
          </a:p>
        </p:txBody>
      </p:sp>
      <p:sp>
        <p:nvSpPr>
          <p:cNvPr id="10" name="Shape 8"/>
          <p:cNvSpPr/>
          <p:nvPr/>
        </p:nvSpPr>
        <p:spPr>
          <a:xfrm>
            <a:off x="320040" y="1097280"/>
            <a:ext cx="8503920" cy="566928"/>
          </a:xfrm>
          <a:prstGeom prst="rect">
            <a:avLst/>
          </a:prstGeom>
          <a:solidFill>
            <a:srgbClr val="1B2A4A"/>
          </a:solidFill>
          <a:ln/>
        </p:spPr>
      </p:sp>
      <p:sp>
        <p:nvSpPr>
          <p:cNvPr id="11" name="Text 9"/>
          <p:cNvSpPr txBox="1"/>
          <p:nvPr/>
        </p:nvSpPr>
        <p:spPr>
          <a:xfrm>
            <a:off x="411480" y="109728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F₀(T)  =  S₀ · e^((r + c − i) × T)</a:t>
            </a:r>
            <a:endParaRPr lang="en-US" sz="1800" dirty="0"/>
          </a:p>
        </p:txBody>
      </p:sp>
      <p:sp>
        <p:nvSpPr>
          <p:cNvPr id="12" name="Text 10"/>
          <p:cNvSpPr txBox="1"/>
          <p:nvPr/>
        </p:nvSpPr>
        <p:spPr>
          <a:xfrm>
            <a:off x="320040" y="16916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r = risk-free rate; c = cost of carry — storage, insurance, transport; i = convenience yield, the non-cash benefit of holding the physical, which falls as inventories rise.</a:t>
            </a:r>
            <a:endParaRPr lang="en-US" sz="1100" dirty="0"/>
          </a:p>
        </p:txBody>
      </p:sp>
      <p:sp>
        <p:nvSpPr>
          <p:cNvPr id="13" name="Shape 11"/>
          <p:cNvSpPr/>
          <p:nvPr/>
        </p:nvSpPr>
        <p:spPr>
          <a:xfrm>
            <a:off x="320040" y="1993392"/>
            <a:ext cx="4160520" cy="1371600"/>
          </a:xfrm>
          <a:prstGeom prst="rect">
            <a:avLst/>
          </a:prstGeom>
          <a:solidFill>
            <a:srgbClr val="F5F7FA"/>
          </a:solidFill>
          <a:ln/>
        </p:spPr>
      </p:sp>
      <p:sp>
        <p:nvSpPr>
          <p:cNvPr id="14" name="Shape 12"/>
          <p:cNvSpPr/>
          <p:nvPr/>
        </p:nvSpPr>
        <p:spPr>
          <a:xfrm>
            <a:off x="320040" y="1993392"/>
            <a:ext cx="73152" cy="1371600"/>
          </a:xfrm>
          <a:prstGeom prst="rect">
            <a:avLst/>
          </a:prstGeom>
          <a:solidFill>
            <a:srgbClr val="1B2A4A"/>
          </a:solidFill>
          <a:ln/>
        </p:spPr>
      </p:sp>
      <p:sp>
        <p:nvSpPr>
          <p:cNvPr id="15" name="Text 13"/>
          <p:cNvSpPr txBox="1"/>
          <p:nvPr/>
        </p:nvSpPr>
        <p:spPr>
          <a:xfrm>
            <a:off x="457200" y="203911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BACKWARDATION  ·  CURVE DOWN</a:t>
            </a:r>
            <a:endParaRPr lang="en-US" sz="1100" dirty="0"/>
          </a:p>
        </p:txBody>
      </p:sp>
      <p:sp>
        <p:nvSpPr>
          <p:cNvPr id="16" name="Text 14"/>
          <p:cNvSpPr txBox="1"/>
          <p:nvPr/>
        </p:nvSpPr>
        <p:spPr>
          <a:xfrm>
            <a:off x="457200" y="2313432"/>
            <a:ext cx="3931920" cy="10058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Spot ABOVE forward. Convenience yield exceeds cost of carry, which happens when inventories are LOW.</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Rolling forward means selling the expiring contract dear and buying the next one cheap ⇒ roll return POSITIVE.</a:t>
            </a:r>
            <a:endParaRPr lang="en-US" sz="1200" dirty="0"/>
          </a:p>
        </p:txBody>
      </p:sp>
      <p:sp>
        <p:nvSpPr>
          <p:cNvPr id="17" name="Shape 15"/>
          <p:cNvSpPr/>
          <p:nvPr/>
        </p:nvSpPr>
        <p:spPr>
          <a:xfrm>
            <a:off x="4663440" y="1993392"/>
            <a:ext cx="4160520" cy="1371600"/>
          </a:xfrm>
          <a:prstGeom prst="rect">
            <a:avLst/>
          </a:prstGeom>
          <a:solidFill>
            <a:srgbClr val="FEF0E7"/>
          </a:solidFill>
          <a:ln/>
        </p:spPr>
      </p:sp>
      <p:sp>
        <p:nvSpPr>
          <p:cNvPr id="18" name="Shape 16"/>
          <p:cNvSpPr/>
          <p:nvPr/>
        </p:nvSpPr>
        <p:spPr>
          <a:xfrm>
            <a:off x="4663440" y="1993392"/>
            <a:ext cx="73152" cy="1371600"/>
          </a:xfrm>
          <a:prstGeom prst="rect">
            <a:avLst/>
          </a:prstGeom>
          <a:solidFill>
            <a:srgbClr val="E8600A"/>
          </a:solidFill>
          <a:ln/>
        </p:spPr>
      </p:sp>
      <p:sp>
        <p:nvSpPr>
          <p:cNvPr id="19" name="Text 17"/>
          <p:cNvSpPr txBox="1"/>
          <p:nvPr/>
        </p:nvSpPr>
        <p:spPr>
          <a:xfrm>
            <a:off x="4800600" y="2039112"/>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CONTANGO  ·  CURVE UP</a:t>
            </a:r>
            <a:endParaRPr lang="en-US" sz="1100" dirty="0"/>
          </a:p>
        </p:txBody>
      </p:sp>
      <p:sp>
        <p:nvSpPr>
          <p:cNvPr id="20" name="Text 18"/>
          <p:cNvSpPr txBox="1"/>
          <p:nvPr/>
        </p:nvSpPr>
        <p:spPr>
          <a:xfrm>
            <a:off x="4800600" y="2313432"/>
            <a:ext cx="3931920" cy="10058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Spot BELOW forward. Cost of carry exceeds convenience yield, which happens when inventories are HIGH.</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Rolling forward means selling cheap and buying dear ⇒ roll return NEGATIVE, month after month.</a:t>
            </a:r>
            <a:endParaRPr lang="en-US" sz="1200" dirty="0"/>
          </a:p>
        </p:txBody>
      </p:sp>
      <p:sp>
        <p:nvSpPr>
          <p:cNvPr id="21" name="Shape 19"/>
          <p:cNvSpPr/>
          <p:nvPr/>
        </p:nvSpPr>
        <p:spPr>
          <a:xfrm>
            <a:off x="320040" y="3438144"/>
            <a:ext cx="8503920" cy="813816"/>
          </a:xfrm>
          <a:prstGeom prst="rect">
            <a:avLst/>
          </a:prstGeom>
          <a:solidFill>
            <a:srgbClr val="FEF0E7"/>
          </a:solidFill>
          <a:ln/>
        </p:spPr>
      </p:sp>
      <p:sp>
        <p:nvSpPr>
          <p:cNvPr id="22" name="Shape 20"/>
          <p:cNvSpPr/>
          <p:nvPr/>
        </p:nvSpPr>
        <p:spPr>
          <a:xfrm>
            <a:off x="320040" y="3438144"/>
            <a:ext cx="73152" cy="813816"/>
          </a:xfrm>
          <a:prstGeom prst="rect">
            <a:avLst/>
          </a:prstGeom>
          <a:solidFill>
            <a:srgbClr val="E8600A"/>
          </a:solidFill>
          <a:ln/>
        </p:spPr>
      </p:sp>
      <p:sp>
        <p:nvSpPr>
          <p:cNvPr id="23" name="Text 21"/>
          <p:cNvSpPr txBox="1"/>
          <p:nvPr/>
        </p:nvSpPr>
        <p:spPr>
          <a:xfrm>
            <a:off x="457200" y="3483864"/>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TOTAL RETURN  =  SPOT RETURN  +  ROLL RETURN  +  COLLATERAL RETURN</a:t>
            </a:r>
            <a:endParaRPr lang="en-US" sz="1100" dirty="0"/>
          </a:p>
        </p:txBody>
      </p:sp>
      <p:sp>
        <p:nvSpPr>
          <p:cNvPr id="24" name="Text 22"/>
          <p:cNvSpPr txBox="1"/>
          <p:nvPr/>
        </p:nvSpPr>
        <p:spPr>
          <a:xfrm>
            <a:off x="457200" y="3758184"/>
            <a:ext cx="8275320" cy="44805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Spot = the price move. Roll = the gain or bleed from rolling down or up the curve. Collateral = interest on the cash backing the futures, so a futures programme earns the policy rate on its margin. Curriculum Example 1: in April 2020 NYMEX crude futures went below zero — demand collapsed, producers could not cut fast enough, storage filled, and a curve in backwardation in January (Exhibit 4) was in deep contango by May (Exhibit 5).</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Commodities are the only asset class here whose returns swing hard on the inflation regime — farmland and timberland diversify but do not hedge inflation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Windows differ by exhibit: returns and volatility are Q3 1992–Q2 2022 quarterly; inflation splits are 1993–2021 annual; correlations are 1990–Q1 2020 quarterly.
</a:t>
            </a:r>
            <a:pPr indent="0" marL="0">
              <a:buNone/>
            </a:pPr>
            <a:r>
              <a:rPr lang="en-US" sz="1000" dirty="0">
                <a:solidFill>
                  <a:srgbClr val="6B7A8D"/>
                </a:solidFill>
                <a:latin typeface="Calibri" pitchFamily="34" charset="0"/>
                <a:ea typeface="Calibri" pitchFamily="34" charset="-122"/>
                <a:cs typeface="Calibri" pitchFamily="34" charset="-120"/>
              </a:rPr>
              <a:t>² Commodities are S&amp;P GSCI Total Return, heavily energy-weighted; farmland and timberland are appraisal-based NCREIF indexes, so their volatility is understated.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5, Exhibit 6 (p. 136), Exhibit 7 (p. 137), Exhibit 8 (p. 138) and Exhibit 10 (p. 140).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Inflation is split at the median US CPI of 2.26%. The gap for commodities between the two regimes is 32 percentage points; for every other asset class it is a few.</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286000"/>
                <a:gridCol w="1325880"/>
                <a:gridCol w="1234440"/>
                <a:gridCol w="1280160"/>
                <a:gridCol w="1188720"/>
                <a:gridCol w="11887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Metric</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Global stocks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Global bonds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Commodities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Farmland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Timberland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Annualised return, 30 years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6.89%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7.81%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10.95%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8.69%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Annualised standard deviation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16.76%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24.39%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5.88%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6.76%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Return, HIGH-inflation years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+5.66%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+22.87%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+12.78%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+10.44%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Return, LOW-inflation years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+5.43%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+4.18%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−9.26%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+9.85%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Correlation with global stocks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0.41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CORRELATION WITH INFLATION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−0.22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0.54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−0.17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0.02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1" name="Shape 8"/>
          <p:cNvSpPr/>
          <p:nvPr/>
        </p:nvSpPr>
        <p:spPr>
          <a:xfrm>
            <a:off x="320040" y="3200400"/>
            <a:ext cx="8503920" cy="1051560"/>
          </a:xfrm>
          <a:prstGeom prst="rect">
            <a:avLst/>
          </a:prstGeom>
          <a:solidFill>
            <a:srgbClr val="FEF0E7"/>
          </a:solidFill>
          <a:ln/>
        </p:spPr>
      </p:sp>
      <p:sp>
        <p:nvSpPr>
          <p:cNvPr id="12" name="Shape 9"/>
          <p:cNvSpPr/>
          <p:nvPr/>
        </p:nvSpPr>
        <p:spPr>
          <a:xfrm>
            <a:off x="320040" y="3200400"/>
            <a:ext cx="73152" cy="1051560"/>
          </a:xfrm>
          <a:prstGeom prst="rect">
            <a:avLst/>
          </a:prstGeom>
          <a:solidFill>
            <a:srgbClr val="E8600A"/>
          </a:solidFill>
          <a:ln/>
        </p:spPr>
      </p:sp>
      <p:sp>
        <p:nvSpPr>
          <p:cNvPr id="13" name="Text 10"/>
          <p:cNvSpPr txBox="1"/>
          <p:nvPr/>
        </p:nvSpPr>
        <p:spPr>
          <a:xfrm>
            <a:off x="457200" y="32461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READ THE BOTTOM ROW BEFORE THE TOP ONE</a:t>
            </a:r>
            <a:endParaRPr lang="en-US" sz="1100" dirty="0"/>
          </a:p>
        </p:txBody>
      </p:sp>
      <p:sp>
        <p:nvSpPr>
          <p:cNvPr id="14" name="Text 11"/>
          <p:cNvSpPr txBox="1"/>
          <p:nvPr/>
        </p:nvSpPr>
        <p:spPr>
          <a:xfrm>
            <a:off x="457200" y="3520440"/>
            <a:ext cx="8275320" cy="6858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Only commodities correlate meaningfully with inflation (0.54). Farmland at −0.17 and timberland at 0.02 do not — the curriculum says so explicitly. What farmland and timberland offer is DIVERSIFICATION: 0.12 and 0.02 against global stocks, and roughly zero against bonds. And note why commodities score as a hedge: not because they do brilliantly in high inflation, but because they do badly in low inflation. That is an expensive insurance premium in the years you do not need it.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06</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Hedge funds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6 of 7  ·  Deck 19 of 20  ·  Studio Tonton Gug</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Hedge funds are classified by investment approach, not by what they own — which is why the strategy taxonomy, not the asset class, is the right map</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6, five broad categories and Exhibit 1 (Hedge Fund Strategies), printed p. 151.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curriculum's own count: FIVE broad categories. Not every hedge fund shorts or uses leverage — many simply exploit a niche expertise.</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011680"/>
                <a:gridCol w="3931920"/>
                <a:gridCol w="25603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Strategy family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Sub-strategies in Exhibit 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Defining characteristic</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Equity hedge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Long/short equity, market neutral, short biased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Bottom-up; variable beta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Event-driven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Merger arb, distressed, special sits, activist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Corporate catalyst; long bias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Relative value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Convertible arb, fixed-income arb, multi-strat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Levered spreads, neutral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Opportunistic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Global macro, managed futures (CTAs)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Top-down; directional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Multi-manager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Fund of funds, multi-strategy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Diversified across managers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926080"/>
            <a:ext cx="8503920" cy="1325880"/>
          </a:xfrm>
          <a:prstGeom prst="rect">
            <a:avLst/>
          </a:prstGeom>
          <a:solidFill>
            <a:srgbClr val="FEF0E7"/>
          </a:solidFill>
          <a:ln/>
        </p:spPr>
      </p:sp>
      <p:sp>
        <p:nvSpPr>
          <p:cNvPr id="11" name="Shape 8"/>
          <p:cNvSpPr/>
          <p:nvPr/>
        </p:nvSpPr>
        <p:spPr>
          <a:xfrm>
            <a:off x="320040" y="2926080"/>
            <a:ext cx="73152" cy="1325880"/>
          </a:xfrm>
          <a:prstGeom prst="rect">
            <a:avLst/>
          </a:prstGeom>
          <a:solidFill>
            <a:srgbClr val="E8600A"/>
          </a:solidFill>
          <a:ln/>
        </p:spPr>
      </p:sp>
      <p:sp>
        <p:nvSpPr>
          <p:cNvPr id="12" name="Text 9"/>
          <p:cNvSpPr txBox="1"/>
          <p:nvPr/>
        </p:nvSpPr>
        <p:spPr>
          <a:xfrm>
            <a:off x="457200" y="2971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ACTUALLY DISTINGUISHES A HEDGE FUND (LM6, PRINTED P. 157)</a:t>
            </a:r>
            <a:endParaRPr lang="en-US" sz="1100" dirty="0"/>
          </a:p>
        </p:txBody>
      </p:sp>
      <p:sp>
        <p:nvSpPr>
          <p:cNvPr id="13" name="Text 10"/>
          <p:cNvSpPr txBox="1"/>
          <p:nvPr/>
        </p:nvSpPr>
        <p:spPr>
          <a:xfrm>
            <a:off x="457200" y="3246120"/>
            <a:ext cx="82753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Seven characteristics, and the curriculum numbers them: 1. lighter legal and regulatory constraints; 2. flexible mandates permitting shorting and derivatives; 3. a larger investment universe; 4. aggressive styles allowing concentrated positions in credit, volatility and liquidity risk premiums; 5. relatively liberal use of leverage; 6. liquidity constraints — lockups and gates; 7. relatively high fees combining management and incentive components.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Equity long-short is the original hedge fund strategy — and over the curriculum's own ten-year sample the market index beat every single variant of it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6, Example 1 (Tenderledge Investments — Equity Strategies), monthly data over 10 years, printed p. 153.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Beta is chosen deliberately, from long-biased fundamental growth down through market neutral to short bias. The correlations show it worked as designed.</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828800"/>
                <a:gridCol w="1188720"/>
                <a:gridCol w="1143000"/>
                <a:gridCol w="1234440"/>
                <a:gridCol w="31089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Strategy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Avg m/m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Std dev</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Corr. vs idx</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Where the alpha is meant to come from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Market index (S&amp;P 500)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bar every strategy must clear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Fundamental value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Turnarounds; short the overpriced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Fundamental growth</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growth vs failing models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Market neutral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Pure selection; needs leverage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Short biased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−0.72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Forensics: accounting flaws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926080"/>
            <a:ext cx="8503920" cy="1325880"/>
          </a:xfrm>
          <a:prstGeom prst="rect">
            <a:avLst/>
          </a:prstGeom>
          <a:solidFill>
            <a:srgbClr val="FEF0E7"/>
          </a:solidFill>
          <a:ln/>
        </p:spPr>
      </p:sp>
      <p:sp>
        <p:nvSpPr>
          <p:cNvPr id="11" name="Shape 8"/>
          <p:cNvSpPr/>
          <p:nvPr/>
        </p:nvSpPr>
        <p:spPr>
          <a:xfrm>
            <a:off x="320040" y="2926080"/>
            <a:ext cx="73152" cy="1325880"/>
          </a:xfrm>
          <a:prstGeom prst="rect">
            <a:avLst/>
          </a:prstGeom>
          <a:solidFill>
            <a:srgbClr val="E8600A"/>
          </a:solidFill>
          <a:ln/>
        </p:spPr>
      </p:sp>
      <p:sp>
        <p:nvSpPr>
          <p:cNvPr id="12" name="Text 9"/>
          <p:cNvSpPr txBox="1"/>
          <p:nvPr/>
        </p:nvSpPr>
        <p:spPr>
          <a:xfrm>
            <a:off x="457200" y="2971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THE TABLE IS ACTUALLY SAYING</a:t>
            </a:r>
            <a:endParaRPr lang="en-US" sz="1100" dirty="0"/>
          </a:p>
        </p:txBody>
      </p:sp>
      <p:sp>
        <p:nvSpPr>
          <p:cNvPr id="13" name="Text 10"/>
          <p:cNvSpPr txBox="1"/>
          <p:nvPr/>
        </p:nvSpPr>
        <p:spPr>
          <a:xfrm>
            <a:off x="457200" y="3246120"/>
            <a:ext cx="82753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correlations behave exactly as the strategy labels promise: value and growth are long-biased at 0.80 and 0.67, market neutral sits at 0.22, short bias at −0.72. But the return column is the uncomfortable one — the index averaged +0.30% a month and no strategy came close. Market neutral delivers the low volatility it advertises (0.5% monthly) and needs leverage to turn that into a return worth paying for. Short-biased managers have struggled to post meaningful long-term returns across 30 years of generally rising markets.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Event-driven strategies trade a corporate catalyst and relative value trades a temporary mispricing — both earn thin spreads, so both use leverage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6, event-driven and relative value strategies, printed pp. 154–156.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Curriculum detail worth keeping: event-driven strategies tend to be LONG-biased, with merger arbitrage the least biased of them. A merger takes 6–24 months; a bankruptcy can take years.</a:t>
            </a:r>
            <a:endParaRPr lang="en-US" sz="1300" dirty="0"/>
          </a:p>
        </p:txBody>
      </p:sp>
      <p:sp>
        <p:nvSpPr>
          <p:cNvPr id="9" name="Shape 7"/>
          <p:cNvSpPr/>
          <p:nvPr/>
        </p:nvSpPr>
        <p:spPr>
          <a:xfrm>
            <a:off x="320040" y="1188720"/>
            <a:ext cx="4160520" cy="3108960"/>
          </a:xfrm>
          <a:prstGeom prst="rect">
            <a:avLst/>
          </a:prstGeom>
          <a:solidFill>
            <a:srgbClr val="FEF0E7"/>
          </a:solidFill>
          <a:ln/>
        </p:spPr>
      </p:sp>
      <p:sp>
        <p:nvSpPr>
          <p:cNvPr id="10" name="Shape 8"/>
          <p:cNvSpPr/>
          <p:nvPr/>
        </p:nvSpPr>
        <p:spPr>
          <a:xfrm>
            <a:off x="320040" y="1188720"/>
            <a:ext cx="73152" cy="310896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EVENT-DRIVEN</a:t>
            </a:r>
            <a:endParaRPr lang="en-US" sz="1100" dirty="0"/>
          </a:p>
        </p:txBody>
      </p:sp>
      <p:sp>
        <p:nvSpPr>
          <p:cNvPr id="12" name="Text 10"/>
          <p:cNvSpPr txBox="1"/>
          <p:nvPr/>
        </p:nvSpPr>
        <p:spPr>
          <a:xfrm>
            <a:off x="457200" y="1508760"/>
            <a:ext cx="393192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Merger arbitrage — buy the target below the announced takeover price, short the acquirer. Profit as the deal spread narrows to close. The spread exists because of legal, regulatory and walk-away risk; shorting the acquirer also expresses overpayment risk. Primary risk: the deal breaks.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Distressed / restructuring — buy discounted debt still senior enough to be covered by assets, or buy the FULCRUM SECURITY that converts to equity in the reorganisation.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Special situations — spin-offs, asset sales, rescue finance, buybacks.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Activist — take a stake big enough for a board seat, then push for divestitures, distributions or a change of management. Operates in PUBLIC equity, which is what separates it from private equity.</a:t>
            </a:r>
            <a:endParaRPr lang="en-US" sz="1200" dirty="0"/>
          </a:p>
        </p:txBody>
      </p:sp>
      <p:sp>
        <p:nvSpPr>
          <p:cNvPr id="13" name="Shape 11"/>
          <p:cNvSpPr/>
          <p:nvPr/>
        </p:nvSpPr>
        <p:spPr>
          <a:xfrm>
            <a:off x="4663440" y="1188720"/>
            <a:ext cx="4160520" cy="3108960"/>
          </a:xfrm>
          <a:prstGeom prst="rect">
            <a:avLst/>
          </a:prstGeom>
          <a:solidFill>
            <a:srgbClr val="F5F7FA"/>
          </a:solidFill>
          <a:ln/>
        </p:spPr>
      </p:sp>
      <p:sp>
        <p:nvSpPr>
          <p:cNvPr id="14" name="Shape 12"/>
          <p:cNvSpPr/>
          <p:nvPr/>
        </p:nvSpPr>
        <p:spPr>
          <a:xfrm>
            <a:off x="4663440" y="1188720"/>
            <a:ext cx="73152" cy="310896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RELATIVE VALUE</a:t>
            </a:r>
            <a:endParaRPr lang="en-US" sz="1100" dirty="0"/>
          </a:p>
        </p:txBody>
      </p:sp>
      <p:sp>
        <p:nvSpPr>
          <p:cNvPr id="16" name="Text 14"/>
          <p:cNvSpPr txBox="1"/>
          <p:nvPr/>
        </p:nvSpPr>
        <p:spPr>
          <a:xfrm>
            <a:off x="4800600" y="1508760"/>
            <a:ext cx="393192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Convertible bond arbitrage — buy the convertible, short the delta-equivalent amount of the issuer's stock. Conceptually market-neutral; exposed to bankruptcy risk, which can be hedged with puts or CDS.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Fixed income, general — sovereign relative-value rates and investment-grade credit. Trades between issuers, between corporate and government, between parts of one issuer's capital structure or curve.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Fixed income, asset-backed / mortgage-backed / high yield — hunting relative security and quality mispricing in higher-yielding paper.</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Multi-strategy — trade relative value across asset classes, redeploying capital between pods as conditions change.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Hedge fund terms do three jobs at once — set the fee, set the legal wrapper, and set how long your money is trapped when you want it back</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6, fee structures and forms, printed pp. 160–162; liquidity provisions, Learning Module 2, printed p. 44.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Curriculum principle: redemption terms should match the liquidity of the assets. Where they do not, a routine drawdown turns into a forced sale.</a:t>
            </a:r>
            <a:endParaRPr lang="en-US" sz="1300" dirty="0"/>
          </a:p>
        </p:txBody>
      </p:sp>
      <p:sp>
        <p:nvSpPr>
          <p:cNvPr id="9" name="Shape 7"/>
          <p:cNvSpPr/>
          <p:nvPr/>
        </p:nvSpPr>
        <p:spPr>
          <a:xfrm>
            <a:off x="320040" y="1188720"/>
            <a:ext cx="2743200" cy="3108960"/>
          </a:xfrm>
          <a:prstGeom prst="rect">
            <a:avLst/>
          </a:prstGeom>
          <a:solidFill>
            <a:srgbClr val="F5F7FA"/>
          </a:solidFill>
          <a:ln/>
        </p:spPr>
      </p:sp>
      <p:sp>
        <p:nvSpPr>
          <p:cNvPr id="10" name="Shape 8"/>
          <p:cNvSpPr/>
          <p:nvPr/>
        </p:nvSpPr>
        <p:spPr>
          <a:xfrm>
            <a:off x="320040" y="1188720"/>
            <a:ext cx="73152" cy="310896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FEES</a:t>
            </a:r>
            <a:endParaRPr lang="en-US" sz="1100" dirty="0"/>
          </a:p>
        </p:txBody>
      </p:sp>
      <p:sp>
        <p:nvSpPr>
          <p:cNvPr id="12" name="Text 10"/>
          <p:cNvSpPr txBox="1"/>
          <p:nvPr/>
        </p:nvSpPr>
        <p:spPr>
          <a:xfrm>
            <a:off x="45720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Standard "two and twenty":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2% management fee on AUM — not on committed capital</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20% of net profits to the GP</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High-water mark: no incentive fee until the previous peak is regained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Emerging "1 or 30":</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The GREATER of a 1% management fee or 30% of alpha versus a benchmark</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Fund of hedge funds adds a second layer, typically 1 and 10, on top of the underlying fees.</a:t>
            </a:r>
            <a:endParaRPr lang="en-US" sz="1200" dirty="0"/>
          </a:p>
        </p:txBody>
      </p:sp>
      <p:sp>
        <p:nvSpPr>
          <p:cNvPr id="13" name="Shape 11"/>
          <p:cNvSpPr/>
          <p:nvPr/>
        </p:nvSpPr>
        <p:spPr>
          <a:xfrm>
            <a:off x="3200400" y="1188720"/>
            <a:ext cx="2743200" cy="3108960"/>
          </a:xfrm>
          <a:prstGeom prst="rect">
            <a:avLst/>
          </a:prstGeom>
          <a:solidFill>
            <a:srgbClr val="FEF0E7"/>
          </a:solidFill>
          <a:ln/>
        </p:spPr>
      </p:sp>
      <p:sp>
        <p:nvSpPr>
          <p:cNvPr id="14" name="Shape 12"/>
          <p:cNvSpPr/>
          <p:nvPr/>
        </p:nvSpPr>
        <p:spPr>
          <a:xfrm>
            <a:off x="3200400" y="1188720"/>
            <a:ext cx="73152" cy="310896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STRUCTURES</a:t>
            </a:r>
            <a:endParaRPr lang="en-US" sz="1100" dirty="0"/>
          </a:p>
        </p:txBody>
      </p:sp>
      <p:sp>
        <p:nvSpPr>
          <p:cNvPr id="16" name="Text 14"/>
          <p:cNvSpPr txBox="1"/>
          <p:nvPr/>
        </p:nvSpPr>
        <p:spPr>
          <a:xfrm>
            <a:off x="333756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MASTER-FEEDER — an onshore feeder and an offshore feeder both invest into one master fund. Built for tax efficiency across investor types.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SEPARATELY MANAGED ACCOUNT — the investor creates the vehicle and the assets are held and registered in the investor's own name; day-to-day management is delegated.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FUND OF ONE — a hedge fund created for a single investor.</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Side letters address one investor's legal, tax or reporting needs and can supersede the fund documents.</a:t>
            </a:r>
            <a:endParaRPr lang="en-US" sz="1200" dirty="0"/>
          </a:p>
        </p:txBody>
      </p:sp>
      <p:sp>
        <p:nvSpPr>
          <p:cNvPr id="17" name="Shape 15"/>
          <p:cNvSpPr/>
          <p:nvPr/>
        </p:nvSpPr>
        <p:spPr>
          <a:xfrm>
            <a:off x="6080760" y="1188720"/>
            <a:ext cx="2743200" cy="3108960"/>
          </a:xfrm>
          <a:prstGeom prst="rect">
            <a:avLst/>
          </a:prstGeom>
          <a:solidFill>
            <a:srgbClr val="F5F7FA"/>
          </a:solidFill>
          <a:ln/>
        </p:spPr>
      </p:sp>
      <p:sp>
        <p:nvSpPr>
          <p:cNvPr id="18" name="Shape 16"/>
          <p:cNvSpPr/>
          <p:nvPr/>
        </p:nvSpPr>
        <p:spPr>
          <a:xfrm>
            <a:off x="6080760" y="1188720"/>
            <a:ext cx="73152" cy="310896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REDEMPTION TERMS</a:t>
            </a:r>
            <a:endParaRPr lang="en-US" sz="1100" dirty="0"/>
          </a:p>
        </p:txBody>
      </p:sp>
      <p:sp>
        <p:nvSpPr>
          <p:cNvPr id="20" name="Text 18"/>
          <p:cNvSpPr txBox="1"/>
          <p:nvPr/>
        </p:nvSpPr>
        <p:spPr>
          <a:xfrm>
            <a:off x="621792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LOCKUP — the minimum holding period before any withdrawal is permitted.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SOFT LOCKUP — early redemption against a fee payable to THE FUND, not the manager, so remaining investors are compensated.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NOTICE PERIOD — typically 30 to 90 days, so the manager can liquidate in an orderly way.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GATE — limits or restricts redemptions for a period, usually at the manager's discretion.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Redemptions cluster when performance is poor. That is the point.</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07</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Digital assets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7 of 7  ·  Deck 19 of 20  ·  Studio Tonton Gug</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Distributed ledger technology replaces a trusted intermediary with a consensus protocol — and the protocol you choose is a trade of energy against openness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7, Proof of Work and Proof of Stake, printed pp. 183–184; Exhibit 3 (permissioned vs permissionless), p. 185.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blockchain is a set of rules for deciding which block joins the chain and becomes the immutable truth. Everything else follows from that one design choice.</a:t>
            </a:r>
            <a:endParaRPr lang="en-US" sz="1300" dirty="0"/>
          </a:p>
        </p:txBody>
      </p:sp>
      <p:sp>
        <p:nvSpPr>
          <p:cNvPr id="9" name="Shape 7"/>
          <p:cNvSpPr/>
          <p:nvPr/>
        </p:nvSpPr>
        <p:spPr>
          <a:xfrm>
            <a:off x="320040" y="1188720"/>
            <a:ext cx="4160520" cy="2788920"/>
          </a:xfrm>
          <a:prstGeom prst="rect">
            <a:avLst/>
          </a:prstGeom>
          <a:solidFill>
            <a:srgbClr val="F5F7FA"/>
          </a:solidFill>
          <a:ln/>
        </p:spPr>
      </p:sp>
      <p:sp>
        <p:nvSpPr>
          <p:cNvPr id="10" name="Shape 8"/>
          <p:cNvSpPr/>
          <p:nvPr/>
        </p:nvSpPr>
        <p:spPr>
          <a:xfrm>
            <a:off x="320040" y="1188720"/>
            <a:ext cx="73152" cy="2788920"/>
          </a:xfrm>
          <a:prstGeom prst="rect">
            <a:avLst/>
          </a:prstGeom>
          <a:solidFill>
            <a:srgbClr val="1B2A4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PROOF OF WORK  (PoW)</a:t>
            </a:r>
            <a:endParaRPr lang="en-US" sz="1100" dirty="0"/>
          </a:p>
        </p:txBody>
      </p:sp>
      <p:sp>
        <p:nvSpPr>
          <p:cNvPr id="12" name="Text 10"/>
          <p:cNvSpPr txBox="1"/>
          <p:nvPr/>
        </p:nvSpPr>
        <p:spPr>
          <a:xfrm>
            <a:off x="457200" y="1508760"/>
            <a:ext cx="3931920" cy="2423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next block is decided by a computationally costly lottery. Miners spend real energy solving a cryptographic puzzle and are paid in the network's own asset.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Security comes from the ECONOMIC COST of attacking</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Participants accept the LONGEST chain as truth</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To rewrite history you must out-compute the whole network — the 51% attack threshold</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Even then, only a limited length of history can be altered</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Energy-intensive; this has been the most widely used protocol</a:t>
            </a:r>
            <a:endParaRPr lang="en-US" sz="1200" dirty="0"/>
          </a:p>
        </p:txBody>
      </p:sp>
      <p:sp>
        <p:nvSpPr>
          <p:cNvPr id="13" name="Shape 11"/>
          <p:cNvSpPr/>
          <p:nvPr/>
        </p:nvSpPr>
        <p:spPr>
          <a:xfrm>
            <a:off x="4663440" y="1188720"/>
            <a:ext cx="4160520" cy="2788920"/>
          </a:xfrm>
          <a:prstGeom prst="rect">
            <a:avLst/>
          </a:prstGeom>
          <a:solidFill>
            <a:srgbClr val="FEF0E7"/>
          </a:solidFill>
          <a:ln/>
        </p:spPr>
      </p:sp>
      <p:sp>
        <p:nvSpPr>
          <p:cNvPr id="14" name="Shape 12"/>
          <p:cNvSpPr/>
          <p:nvPr/>
        </p:nvSpPr>
        <p:spPr>
          <a:xfrm>
            <a:off x="4663440" y="1188720"/>
            <a:ext cx="73152" cy="2788920"/>
          </a:xfrm>
          <a:prstGeom prst="rect">
            <a:avLst/>
          </a:prstGeom>
          <a:solidFill>
            <a:srgbClr val="E8600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PROOF OF STAKE  (PoS)</a:t>
            </a:r>
            <a:endParaRPr lang="en-US" sz="1100" dirty="0"/>
          </a:p>
        </p:txBody>
      </p:sp>
      <p:sp>
        <p:nvSpPr>
          <p:cNvPr id="16" name="Text 14"/>
          <p:cNvSpPr txBox="1"/>
          <p:nvPr/>
        </p:nvSpPr>
        <p:spPr>
          <a:xfrm>
            <a:off x="4800600" y="1508760"/>
            <a:ext cx="3931920" cy="2423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Selected participants — validators — PLEDGE CAPITAL to vouch for a block's validity. A majority of other stakers must then attest to it.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Security comes from the economic cost of LOSING THE STAKE</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Validators are paid both for proposing and for attesting</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Far lower energy consumption than PoW</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Same majority-control boundary applies: the protection is that no malicious party gains a majority of the stake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Under both protocols, successful validation is rewarded with newly issued digital assets — this is mining.</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Digital assets split into cryptocurrencies and tokens — and the investment case, the regulator and the failure mode are different for each row</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7, Exhibit 4 (Different Digital Assets), printed p. 185; investible digital assets, pp. 190–192.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Bitcoin and Ether together were over 80% of total cryptocurrency market value as of July 2022. Everything below them is a long tail.</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194560"/>
                <a:gridCol w="3017520"/>
                <a:gridCol w="32918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Family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is for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Cryptocurrencies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Bitcoin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Medium of exchange, store of value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Cryptocurrencies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Altcoin — Ether, Solana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Programmable chain, smart contracts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Cryptocurrencies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Altcoin — stablecoins (USDC)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Peg to fiat — a settlement rail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Cryptocurrencies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Altcoin — memecoins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Community hype; no stated use case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Cryptocurrencies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Central bank digital currency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Tokenised fiat, central-bank issued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Tokens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Security token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Digitised ownership of a security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Tokens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Utility token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Pays for services on the network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Tokens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Governance token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Votes on protocol changes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Tokens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Non-fungible token (NFT)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Unique authenticated digital object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320040" y="3986784"/>
            <a:ext cx="8503920" cy="292608"/>
          </a:xfrm>
          <a:prstGeom prst="rect">
            <a:avLst/>
          </a:prstGeom>
          <a:noFill/>
          <a:ln/>
        </p:spPr>
        <p:txBody>
          <a:bodyPr wrap="square" lIns="508" tIns="508" rIns="508" bIns="508" rtlCol="0" anchor="ctr">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HOW YOU BUY IT — Direct: a wallet on a centralised exchange (liquid, but a security target) or a decentralised one (hard to attack, hard to regulate). Indirect: cash-settled crypto futures, ETFs holding futures rather than coin, listed miners and exchanges, and crypto hedge funds.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Digital-asset risk is not a list of drawdowns — it is a list of ways the position goes to zero for reasons unrelated to the price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8, Learning Module 7, exchanges and fraud, printed pp. 195–196; Terra/Luna and stablecoin reserves, pp. 192–193; Exhibit 7 (FTT), p. 199.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is blunt: cryptocurrency trading venues are largely unregulated, and both centralised and decentralised exchanges raise investor-protection concerns.</a:t>
            </a:r>
            <a:endParaRPr lang="en-US" sz="1300" dirty="0"/>
          </a:p>
        </p:txBody>
      </p:sp>
      <p:sp>
        <p:nvSpPr>
          <p:cNvPr id="9" name="Shape 7"/>
          <p:cNvSpPr/>
          <p:nvPr/>
        </p:nvSpPr>
        <p:spPr>
          <a:xfrm>
            <a:off x="320040" y="1188720"/>
            <a:ext cx="2743200" cy="3063240"/>
          </a:xfrm>
          <a:prstGeom prst="rect">
            <a:avLst/>
          </a:prstGeom>
          <a:solidFill>
            <a:srgbClr val="F5F7FA"/>
          </a:solidFill>
          <a:ln/>
        </p:spPr>
      </p:sp>
      <p:sp>
        <p:nvSpPr>
          <p:cNvPr id="10" name="Shape 8"/>
          <p:cNvSpPr/>
          <p:nvPr/>
        </p:nvSpPr>
        <p:spPr>
          <a:xfrm>
            <a:off x="320040" y="1188720"/>
            <a:ext cx="73152" cy="3063240"/>
          </a:xfrm>
          <a:prstGeom prst="rect">
            <a:avLst/>
          </a:prstGeom>
          <a:solidFill>
            <a:srgbClr val="B71C1C"/>
          </a:solidFill>
          <a:ln/>
        </p:spPr>
      </p:sp>
      <p:sp>
        <p:nvSpPr>
          <p:cNvPr id="11" name="Text 9"/>
          <p:cNvSpPr txBox="1"/>
          <p:nvPr/>
        </p:nvSpPr>
        <p:spPr>
          <a:xfrm>
            <a:off x="45720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RISK 1  ·  CUSTODY</a:t>
            </a:r>
            <a:endParaRPr lang="en-US" sz="1100" dirty="0"/>
          </a:p>
        </p:txBody>
      </p:sp>
      <p:sp>
        <p:nvSpPr>
          <p:cNvPr id="12" name="Text 10"/>
          <p:cNvSpPr txBox="1"/>
          <p:nvPr/>
        </p:nvSpPr>
        <p:spPr>
          <a:xfrm>
            <a:off x="457200" y="164592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 A centralised exchange holds your private keys. If its servers are compromised, trading halts and the custodial wallet keys leak.</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Self-custody moves the risk to you: a lost seed phrase is an unrecoverable loss, with no issuer and no registrar to appeal to.</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A decentralised exchange is far harder to attack — and far harder to regulate or to sue.</a:t>
            </a:r>
            <a:endParaRPr lang="en-US" sz="1100" dirty="0"/>
          </a:p>
        </p:txBody>
      </p:sp>
      <p:sp>
        <p:nvSpPr>
          <p:cNvPr id="13" name="Shape 11"/>
          <p:cNvSpPr/>
          <p:nvPr/>
        </p:nvSpPr>
        <p:spPr>
          <a:xfrm>
            <a:off x="3200400" y="1188720"/>
            <a:ext cx="2743200" cy="3063240"/>
          </a:xfrm>
          <a:prstGeom prst="rect">
            <a:avLst/>
          </a:prstGeom>
          <a:solidFill>
            <a:srgbClr val="F5F7FA"/>
          </a:solidFill>
          <a:ln/>
        </p:spPr>
      </p:sp>
      <p:sp>
        <p:nvSpPr>
          <p:cNvPr id="14" name="Shape 12"/>
          <p:cNvSpPr/>
          <p:nvPr/>
        </p:nvSpPr>
        <p:spPr>
          <a:xfrm>
            <a:off x="3200400" y="1188720"/>
            <a:ext cx="73152" cy="3063240"/>
          </a:xfrm>
          <a:prstGeom prst="rect">
            <a:avLst/>
          </a:prstGeom>
          <a:solidFill>
            <a:srgbClr val="B71C1C"/>
          </a:solidFill>
          <a:ln/>
        </p:spPr>
      </p:sp>
      <p:sp>
        <p:nvSpPr>
          <p:cNvPr id="15" name="Text 13"/>
          <p:cNvSpPr txBox="1"/>
          <p:nvPr/>
        </p:nvSpPr>
        <p:spPr>
          <a:xfrm>
            <a:off x="333756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RISK 2  ·  REGULATION</a:t>
            </a:r>
            <a:endParaRPr lang="en-US" sz="1100" dirty="0"/>
          </a:p>
        </p:txBody>
      </p:sp>
      <p:sp>
        <p:nvSpPr>
          <p:cNvPr id="16" name="Text 14"/>
          <p:cNvSpPr txBox="1"/>
          <p:nvPr/>
        </p:nvSpPr>
        <p:spPr>
          <a:xfrm>
            <a:off x="3337560" y="164592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 Venues are largely unregulated, so market manipulation is possible and common — the curriculum's own pump-and-dump example is EthereumMax.</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Whether a token is a security or a commodity is unresolved, and it decides the supervisor.</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Jurisdictional patchwork: legal in some countries, banned outright in others.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The curriculum asks for clear, predictable standards ACROSS jurisdictions. They do not yet exist.</a:t>
            </a:r>
            <a:endParaRPr lang="en-US" sz="1100" dirty="0"/>
          </a:p>
        </p:txBody>
      </p:sp>
      <p:sp>
        <p:nvSpPr>
          <p:cNvPr id="17" name="Shape 15"/>
          <p:cNvSpPr/>
          <p:nvPr/>
        </p:nvSpPr>
        <p:spPr>
          <a:xfrm>
            <a:off x="6080760" y="1188720"/>
            <a:ext cx="2743200" cy="3063240"/>
          </a:xfrm>
          <a:prstGeom prst="rect">
            <a:avLst/>
          </a:prstGeom>
          <a:solidFill>
            <a:srgbClr val="F5F7FA"/>
          </a:solidFill>
          <a:ln/>
        </p:spPr>
      </p:sp>
      <p:sp>
        <p:nvSpPr>
          <p:cNvPr id="18" name="Shape 16"/>
          <p:cNvSpPr/>
          <p:nvPr/>
        </p:nvSpPr>
        <p:spPr>
          <a:xfrm>
            <a:off x="6080760" y="1188720"/>
            <a:ext cx="73152" cy="3063240"/>
          </a:xfrm>
          <a:prstGeom prst="rect">
            <a:avLst/>
          </a:prstGeom>
          <a:solidFill>
            <a:srgbClr val="B71C1C"/>
          </a:solidFill>
          <a:ln/>
        </p:spPr>
      </p:sp>
      <p:sp>
        <p:nvSpPr>
          <p:cNvPr id="19" name="Text 17"/>
          <p:cNvSpPr txBox="1"/>
          <p:nvPr/>
        </p:nvSpPr>
        <p:spPr>
          <a:xfrm>
            <a:off x="6217920" y="128016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RISK 3  ·  VALUATION</a:t>
            </a:r>
            <a:endParaRPr lang="en-US" sz="1100" dirty="0"/>
          </a:p>
        </p:txBody>
      </p:sp>
      <p:sp>
        <p:nvSpPr>
          <p:cNvPr id="20" name="Text 18"/>
          <p:cNvSpPr txBox="1"/>
          <p:nvPr/>
        </p:nvSpPr>
        <p:spPr>
          <a:xfrm>
            <a:off x="6217920" y="1645920"/>
            <a:ext cx="2468880" cy="251460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 No cash flows and no consensus on how to value them. The curriculum links that missing anchor directly to the volatility.</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Algorithmic pegs can fail fast: TerraUSD was backed only by Luna. In one week Luna supply went from 350 million to 6.5 trillion coins; the peg broke on 9 May 2022.</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Collateralised stablecoins are not exempt — Terra's collapse triggered a run on Tether and USDC over reserve transparency.</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19 — Alternative Investments</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Alternatives are defined negatively. Three features — specialised knowledge, low correlation, illiquidity — force three consequences: different structures, incentive fees, and appraisal difficulty.</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Fee arithmetic turns on the BASE and the CONVENTION. Hedge funds charge on AUM, private equity on committed capital; an incentive fee taken gross of the management fee, net of it, or net with a hurdle gave 8.60 / 8.08 / 7.08 on the same 30% year.</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 hard hurdle pays carry on the excess; a soft hurdle pays on the whole return once cleared. A full catch-up makes a hard hurdle economically identical to a soft one — GP $12m vs $8.8m on the same $60m gain.</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High-water marks stop double payment on a round trip; clawbacks reclaim carry paid on early winners; American waterfalls pay per deal, European wait for the whole fund.</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IRR prices timing and MOIC ignores it: 1.63x over eight years is 6.8% a year. Ask for both, plus DPI, before believing any track record.</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LBO equity value = earnings growth + multiple expansion + debt paydown, and the bridge must reconcile. In the worked deal, 27% of the value created was multiple expansion the sponsor did not earn.</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Real assets: the fund wrapper must match the asset — open-end for core, closed-end for opportunistic. Cap rate is a yield, so a 50 bp move costs 8% of value; a REIT reprices that in a morning, an appraisal takes a year.</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Commodity futures returns depend on the CURVE: backwardation adds roll return, contango bleeds it. Commodities hedge inflation (0.54); farmland and timberland diversify but do not hedge it.</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19 · Alternative Investments</dc:title>
  <dc:subject>PptxGenJS Presentation</dc:subject>
  <dc:creator>Studio Tonton Gug</dc:creator>
  <cp:lastModifiedBy>Studio Tonton Gug</cp:lastModifiedBy>
  <cp:revision>1</cp:revision>
  <dcterms:created xsi:type="dcterms:W3CDTF">2026-09-02T18:51:52Z</dcterms:created>
  <dcterms:modified xsi:type="dcterms:W3CDTF">2026-09-02T18:51:52Z</dcterms:modified>
</cp:coreProperties>
</file>