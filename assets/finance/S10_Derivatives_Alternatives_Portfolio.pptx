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4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 Fwd</c:v>
                </c:pt>
              </c:strCache>
            </c:strRef>
          </c:tx>
          <c:spPr>
            <a:solidFill>
              <a:srgbClr val="E8600A"/>
            </a:solidFill>
            <a:ln w="25400" cap="flat">
              <a:solidFill>
                <a:srgbClr val="E860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00A"/>
              </a:solidFill>
              <a:ln w="9525" cap="flat">
                <a:solidFill>
                  <a:srgbClr val="E860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80</c:v>
                  </c:pt>
                  <c:pt idx="1">
                    <c:v>90</c:v>
                  </c:pt>
                  <c:pt idx="2">
                    <c:v>100</c:v>
                  </c:pt>
                  <c:pt idx="3">
                    <c:v>110</c:v>
                  </c:pt>
                  <c:pt idx="4">
                    <c:v>120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-20</c:v>
                </c:pt>
                <c:pt idx="1">
                  <c:v>-10</c:v>
                </c:pt>
                <c:pt idx="2">
                  <c:v>0</c:v>
                </c:pt>
                <c:pt idx="3">
                  <c:v>10</c:v>
                </c:pt>
                <c:pt idx="4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 Fwd</c:v>
                </c:pt>
              </c:strCache>
            </c:strRef>
          </c:tx>
          <c:spPr>
            <a:solidFill>
              <a:srgbClr val="1B2A4A"/>
            </a:solidFill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80</c:v>
                  </c:pt>
                  <c:pt idx="1">
                    <c:v>90</c:v>
                  </c:pt>
                  <c:pt idx="2">
                    <c:v>100</c:v>
                  </c:pt>
                  <c:pt idx="3">
                    <c:v>110</c:v>
                  </c:pt>
                  <c:pt idx="4">
                    <c:v>120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10</c:v>
                </c:pt>
                <c:pt idx="2">
                  <c:v>0</c:v>
                </c:pt>
                <c:pt idx="3">
                  <c:v>-10</c:v>
                </c:pt>
                <c:pt idx="4">
                  <c:v>-20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 Call</c:v>
                </c:pt>
              </c:strCache>
            </c:strRef>
          </c:tx>
          <c:spPr>
            <a:solidFill>
              <a:srgbClr val="E8600A"/>
            </a:solidFill>
            <a:ln w="25400" cap="flat">
              <a:solidFill>
                <a:srgbClr val="E860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00A"/>
              </a:solidFill>
              <a:ln w="9525" cap="flat">
                <a:solidFill>
                  <a:srgbClr val="E860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80</c:v>
                  </c:pt>
                  <c:pt idx="1">
                    <c:v>90</c:v>
                  </c:pt>
                  <c:pt idx="2">
                    <c:v>100</c:v>
                  </c:pt>
                  <c:pt idx="3">
                    <c:v>110</c:v>
                  </c:pt>
                  <c:pt idx="4">
                    <c:v>120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-5</c:v>
                </c:pt>
                <c:pt idx="1">
                  <c:v>-5</c:v>
                </c:pt>
                <c:pt idx="2">
                  <c:v>-5</c:v>
                </c:pt>
                <c:pt idx="3">
                  <c:v>5</c:v>
                </c:pt>
                <c:pt idx="4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 Put</c:v>
                </c:pt>
              </c:strCache>
            </c:strRef>
          </c:tx>
          <c:spPr>
            <a:solidFill>
              <a:srgbClr val="1B2A4A"/>
            </a:solidFill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80</c:v>
                  </c:pt>
                  <c:pt idx="1">
                    <c:v>90</c:v>
                  </c:pt>
                  <c:pt idx="2">
                    <c:v>100</c:v>
                  </c:pt>
                  <c:pt idx="3">
                    <c:v>110</c:v>
                  </c:pt>
                  <c:pt idx="4">
                    <c:v>120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5</c:v>
                </c:pt>
                <c:pt idx="2">
                  <c:v>-5</c:v>
                </c:pt>
                <c:pt idx="3">
                  <c:v>-5</c:v>
                </c:pt>
                <c:pt idx="4">
                  <c:v>-5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Short Call</c:v>
                </c:pt>
              </c:strCache>
            </c:strRef>
          </c:tx>
          <c:spPr>
            <a:solidFill>
              <a:srgbClr val="6B7A99"/>
            </a:solidFill>
            <a:ln w="25400" cap="flat">
              <a:solidFill>
                <a:srgbClr val="6B7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A99"/>
              </a:solidFill>
              <a:ln w="9525" cap="flat">
                <a:solidFill>
                  <a:srgbClr val="6B7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80</c:v>
                  </c:pt>
                  <c:pt idx="1">
                    <c:v>90</c:v>
                  </c:pt>
                  <c:pt idx="2">
                    <c:v>100</c:v>
                  </c:pt>
                  <c:pt idx="3">
                    <c:v>110</c:v>
                  </c:pt>
                  <c:pt idx="4">
                    <c:v>120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-5</c:v>
                </c:pt>
                <c:pt idx="4">
                  <c:v>-15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Efficient Frontier</c:v>
                </c:pt>
              </c:strCache>
            </c:strRef>
          </c:tx>
          <c:spPr>
            <a:solidFill>
              <a:srgbClr val="E8600A"/>
            </a:solidFill>
            <a:ln w="25400" cap="flat">
              <a:solidFill>
                <a:srgbClr val="E860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600A"/>
              </a:solidFill>
              <a:ln w="9525" cap="flat">
                <a:solidFill>
                  <a:srgbClr val="E8600A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12</c:v>
                </c:pt>
                <c:pt idx="1">
                  <c:v>10</c:v>
                </c:pt>
                <c:pt idx="2">
                  <c:v>18</c:v>
                </c:pt>
                <c:pt idx="3">
                  <c:v>14</c:v>
                </c:pt>
                <c:pt idx="4">
                  <c:v>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10</c:v>
                </c:pt>
                <c:pt idx="2">
                  <c:v>12</c:v>
                </c:pt>
                <c:pt idx="3">
                  <c:v>14</c:v>
                </c:pt>
                <c:pt idx="4">
                  <c:v>16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bubble3D val="0"/>
            <c:spPr>
              <a:solidFill>
                <a:srgbClr val="4A7EC2"/>
              </a:solidFill>
              <a:effectLst/>
            </c:spPr>
          </c:dPt>
          <c:dPt>
            <c:idx val="2"/>
            <c:bubble3D val="0"/>
            <c:spPr>
              <a:solidFill>
                <a:srgbClr val="E8600A"/>
              </a:solidFill>
              <a:effectLst/>
            </c:spPr>
          </c:dPt>
          <c:dPt>
            <c:idx val="3"/>
            <c:bubble3D val="0"/>
            <c:spPr>
              <a:solidFill>
                <a:srgbClr val="1A7A4A"/>
              </a:solidFill>
              <a:effectLst/>
            </c:spPr>
          </c:dPt>
          <c:dPt>
            <c:idx val="4"/>
            <c:bubble3D val="0"/>
            <c:spPr>
              <a:solidFill>
                <a:srgbClr val="6B7A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Global Equity</c:v>
                </c:pt>
                <c:pt idx="1">
                  <c:v>Fixed Income</c:v>
                </c:pt>
                <c:pt idx="2">
                  <c:v>Real Assets</c:v>
                </c:pt>
                <c:pt idx="3">
                  <c:v>Alternatives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30</c:v>
                </c:pt>
                <c:pt idx="2">
                  <c:v>10</c:v>
                </c:pt>
                <c:pt idx="3">
                  <c:v>12</c:v>
                </c:pt>
                <c:pt idx="4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0D8E8"/>
                </a:solidFill>
              </a:rPr>
              <a:t>STUDIO TONTON GUG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600A"/>
                </a:solidFill>
              </a:rPr>
              <a:t>FINANCE FUNDAMENTALS · CFA LEVEL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Derivatives, Alternatives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Portfolio Management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2880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8"/>
                </a:solidFill>
              </a:rPr>
              <a:t>Forwards · Futures · Options · Swaps · Hedge Funds · Private Equity · CAPM · Portfolio Theory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480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S10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D0D8E8"/>
                </a:solidFill>
              </a:rPr>
              <a:t>S10 · DERIVATIVES, ALTERNATIVES &amp; PORTFOLIO MGT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&amp; Futures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delivery, margin &amp; hedging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DERIVATIVES: BUILDING BLOCKS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50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Forward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28016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OTC custom contract. Delivery of asset at agreed future price &amp; date. No daily settlement.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804672"/>
            <a:ext cx="4114800" cy="38404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850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7448" y="128016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Exchange-traded, standardised forward. Daily mark-to-market margin settlement.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88920"/>
            <a:ext cx="4114800" cy="384048"/>
          </a:xfrm>
          <a:prstGeom prst="rect">
            <a:avLst/>
          </a:prstGeom>
          <a:solidFill>
            <a:srgbClr val="4A7EC2"/>
          </a:solidFill>
          <a:ln w="12700">
            <a:solidFill>
              <a:srgbClr val="4A7E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" y="3264408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Right (not obligation) to buy/sell at strike. Buyer pays premium upfront.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7889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788920"/>
            <a:ext cx="411480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Swaps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7448" y="3264408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Series of forward contracts. Periodic exchange of cash flows. OTC; ISDA documentation.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FORWARD CONTRACTS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9202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Mechanics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Custom OTC agreement between two parties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Long: agrees to BUY asset at forward price (F₀)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Short: agrees to SELL asset at forward price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Settlement: physical delivery or cash (MarkToMkt at expiry)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No daily cash flows — credit risk accumulates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852928"/>
            <a:ext cx="41148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52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 = S₀ × (1 + r)ᵀ  (no-arbitrage)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53872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538728"/>
            <a:ext cx="64008" cy="8229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30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Storage Costs &amp; Dividends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F₀ = (S₀ + PV costs − PV benefits) × (1+r)ᵀ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804672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Forward Payoff at Expiry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0" y="1234440"/>
          <a:ext cx="4297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FUTURES VS FORWARDS: KEY DIFFERENCES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Forwards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Futures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Trading venue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OTC (bilateral)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Exchange (CME, ICE, etc.)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Standardisation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Custom terms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Standardised contract specs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Settlement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At maturity (FV)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Daily MTM → margin account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Credit risk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Counterparty risk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Clearinghouse guarantee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Liquidity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Low; hard to exit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High; close via offset trade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Price discovery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Private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Public &amp; transparent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Margin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None typically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Initial + variation margin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Typical users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Corporates, banks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Speculators, hedgers, arbitrageurs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FUTURES PRICING: COST OF CARRY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5029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No-Arbitrage Pricing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48280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F₀ = S₀ × e^(r−q)T  (continuous compounding)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 = risk-free rate, q = dividend yield / convenience yield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Cash-and-carry: buy spot, sell futures → profit if F &gt; theoretical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Reverse: sell spot, buy futures → profit if F &lt; theoretical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32888"/>
            <a:ext cx="50292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328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 = S₀ × (1+r)ᵀ − FV(Dividends)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5029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00400"/>
            <a:ext cx="64008" cy="11887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91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Basis &amp; Convergence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59359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Basis = Spot − Futures (negative for contango)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Contango: F &gt; S (positive carry assets)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Backwardation: F &lt; S (commodities w/ convenience yield)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804672"/>
            <a:ext cx="3383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804672"/>
            <a:ext cx="33832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850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Worked Example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261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Index = 5,000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77840" y="1472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 = 5% p.a.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1682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= 1.5% p.a.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77840" y="18928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futures: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77840" y="2313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5,000 × e^(0.05−0.015)×0.5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2523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5,000 × e^0.0175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2734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5,000 × 1.01765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0" y="2944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5,088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0" y="3154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77840" y="3364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futures trade at 5,100: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35753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Overpriced: cash &amp; carry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77840" y="3785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index, sell futures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HEDGING WITH FUTURES: EQUITY BETA MANAGEMENT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5029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Hedging Mechanics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48280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Number of contracts = (Target β − Current β) / β_futures × (Portfolio MV / Futures price × multiplier)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Negative contracts = short futures (reduce beta)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Positive contracts = long futures (increase beta)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Perfect hedge: target β = 0 → fully eliminates systematic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32888"/>
            <a:ext cx="8595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32888"/>
            <a:ext cx="8595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78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Worked Example: Beta Reduction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71800"/>
          <a:ext cx="4754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Portfolio market 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$10,000,000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Current portfolio beta (βP)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1.90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Target beta (β*)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0.90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S&amp;P 500 futures price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Futures contract multiplier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$250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β of futures (≈1.0)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166360" y="2971800"/>
            <a:ext cx="3566160" cy="21671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3017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(0.90 − 1.90) / 1.0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57800" y="32644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× (10,000,000 / (5,000 × 250))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257800" y="35112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257800" y="37581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−1.0 × (10,000,000 / 1,250,000)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57800" y="4005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25780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−1.0 × 8 = −8 contracts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257800" y="44988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257800" y="47457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SHORT 8 S&amp;P futures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5212080"/>
            <a:ext cx="914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5239512"/>
            <a:ext cx="91440" cy="6400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5303520"/>
            <a:ext cx="-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47472" y="5532120"/>
            <a:ext cx="-54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274320" y="5230368"/>
            <a:ext cx="8595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E(R) before: 16.3%   →   E(R) after hedge: 9.3%  (assuming Rf=2%, ERP=7.5%)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D0D8E8"/>
                </a:solidFill>
              </a:rPr>
              <a:t>S10 · DERIVATIVES, ALTERNATIVES &amp; PORTFOLIO MGT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puts, payoffs, put-call parity &amp; strategies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OPTIONS: CALLS, PUTS &amp; MONEYNESS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7373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Call Option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Buyer has RIGHT to BUY at strike price 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Seller (writer) has OBLIGATION to deliver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Max loss for buyer = premium paid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Intrinsic value = max(S−K, 0) for call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64008" cy="17373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Put Option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4096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Buyer has RIGHT to SELL at strike price 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Seller has OBLIGATION to buy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Max gain for buyer = K (if stock → 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Intrinsic value = max(K−S, 0) for 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6974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Moneyness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In-the-Money (ITM)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S &gt; 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S &lt; 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At-the-Money (ATM)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S = 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S = 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Out-of-the-Money (OTM)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S &lt; 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S &gt; 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OPTION PAYOFF PROFILES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804672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804672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804672"/>
            <a:ext cx="64008" cy="1371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896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Long Call (buy call)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23560" y="1197864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Max loss = premium (e.g. $5)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Breakeven = K +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Unlimited upside above 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0" y="2304288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304288"/>
            <a:ext cx="64008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2395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Long Put (buy put)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2697480"/>
            <a:ext cx="3182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Max loss = premium (e.g. $5)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Breakeven = K −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Profit if S falls below 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0" y="3794760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0" y="3794760"/>
            <a:ext cx="64008" cy="91440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Short Positions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23560" y="4187952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Writers collect premium but face large/unlimited losses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PUT-CALL PARITY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+ PV(K) = P + S₀   (European options, no dividends)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0200"/>
            <a:ext cx="64008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91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39136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Long call + cash (PV of K) = Long put + Long stock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Both portfolios pay max(S_T, K) at expiry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If parity violated → arbitrage opportunity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Applicable to European options only (no early exercise)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600200"/>
            <a:ext cx="64008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Synthetic Positions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993392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Synthetic long stock: long call + short put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Synthetic long call: long put + long stock + borrow PV(K)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Synthetic long put: long call + short stock + invest PV(K)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Allows replication and arbitrage pricing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01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Numerical Example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1246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2"/>
                </a:solidFill>
              </a:rPr>
              <a:t>Given: S=100, K=100, r=5%, T=1yr, Call=8.00 → </a:t>
            </a:r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</a:rPr>
              <a:t>Put = C + PV(K) − S = 8.00 + 100/1.05 − 100 = 8.00 + 95.24 − 100 = 3.24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069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</a:rPr>
              <a:t>If market put price ≠ 3.24 → arbitrage via reverse cash-and-carry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OPTION VALUATION: WHAT DRIVES THE PREMIUM?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3291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Stock Price (S↑)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7A4A"/>
                          </a:solidFill>
                        </a:rPr>
                        <a:t>↑ Call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2200"/>
                          </a:solidFill>
                        </a:rPr>
                        <a:t>↓ Put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Higher S = call more ITM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Strike Price (K↑)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7A4A"/>
                          </a:solidFill>
                        </a:rPr>
                        <a:t>↓ Call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2200"/>
                          </a:solidFill>
                        </a:rPr>
                        <a:t>↑ Put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Higher K = call harder to profit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Time to Expiry (T↑)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7A4A"/>
                          </a:solidFill>
                        </a:rPr>
                        <a:t>↑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2200"/>
                          </a:solidFill>
                        </a:rPr>
                        <a:t>↑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More time = more chance of profit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Volatility (σ↑)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7A4A"/>
                          </a:solidFill>
                        </a:rPr>
                        <a:t>↑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2200"/>
                          </a:solidFill>
                        </a:rPr>
                        <a:t>↑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More volatility = more upside optionality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Risk-free rate (r↑)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7A4A"/>
                          </a:solidFill>
                        </a:rPr>
                        <a:t>↑ Slightly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2200"/>
                          </a:solidFill>
                        </a:rPr>
                        <a:t>↓ Slightly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PV(K) falls → call cheaper to buy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Dividends (D↑)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7A4A"/>
                          </a:solidFill>
                        </a:rPr>
                        <a:t>↓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C2200"/>
                          </a:solidFill>
                        </a:rPr>
                        <a:t>↑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A52"/>
                          </a:solidFill>
                        </a:rPr>
                        <a:t>Dividends reduce expected stock price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OPTIONS STRATEGIES: COVERED CALL &amp; PROTECTIVE PUT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2103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Covered 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Long stock + Short call (same underlying)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Goal: generate income from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Max gain = K − S₀ +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Max loss = S₀ − Premium (if stock → 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Upside capped at strike 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Used by investors willing to sell stock at 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64008" cy="2103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Protective 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4096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Long stock + Long put (same underlying)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Goal: insure against downside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Max loss = S₀ − K +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Unlimited upside (minus premium cost)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Like buying insurance on the stock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Higher strike put = more expensive, more protection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36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0A"/>
                </a:solidFill>
              </a:rPr>
              <a:t>Bull Call Spread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3136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Long low-strike call + Short high-strike call. Limits cost and upside.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8595360" cy="457200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39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0A"/>
                </a:solidFill>
              </a:rPr>
              <a:t>Bear Put Spread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36393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Long high-strike put + Short low-strike put. Bearish with lower cost.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42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0A"/>
                </a:solidFill>
              </a:rPr>
              <a:t>Straddle (Long)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0" y="41422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Long call + Long put at same K. Profit from large move in either direction.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0A"/>
                </a:solidFill>
              </a:rPr>
              <a:t>Collar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46451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Long stock + Long put + Short call. Bounded gain/loss corridor; zero-cost if premiums match.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D0D8E8"/>
                </a:solidFill>
              </a:rPr>
              <a:t>S10 · DERIVATIVES, ALTERNATIVES &amp; PORTFOLIO MGT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rate, currency &amp; credit default swaps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INTEREST RATE SWAPS (IRS)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IRS Mechanics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4828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Two parties exchange fixed ↔ floating payments on notional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Fixed-rate payer: pays fixed, receives SOFR/floating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Pay-fixed = synthetic short bond (duration shortens)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Receive-fixed = synthetic long bond (duration extends)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Net settlement; no exchange of notional (same currency)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761488"/>
            <a:ext cx="50292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614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Payment = (Fixed − Floating) × Notional × T/360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447288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447288"/>
            <a:ext cx="64008" cy="914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38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840480"/>
            <a:ext cx="4828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Corp: convert fixed-rate debt to floating (saves if rates fall)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Investor: convert FRN portfolio to fixed (duration extension)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804672"/>
            <a:ext cx="3383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IRS Cash Flow Diagram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1325880"/>
            <a:ext cx="118872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325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Fixed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Payer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52360" y="1325880"/>
            <a:ext cx="1188720" cy="640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325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Fixed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Receiver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1508760"/>
            <a:ext cx="118872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298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FIXED 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1188720" cy="0"/>
          </a:xfrm>
          <a:prstGeom prst="line">
            <a:avLst/>
          </a:prstGeom>
          <a:noFill/>
          <a:ln w="1905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10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600A"/>
                </a:solidFill>
              </a:rPr>
              <a:t>← FLOATING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240280"/>
          <a:ext cx="3383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82296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Fixed (3%)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SOFR+0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(Fixed pays)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Qtr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75,000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62,500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Pays 12,500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Qtr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75,000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75,000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Qtr 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75,000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87,500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A52"/>
                          </a:solidFill>
                        </a:rPr>
                        <a:t>Receives 12,500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5532120" y="3721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</a:rPr>
              <a:t>Notional = $10M, payments quarterly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CURRENCY SWAPS &amp; CREDIT DEFAULT SWAPS (CDS)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23774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Currency Swap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Exchange of interest + principal in two currencies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Notional IS exchanged at inception and maturity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Used to hedge FX risk on foreign-currency debt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Structure: fixed-for-fixed, fixed-for-floating, or float-for-float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Pricing: forward FX rates imply cross-currency swap rates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Cross-currency basis: spread vs IBOR differential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64008" cy="23774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Credit Default Swap (CDS)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409651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Protection buyer pays periodic premium (CDS spread)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Protection seller pays face value if credit event occurs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Credit events: default, restructuring, bankruptcy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Reference entity: specific bond issuer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CDS spread ≈ credit spread of reference bond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Naked CDS: speculating on credit deterioration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310128"/>
            <a:ext cx="41148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101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CDS Spread ≈ PD × LGD (simplified)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3310128"/>
            <a:ext cx="429768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3101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 Swap: exchange notional at T₀ and Tₙ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005072"/>
            <a:ext cx="64008" cy="749808"/>
          </a:xfrm>
          <a:prstGeom prst="rect">
            <a:avLst/>
          </a:prstGeom>
          <a:solidFill>
            <a:srgbClr val="4A7EC2"/>
          </a:solidFill>
          <a:ln w="12700">
            <a:solidFill>
              <a:srgbClr val="4A7E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96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Total Return Swap (TRS)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398264"/>
            <a:ext cx="8394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TRS payer: pays total return (dividends + capital gains) of reference asset; receives fixed/floating 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Synthetic exposure to asset returns without owning the asset; used by hedge funds for leverage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D0D8E8"/>
                </a:solidFill>
              </a:rPr>
              <a:t>S10 · DERIVATIVES, ALTERNATIVES &amp; PORTFOLIO MGT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Investments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funds, private equity, real assets &amp; commodities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ALTERNATIVE INVESTMENTS: OVERVIEW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27889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50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Hedge Funds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</a:rPr>
              <a:t>Pooled vehicles using leverage, long/short, derivatives. Target absolute return.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804672"/>
            <a:ext cx="2788920" cy="3657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850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Private Equity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261872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</a:rPr>
              <a:t>VC, growth equity, LBO. Illiquid; long lock-up (7–12 years). J-curve return profile.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804672"/>
            <a:ext cx="2788920" cy="365760"/>
          </a:xfrm>
          <a:prstGeom prst="rect">
            <a:avLst/>
          </a:prstGeom>
          <a:solidFill>
            <a:srgbClr val="4A7EC2"/>
          </a:solidFill>
          <a:ln w="12700">
            <a:solidFill>
              <a:srgbClr val="4A7E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850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Estate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1261872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</a:rPr>
              <a:t>Direct ownership, REITs, private RE funds. Inflation hedge, income + capital gain.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278892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Commodities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</a:rPr>
              <a:t>Energy, metals, agriculture. Futures-based exposure. Inflation hedge, low correlation.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83464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2834640"/>
            <a:ext cx="2788920" cy="3657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64408" y="3291840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</a:rPr>
              <a:t>Roads, utilities, airports. Long-dated, regulated cash flows. Low correlation to equities.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71616" y="283464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2834640"/>
            <a:ext cx="2788920" cy="3657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Private Debt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63056" y="3291840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A52"/>
                </a:solidFill>
              </a:rPr>
              <a:t>Direct lending, mezzanine, distressed. Higher yield vs public credit. Illiquidity premium.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HEDGE FUNDS: STRATEGIES &amp; STRUCTURE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6035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59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Long/Short Equity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85953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Long undervalued + short overvalued stocks. Net long exposure adjustable.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8595360" cy="603504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463040"/>
            <a:ext cx="64008" cy="6035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17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Global Macro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151790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Bets on macro themes: currencies, rates, commodities. Soros/Druckenmiller style.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21408"/>
            <a:ext cx="64008" cy="6035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Event-Driven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08960" y="217627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M&amp;A arbitrage, distressed, activist. Profit from corporate events.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8595360" cy="603504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79776"/>
            <a:ext cx="64008" cy="6035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Relative Value / Arb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0" y="283464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Exploit price differences: fixed income arb, convertible arb, stat arb.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438144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438144"/>
            <a:ext cx="64008" cy="6035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CTA / Managed Futures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08960" y="349300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Systematic trend-following. Long/short across asset classes.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096512"/>
            <a:ext cx="8595360" cy="603504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096512"/>
            <a:ext cx="64008" cy="60350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151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Multi-Strategy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08960" y="415137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2"/>
                </a:solidFill>
              </a:rPr>
              <a:t>Allocate across sub-strategies. Diversification, internal capital reallocation.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7548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00A"/>
                </a:solidFill>
              </a:rPr>
              <a:t>Fee structure: typically 2% management fee + 20% performance fee (2-and-20). High-water mark prevents double-dipping.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HEDGE FUND PERFORMANCE &amp; DUE DILIGENCE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Return Characteristics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Absolute return target (e.g. cash + 5%)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Often lower correlation with equities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Use of leverage amplifies both gains &amp; losses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Lock-up periods restrict investor liquidity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Survivorship bias inflates reported industry returns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64008" cy="18288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Due Diligence Checklist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40965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Track record: live vs back-tested, Sharpe ratio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Team: key-man risk, succession, incentives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Operations: prime broker, administrator, auditor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Risk management: VaR, drawdown history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Legal: ISDA, subscription docs, redemption terms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788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Fund of Funds (FoF)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08960"/>
            <a:ext cx="64008" cy="12801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Advantages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502152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Diversification across strategies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Access to closed/institutional funds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Professional manager selection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10896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108960"/>
            <a:ext cx="64008" cy="12801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200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Disadvantages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502152"/>
            <a:ext cx="4096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Double fee layer: 1%+10% on top of underlying fees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Diluted returns vs direct investment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Reduced transparency into underlying positions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PRIVATE EQUITY: VC, GROWTH &amp; LBO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2286000"/>
          </a:xfrm>
          <a:prstGeom prst="rect">
            <a:avLst/>
          </a:prstGeom>
          <a:solidFill>
            <a:srgbClr val="4A7EC2"/>
          </a:solidFill>
          <a:ln w="12700">
            <a:solidFill>
              <a:srgbClr val="4A7E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Venture Capital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25420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Seed through Series D+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Early-stage companies; high failure 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Returns driven by few winners (power law)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Equity stake; governance rights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Exit: IPO or strategic M&amp;A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64008" cy="22860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896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Growth Equity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197864"/>
            <a:ext cx="25420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Minority/majority stake in profitable co.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Company has positive FCF; needs capital to scale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Lower risk vs VC; lower return potential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Less leverage than LBO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Management stays; investor supports growth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83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04672"/>
            <a:ext cx="64008" cy="22860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896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LBO (Leveraged Buyout)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197864"/>
            <a:ext cx="263347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Acquire mature company with debt (60–80%)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Target: stable FCF to service debt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Returns via: operational improvement, deleveraging, multiple expansion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Typical hold: 3–7 years; exit via IPO/sale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PE sponsor adds equity 20–40% of purchase price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41148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186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LBO return: MOIC = Exit Equity / Entry Equity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3218688"/>
            <a:ext cx="429768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2186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IRR: solves NPV = 0 for cash flows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74320" y="3913632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13632"/>
            <a:ext cx="64008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050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J-Curve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306824"/>
            <a:ext cx="8394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PE cash flows: negative early (fees, unfunded capital calls) before positive distributions → 'J' shaped return profile over fund life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PRIVATE EQUITY PERFORMANCE METRICS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65176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203704"/>
            <a:ext cx="265176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96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8"/>
                </a:solidFill>
              </a:rPr>
              <a:t>MOIC / TVPI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12471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2.5×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160934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600A"/>
                </a:solidFill>
              </a:rPr>
              <a:t>Total value / paid-in capital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0" y="804672"/>
            <a:ext cx="265176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203704"/>
            <a:ext cx="2651760" cy="6400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896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8"/>
                </a:solidFill>
              </a:rPr>
              <a:t>IRR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82112" y="112471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22%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82112" y="160934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600A"/>
                </a:solidFill>
              </a:rPr>
              <a:t>Internal rate of return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0" y="804672"/>
            <a:ext cx="283464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203704"/>
            <a:ext cx="2834640" cy="64008"/>
          </a:xfrm>
          <a:prstGeom prst="rect">
            <a:avLst/>
          </a:prstGeom>
          <a:solidFill>
            <a:srgbClr val="4A7EC2"/>
          </a:solidFill>
          <a:ln w="12700">
            <a:solidFill>
              <a:srgbClr val="4A7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896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8"/>
                </a:solidFill>
              </a:rPr>
              <a:t>DPI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16752" y="112471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1.8×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16752" y="160934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600A"/>
                </a:solidFill>
              </a:rPr>
              <a:t>Realised distributions / paid-in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95728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114800"/>
                <a:gridCol w="3200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TVPI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(Distributions + Residual Value) / Paid-in Capital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&gt; 1x = above water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DPI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Distributions / Paid-in Capital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Realised return multiple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RVPI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Residual (Unrealised) Value / Paid-in Capital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Paper gain; unconfirmed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IRR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Solves Σ CF / (1+IRR)ᵗ = 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Time-weighted; favours fast exits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PME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PE return vs public index equivalent cash flows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Benchmark comparison tool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REAL ASSETS: REAL ESTATE, INFRASTRUCTURE &amp; COMMODITIES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Real Estate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Direct: physical property (residential, commercial, industrial)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REIT: liquid, exchange-traded; 90% income distribution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Private RE fund: commingled, closed-end, illiquid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Cap rate = NOI / Property Value (like earnings yield)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64008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Roads, ports, airports, pipelines, power grids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Regulated returns; long concession agreements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Inflation-linked revenues in many contracts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Low correlation, stable cash flows → insurance/pension demand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42032"/>
            <a:ext cx="64008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334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Commodities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935224"/>
            <a:ext cx="39136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Energy, metals, agriculture — spot &amp; futures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Roll yield, convenience yield, storage costs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Inflation hedge; negatively correlated with bonds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Pure commodity exposure via ETFs or futures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542032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542032"/>
            <a:ext cx="64008" cy="1600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334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Natural Resources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935224"/>
            <a:ext cx="4096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Timberland: biological growth + land appreciation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Farmland: crop yields + land value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Both: inflation sensitivity; long-term return drivers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Illiquid; low correlation to financial assets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2793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</a:rPr>
              <a:t>All real assets: inflation hedge, portfolio diversification, and income generation are the primary investment rationales.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D0D8E8"/>
                </a:solidFill>
              </a:rPr>
              <a:t>S10 · DERIVATIVES, ALTERNATIVES &amp; PORTFOLIO MGT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Theory &amp; CAPM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return, diversification, efficient frontier &amp; beta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PORTFOLIO RETURN &amp; RISK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E(Rp) = Σ wᵢ × E(Rᵢ)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29768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046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σ²p = Σ Σ wᵢ wⱼ Cov(Rᵢ, Rⱼ)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481328"/>
            <a:ext cx="64008" cy="18288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72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Two-Asset Portfolio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1874520"/>
            <a:ext cx="39136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σ²p = w₁²σ₁² + w₂²σ₂² + 2w₁w₂σ₁σ₂ρ₁₂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ρ = +1: no diversification benefit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ρ = 0: partial diversification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ρ = −1: maximum diversification (risk to 0 possible)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Portfolio risk &lt; weighted avg risk when ρ &lt;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48132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481328"/>
            <a:ext cx="64008" cy="18288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72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Risk Components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874520"/>
            <a:ext cx="40965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Total risk = Systematic + Unsystematic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Systematic (market risk): cannot be diversified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Unsystematic (specific): eliminated by diversification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Beta measures only systematic risk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Expected return compensates only for systematic risk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8595360" cy="594360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σp (two assets) = √(w₁²σ₁² + w₂²σ₂² + 2w₁w₂σ₁σ₂ρ₁₂)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DIVERSIFICATION: CORRELATION IN PRACTICE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503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Classic Example: Beachwear Co. vs DVD Rental Co.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46888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Probability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Beachwear Return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DVD Rental Return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Hot summer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50%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−5%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Cold summer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50%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−5%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A52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52"/>
                          </a:solidFill>
                        </a:rPr>
                        <a:t>Expected Return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5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52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52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52"/>
                          </a:solidFill>
                        </a:rPr>
                        <a:t>Standard Deviation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5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52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A52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493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Portfolio (50/50 blend):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2"/>
                </a:solidFill>
              </a:rPr>
              <a:t>Hot summer: 50%×25% + 50%×(−5%) = 10%   |   Cold summer: 50%×(−5%) + 50%×25% = 10%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4142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</a:rPr>
              <a:t>Portfolio σ = 0%  </a:t>
            </a:r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(perfectly offset — correlation ρ = −1.0)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</a:rPr>
              <a:t>Same expected return (10%), zero risk — the power of negative correlation!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EFFICIENT FRONTIER &amp; CAPITAL ALLOCATION 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804672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804672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804672"/>
            <a:ext cx="64008" cy="15087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896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Efficient Frontier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23560" y="1197864"/>
            <a:ext cx="31821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Set of portfolios with max return for given risk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Or min risk for a given return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Derived from Markowitz mean-variance optimisation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No single 'best' portfolio without preferences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0" y="2432304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432304"/>
            <a:ext cx="64008" cy="1417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2523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Capital Allocation Line (CAL)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2825496"/>
            <a:ext cx="31821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Line from risk-free asset tangent to frontier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Tangency portfolio: optimal risky portfolio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Slope = Sharpe ratio = (E(R)−Rf) / σ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Investors pick point on CAL by risk appetite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0" y="3977640"/>
            <a:ext cx="3383280" cy="502920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 = (Rp − Rf) / σp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CAPITAL ASSET PRICING MODEL (CAPM)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E(Rᵢ) = Rf + βᵢ × [E(Rm) − Rf]  →  E(Rᵢ) = Rf + βᵢ × ERP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00200"/>
            <a:ext cx="64008" cy="16916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91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CAPM Assumptions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39136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All investors: mean-variance optimisers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All investors have same expectations (homogeneous)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Risk-free lending and borrowing at Rf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No taxes, transaction costs, or short-sale restrictions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Infinite divisibility of assets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00200"/>
            <a:ext cx="42976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Example: Apple Inc.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029968"/>
            <a:ext cx="4297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574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Risk-free rate (Rf)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2057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3.0%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350008"/>
            <a:ext cx="4297680" cy="292608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3774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Equity Risk Premium (ERP)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23774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7.0%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670048"/>
            <a:ext cx="4297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Apple Beta (β)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2697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1.50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990088"/>
            <a:ext cx="4297680" cy="292608"/>
          </a:xfrm>
          <a:prstGeom prst="rect">
            <a:avLst/>
          </a:prstGeom>
          <a:solidFill>
            <a:srgbClr val="FFF3E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017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E(R) = 3.0% + 1.5 × 7.0%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3017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00A"/>
                </a:solidFill>
              </a:rPr>
              <a:t>= 13.5%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429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429000"/>
            <a:ext cx="64008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20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Security Market Line (SML)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3822192"/>
            <a:ext cx="3913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SML plots E(R) vs Beta for all assets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Above SML → undervalued (positive alpha)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Below SML → overvalued (negative alpha)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342900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429000"/>
            <a:ext cx="64008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520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CAPM Limitations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3822192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Beta estimated from historical data; unstable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Single-factor model; ignores size, value, momentum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Market portfolio unobservable (Roll's critique)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BETA: MEASURING SYSTEMATIC RISK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Cov(Rᵢ, Rm) / σ²(Rm)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29768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046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ρ(Rᵢ, Rm) × σᵢ / σm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481328"/>
            <a:ext cx="10972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55448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β = 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1554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T-bill, risk-free asset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No market sensitivity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84248"/>
            <a:ext cx="8595360" cy="457200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84248"/>
            <a:ext cx="10972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05740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β = 0.5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2057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Defensive utility stock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Moves 50% as much as market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87168"/>
            <a:ext cx="10972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56032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β = 1.0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2560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Market index fund (by definition)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560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Moves in line with market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90088"/>
            <a:ext cx="8595360" cy="457200"/>
          </a:xfrm>
          <a:prstGeom prst="rect">
            <a:avLst/>
          </a:prstGeom>
          <a:solidFill>
            <a:srgbClr val="FFF3EC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90088"/>
            <a:ext cx="1097280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06324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β = 1.5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3063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Apple Inc. (tech growth)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0A"/>
                </a:solidFill>
              </a:rPr>
              <a:t>Moves 150% of market; amplified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493008"/>
            <a:ext cx="10972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356616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β = 1.9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63040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High-beta cyclical equity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Very amplified market exposure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995928"/>
            <a:ext cx="8595360" cy="457200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995928"/>
            <a:ext cx="10972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406908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β &lt; 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63040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Inverse ETF, gold in some periods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4069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Moves opposite to market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ADJUSTING PORTFOLIO BETA WITH FUTURES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Worked Example: Reducing Beta from 1.90 → 0.90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114800" cy="347472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167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Portfolio MV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3167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$10,000,000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61872"/>
            <a:ext cx="4114800" cy="347472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3167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Current Beta (βP)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13167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1.90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7007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Target Beta (β*)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1700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0.90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7007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Futures β (βf)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700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1.00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029968"/>
            <a:ext cx="4114800" cy="347472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0848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Index futures price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20848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5,000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029968"/>
            <a:ext cx="4114800" cy="347472"/>
          </a:xfrm>
          <a:prstGeom prst="rect">
            <a:avLst/>
          </a:prstGeom>
          <a:solidFill>
            <a:srgbClr val="EDF0F7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20848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A52"/>
                </a:solidFill>
              </a:rPr>
              <a:t>Contract multiplier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0848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$250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487168"/>
            <a:ext cx="4114800" cy="1828800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5786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(β* − βP) / βf × (MV / Futures×Mult)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27843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(0.90 − 1.90) / 1.00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29900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× (10,000,000 / (5,000×250))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31958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−1.00 × (10,000,000 / 1,250,000)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" y="3401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−1.00 × 8.00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4048" y="36073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−8 contracts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" y="3813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" y="40187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SHORT 8 index futures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48716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487168"/>
            <a:ext cx="4297680" cy="34747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532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 Return Impact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889504"/>
          <a:ext cx="4297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</a:rPr>
                        <a:t>Before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</a:rPr>
                        <a:t>After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Beta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1.90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0.90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Rf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2.0%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2.0%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ERP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7.5%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7.5%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A52"/>
                          </a:solidFill>
                        </a:rPr>
                        <a:t>E(R) = Rf + β×ERP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C2200"/>
                          </a:solidFill>
                        </a:rPr>
                        <a:t>16.3%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9.3%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</a:rPr>
              <a:t>By shorting 8 futures, systematic exposure reduced by 50bp of beta → E(R) drops 7%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MULTI-FACTOR MODELS: BEYOND CAPM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783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Fama-French 3-Factor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Market factor (Rm − Rf)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Size factor (SMB: small minus big)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Value factor (HML: high minus low B/P)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R²  improves from ~70% (CAPM) to ~90%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Academic evidence: value &amp; small-cap premium persist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41148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974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E(R) = Rf + βm(ERP) + βs(SMB) + βv(HML)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83280"/>
            <a:ext cx="64008" cy="10058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74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Carhart 4-Factor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776472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Adds momentum factor (MOM: winners minus losers)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Momentum: past 12-month returns predict next 1-month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804672"/>
            <a:ext cx="4297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804672"/>
            <a:ext cx="64008" cy="1783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Macroeconomic Factors (APT)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1197864"/>
            <a:ext cx="409651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Arbitrage Pricing Theory: no single market factor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Multiple systematic risk sources drive returns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Factors: GDP growth, inflation, credit spreads, oil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Each factor has its own beta and risk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No single 'market portfolio' required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697480"/>
            <a:ext cx="429768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974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E(R) = Rf + Σ βₖ × λₖ  (APT)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0" y="338328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383280"/>
            <a:ext cx="64008" cy="10058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474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Practical Applications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776472"/>
            <a:ext cx="4096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Risk factor attribution: how much of return is from factors?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Smart beta ETFs: systematic factor tilts (value, low-vol)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D0D8E8"/>
                </a:solidFill>
              </a:rPr>
              <a:t>S10 · DERIVATIVES, ALTERNATIVES &amp; PORTFOLIO MGT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asset allocation, risk budgeting &amp; performance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INVESTMENT POLICY STATEMENT (IPS)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2011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Core IPS Elements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Return objective: required return or aspirational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Risk tolerance: ability (financial) vs willingness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Time horizon: short vs long (changes risk capacity)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Liquidity needs: reserves, near-term liabilities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Tax considerations: taxable vs tax-exempt accounts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Legal &amp; regulatory constraints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64008" cy="2011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Unique Circumstances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409651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ESG restrictions / ethical screens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Concentration limits (single stock)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Currency or geographical constraints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Employer stock or restricted shares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Insurance or derivatives restrictions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Socially responsible investing (SRI) mandates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9443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Return vs Risk Objectives Must Be Consistent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73552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182880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Investor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Return Need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 Tolerance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Horizon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Young individual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Wealth building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Long (30+ yrs)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Near-retirement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Capital preservation + income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Low-Medium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Short-Medium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Endowment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Spending rate + inflation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Medium-High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Perpetual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Defined benefit pension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Match liability growth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Depends on funding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Insurance company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Match claim reserves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A52"/>
                          </a:solidFill>
                        </a:rPr>
                        <a:t>Short-Medium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STRATEGIC &amp; TACTICAL ASSET ALLOCATION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783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Strategic Asset Allocation (SAA)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Long-term target weights based on IPS objectives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Driven by capital market assumptions (CMAs)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Rebalancing to targets: calendar or band-based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Most return variability explained by SAA (~90%)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Reviewed periodically (e.g. every 3–5 years)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64008" cy="17830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Tactical Asset Allocation (TAA)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409651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Short-term deviations from SAA to exploit opportunities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Based on market valuations, macro views, momentum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Adds alpha if timing is correct; adds cost if wrong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Must revert to SAA after opportunity closes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Requires discipline to avoid style drift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274320" y="2715768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4572000" y="2715768"/>
            <a:ext cx="4297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2715768"/>
            <a:ext cx="64008" cy="2103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807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Rebalancing Strategies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09160" y="3108960"/>
            <a:ext cx="4096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Calendar: rebalance quarterly or annually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Band/tolerance: trigger when weight drifts &gt; X%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Buy &amp; hold: no rebalancing (max drift)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Constant proportion portfolio insurance (CPPI)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Tactical overlay: separate TAA sleeve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PORTFOLIO PERFORMANCE EVALUATION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203704"/>
            <a:ext cx="274320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96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8"/>
                </a:solidFill>
              </a:rPr>
              <a:t>Sharpe Ratio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12471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(Rp−Rf)/σp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160934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600A"/>
                </a:solidFill>
              </a:rPr>
              <a:t>Risk-adjusted return per unit of total risk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74320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203704"/>
            <a:ext cx="2743200" cy="6400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96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8"/>
                </a:solidFill>
              </a:rPr>
              <a:t>Treynor Ratio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73552" y="112471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(Rp−Rf)/βp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73552" y="160934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600A"/>
                </a:solidFill>
              </a:rPr>
              <a:t>Return per unit of systematic risk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804672"/>
            <a:ext cx="283464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203704"/>
            <a:ext cx="2834640" cy="64008"/>
          </a:xfrm>
          <a:prstGeom prst="rect">
            <a:avLst/>
          </a:prstGeom>
          <a:solidFill>
            <a:srgbClr val="4A7EC2"/>
          </a:solidFill>
          <a:ln w="12700">
            <a:solidFill>
              <a:srgbClr val="4A7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896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8"/>
                </a:solidFill>
              </a:rPr>
              <a:t>Jensen's Alpha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08192" y="1124712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Rp − CAPM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08192" y="160934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600A"/>
                </a:solidFill>
              </a:rPr>
              <a:t>Excess return vs CAPM prediction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395728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395728"/>
            <a:ext cx="64008" cy="19659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Information Ratio (IR)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2788920"/>
            <a:ext cx="391363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IR = Active Return / Tracking Error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Active return = Rp − Rb (benchmark)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Tracking error = σ(Rp − Rb)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IR &gt; 0.5 = skilled active manager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IR &gt; 1.0 = exceptional skill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2395728"/>
            <a:ext cx="4297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395728"/>
            <a:ext cx="64008" cy="19659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Attribution 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2788920"/>
            <a:ext cx="4096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Brinson model: allocation + selection + interaction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Allocation: over/under-weight sectors vs benchmark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Selection: pick better stocks within sectors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Interaction: combination effect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Goal: attribute performance to decisions, not luck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RISK MANAGEMENT IN PORTFOLIO CONTEXT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Measuring Portfolio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197864"/>
            <a:ext cx="39136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Standard deviation: total volatility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Beta: market sensitivity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VaR: max loss at confidence level over horizon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CVaR / ES: expected loss in tail events (beyond VaR)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Max drawdown: peak-to-trough loss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Tracking error: active risk vs benchmark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04672"/>
            <a:ext cx="64008" cy="18288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Value at Risk (VaR)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197864"/>
            <a:ext cx="40965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VaR(95%, 1d): 'there is a 5% chance of losing more than X in 1 day'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Methods: parametric (normal dist.), historical simulation, Monte Carlo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Limitations: ignores tail risk; not subadditive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CVaR/ES: fixes tail blind spot — mean loss beyond VaR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114800" cy="566928"/>
          </a:xfrm>
          <a:prstGeom prst="rect">
            <a:avLst/>
          </a:prstGeom>
          <a:solidFill>
            <a:srgbClr val="0F1E3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Parametric VaR = −(μ − z×σ) × √T × 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29000"/>
            <a:ext cx="6400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20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Risk Budgeting Approach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822192"/>
            <a:ext cx="8394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Allocate risk (not capital) across strategies/managers. Each portfolio sleeve assigned a VaR or tracking error budget.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A52"/>
                </a:solidFill>
              </a:rPr>
              <a:t>Advantage: better diversification of risk contribution vs naive asset weighting. Risk parity: equal risk contribution from all assets.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DERIVATIVES &amp; PORTFOLIO FORMULA REFERENCE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</a:rPr>
              <a:t>S10 · DERIVATIVES, ALTERNATIVES &amp; PORTFOLIO — FORMULA REFERENCE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286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D8E8"/>
                </a:solidFill>
              </a:rPr>
              <a:t>Finance Fundamentals · S10 · Studio Tonton Gug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777240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822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Forward Price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1033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 = S₀ × (1+r)ᵀ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1444752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90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Futures hedge (# contracts)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(β*−βP)/βf × MV/(F×Mult)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112264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579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Call Payoff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2368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max(Sᵀ − K, 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2779776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254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Put Payoff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max(K − Sᵀ, 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3447288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93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Put-Call Parity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+ PV(K) = P + S₀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4114800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60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IRS Net Payment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370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(Fixed − Float) × Notional × T/360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777240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822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CAPM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1033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E(R) = Rf + β × ERP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1444752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490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Portfolio Return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E(Rp) = Σ wᵢ × E(Rᵢ)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112264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1579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2-Asset Variance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2368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σ²p = w₁²σ₁² + w₂²σ₂² + 2w₁w₂ρσ₁σ₂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779776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8254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Beta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Cov(Rᵢ,Rm) / σ²(Rm)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447288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493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Sharpe Ratio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 − Rf) / σp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4114800"/>
            <a:ext cx="429768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160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8"/>
                </a:solidFill>
              </a:rPr>
              <a:t>Jensen Alpha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4370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Rp − [Rf + β(Rm−Rf)]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S10 – Derivatives, Alternatives &amp; Portfolio Management</dc:title>
  <dc:subject>Finance Fundamentals – CFA Level 1</dc:subject>
  <dc:creator>Studio Tonton Gug</dc:creator>
  <cp:lastModifiedBy>Studio Tonton Gug</cp:lastModifiedBy>
  <cp:revision>1</cp:revision>
  <dcterms:created xsi:type="dcterms:W3CDTF">2026-04-11T21:50:28Z</dcterms:created>
  <dcterms:modified xsi:type="dcterms:W3CDTF">2026-04-11T21:50:28Z</dcterms:modified>
</cp:coreProperties>
</file>