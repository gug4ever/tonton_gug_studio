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5  —  AFTERNOON  •  FINAL SESSION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Derivatives, Alternatives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Portfolio Management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Completing the toolkit — the final session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apply forwards, futures, options and swaps. Explain payoff profiles, pricing intuition and key uses.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27448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28616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 Investments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28616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hedge funds, private equity, real assets and their role in portfolio construction.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Portfolio Theory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mean-variance optimisation. Explain efficient frontier, CML and tangency portfolio.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27448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28616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&amp; Performance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28616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risk into systematic and idiosyncratic. Calculate Sharpe, Treynor and Jensen's alpha.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Derivatives — Value Derived from an Underlying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derivative's value depends on an underlying asset, rate, index or event. Used for hedging, speculation and arbitrage.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61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19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OTC agreement to buy/sell at a set price (forward price) on a future date. No upfront payment. Counterparty risk. Zero initial value.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27448" y="1261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61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19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 exchange-traded forwards. Marked to market DAILY (variation margin). No counterparty risk (clearing house). Highly liquid.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92608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" y="338328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but NOT obligation to buy (call) or sell (put) at strike K. Premium paid upfront. Asymmetric payoff — limited loss, unlimited gain for buyer.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27448" y="292608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27448" y="292608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28616" y="338328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of cash flow streams. Fixed-for-floating interest rate swap most common. FX swaps exchange principal. Credit default swaps (CDS) transfer credit risk.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4645152"/>
            <a:ext cx="8503920" cy="4572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183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Pricing Formula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8229600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 × (1+r)ᵀ − FV(dividends)  or for FX:  F = S × (1+r_d)ᵀ/(1+r_f)ᵀ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forward price = spot price compounded at cost of carry minus any income from the asset.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Options — Payoffs and Key Concepts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give the BUYER a right and create an OBLIGATION for the seller. Premium compensates the seller for this obligation.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61872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194560"/>
                <a:gridCol w="1188720"/>
                <a:gridCol w="1188720"/>
                <a:gridCol w="1188720"/>
                <a:gridCol w="182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Premium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Payoff Formula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View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Max Profit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Max Loss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Long Call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Pay premium 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Max(0, S−K) − 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Bullish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Unlimited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Premium 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If S &gt; K+c at expiry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Long Put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Pay premium 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Max(0, K−S) − 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Bearish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K−p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Premium 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If S &lt; K−p at expiry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Short Call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Receive 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 − Max(0, S−K)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Neutral/bear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Premium 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Unlimited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Risky! Used in covered calls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Short Put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Receive 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 − Max(0, K−S)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Neutral/bull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Premium 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K−p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Risky! Must have capital to buy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913632"/>
            <a:ext cx="8503920" cy="102412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9867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Long Call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call option on Apple, Strike K=£180, Premium c=£8, Current price S=£175.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expiry if S=£200: Payoff = max(0, 200−180) − 8 = 20−8 = +£12 profit (150% return on premium!)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expiry if S=£170: Payoff = max(0, 170−180) − 8 = 0−8 = −£8 (lose entire premium, no more)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 Swaps — The Most Common Derivative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plain vanilla interest rate swap, two parties exchange fixed and floating interest payments on the same notional principal.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17373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350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8229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 has £100m floating rate debt at SONIA+2%. It wants certainty over interest costs.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B holds a fixed-rate bond portfolio and wants floating exposure.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terms: A pays 5% fixed, B pays SONIA+2% floating on £100m notional.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SONIA = 3%: B pays 5% (floating 3+2=5). Net = zero for both.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SONIA rises to 5%: B pays 7% floating but receives 5% fixed. NET PAYMENT from A to B = 2% × £100m = £2m.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 is PROTECTED — its total cost is fixed at 5%.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8211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18211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32735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Swaps Exist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1208" y="363931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have comparative advantages in different funding markets. Swaps allow each party to borrow cheaply in its market, then swap to the desired exposure.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27448" y="318211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27448" y="318211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327355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Credit Default Swaps (CDS)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28616" y="363931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pays periodic premium; seller compensates if reference entity defaults. Used to hedge or speculate on credit risk. Key in 2008 crisis (subprime CDS).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20240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Investments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Alternative Investments — Beyond Stocks and Bonds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expand the investable universe. They offer diversification, access to illiquidity premium and differentiated return streams.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61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Equity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" y="1719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(early stage), Growth equity, Buyouts (LBOs).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7-10 year fund life. J-curve: negative returns early, gains later.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Illiquidity premium over public markets: historically 200-400 bps.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27448" y="1261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27448" y="1261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Hedge Funds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1719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 mgmt fee + 20% performance fee ('2 and 20').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Strategies: Long/Short equity, Global macro, Merger arb, Distressed.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return focus — should make money in up AND down markets.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92608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Assets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" y="338328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(direct or REIT), infrastructure, commodities, timberland.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hedging properties — income streams often RPI-linked.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toll roads, airports, utilities — stable, long-duration.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27448" y="292608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27448" y="292608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Credit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28616" y="338328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lending, mezzanine, distressed debt.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rate: benefits from rising interest rates.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yield than public bonds (illiquidity premium + complexity).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rapidly as banks retreat from leveraged lending.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20240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Portfolio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Theory &amp; CAPM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Portfolio Theory — Markowitz (1952)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σ²_p  =  w₁²σ₁²  +  w₂²σ₂²  +  2w₁w₂ρ₁₂σ₁σ₂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0040" y="1508760"/>
            <a:ext cx="8503920" cy="17830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81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 — Two Asset Portfolio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1892808"/>
            <a:ext cx="82296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1: E(R)=12%, σ=18%. Asset 2: E(R)=8%, σ=10%. Correlation ρ=0.20. Portfolio: 60%/40%.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E(R_p) = 0.6×12 + 0.4×8 = 7.2 + 3.2 = 10.4%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σ²_p = (0.36×0.0324) + (0.16×0.01) + 2×0.6×0.4×0.20×0.18×0.10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0.01166 + 0.0016 + 0.001728 = 0.015088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σ_p = √0.015088 = 12.28%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avg σ = 0.6×18+0.4×10 = 14.8%. Portfolio σ = 12.28% &lt; 14.8% → DIVERSIFICATION BENEFIT!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429000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MPT Insights: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8912" y="385876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2219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reduces risk WITHOUT sacrificing expected return when ρ &lt;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233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Frontier: set of portfolios with max return for each level of risk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" y="42611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22452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risk-free asset creates the Capital Market Line (CML) — linear combination of Rf and tangency portfolio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44622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42569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 portfolio = Market portfolio (holds all risky assets in market-cap weights)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— Systematic Risk is the Only Priced Risk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E(Rᵢ)  =  Rf  +  βᵢ × [E(Rm) − Rf]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" y="150876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CAPM says: you are only compensated for systematic (market) risk, not total risk. Diversify away idiosyncratic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1993392"/>
            <a:ext cx="8503920" cy="13716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0665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= 4%, Market return E(Rm) = 10%, ERP = 6%.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A: β=0.80 → E(R) = 4 + 0.80×6 = 8.8%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B: β=1.40 → E(R) = 4 + 1.40×6 = 12.4%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C: β=−0.20 → E(R) = 4 + (−0.20)×6 = 2.8% (acts as hedge — below Rf!)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Asset B actually returned 14% while CAPM predicts 12.4% → Jensen's Alpha = +1.6% (positive alpha, outperformed)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547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547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639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β interpretation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005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β=1: market-like. β&gt;1: amplified (tech, cyclicals). β&lt;1: defensive (utilities, staples). β&lt;0: counter-cyclical (gold miners approx).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27448" y="354787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354787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3639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SML vs CML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400507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SML: expected return vs β (CAPM line). All assets plot on SML if fairly priced. CML: expected return vs σ_p for efficient portfolios only.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Performance — Sharpe, Treynor &amp; Alpha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return number is meaningless without context. Always evaluate return relative to risk taken.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 = (Rp−Rf)/σp    Treynor = (Rp−Rf)/β    Jensen's α = Rp − [Rf+β(Rm−Rf)]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1810512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 — Compare three funds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14016"/>
            <a:ext cx="822960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Rf=3%, Market return=10%, Market σ=15%.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A: Return=14%, σ=18%, β=1.1. Sharpe=(14−3)/18=0.61. Treynor=(14−3)/1.1=10.0. α=14−[3+1.1×7]=14−10.7=+3.3%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B: Return=12%, σ=12%, β=0.9. Sharpe=(12−3)/12=0.75. Treynor=(12−3)/0.9=10.0. α=12−[3+0.9×7]=12−9.3=+2.7%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C: Return=10%, σ=15%, β=1.0. Sharpe=(10−3)/15=0.47. Treynor=(10−3)/1.0=7.0. α=0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B wins on Sharpe (best risk-adjusted return per unit of total risk). Equal Treynor for A and B.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3931920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Sharpe for total portfolio. Use Treynor/Jensen's α for components of a larger portfolio.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434340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434340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44348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 Ratio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" y="480060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(Portfolio return − Benchmark return) / Tracking Error. Measures skill of active manager relative to their benchmark. IR &gt; 0.5 is considered strong.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27448" y="434340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27448" y="434340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28616" y="44348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Sortino Ratio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28616" y="480060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(Rp−Rf) / Downside Deviation. Like Sharpe but only penalises downside volatility. Better for skewed return distributions (hedge funds).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COURSE COMPLETE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Finance Fundamentals — 10 Sessions, 20 Hours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161848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Time Value of Money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73168" y="1417320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01184" y="1618488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PM  Statistics &amp; Probability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" y="227685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0756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AM  Microeconomics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73168" y="2075688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1184" y="227685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20756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Macroeconomics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5216" y="293522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734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AM  Financial Statements 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73168" y="2734056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01184" y="293522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273405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PM  Financial Statements II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392424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" y="35935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3924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AM  Corporate Finance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3392424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01184" y="359359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20640" y="339242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PM  Equity Investments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50792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5216" y="42519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050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AM  Fixed Income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73168" y="4050792"/>
            <a:ext cx="4133088" cy="566928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01184" y="4251960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40507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Derivatives &amp; Portfolio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before turning the page.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078992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buy a forward contract to purchase 1,000 shares of a stock at £45 in 6 months. At expiry, price is £52. What is your profit/loss?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73936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1828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Portfolio: E(R)=12%, σ=15%, β=0.9, Rf=3%, Market return=10%. Calculate Sharpe, Treynor and Jensen's alpha.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2578608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assets: E(R₁)=15%,σ₁=20%; E(R₂)=9%,σ₂=12%; ρ=0.1. Portfolio is 50/50. Calculate E(Rp) and σp.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73552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61288" y="3328416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put option: K=£100, premium=£6. What is max profit, max loss, and breakeven price at expiry?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" y="4078224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adding a low-correlation alternative (e.g. private equity, real assets) to a traditional 60/40 portfolio can improve the Sharpe ratio even if the alternative has a lower Sharpe ratio on its own.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Answers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PM  •  Session 10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= (£52 − £45) × 1,000 = £7,000 profit. The forward required no premium upfront. Full gain is realised. If price was £38: loss = (£38−£45)×1,000 = −£7,000.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581912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58191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= (12−3)/15 = 0.60. Treynor = (12−3)/0.9 = 10.0. Jensen's α = 12−[3+0.9×(10−3)] = 12−[3+6.3] = 12−9.3 = +2.7% (outperformed CAPM prediction by 2.7%)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386584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386584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E(Rp) = 0.5×15+0.5×9 = 12.0%. σ²_p = (0.25×0.04)+(0.25×0.0144)+2×0.25×0.1×0.20×0.12 = 0.01+0.0036+0.0012 = 0.0148. σ_p = √0.0148 = 12.17%. (Less than weighted avg of 16% — diversification at work!)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191256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191256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put, K=100, premium=6. Max profit = K − premium = 100−6 = £94 (if stock goes to zero). Max loss = premium = £6 (if stock stays above £100). Breakeven = K − premium = 100−6 = £94 per share.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995928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399592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theory: what matters for adding an asset is its CORRELATION with existing portfolio, not its standalone Sharpe. Formula: marginal benefit = (Ralt−Rf)/σalt × ρ_correlation_with_portfolio. If ρ is low (e.g. 0.2-0.3), even a lower Sharpe ratio asset improves portfolio efficiency. The diversification benefit (risk reduction) more than compensates for the lower return per unit of risk.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10 — Derivatives, Alternatives &amp; Portfolio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lock in price; options buy the right. Premium = max loss for buyer.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 exchange cash flow streams — most common: fixed-for-floating IRS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add diversification &amp; illiquidity premium — but less liquid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MPT: diversification reduces risk without sacrificing return if ρ &lt; 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CAPM: only β-risk is compensated. Idiosyncratic risk is diversified away.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= excess return per unit of σ. Jensen's α = risk-adjusted outperformance.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2026-04-06T18:21:04Z</dcterms:created>
  <dcterms:modified xsi:type="dcterms:W3CDTF">2026-04-06T18:21:04Z</dcterms:modified>
</cp:coreProperties>
</file>