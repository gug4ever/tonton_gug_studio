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  —  AFTERNOON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Macroeconomics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cycles, fiscal &amp; monetary policy, trade and exchange rates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Roadmap — 2 Hours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Macroeconomics determines the environment in which all companies operate. These forces drive earnings, interest rates, exchange rates and policy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07008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Cycles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5087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(CFA LM2) • Exhibit 5 characteristics table • credit cycles • asset class performance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28800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28800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Indicators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1305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Leading, coincident, lagging • US Leading Indicators table (CFA LM2) • PMI • yield curve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50592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50592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50592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Fiscal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275234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• Keynesian vs Monetarist • multiplier • government revenue/expenditure % GDP (CFA LM3)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072384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072384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72384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118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 Policy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337413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supply • neutral rate • QE • monetary-fiscal combinations (CFA LM4)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94176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94176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94176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Trade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399592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advantage • tariff analysis: South Africa paper (CFA LM6) • trade barriers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315968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315968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315968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" y="4361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 Rates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4128" y="46177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rates • direct/indirect • USD/EUR +4.35% (CFA LM7) • MXN/USD=18.8590 • PPP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38988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Cycle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5179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describe all 4 CFA business cycle phases. Read the CFA Exhibit 5 characteristics table for each phase.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02996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Indicators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15798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leading, coincident and lagging indicators. Identify the 10+ US leading indicators from CFA LM2 and their rationale.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67004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Fiscal 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79806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fiscal policy tools. Distinguish Keynesian and Monetarist views. Interpret government revenue/expenditure data (CFA LM3).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31012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172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343814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money creation, central bank tools, neutral rate and QE. Analyse fiscal-monetary policy combinations (CFA LM4).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95020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813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Trade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07822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comparative advantage. Calculate tariff effects: consumer surplus, producer surplus, government revenue and DWL using CFA South Africa example.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459028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53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 Rates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47183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currency appreciation/depreciation correctly (USD/EUR +4.35% from CFA LM7). Apply PPP and IRP frameworks.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Cycles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LM2)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GDP, Output Gaps &amp; the Business Cycle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Gap = Actual GDP − Potential GDP     Positive gap = overheating    Negative gap = recession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cycle reflects fluctuations of actual GDP around its TREND (potential output). CFA uses the GROWTH CYCLE concept.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GDP 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Formula (Expenditure Approach)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Typical % of GDP (Advanced Economy)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Consumer spending (C)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Household purchases of goods and services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55–60%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Investment (I)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Business capex + residential construction + inventory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15–20%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Government spending (G)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Public consumption and investment (not transfers)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15–20%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Net Exports (NX)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Exports − Imports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Varies (−5% to +5%)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GDP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 + I + G + NX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3977640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3977640"/>
            <a:ext cx="91440" cy="10241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vs Nominal GDP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GDP: output at CURRENT prices. Rises with inflation even if real output is unchanged.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GDP: output at CONSTANT base year prices. Removes inflation. Used for business cycle analysis.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27448" y="3977640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27448" y="3977640"/>
            <a:ext cx="91440" cy="10241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28616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 Deflator vs CPI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28616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Deflator = Nominal GDP / Real GDP × 100. Covers ALL domestically produced goods.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covers a fixed basket of consumer goods. CPI more timely, used for monetary policy.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Phases of the Business Cycle — CFA LM2, Exhibit 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Vol 2 LM2 uses four named phases: Recovery, Expansion, Slowdown, Contraction. The cycle is measured relative to POTENTIAL output (growth cycle concept).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828800"/>
                <a:gridCol w="1280160"/>
                <a:gridCol w="13716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GDP Gap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Activity Levels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Inflation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Interest Rates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Asset Prices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Recovery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Large neg. gap, narrowing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Below potential but rising. Unemployment high. Consumer/business spending begins.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Low/falling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Low/stable. Central banks accommodative.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 begin to rise. Bonds peak.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Expansion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Positive gap, widening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Above potential. Firms hire, invest, expand. Confidence rising.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Rising gradually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Rising. Central banks tighten.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 strong. Commodities rise.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Slowdown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Positive gap, narrowing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Still above potential but decelerating. Firms use overtime. Confidence plateaus.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High/peaks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High, may plateau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 volatile. Bonds recover.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Contraction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Negative gap, widening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Below potential. Unemployment rises. Firms cut costs, reduce headcount.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Falling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Falling. Central banks ease.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 weak. Bonds, gold outperform.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Investing — Asset Class Rotation by Phase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LM2: different sectors and asset classes outperform at different points in the cycle. Understanding the phase helps position portfolios.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98448"/>
            <a:ext cx="109728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98448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36192" y="1298448"/>
            <a:ext cx="7205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 (early cyclicals: consumer discretionary, financials, industrials). High yield credit spreads tighten.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850392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94560"/>
            <a:ext cx="109728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945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36192" y="2194560"/>
            <a:ext cx="7205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 (tech, materials, energy). Commodities. Inflation-linked bonds. Reduce duration on fixed income.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8503920" cy="7772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90672"/>
            <a:ext cx="1097280" cy="7772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90672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Slowdown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36192" y="3090672"/>
            <a:ext cx="7205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equities (defensive sectors). Investment grade credit. Start increasing fixed income duration.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85039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86784"/>
            <a:ext cx="1097280" cy="7772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86784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36192" y="3986784"/>
            <a:ext cx="7205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Long-duration government bonds, gold, defensive equities (utilities, consumer staples, healthcare). Cash.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919472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cycle rotation is a guide, not a formula. Turning points are only clear IN RETROSPECT. Markets often move 6–12 months ahead of the real economy (forward-looking).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Cycles — CFA LM2: Amplifying the Business Cycle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LM2 emphasises that credit cycles AMPLIFY business cycles. Credit expansion and contraction reinforce the economy’s ups and downs.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4871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Expansion (Boom)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compete to lend. Credit standards loosen. Asset prices rise. Collateral values increase, enabling more borrowing. Leverage builds.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emerge: mispriced risk, overinvestment in unproductive assets, bubbles form in real estate/equities.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Fed/BIS research: credit-to-GDP gap is a reliable early warning of financial crises.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4871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Contraction (Bust)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rise. Banks tighten lending standards. Collateral values fall. Forced selling amplifies price declines. Credit crunch cuts off even creditworthy borrowers.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Deleveraging: simultaneous attempts to reduce debt. Deflationary if widespread. 2008-09 financial crisis is the textbook example.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banks must act as lender of last resort.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8503920" cy="10058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Cycle vs Business Cycle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cycles tend to be longer (8–20 years) and more extreme than business cycles (4–8 years). Recoveries after debt-driven contractions are typically slower (balance sheet recessions).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states: ‘A vulnerable financial system can amplify the effects of negative shocks, causing widespread recessions.’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Credit Index (part of the US Leading Indicators) captures financial system fragility.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Indicators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LM2)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Leading, Coincident &amp; Lagging Indicators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indicators are classified by their TIMING relative to the business cycle. Analysts use them to identify the current phase and forecast turning points.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3774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Investment 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Leading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Change BEFORE the economy turns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S&amp;P 500, yield curve spread, building permits, ISM orders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Anticipate cycle turning points. Position 3–12 months ahead.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Coincident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Change AT THE SAME TIME as the economy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GDP, industrial production, non-farm payrolls, personal income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Confirm current phase. Useful for present-state assessment.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Lagging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Change AFTER the economy has turned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Unemployment rate, CPI, bank loan rates, inventory-to-sales ratio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Confirm the cycle has turned. Reduce risk of false signals.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639312"/>
            <a:ext cx="8503920" cy="10241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712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the S&amp;P 500 lead the economy?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markets are FORWARD-LOOKING. Investors price in expected corporate earnings 6–12 months ahead. When investors anticipate an economic recovery, they buy equities before GDP data improves.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S&amp;P 500 is included in the US Conference Board Leading Economic Index (LEI).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Similarly, the yield curve inverts (short rates &gt; long rates) when investors expect the Fed to cut rates — anticipating recession. Yield curve inversion has preceded every US recession since 1970.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Leading Economic Indicators — CFA LM2, Exhibit 11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Vol 2 LM2 presents the Conference Board US Leading Economic Index (LEI) components with rationale for each. These are heavily tested.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Leading Indicator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CFA LM2 Rationale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Avg weekly hours, manufacturing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Businesses cut overtime BEFORE laying off workers. Hours adjust first.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Initial jobless claims (weekly)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Sensitive early test of new layoffs. Rises before unemployment rate.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ISM new orders index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Month-on-month change in orders for final sales. Decline signals weak demand.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Manufacturers new orders (capital goods)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Captures business investment expectations. First signal of investment moves.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Building permits (new private housing)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Signals new construction activity. Permits required before building.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S&amp;P 500 equity index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Stocks anticipate economic turning points. Forward-looking earnings proxy.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Yield curve spread (10yr Treasury − Fed Funds)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Inversion = market expects rate cuts = recession expected. Reliable predictor.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Leading Credit Index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Aggregates 6 financial indicators. Measures financial system fragility.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Consumer expectations index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Optimism raises spending. Provides early insight into household direction.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PMI, Big Data &amp; Nowcasting — Modern Cycle Tracking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indicators have lags. Modern techniques use real-time data to track the economy as it happens — called nowcasting.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PMI &gt; 50 = expansion     PMI &lt; 50 = contraction     PMI = 50 = no change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190195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Purchasing Managers Index (PMI) — A Key CFA Indicator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surveys purchasing managers at hundreds of companies monthly on: new orders, output, employment, supplier delivery times and inventory.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above 50 indicates more managers are seeing expansion than contraction. Below 50 = contraction.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PMI and Services PMI are reported separately. Composite PMI covers both.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advantages: (1) Very timely — published within days of month-end. (2) Available across 30+ countries. (3) Based on actual business sentiment, not modelled data. (4) Strong lead time vs official GDP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note: The Eurozone CLI includes Eurozone Manufacturing PMI and Services PMI as components.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069080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069080"/>
            <a:ext cx="91440" cy="10241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160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Nowcasting (e.g. GDPNow)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Atlanta Fed’s GDPNow uses real-time data to estimate current-quarter GDP BEFORE official data is released. Updated as new monthly data flows in. Used by traders and central bankers.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4069080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4069080"/>
            <a:ext cx="91440" cy="10241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4160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Data Indicators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Credit/debit card transaction volumes, web search trends (Google Trends), mobility data (Apple, Google), satellite data on shipping/car park activity. All used to supplement official statistics.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Fiscal Policy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LM3)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Fiscal Policy — Roles and Objectives (CFA LM3)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Fiscal Policy = government spending + taxation decisions to influence aggregate demand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LM3: fiscal policy has three roles in the economy. It is a powerful but slow-acting tool.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29968"/>
            <a:ext cx="91440" cy="74980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Manage aggregate demand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432304"/>
            <a:ext cx="7936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Expansionary policy (tax cuts, spending rises) stimulates demand. Contractionary (tax rises, spending cuts) dampens inflationary pressure. Keynesians favour fiscal intervention; Monetarists prefer monetary policy.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898648"/>
            <a:ext cx="850392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98648"/>
            <a:ext cx="91440" cy="74980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53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Redistribute income and wealth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300984"/>
            <a:ext cx="7936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taxes + transfer payments reduce inequality. Social spending on health, education, pensions. CFA notes this is secondary to stabilisation.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6732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67328"/>
            <a:ext cx="91440" cy="74980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Allocate resources between sectors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169664"/>
            <a:ext cx="7936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spending shifts resources toward public goods (infrastructure, defence). Tax incentives direct private investment (R&amp;D credits, green subsidies).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Keynesians vs Monetarists — The Fiscal Policy Debate (CFA LM3)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LM3 presents both schools. The debate over fiscal multipliers has real consequences for policy design and asset allocation.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3957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Keynesian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policy is POWERFUL when there is spare capacity.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&gt; 1: GBP1 of government spending can generate &gt; GBP1 of GDP growth (via second-round effects).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recession: tax cuts and spending rises boost demand directly. Aggregate demand can be stuck below potential.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Favour: countercyclical fiscal policy, deficit spending in recessions, automatic stabilisers.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3957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Monetarist 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policy has only TEMPORARY effect on demand.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 out: government borrowing raises interest rates, reducing private investment. Net effect limited.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Ricardian equivalence: consumers anticipate future tax rises to repay debt, so they save more now. Tax cuts fail to stimulate.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Favour: monetary policy over fiscal policy. Rules-based approaches. Independent central banks.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IMF Research on Fiscal Multipliers (CFA LM4 reference)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study: with monetary accommodation, government expenditure multiplier = 3.9 over two years (vs 1.6 without accommodation).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social transfers to the poorest: multiplier = 1.7 with monetary accommodation (vs 0.5 without).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fiscal multipliers are LARGER when monetary policy is also loose (lower interest rates reinforce fiscal stimulus).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 Revenue &amp; Expenditure — CFA LM3 Data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LM3 provides data on general government revenues and expenditures as % of GDP across major economies. Context for fiscal space analysis.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% GDP (1995)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% GDP (2010)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% GDP (2015)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Fiscal Space vs Germany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Australia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34.5%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32.4%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34.9%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More space (lower tax burden)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Germany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45.1%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43.0%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44.5%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Benchmark — high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Japan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31.2%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30.6%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35.7%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More space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United Kingdom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38.2%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38.2%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38.0%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United States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33.8%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30.9%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33.4%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More space (lower taxes relative to spending)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OECD average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37.9%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39.8%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40.9%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Trending up post-2008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005072"/>
            <a:ext cx="8503920" cy="10241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078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Stabilisers vs Discretionary Fiscal Policy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stabilisers: built-in fiscal mechanisms that act WITHOUT legislative action. Unemployment benefits rise in recession (more spending automatically). Taxes fall when incomes fall (less revenue automatically). Both cushion demand without policy delays.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policy: deliberate tax changes or spending programmes. CFA notes this suffers from recognition, legislative and implementation lags — may take 1–2 years to impact the economy.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Fiscal Deficit, National Debt &amp; Investment Implications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Deficit = G − T (excl. interest)     Overall Deficit = Primary Deficit + Interest Payments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debt-to-GDP ratio is the key metric for assessing fiscal sustainability. CFA LM3 asks: does it matter how large the national debt is?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Argument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CFA LM3 Assessment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Debt does not matter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Ricardian equivalence: private saving rises to offset deficit. No crowding out. Future taxes = current debt.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Theoretical but empirically weak. Individuals do not fully offset fiscal changes.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Debt DOES matter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Crowding out: government borrowing competes with private sector for funds, raising interest rates. Reduces private investment.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More empirical support, especially in small open economies or near full capacity.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Debt sustainability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 &lt; g: if growth rate &gt; interest rate, debt/GDP ratio shrinks naturally without primary surplus.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Used by IMF/ECB to assess sustainability. Fragile if interest rates rise.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Bond investor implication: sovereign yields reflect fiscal credibility. High debt + political dysfunction = higher risk premium (e.g. peripheral Eurozone spreads in 2012 crisis).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 Policy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LM4)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Money, Central Banks &amp; Policy Tools (CFA LM4)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 policy: central bank influences quantity of money and credit to affect macroeconomy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LM4: monetary policy operates through interest rate channels, credit channels and asset price channels.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Expansionary (Cut/Increase?)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Tightening (Cut/Increase?)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Policy rate (e.g. Fed Funds)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Sets base short-term borrowing cost. Cascades to all credit rates.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Cut rates → cheaper borrowing → more spending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Raise rates → dearer borrowing → less spending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Reserve requirements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% of deposits banks must hold. Affects money multiplier.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Lower requirement → banks can lend more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Raise requirement → banks lend less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Open market operations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Buy (sell) government bonds to inject (drain) bank reserves.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Buy bonds = inject reserves = more credit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Sell bonds = drain reserves = less credit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Forward guidance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Signal future policy direction. Manages expectations.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Promise low rates for long time = stimulative now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Signal coming hikes = tightens expectations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Quantitative easing (QE)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Buy long-dated bonds/assets when short rates hit zero (ZLB).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Compress long-term yields. Portfolio rebalancing.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Quantitative tightening (QT) = reverse QE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Neutral Rate, Inflation Targeting &amp; Policy Stance (CFA LM4)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Neutral (Natural) Rate r* = rate that neither stimulates nor slows the economy. Consistent with stable long-run inflation.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LM4: the neutral rate is the benchmark for judging whether monetary policy is EASY or TIGHT.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29968"/>
            <a:ext cx="9144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99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rate &lt; neutral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029968"/>
            <a:ext cx="5413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EASY/ACCOMMODATIVE monetary policy. Stimulates demand and credit growth. Output gap expected to close. Appropriate in recession/recovery phase.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871216"/>
            <a:ext cx="85039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71216"/>
            <a:ext cx="914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7121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rate = neutral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871216"/>
            <a:ext cx="5413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monetary policy. Neither adding nor removing stimulus. Appropriate when economy is at potential with stable inflation.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12464"/>
            <a:ext cx="8503920" cy="731520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12464"/>
            <a:ext cx="91440" cy="7315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124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rate &gt; neutral 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712464"/>
            <a:ext cx="5413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TIGHT/RESTRICTIVE monetary policy. Slows demand and credit. Appropriate when economy is overheating or inflation is above target.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target: most major central banks target 2% CPI inflation. Taylor Rule approximation: policy rate = neutral rate + 0.5(inflation gap) + 0.5(output gap).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Monetary-Fiscal Policy Mix — CFA LM4 Combinations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LM4 explicitly analyses four combinations of monetary and fiscal policy stance. Each has different effects on growth, rates and portfolio composition.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56032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Monetary Policy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Fiscal Policy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Economic Effect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Portfolio Implication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Easy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Easy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Highly expansionary. Rising demand. Lower real rates (if monetary eases more). Growing public AND private sector.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Equities, inflation assets, commodities. Duration short.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Easy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Private sector stimulus. Public sector contracts. Lower interest rates. Private investment grows as share of GDP.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 (especially capex-driven). Bonds benefit from low rates.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Easy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Higher interest rates due to fiscal stimulus. Government spending rises as share of GDP. Some crowding out of private investment.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Short bonds. Government bonds underperform. Defensive equities.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Sharply contractionary. Interest rates rise (if monetary impact dominant). Demand falls from both public and private.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Long government bonds if deflationary. Cash. Avoid equities.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 Easing (QE) — When Rates Hit Zero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policy rate reaches zero (zero lower bound, ZLB), conventional monetary policy is exhausted. QE is the primary unconventional alternative.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21488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QE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creates new bank reserves and uses them to BUY long-dated government bonds (and sometimes corporate bonds or mortgage-backed securities) from financial institutions.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of impact: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Reduce long-term yields: buying bonds pushes prices up, yields down. Lowers borrowing costs for businesses and households.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Portfolio rebalancing: investors who sell bonds to the central bank redeploy into riskier assets (equities, corporate bonds), compressing spreads and raising asset prices.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Exchange rate: lower yields make domestic currency less attractive to foreign investors. Currency depreciates, supporting exports.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Signalling: commitment to QE signals rates will remain low, anchoring expectations.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611880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611880"/>
            <a:ext cx="91440" cy="10241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703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QE in Practice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QE1 (2008): USD 1.75tn. Fed QE3 (2012): USD 85bn/month. ECB PSPP (2015): EUR 60bn/month. BoE (2009-2020): GBP 450bn.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pandemic: coordinated global QE of unprecedented scale.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27448" y="3611880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3611880"/>
            <a:ext cx="91440" cy="10241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703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and Limits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28616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price inflation: QE benefits holders of financial assets, widening inequality.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risk if central bank is too slow to unwind (2021-22 inflation surge).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QE (quantitative tightening/QT): sell bonds back, reduce balance sheet.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Inflation, Deflation &amp; Stagflation — Investment Implications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CPI inflation = % change in cost of fixed consumer basket     Core inflation = excl. food and energy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is the most important macroeconomic variable for fixed income investors. It determines REAL returns and central bank policy.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Central Bank Response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Asset Impact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Moderate inflation (1–3%)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‘Goldilocks’: consistent with central bank targets. Healthy demand.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Neutral to slight tightening.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Equities, real estate, commodities all positive.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High inflation (&gt; 3–4%)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‘Overheating’: demand exceeds potential. Often wage-price spiral risk.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Aggressive tightening. Rate rises.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Bonds suffer (prices fall as yields rise). Real assets outperform.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Deflation (&lt; 0%)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Falling prices. Consumers delay purchases. Debt burden rises in real terms.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Aggressive easing. QE. Near-zero rates.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Long government bonds outperform. Equities weak.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Stagflation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 inflation + high unemployment simultaneously. Rare. Supply shocks (e.g. 1970s oil).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 easy response: tightening worsens unemployment.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Commodities (especially oil) outperform. Both bonds and equities suffer.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553712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(Treasury Inflation-Protected Securities): principal rises with CPI. Real yield = nominal yield − breakeven inflation. When inflation rises above breakeven, TIPS outperform nominal bonds.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 — Types, Measurement &amp; Policy Relevance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 rate = unemployed / labour force × 100     Labour force = employed + actively seeking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is a key LAGGING indicator. It peaks after the recession has ended and only falls well into recovery. Used to confirm cycle phase.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3716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Policy Fix?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Investment Relevance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Frictional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Voluntary unemployment while searching for a better job.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No: healthy market mobility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Low. Normal even in healthy economy.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Structural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Skills mismatch: jobs exist but workers lack required skills.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Yes: education, retraining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Medium. Signals long-term labour market issues.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Cyclical (demand-deficient)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Insufficient aggregate demand. Recession-driven layoffs.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Yes: fiscal/monetary stimulus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High. Rises sharply in contraction. Target of macro policy.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Natural rate (NAIRU)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Frictional + structural. Below this = inflationary labour markets.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No: equilibrium concept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Fed target. If unemployment &lt; NAIRU, inflation likely rises.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553712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NAIRU (Non-Accelerating Inflation Rate of Unemployment): central banks cannot push unemployment below NAIRU without triggering persistent inflation. Key for wage/price spiral risk.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Trade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LM6)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Advantage — The Foundation of Trade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based on COMPARATIVE advantage (lowest opportunity cost) benefits all parties even if one is better at everything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Ricardo (1817): countries should specialise in what they can produce at the LOWEST RELATIVE COST, not just lowest absolute cost.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21284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EXAMPLE: UK and Portugal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trade: UK needs 100 labour units for wine, 90 for cloth. Portugal needs 80 for wine, 120 for cloth.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has ABSOLUTE advantage in cloth (90 &lt; 120). Portugal has absolute advantage in wine (80 &lt; 100).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of wine: UK = 100/90 = 1.11 units of cloth. Portugal = 80/120 = 0.67 units of cloth.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of cloth: UK = 90/100 = 0.90 units of wine. Portugal = 120/80 = 1.50 units of wine.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has comparative advantage in cloth (0.90 &lt; 1.50 units of wine forgone).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has comparative advantage in wine (0.67 &lt; 1.11 units of cloth forgone).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gain by specialising and trading even though UK is better at cloth in absolute terms.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trade maximises global output. But benefits are not evenly distributed — import-competing sectors lose, creating political pressure for protection.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Tariff Analysis — CFA LM6: South Africa Paper Industry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2 LM6, Example 1. A complete welfare analysis of a 20% import tariff on paper. The definitive CFA trade example.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257860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LM6 EXAMPLE 1 — SOUTH AFRICA PAPER TARIFF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price = USD 5.00/ton. South Africa domestic production = 110,000 tons. Domestic demand = 200,000 tons. Imports = 90,000 tons.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tariff imposed: new price = USD 6.00/ton. Domestic production rises to 130,000 tons. Demand falls to 170,000 tons. Imports fall to 40,000 tons.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Calculations: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 surplus LOSS = USD1 × 170,000 + ½ × USD1 × 30,000 = USD 185,000 (areas A+B+C+D)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Producer surplus GAIN = USD1 × 110,000 + ½ × USD1 × 20,000 = USD 120,000 (area 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Government revenue = USD1 × 40,000 = USD 40,000 (area 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Deadweight loss = ½ × USD1 × 20,000 + ½ × USD1 × 30,000 = USD 25,000 (areas B+D)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welfare effect = −185,000 + 120,000 + 40,000 = −25,000 = deadweight loss.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005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rule: in a SMALL country, a tariff always reduces national welfare by the deadweight loss amount. Consumer surplus loss = producer gain + government revenue + DWL.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Restrictions — Tariffs, Quotas, Subsidies (CFA LM6)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LM6 provides a detailed comparison of four trade restriction types. Tariffs are the most investor-relevant (tariff wars, WTO disputes).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 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Tariff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Import Quota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Export Subsidy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Who bears 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Importing 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Importing 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Exporting 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Importing 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Domestic 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 (domestic)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Producer surplus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Consumer surplus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 (domestic)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Government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Mixed (quota rent)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 (cost)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 change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National welfare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 (small country)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Decreases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Key difference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Govt captures rent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Exporters may capture rent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Subsidises competitors’ customers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Exporter sets limit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 Rates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LM7)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 Rate Conventions — CFA LM7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quote: domestic currency / foreign currency (cost of 1 unit of foreign currency in domestic terms)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LM7 is precise about quoting conventions. Errors in quoting lead to errors in calculating appreciation/depreciation.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19385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LM7, Example 3 — MXN/USD Quote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dealer in New York provides a spot quote of 18.8590 MXN/USD to a client in Mexico City.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MEXICAN client perspective: the quote is MXN/USD = 18.8590.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quote (domestic/foreign) for a Mexican: MXN is domestic, USD is foreign. MXN18.8590 per USD = DIRECT quote. CFA answer: B.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Inverse: 1/18.8590 = USD 0.0530 per MXN (indirect quote from Mexican perspective, or direct from US perspective).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Bid/offer (18.8580–18.8600 MXN/USD):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USD/MXN terms: bid = 1/18.8600 = 0.05302, offer = 1/18.8580 = 0.05303 (bid &lt; offer always). CFA answer: 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096512"/>
            <a:ext cx="41879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096512"/>
            <a:ext cx="91440" cy="93268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187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quote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553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currency = domestic currency. Foreign currency is the base (1 unit of foreign = X domestic).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investor: GBP/USD = 1.25 means GBP1.25 per USD1 (direct).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4096512"/>
            <a:ext cx="41879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4096512"/>
            <a:ext cx="91440" cy="93268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4187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 quote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4553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currency = foreign currency. Domestic is the base (1 unit of domestic = X foreign).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investor: USD/GBP = 0.80 means USD0.80 per GBP1 (indirect for UK investor).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Currency Appreciation — CFA LM7: USD/EUR Worked Example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2 LM7. Calculating percentage appreciation/depreciation requires care about which currency is base and which is price.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 change = (New Rate / Old Rate) − 1    [always measure change in the PRICE currency relative to the BASE]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21284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LM7: USD/EUR rises from 1.1500 to 1.2000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USD/EUR = 1.1500 at t=0. USD/EUR = 1.2000 at t=1. (USD is PRICE currency, EUR is BASE currency.)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(base) appreciation vs USD (price):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Δ = 1.2000 / 1.1500 − 1 = 4.35% ← CFA ANSWER (euro appreciates 4.35% vs USD)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depreciation vs euro: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Invert: at t=0: EUR/USD = 1/1.1500 = 0.8696. At t=1: EUR/USD = 1/1.2000 = 0.8333.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Δ = 0.8333 / 0.8696 − 1 = −4.17% (USD depreciates 4.17%)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euro APPRECIATION (+4.35%) ≠ dollar DEPRECIATION in % terms (−4.17%). These are NEVER equal.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4.35% vs 4.17% difference is a standard CFA exam trap.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3708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rule: percentage appreciation of base currency ≠ percentage depreciation of price currency (except when changes are very small).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Purchasing Power Parity &amp; Interest Rate Parity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 equilibrium frameworks for exchange rates. PPP is a long-run theory; IRP is a no-arbitrage short-run condition.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0848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Purchasing Power Parity (PPP)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one price extended to all goods: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E(Sₜ) / S₀ = (1 + inflationᵐᵈʳᵉˢᵗᵉʳˢᵗᵉʳ) / (1 + inflationᶠᵒʳᵉᵢᵏⁿ)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inflation country’s currency depreciates.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Mac Index: popular PPP proxy.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long-run; poor short-run predictor.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0848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Interest Rate Parity (IRP)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No-arbitrage condition in FX forward markets: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F/S = (1 + rᵈᵒᵐ) / (1 + rᶠᵒʳ) (covered IRP)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interest rate country’s currency trades at forward DISCOUNT.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Uncovered IRP: expected spot = forward rate.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 by risk premium, capital controls, or carry trades.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8503920" cy="10972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93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Carry Trade and IRP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trade: borrow in low-rate currency, invest in high-rate currency. Profits IF the high-rate currency does not depreciate as much as IRP predicts.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violation: high-rate currencies often appreciate short-run (capital inflows attracted by higher yield). Carry trade profits from this deviation.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sudden reversal (‘carry crash’) when risk appetite falls. All positions unwind simultaneously. Classic example: Japanese yen carry trade 2008.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 Rate Regimes — Fixed, Floating &amp; Managed (CFA LM7)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of exchange rate regime involves trade-offs between exchange rate stability, capital mobility and monetary policy independence.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Monetary Policy Independence?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Currency union / Dollarisation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Use another country’s currency. No exchange rate risk.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NONE. Completely surrendered.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Eurozone, Ecuador (USD), Kosovo (EUR)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Currency board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Fixed 1:1 to anchor currency. 100% reserves backing.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NONE effectively (must match anchor policy).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Hong Kong (HKD/USD), Bulgaria (EUR)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Fixed peg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Central rate fixed. Defended with intervention.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LIMITED. Must defend peg rate.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Saudi Arabia (USD), many Gulf states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Managed float (dirty float)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Market-determined but CB intervenes to smooth.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PARTIAL. Can set own inflation target.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China, India, Singapore (basket peg)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Free float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Market-determined. No intervention.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FULL. Completely independent.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USD, EUR, GBP, JPY, AUD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Reference Card — Session 4 Macroeconomics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and relationships from this session.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 (Expenditure)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80360" y="11155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= C + I + G + NX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408176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08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GDP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0360" y="140817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= Nominal GDP / GDP Deflator × 100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700784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Gap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0360" y="170078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 = Actual GDP − Potential GDP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993392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 Rate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80360" y="19933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Unemployed / Labour Force × 100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286000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CPI Inflation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8036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cost of fixed consumer basket year-on-year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578608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Fisher Equation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80360" y="25786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(1+rⁿᵒᵐᶢᵉⁿᵃᴸ) = (1+rʳᵉᵃᴸ) × (1+inflation)    Approx: rʳᵉᵃᴸ = rⁿᵒᵐᶢᵉⁿᵃᴸ − inflation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871216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712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Tariff consumer surplus loss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80360" y="287121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loss = ΔP × Qⁿᵉᵂ + ½ × ΔP × ΔQᵈᵉᴹᵃⁿᵈ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163824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Tariff government revenue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80360" y="31638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revenue = tariff (ΔP) × quantity imported after tariff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456432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Deadweight loss (tariff)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80360" y="34564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DWL = ½ × ΔP × ΔQᴸⁿᵓᵂᴸ + ½ × ΔP × ΔQᵈᵉᴹᵃⁿᵈ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749040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FX % appreciation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0360" y="37490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New Rate / Old Rate − 1 (change in PRICE currency vs BASE currency)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4041648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PPP (relative)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880360" y="4041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E(Sₜ)/S₀ = (1+inflationᵈᵒᵐ) / (1+inflationᶠᵒʳ)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334256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334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Covered IRP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80360" y="433425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F/S = (1+rᵈᵒᵐ) / (1+rᶠᵒʳ)  [F and S in domestic/foreign price terms]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4626864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26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Taylor Rule (approx)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80360" y="46268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≈ neutral rate + 0.5(inflation−target) + 0.5(output gap)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each before checking answers.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" y="105156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cycle (CFA LM2): The ISM new orders index falls below 50 for three consecutive months while building permits also decline. What business cycle phase does this suggest and why?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" y="184708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(CFA LM6 South Africa): World price = USD 5. Tariff 20% → price = USD 6. Domestic production: 110k→130k tons. Demand: 200k→170k tons. Calculate: (a) consumer surplus loss, (b) deadweight loss.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78608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" y="2642616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(CFA LM7): USD/EUR rises from 1.0500 to 1.1025. What is the percentage appreciation of the euro? What is the percentage depreciation of the dollar?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74136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7413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2144" y="3438144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policy: An economy has an output gap of −2% of GDP. Government cuts income tax by 1% of GDP. Keynesian multiplier is 1.5. How much does GDP rise? Does this close the output gap?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69664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69664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966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144" y="4233672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Monetary-fiscal mix (CFA LM4): A central bank tightens policy while the government runs a large deficit (expansionary fiscal). What are the likely effects on (a) GDP growth, (b) interest rates, (c) private investment?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Worked Solutions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PM  •  Session 4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&lt;50 = contraction in manufacturing orders. Declining building permits = forward-looking weakness in construction. Together these are LEADING indicators signalling the economy is entering or already in a CONTRACTION phase. Output gap is widening negatively. Central bank likely to ease policy. Investors should shift toward bonds and defensive equities.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618488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18488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1848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61848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Consumer surplus loss = USD1 × 170,000 + ½ × USD1 × 30,000 = USD 170,000 + USD 15,000 = USD 185,000 (CFA answer). (b) Deadweight loss = ½ × USD1 × 20,000 + ½ × USD1 × 30,000 = USD 10,000 + USD 15,000 = USD 25,000. Note: producer gain = USD 120,000, government revenue = USD 40,000. Check: 185k = 120k + 40k + 25k = 185k. ✓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59736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59736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9736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45973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appreciation: 1.1025/1.0500 − 1 = 5.00%. Dollar depreciation: inverse at t0 = 1/1.0500 = 0.9524. At t1 = 1/1.1025 = 0.9070. Change = 0.9070/0.9524 − 1 = −4.76%. CFA rule: 5.00% ≠ 4.76%. These percentages are never equal. The trap: 1/1.05 = 4.76%, not 5%.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00984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300984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0098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3009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rise = multiplier × fiscal injection = 1.5 × 1% = 1.5% of GDP. Output gap = −2%. Fiscal stimulus closes 1.5/2 = 75% of the gap. Not fully closed. Need additional stimulus or time for automatic stabilisers. Limitation: multiplier may be lower if consumers save the tax cut (Ricardian equivalence, leakages).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42232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4223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4223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GDP growth: mixed effects. Tight monetary restrains private demand; loose fiscal stimulates government demand. Net effect depends on relative magnitudes. (b) Interest rates: likely HIGHER. Government borrowing competes with private sector for funds. CFA: crowding out risk. (c) Private investment: likely falls. Higher rates raise cost of capital. Government spending displaces private investment (crowding out). Composition of GDP shifts toward public sector.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4 — Macroeconomics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68249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3502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CFA phases (LM2): Recovery (neg. gap narrows), Expansion (positive gap), Slowdown (positive gap narrows), Contraction (neg. gap widens). Asset rotation by phase.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6187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68249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3502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leading indicators (CFA LM2): hours, jobless claims, ISM orders, building permits, S&amp;P 500, yield curve spread, Credit Index. All lead by 3–12 months.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529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0545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tariff (CFA LM6): consumer surplus loss = USD 185k. Producer gain = 120k. Govt revenue = 40k. DWL = 25k. Small country always loses net welfare.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32304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529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0545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USD/EUR: 1.1500 → 1.2000 = +4.35% euro appreciation (not +4.17%). CFA exam trap: appreciate ≠ depreciate in % terms.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2336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67588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MXN/USD = 18.8590 is direct quote for Mexican client (domestic MXN / foreign USD).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02736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2336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67588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Monetary-fiscal mix (CFA LM4): easy fiscal + tight monetary = higher rates, crowding out. Easy both = highly expansionary. Know all 4 combinations.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519379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84632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Keynesian: fiscal multiplier &gt;1. Monetarist: crowding out + Ricardian equivalence. With monetary accommodation: IMF finds multiplier = 3.9.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77316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92624" y="519379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484632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PPP: high inflation country currency depreciates. IRP: high rate country currency at forward discount. Carry trade exploits IRP violations.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2026-04-11T20:33:08Z</dcterms:created>
  <dcterms:modified xsi:type="dcterms:W3CDTF">2026-04-11T20:33:08Z</dcterms:modified>
</cp:coreProperties>
</file>