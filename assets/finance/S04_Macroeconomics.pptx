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2  —  AFTERNOON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Macroeconomics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Global Finance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GDP, cycles, inflation, policy and exchange rates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PM  •  Session 4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18872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18872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280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GDP &amp; National Accounts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" y="164592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and calculate GDP using expenditure approach. Distinguish nominal vs real GDP.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27448" y="118872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27448" y="118872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28616" y="12801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Cycles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28616" y="164592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cycle phases and their implications for asset allocation and sector rotation.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85292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85292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" y="29443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Inflation &amp; Unemployment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" y="331012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CPI, PPI, GDP deflator, Phillips curve. Apply Fisher equation to nominal/real returns.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27448" y="285292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27448" y="285292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28616" y="29443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Monetary &amp; Fiscal Policy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28616" y="331012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central bank tools (rates, QE, forward guidance) and government policy levers.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Gross Domestic Product (GDP)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PM  •  Session 4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8503920" cy="71323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GDP  =  C  +  I  +  G  +  (X − M)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20040" y="157276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572768"/>
            <a:ext cx="658368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572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6984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Consumption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69848" y="19385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spending on goods &amp; services. Typically 60-70% of GDP in developed economies.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15000" y="16276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UK: consumer spending on food, housing, healthcare, recreation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322576"/>
            <a:ext cx="8503920" cy="65836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2322576"/>
            <a:ext cx="658368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3225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69848" y="2377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Investment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69848" y="268833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capital expenditure + residential construction + inventory changes.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15000" y="23774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building new factory, households buying homes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3072384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072384"/>
            <a:ext cx="658368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072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69848" y="3127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Government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69848" y="343814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spending on goods &amp; services (not transfers like benefits).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715000" y="312724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spending, defence, infrastructure, public sector wages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822192"/>
            <a:ext cx="8503920" cy="65836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" y="3822192"/>
            <a:ext cx="658368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382219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X−M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69848" y="387705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 Exports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69848" y="418795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minus imports. Negative if country imports more than it exports (trade deficit).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715000" y="38770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has persistent trade deficit (X &lt; M), so X−M is negative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Nominal vs Real GDP — Stripping Out Inflation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PM  •  Session 4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GDP is measured in current prices — it rises when output grows AND when prices rise. Real GDP adjusts for inflation.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98448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GDP Deflator  =  (Nominal GDP / Real GDP) × 100     →     Real GDP  =  Nominal GDP / Deflator × 100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0040" y="2084832"/>
            <a:ext cx="8503920" cy="123444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579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68880"/>
            <a:ext cx="82296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1: Nominal GDP = £2,000bn, GDP Deflator = 100 (base year) → Real GDP = £2,000bn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2: Nominal GDP = £2,200bn, GDP Deflator = 105 → Real GDP = 2,200/105 × 100 = £2,095bn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growth = +10%. Real growth = +4.75%. Inflation accounted for = 5.0%.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456432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456432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35478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Nominal &gt; Real Growth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3913632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is positive. Economy growing but purchasing power rising slower than headline suggests. Watch for real returns!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27448" y="3456432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27448" y="3456432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8616" y="35478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Per-Capita GDP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28616" y="3913632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/ Population = living standards proxy. A country's GDP can grow while per-capita GDP falls if population grows faster.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512064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512064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1208" y="52120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GDP vs GNP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1208" y="557784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= output produced within borders. GNP = output produced by residents regardless of location. Differ for countries with large foreign worker remittances.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27448" y="512064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27448" y="512064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28616" y="52120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Purchasing Power Parity (PPP)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28616" y="557784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Adjusts GDP for price level differences across countries. Used for fair cross-country comparisons. IMF reports both measures.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Cycles — The Investment Cycle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PM  •  Session 4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activity fluctuates in recurring patterns. Asset allocation varies dramatically by cycle phase.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41879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98448"/>
            <a:ext cx="4187952" cy="384048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984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175564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rising, employment improving, credit expanding, consumer confidence high. Inflation begins to build.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4505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Equities, high-yield bonds, commodities, cyclical sectors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27448" y="1298448"/>
            <a:ext cx="41879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27448" y="1298448"/>
            <a:ext cx="4187952" cy="38404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12984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Peak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64608" y="1755648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at highest point. Inflation elevated, central banks tightening. Leading indicators start turning.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64608" y="24505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Inflation-linked bonds, commodities, short-duration assets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054096"/>
            <a:ext cx="41879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054096"/>
            <a:ext cx="4187952" cy="3840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05409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351129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falling (recession if ≥2 consecutive quarters), unemployment rising, credit tightening, confidence collapses.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206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Government bonds, defensive equities, cash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27448" y="3054096"/>
            <a:ext cx="41879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27448" y="3054096"/>
            <a:ext cx="4187952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64608" y="305409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Trough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64608" y="3511296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bottoms, policy turns accommodative, early green shoots emerge. Recession ends here.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64608" y="4206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Equities (early movers), high-beta stocks, cyclicals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Inflation — Measuring &amp; Understanding Price Changes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PM  •  Session 4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is a persistent rise in the general price level. It erodes real returns and affects every asset class.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Fisher Equation:  Nominal return  ≈  Real return  +  Inflation rate  →  Real r ≈ Nominal − Inflation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0040" y="2011680"/>
            <a:ext cx="8503920" cy="86868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084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— Fisher Equation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395728"/>
            <a:ext cx="8229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 yields 5% nominal. Inflation is 3%.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return ≈ 5% − 3% = 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formula: (1 + nominal) = (1 + real)(1 + inflation) → Real = (1.05/1.03) − 1 = 1.94%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01752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01752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CPI (Consumer Price Index)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347472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a basket of household goods &amp; services. Most commonly cited inflation measure. Published monthly.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27448" y="3017520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27448" y="3017520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8616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PPI (Producer Price Index)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28616" y="3474720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factory-gate prices. Leading indicator — PPI rises tend to flow through to CPI with a lag.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468172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468172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1208" y="47731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Demand-Pull Inflation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1208" y="513892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spending chasing too few goods. Associated with economic booms, fiscal stimulus. Central banks tighten to cool.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27448" y="4681728"/>
            <a:ext cx="418795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27448" y="4681728"/>
            <a:ext cx="91440" cy="15727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28616" y="47731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Cost-Push Inflation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28616" y="5138928"/>
            <a:ext cx="3840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shock — rising input costs (oil, wages). Harder to fight — tightening worsens output without improving inflation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Monetary Policy — Central Bank Toolkit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PM  •  Session 4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banks manage price stability and employment through the price and supply of money.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261872"/>
            <a:ext cx="91440" cy="7772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316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Policy Rate (Base Rate)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64592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overnight borrowing rate. Transmission: influences all other rates via the yield curve.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1335024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Rate → ↑ borrowing cost → ↓ spending → ↓ inflation. ↓ Rate → stimulate.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148840"/>
            <a:ext cx="850392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148840"/>
            <a:ext cx="91440" cy="7772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2037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Quantitative Easing (QE)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253288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buys government/corporate bonds → injects reserves → lowers yields.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221992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Lowers long-term rates. Inflates asset prices (wealth effect). Controversial — distributional effects.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3035808"/>
            <a:ext cx="8503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3035808"/>
            <a:ext cx="91440" cy="7772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 Guidance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341985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Signalling future rate intentions. 'Rates will stay low until unemployment falls below X%.'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120640" y="310896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 expectations before acting. Can move markets as powerfully as rate changes.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922776"/>
            <a:ext cx="8503920" cy="7772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922776"/>
            <a:ext cx="91440" cy="7772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Reserve Requirements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430682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% of deposits banks must hold. Rarely changed in developed markets.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20640" y="3995928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requirements → more lending capacity (money multiplier expands).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Exchange Rates — PPP and Interest Rate Parity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PM  •  Session 4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exchange rate links countries' economies. Two key theories explain how rates should behave over time: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34440"/>
            <a:ext cx="4023360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344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Purchasing Power Parity (PPP)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169164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of one price applied globally: identical goods should cost the same everywhere when expressed in a common currency.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FX rate / Spot rate ≈ (1 + π_foreign) / (1 + π_domestic)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higher inflation → currency depreciates.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Mac Index (Economist): informal PPP test. If a Big Mac costs £4 in UK and $6 in US, but GBPUSD = 1.40, the pound is fairly valued.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long-run FX forecasting, cross-country valuation.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123444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234440"/>
            <a:ext cx="4206240" cy="38404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2344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 Rate Parity (IRP)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1691640"/>
            <a:ext cx="3931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interest rate currencies depreciate by the interest rate differential. Prevents risk-free arbitrage.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rate = Spot × (1 + r_d) / (1 + r_f)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UK rates 5%, US rates 3%. £ should depreciate ~2% vs $ to prevent arbitrage.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IRP: holds in practice due to arbitrage enforcement.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Uncovered IRP: a forecasting theory — often fails short-term (carry trade exists!).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trade: borrow in low-rate currency, invest in high-rate — profitable until it isn't.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3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PROBLEMS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before turning the page.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24128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24128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24128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078992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A: Nominal GDP £2,400bn, GDP Deflator = 120. Calculate Real GDP. If last year's real GDP was £2,250bn, what is real growth?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773936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773936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773936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1828800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government bond yields 6%. Inflation is 2.5%. Calculate the real return using both the approximation and exact Fisher formula.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523744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523744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23744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2578608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economy moves from Expansion → Peak. Which THREE asset classes would you overweight / underweight and why?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273552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273552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273552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61288" y="3328416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raises rates from 3% to 4%. Walk through the full transmission mechanism to inflation (5 steps).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8321040" cy="6492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023360"/>
            <a:ext cx="594360" cy="64922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023360"/>
            <a:ext cx="594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61288" y="4078224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interest rate = 4%, Eurozone rate = 2%. Current GBPEUR = 1.18. What should the 1-year forward rate be per IRP?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— Answers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PM  •  Session 4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777240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77724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777240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GDP = 2,400/120 × 100 = £2,000bn. Real growth = (2,000−2,250)/2,250 = −11.1% (recession!)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581912"/>
            <a:ext cx="8503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581912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581912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1581912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Approximation: 6% − 2.5% = 3.5%. Exact: (1.06/1.025) − 1 = 3.41%. Difference small but exact is always more precise.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386584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2386584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38658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386584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Overweight: inflation-linked bonds (TIPS), commodities, short-duration assets. Underweight: long-duration bonds (most exposed to tightening), rate-sensitive sectors (utilities, REITs).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191256"/>
            <a:ext cx="8503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191256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191256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191256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Higher base rate → (2) ↑ borrowing costs (mortgage, corporate) → (3) ↓ household spending &amp; business investment → (4) ↓ aggregate demand → (5) ↓ inflationary pressure. Works with 12-18 month lag typically.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995928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995928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995928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5840" y="3995928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= 1.18 × (1.04/1.02) = 1.18 × 1.0196 = 1.2031. £ depreciates vs € by ~2% (higher UK rates → forward £ weaker).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4 — Macroeconomics &amp; Global Finance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3504" y="171907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37160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= C+I+G+NX — the economy's scorecard. Real GDP strips out inflation.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46320" y="129844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92624" y="1719072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137160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cycle phase determines asset allocation — know where you are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" y="2889504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2542032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 Real return = Nominal − Inflation. Always work in real terms.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468880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92624" y="2889504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2542032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banks use rates + QE + guidance — transmission takes 12-18 months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63931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" y="405993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71246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PPP: high inflation → currency depreciates long-run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363931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92624" y="4059936"/>
            <a:ext cx="128016" cy="12801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371246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IRP: higher rates → forward currency depreciation (prevents arbitrage)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2026-04-06T18:21:04Z</dcterms:created>
  <dcterms:modified xsi:type="dcterms:W3CDTF">2026-04-06T18:21:04Z</dcterms:modified>
</cp:coreProperties>
</file>