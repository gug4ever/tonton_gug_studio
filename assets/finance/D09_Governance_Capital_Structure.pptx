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hours. First half is who controls the firm; second half is what its money costs.
•  Say up front: sections 4 and 5 are the exam-heavy ones. Sections 1-3 are the vocabulary.
•  Flag that this deck is closest to what I actually do for a living.
•  One promise to the room: by the end you can build a WACC and defend every input.
NEXT —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Sell the shape of the morning, do not narrate it. Forty-five seconds.
•  Rough clock: 20 / 25 / 30 / 40 / 25 minutes. Break after section 3.
•  Point at sections 4 and 5 — the exam marks and the day job both live there.
•  Warn them: the numbers in section 4 are CFA numbers, worth learning by heart.
NEXT — Objectives, then straight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objectives, one per block. Objectives 4 and 5 carry most of the exam weight.
•  Read 4 and 5 aloud. Summarise the rest in one sentence.
•  Objective 6 is not on the Level I syllabus — say so now, and say why we do it anyway.
•  Do not linger. Ninety seconds.
NEXT — Section 1 — who legally owns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slides, 20 minutes. Vocabulary block — get through it briskly.
•  Resist teaching tax law. Five attributes, one table, move on.
•  Only thing that must land: limited liability plus owner-manager separation is what opens capital markets.
•  Keep the Simon Property Group example — it is the one they remember.
NEXT — The three legal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attributes, three forms. The table is the whole slide — interrogate it, do not add to it.
•  Walk the LIABILITY row first, not the top row. That row explains all the others.
•  Taxation is the corporate form's only real disadvantage — but retained profits escape the second layer.
•  "Access to financing: unbounded" is the line that sets up the rest of the deck.
•  Footnote matters: a private limited company is not the same thing as a private company.
FROM THE DESK — The legal form is chosen by tax and legal long before finance is in the room. Where it bites us is diligence — a target held through an LP or a GmbH &amp; Co. KG changes who can pledge what, and that surfaces as covenant drafting, not strategy.
NEXT — Take the corporate form apart — what exactly are its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five features are exam vocabulary. Simon is the picture that makes them stick.
•  Left column: read the five headings only. The detail is for their notes.
•  Draw the three-layer chain on the board — shareholders / board / management. It is the spine of section 3.
•  Simon: ask where the liability stops before revealing it. Most answer backwards.
•  Land it: a general partner with unlimited liability is harmless if the GP is itself a limited company.
FROM THE DESK — This stack is the standard shape of REITs, fund sponsors and infrastructure platforms. When you underwrite one, the covenants sit at the LP where the assets are, and the listed entity above can be structurally subordinated. Missing that is how you mis-rate a deal.
ASK THE ROOM — If the GP has unlimited liability, why would anyone agree to be the GP?
NEXT — Same corporate form, two very different lives: listed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Public versus private is about liquidity and disclosure, not legal form. Say that twice.
•  Correct the standard error before it happens: interim statements are REVIEWED, annual statements are AUDITED.
•  Free float is worth 30 seconds — L'Oreal is 44% float with the family at 33% and Nestle at 23%.
•  Three routes to go public. A SPAC sits under "acquisition"; it is not a separate fourth route.
•  Trend worth naming: listings shrinking in developed markets, growing in emerging ones. Private capital is why.
FROM THE DESK — The listing decision is pitched to boards as a capital-raising decision. It is mostly a liquidity decision for existing holders, and a governance decision they under-price. The first activist letter usually arrives before the first follow-on offering.
NEXT — Section 2 — the two claims on the firm, and everyone else with a stake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25 minutes. The ROE example has to land — budget ten minutes for it alone.
•  Debt vs equity table: fast. They half-know it already.
•  Slow right down on the leverage arithmetic. Make them compute the downside case themselves.
•  Stakeholder map and ESG: brisk. Anchor ESG on the three real cases, not on the taxonomy.
NEXT — Two claims on one pool of cash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 row follows from one thing: debt is a promise, equity is a leftover.
•  Do not read the table. Pick three rows: priority, tax treatment, voting.
•  Last two rows are the exam trap — debt riskier for the ISSUER, equity riskier for the INVESTOR.
•  Tax deductibility of interest seeds the whole MM-with-taxes result. Plant it here.
•  Private lenders see non-public information; bondholders do not. Different information, different behaviour.
FROM THE DESK — Every restructuring I have worked on is a fight over exactly one row of this table: priority. Everything else gets negotiated; seniority gets litigated.
ASK THE ROOM — A bond and a share in the same company — which is riskier? Careful, the question is incomplete.
NEXT — Now put numbers on it. What does leverage actually do to a shareholder's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CFA example, not an illustration — the numbers are the curriculum's. Make them compute it live.
•  Put up the base case only. Ask for the 60% before showing it. Someone will divide by 100.
•  Then hand them the downside and wait. The minus sign is the lesson.
•  Spell out the condition: leverage adds to ROE only while ROA beats the cost of debt. 30% vs 20% here.
•  Downside is −20% ROE: a fifth of book equity gone in one period. Not a wipeout, but the covenant is now live.
•  The CFA ignores tax here. We reintroduce it in section 4 and it changes the conclusion.
FROM THE DESK — Sponsors run exactly this table in the IC memo, on EBITDA rather than revenue. What both versions hide is that the interest cost is not fixed as leverage rises — pushing debt from 75 to 85 does not leave the 20% rate alone. That feedback is the entire content of MM Proposition II.
ASK THE ROOM — If ROA had been 15% rather than 30%, what does the debt-financed column look like?
NEXT — Shareholders and lenders are only two claimants. Who else has a 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map is not the point. Every pair on it is a potential conflict — and that is section 3.
•  Read the table down the "what they want" column, not across. The conflicts jump out.
•  Friedman 1970 is in the curriculum and more nuanced than its reputation — a long-horizon shareholder view converges with the stakeholder view.
•  Name the four challenges of stakeholder theory: balancing objectives, measuring them, competing globally, direct cost.
•  Do not editorialise on ESG here. That is the next slide.
FROM THE DESK — On a live deal the stakeholder that moves the timetable is almost never on a textbook list — it is the works council, the antitrust regulator, or one anchor lender. Board packs that treat stakeholders as a slide rather than a critical path get surprised.
NEXT — Three of these groups have been repriced hardest in the last decade. That is what ESG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ESG earns a slide in a finance course only if it changes a number. Show which number.
•  Two transmission channels and only two: the cash-flow forecast, and the discount rate.
•  CFA's own examples: raise a hotel group's costs for staff turnover; lower a food group's discount rate for a secure sustainable input.
•  Governance is the most quantifiable leg — board composition and pay are disclosed and comparable.
•  Three cases, three letters, three real price moves. Equity fell immediately in all three; ratings followed.
•  Do not moralise. The claim is materiality, not virtue.
FROM THE DESK — On the debt side this is now mechanical: agency ESG credit indicators, and sustainability-linked margin ratchets worth 25bp on a covenant test. The honest version is that E and S mostly matter through tail risk and through access — the number of funds that simply cannot buy your paper.
NEXT — Governance was the quantifiable leg. Section 3 takes it apart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slides, 30 minutes, then the break. Students find this section soft — so make it numerical early.
•  Open with the principal-agent chain, then immediately price an agency cost.
•  The mechanisms table is reference material — do not read it out.
•  End on the three failure cases. They are what gets remembered.
NEXT — Every layer of the corporation is a principal hiring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Agency cost is not a metaphor. It is monitoring spend plus value that never appears — both real money.
•  Draw the chain. Note the board is agent to one party and principal to another.
•  Five conflicts, five names. Make them learn the names — the exam uses them verbatim.
•  Best question: which conflict does an all-cash pay package cause? Answer: risk aversion, not greed.
•  Point at the italic line — three conflict axes in total, not one.
FROM THE DESK — The agency cost that actually shows up in a valuation is not the jet, it is the conglomerate discount. A CEO paid on revenue keeps buying, and the market marks the platform down 15-20% for it. That discount is the agency cost capitalised, and it is why break-up activism works.
NEXT — Put a number on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arithmetic is trivial. The point is the conversion: a recurring perk is a permanent claim on the equity.
•  Be explicit that this is my illustration, not a CFA example. They should be able to tell the difference.
•  Keep the tax treatment consistent — after tax on both the cost and the recovery. That is where students slip.
•  Discount at the COST OF EQUITY, not WACC: the loss falls entirely on shareholders.
•  USD 2.00 a share is the line that lands. Compare it with a plausible share price.
•  Name it: this is the indirect, forgone-value half of the formula on the previous slide.
FROM THE DESK — No board ever debates the jet. They debate the proxy adviser's recommendation on the pay vote, and the jet is in the proxy. That is the real transmission mechanism — disclosure, then a say-on-pay result below 80%, then a compensation chair who suddenly wants a reimbursement policy.
ASK THE ROOM — Why discount at the cost of equity rather than at WACC?
NEXT — Perks are small. Control is not — who actually votes?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Control and economics come apart. Once they do, the conflict is not manager versus owner — it is owner versus owner.
•  Ask for the ratio before revealing it: 3% of the economics, 75% of the votes. Let it sit.
•  CAD 870m is the price of undoing it — a governance structure, quantified.
•  Not all concentration is bad. A long-horizon family owner can be an antidote to short-termism.
•  Exam point: with a 55% controlling holder the conflict is controlling ↔ minority, not shareholder ↔ bondholder.
FROM THE DESK — On a sell-side mandate the share register is page one of the deal: a dual-class line decides whether you are running an auction or a negotiation with one person. Index providers excluding non-voting shares has made founders slightly more willing to sunset them. Slightly.
NEXT — So what are the tools that hold all of this in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Reference slide. Use it to show each mechanism answers a named conflict — do not read it out.
•  Seven categories, not five. The curriculum includes employees and commercial counterparties.
•  AGM versus EGM is a classic item: auditor and accounts at the AGM; bylaw changes and M&amp;A at the EGM.
•  Ad hoc creditor committee is the one they will not know — bondholders organising before a default.
•  Staggered boards weaken governance: at 25% a year an activist needs three years to take the board.
•  Comply-or-explain versus the US model. One line each.
FROM THE DESK — On a leveraged credit the mechanism with teeth is none of the equity ones — it is the covenant package and the ad hoc group behind it. Boards discover their lenders' governance rights when a maintenance test is about to trip, and that is when the real balance of power shows.
NEXT — Zoom in on the mechanism doing most of the day-to-day work: the board's committees.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committees, three mandates. The exam question is always "whose job is this?" — so drill the boundary.
•  Classic trap: adopting the governance code belongs to NOMINATING/GOVERNANCE, not to Audit.
•  Audit owns the auditor relationship — selection, fee, private session. That is the independence that matters most.
•  Compensation must be fully independent because management cannot mark its own homework.
•  CFA's preferred incentive design: shares not options, multi-year vesting, holding requirements.
•  Mention risk committees (banks) and investment committees (insurers) as the common fourth.
FROM THE DESK — A rating advisory conversation often starts at the audit committee: restatement risk and the quality of internal audit drive how much of management's guidance an agency will underwrite. A weak audit committee costs the issuer real basis points long before anything goes wrong.
NEXT — And when it does go wrong, what does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cases, and each damages a different part of the capital stack. That is why there are three columns.
•  Theranos kills the equity outright. VW is a cash-flow and reputation event. Kobe is a cost-of-debt event.
•  Kobe is the one that connects to section 4 — governance failure straight into the discount rate.
•  The Kobe remedy list reads like a checklist of everything on the committees slide.
•  One sentence on the footnote so they know the claim is evidenced, not rhetorical.
FROM THE DESK — Agencies have no "governance" line item, but they have outlooks and management-and-governance modifiers, and both move first. The honest sequence is: governance event, negative outlook, spreads widen, then a downgrade eighteen months later. The market prices the outlook, not the downgrade.
ASK THE ROOM — Kobe's cost of debt hit record highs. Trace that through to its WACC and its investment decisions.
NEXT — Break. Then we build that discount rate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slides, 40 minutes. Heart of the deck and of the exam. Slow, numerical, no anecdotes until MM is done.
•  Order matters: WACC mechanics first, then the theory explaining why the mix moves it.
•  Gerhardt gets worked twice — once without tax, once with. Same firm, same numbers. That is the module's design.
•  Warn them now: MM I vs II, with vs without taxes, is a four-cell grid. They will be asked which cell.
NEXT — Start with the number everything else feeds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uses, one number. If they leave with one formula from this deck, it is this one.
•  Say the three uses out loud: NPV discount rate, IRR hurdle, investors' blended required return.
•  Two standard errors: forgetting (1 − t), and using book weights. Flag both now.
•  The costs of debt and equity are NOT chosen by management — markets set them. Tested true/false.
•  This is a real CFA knowledge check. The 7.23% is theirs, not mine.
FROM THE DESK — In a live process WACC is negotiated, not computed. Two banks pitching the same asset 20% apart on value are rarely disagreeing about EBITDA — they disagree about beta, the ERP, and whether to use spot or target leverage. Whoever controls the WACC page controls the valuation.
ASK THE ROOM — If ABC's tax rate went to zero, what happens to its WACC — and why is that not automatically bad news?
NEXT — Now do it properly, with a balance sheet and two sets of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weightings, two answers, 48 basis points apart. Make them see where the gap comes from.
•  The gap exists only because equity trades at 1.5x book. At book the two answers coincide.
•  Book understates WACC here because it under-weights the expensive component — equity.
•  Do NOT use the 5% coupon anywhere. The 4% YTM is the cost of debt. Say it before they ask.
•  Read the footnote out: market weights for the WACC, book values for targets, covenants and rating ratios.
•  CFA runs the same comparison in its Question Set — point them at it.
FROM THE DESK — Both are used, for different audiences. The valuation model runs on market weights; the capital-structure policy the board signs runs on net debt / EBITDA and a target rating, which are book and cash-flow measures. An analyst who cannot switch frames sounds junior in a board meeting.
NEXT — Those weights are not chosen in a vacuum. Where a company sits in its life cycle largely sets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debt-type row is the exam row. Convertible, secured, unsecured — in that order, and they must know why.
•  Why convertible at startup? No cash flow to service interest, so the lender takes equity upside instead.
•  Why secured in growth? Free cash flow is still negative — the lender wants an asset, not a promise.
•  Why unsecured when mature? Cash flow is predictable, so a ratio covenant replaces a lien.
•  Growth-stage FCF is "rising but often still negative". Do not let them write "positive".
•  Regulated capital structures: banks and utilities are forced toward equity, which RAISES their WACC.
FROM THE DESK — The pattern runs in reverse too, and that is where the fees are. A mature investment-grade issuer levering up for a buyback is walking back down this table, and the covenant package it accepts on the way tells you whether the board really intends to deleverage.
NEXT — So far the mix looks like a real choice. Modigliani and Miller said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MM I is a benchmark, not a description. Right about what matters — cash flows — and wrong about everything it assumes away.
•  Homemade leverage first, formula second. The intuition is the argument.
•  Read the callout's second sentence twice: MM allowed bankruptcy, they priced it at zero. Everyone gets this wrong.
•  Assumption 3 fails hardest — no individual borrows at the risk-free rate.
•  Prop I conclusions verbatim: V_L = V_U, value comes from cash flows, and without taxes WACC is unaffected.
•  Do not let them leave thinking capital structure never matters. It matters — just far less than the cash flows.
FROM THE DESK — The irrelevance result is the right starting point because it forces the next question: which friction is doing the work? Tax, distress, agency, signalling, or access. Every financing recommendation I have written is an argument about one of those five, whether or not it says so.
ASK THE ROOM — Which of the five assumptions is violated when a company issues equity and the share price drops?
NEXT — Relax nothing yet — just look at what leverage does to the cost of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see-saw. Cheap debt in, expensive equity out, and the fulcrum does not move.
•  Compute the new cost of equity with them. 15/35, not 15/50 — the denominator is EQUITY.
•  Then let them predict the WACC before you show it. Half will expect it to fall.
•  The cross-check is worth doing: it proves nothing was created out of the financing.
•  CFA Exhibit 4 in one sentence: r_e is a straight line in D/E; WACC is flat.
•  These exact numbers reappear next slide with tax added. Tell them to keep them.
FROM THE DESK — The mechanism is real even though the conclusion is not. Every levered recap raises the equity beta and holders do demand more — they just do not demand exactly enough, because of the tax shield, and they demand far more than enough once distress is in view.
NEXT — Now let the government into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term changes — (1 − t) — and the conclusion inverts. Show them it is the same firm as the last slide.
•  Start by noting V_U fell from 50,000 to 37,500. Tax destroys value; debt claws some back.
•  The value gain is EXACTLY t·D = 3,750. Not approximately. That identity is the proposition.
•  The cost of equity lands on 12.143% again — a coincidence of these numbers, not a rule. Say so or they generalise.
•  Check the WACC two ways: weighted average, and 3,750 / 0.09091 = 41,250. Both must agree.
•  Then say the uncomfortable part out loud: this model says borrow 100%. Which is why the next slide exists.
FROM THE DESK — The shield is worth less than t·D in practice and the market knows it: it needs taxable profit to shelter, interest deductibility is capped in most jurisdictions now, and the debt is not perpetual. Treat t·D as the ceiling on the benefit, never the estimate of it.
ASK THE ROOM — A loss-making company issues debt. What is its tax shield worth this year?
NEXT — Add the one cost MM priced at zero, and the answer stops being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inverted U. Do not draw it — build it one row at a time and let them see where it turns.
•  Cover the V_L column and walk down the first two rows. The shield is linear; distress costs are not.
•  Ask where the optimum is BEFORE revealing D*. Several will say 15.
•  Between 20 and 25 the shield adds 1.5 and distress adds 4.5. That single comparison is the theory.
•  Distress costs are direct (legal, administrative) plus indirect (lost customers, suppliers, staff, agency costs of debt).
•  They are lower where assets have a resale market — aircraft, ships, real estate — higher for pharma, tech, services.
FROM THE DESK — No board has seen this table. What they see is a rating grid: net debt / EBITDA at 2.5x to hold BBB, 3.5x and you are on negative outlook. That grid IS the distress-cost curve translated into something a treasurer can be measured on — and the reason boards defend a rating band is that the curve is steep going down and flat coming back.
ASK THE ROOM — Two firms, same tax rate: an airline and a software company. Which has the higher D*?
NEXT — Trade-off theory gives a target. The next theory says firms do not aim at one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theories, two different claims. Trade-off says there is an optimum; pecking order says there is only a history.
•  Do not let them state the order backwards. Internal, then private debt, then public debt, then equity.
•  The private-before-public step is the detail everyone drops, and it is in the curriculum.
•  Signal directions: debt issuance mildly positive, equity issuance negative. Ask why before explaining.
•  CFA Example 5: the biotech that expands its credit line in July before announcing trial results in August. Signalling whether or not it was intended.
•  Jensen closes the loop back to section 3 — leverage is itself a governance mechanism.
FROM THE DESK — Watch what companies do and pecking order describes it better than trade-off does. Equity gets raised at the top of the market or under duress, almost never in between, and treasurers will burn years of balance-sheet flexibility to avoid a dilutive print. The board discussion is about the share price today, not about D*.
NEXT — Section 5. We have used a cost of equity three times without ever computing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25 minutes. Assemble every input we have been assuming, then build one WACC end to end.
•  Say clearly that CAPM belongs to Vol 9 and that relevering beta is not on the Level I syllabus at all.
•  Justify including them anyway: you cannot compute a real WACC without both.
•  Leave ten minutes for the Aurelia slide — that is the one they replicate in the exercise.
NEXT — The cost of equity, at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inputs, one of which is observable. Be honest about which two are arguments.
•  r_f is observable. ERP and beta are estimates, and reasonable people differ by 200bp on the ERP alone.
•  β × ERP is the STOCK'S risk premium; the ERP alone is the market's. Do not let them merge the two.
•  Sensitivity line: 0.10 of beta is 60bp here. That is why beta gets argued over.
•  Say where beta comes from: a regression of the stock on the index — and it reflects that company's leverage.
•  Which is exactly the problem the next slide fixes.
FROM THE DESK — ERP and beta are the two levers on the WACC page and both are defensible over a wide range. That is not cynicism — it is why the discussion belongs at the top of a valuation rather than in an appendix, and why a good analyst shows WACC as a range with a sensitivity grid.
NEXT — The peer's beta reflects the peer's balance sheet. Strip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Business risk versus financial risk. The whole slide is one distinction, made operational.
•  Say it plainly: the asset beta is the business; the equity beta is the business plus the balance sheet.
•  This is MM Proposition II in beta form — same idea, different units. Point back at slide 25.
•  Only the beta changed. Same industry, same cash flows, +1.96pp on the cost of equity.
•  Flag the (1 − t): it is there because the tax shield absorbs part of the risk the debt adds.
•  Repeat that this is outside the Level I syllabus. They should know when they are off-piste.
FROM THE DESK — The real fight is never the algebra, it is the comp set. Five peers give you five asset betas spanning 0.4, and the median you pick decides the answer more than the formula does. Also use target leverage, not spot, or a company mid-recap gets a WACC that reprices every quarter.
NEXT — One input left — the cost of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Marginal cost, not historic cost. Everything on this slide follows from that one word.
•  Ask which is the cost of debt for a bond with a 5% coupon trading at a 7% yield. Wait for both answers.
•  The table is a ladder: credit quality is the price of debt. Walk it once, A to CCC.
•  Note the tax columns: a higher tax rate makes debt cheaper after tax — the shield, seen from the WACC side.
•  CFA also allows recent comparable borrowings as a forward-looking proxy. Useful for private issuers.
•  Warn on the CCC line: at those yields the shield is worthless, because there is no taxable profit to shelter.
FROM THE DESK — For an unlisted borrower the honest answer is the last term sheet, not a curve. A bank quotes a margin over base plus fees, and the all-in cost includes commitment, upfront and ticking fees. Analysts who use the headline margin understate the cost of debt by 30 to 50 basis points as a matter of routine.
NEXT — Every input is now on the table. Assemble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 input from the last four slides, assembled once. Make them do it, then debrief the choices.
•  Hand them the assumptions and give them five minutes. Do not walk them through it first.
•  Common slips: relevering with D/V instead of D/E, dropping (1 − t) on the debt, using the coupon.
•  The TARGET structure was used, not the current one. Ask why that is the right choice.
•  Then stress it live: ERP of 5% instead of 6% takes the WACC to about 6.6%. Show the swing.
•  Close on the caveat — 7.17% is for average-risk Aurelia projects; a riskier project needs a premium on top.
FROM THE DESK — This is the page every banker builds and almost nobody defends properly. Two questions decide the answer: which peers you unlevered, and whether you used target or spot leverage. Both are judgement calls made in about ninety seconds. Write them into the footnotes — you will be asked in six months.
ASK THE ROOM — Aurelia levers up to 60% debt. Does its WACC rise, fall, or both — and over what range?
NEXT —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lines. Read four, point at the rest, stop.
•  Three that must survive the week: the ROE condition, V_L = V_U + tD, and market weights with an after-tax cost of debt.
•  Remind them which pieces sat outside Level I: relevering beta, and CAPM itself (Vol 9).
•  Set the exercise: rebuild the Aurelia WACC from a blank sheet, then flex the ERP and the target leverage.
•  Preview: next session takes this discount rate into working capital and capital investment.
NEXT — Questions, then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09  ·  WEEK 5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Corporate</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Governance &amp; WACC</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Who owns the firm, who runs it, who finances it — and at what cost</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3 Learning Modules 1, 2, 3, 6</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Corporate Governance, Capital Structure &amp; Cost of Capital</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5 sections · ~2 hours · Built bottom-up from CFA readings</a:t>
            </a:r>
            <a:endParaRPr lang="en-US" sz="1300" dirty="0"/>
          </a:p>
        </p:txBody>
      </p:sp>
      <p:sp>
        <p:nvSpPr>
          <p:cNvPr id="8" name="Shape 6"/>
          <p:cNvSpPr/>
          <p:nvPr/>
        </p:nvSpPr>
        <p:spPr>
          <a:xfrm>
            <a:off x="320040" y="1207008"/>
            <a:ext cx="8503920" cy="680314"/>
          </a:xfrm>
          <a:prstGeom prst="rect">
            <a:avLst/>
          </a:prstGeom>
          <a:solidFill>
            <a:srgbClr val="FFFFFF"/>
          </a:solidFill>
          <a:ln/>
        </p:spPr>
      </p:sp>
      <p:sp>
        <p:nvSpPr>
          <p:cNvPr id="9" name="Shape 7"/>
          <p:cNvSpPr/>
          <p:nvPr/>
        </p:nvSpPr>
        <p:spPr>
          <a:xfrm>
            <a:off x="320040" y="1207008"/>
            <a:ext cx="594360" cy="680314"/>
          </a:xfrm>
          <a:prstGeom prst="rect">
            <a:avLst/>
          </a:prstGeom>
          <a:solidFill>
            <a:srgbClr val="1B2A4A"/>
          </a:solidFill>
          <a:ln/>
        </p:spPr>
      </p:sp>
      <p:sp>
        <p:nvSpPr>
          <p:cNvPr id="10" name="Text 8"/>
          <p:cNvSpPr txBox="1"/>
          <p:nvPr/>
        </p:nvSpPr>
        <p:spPr>
          <a:xfrm>
            <a:off x="320040" y="120700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Organizational forms &amp; ownership</a:t>
            </a:r>
            <a:endParaRPr lang="en-US" sz="1200" dirty="0"/>
          </a:p>
        </p:txBody>
      </p:sp>
      <p:sp>
        <p:nvSpPr>
          <p:cNvPr id="12" name="Text 10"/>
          <p:cNvSpPr txBox="1"/>
          <p:nvPr/>
        </p:nvSpPr>
        <p:spPr>
          <a:xfrm>
            <a:off x="1024128" y="151314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Sole proprietor · partnership · corporation · limited liability · Simon Property Group · public vs private</a:t>
            </a:r>
            <a:endParaRPr lang="en-US" sz="1100" dirty="0"/>
          </a:p>
        </p:txBody>
      </p:sp>
      <p:sp>
        <p:nvSpPr>
          <p:cNvPr id="13" name="Shape 11"/>
          <p:cNvSpPr/>
          <p:nvPr/>
        </p:nvSpPr>
        <p:spPr>
          <a:xfrm>
            <a:off x="320040" y="1923898"/>
            <a:ext cx="8503920" cy="680314"/>
          </a:xfrm>
          <a:prstGeom prst="rect">
            <a:avLst/>
          </a:prstGeom>
          <a:solidFill>
            <a:srgbClr val="F5F7FA"/>
          </a:solidFill>
          <a:ln/>
        </p:spPr>
      </p:sp>
      <p:sp>
        <p:nvSpPr>
          <p:cNvPr id="14" name="Shape 12"/>
          <p:cNvSpPr/>
          <p:nvPr/>
        </p:nvSpPr>
        <p:spPr>
          <a:xfrm>
            <a:off x="320040" y="1923898"/>
            <a:ext cx="594360" cy="680314"/>
          </a:xfrm>
          <a:prstGeom prst="rect">
            <a:avLst/>
          </a:prstGeom>
          <a:solidFill>
            <a:srgbClr val="1B2A4A"/>
          </a:solidFill>
          <a:ln/>
        </p:spPr>
      </p:sp>
      <p:sp>
        <p:nvSpPr>
          <p:cNvPr id="15" name="Text 13"/>
          <p:cNvSpPr txBox="1"/>
          <p:nvPr/>
        </p:nvSpPr>
        <p:spPr>
          <a:xfrm>
            <a:off x="320040" y="192389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96961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Investors &amp; other stakeholders</a:t>
            </a:r>
            <a:endParaRPr lang="en-US" sz="1200" dirty="0"/>
          </a:p>
        </p:txBody>
      </p:sp>
      <p:sp>
        <p:nvSpPr>
          <p:cNvPr id="17" name="Text 15"/>
          <p:cNvSpPr txBox="1"/>
          <p:nvPr/>
        </p:nvSpPr>
        <p:spPr>
          <a:xfrm>
            <a:off x="1024128" y="223003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Debt vs equity claims · CFA LM2 Example 1 on leverage and ROE · stakeholder map · ESG materiality</a:t>
            </a:r>
            <a:endParaRPr lang="en-US" sz="1100" dirty="0"/>
          </a:p>
        </p:txBody>
      </p:sp>
      <p:sp>
        <p:nvSpPr>
          <p:cNvPr id="18" name="Shape 16"/>
          <p:cNvSpPr/>
          <p:nvPr/>
        </p:nvSpPr>
        <p:spPr>
          <a:xfrm>
            <a:off x="320040" y="2640787"/>
            <a:ext cx="8503920" cy="680314"/>
          </a:xfrm>
          <a:prstGeom prst="rect">
            <a:avLst/>
          </a:prstGeom>
          <a:solidFill>
            <a:srgbClr val="FFFFFF"/>
          </a:solidFill>
          <a:ln/>
        </p:spPr>
      </p:sp>
      <p:sp>
        <p:nvSpPr>
          <p:cNvPr id="19" name="Shape 17"/>
          <p:cNvSpPr/>
          <p:nvPr/>
        </p:nvSpPr>
        <p:spPr>
          <a:xfrm>
            <a:off x="320040" y="2640787"/>
            <a:ext cx="594360" cy="680314"/>
          </a:xfrm>
          <a:prstGeom prst="rect">
            <a:avLst/>
          </a:prstGeom>
          <a:solidFill>
            <a:srgbClr val="1B2A4A"/>
          </a:solidFill>
          <a:ln/>
        </p:spPr>
      </p:sp>
      <p:sp>
        <p:nvSpPr>
          <p:cNvPr id="20" name="Text 18"/>
          <p:cNvSpPr txBox="1"/>
          <p:nvPr/>
        </p:nvSpPr>
        <p:spPr>
          <a:xfrm>
            <a:off x="320040" y="264078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68650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Corporate governance</a:t>
            </a:r>
            <a:endParaRPr lang="en-US" sz="1200" dirty="0"/>
          </a:p>
        </p:txBody>
      </p:sp>
      <p:sp>
        <p:nvSpPr>
          <p:cNvPr id="22" name="Text 20"/>
          <p:cNvSpPr txBox="1"/>
          <p:nvPr/>
        </p:nvSpPr>
        <p:spPr>
          <a:xfrm>
            <a:off x="1024128" y="294692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Principal-agent · agency-cost arithmetic · dual-class (Magna) · 3 core committees · Theranos / VW / Kobe</a:t>
            </a:r>
            <a:endParaRPr lang="en-US" sz="1100" dirty="0"/>
          </a:p>
        </p:txBody>
      </p:sp>
      <p:sp>
        <p:nvSpPr>
          <p:cNvPr id="23" name="Shape 21"/>
          <p:cNvSpPr/>
          <p:nvPr/>
        </p:nvSpPr>
        <p:spPr>
          <a:xfrm>
            <a:off x="320040" y="3357677"/>
            <a:ext cx="8503920" cy="680314"/>
          </a:xfrm>
          <a:prstGeom prst="rect">
            <a:avLst/>
          </a:prstGeom>
          <a:solidFill>
            <a:srgbClr val="F5F7FA"/>
          </a:solidFill>
          <a:ln/>
        </p:spPr>
      </p:sp>
      <p:sp>
        <p:nvSpPr>
          <p:cNvPr id="24" name="Shape 22"/>
          <p:cNvSpPr/>
          <p:nvPr/>
        </p:nvSpPr>
        <p:spPr>
          <a:xfrm>
            <a:off x="320040" y="3357677"/>
            <a:ext cx="594360" cy="680314"/>
          </a:xfrm>
          <a:prstGeom prst="rect">
            <a:avLst/>
          </a:prstGeom>
          <a:solidFill>
            <a:srgbClr val="1B2A4A"/>
          </a:solidFill>
          <a:ln/>
        </p:spPr>
      </p:sp>
      <p:sp>
        <p:nvSpPr>
          <p:cNvPr id="25" name="Text 23"/>
          <p:cNvSpPr txBox="1"/>
          <p:nvPr/>
        </p:nvSpPr>
        <p:spPr>
          <a:xfrm>
            <a:off x="320040" y="335767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40339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Capital structure</a:t>
            </a:r>
            <a:endParaRPr lang="en-US" sz="1200" dirty="0"/>
          </a:p>
        </p:txBody>
      </p:sp>
      <p:sp>
        <p:nvSpPr>
          <p:cNvPr id="27" name="Text 25"/>
          <p:cNvSpPr txBox="1"/>
          <p:nvPr/>
        </p:nvSpPr>
        <p:spPr>
          <a:xfrm>
            <a:off x="1024128" y="366381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WACC mechanics · MM I and II · Gerhardt worked twice · Boulder static trade-off · pecking order</a:t>
            </a:r>
            <a:endParaRPr lang="en-US" sz="1100" dirty="0"/>
          </a:p>
        </p:txBody>
      </p:sp>
      <p:sp>
        <p:nvSpPr>
          <p:cNvPr id="28" name="Shape 26"/>
          <p:cNvSpPr/>
          <p:nvPr/>
        </p:nvSpPr>
        <p:spPr>
          <a:xfrm>
            <a:off x="320040" y="4074566"/>
            <a:ext cx="8503920" cy="680314"/>
          </a:xfrm>
          <a:prstGeom prst="rect">
            <a:avLst/>
          </a:prstGeom>
          <a:solidFill>
            <a:srgbClr val="FFFFFF"/>
          </a:solidFill>
          <a:ln/>
        </p:spPr>
      </p:sp>
      <p:sp>
        <p:nvSpPr>
          <p:cNvPr id="29" name="Shape 27"/>
          <p:cNvSpPr/>
          <p:nvPr/>
        </p:nvSpPr>
        <p:spPr>
          <a:xfrm>
            <a:off x="320040" y="4074566"/>
            <a:ext cx="594360" cy="680314"/>
          </a:xfrm>
          <a:prstGeom prst="rect">
            <a:avLst/>
          </a:prstGeom>
          <a:solidFill>
            <a:srgbClr val="1B2A4A"/>
          </a:solidFill>
          <a:ln/>
        </p:spPr>
      </p:sp>
      <p:sp>
        <p:nvSpPr>
          <p:cNvPr id="30" name="Text 28"/>
          <p:cNvSpPr txBox="1"/>
          <p:nvPr/>
        </p:nvSpPr>
        <p:spPr>
          <a:xfrm>
            <a:off x="320040" y="4074566"/>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4120286"/>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Cost of capital wrap</a:t>
            </a:r>
            <a:endParaRPr lang="en-US" sz="1200" dirty="0"/>
          </a:p>
        </p:txBody>
      </p:sp>
      <p:sp>
        <p:nvSpPr>
          <p:cNvPr id="32" name="Text 30"/>
          <p:cNvSpPr txBox="1"/>
          <p:nvPr/>
        </p:nvSpPr>
        <p:spPr>
          <a:xfrm>
            <a:off x="1024128" y="438070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CAPM for equity · relevering a comparable beta · after-tax cost of debt · a full WACC end to end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Compare the three legal organizational forms of business on five attributes — legal identity, owner-manager relationship, owner liability, taxation, and access to financing.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Contrast the financial claims of debt and equity holders and quantify how financial leverage amplifies both shareholder return and risk.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Map a corporation's stakeholder groups, explain the principal-agent conflicts between them, and describe the governance mechanisms that mitigate each.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Compute a weighted-average cost of capital using market-value weights, an after-tax cost of debt, and a CAPM-based cost of equity.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Apply the Modigliani-Miller propositions (with and without taxes), the static trade-off theory, and the pecking order theory to capital-structure decisions.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Unlever and relever an equity beta to move between a comparable company's observed risk and the target firm's own capital structure.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Organizational forms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ownership</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5  ·  Deck 9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Three legal forms of business trade off simplicity for access to capital — sole proprietor, partnership, corporation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Private limited companies (LLC, SARL, GmbH, K.K.) keep limited liability but restrict ownership and are usually taxed pass-through.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1, §2 "Organizational Forms of Businesses", Exhibit 6, pp. 6–13.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corporate form dominates globally by revenue and assets because it alone offers limited liability, owner-manager separation and unrestricted ownership transfer at the same time.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234440"/>
          <a:ext cx="8503920" cy="914400"/>
        </p:xfrm>
        <a:graphic>
          <a:graphicData uri="http://schemas.openxmlformats.org/drawingml/2006/table">
            <a:tbl>
              <a:tblPr/>
              <a:tblGrid>
                <a:gridCol w="1828800"/>
                <a:gridCol w="1920240"/>
                <a:gridCol w="2468880"/>
                <a:gridCol w="2286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Attribute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Sole proprietorship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Partnership (GP / LP)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Corporation (public Ltd)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Legal identity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Extension of owner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Extension of partners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Separate legal entity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Owner-manager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Owner operates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Partners operate (GP)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Board hires management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Owner liability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Unlimited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GP unlimited; LP limited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Limited to amount invested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Pass-through (owner)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Pass-through (partners)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Company, then dividend tax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Access to financing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Owner + personal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Partners + partner loans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Unbounded — public markets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017520"/>
            <a:ext cx="8503920" cy="914400"/>
          </a:xfrm>
          <a:prstGeom prst="rect">
            <a:avLst/>
          </a:prstGeom>
          <a:solidFill>
            <a:srgbClr val="FEF0E7"/>
          </a:solidFill>
          <a:ln/>
        </p:spPr>
      </p:sp>
      <p:sp>
        <p:nvSpPr>
          <p:cNvPr id="12" name="Shape 9"/>
          <p:cNvSpPr/>
          <p:nvPr/>
        </p:nvSpPr>
        <p:spPr>
          <a:xfrm>
            <a:off x="320040" y="3017520"/>
            <a:ext cx="73152" cy="914400"/>
          </a:xfrm>
          <a:prstGeom prst="rect">
            <a:avLst/>
          </a:prstGeom>
          <a:solidFill>
            <a:srgbClr val="E8600A"/>
          </a:solidFill>
          <a:ln/>
        </p:spPr>
      </p:sp>
      <p:sp>
        <p:nvSpPr>
          <p:cNvPr id="13" name="Text 10"/>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CORPORATE FORM WINS ON SCALE</a:t>
            </a:r>
            <a:endParaRPr lang="en-US" sz="1100" dirty="0"/>
          </a:p>
        </p:txBody>
      </p:sp>
      <p:sp>
        <p:nvSpPr>
          <p:cNvPr id="14" name="Text 11"/>
          <p:cNvSpPr txBox="1"/>
          <p:nvPr/>
        </p:nvSpPr>
        <p:spPr>
          <a:xfrm>
            <a:off x="457200" y="333756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share is the smallest transferable unit of ownership, and the holder's loss is capped at what they paid for it. Together those two features let a firm pool capital from thousands of investors who want no role in running it. The price is double taxation — profits taxed at the company, then again on distribution — which is why the form suits businesses that retain and reinvest.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Corporations combine limited liability with owner-manager separation — the combination that unlocks deep capital markets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1, §3 "Key Features of Corporate Issuers", pp. 14–19. Simon Property Group is Example 1, pp. 10–11.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Shareholders → elect → board of directors → appoints → management. Three layers, each meant to act for the layer that put it there.</a:t>
            </a:r>
            <a:endParaRPr lang="en-US" sz="1300" dirty="0"/>
          </a:p>
        </p:txBody>
      </p:sp>
      <p:sp>
        <p:nvSpPr>
          <p:cNvPr id="9" name="Shape 7"/>
          <p:cNvSpPr/>
          <p:nvPr/>
        </p:nvSpPr>
        <p:spPr>
          <a:xfrm>
            <a:off x="320040" y="1188720"/>
            <a:ext cx="4160520" cy="3108960"/>
          </a:xfrm>
          <a:prstGeom prst="rect">
            <a:avLst/>
          </a:prstGeom>
          <a:solidFill>
            <a:srgbClr val="FEF0E7"/>
          </a:solidFill>
          <a:ln/>
        </p:spPr>
      </p:sp>
      <p:sp>
        <p:nvSpPr>
          <p:cNvPr id="10" name="Shape 8"/>
          <p:cNvSpPr/>
          <p:nvPr/>
        </p:nvSpPr>
        <p:spPr>
          <a:xfrm>
            <a:off x="320040" y="1188720"/>
            <a:ext cx="73152" cy="310896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FIVE FEATURES CFA ACTUALLY LISTS</a:t>
            </a:r>
            <a:endParaRPr lang="en-US" sz="1100" dirty="0"/>
          </a:p>
        </p:txBody>
      </p:sp>
      <p:sp>
        <p:nvSpPr>
          <p:cNvPr id="12" name="Text 10"/>
          <p:cNvSpPr txBox="1"/>
          <p:nvPr/>
        </p:nvSpPr>
        <p:spPr>
          <a:xfrm>
            <a:off x="4572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Legal identity — a separate person in law: contracts, hires, sues, borrows, pays tax</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Owner-manager separation — shareholders elect the board; the board appoints the CEO</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Owner liability — limited: a shareholder can lose the purchase price and no more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4. External financing — buying a share is the only requirement to become an owner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5. Taxation — profits taxed at the company, then again on distribution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Ownership is divided into small, standardised, freely transferable shares. That is the mechanism which makes (3) and (4) work together.</a:t>
            </a:r>
            <a:endParaRPr lang="en-US" sz="1200" dirty="0"/>
          </a:p>
        </p:txBody>
      </p:sp>
      <p:sp>
        <p:nvSpPr>
          <p:cNvPr id="13" name="Shape 11"/>
          <p:cNvSpPr/>
          <p:nvPr/>
        </p:nvSpPr>
        <p:spPr>
          <a:xfrm>
            <a:off x="4663440" y="1188720"/>
            <a:ext cx="4160520" cy="3108960"/>
          </a:xfrm>
          <a:prstGeom prst="rect">
            <a:avLst/>
          </a:prstGeom>
          <a:solidFill>
            <a:srgbClr val="F5F7FA"/>
          </a:solidFill>
          <a:ln/>
        </p:spPr>
      </p:sp>
      <p:sp>
        <p:nvSpPr>
          <p:cNvPr id="14" name="Shape 12"/>
          <p:cNvSpPr/>
          <p:nvPr/>
        </p:nvSpPr>
        <p:spPr>
          <a:xfrm>
            <a:off x="4663440" y="1188720"/>
            <a:ext cx="73152" cy="310896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SIMON PROPERTY GROUP — A HYBRID STRUCTURE</a:t>
            </a:r>
            <a:endParaRPr lang="en-US" sz="1100" dirty="0"/>
          </a:p>
        </p:txBody>
      </p:sp>
      <p:sp>
        <p:nvSpPr>
          <p:cNvPr id="16" name="Text 14"/>
          <p:cNvSpPr txBox="1"/>
          <p:nvPr/>
        </p:nvSpPr>
        <p:spPr>
          <a:xfrm>
            <a:off x="48006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Simon holds over USD 33bn of retail real estate in two layers: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Simon Property Group L.P., a limited partnership, owns the assets outright.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Simon Property Group Inc., a corporation, is the general partner with an 87% interest — and its only asset is that partnership stake.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The GP carries unlimited liability, but the GP is itself a company whose shareholders do not. The ultimate owners are shielded while profit and loss are still shared with around 200 limited partners. The founding family holds 8% of Inc.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Public companies trade liquidity and price transparency for disclosure, listing costs and the scrutiny of outside shareholders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1, §4 "Publicly vs. Privately Owned Corporate Issuers", Exhibits 10 and 16, pp. 20–32.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Going public — or going private — is a trade between access to capital and freedom from continuous public scrutiny. The legal form itself does not change.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70432"/>
          <a:ext cx="8503920" cy="914400"/>
        </p:xfrm>
        <a:graphic>
          <a:graphicData uri="http://schemas.openxmlformats.org/drawingml/2006/table">
            <a:tbl>
              <a:tblPr/>
              <a:tblGrid>
                <a:gridCol w="2011680"/>
                <a:gridCol w="356616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Public (listed)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Private (unlisted)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Liquidity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Continuous exchange trading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Illiquid — negotiated blocks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Price transparency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Real-time price, regulated news flow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Negotiated, stale, often opaque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Disclosure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Annual audited, interim reviewed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Bilateral, often confidential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Access to capital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 — public debt &amp; equity markets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Narrow — relationship-based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Shareholder base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Thousands, retail + institutional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Founders, PE, family, strategics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Free float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Shares not held by insiders trade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 accredited investors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Governance scrutiny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Activists, proxy fights, say-on-pay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Largely insulated from markets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74720"/>
            <a:ext cx="8503920" cy="914400"/>
          </a:xfrm>
          <a:prstGeom prst="rect">
            <a:avLst/>
          </a:prstGeom>
          <a:solidFill>
            <a:srgbClr val="FEF0E7"/>
          </a:solidFill>
          <a:ln/>
        </p:spPr>
      </p:sp>
      <p:sp>
        <p:nvSpPr>
          <p:cNvPr id="11" name="Shape 8"/>
          <p:cNvSpPr/>
          <p:nvPr/>
        </p:nvSpPr>
        <p:spPr>
          <a:xfrm>
            <a:off x="320040" y="3474720"/>
            <a:ext cx="73152" cy="914400"/>
          </a:xfrm>
          <a:prstGeom prst="rect">
            <a:avLst/>
          </a:prstGeom>
          <a:solidFill>
            <a:srgbClr val="E8600A"/>
          </a:solidFill>
          <a:ln/>
        </p:spPr>
      </p:sp>
      <p:sp>
        <p:nvSpPr>
          <p:cNvPr id="12" name="Text 9"/>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MOVING BETWEEN THE TWO</a:t>
            </a:r>
            <a:endParaRPr lang="en-US" sz="1100" dirty="0"/>
          </a:p>
        </p:txBody>
      </p:sp>
      <p:sp>
        <p:nvSpPr>
          <p:cNvPr id="13" name="Text 10"/>
          <p:cNvSpPr txBox="1"/>
          <p:nvPr/>
        </p:nvSpPr>
        <p:spPr>
          <a:xfrm>
            <a:off x="457200" y="379476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Private → public, three routes (CFA Exhibit 16): IPO — underwritten, new shares issued, cash raised · direct listing — no underwriter, no new shares, existing holders sell · acquisition — either by a listed company or by a SPAC, the "blank cheque" shell that has replaced the 1990s reverse merger.     Public → private: investors buy in every listed share at a premium, usually with debt, then delist.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Investors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other stakeholders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5  ·  Deck 9 of 20  ·  Studio Tonton Gug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Debt is a fixed, priority, finite claim; equity is a residual, discretionary, permanent claim — the two are economically asymmetric</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2, §2 "Financial Claims of Lenders and Shareholders", pp. 39–47.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One pool of cash flow, two claims on it. Debtholders are paid in full or not at all; shareholders get whatever is left over.</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03120"/>
                <a:gridCol w="3200400"/>
                <a:gridCol w="3200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Attribute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Debt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Equity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Tenor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Finite — 3m to 30y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Permanent, no maturity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Claim type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and senior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Residual, discretionary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Payment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Contractual interest + principal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Dividend only if declared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Return potential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Capped at the promised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Unlimited in theory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Liquidation priority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Paid before any equity claim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Last in line — residual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treatment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deductible for issuer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Dividends paid post-tax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Voting rights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 — board, M&amp;A, charter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Risk to the issuer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 — must be serviced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 — no obligation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Risk to the investor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 — priority, fixed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 — residual claim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4005072"/>
            <a:ext cx="8503920" cy="594360"/>
          </a:xfrm>
          <a:prstGeom prst="rect">
            <a:avLst/>
          </a:prstGeom>
          <a:solidFill>
            <a:srgbClr val="FEF0E7"/>
          </a:solidFill>
          <a:ln/>
        </p:spPr>
      </p:sp>
      <p:sp>
        <p:nvSpPr>
          <p:cNvPr id="11" name="Shape 8"/>
          <p:cNvSpPr/>
          <p:nvPr/>
        </p:nvSpPr>
        <p:spPr>
          <a:xfrm>
            <a:off x="320040" y="4005072"/>
            <a:ext cx="73152" cy="594360"/>
          </a:xfrm>
          <a:prstGeom prst="rect">
            <a:avLst/>
          </a:prstGeom>
          <a:solidFill>
            <a:srgbClr val="E8600A"/>
          </a:solidFill>
          <a:ln/>
        </p:spPr>
      </p:sp>
      <p:sp>
        <p:nvSpPr>
          <p:cNvPr id="12" name="Text 9"/>
          <p:cNvSpPr txBox="1"/>
          <p:nvPr/>
        </p:nvSpPr>
        <p:spPr>
          <a:xfrm>
            <a:off x="457200" y="405079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SAME CASH FLOWS, MIRRORED RISK</a:t>
            </a:r>
            <a:endParaRPr lang="en-US" sz="1100" dirty="0"/>
          </a:p>
        </p:txBody>
      </p:sp>
      <p:sp>
        <p:nvSpPr>
          <p:cNvPr id="13" name="Text 10"/>
          <p:cNvSpPr txBox="1"/>
          <p:nvPr/>
        </p:nvSpPr>
        <p:spPr>
          <a:xfrm>
            <a:off x="457200" y="4325112"/>
            <a:ext cx="8275320" cy="228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Issuer view: debt is riskier — it must be serviced. Investor view: equity is riskier — it is residual.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Leverage amplifies both return and risk — the same mechanism does both, and CFA Example 1 proves it in three lines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2, Example 1 "Equity- versus Debt-Based Balance Sheet Financing", pp. 42–43. Income taxes ignored, as in the source.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operating business, two capital structures, three revenue scenarios. Leverage turns a 30% return on assets into a 60% ROE — and a 20% revenue drop into a loss.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94560"/>
                <a:gridCol w="2560320"/>
                <a:gridCol w="3017520"/>
                <a:gridCol w="731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Equity-financed (E 100)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Debt-financed (D 75 / E 25, int. 15)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ROE gap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Base — Rev 100, OpEx 70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 30 / E 100 = 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 30−15 = 15 / E 25 = 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Upside — Rev 120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 50 / E 100 = 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 50−15 = 35 / E 25 = 140%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+90pp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Downside — Rev 80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 10 / E 100 =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NI 10−15 = −5 / E 25 = −20%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395728"/>
            <a:ext cx="8503920" cy="1463040"/>
          </a:xfrm>
          <a:prstGeom prst="rect">
            <a:avLst/>
          </a:prstGeom>
          <a:solidFill>
            <a:srgbClr val="FEF0E7"/>
          </a:solidFill>
          <a:ln/>
        </p:spPr>
      </p:sp>
      <p:sp>
        <p:nvSpPr>
          <p:cNvPr id="11" name="Shape 8"/>
          <p:cNvSpPr/>
          <p:nvPr/>
        </p:nvSpPr>
        <p:spPr>
          <a:xfrm>
            <a:off x="320040" y="2395728"/>
            <a:ext cx="73152" cy="1463040"/>
          </a:xfrm>
          <a:prstGeom prst="rect">
            <a:avLst/>
          </a:prstGeom>
          <a:solidFill>
            <a:srgbClr val="E8600A"/>
          </a:solidFill>
          <a:ln/>
        </p:spPr>
      </p:sp>
      <p:sp>
        <p:nvSpPr>
          <p:cNvPr id="12" name="Text 9"/>
          <p:cNvSpPr txBox="1"/>
          <p:nvPr/>
        </p:nvSpPr>
        <p:spPr>
          <a:xfrm>
            <a:off x="457200" y="244144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IT WORKS — AND WHERE IT BREAKS</a:t>
            </a:r>
            <a:endParaRPr lang="en-US" sz="1100" dirty="0"/>
          </a:p>
        </p:txBody>
      </p:sp>
      <p:sp>
        <p:nvSpPr>
          <p:cNvPr id="13" name="Text 10"/>
          <p:cNvSpPr txBox="1"/>
          <p:nvPr/>
        </p:nvSpPr>
        <p:spPr>
          <a:xfrm>
            <a:off x="457200" y="2715768"/>
            <a:ext cx="8275320" cy="10972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Leverage pays only while the return on assets beats the cost of debt: here return on assets is 30/100 = 30% against an interest rate of 15/75 = 20%. On the upside the same gearing turns a 50% all-equity return into 140% on equity. On the downside a still-profitable business — assets earning 10% — produces a net loss of 5 on 25 of equity: a −20% ROE that removes a fifth of book equity in a single period and puts the next interest payment in question. Leverage does not raise the average return. It widens the distribution around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Eight stakeholder groups each bring a distinct set of claims, incentives and conflict potential with the corporation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2, §3 "Corporate Stakeholders and Governance", Exhibit 6, pp. 48–53.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Shareholder theory counts only the residual claimants. Stakeholder theory widens the lens to everyone with a vested interest — and ESG analysis follows directly from it.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3108960"/>
                <a:gridCol w="3383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Stakeholder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they provide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they want from the firm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Shareholders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Equity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Residual return, votes, appreciation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Debtholders / creditors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principal, covenant cover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Board of directors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Stewardship and oversight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Fiduciary duty, fees, reputation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Managers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Human capital and strategy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Pay, status, tenure, career options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Employees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Labour and skills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Fair pay, safety, job security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Customers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Value, service, safety, supply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Suppliers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Inputs and trade credit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Timely payment, long relationship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Governments / society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Rule of law, infrastructure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Tax, compliance, externalities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749040"/>
            <a:ext cx="8503920" cy="594360"/>
          </a:xfrm>
          <a:prstGeom prst="rect">
            <a:avLst/>
          </a:prstGeom>
          <a:solidFill>
            <a:srgbClr val="FEF0E7"/>
          </a:solidFill>
          <a:ln/>
        </p:spPr>
      </p:sp>
      <p:sp>
        <p:nvSpPr>
          <p:cNvPr id="11" name="Shape 8"/>
          <p:cNvSpPr/>
          <p:nvPr/>
        </p:nvSpPr>
        <p:spPr>
          <a:xfrm>
            <a:off x="320040" y="3749040"/>
            <a:ext cx="73152" cy="594360"/>
          </a:xfrm>
          <a:prstGeom prst="rect">
            <a:avLst/>
          </a:prstGeom>
          <a:solidFill>
            <a:srgbClr val="E8600A"/>
          </a:solidFill>
          <a:ln/>
        </p:spPr>
      </p:sp>
      <p:sp>
        <p:nvSpPr>
          <p:cNvPr id="12" name="Text 9"/>
          <p:cNvSpPr txBox="1"/>
          <p:nvPr/>
        </p:nvSpPr>
        <p:spPr>
          <a:xfrm>
            <a:off x="457200" y="37947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SHAREHOLDER THEORY VS STAKEHOLDER THEORY</a:t>
            </a:r>
            <a:endParaRPr lang="en-US" sz="1100" dirty="0"/>
          </a:p>
        </p:txBody>
      </p:sp>
      <p:sp>
        <p:nvSpPr>
          <p:cNvPr id="13" name="Text 10"/>
          <p:cNvSpPr txBox="1"/>
          <p:nvPr/>
        </p:nvSpPr>
        <p:spPr>
          <a:xfrm>
            <a:off x="457200" y="4069080"/>
            <a:ext cx="8275320" cy="228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Shareholder theory counts other groups only where they affect shareholder value; stakeholder theory makes them objectives in their own right.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ESG factors are increasingly quantifiable and material — analysts push them into cash-flow forecasts and into the discount rate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2, §4 "Corporate ESG Considerations", Exhibit 7 and case boxes, pp. 54–61.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Equity is hit first and hardest because it is the residual claim. Debt follows only if payment capacity is impaired — yet all three companies below were downgraded.</a:t>
            </a:r>
            <a:endParaRPr lang="en-US" sz="1300" dirty="0"/>
          </a:p>
        </p:txBody>
      </p:sp>
      <p:sp>
        <p:nvSpPr>
          <p:cNvPr id="9" name="Shape 7"/>
          <p:cNvSpPr/>
          <p:nvPr/>
        </p:nvSpPr>
        <p:spPr>
          <a:xfrm>
            <a:off x="320040" y="1170432"/>
            <a:ext cx="2743200" cy="2103120"/>
          </a:xfrm>
          <a:prstGeom prst="rect">
            <a:avLst/>
          </a:prstGeom>
          <a:solidFill>
            <a:srgbClr val="F5F7FA"/>
          </a:solidFill>
          <a:ln/>
        </p:spPr>
      </p:sp>
      <p:sp>
        <p:nvSpPr>
          <p:cNvPr id="10" name="Shape 8"/>
          <p:cNvSpPr/>
          <p:nvPr/>
        </p:nvSpPr>
        <p:spPr>
          <a:xfrm>
            <a:off x="320040" y="1170432"/>
            <a:ext cx="73152" cy="2103120"/>
          </a:xfrm>
          <a:prstGeom prst="rect">
            <a:avLst/>
          </a:prstGeom>
          <a:solidFill>
            <a:srgbClr val="1B2A4A"/>
          </a:solidFill>
          <a:ln/>
        </p:spPr>
      </p:sp>
      <p:sp>
        <p:nvSpPr>
          <p:cNvPr id="11" name="Text 9"/>
          <p:cNvSpPr txBox="1"/>
          <p:nvPr/>
        </p:nvSpPr>
        <p:spPr>
          <a:xfrm>
            <a:off x="457200" y="1216152"/>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ENVIRONMENTAL</a:t>
            </a:r>
            <a:endParaRPr lang="en-US" sz="1100" dirty="0"/>
          </a:p>
        </p:txBody>
      </p:sp>
      <p:sp>
        <p:nvSpPr>
          <p:cNvPr id="12" name="Text 10"/>
          <p:cNvSpPr txBox="1"/>
          <p:nvPr/>
        </p:nvSpPr>
        <p:spPr>
          <a:xfrm>
            <a:off x="457200" y="1490472"/>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Climate — physical and transition risk · pollution and waste · resource and land use · biodiversity · stranded assets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Most material in utilities, oil and gas, mining, autos, airlines, food.</a:t>
            </a:r>
            <a:endParaRPr lang="en-US" sz="1200" dirty="0"/>
          </a:p>
        </p:txBody>
      </p:sp>
      <p:sp>
        <p:nvSpPr>
          <p:cNvPr id="13" name="Shape 11"/>
          <p:cNvSpPr/>
          <p:nvPr/>
        </p:nvSpPr>
        <p:spPr>
          <a:xfrm>
            <a:off x="3200400" y="1170432"/>
            <a:ext cx="2743200" cy="2103120"/>
          </a:xfrm>
          <a:prstGeom prst="rect">
            <a:avLst/>
          </a:prstGeom>
          <a:solidFill>
            <a:srgbClr val="FEF0E7"/>
          </a:solidFill>
          <a:ln/>
        </p:spPr>
      </p:sp>
      <p:sp>
        <p:nvSpPr>
          <p:cNvPr id="14" name="Shape 12"/>
          <p:cNvSpPr/>
          <p:nvPr/>
        </p:nvSpPr>
        <p:spPr>
          <a:xfrm>
            <a:off x="3200400" y="1170432"/>
            <a:ext cx="73152" cy="2103120"/>
          </a:xfrm>
          <a:prstGeom prst="rect">
            <a:avLst/>
          </a:prstGeom>
          <a:solidFill>
            <a:srgbClr val="E8600A"/>
          </a:solidFill>
          <a:ln/>
        </p:spPr>
      </p:sp>
      <p:sp>
        <p:nvSpPr>
          <p:cNvPr id="15" name="Text 13"/>
          <p:cNvSpPr txBox="1"/>
          <p:nvPr/>
        </p:nvSpPr>
        <p:spPr>
          <a:xfrm>
            <a:off x="3337560" y="1216152"/>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SOCIAL</a:t>
            </a:r>
            <a:endParaRPr lang="en-US" sz="1100" dirty="0"/>
          </a:p>
        </p:txBody>
      </p:sp>
      <p:sp>
        <p:nvSpPr>
          <p:cNvPr id="16" name="Text 14"/>
          <p:cNvSpPr txBox="1"/>
          <p:nvPr/>
        </p:nvSpPr>
        <p:spPr>
          <a:xfrm>
            <a:off x="3337560" y="1490472"/>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Human capital · data privacy and security · product safety · community relations · labour standards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Most material in tech, healthcare, consumer, pharma.</a:t>
            </a:r>
            <a:endParaRPr lang="en-US" sz="1200" dirty="0"/>
          </a:p>
        </p:txBody>
      </p:sp>
      <p:sp>
        <p:nvSpPr>
          <p:cNvPr id="17" name="Shape 15"/>
          <p:cNvSpPr/>
          <p:nvPr/>
        </p:nvSpPr>
        <p:spPr>
          <a:xfrm>
            <a:off x="6080760" y="1170432"/>
            <a:ext cx="2743200" cy="2103120"/>
          </a:xfrm>
          <a:prstGeom prst="rect">
            <a:avLst/>
          </a:prstGeom>
          <a:solidFill>
            <a:srgbClr val="F5F7FA"/>
          </a:solidFill>
          <a:ln/>
        </p:spPr>
      </p:sp>
      <p:sp>
        <p:nvSpPr>
          <p:cNvPr id="18" name="Shape 16"/>
          <p:cNvSpPr/>
          <p:nvPr/>
        </p:nvSpPr>
        <p:spPr>
          <a:xfrm>
            <a:off x="6080760" y="1170432"/>
            <a:ext cx="73152" cy="2103120"/>
          </a:xfrm>
          <a:prstGeom prst="rect">
            <a:avLst/>
          </a:prstGeom>
          <a:solidFill>
            <a:srgbClr val="1B2A4A"/>
          </a:solidFill>
          <a:ln/>
        </p:spPr>
      </p:sp>
      <p:sp>
        <p:nvSpPr>
          <p:cNvPr id="19" name="Text 17"/>
          <p:cNvSpPr txBox="1"/>
          <p:nvPr/>
        </p:nvSpPr>
        <p:spPr>
          <a:xfrm>
            <a:off x="6217920" y="1216152"/>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GOVERNANCE</a:t>
            </a:r>
            <a:endParaRPr lang="en-US" sz="1100" dirty="0"/>
          </a:p>
        </p:txBody>
      </p:sp>
      <p:sp>
        <p:nvSpPr>
          <p:cNvPr id="20" name="Text 18"/>
          <p:cNvSpPr txBox="1"/>
          <p:nvPr/>
        </p:nvSpPr>
        <p:spPr>
          <a:xfrm>
            <a:off x="6217920" y="1490472"/>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Board composition · audit committee · executive pay · voting rights · bribery and corruption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Material for every issuer, and the most quantifiable of the three — which is why analysts priced it first.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3383280"/>
          <a:ext cx="8503920" cy="914400"/>
        </p:xfrm>
        <a:graphic>
          <a:graphicData uri="http://schemas.openxmlformats.org/drawingml/2006/table">
            <a:tbl>
              <a:tblPr/>
              <a:tblGrid>
                <a:gridCol w="2377440"/>
                <a:gridCol w="1463040"/>
                <a:gridCol w="46634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Case in the curriculum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Factor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cost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Vale — Brumadinho dam, 2019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Environmental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270 deaths, USD 7bn settlement, rating cut to junk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Equifax — data breach, 2017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Social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140m records stolen, hundreds of USD m in costs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Siemens — bribery, to 2008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Governance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EUR 3bn+ fines, both board chairmen resigned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Corporate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governance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5  ·  Deck 9 of 20  ·  Studio Tonton Gug</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corporation is a chain of principal-agent relationships — every link opens a conflict of interest and an agency cost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3, §2 "Stakeholder Conflicts and Management", Exhibit 1, pp. 70–75.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Shareholders (principal) elect directors (agent); directors (now principal) hire managers (agent). At every link the agent knows more than the principal.</a:t>
            </a:r>
            <a:endParaRPr lang="en-US" sz="1300" dirty="0"/>
          </a:p>
        </p:txBody>
      </p:sp>
      <p:sp>
        <p:nvSpPr>
          <p:cNvPr id="9" name="Shape 7"/>
          <p:cNvSpPr/>
          <p:nvPr/>
        </p:nvSpPr>
        <p:spPr>
          <a:xfrm>
            <a:off x="320040" y="1188720"/>
            <a:ext cx="8503920" cy="502920"/>
          </a:xfrm>
          <a:prstGeom prst="rect">
            <a:avLst/>
          </a:prstGeom>
          <a:solidFill>
            <a:srgbClr val="1B2A4A"/>
          </a:solidFill>
          <a:ln/>
        </p:spPr>
      </p:sp>
      <p:sp>
        <p:nvSpPr>
          <p:cNvPr id="10" name="Text 8"/>
          <p:cNvSpPr txBox="1"/>
          <p:nvPr/>
        </p:nvSpPr>
        <p:spPr>
          <a:xfrm>
            <a:off x="411480" y="1188720"/>
            <a:ext cx="8321040" cy="5029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Agency cost = direct monitoring cost + indirect forgone value</a:t>
            </a:r>
            <a:endParaRPr lang="en-US" sz="1800" dirty="0"/>
          </a:p>
        </p:txBody>
      </p:sp>
      <p:sp>
        <p:nvSpPr>
          <p:cNvPr id="11" name="Shape 9"/>
          <p:cNvSpPr/>
          <p:nvPr/>
        </p:nvSpPr>
        <p:spPr>
          <a:xfrm>
            <a:off x="320040" y="1847088"/>
            <a:ext cx="8503920" cy="457200"/>
          </a:xfrm>
          <a:prstGeom prst="rect">
            <a:avLst/>
          </a:prstGeom>
          <a:solidFill>
            <a:srgbClr val="FFFFFF"/>
          </a:solidFill>
          <a:ln/>
        </p:spPr>
      </p:sp>
      <p:sp>
        <p:nvSpPr>
          <p:cNvPr id="12" name="Shape 10"/>
          <p:cNvSpPr/>
          <p:nvPr/>
        </p:nvSpPr>
        <p:spPr>
          <a:xfrm>
            <a:off x="320040" y="1847088"/>
            <a:ext cx="91440" cy="457200"/>
          </a:xfrm>
          <a:prstGeom prst="rect">
            <a:avLst/>
          </a:prstGeom>
          <a:solidFill>
            <a:srgbClr val="E8600A"/>
          </a:solidFill>
          <a:ln/>
        </p:spPr>
      </p:sp>
      <p:sp>
        <p:nvSpPr>
          <p:cNvPr id="13" name="Text 11"/>
          <p:cNvSpPr txBox="1"/>
          <p:nvPr/>
        </p:nvSpPr>
        <p:spPr>
          <a:xfrm>
            <a:off x="502920" y="1847088"/>
            <a:ext cx="365760" cy="45720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4" name="Text 12"/>
          <p:cNvSpPr txBox="1"/>
          <p:nvPr/>
        </p:nvSpPr>
        <p:spPr>
          <a:xfrm>
            <a:off x="868680" y="1883664"/>
            <a:ext cx="7863840" cy="20574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Insufficient effort</a:t>
            </a:r>
            <a:endParaRPr lang="en-US" sz="1200" dirty="0"/>
          </a:p>
        </p:txBody>
      </p:sp>
      <p:sp>
        <p:nvSpPr>
          <p:cNvPr id="15" name="Text 13"/>
          <p:cNvSpPr txBox="1"/>
          <p:nvPr/>
        </p:nvSpPr>
        <p:spPr>
          <a:xfrm>
            <a:off x="868680" y="2052828"/>
            <a:ext cx="7863840" cy="2514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Shirking: too little monitoring, hard decisions ducked, attention split across outside boards and side projects.</a:t>
            </a:r>
            <a:endParaRPr lang="en-US" sz="1200" dirty="0"/>
          </a:p>
        </p:txBody>
      </p:sp>
      <p:sp>
        <p:nvSpPr>
          <p:cNvPr id="16" name="Shape 14"/>
          <p:cNvSpPr/>
          <p:nvPr/>
        </p:nvSpPr>
        <p:spPr>
          <a:xfrm>
            <a:off x="320040" y="2340864"/>
            <a:ext cx="8503920" cy="457200"/>
          </a:xfrm>
          <a:prstGeom prst="rect">
            <a:avLst/>
          </a:prstGeom>
          <a:solidFill>
            <a:srgbClr val="F5F7FA"/>
          </a:solidFill>
          <a:ln/>
        </p:spPr>
      </p:sp>
      <p:sp>
        <p:nvSpPr>
          <p:cNvPr id="17" name="Shape 15"/>
          <p:cNvSpPr/>
          <p:nvPr/>
        </p:nvSpPr>
        <p:spPr>
          <a:xfrm>
            <a:off x="320040" y="2340864"/>
            <a:ext cx="91440" cy="457200"/>
          </a:xfrm>
          <a:prstGeom prst="rect">
            <a:avLst/>
          </a:prstGeom>
          <a:solidFill>
            <a:srgbClr val="E8600A"/>
          </a:solidFill>
          <a:ln/>
        </p:spPr>
      </p:sp>
      <p:sp>
        <p:nvSpPr>
          <p:cNvPr id="18" name="Text 16"/>
          <p:cNvSpPr txBox="1"/>
          <p:nvPr/>
        </p:nvSpPr>
        <p:spPr>
          <a:xfrm>
            <a:off x="502920" y="2340864"/>
            <a:ext cx="365760" cy="45720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9" name="Text 17"/>
          <p:cNvSpPr txBox="1"/>
          <p:nvPr/>
        </p:nvSpPr>
        <p:spPr>
          <a:xfrm>
            <a:off x="868680" y="2377440"/>
            <a:ext cx="7863840" cy="20574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Inappropriate risk appetite</a:t>
            </a:r>
            <a:endParaRPr lang="en-US" sz="1200" dirty="0"/>
          </a:p>
        </p:txBody>
      </p:sp>
      <p:sp>
        <p:nvSpPr>
          <p:cNvPr id="20" name="Text 18"/>
          <p:cNvSpPr txBox="1"/>
          <p:nvPr/>
        </p:nvSpPr>
        <p:spPr>
          <a:xfrm>
            <a:off x="868680" y="2546604"/>
            <a:ext cx="7863840" cy="2514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All-cash pay makes managers too cautious; options-heavy pay makes them reckless — the upside is theirs, not the downside.</a:t>
            </a:r>
            <a:endParaRPr lang="en-US" sz="1200" dirty="0"/>
          </a:p>
        </p:txBody>
      </p:sp>
      <p:sp>
        <p:nvSpPr>
          <p:cNvPr id="21" name="Shape 19"/>
          <p:cNvSpPr/>
          <p:nvPr/>
        </p:nvSpPr>
        <p:spPr>
          <a:xfrm>
            <a:off x="320040" y="2834640"/>
            <a:ext cx="8503920" cy="457200"/>
          </a:xfrm>
          <a:prstGeom prst="rect">
            <a:avLst/>
          </a:prstGeom>
          <a:solidFill>
            <a:srgbClr val="FFFFFF"/>
          </a:solidFill>
          <a:ln/>
        </p:spPr>
      </p:sp>
      <p:sp>
        <p:nvSpPr>
          <p:cNvPr id="22" name="Shape 20"/>
          <p:cNvSpPr/>
          <p:nvPr/>
        </p:nvSpPr>
        <p:spPr>
          <a:xfrm>
            <a:off x="320040" y="2834640"/>
            <a:ext cx="91440" cy="457200"/>
          </a:xfrm>
          <a:prstGeom prst="rect">
            <a:avLst/>
          </a:prstGeom>
          <a:solidFill>
            <a:srgbClr val="E8600A"/>
          </a:solidFill>
          <a:ln/>
        </p:spPr>
      </p:sp>
      <p:sp>
        <p:nvSpPr>
          <p:cNvPr id="23" name="Text 21"/>
          <p:cNvSpPr txBox="1"/>
          <p:nvPr/>
        </p:nvSpPr>
        <p:spPr>
          <a:xfrm>
            <a:off x="502920" y="2834640"/>
            <a:ext cx="365760" cy="45720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4" name="Text 22"/>
          <p:cNvSpPr txBox="1"/>
          <p:nvPr/>
        </p:nvSpPr>
        <p:spPr>
          <a:xfrm>
            <a:off x="868680" y="2871216"/>
            <a:ext cx="7863840" cy="20574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Empire building</a:t>
            </a:r>
            <a:endParaRPr lang="en-US" sz="1200" dirty="0"/>
          </a:p>
        </p:txBody>
      </p:sp>
      <p:sp>
        <p:nvSpPr>
          <p:cNvPr id="25" name="Text 23"/>
          <p:cNvSpPr txBox="1"/>
          <p:nvPr/>
        </p:nvSpPr>
        <p:spPr>
          <a:xfrm>
            <a:off x="868680" y="3040380"/>
            <a:ext cx="7863840" cy="2514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Pay and status track company size, so growth becomes the objective — acquisitions that enlarge the firm and destroy value.</a:t>
            </a:r>
            <a:endParaRPr lang="en-US" sz="1200" dirty="0"/>
          </a:p>
        </p:txBody>
      </p:sp>
      <p:sp>
        <p:nvSpPr>
          <p:cNvPr id="26" name="Shape 24"/>
          <p:cNvSpPr/>
          <p:nvPr/>
        </p:nvSpPr>
        <p:spPr>
          <a:xfrm>
            <a:off x="320040" y="3328416"/>
            <a:ext cx="8503920" cy="457200"/>
          </a:xfrm>
          <a:prstGeom prst="rect">
            <a:avLst/>
          </a:prstGeom>
          <a:solidFill>
            <a:srgbClr val="F5F7FA"/>
          </a:solidFill>
          <a:ln/>
        </p:spPr>
      </p:sp>
      <p:sp>
        <p:nvSpPr>
          <p:cNvPr id="27" name="Shape 25"/>
          <p:cNvSpPr/>
          <p:nvPr/>
        </p:nvSpPr>
        <p:spPr>
          <a:xfrm>
            <a:off x="320040" y="3328416"/>
            <a:ext cx="91440" cy="457200"/>
          </a:xfrm>
          <a:prstGeom prst="rect">
            <a:avLst/>
          </a:prstGeom>
          <a:solidFill>
            <a:srgbClr val="E8600A"/>
          </a:solidFill>
          <a:ln/>
        </p:spPr>
      </p:sp>
      <p:sp>
        <p:nvSpPr>
          <p:cNvPr id="28" name="Text 26"/>
          <p:cNvSpPr txBox="1"/>
          <p:nvPr/>
        </p:nvSpPr>
        <p:spPr>
          <a:xfrm>
            <a:off x="502920" y="3328416"/>
            <a:ext cx="365760" cy="45720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9" name="Text 27"/>
          <p:cNvSpPr txBox="1"/>
          <p:nvPr/>
        </p:nvSpPr>
        <p:spPr>
          <a:xfrm>
            <a:off x="868680" y="3364992"/>
            <a:ext cx="7863840" cy="20574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Entrenchment</a:t>
            </a:r>
            <a:endParaRPr lang="en-US" sz="1200" dirty="0"/>
          </a:p>
        </p:txBody>
      </p:sp>
      <p:sp>
        <p:nvSpPr>
          <p:cNvPr id="30" name="Text 28"/>
          <p:cNvSpPr txBox="1"/>
          <p:nvPr/>
        </p:nvSpPr>
        <p:spPr>
          <a:xfrm>
            <a:off x="868680" y="3534156"/>
            <a:ext cx="7863840" cy="2514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Job protection: poison pills, staggered boards, copying peers, deals complex enough that only the incumbent can run them.</a:t>
            </a:r>
            <a:endParaRPr lang="en-US" sz="1200" dirty="0"/>
          </a:p>
        </p:txBody>
      </p:sp>
      <p:sp>
        <p:nvSpPr>
          <p:cNvPr id="31" name="Shape 29"/>
          <p:cNvSpPr/>
          <p:nvPr/>
        </p:nvSpPr>
        <p:spPr>
          <a:xfrm>
            <a:off x="320040" y="3822192"/>
            <a:ext cx="8503920" cy="457200"/>
          </a:xfrm>
          <a:prstGeom prst="rect">
            <a:avLst/>
          </a:prstGeom>
          <a:solidFill>
            <a:srgbClr val="FFFFFF"/>
          </a:solidFill>
          <a:ln/>
        </p:spPr>
      </p:sp>
      <p:sp>
        <p:nvSpPr>
          <p:cNvPr id="32" name="Shape 30"/>
          <p:cNvSpPr/>
          <p:nvPr/>
        </p:nvSpPr>
        <p:spPr>
          <a:xfrm>
            <a:off x="320040" y="3822192"/>
            <a:ext cx="91440" cy="457200"/>
          </a:xfrm>
          <a:prstGeom prst="rect">
            <a:avLst/>
          </a:prstGeom>
          <a:solidFill>
            <a:srgbClr val="E8600A"/>
          </a:solidFill>
          <a:ln/>
        </p:spPr>
      </p:sp>
      <p:sp>
        <p:nvSpPr>
          <p:cNvPr id="33" name="Text 31"/>
          <p:cNvSpPr txBox="1"/>
          <p:nvPr/>
        </p:nvSpPr>
        <p:spPr>
          <a:xfrm>
            <a:off x="502920" y="3822192"/>
            <a:ext cx="365760" cy="45720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4" name="Text 32"/>
          <p:cNvSpPr txBox="1"/>
          <p:nvPr/>
        </p:nvSpPr>
        <p:spPr>
          <a:xfrm>
            <a:off x="868680" y="3858768"/>
            <a:ext cx="7863840" cy="20574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Self-dealing</a:t>
            </a:r>
            <a:endParaRPr lang="en-US" sz="1200" dirty="0"/>
          </a:p>
        </p:txBody>
      </p:sp>
      <p:sp>
        <p:nvSpPr>
          <p:cNvPr id="35" name="Text 33"/>
          <p:cNvSpPr txBox="1"/>
          <p:nvPr/>
        </p:nvSpPr>
        <p:spPr>
          <a:xfrm>
            <a:off x="868680" y="4027932"/>
            <a:ext cx="7863840" cy="2514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Excessive perquisites — jets, clubs, personal security — and related-party deals. Owners pay, the manager consumes.</a:t>
            </a:r>
            <a:endParaRPr lang="en-US" sz="1200" dirty="0"/>
          </a:p>
        </p:txBody>
      </p:sp>
      <p:sp>
        <p:nvSpPr>
          <p:cNvPr id="36" name="Text 34"/>
          <p:cNvSpPr txBox="1"/>
          <p:nvPr/>
        </p:nvSpPr>
        <p:spPr>
          <a:xfrm>
            <a:off x="320040" y="4334256"/>
            <a:ext cx="8503920" cy="237744"/>
          </a:xfrm>
          <a:prstGeom prst="rect">
            <a:avLst/>
          </a:prstGeom>
          <a:noFill/>
          <a:ln/>
        </p:spPr>
        <p:txBody>
          <a:bodyPr wrap="square" lIns="508" tIns="508" rIns="508" bIns="508" rtlCol="0" anchor="ctr">
            <a:normAutofit/>
            <a:spAutoFit/>
          </a:bodyPr>
          <a:lstStyle/>
          <a:p>
            <a:pPr algn="l" indent="0" marL="0">
              <a:buNone/>
            </a:pPr>
            <a:r>
              <a:rPr lang="en-US" sz="1100" i="1" dirty="0">
                <a:solidFill>
                  <a:srgbClr val="6B7A8D"/>
                </a:solidFill>
                <a:latin typeface="Calibri" pitchFamily="34" charset="0"/>
                <a:ea typeface="Calibri" pitchFamily="34" charset="-122"/>
                <a:cs typeface="Calibri" pitchFamily="34" charset="-120"/>
              </a:rPr>
              <a:t>These five are the manager ↔ shareholder conflicts. Two further axes follow: controlling ↔ minority shareholders (next slide) and shareholders ↔ creditors.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Pricing one perk turns soft governance talk into a valuation number — and shows why boards fix it for free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company ("Atlas Industrial"), built on the agency-cost framework in CFA Vol 3, Learning Module 3, pp. 70–71. Not a curriculum example.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Perks that look immaterial on a P&amp;L capitalise into large numbers. A governance problem is a valuation problem in disguise.</a:t>
            </a:r>
            <a:endParaRPr lang="en-US" sz="1300" dirty="0"/>
          </a:p>
        </p:txBody>
      </p:sp>
      <p:sp>
        <p:nvSpPr>
          <p:cNvPr id="9" name="Shape 7"/>
          <p:cNvSpPr/>
          <p:nvPr/>
        </p:nvSpPr>
        <p:spPr>
          <a:xfrm>
            <a:off x="320040" y="1188720"/>
            <a:ext cx="8503920" cy="310896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ATLAS INDUSTRIAL — PRICING A SELF-DEALING PERK</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CEO of Atlas uses a company-leased jet for personal travel and the board does not require reimbursement. This is self-dealing — excessive perquisites — not empire building. Atlas' cost of equity is 10% and its marginal tax rate 25%. What is the perk worth to shareholders?</a:t>
            </a:r>
            <a:endParaRPr lang="en-US" sz="1200" dirty="0"/>
          </a:p>
        </p:txBody>
      </p:sp>
      <p:sp>
        <p:nvSpPr>
          <p:cNvPr id="12" name="Text 10"/>
          <p:cNvSpPr txBox="1"/>
          <p:nvPr/>
        </p:nvSpPr>
        <p:spPr>
          <a:xfrm>
            <a:off x="457200" y="2039112"/>
            <a:ext cx="8229600" cy="17465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Annual cost: USD 3.2m lease + USD 0.8m fuel and crew = USD 4.0m pre-tax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The company deducts it, so owners bear 4.0 × (1 − 0.25) = USD 3.0m a year after tax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Capitalise the perpetuity at the cost of equity: PV = 3.0 / 0.10 = USD 30m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On 15m shares that is USD 2.00 per share transferred from owners to one executive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Fix: charge personal legs at charter rates — 2.5m pre-tax is 1.875m after tax, PV 18.75m, USD 1.25 a share</a:t>
            </a:r>
            <a:endParaRPr lang="en-US" sz="1200" dirty="0"/>
          </a:p>
        </p:txBody>
      </p:sp>
      <p:sp>
        <p:nvSpPr>
          <p:cNvPr id="13" name="Shape 11"/>
          <p:cNvSpPr/>
          <p:nvPr/>
        </p:nvSpPr>
        <p:spPr>
          <a:xfrm>
            <a:off x="411480" y="3858768"/>
            <a:ext cx="8321040" cy="365760"/>
          </a:xfrm>
          <a:prstGeom prst="rect">
            <a:avLst/>
          </a:prstGeom>
          <a:solidFill>
            <a:srgbClr val="E8600A"/>
          </a:solidFill>
          <a:ln/>
        </p:spPr>
      </p:sp>
      <p:sp>
        <p:nvSpPr>
          <p:cNvPr id="14" name="Text 12"/>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PV of the agency cost is about USD 30m; the fix recovers USD 18.8m of it.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Concentrated ownership and dual-class shares shift power to insiders — and move the conflict from manager-versus-owner to majority-versus-minority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3, "Controlling and Minority Shareholder Relationships", pp. 72–73.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CFA Institute has long advocated against dual-class structures: they let one group override the will of the majority. Where they are legal, it demands clear disclosure.</a:t>
            </a:r>
            <a:endParaRPr lang="en-US" sz="1300" dirty="0"/>
          </a:p>
        </p:txBody>
      </p:sp>
      <p:sp>
        <p:nvSpPr>
          <p:cNvPr id="9" name="Shape 7"/>
          <p:cNvSpPr/>
          <p:nvPr/>
        </p:nvSpPr>
        <p:spPr>
          <a:xfrm>
            <a:off x="320040" y="1188720"/>
            <a:ext cx="2743200" cy="1920240"/>
          </a:xfrm>
          <a:prstGeom prst="rect">
            <a:avLst/>
          </a:prstGeom>
          <a:solidFill>
            <a:srgbClr val="F5F7FA"/>
          </a:solidFill>
          <a:ln/>
        </p:spPr>
      </p:sp>
      <p:sp>
        <p:nvSpPr>
          <p:cNvPr id="10" name="Shape 8"/>
          <p:cNvSpPr/>
          <p:nvPr/>
        </p:nvSpPr>
        <p:spPr>
          <a:xfrm>
            <a:off x="320040" y="1188720"/>
            <a:ext cx="73152" cy="192024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DISPERSED OWNERSHIP</a:t>
            </a:r>
            <a:endParaRPr lang="en-US" sz="1100" dirty="0"/>
          </a:p>
        </p:txBody>
      </p:sp>
      <p:sp>
        <p:nvSpPr>
          <p:cNvPr id="12" name="Text 10"/>
          <p:cNvSpPr txBox="1"/>
          <p:nvPr/>
        </p:nvSpPr>
        <p:spPr>
          <a:xfrm>
            <a:off x="457200" y="1508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No single holder controls. The live conflict is shareholder ↔ manager. An activist can force change through a proxy contest.</a:t>
            </a:r>
            <a:endParaRPr lang="en-US" sz="1200" dirty="0"/>
          </a:p>
        </p:txBody>
      </p:sp>
      <p:sp>
        <p:nvSpPr>
          <p:cNvPr id="13" name="Shape 11"/>
          <p:cNvSpPr/>
          <p:nvPr/>
        </p:nvSpPr>
        <p:spPr>
          <a:xfrm>
            <a:off x="3200400" y="1188720"/>
            <a:ext cx="2743200" cy="1920240"/>
          </a:xfrm>
          <a:prstGeom prst="rect">
            <a:avLst/>
          </a:prstGeom>
          <a:solidFill>
            <a:srgbClr val="FEF0E7"/>
          </a:solidFill>
          <a:ln/>
        </p:spPr>
      </p:sp>
      <p:sp>
        <p:nvSpPr>
          <p:cNvPr id="14" name="Shape 12"/>
          <p:cNvSpPr/>
          <p:nvPr/>
        </p:nvSpPr>
        <p:spPr>
          <a:xfrm>
            <a:off x="3200400" y="1188720"/>
            <a:ext cx="73152" cy="192024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CONCENTRATED OWNERSHIP</a:t>
            </a:r>
            <a:endParaRPr lang="en-US" sz="1100" dirty="0"/>
          </a:p>
        </p:txBody>
      </p:sp>
      <p:sp>
        <p:nvSpPr>
          <p:cNvPr id="16" name="Text 14"/>
          <p:cNvSpPr txBox="1"/>
          <p:nvPr/>
        </p:nvSpPr>
        <p:spPr>
          <a:xfrm>
            <a:off x="3337560" y="1508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founder, family, PE house or the state holds a controlling stake. The conflict shifts to controlling ↔ minority. It also buffers the firm from a hostile bid.</a:t>
            </a:r>
            <a:endParaRPr lang="en-US" sz="1200" dirty="0"/>
          </a:p>
        </p:txBody>
      </p:sp>
      <p:sp>
        <p:nvSpPr>
          <p:cNvPr id="17" name="Shape 15"/>
          <p:cNvSpPr/>
          <p:nvPr/>
        </p:nvSpPr>
        <p:spPr>
          <a:xfrm>
            <a:off x="6080760" y="1188720"/>
            <a:ext cx="2743200" cy="1920240"/>
          </a:xfrm>
          <a:prstGeom prst="rect">
            <a:avLst/>
          </a:prstGeom>
          <a:solidFill>
            <a:srgbClr val="F5F7FA"/>
          </a:solidFill>
          <a:ln/>
        </p:spPr>
      </p:sp>
      <p:sp>
        <p:nvSpPr>
          <p:cNvPr id="18" name="Shape 16"/>
          <p:cNvSpPr/>
          <p:nvPr/>
        </p:nvSpPr>
        <p:spPr>
          <a:xfrm>
            <a:off x="6080760" y="1188720"/>
            <a:ext cx="73152" cy="192024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DUAL-CLASS SHARES</a:t>
            </a:r>
            <a:endParaRPr lang="en-US" sz="1100" dirty="0"/>
          </a:p>
        </p:txBody>
      </p:sp>
      <p:sp>
        <p:nvSpPr>
          <p:cNvPr id="20" name="Text 18"/>
          <p:cNvSpPr txBox="1"/>
          <p:nvPr/>
        </p:nvSpPr>
        <p:spPr>
          <a:xfrm>
            <a:off x="6217920" y="1508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Class A, listed, one vote. Class B, insiders, many votes. A small economic stake controls the company — and once adopted the structure is very hard to unwind.</a:t>
            </a:r>
            <a:endParaRPr lang="en-US" sz="1200" dirty="0"/>
          </a:p>
        </p:txBody>
      </p:sp>
      <p:sp>
        <p:nvSpPr>
          <p:cNvPr id="21" name="Shape 19"/>
          <p:cNvSpPr/>
          <p:nvPr/>
        </p:nvSpPr>
        <p:spPr>
          <a:xfrm>
            <a:off x="320040" y="3246120"/>
            <a:ext cx="8503920" cy="1097280"/>
          </a:xfrm>
          <a:prstGeom prst="rect">
            <a:avLst/>
          </a:prstGeom>
          <a:solidFill>
            <a:srgbClr val="FEF0E7"/>
          </a:solidFill>
          <a:ln w="9525">
            <a:solidFill>
              <a:srgbClr val="E8600A"/>
            </a:solidFill>
            <a:prstDash val="solid"/>
          </a:ln>
        </p:spPr>
      </p:sp>
      <p:sp>
        <p:nvSpPr>
          <p:cNvPr id="22" name="Text 20"/>
          <p:cNvSpPr txBox="1"/>
          <p:nvPr/>
        </p:nvSpPr>
        <p:spPr>
          <a:xfrm>
            <a:off x="457200" y="32918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MAGNA INTERNATIONAL — HOW 3% OF THE SHARES CONTROLLED 75% OF THE VOTES</a:t>
            </a:r>
            <a:endParaRPr lang="en-US" sz="1100" dirty="0"/>
          </a:p>
        </p:txBody>
      </p:sp>
      <p:sp>
        <p:nvSpPr>
          <p:cNvPr id="23" name="Text 21"/>
          <p:cNvSpPr txBox="1"/>
          <p:nvPr/>
        </p:nvSpPr>
        <p:spPr>
          <a:xfrm>
            <a:off x="457200" y="35844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Class A carried one vote, Class B carried 500. Frank Stronach and his family held about 3% of Magna's shares and 75% of the votes, while drawing consulting fees, salaries, bonuses and options through a weak share price.</a:t>
            </a:r>
            <a:endParaRPr lang="en-US" sz="1200" dirty="0"/>
          </a:p>
        </p:txBody>
      </p:sp>
      <p:sp>
        <p:nvSpPr>
          <p:cNvPr id="24" name="Shape 22"/>
          <p:cNvSpPr/>
          <p:nvPr/>
        </p:nvSpPr>
        <p:spPr>
          <a:xfrm>
            <a:off x="411480" y="3904488"/>
            <a:ext cx="8321040" cy="365760"/>
          </a:xfrm>
          <a:prstGeom prst="rect">
            <a:avLst/>
          </a:prstGeom>
          <a:solidFill>
            <a:srgbClr val="E8600A"/>
          </a:solidFill>
          <a:ln/>
        </p:spPr>
      </p:sp>
      <p:sp>
        <p:nvSpPr>
          <p:cNvPr id="25" name="Text 23"/>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Shareholders voted to collapse to one class — and paid CAD 870m over five years.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Governance mechanisms fall into seven categories — each one built for a specific principal-agent conflict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3, §3 "Corporate Governance Mechanisms", pp. 76–83.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Reporting shrinks information asymmetry; shareholder, creditor and employee mechanisms police the contract; board and government mechanisms set the rules of the game.</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70432"/>
          <a:ext cx="8503920" cy="914400"/>
        </p:xfrm>
        <a:graphic>
          <a:graphicData uri="http://schemas.openxmlformats.org/drawingml/2006/table">
            <a:tbl>
              <a:tblPr/>
              <a:tblGrid>
                <a:gridCol w="2103120"/>
                <a:gridCol w="420624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Primary tools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Conflict it targets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Reporting &amp; transparency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Audited accounts, proxy, disclosure, IR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Information asymmetry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Shareholder mechanisms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AGM, EGM, proxy contest, say-on-pay, activism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Manager ↔ shareholder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Creditor mechanisms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Indenture, covenants, trustee, ad hoc cttee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Shareholder ↔ creditor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Board &amp; management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Audit / Nom / Comp committees, LTIPs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Manager ↔ shareholder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Employee mechanisms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Labour law, unions, contracts, ESOPs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Firm ↔ employees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Customer &amp; supplier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Commercial contracts, warranties, recourse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Firm ↔ counterparties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Government / regulator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Securities law, governance codes, SOX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Issuer ↔ society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74720"/>
            <a:ext cx="8503920" cy="868680"/>
          </a:xfrm>
          <a:prstGeom prst="rect">
            <a:avLst/>
          </a:prstGeom>
          <a:solidFill>
            <a:srgbClr val="FEF0E7"/>
          </a:solidFill>
          <a:ln/>
        </p:spPr>
      </p:sp>
      <p:sp>
        <p:nvSpPr>
          <p:cNvPr id="11" name="Shape 8"/>
          <p:cNvSpPr/>
          <p:nvPr/>
        </p:nvSpPr>
        <p:spPr>
          <a:xfrm>
            <a:off x="320040" y="3474720"/>
            <a:ext cx="73152" cy="868680"/>
          </a:xfrm>
          <a:prstGeom prst="rect">
            <a:avLst/>
          </a:prstGeom>
          <a:solidFill>
            <a:srgbClr val="E8600A"/>
          </a:solidFill>
          <a:ln/>
        </p:spPr>
      </p:sp>
      <p:sp>
        <p:nvSpPr>
          <p:cNvPr id="12" name="Text 9"/>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COMPLY OR EXPLAIN</a:t>
            </a:r>
            <a:endParaRPr lang="en-US" sz="1100" dirty="0"/>
          </a:p>
        </p:txBody>
      </p:sp>
      <p:sp>
        <p:nvSpPr>
          <p:cNvPr id="13" name="Text 10"/>
          <p:cNvSpPr txBox="1"/>
          <p:nvPr/>
        </p:nvSpPr>
        <p:spPr>
          <a:xfrm>
            <a:off x="457200" y="379476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Most jurisdictions run a "comply or explain" code — adopt the recommended practice, or publicly justify the departure. Japan, for instance, makes a company with no outside directors say why. The US has no national code at all: it relies on the Securities Act and Sarbanes-Oxley, SEC enforcement, exchange listing rules, and Delaware corporate law.</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Three core board committees — Audit, Nominating/Governance, Compensation — put independence exactly where it is needed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3, "Board and Management Mechanisms", Exhibit 2, pp. 80–82.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Committees do the first-level work and report up; the board cannot delegate its ultimate responsibility. Best practice on all three: composed of independent directors.</a:t>
            </a:r>
            <a:endParaRPr lang="en-US" sz="1300" dirty="0"/>
          </a:p>
        </p:txBody>
      </p:sp>
      <p:sp>
        <p:nvSpPr>
          <p:cNvPr id="9" name="Shape 7"/>
          <p:cNvSpPr/>
          <p:nvPr/>
        </p:nvSpPr>
        <p:spPr>
          <a:xfrm>
            <a:off x="320040" y="1188720"/>
            <a:ext cx="2743200" cy="3108960"/>
          </a:xfrm>
          <a:prstGeom prst="rect">
            <a:avLst/>
          </a:prstGeom>
          <a:solidFill>
            <a:srgbClr val="FEF0E7"/>
          </a:solidFill>
          <a:ln/>
        </p:spPr>
      </p:sp>
      <p:sp>
        <p:nvSpPr>
          <p:cNvPr id="10" name="Shape 8"/>
          <p:cNvSpPr/>
          <p:nvPr/>
        </p:nvSpPr>
        <p:spPr>
          <a:xfrm>
            <a:off x="320040" y="1188720"/>
            <a:ext cx="73152" cy="3108960"/>
          </a:xfrm>
          <a:prstGeom prst="rect">
            <a:avLst/>
          </a:prstGeom>
          <a:solidFill>
            <a:srgbClr val="E8600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AUDIT COMMITTEE</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Mandate: integrity of financial reporting, accounting policy, internal audit, appointment and fee of the external auditor, whistleblower channel — sometimes IT security too.</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Best practice: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Solely independent directors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At least one with accounting or financial expertise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Meets the auditor without management present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Red flag: an executive sitting on it.</a:t>
            </a:r>
            <a:endParaRPr lang="en-US" sz="1200" dirty="0"/>
          </a:p>
        </p:txBody>
      </p:sp>
      <p:sp>
        <p:nvSpPr>
          <p:cNvPr id="13" name="Shape 11"/>
          <p:cNvSpPr/>
          <p:nvPr/>
        </p:nvSpPr>
        <p:spPr>
          <a:xfrm>
            <a:off x="3200400" y="1188720"/>
            <a:ext cx="2743200" cy="3108960"/>
          </a:xfrm>
          <a:prstGeom prst="rect">
            <a:avLst/>
          </a:prstGeom>
          <a:solidFill>
            <a:srgbClr val="F5F7FA"/>
          </a:solidFill>
          <a:ln/>
        </p:spPr>
      </p:sp>
      <p:sp>
        <p:nvSpPr>
          <p:cNvPr id="14" name="Shape 12"/>
          <p:cNvSpPr/>
          <p:nvPr/>
        </p:nvSpPr>
        <p:spPr>
          <a:xfrm>
            <a:off x="3200400" y="1188720"/>
            <a:ext cx="73152" cy="3108960"/>
          </a:xfrm>
          <a:prstGeom prst="rect">
            <a:avLst/>
          </a:prstGeom>
          <a:solidFill>
            <a:srgbClr val="1B2A4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NOMINATING / GOVERNANCE</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Mandate: director selection and the board election process, board composition and balance, the governance code, the board charter, the code of ethics, the conflicts-of-interest policy.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Best practice: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Independent members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Explicit skills matrix</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Annual board evaluation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Red flag: the CEO picking the directors.</a:t>
            </a:r>
            <a:endParaRPr lang="en-US" sz="1200" dirty="0"/>
          </a:p>
        </p:txBody>
      </p:sp>
      <p:sp>
        <p:nvSpPr>
          <p:cNvPr id="17" name="Shape 15"/>
          <p:cNvSpPr/>
          <p:nvPr/>
        </p:nvSpPr>
        <p:spPr>
          <a:xfrm>
            <a:off x="6080760" y="1188720"/>
            <a:ext cx="2743200" cy="3108960"/>
          </a:xfrm>
          <a:prstGeom prst="rect">
            <a:avLst/>
          </a:prstGeom>
          <a:solidFill>
            <a:srgbClr val="FEF0E7"/>
          </a:solidFill>
          <a:ln/>
        </p:spPr>
      </p:sp>
      <p:sp>
        <p:nvSpPr>
          <p:cNvPr id="18" name="Shape 16"/>
          <p:cNvSpPr/>
          <p:nvPr/>
        </p:nvSpPr>
        <p:spPr>
          <a:xfrm>
            <a:off x="6080760" y="1188720"/>
            <a:ext cx="73152" cy="3108960"/>
          </a:xfrm>
          <a:prstGeom prst="rect">
            <a:avLst/>
          </a:prstGeom>
          <a:solidFill>
            <a:srgbClr val="E8600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COMPENSATION</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Mandate: pay policy for directors and key executives, performance criteria, equity grants, the say-on-pay vote.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Best practice: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All members independent — management must not assess itself</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Shares rather than options, vesting over years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Clawback provision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Red flag: a one-year cash bonus on a single metric.</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Weak governance raises the cost of capital — Theranos, Volkswagen and Kobe Steel each priced it differently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Evidence cited by CFA: Gompers-Ishii-Metrick (2003) on governance and valuation; Bhojraj-Sengupta (2003) on bond ratings and yields.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3, §4 case boxes, pp. 86–88; Kobe Steel is Practice Problems 1–5, pp. 92–94.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Three failures, three transmission channels: a total equity loss, a legal and reputational bill, and a step change in the cost of debt.</a:t>
            </a:r>
            <a:endParaRPr lang="en-US" sz="1300" dirty="0"/>
          </a:p>
        </p:txBody>
      </p:sp>
      <p:sp>
        <p:nvSpPr>
          <p:cNvPr id="10" name="Shape 8"/>
          <p:cNvSpPr/>
          <p:nvPr/>
        </p:nvSpPr>
        <p:spPr>
          <a:xfrm>
            <a:off x="320040" y="1188720"/>
            <a:ext cx="2743200" cy="3017520"/>
          </a:xfrm>
          <a:prstGeom prst="rect">
            <a:avLst/>
          </a:prstGeom>
          <a:solidFill>
            <a:srgbClr val="F5F7FA"/>
          </a:solidFill>
          <a:ln/>
        </p:spPr>
      </p:sp>
      <p:sp>
        <p:nvSpPr>
          <p:cNvPr id="11" name="Shape 9"/>
          <p:cNvSpPr/>
          <p:nvPr/>
        </p:nvSpPr>
        <p:spPr>
          <a:xfrm>
            <a:off x="320040" y="1188720"/>
            <a:ext cx="73152" cy="3017520"/>
          </a:xfrm>
          <a:prstGeom prst="rect">
            <a:avLst/>
          </a:prstGeom>
          <a:solidFill>
            <a:srgbClr val="B71C1C"/>
          </a:solidFill>
          <a:ln/>
        </p:spPr>
      </p:sp>
      <p:sp>
        <p:nvSpPr>
          <p:cNvPr id="12" name="Text 10"/>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THERANOS  (US, 2003–18)</a:t>
            </a:r>
            <a:endParaRPr lang="en-US" sz="1100" dirty="0"/>
          </a:p>
        </p:txBody>
      </p:sp>
      <p:sp>
        <p:nvSpPr>
          <p:cNvPr id="13" name="Text 11"/>
          <p:cNvSpPr txBox="1"/>
          <p:nvPr/>
        </p:nvSpPr>
        <p:spPr>
          <a:xfrm>
            <a:off x="457200" y="160020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 celebrated board with almost no medical-technology expertise, which dismissed whistleblowers and never hired an independent expert.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Raised over USD 700m; valued at USD 10bn in 2014</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Worth zero by 2018; operations ceased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Founder convicted on four counts of fraud, 2022</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Root cause: inadequate board composition and oversight.</a:t>
            </a:r>
            <a:endParaRPr lang="en-US" sz="1100" dirty="0"/>
          </a:p>
        </p:txBody>
      </p:sp>
      <p:sp>
        <p:nvSpPr>
          <p:cNvPr id="14" name="Shape 12"/>
          <p:cNvSpPr/>
          <p:nvPr/>
        </p:nvSpPr>
        <p:spPr>
          <a:xfrm>
            <a:off x="3200400" y="1188720"/>
            <a:ext cx="2743200" cy="3017520"/>
          </a:xfrm>
          <a:prstGeom prst="rect">
            <a:avLst/>
          </a:prstGeom>
          <a:solidFill>
            <a:srgbClr val="F5F7FA"/>
          </a:solidFill>
          <a:ln/>
        </p:spPr>
      </p:sp>
      <p:sp>
        <p:nvSpPr>
          <p:cNvPr id="15" name="Shape 13"/>
          <p:cNvSpPr/>
          <p:nvPr/>
        </p:nvSpPr>
        <p:spPr>
          <a:xfrm>
            <a:off x="3200400" y="1188720"/>
            <a:ext cx="73152" cy="3017520"/>
          </a:xfrm>
          <a:prstGeom prst="rect">
            <a:avLst/>
          </a:prstGeom>
          <a:solidFill>
            <a:srgbClr val="B71C1C"/>
          </a:solidFill>
          <a:ln/>
        </p:spPr>
      </p:sp>
      <p:sp>
        <p:nvSpPr>
          <p:cNvPr id="16" name="Text 14"/>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VOLKSWAGEN  (DE, DIESELGATE)</a:t>
            </a:r>
            <a:endParaRPr lang="en-US" sz="1100" dirty="0"/>
          </a:p>
        </p:txBody>
      </p:sp>
      <p:sp>
        <p:nvSpPr>
          <p:cNvPr id="17" name="Text 15"/>
          <p:cNvSpPr txBox="1"/>
          <p:nvPr/>
        </p:nvSpPr>
        <p:spPr>
          <a:xfrm>
            <a:off x="3337560" y="160020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Illegal "defeat device" software fitted to as many as 11m VW and Audi cars, denied for a year before the 2015 admission.</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Share price fell over a third within days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EUR 32bn of recalls, fines and legal costs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CEO resigned, then indicted in the US and Germany</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Root cause: weak board independence and no oversight of the teams that installed it.</a:t>
            </a:r>
            <a:endParaRPr lang="en-US" sz="1100" dirty="0"/>
          </a:p>
        </p:txBody>
      </p:sp>
      <p:sp>
        <p:nvSpPr>
          <p:cNvPr id="18" name="Shape 16"/>
          <p:cNvSpPr/>
          <p:nvPr/>
        </p:nvSpPr>
        <p:spPr>
          <a:xfrm>
            <a:off x="6080760" y="1188720"/>
            <a:ext cx="2743200" cy="3017520"/>
          </a:xfrm>
          <a:prstGeom prst="rect">
            <a:avLst/>
          </a:prstGeom>
          <a:solidFill>
            <a:srgbClr val="F5F7FA"/>
          </a:solidFill>
          <a:ln/>
        </p:spPr>
      </p:sp>
      <p:sp>
        <p:nvSpPr>
          <p:cNvPr id="19" name="Shape 17"/>
          <p:cNvSpPr/>
          <p:nvPr/>
        </p:nvSpPr>
        <p:spPr>
          <a:xfrm>
            <a:off x="6080760" y="1188720"/>
            <a:ext cx="73152" cy="3017520"/>
          </a:xfrm>
          <a:prstGeom prst="rect">
            <a:avLst/>
          </a:prstGeom>
          <a:solidFill>
            <a:srgbClr val="B71C1C"/>
          </a:solidFill>
          <a:ln/>
        </p:spPr>
      </p:sp>
      <p:sp>
        <p:nvSpPr>
          <p:cNvPr id="20" name="Text 18"/>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KOBE STEEL  (JP, 2017–18)</a:t>
            </a:r>
            <a:endParaRPr lang="en-US" sz="1100" dirty="0"/>
          </a:p>
        </p:txBody>
      </p:sp>
      <p:sp>
        <p:nvSpPr>
          <p:cNvPr id="21" name="Text 19"/>
          <p:cNvSpPr txBox="1"/>
          <p:nvPr/>
        </p:nvSpPr>
        <p:spPr>
          <a:xfrm>
            <a:off x="6217920" y="160020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Strength and durability data falsified for aluminium, copper, steel and iron ore powder; admitted in March 2018.</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Stock to a five-year low</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Cost of debt jumped to record levels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Remedy: independent chair, a third of the board independent, three independents on a five-member audit committee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Root cause: a culture putting orders and deadlines ahead of quality, with no quality-control oversight.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Capital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structure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5  ·  Deck 9 of 20  ·  Studio Tonton Gug</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WACC blends the after-tax cost of debt with the cost of equity — the single most important discount rate in corporate finance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Equation 1 states WACC without the tax term; the (1 − t) factor applies to the cost of debt wherever interest is deductible.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§2 "The Cost of Capital", Equation 1 and Knowledge Check: Computing WACC, pp. 178–182.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WACC is three things at once: the r in an NPV, the hurdle rate for an IRR, and the return investors require weighted by how the firm is financed.</a:t>
            </a:r>
            <a:endParaRPr lang="en-US" sz="1300" dirty="0"/>
          </a:p>
        </p:txBody>
      </p:sp>
      <p:sp>
        <p:nvSpPr>
          <p:cNvPr id="10" name="Shape 8"/>
          <p:cNvSpPr/>
          <p:nvPr/>
        </p:nvSpPr>
        <p:spPr>
          <a:xfrm>
            <a:off x="320040" y="1170432"/>
            <a:ext cx="8503920" cy="566928"/>
          </a:xfrm>
          <a:prstGeom prst="rect">
            <a:avLst/>
          </a:prstGeom>
          <a:solidFill>
            <a:srgbClr val="1B2A4A"/>
          </a:solidFill>
          <a:ln/>
        </p:spPr>
      </p:sp>
      <p:sp>
        <p:nvSpPr>
          <p:cNvPr id="11" name="Text 9"/>
          <p:cNvSpPr txBox="1"/>
          <p:nvPr/>
        </p:nvSpPr>
        <p:spPr>
          <a:xfrm>
            <a:off x="411480" y="117043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WACC  =  w_d · r_d · (1 − t)   +   w_e · r_e</a:t>
            </a:r>
            <a:endParaRPr lang="en-US" sz="1800" dirty="0"/>
          </a:p>
        </p:txBody>
      </p:sp>
      <p:sp>
        <p:nvSpPr>
          <p:cNvPr id="12" name="Text 10"/>
          <p:cNvSpPr txBox="1"/>
          <p:nvPr/>
        </p:nvSpPr>
        <p:spPr>
          <a:xfrm>
            <a:off x="320040" y="17647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w_d, w_e = market-value weights, or management's target (usually set on book values); r_d = pre-tax cost of debt; r_e = cost of equity; t = marginal tax rate.</a:t>
            </a:r>
            <a:endParaRPr lang="en-US" sz="1100" dirty="0"/>
          </a:p>
        </p:txBody>
      </p:sp>
      <p:sp>
        <p:nvSpPr>
          <p:cNvPr id="13" name="Shape 11"/>
          <p:cNvSpPr/>
          <p:nvPr/>
        </p:nvSpPr>
        <p:spPr>
          <a:xfrm>
            <a:off x="320040" y="2084832"/>
            <a:ext cx="8503920" cy="2212848"/>
          </a:xfrm>
          <a:prstGeom prst="rect">
            <a:avLst/>
          </a:prstGeom>
          <a:solidFill>
            <a:srgbClr val="FEF0E7"/>
          </a:solidFill>
          <a:ln w="9525">
            <a:solidFill>
              <a:srgbClr val="E8600A"/>
            </a:solidFill>
            <a:prstDash val="solid"/>
          </a:ln>
        </p:spPr>
      </p:sp>
      <p:sp>
        <p:nvSpPr>
          <p:cNvPr id="14" name="Text 12"/>
          <p:cNvSpPr txBox="1"/>
          <p:nvPr/>
        </p:nvSpPr>
        <p:spPr>
          <a:xfrm>
            <a:off x="457200" y="21305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KNOWLEDGE CHECK — ABC CORPORATION</a:t>
            </a:r>
            <a:endParaRPr lang="en-US" sz="1100" dirty="0"/>
          </a:p>
        </p:txBody>
      </p:sp>
      <p:sp>
        <p:nvSpPr>
          <p:cNvPr id="15" name="Text 13"/>
          <p:cNvSpPr txBox="1"/>
          <p:nvPr/>
        </p:nvSpPr>
        <p:spPr>
          <a:xfrm>
            <a:off x="457200" y="24231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ABC is financed 40% debt / 60% equity and intends to keep those proportions. Debt investors require 4% before tax, equity investors 10%. The marginal tax rate is 23% and interest is deductible.</a:t>
            </a:r>
            <a:endParaRPr lang="en-US" sz="1200" dirty="0"/>
          </a:p>
        </p:txBody>
      </p:sp>
      <p:sp>
        <p:nvSpPr>
          <p:cNvPr id="16" name="Text 14"/>
          <p:cNvSpPr txBox="1"/>
          <p:nvPr/>
        </p:nvSpPr>
        <p:spPr>
          <a:xfrm>
            <a:off x="457200" y="2935224"/>
            <a:ext cx="8229600" cy="850392"/>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After-tax cost of debt: 4% × (1 − 0.23) = 3.08%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Debt contribution: 0.40 × 3.08% = 1.23%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Equity contribution: 0.60 × 10% = 6.00%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WACC = 1.23% + 6.00% = 7.23%</a:t>
            </a:r>
            <a:endParaRPr lang="en-US" sz="11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WACC = 7.23% — the rate for a project of average firm risk.</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Book weights and market weights give different answers — and for a cost of capital it is the market weights that count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Market weights for the WACC; but management targets, covenant tests and rating-agency ratios are all stated on book values.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company ("Meridian Corp") built on CFA Vol 3, Learning Module 6, §2, pp. 178–182. The curriculum works the same point in Question Set 3–4, pp. 181–182.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Market values are what investors could realise today, so they measure opportunity cost. Book values are what was paid, years ago.</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3840480"/>
                <a:gridCol w="1280160"/>
                <a:gridCol w="1280160"/>
                <a:gridCol w="1051560"/>
                <a:gridCol w="1051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Meridian Corp — capital stack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Book value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Market value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BV 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MV 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Long-term debt (5.0% coupon, 7y, YTM 4.0%)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Common equity (60m shares × USD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1,620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1" name="Shape 8"/>
          <p:cNvSpPr/>
          <p:nvPr/>
        </p:nvSpPr>
        <p:spPr>
          <a:xfrm>
            <a:off x="320040" y="2267712"/>
            <a:ext cx="8503920" cy="2029968"/>
          </a:xfrm>
          <a:prstGeom prst="rect">
            <a:avLst/>
          </a:prstGeom>
          <a:solidFill>
            <a:srgbClr val="FEF0E7"/>
          </a:solidFill>
          <a:ln w="9525">
            <a:solidFill>
              <a:srgbClr val="E8600A"/>
            </a:solidFill>
            <a:prstDash val="solid"/>
          </a:ln>
        </p:spPr>
      </p:sp>
      <p:sp>
        <p:nvSpPr>
          <p:cNvPr id="12" name="Text 9"/>
          <p:cNvSpPr txBox="1"/>
          <p:nvPr/>
        </p:nvSpPr>
        <p:spPr>
          <a:xfrm>
            <a:off x="457200" y="231343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ASSEMBLE THE WACC — MARGINAL TAX RATE 25%</a:t>
            </a:r>
            <a:endParaRPr lang="en-US" sz="1100" dirty="0"/>
          </a:p>
        </p:txBody>
      </p:sp>
      <p:sp>
        <p:nvSpPr>
          <p:cNvPr id="13" name="Text 10"/>
          <p:cNvSpPr txBox="1"/>
          <p:nvPr/>
        </p:nvSpPr>
        <p:spPr>
          <a:xfrm>
            <a:off x="457200" y="260604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Pre-tax cost of debt = YTM = 4.0%. Cost of equity from CAPM = 9.5%. Use market-value weights.</a:t>
            </a:r>
            <a:endParaRPr lang="en-US" sz="1200" dirty="0"/>
          </a:p>
        </p:txBody>
      </p:sp>
      <p:sp>
        <p:nvSpPr>
          <p:cNvPr id="14" name="Text 11"/>
          <p:cNvSpPr txBox="1"/>
          <p:nvPr/>
        </p:nvSpPr>
        <p:spPr>
          <a:xfrm>
            <a:off x="457200" y="3118104"/>
            <a:ext cx="8229600" cy="667512"/>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After-tax cost of debt: 4.0% × (1 − 0.25) = 3.00%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Debt contribution: 0.26 × 3.00% = 0.78%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Equity contribution: 0.74 × 9.50% = 7.03%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WACC = 0.78% + 7.03% = 7.81% on market weights, against 7.33% on book weights</a:t>
            </a:r>
            <a:endParaRPr lang="en-US" sz="1100" dirty="0"/>
          </a:p>
        </p:txBody>
      </p:sp>
      <p:sp>
        <p:nvSpPr>
          <p:cNvPr id="15" name="Shape 12"/>
          <p:cNvSpPr/>
          <p:nvPr/>
        </p:nvSpPr>
        <p:spPr>
          <a:xfrm>
            <a:off x="411480" y="3858768"/>
            <a:ext cx="8321040" cy="365760"/>
          </a:xfrm>
          <a:prstGeom prst="rect">
            <a:avLst/>
          </a:prstGeom>
          <a:solidFill>
            <a:srgbClr val="E8600A"/>
          </a:solidFill>
          <a:ln/>
        </p:spPr>
      </p:sp>
      <p:sp>
        <p:nvSpPr>
          <p:cNvPr id="16"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WACC = 7.81%. Book weights flatter the firm by 48bp.</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Business model and life-cycle stage set the mix — startups, growth firms and mature firms are financed in visibly different ways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§3 "Factors Affecting Capital Structure", Exhibit 2, pp. 185–186.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Business risk falls and free cash flow stabilises as a firm matures, so lenders respond with bigger cheques, tighter spreads and looser terms — in that order.</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94560"/>
                <a:gridCol w="2103120"/>
                <a:gridCol w="210312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Life-cycle 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Startup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Growth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Revenue growth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Initial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Slowing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Free cash flow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Rising, often still &lt;0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Stable, positive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Business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Medium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Debt availability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Little or 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Typical debt type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Convertible, leases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Typical equity source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Founders, VC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Growth equity, PE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Retained earnings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Illustrative firm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Biotech pre-approval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Tesla circa 2015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Coca-Cola, P&amp;G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520440"/>
            <a:ext cx="8503920" cy="777240"/>
          </a:xfrm>
          <a:prstGeom prst="rect">
            <a:avLst/>
          </a:prstGeom>
          <a:solidFill>
            <a:srgbClr val="FEF0E7"/>
          </a:solidFill>
          <a:ln/>
        </p:spPr>
      </p:sp>
      <p:sp>
        <p:nvSpPr>
          <p:cNvPr id="11" name="Shape 8"/>
          <p:cNvSpPr/>
          <p:nvPr/>
        </p:nvSpPr>
        <p:spPr>
          <a:xfrm>
            <a:off x="320040" y="3520440"/>
            <a:ext cx="73152" cy="777240"/>
          </a:xfrm>
          <a:prstGeom prst="rect">
            <a:avLst/>
          </a:prstGeom>
          <a:solidFill>
            <a:srgbClr val="E8600A"/>
          </a:solidFill>
          <a:ln/>
        </p:spPr>
      </p:sp>
      <p:sp>
        <p:nvSpPr>
          <p:cNvPr id="12" name="Text 9"/>
          <p:cNvSpPr txBox="1"/>
          <p:nvPr/>
        </p:nvSpPr>
        <p:spPr>
          <a:xfrm>
            <a:off x="457200" y="35661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CAPITAL INTENSITY CUTS ACROSS EVERY STAGE</a:t>
            </a:r>
            <a:endParaRPr lang="en-US" sz="1100" dirty="0"/>
          </a:p>
        </p:txBody>
      </p:sp>
      <p:sp>
        <p:nvSpPr>
          <p:cNvPr id="13" name="Text 10"/>
          <p:cNvSpPr txBox="1"/>
          <p:nvPr/>
        </p:nvSpPr>
        <p:spPr>
          <a:xfrm>
            <a:off x="457200" y="384048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Uber and Airbnb run capital-light networks; utilities, semiconductors and airlines are capital-intensive. Intensity decides HOW MUCH capital is needed; the life-cycle stage decides WHAT TYPE — and CFA Exhibit 2 maps that stage straight onto convertible, then secured, then unsecured.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MM Proposition I without taxes: in a frictionless world capital structure is irrelevant — value is the PV of the cash flows, full stop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§4 "Capital Structure Irrelevance (MM Proposition I without Taxes)", Exhibit 3, pp. 193–195.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Modigliani and Miller, 1958 — the starting point of modern corporate finance, and the benchmark against which every real-world deviation gets measured.</a:t>
            </a:r>
            <a:endParaRPr lang="en-US" sz="1300" dirty="0"/>
          </a:p>
        </p:txBody>
      </p:sp>
      <p:sp>
        <p:nvSpPr>
          <p:cNvPr id="9" name="Shape 7"/>
          <p:cNvSpPr/>
          <p:nvPr/>
        </p:nvSpPr>
        <p:spPr>
          <a:xfrm>
            <a:off x="320040" y="1188720"/>
            <a:ext cx="8503920" cy="566928"/>
          </a:xfrm>
          <a:prstGeom prst="rect">
            <a:avLst/>
          </a:prstGeom>
          <a:solidFill>
            <a:srgbClr val="1B2A4A"/>
          </a:solidFill>
          <a:ln/>
        </p:spPr>
      </p:sp>
      <p:sp>
        <p:nvSpPr>
          <p:cNvPr id="10" name="Text 8"/>
          <p:cNvSpPr txBox="1"/>
          <p:nvPr/>
        </p:nvSpPr>
        <p:spPr>
          <a:xfrm>
            <a:off x="411480" y="118872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V_L  =  V_U      —      and WACC is unaffected by the mix</a:t>
            </a:r>
            <a:endParaRPr lang="en-US" sz="1800" dirty="0"/>
          </a:p>
        </p:txBody>
      </p:sp>
      <p:sp>
        <p:nvSpPr>
          <p:cNvPr id="11" name="Text 9"/>
          <p:cNvSpPr txBox="1"/>
          <p:nvPr/>
        </p:nvSpPr>
        <p:spPr>
          <a:xfrm>
            <a:off x="320040" y="178308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V_L = value of the levered firm; V_U = value of the same firm all-equity. Holds only under the five MM assumptions below.</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2103120"/>
          <a:ext cx="8503920" cy="914400"/>
        </p:xfrm>
        <a:graphic>
          <a:graphicData uri="http://schemas.openxmlformats.org/drawingml/2006/table">
            <a:tbl>
              <a:tblPr/>
              <a:tblGrid>
                <a:gridCol w="3291840"/>
                <a:gridCol w="5212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MM assumption (CFA Exhibit 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rules out — and the reality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Homogeneous expectations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Investors disagree about cash flows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Perfect capital markets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is deductible; distress is costly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Risk-free borrow and lend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Individuals pay more than corporates do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No agency costs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Managers do not always act for owners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Financing / investment separate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They interact — signalling, covenants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3822192"/>
            <a:ext cx="8503920" cy="731520"/>
          </a:xfrm>
          <a:prstGeom prst="rect">
            <a:avLst/>
          </a:prstGeom>
          <a:solidFill>
            <a:srgbClr val="FEF0E7"/>
          </a:solidFill>
          <a:ln/>
        </p:spPr>
      </p:sp>
      <p:sp>
        <p:nvSpPr>
          <p:cNvPr id="14" name="Shape 11"/>
          <p:cNvSpPr/>
          <p:nvPr/>
        </p:nvSpPr>
        <p:spPr>
          <a:xfrm>
            <a:off x="320040" y="3822192"/>
            <a:ext cx="73152" cy="731520"/>
          </a:xfrm>
          <a:prstGeom prst="rect">
            <a:avLst/>
          </a:prstGeom>
          <a:solidFill>
            <a:srgbClr val="E8600A"/>
          </a:solidFill>
          <a:ln/>
        </p:spPr>
      </p:sp>
      <p:sp>
        <p:nvSpPr>
          <p:cNvPr id="15" name="Text 12"/>
          <p:cNvSpPr txBox="1"/>
          <p:nvPr/>
        </p:nvSpPr>
        <p:spPr>
          <a:xfrm>
            <a:off x="457200" y="386791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HOMEMADE LEVERAGE — AND THE ASSUMPTION EVERYONE MISSTATES</a:t>
            </a:r>
            <a:endParaRPr lang="en-US" sz="1100" dirty="0"/>
          </a:p>
        </p:txBody>
      </p:sp>
      <p:sp>
        <p:nvSpPr>
          <p:cNvPr id="16" name="Text 13"/>
          <p:cNvSpPr txBox="1"/>
          <p:nvPr/>
        </p:nvSpPr>
        <p:spPr>
          <a:xfrm>
            <a:off x="457200" y="4142232"/>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 investor who wants 70% leverage at a 50%-levered firm simply borrows on personal account, so arbitrage forces V_L = V_U. And note: MM did not assume bankruptcy away. They assumed it happens at zero cost.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MM Proposition II without taxes: more debt raises the cost of equity by exactly enough to offset the cheaper debt, so WACC does not move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Exhibit 4 plots it: r_e rises linearly in D/E from an intercept of r_0 with slope (r_0 − r_d), while WACC stays flat.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§4, Equation 4 and Example 2 "Gerhardt Corporation Cost of Equity", pp. 195–197.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Debt is cheaper because it is senior. Adding it makes the remaining equity riskier by precisely the amount that cancels the saving.</a:t>
            </a:r>
            <a:endParaRPr lang="en-US" sz="1300" dirty="0"/>
          </a:p>
        </p:txBody>
      </p:sp>
      <p:sp>
        <p:nvSpPr>
          <p:cNvPr id="10" name="Shape 8"/>
          <p:cNvSpPr/>
          <p:nvPr/>
        </p:nvSpPr>
        <p:spPr>
          <a:xfrm>
            <a:off x="320040" y="1170432"/>
            <a:ext cx="8503920" cy="566928"/>
          </a:xfrm>
          <a:prstGeom prst="rect">
            <a:avLst/>
          </a:prstGeom>
          <a:solidFill>
            <a:srgbClr val="1B2A4A"/>
          </a:solidFill>
          <a:ln/>
        </p:spPr>
      </p:sp>
      <p:sp>
        <p:nvSpPr>
          <p:cNvPr id="11" name="Text 9"/>
          <p:cNvSpPr txBox="1"/>
          <p:nvPr/>
        </p:nvSpPr>
        <p:spPr>
          <a:xfrm>
            <a:off x="411480" y="117043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r_e  =  r_0  +  (r_0 − r_d) · D / E</a:t>
            </a:r>
            <a:endParaRPr lang="en-US" sz="1800" dirty="0"/>
          </a:p>
        </p:txBody>
      </p:sp>
      <p:sp>
        <p:nvSpPr>
          <p:cNvPr id="12" name="Text 10"/>
          <p:cNvSpPr txBox="1"/>
          <p:nvPr/>
        </p:nvSpPr>
        <p:spPr>
          <a:xfrm>
            <a:off x="320040" y="17647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r_e = cost of levered equity; r_0 = cost of equity with no debt, which equals WACC at D = 0; r_d = cost of debt; D and E at market value.</a:t>
            </a:r>
            <a:endParaRPr lang="en-US" sz="1100" dirty="0"/>
          </a:p>
        </p:txBody>
      </p:sp>
      <p:sp>
        <p:nvSpPr>
          <p:cNvPr id="13" name="Shape 11"/>
          <p:cNvSpPr/>
          <p:nvPr/>
        </p:nvSpPr>
        <p:spPr>
          <a:xfrm>
            <a:off x="320040" y="2084832"/>
            <a:ext cx="8503920" cy="2212848"/>
          </a:xfrm>
          <a:prstGeom prst="rect">
            <a:avLst/>
          </a:prstGeom>
          <a:solidFill>
            <a:srgbClr val="FEF0E7"/>
          </a:solidFill>
          <a:ln w="9525">
            <a:solidFill>
              <a:srgbClr val="E8600A"/>
            </a:solidFill>
            <a:prstDash val="solid"/>
          </a:ln>
        </p:spPr>
      </p:sp>
      <p:sp>
        <p:nvSpPr>
          <p:cNvPr id="14" name="Text 12"/>
          <p:cNvSpPr txBox="1"/>
          <p:nvPr/>
        </p:nvSpPr>
        <p:spPr>
          <a:xfrm>
            <a:off x="457200" y="21305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EXAMPLE 2 — GERHARDT CORP, ALL-EQUITY THEN A DEBT-FUNDED BUYBACK</a:t>
            </a:r>
            <a:endParaRPr lang="en-US" sz="1100" dirty="0"/>
          </a:p>
        </p:txBody>
      </p:sp>
      <p:sp>
        <p:nvSpPr>
          <p:cNvPr id="15" name="Text 13"/>
          <p:cNvSpPr txBox="1"/>
          <p:nvPr/>
        </p:nvSpPr>
        <p:spPr>
          <a:xfrm>
            <a:off x="457200" y="24231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Gerhardt has a perpetual cash flow of EUR 5,000 and a cost of equity of 10%, which is also its WACC. No taxes, so value = 5,000 / 0.10 = EUR 50,000. It now issues EUR 15,000 of 5% debt and buys back the same amount of equity.</a:t>
            </a:r>
            <a:endParaRPr lang="en-US" sz="1200" dirty="0"/>
          </a:p>
        </p:txBody>
      </p:sp>
      <p:sp>
        <p:nvSpPr>
          <p:cNvPr id="16" name="Text 14"/>
          <p:cNvSpPr txBox="1"/>
          <p:nvPr/>
        </p:nvSpPr>
        <p:spPr>
          <a:xfrm>
            <a:off x="457200" y="2935224"/>
            <a:ext cx="8229600" cy="850392"/>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After the buyback: D = 15,000, E = 35,000, so D/E = 0.4286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New cost of equity: r_e = 10% + (10% − 5%) × (15,000 / 35,000) = 12.143%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New WACC: (15/50) × 5% + (35/50) × 12.143% = 1.50% + 8.50% = 10.00%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Cross-check: 750/0.05 + 4,250/0.12143 = EUR 50,000. Value unchanged.</a:t>
            </a:r>
            <a:endParaRPr lang="en-US" sz="11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WACC = 10% before and after. Cheaper debt, exactly offset by dearer equity.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With corporate taxes the shield makes debt value-creating: V_L = V_U + tD, the cost of equity rises more slowly, and WACC falls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Prop I with taxes: value rises by t·D. Prop II with taxes: r_e still rises with D/E but more slowly, so WACC falls as leverage rises.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§4, Equations 5 and 6, Exhibits 5 and 6, and Example 3 "Gerhardt Corporation under Corporate Taxes", pp. 197–200.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Once profits are taxed, every euro of deductible interest is a euro the firm keeps. Capital structure starts to matter — and at the extreme this says finance with 100% debt.</a:t>
            </a:r>
            <a:endParaRPr lang="en-US" sz="1300" dirty="0"/>
          </a:p>
        </p:txBody>
      </p:sp>
      <p:sp>
        <p:nvSpPr>
          <p:cNvPr id="10" name="Shape 8"/>
          <p:cNvSpPr/>
          <p:nvPr/>
        </p:nvSpPr>
        <p:spPr>
          <a:xfrm>
            <a:off x="320040" y="1170432"/>
            <a:ext cx="8503920" cy="603504"/>
          </a:xfrm>
          <a:prstGeom prst="rect">
            <a:avLst/>
          </a:prstGeom>
          <a:solidFill>
            <a:srgbClr val="1B2A4A"/>
          </a:solidFill>
          <a:ln/>
        </p:spPr>
      </p:sp>
      <p:sp>
        <p:nvSpPr>
          <p:cNvPr id="11" name="Text 9"/>
          <p:cNvSpPr txBox="1"/>
          <p:nvPr/>
        </p:nvSpPr>
        <p:spPr>
          <a:xfrm>
            <a:off x="411480" y="1170432"/>
            <a:ext cx="8321040" cy="60350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  V_L = V_U + t·D      II:  r_e = r_0 + (r_0−r_d)(1−t)·D/E</a:t>
            </a:r>
            <a:endParaRPr lang="en-US" sz="1800" dirty="0"/>
          </a:p>
        </p:txBody>
      </p:sp>
      <p:sp>
        <p:nvSpPr>
          <p:cNvPr id="12" name="Text 10"/>
          <p:cNvSpPr txBox="1"/>
          <p:nvPr/>
        </p:nvSpPr>
        <p:spPr>
          <a:xfrm>
            <a:off x="320040" y="1801368"/>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 = marginal corporate tax rate; t·D = PV of the interest tax shield on perpetual debt. Only the (1 − t) term separates II here from II without taxes.</a:t>
            </a:r>
            <a:endParaRPr lang="en-US" sz="1100" dirty="0"/>
          </a:p>
        </p:txBody>
      </p:sp>
      <p:sp>
        <p:nvSpPr>
          <p:cNvPr id="13" name="Shape 11"/>
          <p:cNvSpPr/>
          <p:nvPr/>
        </p:nvSpPr>
        <p:spPr>
          <a:xfrm>
            <a:off x="320040" y="2121408"/>
            <a:ext cx="8503920" cy="2176272"/>
          </a:xfrm>
          <a:prstGeom prst="rect">
            <a:avLst/>
          </a:prstGeom>
          <a:solidFill>
            <a:srgbClr val="FEF0E7"/>
          </a:solidFill>
          <a:ln w="9525">
            <a:solidFill>
              <a:srgbClr val="E8600A"/>
            </a:solidFill>
            <a:prstDash val="solid"/>
          </a:ln>
        </p:spPr>
      </p:sp>
      <p:sp>
        <p:nvSpPr>
          <p:cNvPr id="14" name="Text 12"/>
          <p:cNvSpPr txBox="1"/>
          <p:nvPr/>
        </p:nvSpPr>
        <p:spPr>
          <a:xfrm>
            <a:off x="457200" y="2167128"/>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EXAMPLE 3 — THE SAME GERHARDT, NOW TAXED AT 25%</a:t>
            </a:r>
            <a:endParaRPr lang="en-US" sz="1100" dirty="0"/>
          </a:p>
        </p:txBody>
      </p:sp>
      <p:sp>
        <p:nvSpPr>
          <p:cNvPr id="15" name="Text 13"/>
          <p:cNvSpPr txBox="1"/>
          <p:nvPr/>
        </p:nvSpPr>
        <p:spPr>
          <a:xfrm>
            <a:off x="457200" y="2459736"/>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Same EUR 5,000 pre-tax cash flow, same 10% unlevered cost of equity, same EUR 15,000 of 5% debt. After-tax cash flow is 3,750, so V_U = 3,750 / 0.10 = EUR 37,500.</a:t>
            </a:r>
            <a:endParaRPr lang="en-US" sz="1200" dirty="0"/>
          </a:p>
        </p:txBody>
      </p:sp>
      <p:sp>
        <p:nvSpPr>
          <p:cNvPr id="16" name="Text 14"/>
          <p:cNvSpPr txBox="1"/>
          <p:nvPr/>
        </p:nvSpPr>
        <p:spPr>
          <a:xfrm>
            <a:off x="457200" y="2971800"/>
            <a:ext cx="8229600" cy="813816"/>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PV of the tax shield: t · D = 0.25 × 15,000 = EUR 3,750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V_L = V_U + t·D = 37,500 + 3,750 = EUR 41,250, so E = 41,250 − 15,000 = EUR 26,250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r_e = 10% + (10% − 5%)(1 − 0.25) × (15,000 / 26,250) = 12.143%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WACC = (15/41.25) × 5% × 0.75 + (26.25/41.25) × 12.143% = 1.36% + 7.73% = 9.091%</a:t>
            </a:r>
            <a:endParaRPr lang="en-US" sz="11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WACC falls 10% to 9.091%; value rises EUR 3,750, exactly the shield.</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Static trade-off theory: the optimum balances the tax shield against the PV of expected financial-distress costs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§5 "Optimal Capital Structure", Equation 7 and Exhibit 7, pp. 203–204; Boulder Inc. is Practice Problems 1–4, pp. 209–212.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MM with taxes and no distress says borrow everything. Put a price on distress and the value curve turns over at some D* — the optimal capital structure.</a:t>
            </a:r>
            <a:endParaRPr lang="en-US" sz="1300" dirty="0"/>
          </a:p>
        </p:txBody>
      </p:sp>
      <p:sp>
        <p:nvSpPr>
          <p:cNvPr id="9" name="Shape 7"/>
          <p:cNvSpPr/>
          <p:nvPr/>
        </p:nvSpPr>
        <p:spPr>
          <a:xfrm>
            <a:off x="320040" y="1207008"/>
            <a:ext cx="8503920" cy="502920"/>
          </a:xfrm>
          <a:prstGeom prst="rect">
            <a:avLst/>
          </a:prstGeom>
          <a:solidFill>
            <a:srgbClr val="1B2A4A"/>
          </a:solidFill>
          <a:ln/>
        </p:spPr>
      </p:sp>
      <p:sp>
        <p:nvSpPr>
          <p:cNvPr id="10" name="Text 8"/>
          <p:cNvSpPr txBox="1"/>
          <p:nvPr/>
        </p:nvSpPr>
        <p:spPr>
          <a:xfrm>
            <a:off x="411480" y="1207008"/>
            <a:ext cx="8321040" cy="5029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V_L  =  V_U  +  t · D  −  PV(costs of financial distress)</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828800"/>
          <a:ext cx="8503920" cy="914400"/>
        </p:xfrm>
        <a:graphic>
          <a:graphicData uri="http://schemas.openxmlformats.org/drawingml/2006/table">
            <a:tbl>
              <a:tblPr/>
              <a:tblGrid>
                <a:gridCol w="1645920"/>
                <a:gridCol w="1920240"/>
                <a:gridCol w="2377440"/>
                <a:gridCol w="128016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Debt D (USD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Tax shield t·D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PV distress costs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V_L (USD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Δ vs V_U</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  ← 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2" name="Shape 9"/>
          <p:cNvSpPr/>
          <p:nvPr/>
        </p:nvSpPr>
        <p:spPr>
          <a:xfrm>
            <a:off x="320040" y="4096512"/>
            <a:ext cx="8503920" cy="502920"/>
          </a:xfrm>
          <a:prstGeom prst="rect">
            <a:avLst/>
          </a:prstGeom>
          <a:solidFill>
            <a:srgbClr val="FEF0E7"/>
          </a:solidFill>
          <a:ln/>
        </p:spPr>
      </p:sp>
      <p:sp>
        <p:nvSpPr>
          <p:cNvPr id="13" name="Shape 10"/>
          <p:cNvSpPr/>
          <p:nvPr/>
        </p:nvSpPr>
        <p:spPr>
          <a:xfrm>
            <a:off x="320040" y="4096512"/>
            <a:ext cx="73152" cy="502920"/>
          </a:xfrm>
          <a:prstGeom prst="rect">
            <a:avLst/>
          </a:prstGeom>
          <a:solidFill>
            <a:srgbClr val="E8600A"/>
          </a:solidFill>
          <a:ln/>
        </p:spPr>
      </p:sp>
      <p:sp>
        <p:nvSpPr>
          <p:cNvPr id="14" name="Text 11"/>
          <p:cNvSpPr txBox="1"/>
          <p:nvPr/>
        </p:nvSpPr>
        <p:spPr>
          <a:xfrm>
            <a:off x="457200" y="4169664"/>
            <a:ext cx="8275320" cy="3931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Boulder Inc.: V_U = USD 45m, t = 30%. D* = USD 20m maximises V_L at USD 49.5m; past that, distress costs grow faster than the shield. In practice D* cannot be pinned down — managers set a range, say 30%–50% debt.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Pecking order theory: information asymmetry pushes managers to internal funds first, then private debt, then public debt, and equity last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3, Learning Module 6, §5 "Pecking Order Theory and Agency Costs", pp. 205–207; Myers &amp; Majluf (1984), Jensen (1986).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ranking is by information content, not by cost. Managers prefer the source that reveals least — which is why an equity issue reads as bad news.</a:t>
            </a:r>
            <a:endParaRPr lang="en-US" sz="1300" dirty="0"/>
          </a:p>
        </p:txBody>
      </p:sp>
      <p:sp>
        <p:nvSpPr>
          <p:cNvPr id="9" name="Shape 7"/>
          <p:cNvSpPr/>
          <p:nvPr/>
        </p:nvSpPr>
        <p:spPr>
          <a:xfrm>
            <a:off x="320040" y="1188720"/>
            <a:ext cx="2743200" cy="2103120"/>
          </a:xfrm>
          <a:prstGeom prst="rect">
            <a:avLst/>
          </a:prstGeom>
          <a:solidFill>
            <a:srgbClr val="F5F7FA"/>
          </a:solidFill>
          <a:ln/>
        </p:spPr>
      </p:sp>
      <p:sp>
        <p:nvSpPr>
          <p:cNvPr id="10" name="Shape 8"/>
          <p:cNvSpPr/>
          <p:nvPr/>
        </p:nvSpPr>
        <p:spPr>
          <a:xfrm>
            <a:off x="320040" y="1188720"/>
            <a:ext cx="73152" cy="210312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1.  INTERNAL FUNDS</a:t>
            </a:r>
            <a:endParaRPr lang="en-US" sz="1100" dirty="0"/>
          </a:p>
        </p:txBody>
      </p:sp>
      <p:sp>
        <p:nvSpPr>
          <p:cNvPr id="12" name="Text 10"/>
          <p:cNvSpPr txBox="1"/>
          <p:nvPr/>
        </p:nvSpPr>
        <p:spPr>
          <a:xfrm>
            <a:off x="457200" y="150876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Retained earnings. No flotation cost, no disclosure, no signal.</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First choice precisely because outsiders cannot read anything into it.</a:t>
            </a:r>
            <a:endParaRPr lang="en-US" sz="1200" dirty="0"/>
          </a:p>
        </p:txBody>
      </p:sp>
      <p:sp>
        <p:nvSpPr>
          <p:cNvPr id="13" name="Shape 11"/>
          <p:cNvSpPr/>
          <p:nvPr/>
        </p:nvSpPr>
        <p:spPr>
          <a:xfrm>
            <a:off x="3200400" y="1188720"/>
            <a:ext cx="2743200" cy="2103120"/>
          </a:xfrm>
          <a:prstGeom prst="rect">
            <a:avLst/>
          </a:prstGeom>
          <a:solidFill>
            <a:srgbClr val="FEF0E7"/>
          </a:solidFill>
          <a:ln/>
        </p:spPr>
      </p:sp>
      <p:sp>
        <p:nvSpPr>
          <p:cNvPr id="14" name="Shape 12"/>
          <p:cNvSpPr/>
          <p:nvPr/>
        </p:nvSpPr>
        <p:spPr>
          <a:xfrm>
            <a:off x="3200400" y="1188720"/>
            <a:ext cx="73152" cy="210312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2.  DEBT — PRIVATE BEFORE PUBLIC</a:t>
            </a:r>
            <a:endParaRPr lang="en-US" sz="1100" dirty="0"/>
          </a:p>
        </p:txBody>
      </p:sp>
      <p:sp>
        <p:nvSpPr>
          <p:cNvPr id="16" name="Text 14"/>
          <p:cNvSpPr txBox="1"/>
          <p:nvPr/>
        </p:nvSpPr>
        <p:spPr>
          <a:xfrm>
            <a:off x="3337560" y="150876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internal funds fall short, borrow — private debt ahead of public debt, because the lender already has the information.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Issuing debt is a mildly POSITIVE signal: you must be confident you can service it.</a:t>
            </a:r>
            <a:endParaRPr lang="en-US" sz="1200" dirty="0"/>
          </a:p>
        </p:txBody>
      </p:sp>
      <p:sp>
        <p:nvSpPr>
          <p:cNvPr id="17" name="Shape 15"/>
          <p:cNvSpPr/>
          <p:nvPr/>
        </p:nvSpPr>
        <p:spPr>
          <a:xfrm>
            <a:off x="6080760" y="1188720"/>
            <a:ext cx="2743200" cy="2103120"/>
          </a:xfrm>
          <a:prstGeom prst="rect">
            <a:avLst/>
          </a:prstGeom>
          <a:solidFill>
            <a:srgbClr val="F5F7FA"/>
          </a:solidFill>
          <a:ln/>
        </p:spPr>
      </p:sp>
      <p:sp>
        <p:nvSpPr>
          <p:cNvPr id="18" name="Shape 16"/>
          <p:cNvSpPr/>
          <p:nvPr/>
        </p:nvSpPr>
        <p:spPr>
          <a:xfrm>
            <a:off x="6080760" y="1188720"/>
            <a:ext cx="73152" cy="210312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3.  EQUITY — LAST</a:t>
            </a:r>
            <a:endParaRPr lang="en-US" sz="1100" dirty="0"/>
          </a:p>
        </p:txBody>
      </p:sp>
      <p:sp>
        <p:nvSpPr>
          <p:cNvPr id="20" name="Text 18"/>
          <p:cNvSpPr txBox="1"/>
          <p:nvPr/>
        </p:nvSpPr>
        <p:spPr>
          <a:xfrm>
            <a:off x="6217920" y="150876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Last resort. An issue reads as management thinking the shares are dear — existing owners would not share a good thing.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Under pecking order there is no optimal structure: the mix just records past funding needs.</a:t>
            </a:r>
            <a:endParaRPr lang="en-US" sz="1200" dirty="0"/>
          </a:p>
        </p:txBody>
      </p:sp>
      <p:sp>
        <p:nvSpPr>
          <p:cNvPr id="21" name="Shape 19"/>
          <p:cNvSpPr/>
          <p:nvPr/>
        </p:nvSpPr>
        <p:spPr>
          <a:xfrm>
            <a:off x="320040" y="3401568"/>
            <a:ext cx="8503920" cy="914400"/>
          </a:xfrm>
          <a:prstGeom prst="rect">
            <a:avLst/>
          </a:prstGeom>
          <a:solidFill>
            <a:srgbClr val="FEF0E7"/>
          </a:solidFill>
          <a:ln/>
        </p:spPr>
      </p:sp>
      <p:sp>
        <p:nvSpPr>
          <p:cNvPr id="22" name="Shape 20"/>
          <p:cNvSpPr/>
          <p:nvPr/>
        </p:nvSpPr>
        <p:spPr>
          <a:xfrm>
            <a:off x="320040" y="3401568"/>
            <a:ext cx="73152" cy="914400"/>
          </a:xfrm>
          <a:prstGeom prst="rect">
            <a:avLst/>
          </a:prstGeom>
          <a:solidFill>
            <a:srgbClr val="E8600A"/>
          </a:solidFill>
          <a:ln/>
        </p:spPr>
      </p:sp>
      <p:sp>
        <p:nvSpPr>
          <p:cNvPr id="23" name="Text 21"/>
          <p:cNvSpPr txBox="1"/>
          <p:nvPr/>
        </p:nvSpPr>
        <p:spPr>
          <a:xfrm>
            <a:off x="457200" y="344728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JENSEN (1986) — THE FREE-CASH-FLOW HYPOTHESIS</a:t>
            </a:r>
            <a:endParaRPr lang="en-US" sz="1100" dirty="0"/>
          </a:p>
        </p:txBody>
      </p:sp>
      <p:sp>
        <p:nvSpPr>
          <p:cNvPr id="24" name="Text 22"/>
          <p:cNvSpPr txBox="1"/>
          <p:nvPr/>
        </p:nvSpPr>
        <p:spPr>
          <a:xfrm>
            <a:off x="457200" y="3721608"/>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Debt disciplines. Contractual interest and principal force managers to use cash well and make empire-building acquisitions harder to fund, so greater use of debt can save agency costs of equity. A leveraged buyout of a cash-rich mature company exploits exactly that mechanism: replace discretionary cash with contractual debt service.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Cost of capital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wrap</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5  ·  Deck 9 of 20  ·  Studio Tonton Gug</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CAPM gives the cost of equity as the risk-free rate plus beta times the equity risk premium — only market risk is paid for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Corporate Issuers text uses a cruder teaching anchor: the c.10% compound annual return on a broad equity index, 1928–2021.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Cost-of-equity context: CFA Vol 3, Learning Module 6, pp. 178–179. The CAPM itself is developed in Vol 9, Portfolio Management, not in Corporate Issuers.</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Only systematic risk earns a return; idiosyncratic risk is diversified away for free. Beta measures sensitivity to the market, and nothing else.</a:t>
            </a:r>
            <a:endParaRPr lang="en-US" sz="1300" dirty="0"/>
          </a:p>
        </p:txBody>
      </p:sp>
      <p:sp>
        <p:nvSpPr>
          <p:cNvPr id="10" name="Shape 8"/>
          <p:cNvSpPr/>
          <p:nvPr/>
        </p:nvSpPr>
        <p:spPr>
          <a:xfrm>
            <a:off x="320040" y="1170432"/>
            <a:ext cx="8503920" cy="566928"/>
          </a:xfrm>
          <a:prstGeom prst="rect">
            <a:avLst/>
          </a:prstGeom>
          <a:solidFill>
            <a:srgbClr val="1B2A4A"/>
          </a:solidFill>
          <a:ln/>
        </p:spPr>
      </p:sp>
      <p:sp>
        <p:nvSpPr>
          <p:cNvPr id="11" name="Text 9"/>
          <p:cNvSpPr txBox="1"/>
          <p:nvPr/>
        </p:nvSpPr>
        <p:spPr>
          <a:xfrm>
            <a:off x="411480" y="117043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r_e  =  r_f  +  β · (r_m − r_f)  =  r_f  +  β · ERP</a:t>
            </a:r>
            <a:endParaRPr lang="en-US" sz="1800" dirty="0"/>
          </a:p>
        </p:txBody>
      </p:sp>
      <p:sp>
        <p:nvSpPr>
          <p:cNvPr id="12" name="Text 10"/>
          <p:cNvSpPr txBox="1"/>
          <p:nvPr/>
        </p:nvSpPr>
        <p:spPr>
          <a:xfrm>
            <a:off x="320040" y="17647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r_f = risk-free rate, usually the 10y government bond; β = levered equity beta; ERP = equity risk premium, historically 4%–6% in developed markets.</a:t>
            </a:r>
            <a:endParaRPr lang="en-US" sz="1100" dirty="0"/>
          </a:p>
        </p:txBody>
      </p:sp>
      <p:sp>
        <p:nvSpPr>
          <p:cNvPr id="13" name="Shape 11"/>
          <p:cNvSpPr/>
          <p:nvPr/>
        </p:nvSpPr>
        <p:spPr>
          <a:xfrm>
            <a:off x="320040" y="2084832"/>
            <a:ext cx="8503920" cy="2212848"/>
          </a:xfrm>
          <a:prstGeom prst="rect">
            <a:avLst/>
          </a:prstGeom>
          <a:solidFill>
            <a:srgbClr val="FEF0E7"/>
          </a:solidFill>
          <a:ln w="9525">
            <a:solidFill>
              <a:srgbClr val="E8600A"/>
            </a:solidFill>
            <a:prstDash val="solid"/>
          </a:ln>
        </p:spPr>
      </p:sp>
      <p:sp>
        <p:nvSpPr>
          <p:cNvPr id="14" name="Text 12"/>
          <p:cNvSpPr txBox="1"/>
          <p:nvPr/>
        </p:nvSpPr>
        <p:spPr>
          <a:xfrm>
            <a:off x="457200" y="21305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COST OF EQUITY FOR A TYPICAL LARGE-CAP INDUSTRIAL</a:t>
            </a:r>
            <a:endParaRPr lang="en-US" sz="1100" dirty="0"/>
          </a:p>
        </p:txBody>
      </p:sp>
      <p:sp>
        <p:nvSpPr>
          <p:cNvPr id="15" name="Text 13"/>
          <p:cNvSpPr txBox="1"/>
          <p:nvPr/>
        </p:nvSpPr>
        <p:spPr>
          <a:xfrm>
            <a:off x="457200" y="24231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Assumptions: r_f = 4.0% on the 10y government bond; ERP = 6.0% on long-run history; levered beta = 1.20, a cyclical manufacturer.</a:t>
            </a:r>
            <a:endParaRPr lang="en-US" sz="1200" dirty="0"/>
          </a:p>
        </p:txBody>
      </p:sp>
      <p:sp>
        <p:nvSpPr>
          <p:cNvPr id="16" name="Text 14"/>
          <p:cNvSpPr txBox="1"/>
          <p:nvPr/>
        </p:nvSpPr>
        <p:spPr>
          <a:xfrm>
            <a:off x="457200" y="2935224"/>
            <a:ext cx="8229600" cy="850392"/>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The stock's own risk premium: β × ERP = 1.20 × 6.0% = 7.20%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Add the risk-free rate: r_e = 4.0% + 7.20%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r_e = 11.20%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Sensitivity: β = 1.50 gives 13.00%; β = 0.80 gives 8.80%. Every 0.10 of beta is 60bp.</a:t>
            </a:r>
            <a:endParaRPr lang="en-US" sz="11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r_e = 11.2% — and it carries most of the weight in any WACC.</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Unlever a comparable company's beta to isolate its business risk, then relever it at your target's own capital structure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Hamada (1972), the market-standard beta adjustment. It is NOT part of CFA Level I — included because relevering a comparable beta is unavoidable in practice.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 observed equity beta mixes business risk with the financial risk of that company's balance sheet. Unlevering separates the two; relevering rebuilds the one you want.</a:t>
            </a:r>
            <a:endParaRPr lang="en-US" sz="1300" dirty="0"/>
          </a:p>
        </p:txBody>
      </p:sp>
      <p:sp>
        <p:nvSpPr>
          <p:cNvPr id="9" name="Shape 7"/>
          <p:cNvSpPr/>
          <p:nvPr/>
        </p:nvSpPr>
        <p:spPr>
          <a:xfrm>
            <a:off x="320040" y="1170432"/>
            <a:ext cx="8503920" cy="566928"/>
          </a:xfrm>
          <a:prstGeom prst="rect">
            <a:avLst/>
          </a:prstGeom>
          <a:solidFill>
            <a:srgbClr val="1B2A4A"/>
          </a:solidFill>
          <a:ln/>
        </p:spPr>
      </p:sp>
      <p:sp>
        <p:nvSpPr>
          <p:cNvPr id="10" name="Text 8"/>
          <p:cNvSpPr txBox="1"/>
          <p:nvPr/>
        </p:nvSpPr>
        <p:spPr>
          <a:xfrm>
            <a:off x="411480" y="117043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β_U = β_L / [1 + (1−t)D/E]      β_L = β_U [1 + (1−t)D/E]</a:t>
            </a:r>
            <a:endParaRPr lang="en-US" sz="1800" dirty="0"/>
          </a:p>
        </p:txBody>
      </p:sp>
      <p:sp>
        <p:nvSpPr>
          <p:cNvPr id="11" name="Text 9"/>
          <p:cNvSpPr txBox="1"/>
          <p:nvPr/>
        </p:nvSpPr>
        <p:spPr>
          <a:xfrm>
            <a:off x="320040" y="17647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β_U = unlevered, or asset, beta — business risk only; β_L = levered, or equity, beta; t = marginal tax rate. Assumes the debt beta is about zero.</a:t>
            </a:r>
            <a:endParaRPr lang="en-US" sz="1100" dirty="0"/>
          </a:p>
        </p:txBody>
      </p:sp>
      <p:sp>
        <p:nvSpPr>
          <p:cNvPr id="12" name="Shape 10"/>
          <p:cNvSpPr/>
          <p:nvPr/>
        </p:nvSpPr>
        <p:spPr>
          <a:xfrm>
            <a:off x="320040" y="2084832"/>
            <a:ext cx="8503920" cy="2212848"/>
          </a:xfrm>
          <a:prstGeom prst="rect">
            <a:avLst/>
          </a:prstGeom>
          <a:solidFill>
            <a:srgbClr val="FEF0E7"/>
          </a:solidFill>
          <a:ln w="9525">
            <a:solidFill>
              <a:srgbClr val="E8600A"/>
            </a:solidFill>
            <a:prstDash val="solid"/>
          </a:ln>
        </p:spPr>
      </p:sp>
      <p:sp>
        <p:nvSpPr>
          <p:cNvPr id="13" name="Text 11"/>
          <p:cNvSpPr txBox="1"/>
          <p:nvPr/>
        </p:nvSpPr>
        <p:spPr>
          <a:xfrm>
            <a:off x="457200" y="21305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UNLEVER THE PEER, RELEVER THE TARGET</a:t>
            </a:r>
            <a:endParaRPr lang="en-US" sz="1100" dirty="0"/>
          </a:p>
        </p:txBody>
      </p:sp>
      <p:sp>
        <p:nvSpPr>
          <p:cNvPr id="14" name="Text 12"/>
          <p:cNvSpPr txBox="1"/>
          <p:nvPr/>
        </p:nvSpPr>
        <p:spPr>
          <a:xfrm>
            <a:off x="457200" y="24231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peer trades with a levered beta of 1.20 at D/E = 0.50 and a 25% tax rate. Your target runs at D/E = 1.00 — twice the gearing. What beta should you use for the target?</a:t>
            </a:r>
            <a:endParaRPr lang="en-US" sz="1200" dirty="0"/>
          </a:p>
        </p:txBody>
      </p:sp>
      <p:sp>
        <p:nvSpPr>
          <p:cNvPr id="15" name="Text 13"/>
          <p:cNvSpPr txBox="1"/>
          <p:nvPr/>
        </p:nvSpPr>
        <p:spPr>
          <a:xfrm>
            <a:off x="457200" y="2935224"/>
            <a:ext cx="8229600" cy="850392"/>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Unlever the peer: β_U = 1.20 / [1 + (1 − 0.25) × 0.50] = 1.20 / 1.375 = 0.873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Relever at the target's D/E: β_L = 0.873 × [1 + (1 − 0.25) × 1.00] = 0.873 × 1.75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β_L = 1.527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At r_f = 4% and ERP = 6%: the target's r_e = 4% + 1.527 × 6% = 13.16%</a:t>
            </a:r>
            <a:endParaRPr lang="en-US" sz="11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Beta 1.20 to 1.53, cost of equity +1.96pp, purely from the balance sheet.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after-tax cost of debt is the yield to maturity scaled by (1 − t) — it is the yield that matters, never the coupon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Framework: CFA Institute, Curriculum Vol 3, Learning Module 6, §2, pp. 178–179. The yields shown are indicative market levels, not curriculum figures.</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coupon is history — it fixes the cash interest on debt already issued. The yield is what the firm would pay to raise money today, which is what a discount rate needs.</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After-tax r_d  =  YTM · (1 − t)</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Use the YTM on the issuer's own traded bonds; where nothing trades, match on rating, sector and maturity, or use recent comparable borrowings.</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2194560"/>
          <a:ext cx="8503920" cy="914400"/>
        </p:xfrm>
        <a:graphic>
          <a:graphicData uri="http://schemas.openxmlformats.org/drawingml/2006/table">
            <a:tbl>
              <a:tblPr/>
              <a:tblGrid>
                <a:gridCol w="3017520"/>
                <a:gridCol w="1828800"/>
                <a:gridCol w="182880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Rating / tenor (indicative)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Pre-tax YTM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After-tax, t = 25%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After-tax, t = 35%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 rated, 5y (mature industrial)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BBB, 7y (capital-intensive)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BB, 10y (leveraged buyout)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 10y (speculative grade)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CCC, 30y (distressed)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3913632"/>
            <a:ext cx="8503920" cy="658368"/>
          </a:xfrm>
          <a:prstGeom prst="rect">
            <a:avLst/>
          </a:prstGeom>
          <a:solidFill>
            <a:srgbClr val="FEF0E7"/>
          </a:solidFill>
          <a:ln/>
        </p:spPr>
      </p:sp>
      <p:sp>
        <p:nvSpPr>
          <p:cNvPr id="14" name="Shape 11"/>
          <p:cNvSpPr/>
          <p:nvPr/>
        </p:nvSpPr>
        <p:spPr>
          <a:xfrm>
            <a:off x="320040" y="3913632"/>
            <a:ext cx="73152" cy="658368"/>
          </a:xfrm>
          <a:prstGeom prst="rect">
            <a:avLst/>
          </a:prstGeom>
          <a:solidFill>
            <a:srgbClr val="E8600A"/>
          </a:solidFill>
          <a:ln/>
        </p:spPr>
      </p:sp>
      <p:sp>
        <p:nvSpPr>
          <p:cNvPr id="15" name="Text 12"/>
          <p:cNvSpPr txBox="1"/>
          <p:nvPr/>
        </p:nvSpPr>
        <p:spPr>
          <a:xfrm>
            <a:off x="457200" y="395935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YIELD, NOT COUPON</a:t>
            </a:r>
            <a:endParaRPr lang="en-US" sz="1100" dirty="0"/>
          </a:p>
        </p:txBody>
      </p:sp>
      <p:sp>
        <p:nvSpPr>
          <p:cNvPr id="16" name="Text 13"/>
          <p:cNvSpPr txBox="1"/>
          <p:nvPr/>
        </p:nvSpPr>
        <p:spPr>
          <a:xfrm>
            <a:off x="457200" y="4233672"/>
            <a:ext cx="8275320" cy="2926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bond issued at a 5% coupon five years ago may yield 7% today. The 7% is the marginal cost — what the firm pays on new debt.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End to end: relever a peer beta, run CAPM, tax-effect the debt and combine — one discount rate out of five inputs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CAPM with a relevered peer beta is the default for listed comparables; for private companies a build-up with a size premium is more common.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company ("Aurelia Energy Corp"); synthesises the CFA Vol 3 LM 6 framework with the CAPM and the standard beta adjustment. Not a curriculum example.</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Five steps in order: pick the peer, unlever its beta, relever at the target D/E, run CAPM, then blend with the after-tax cost of debt.</a:t>
            </a:r>
            <a:endParaRPr lang="en-US" sz="1300" dirty="0"/>
          </a:p>
        </p:txBody>
      </p:sp>
      <p:sp>
        <p:nvSpPr>
          <p:cNvPr id="10" name="Shape 8"/>
          <p:cNvSpPr/>
          <p:nvPr/>
        </p:nvSpPr>
        <p:spPr>
          <a:xfrm>
            <a:off x="320040" y="1188720"/>
            <a:ext cx="8503920" cy="3108960"/>
          </a:xfrm>
          <a:prstGeom prst="rect">
            <a:avLst/>
          </a:prstGeom>
          <a:solidFill>
            <a:srgbClr val="FEF0E7"/>
          </a:solidFill>
          <a:ln w="9525">
            <a:solidFill>
              <a:srgbClr val="E8600A"/>
            </a:solidFill>
            <a:prstDash val="solid"/>
          </a:ln>
        </p:spPr>
      </p:sp>
      <p:sp>
        <p:nvSpPr>
          <p:cNvPr id="11" name="Text 9"/>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AURELIA ENERGY CORP — A FULL WACC</a:t>
            </a:r>
            <a:endParaRPr lang="en-US" sz="1100" dirty="0"/>
          </a:p>
        </p:txBody>
      </p:sp>
      <p:sp>
        <p:nvSpPr>
          <p:cNvPr id="12" name="Text 10"/>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mid-cap independent power producer. Target structure 40% debt / 60% equity, so D/V = 0.40 and D/E = 0.667. Marginal tax rate 25%. r_f = 4.0%, ERP = 6.0%. A peer utility trades at a levered beta of 0.95 with D/E = 0.80. Aurelia's 10y unsecured bond yields 5.2%.</a:t>
            </a:r>
            <a:endParaRPr lang="en-US" sz="1200" dirty="0"/>
          </a:p>
        </p:txBody>
      </p:sp>
      <p:sp>
        <p:nvSpPr>
          <p:cNvPr id="13" name="Text 11"/>
          <p:cNvSpPr txBox="1"/>
          <p:nvPr/>
        </p:nvSpPr>
        <p:spPr>
          <a:xfrm>
            <a:off x="457200" y="2039112"/>
            <a:ext cx="8229600" cy="17465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Unlever the peer: β_U = 0.95 / [1 + (1 − 0.25)(0.80)] = 0.95 / 1.60 = 0.594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Relever at Aurelia's D/E = 0.667: β_L = 0.594 × [1 + (1 − 0.25)(0.667)] = 0.594 × 1.50 = 0.891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CAPM cost of equity: r_e = 4.0% + 0.891 × 6.0% = 4.0% + 5.35% = 9.35%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After-tax cost of debt: r_d × (1 − t) = 5.2% × 0.75 = 3.90%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WACC = 0.40 × 3.90% + 0.60 × 9.35% = 1.56% + 5.61% = 7.17%</a:t>
            </a:r>
            <a:endParaRPr lang="en-US" sz="1200" dirty="0"/>
          </a:p>
        </p:txBody>
      </p:sp>
      <p:sp>
        <p:nvSpPr>
          <p:cNvPr id="14" name="Shape 12"/>
          <p:cNvSpPr/>
          <p:nvPr/>
        </p:nvSpPr>
        <p:spPr>
          <a:xfrm>
            <a:off x="411480" y="3858768"/>
            <a:ext cx="8321040" cy="365760"/>
          </a:xfrm>
          <a:prstGeom prst="rect">
            <a:avLst/>
          </a:prstGeom>
          <a:solidFill>
            <a:srgbClr val="E8600A"/>
          </a:solidFill>
          <a:ln/>
        </p:spPr>
      </p:sp>
      <p:sp>
        <p:nvSpPr>
          <p:cNvPr id="15"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Aurelia WACC = 7.17%, for a project of average Aurelia risk.</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9 — Corporate Governance, Capital Structure &amp; Cost of Capital</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Five attributes separate the three legal forms: legal identity, owner-manager relationship, liability, taxation, access to financing. Corporations dominate because limited liability plus owner-manager separation opens capital markets.</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Debt is fixed, senior, finite and tax-deductible; equity is residual, discretionary and permanent. Debt is riskier for the issuer, equity for the investor. Both are true at once.</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Leverage lifts ROE only while return on assets beats the cost of debt (CFA LM2 Example 1: 30% against 20%). It does not raise the average return — it widens the distribution.</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Every principal-agent link creates agency costs: insufficient effort, wrong risk appetite, empire building, entrenchment, self-dealing. Seven categories of mechanism exist to contain them.</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WACC = w_d·r_d·(1 − t) + w_e·r_e. Market weights for the WACC; book values and leverage ratios for targets and covenants. The cost of debt is the YTM, never the coupon.</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MM without taxes: structure is irrelevant, cheaper debt exactly offset by dearer equity. With taxes: V_L = V_U + tD, WACC falls, and the extreme answer is 100% debt.</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Static trade-off adds distress costs and gives an optimum (Boulder: D* = 20 maximises V_L at 49.5). Pecking order says there is none — internal funds, private debt, public debt, equity last.</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Cost of equity from CAPM; the asset beta separates business risk from financial risk. Aurelia: unlever the peer, relever at target D/E, blend with after-tax debt, WACC = 7.17%.</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9 · Corporate Governance, Capital Structure &amp; Cost of Capital</dc:title>
  <dc:subject>PptxGenJS Presentation</dc:subject>
  <dc:creator>Studio Tonton Gug</dc:creator>
  <cp:lastModifiedBy>Studio Tonton Gug</cp:lastModifiedBy>
  <cp:revision>1</cp:revision>
  <dcterms:created xsi:type="dcterms:W3CDTF">2026-09-02T08:35:57Z</dcterms:created>
  <dcterms:modified xsi:type="dcterms:W3CDTF">2026-09-02T08:35:57Z</dcterms:modified>
</cp:coreProperties>
</file>