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09  ·  WEEK 5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&amp; WACC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owns the firm, who runs it, who finances it — and at what cost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3 Learning Modules 1, 2, 3, 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Corporate Governance, Capital Structure &amp; Cost of Capital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Organizational forms &amp; ownership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1314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proprietor · partnership · corporation · limited liability · Simon Property Group illustration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923898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923898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969618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 &amp; other stakeholders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230039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vs equity claims · ROE-with-leverage worked example · stakeholder map · ESG materiality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640787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64078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68650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 governance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94692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Principal-agent · agency-cost worked example · dual-class · 3 core committees · Theranos / VW / Kobe vignettes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357677"/>
            <a:ext cx="8503920" cy="680314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357677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403397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structure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66381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mechanics · MM I and II · Gerhardt worked example · static trade-off · pecking order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4074566"/>
            <a:ext cx="8503920" cy="6803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4074566"/>
            <a:ext cx="594360" cy="68031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120286"/>
            <a:ext cx="7726680" cy="30614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capital wrap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4380708"/>
            <a:ext cx="7726680" cy="3741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CAPM for equity · Hamada lever/unlever beta · after-tax cost of debt · Aurelia full WACC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three legal organizational forms of business on five attributes — legal identity, owner-manager relationship, owner liability, taxation, and access to financing.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the financial claims of debt and equity holders and quantify how financial leverage amplifies both shareholder return and risk.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 corporation's eight stakeholder groups, explain the principal-agent conflicts between them, and describe the governance mechanisms that mitigate each.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 company's weighted-average cost of capital using market-value weights, an after-tax cost of debt, and a CAPM-based cost of equity.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Modigliani-Miller propositions (with and without taxes), the static trade-off theory, and the pecking order theory to real capital-structure decisions.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and unlever equity beta using the Hamada formula to move between a comparable firm's observed risk and the target firm's own capital structure.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Organizational forms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ownership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5  ·  Deck 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legal forms of business trade off simplicity for access to capital — sole proprietor, partnership, corporation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1, pp. 6–14.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corporate form is dominant globally by revenues and assets because it is the only form that offers limited liability, owner-manager separation, and frictionless ownership transfer simultaneously.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23444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011680"/>
                <a:gridCol w="25603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Attribute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Sole proprietor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General / Limited partnership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Corporation (public limited)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identity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Extension of owner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Extension of partner(s)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Separate legal entity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Owner-manager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Owner operates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Partners operate (GP in LP)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Board &amp; hired management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liability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Unlimited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GP unlimited; LP limited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Limited to invested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Pass-through (personal)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Pass-through (personal)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Corporate + dividend (double)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to financing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Owner + personal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Partners + partnership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Unbounded — public markets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CORPORATIONS WIN ON SCALE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is the smallest possible ownership unit, transferable without disrupting operations, and carries a cap on loss equal to its purchase price. Together, these features let a firm pool capital from thousands of investors who demand no role in management.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Corporations combine limited liability with owner-manager separation — the combination that unlocks deep capital markets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1, Example 1 (Simon Property Group), pp. 15–20.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 → elect → Board of Directors → hires → Management. Three layers, each acting (in theory) in the interests of those who elected them.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KEY FEATURES OF CORPORATIONS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Separate legal entity — can contract, sue, be sued, borrow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Limited shareholder liability — cap on loss = purchase price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Separation of ownership &amp; management — elect board; board appoints CEO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Transferable shares — small, standardized ownership units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Perpetual life — survives any individual owner's exit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Drawback: double taxation (corporate + dividend).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SIMON PROPERTY GROUP — A HYBRID STRUCTURE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Simon owns USD 33B of retail real estate via two layers: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Simon Property Group L.P. (limited partnership) holds the assets.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Simon Property Group Inc. (corporation) is the General Partner with 87% of the LP.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LP shields Inc. shareholders from real-estate liability while keeping Inc.'s own shareholders behind limited liability. A GP that is itself a corporation — a common structure for REITs and fund sponsors.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companies trade liquidity and price transparency for disclosure, listing costs, and the scrutiny of outside shareholders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1, §4 "Publicly vs. Privately Owned Corporate Issuers", pp. 21–30.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to go public (or to go private) is ultimately a trade between access to capital and freedom from continuous public scrutiny.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56616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Dimension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Public (listed)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Private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Continuous exchange trading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Illiquid — negotiated block trades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transparency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Real-time quote, regulated disclosure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Negotiated, stale, often opaque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Disclosure burden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Quarterly 10-Q / interim audit, 10-K / annual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Bilateral with investors; often confidential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to capital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Broad — public debt &amp; equity markets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Narrow — relationship-based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shareholder 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Thousands to millions (retail + institutional)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Founders, PE, strategic investors, family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scrutiny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Activists, proxy fights, say-on-pay votes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Insulated from public governance pressure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6616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6616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6118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 BETWEEN THE TWO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8620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→ Public: IPO · direct listing · SPAC reverse merger.     Public → Private: LBO · MBO · take-private tender offer.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Investors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other stakeholders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5  ·  Deck 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Debt is a fixed, priority, finite claim; equity is a residual, discretionary, permanent claim — the two are economically asymmetric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2, pp. 39–47.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investors are paid in full or not at all; equity investors get whatever is left. Same cash-flow pool, fundamentally different payoff profile.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91840"/>
                <a:gridCol w="2926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Attribute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Equity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Finite (e.g. 3m, 5y, 30y)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Indefinite / permanent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Fixed, priority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Residual, discretionary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Contractual interest + principal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Dividend if board declares — or buyback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potential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Capped at promised 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Theoretically unlimited upside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 investment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 investment (limited liability)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treatment of payout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is tax-deductible for issuer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Dividends paid from after-tax profit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Voting rights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 — board elections, M&amp;A, etc.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Higher (obligation, bankruptcy)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Lower (no repayment obligation)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worked ROE example shows how financial leverage amplifies both return and risk — the fundamental debt-equity trade-off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2, Example 1 paraphrased, pp. 42–44.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business, two capital structures, three revenue scenarios. Leverage turns a 30% return on assets into 60% ROE — and a 20% revenue drop into a −20% loss.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560320"/>
                <a:gridCol w="3017520"/>
                <a:gridCol w="731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Equity-financed (100% E)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Debt-financed (75% D, 25% E, interest 15)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ROE gap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Base: Rev 100, OpEx 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 30 / E 100 = 30%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 30−15=15 / E 25 = 60%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+30pp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Upside: Rev 120 (+20%)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 50 / E 100 = 50%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 50−15=35 / E 25 = 140%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+90pp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Downside: Rev 80 (−20%)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 10 / E 100 =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NI 10−15=−5 / E 25 = −20%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−30pp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606040"/>
            <a:ext cx="8503920" cy="1691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2606040"/>
            <a:ext cx="73152" cy="1691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2651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2926080"/>
            <a:ext cx="827532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works when the firm's return on assets (30%) exceeds its cost of debt (15/75 = 20%). In the upside, leverage amplifies the 50% all-equity return to 140% on equity. In the downside, the same mechanism turns a positive 10% return into a net loss and destroys ~80% of book equity. A higher tax rate further favours debt (interest is tax-deductible), which is why capital-intensive firms lever up. Volatility, not level, is what debt truly amplifies.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Eight stakeholder groups each bring a distinct set of claims, incentives, and conflict potential with the corporation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2, Exhibit 6, pp. 48–54.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Shareholder-theory focuses only on residual claimants. Stakeholder-theory broadens the lens to every group with a vested interest — ESG analysis is a direct implication.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383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Stakeholder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they provide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they seek from the firm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Shareholders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Equity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Residual return, voting rights, capital appreciation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Debtholders (banks &amp; bond-)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Debt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Timely interest &amp; principal; covenant protection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 of directors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Stewardship &amp; oversight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Fiduciary duty to shareholders, fee, reputation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Human capital &amp; strategy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Compensation, status, tenure, career options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Labour, skills, human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Fair pay, safety, development, job security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Value, safety, service, stable supply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Inputs &amp; trade credit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Timely payment; long-term relationship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Governments / society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Rule of law, infrastructure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Tax revenue, compliance, externality management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ESG factors are increasingly quantifiable and material — analysts bake them into cash-flow forecasts and discount rates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2, Exhibit 7, pp. 55–61.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Vale's Brumadinho dam (2019), Equifax's 2017 breach, and Siemens' pre-2008 bribery culture all show how ESG mismanagement feeds directly into share-price drops and credit downgrades.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21945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2194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ENVIRONMENTAL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(physical &amp; transition risk) · pollution &amp; waste · resource &amp; land use · biodiversity · stranded assets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for utilities, O&amp;G, mining, autos, airlines, food.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2194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2194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capital · data privacy · product safety · community relations · labour standards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for tech, healthcare, consumer, pharma.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21945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21945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independence · audit committee · executive pay · voting rights · bribery &amp; corruption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for ALL issuers — and typically the most quantifiable of the three.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52044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297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Vignette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ESG 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Financial impact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— Brumadinho dam, 2019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Environmental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270 deaths · USD 7B settlement · debt briefly to speculative grade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Equifax — data breach, 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Social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140M records stolen · hundreds of USD M in costs · multi-year lawsuits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Siemens — bribery, pre-2008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Governance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EUR 3B+ fines &amp; disgorgement · board + CEO replaced · policy overhaul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Corporate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5  ·  Deck 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corporation is a chain of principal–agent relationships — every link opens a potential conflict of interest and agency cost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3, pp. 70–76.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Shareholders (principal) elect directors (agent); directors (now principal) hire managers (agent); each agent has information the principal does not. Agency costs fill the gap.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Agency cost  =  Direct monitoring cost  +  Forgone value (indirect)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1920240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1920240"/>
            <a:ext cx="91440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1956816"/>
            <a:ext cx="7863840" cy="2057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Insufficient effort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125980"/>
            <a:ext cx="7863840" cy="2514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shirk — too little monitoring, avoid hard decisions, distracted by side projects or charitable activities.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414016"/>
            <a:ext cx="8503920" cy="4572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2414016"/>
            <a:ext cx="91440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" y="2414016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450592"/>
            <a:ext cx="7863840" cy="2057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Inappropriate risk appetite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619756"/>
            <a:ext cx="7863840" cy="2514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All-cash pay → too risk-averse. Options-heavy pay → excessive risk-taking (asymmetric upside for the manager).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2907792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907792"/>
            <a:ext cx="91440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" y="2907792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2944368"/>
            <a:ext cx="7863840" cy="2057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Empire building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113532"/>
            <a:ext cx="7863840" cy="2514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tied to firm size ⇒ growth for growth's sake — acquisitions that destroy value but enlarge the CEO's fiefdom.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3401568"/>
            <a:ext cx="8503920" cy="4572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3401568"/>
            <a:ext cx="91440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02920" y="3401568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438144"/>
            <a:ext cx="7863840" cy="2057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Entrenchment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3607308"/>
            <a:ext cx="7863840" cy="2514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protect their jobs — poison pills, staggered boards, copying peers to avoid standing out, overly complex transactions.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0040" y="3895344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320040" y="3895344"/>
            <a:ext cx="91440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02920" y="3895344"/>
            <a:ext cx="36576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" y="3931920"/>
            <a:ext cx="7863840" cy="2057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Self-dealing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68680" y="4101084"/>
            <a:ext cx="7863840" cy="2514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jets, club memberships, personal security, related-party transactions — cost borne by shareholders, enjoyed by the CEO.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agency-cost example quantifies the cost of a corporate-jet habit — translating soft governance talk into a number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Illustrative firm ("Atlas Industrial"); agency-cost framework from CFA Vol 3 LM 3, pp. 70–76.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Perks that look small on a P&amp;L capitalise into surprisingly large destroyers of shareholder value. A governance problem is a valuation problem.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ATLAS INDUSTRIAL — CEO PRIVATE-JET PERK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CEO uses a company-leased private jet for personal travel. The board does not require him to reimburse. Atlas' cost of equity is 10%; marginal tax rate 25%. Estimate the present value cost to shareholders — the agency cost of debt-free empire-building.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jet cost: lease USD 3.2M + fuel &amp; crew USD 0.8M = USD 4.0M pre-tax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After-tax cost to shareholders: 4.0 × (1 − 0.25) = USD 3.0M per year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Capitalize the perpetuity at cost of equity 10%: PV = 3.0 / 0.10 = USD 30M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Atlas has 15M shares outstanding, the perk destroys USD 2.00 per share of intrinsic value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adds a clause requiring CEO to reimburse personal flights at charter rates → USD 2.5M/yr recovered → USD 25M of value restored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agency cost ≈ USD 30M — a governance fix with zero operational downside.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Concentrated ownership, dual-class shares, and staggered boards each shift power toward insiders — sometimes at the expense of minority holders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3, "Controlling and Minority Shareholder Relationships", pp. 72–74.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Institute has long advocated against dual-class structures — they hand one group disproportionate power over the will of the majority.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DISPERSED OWNERSHIP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shareholder controls. Main agency conflict is shareholder ↔ manager. Activists can force change via proxy contest.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CONCENTRATED OWNERSHIP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/ family / PE holds &gt; 30%. Main conflict shifts to majority ↔ minority shareholders. Buffers the firm from hostile takeover.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DUAL-CLASS SHARES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 (public): 1 vote / share. Class B (insiders): 10+ votes / share. Small economic stake controls corporate destiny.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246120"/>
            <a:ext cx="8503920" cy="10972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2918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MAGNA INTERNATIONAL — HOW 3% CAN CONTROL 75%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5844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 Stronach's family owned ~3% of Magna's total shares but 75% of voting rights via Class B shares (500 votes/share).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39044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Shareholders bought the founder out for CAD 870M over 5 years to collapse the dual-class structure.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mechanisms divide into five categories — each addressing a specific principal–agent conflict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3, "Corporate Governance Mechanisms", pp. 76–84.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shrinks information asymmetry; shareholder &amp; creditor mechanisms police the contract; board &amp; government mechanisms set the rules of the game.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9768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Primary tools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Targets which conflict?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Reporting &amp; transparency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Audited F/S · proxy · disclosures · IR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Information asymmetry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Shareholder mechanisms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AGM · EGM · proxy contest · say-on-pay · derivative lawsuit · activism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Manager ↔ shareholder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Creditor mechanisms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Bond indenture · covenants · ad hoc committee · trustee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Shareholder ↔ debtholder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 &amp;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Audit / Nom / Comp committees · LTIPs · independent chairman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Manager ↔ shareholder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/ regulator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Securities law · comply-or-explain codes · listing rules · SOX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Issuer ↔ society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822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822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COMPLY-OR-EXPLAIN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jurisdictions (UK, EU, Japan) use a "comply-or-explain" model — issuers either adopt the code or publicly justify departures. The US relies instead on SEC securities law, Delaware corporate law, and exchange listing rules.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core board committees — Audit, Nominating/Governance, Compensation — embed independence where it matters most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3, Exhibit 2, pp. 80–82.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committee reports to the full board but does the first-level work. Best practice on all three: majority independent directors; on Audit and Compensation, 100%.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COMMITTEE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Mandate: financial reporting integrity, internal controls, external auditor selection &amp; fees, whistleblower channel.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independent directors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≥ 1 with accounting / financial expertise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Private sessions with auditor (no management)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flag: CFO or insider on committee.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NOMINATING / GOVERNANCE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Mandate: director selection, board composition, succession planning, corporate governance code, conflicts-of-interest policy.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Majority independent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Explicit skills matrix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Annual board evaluation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flag: CEO handpicking directors.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COMPENSATION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Mandate: executive pay plan, performance metrics, equity grants, say-on-pay voting.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independent directors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LTIP with multi-year vesting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Clawback provision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Peer-group benchmarking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flag: CEO-only metrics, single-year cash bonus.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 governance lowers the cost of capital — the Theranos, Volkswagen, and Kobe Steel cases show the price of getting it wrong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Academic evidence: Gompers, Ishii &amp; Metrick (2003) find a governance index explains a meaningful share of firm valuations; Bhojraj &amp; Sengupta (2003) link governance to credit ratings and bond yields.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3, case vignettes, pp. 85–91.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traces back to one of three root causes: inadequate oversight, captive board, or misaligned compensation.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2743200" cy="30175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01752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THERANOS (USA, 2015–18)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00200"/>
            <a:ext cx="246888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failure — celebrity board with no medical expertise dismissed whistleblowers.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Peak valuation: USD 10B (2014)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Final valuation: USD 0 (2018)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CEO convicted of fraud (2022)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inadequate oversight.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30175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188720"/>
            <a:ext cx="73152" cy="301752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VOLKSWAGEN (DE, DIESELGATE)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00200"/>
            <a:ext cx="246888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failure — illegal emission "defeat devices" installed in 11M vehicles.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Stock fell &gt; 33% in days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EUR 32B in fines, recalls, legal costs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CEO indicted; criminal charges in US + DE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captive supervisory board dominated by founders.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743200" cy="30175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73152" cy="301752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KOBE STEEL (JP, 2017–18)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00200"/>
            <a:ext cx="2468880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failure — decades of falsified quality data for steel, copper, aluminium products.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Stock to 5-year low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of debt to record highs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Board restructured: independent chair, 3 independent directors on audit committee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profit-over-quality culture, no quality-control oversight.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5  ·  Deck 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WACC blends the after-tax cost of debt and the cost of equity — the single most important discount rate in corporate finance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"The Cost of Capital", pp. 178–182.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is simultaneously (i) the firm's discount rate for NPV analysis, (ii) the hurdle rate for IRR, and (iii) the investors' required return weighted by capital structure.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4980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WACC  =  w_d · r_d · (1 − t)   +   w_e · r_e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201168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w_d, w_e = market-value (or target) weights of debt &amp; equity; r_d = pre-tax cost of debt (YTM); r_e = cost of equity (CAPM); t = marginal tax rate.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423160"/>
            <a:ext cx="8503920" cy="18745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6888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CHECK — ABC CORPORATION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6148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ABC: 40% debt / 60% equity at market value. Pre-tax r_d = 4%. r_e = 10%. Marginal tax rate t = 23%.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73552"/>
            <a:ext cx="8229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After-tax cost of debt: 4% × (1 − 0.23) = 3.08%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contribution: 0.40 × 3.08% = 1.232%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contribution: 0.60 × 10% = 6.00%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1.232% + 6.00% = 7.23%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WACC = 7.23% — the rate at which ABC must discount projects of average firm risk.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WACC worked example — converting book weights to market weights, computing after-tax debt, and assembling the WACC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Illustrative firm ("Meridian Corp"); framework from CFA Vol 3 LM 6, pp. 178–182.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values reflect investors' current opportunity cost; book values reflect historic accounting. For cost-of-capital work, market always wins.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280160"/>
                <a:gridCol w="1280160"/>
                <a:gridCol w="10515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Meridian Corp — capital stack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Book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Market value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BV 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MV 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debt (5.0% coupon, 7y, YTM 4.0%)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equity (60M shares × USD 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 capital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1,620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2651760"/>
            <a:ext cx="8503920" cy="16459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69748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ASSEMBLE THE WACC — MARGINAL TAX RATE 25%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99008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Pre-tax cost of debt = YTM = 4.0%. Cost of equity (CAPM) = 9.5%. Use market-value weights.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02152"/>
            <a:ext cx="8229600" cy="2834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After-tax cost of debt: 4.0% × (1 − 0.25) = 3.00%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contribution: 0.26 × 3.00% = 0.78%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contribution: 0.74 × 9.50% = 7.03%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0.78% + 7.03% = 7.81% at market weights   (vs 7.33% at book weights — book understates WACC here)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WACC ≈ 7.8% — use for projects of average Meridian risk; adjust up for higher-risk projects.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 structure depends on business model and corporate life cycle — startup, growth, and mature firms finance themselves differently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Exhibit 2, pp. 183–186.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risk falls and free cash flow rises as firms mature — lenders respond by offering bigger cheques at lower spreads, on less restrictive terms.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Life-cycle 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Startup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Growth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 / zero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Rising fast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Slowing, predictable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Negative / turning positive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 positive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Medium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Little to none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Rising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debt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Convertible · leases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Secured term loans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Unsecured bonds, IG-rated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equity 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Founders · VC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Growth equity · late-stage PE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market · retained earnings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firm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Biotech pre-FDA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Tesla (circa 2015)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Coca-Cola, Procter &amp; Gamble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657600"/>
            <a:ext cx="8503920" cy="6858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657600"/>
            <a:ext cx="73152" cy="6858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033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CAPITAL-LIGHT VS CAPITAL-INTENSIVE CUTS ACROSS ALL STAGES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977640"/>
            <a:ext cx="8275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 / Airbnb are capital-light networks; utilities, semis, airlines are capital-intensive. The intensity axis drives HOW MUCH capital; the life-cycle axis drives WHAT TYPE.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 Proposition I: in a frictionless world, capital structure is irrelevant — firm value is the PV of cash flows, full stop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"MM Proposition I without Taxes", pp. 193–195.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Modigliani &amp; Miller (1958) — the starting point of modern corporate finance, and the benchmark against which every real-world deviation is measured.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V_L  =  V_U        —        firm value independent of D/E mix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V_L = value of levered firm; V_U = value of unlevered firm. Holds under the five MM assumptions below.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148840"/>
          <a:ext cx="8503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663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MM Assumption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rules out in the real world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Homogeneous expectations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Investors disagree on cash-flow forecasts in reality.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Perfect capital markets (no tax, no friction)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Interest is tax-deductible, bankruptcy has direct &amp; indirect costs.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Common risk-free borrow/lend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Individuals borrow at higher rates than corporations.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No agency costs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Managers don't always act in shareholder interest (see Deck §3).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Financing &amp; investment decisions independent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 practice they interact — e.g. signalling, covenants.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840480"/>
            <a:ext cx="8503920" cy="5029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840480"/>
            <a:ext cx="73152" cy="5029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862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HOMEMADE LEVERAGE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827532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investor preferring 70% leverage at a 50%-levered firm can borrow on personal account to replicate it. Arbitrage forces V_L = V_U.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 Proposition II without taxes: more debt raises the cost of equity 1-for-1, leaving WACC unchanged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Example 2 (Gerhardt), pp. 195–197.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cheaper debt is exactly offset by a rising cost of equity — the classic MM see-saw.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r_e  =  r_0  +  (r_0 − r_d) · D / 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r_e = cost of levered equity; r_0 = cost of unlevered equity (= WACC when D = 0); r_d = cost of debt; D/E = debt-to-equity ratio.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GERHARDT CORP — ALL-EQUITY → BUYBACK WITH DEBT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Gerhardt: expected perpetual CF = EUR 5,000; cost of equity (= WACC) = 10%; no taxes. Firm value = 5,000 / 0.10 = EUR 50,000. Issue EUR 15,000 debt at 5% to repurchase equity.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Post-buyback: D = 15,000; E = 50,000 − 15,000 = 35,000; D/E = 0.4286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cost of equity: r_e = 10% + (10% − 5%) × (15,000 / 35,000) = 12.143%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WACC: (15/50)(5%) + (35/50)(12.143%) = 1.50% + 8.50% = 10.00%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 value: still 5,000 / 0.10 = EUR 50,000 — unchanged. ✓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WACC = 10% before and after. Cheaper debt offset exactly by a higher cost of equity.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MM with taxes: the interest tax shield makes debt value-creating — V_L = V_U + tD, WACC falls as leverage rises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Example 3 (Gerhardt with taxes), pp. 197–200.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we let governments tax corporate profits, every dollar of deductible interest is a dollar the firm keeps. Capital structure starts to matter.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4980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V_L = V_U + t·D           r_e = r_0 + (r_0 − r_d)(1 − t) · D / 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201168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 = marginal corporate tax rate; t·D = present value of the debt tax shield (assumes perpetual debt).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468880"/>
            <a:ext cx="8503920" cy="18288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46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GERHARDT CORP REDUX — TAX RATE 25%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8072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cash flow (EUR 5,000) and cost of capital assumptions, now with corporate tax at 25%. V_U = (5,000 × 0.75) / 0.10 = EUR 37,500. Issue EUR 15,000 debt at 5%.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319272"/>
            <a:ext cx="822960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of tax shield: t · D = 0.25 × 15,000 = EUR 3,750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V_L = V_U + t·D = 37,500 + 3,750 = EUR 41,250;  E = 41,250 − 15,000 = 26,250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r_e = 10% + (10% − 5%)(1 − 0.25)(15,000 / 26,250) = 12.143%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(15/41.25)(5%)(0.75) + (26.25/41.25)(12.143%) = 1.36% + 7.73% = 9.091%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WACC falls from 10% → 9.09%; firm value rises EUR 3,750. Debt creates value equal to the tax shield.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Static trade-off theory: the optimal capital structure balances the tax shield against the present value of financial-distress costs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Practice Problem (Boulder Inc.), pp. 203–212.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MM with taxes implies 100% debt is optimal. Bankruptcy costs cap that: beyond some D*, expected distress costs outweigh further tax shield.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V_L  =  V_U  +  t · D  −  PV(financial-distress costs)</a:t>
            </a:r>
            <a:endParaRPr lang="en-US" sz="1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280160"/>
                <a:gridCol w="13716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Debt D (USD 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Tax shield t·D (M)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PV distress costs (M)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V_L (M)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Δ vs V_U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45.0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46.4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47.8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 ← D*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46.5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+1.5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−3.0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4114800"/>
            <a:ext cx="8503920" cy="2286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0"/>
          <p:cNvSpPr/>
          <p:nvPr/>
        </p:nvSpPr>
        <p:spPr>
          <a:xfrm>
            <a:off x="320040" y="4114800"/>
            <a:ext cx="73152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4187952"/>
            <a:ext cx="8275320" cy="1188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Boulder Inc. (V_U = 45, t = 30%): D* = USD 20M maximises V_L at USD 49.5M. Beyond this point, distress costs dominate.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Pecking order theory: information asymmetry pushes managers to prefer retained earnings → debt → equity, in that order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Myers &amp; Majluf (1984); CFA Institute, Curriculum Vol 3, Learning Module 6, pp. 205–208.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issuance signals to the market that management thinks shares are overpriced — so managers avoid it unless they must. Static trade-off sets a target; pecking order explains deviations.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INTERNAL FUNDS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25146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earnings. No floatation cost, no signal, no disclosure.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choice because invisible to outsiders.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2103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2103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 DEBT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1508760"/>
            <a:ext cx="25146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internal funds insufficient, borrow.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issuance is mildly POSITIVE signal — commits firm to future payments, so management must be confident.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2103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21031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 EQUITY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508760"/>
            <a:ext cx="2514600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resort. Equity issuance is NEGATIVE signal — existing owners only share an overpriced asset.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Empirically: equity-issuing firms underperform for 3–5 years.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JENSEN (1986) — FREE-CASH-FLOW HYPOTHESIS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disciplines managers. Required interest and principal payments force efficient use of cash and deter empire-building acquisitions. Leveraged buyouts of cash-rich mature firms (think 1980s RJR Nabisco) exploit this mechanism directly — replace discretionary cash with contractual debt service.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of capital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wrap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5  ·  Deck 9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CAPM gives the cost of equity as the risk-free rate plus beta times the equity risk premium — the industry-standard equity discount rate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LM 6 (cost-of-equity discussion); CAPM developed in Vol 6 (Equity).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CAPM: the only systematic (market) risk is compensated; idiosyncratic risk is diversified away. Beta = sensitivity to market returns.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4980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r_e  =  r_f  +  β · (r_m − r_f)  =  r_f  +  β · ERP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201168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r_f = risk-free rate (typically 10y Treasury); β = levered equity beta; ERP = equity risk premium (historical 4–6% in developed markets).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423160"/>
            <a:ext cx="8503920" cy="18745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6888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COST-OF-EQUITY FOR A TYPICAL US LARGE-CAP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6148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Assumptions: r_f = 4.0% (10y UST); ERP = 6.0% (long-run US historical); levered β = 1.20 (e.g. an industrial manufacturer).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73552"/>
            <a:ext cx="8229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risk premium (MRP) term: β × ERP = 1.20 × 6.0% = 7.20%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equity: r_e = r_f + β·ERP = 4.0% + 7.20%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r_e = 11.20%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at β = 1.50, r_e = 13.00%; at β = 0.80, r_e = 8.80%.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r_e = 11.2%  —  use directly in WACC if the firm's actual leverage equals the peer group's.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Lever and unlever beta to move between a comparable firm's observed risk and your target firm's own capital structure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Hamada (1972); CFA Vol 3 LM 6 context on levered vs unlevered returns, pp. 195–200.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Comparable-company beta reflects that company's leverage. Unlever (β_asset) to isolate business risk; then relever at the target firm's D/E.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4980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β_U  =  β_L / [ 1 + (1 − t) · D/E ]              β_L  =  β_U · [ 1 + (1 − t) · D/E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201168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β_U = unlevered (asset) beta; β_L = levered (equity) beta. Debt assumed to have beta ≈ 0 (investment-grade).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423160"/>
            <a:ext cx="8503920" cy="18745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6888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UNLEVER PEER, RELEVER TARGET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6148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firm's levered β = 1.20, D/E = 0.50, t = 25%. Target firm has D/E = 1.00 (more levered). Compute target's levered β.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73552"/>
            <a:ext cx="8229600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 peer: β_U = 1.20 / [1 + (1 − 0.25) × 0.50] = 1.20 / 1.375 = 0.873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Relever at target's D/E: β_L,target = 0.873 × [1 + (1 − 0.25) × 1.00] = 0.873 × 1.75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β_L,target = 1.527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r_f = 4%, ERP = 6%: target r_e = 4% + 1.527 × 6% = 13.16%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β rises from 1.20 (peer) to 1.53 (target) because target is more levered. Cost of equity rises 1.96 pp.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after-tax cost of debt is the yield-to-maturity scaled by (1 − t); it is the YTM, not the coupon, that matters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3, Learning Module 6, pp. 178–180.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is historic — it locks in the cash interest. The YTM is what the firm would pay to raise new debt today, which is what discounting requires.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After-tax r_d  =  YTM · (1 − t)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Use the YTM on the firm's own currently traded bonds; if illiquid, match by rating, sector, and maturity.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011680"/>
          <a:ext cx="85039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828800"/>
                <a:gridCol w="18288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Credit / tenor (indicative)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Pre-tax YTM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After-tax @ t = 25%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After-tax @ t = 35%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5y, investment-grade A (mature industrial)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2.73%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7y, BBB (capital-intensive industrial)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4.05%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3.51%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10y, BB (leveraged buyout)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4.42%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10y, B (speculative-grade)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6.38%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5.53%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30y, CCC (distressed)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703320"/>
            <a:ext cx="8503920" cy="6400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703320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7490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YTM, NOT COUPON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753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 issued at 5% coupon five years ago may trade at YTM 7% today. The 7% reflects what a new marginal investor demands — and therefore what the firm would pay on new debt.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 WACC wrap-up — Aurelia Energy Corp pulls CAPM, Hamada, and after-tax debt into a single discount rate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Rule of thumb: CAPM + Hamada is the textbook default for public companies with comparable peers; for private companies, build-up method with size premium is more common.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Illustrative firm ("Aurelia Energy Corp"); synthesises frameworks from CFA Vol 3 LM 6.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sequential steps: identify peer, unlever peer beta, relever at target D/E, run CAPM, combine with after-tax debt.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AURELIA ENERGY CORP — FULL WACC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Mid-cap independent power producer. Target capital structure: 40% debt / 60% equity (D/V = 0.4, D/E = 0.667). Marginal tax rate 25%. r_f = 4.0%, ERP = 6.0%. Peer utility trades at β_L = 0.95, D/E = 0.80. Aurelia's 10y unsecured bond YTM = 5.2%.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039112"/>
            <a:ext cx="822960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Unlever peer beta: β_U = 0.95 / [1 + (1 − 0.25)(0.80)] = 0.95 / 1.60 = 0.594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Relever at Aurelia's D/E = 0.667: β_L = 0.594 × [1 + (1 − 0.25)(0.667)] = 0.594 × 1.50 = 0.891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CAPM cost of equity: r_e = 4.0% + 0.891 × 6.0% = 4.0% + 5.35% = 9.35%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After-tax cost of debt: r_d · (1 − t) = 5.2% × 0.75 = 3.90%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WACC = w_d · r_d (1−t) + w_e · r_e = 0.40 × 3.90% + 0.60 × 9.35% = 1.56% + 5.61% = 7.17%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Aurelia WACC ≈ 7.2%  —  apply for NPV of projects of average Aurelia risk; add a project-risk premium for riskier assets.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9 — Corporate Governance, Capital Structure &amp; Cost of Capital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legal forms of business differ on 5 attributes — liability, tax, access to finance, owner-manager relationship, legal identity. Corporations dominate because they combine limited liability, owner-manager separation, and frictionless ownership transfer.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and equity are economically asymmetric: debt is fixed, priority, finite, tax-deductible; equity is residual, discretionary, permanent. Leverage amplifies both ROE and ROE volatility — the same mechanism drives both.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principal-agent link (shareholder→board, board→manager) creates potential agency costs: insufficient effort, risk mis-appetite, empire building, entrenchment, self-dealing. Governance mechanisms address each.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core committees (Audit, Nominating, Compensation) embed independence. Real-world failures — Theranos, VW Dieselgate, Kobe Steel — trace to inadequate oversight, captive boards, or misaligned pay.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= w_d · r_d · (1 − t) + w_e · r_e. Use MARKET-value weights; after-tax r_d uses YTM, not coupon; r_e from CAPM. Single most important rate in corporate finance.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 I &amp; II (no tax): capital structure irrelevant — cheaper debt exactly offset by higher cost of equity. With taxes, V_L = V_U + tD; debt creates value via the tax shield.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trade-off: optimal D* balances tax shield against PV of distress costs (inverted-U in V_L). Boulder: D* = 20 maximises V_L = 49.5. Pecking order: retained earnings → debt → equity, driven by information asymmetry.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CAPM (r_e = r_f + β·ERP) + Hamada (β_U ↔ β_L via D/E and tax) give the full toolkit. Aurelia Energy: unlever peer β, relever at target D/E, combine with after-tax debt → WACC ≈ 7.2%.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9 · Corporate Governance, Capital Structure &amp; Cost of Capital</dc:title>
  <dc:subject>PptxGenJS Presentation</dc:subject>
  <dc:creator>Studio Tonton Gug</dc:creator>
  <cp:lastModifiedBy>Studio Tonton Gug</cp:lastModifiedBy>
  <cp:revision>1</cp:revision>
  <dcterms:created xsi:type="dcterms:W3CDTF">2026-04-23T14:07:20Z</dcterms:created>
  <dcterms:modified xsi:type="dcterms:W3CDTF">2026-04-23T14:07:20Z</dcterms:modified>
</cp:coreProperties>
</file>