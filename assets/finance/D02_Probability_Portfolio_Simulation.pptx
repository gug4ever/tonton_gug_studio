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Deck 1 was one cash flow, one discount rate, one answer. From here on every number is a distribution.
•  Two hours. Four sections. Warn them: this is the densest morning of the week.
•  Frame it as one arc — describe one series → condition on scenarios → combine assets → simulate the future.
•  Say up front: no proofs. Every formula gets a worked number.
•  Tell them to bring a calculator, not a laptop. They compute alongside me.
FROM THE DESK — Nothing in an IB analyst's day is a point estimate. A pitch says "EPS of 2.34" but the committee is buying the distribution behind it. This deck is how you learn to see the distribution.
NEXT — Roadmap first — where we are going and why in that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Show them the ladder: each section is the input to the next. Nothing here is a standalone topic.
•  §1 ≈ 30 min — describing ONE return series.
•  §2 ≈ 30 min — conditioning on scenarios, then reversing the conditioning (Bayes).
•  §3 ≈ 35 min — putting two or more series together. This is the section that matters most for the job.
•  §4 ≈ 25 min — when there is no formula left, simulate.
•  Flag the two hard stops: Bayes (§2) and portfolio variance decomposition (§3). Everything else is mechanical.
NEXT — Objectives — what they should be able to DO by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Read these as verbs, not topics. Exam questions and desk work both ask you to compute, not to define.
•  Do not read all five out. Point at 1 and 3 — those carry the most exam weight and the most desk relevance.
•  Objective 3 (variance decomposition) is the one that shows up in every risk conversation for the rest of their career.
•  Objective 4: flag that SFRatio and Sharpe are the SAME formula. Saves them memorising twice.
•  Set the contract: I will do the arithmetic slowly once per concept, then move at pace.
ASK THE ROOM — Who can already tell me the difference between covariance and correlation? Keep that answer — we test it in 20 minutes.
NEXT — Section 1 — everything you can say about a single return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Five slides, one question: what can you honestly say about a return series before you touch a second one?
•  ~30 minutes. Energy high — this is the easiest block, get momentum here.
•  Four moments in order: location, dispersion, asymmetry, tail weight. Then two series → correlation.
•  Recurring theme to plant now: every statistic is an ESTIMATE with a denominator choice behind it.
NEXT — Start with the most abused statistic in finance — the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"averages" answer three different questions. Which one you quote is already an analytical choice.
•  Mean = uses every observation, so every outlier votes. Median = ignores magnitude, only rank. Mode = the modal INTERVAL for continuous returns.
•  Trim vs winsorize: trim deletes (n falls to 1,194), winsorize caps (n stays 1,258). Say it twice — exam loves this.
•  Walk the table left to right and let them see the mean RISE when you cut the tails.
•  Land the inference: means rising ⟹ what you removed was mostly big negatives ⟹ left-skew is coming on slide 7.
•  Warn: trimming is not a licence to delete inconvenient data. State the rule before you look at the numbers.
FROM THE DESK — Buy-side risk teams run trimmed and full-sample stats side by side precisely to see the spread. If the two disagree materially, the fund's track record is a handful of days, not a process — and that is exactly what you say in the IC memo.
ASK THE ROOM — If a manager shows you a mean of 0.048% and the median is 0.06%, what does that tell you before you see a single chart?
NEXT — Location settled. Now: how spread out is the series — and is symmetric spread even the right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σ punishes a +6% month exactly as hard as a −4% month. No investor thinks that way — hence downside measures.
•  Do the n−1 story properly: you spent one degree of freedom estimating X̄, so only 11 pieces of information remain.
•  MAD vs variance: MAD is more intuitive, variance is mathematically tractable (it adds across assets — MAD does not). That is the whole reason we live with squares.
•  Semideviation: same machine, but only months BELOW B contribute, and the denominator is still n−1 = 11. Say the trap out loud.
•  Raise the bar 2% → 3% and both the count (4 → 5) and the shortfalls grow: 2.195% → 2.763%. Monotone in the target.
•  CV = risk per unit of reward. Note it breaks when the mean is negative.
FROM THE DESK — Every LP questionnaire I have seen asks for downside deviation, not σ — and the target is never zero, it is the client's liability or hurdle. Pick the wrong B and a portfolio looks either heroic or unfundable on identical data.
ASK THE ROOM — Which changes more when a fund has one catastrophic month — σ, or downside deviation against a 0% target?
NEXT — Dispersion says how wide. It does not say which side. That is skewness and kurtosis.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numbers finish the description of one series: which side the tail is on, and how heavy the tails are.
•  Skew = signed because you cube. Kurtosis = unsigned because you take the 4th power. Make them say why.
•  Kurtosis 3 vs excess kurtosis 0 — the single most common confusion. Software labelled "kurtosis" usually reports EXCESS.
•  Read the EAA numbers together: −0.43 and +3.80 mean the bad days are both more likely AND further out than a normal says.
•  Leptokurtic is not just "fat tails" — it is fat tails plus a tall peak, paid for by thin shoulders. Draw the shape.
•  Land it: normal-based risk numbers on equity data are optimistic by construction, not by accident.
FROM THE DESK — Every "six-sigma event" headline is really a confession that someone used a normal distribution. With +3.8 excess kurtosis, what the normal calls a 1-in-10,000 day happens several times a decade. That is not a tail risk problem, it is a model choice.
ASK THE ROOM — A hedge fund shows 40 consecutive positive months and a tiny σ. What sign of skew are you expecting, and what is that strategy probably doing?
NEXT — Everything so far is one series. Add a second, and the interesting question becomes how they move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Covariance is the quantity portfolio maths actually needs. Correlation is the quantity humans can actually read.
•  Build it from variance: replace one (Xᵢ−X̄) with (Yᵢ−Ȳ). Same n−1, same logic. Cov(X,X) = Var(X) — say it, it matters on slide 18.
•  Sign first: same side of their means → positive; opposite sides → negative; unrelated → 0.
•  Then the punchline of the table — bigger covariance, weaker correlation. Let them sit with that for a beat.
•  Units: covariance of returns is in returns SQUARED. That is why nobody quotes it in a meeting.
•  Bounds: |r| ≤ 1 follows mechanically from the division. Ask what r = 1 means geometrically (all points on a line).
FROM THE DESK — Correlation is the number that gets quoted and the number that lies most. It is unstable, regime-dependent, and it goes to 1 exactly when you need diversification — the 2008 and 2020 drawdowns both repriced "uncorrelated" books overnight. Quote it with the estimation window attached, always.
NEXT — One coefficient can never describe a relationship. Look at the picture before you trust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is the slide that stops them ever quoting a correlation without looking at the data again.
•  Open with Anscombe: four datasets, same five summary statistics, four completely different pictures. Sketch two of them on the board.
•  Non-linearity: a perfect U-shape has r ≈ 0. "No correlation" and "no relationship" are not the same sentence.
•  Outliers: one point can create or destroy a coefficient. Link back to trimming/winsorizing on slide 5.
•  Three flavours of spurious correlation — chance, shared denominator, common third driver. Use the CO₂ / alcohol-sales number, it always gets a laugh and then a silence.
•  Rule to leave them with: never quote r without (a) the window, (b) the plot.
FROM THE DESK — Backtests die here. A strategy pitched on a 0.8 correlation over one regime is usually a shared-denominator artefact or a common macro driver in disguise. The first question on any quant pitch is "show me the scatter, not the coefficient" — and the second is "show me it out of sample".
ASK THE ROOM — If two series are perfectly related by Y = X², what is their correlation? And what does that tell you about r as a measure of "relationship"?
NEXT — That closes single-series statistics. Now we condition — how forecasts change when a scenario is revealed.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§1 described what happened. §2 forecasts what will happen — and then revises the forecast when news arrives.
•  ~30 minutes. This is the section they will find hardest; slow the pace.
•  One running example — BankCorp EPS — carries slides 11 to 13. Say so, it lowers the cognitive load.
•  Then Bayes: three slides, one formula, three different disguises.
•  Plant the frame now: forward-looking probabilities (forecast) vs historical frequencies (sample). Different objects, same arithmetic.
NEXT — Start with the object itself — a discrete random variable and its two moments.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expected value is your forecast. The standard deviation is your honesty about it.
•  Contrast hard with §1: sample mean weights every observation equally; expected value weights outcomes by probability. Forecast vs history.
•  Note $2.34 is not one of the four possible outcomes. Expected values usually are not attainable — that surprises people.
•  Fix the order: E[X] first, then variance, then σ. Half of all exam errors are deviations taken from the wrong centre.
•  Get them to notice which term dominates the variance: 0.0185 out of 0.0388 comes from the $2.00 branch alone — the far tail does the work.
•  Finish by translating: "$2.34 ± $0.20" is what you would actually write in a note.
FROM THE DESK — This is exactly what an equity research model produces, except analysts publish only the $2.34. The σ is what determines whether the stock moves on the print — a 20-cent standard deviation around consensus means the market is already braced for a miss.
NEXT — Where did those four probabilities come from? They were never assumed — they were built from a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Where the four probabilities on the last slide came from — and why the recombination check is non-negotiable.
•  Draw the tree on the board: rate environment first, EPS second. Two branches, then two per branch.
•  Show the multiplication: 0.60 × 0.25 = 0.15. That IS the 0.15 from slide 11. The two slides are the same object.
•  Conditional expectation E[X|S] is just an expected value computed with conditional probabilities — nothing new, only re-weighted.
•  Total probability rule: E[X] = Σ E[X|Sᵢ]P(Sᵢ). Verify 2.4875(0.60) + 2.12(0.40) = 2.3405 out loud.
•  Stress that scenarios must be mutually exclusive AND exhaustive — the curriculum drops the rising-rate branch by assuming it negligible, and says so.
FROM THE DESK — Every base/upside/downside case in a bank pitch is this tree with the probabilities hidden. When a committee asks "what is your case weighting?", they are asking you to show the P(Sᵢ) you already implicitly used. If your weighted cases do not recombine to your headline number, someone will find it.
ASK THE ROOM — If I told you rates will be stable, would you revise your $2.34 up or down — and by how much?
NEXT — Conditioning changes the mean. It also changes the risk inside each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sources of risk, not one: uncertainty about which scenario, and uncertainty inside the scenario.
•  Note the deviations are taken from $2.4875 and $2.12 — NOT from $2.34. That single mistake wrecks the whole calculation.
•  Point out the asymmetry: the worse-mean branch (stable rates) is also the more volatile one. There is no rule saying risk and return line up branch by branch.
•  Then the bottom box — walk it slowly. 0.0064 within + 0.0324 between = 0.0388, which is exactly slide 11.
•  Land the ratio: 84% of the total variance is WHICH scenario happens, only 16% is what happens within it.
•  Consequence for their work: refining forecasts inside a scenario is low-value if the scenario weights are the real uncertainty.
FROM THE DESK — This is the arithmetic behind every "our model is fine, the macro moved" post-mortem. In credit and rating advisory the dispersion between scenarios almost always dominates — which is why we spend the meeting arguing about the downside case, not about the third decimal of the base case.
NEXT — So far, scenario → outcome. Bayes runs the arrow backwards: outcome observed, what scenario are we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Bayes is not a new idea — it is the same tree read from the leaves back to the root.
•  Draw the 2×2 first: 500 firms, 100 tech / 400 non-tech, 160 with R&gt;10%. Let them read 60/160 off the table before you write any formula.
•  THEN show the formula gives the same 0.375. Frequencies build the intuition; the formula generalises it.
•  Name the three objects every single time: prior P(tech), likelihood P(R&gt;10%|tech), unconditional P(R&gt;10%).
•  Evidence ratio 0.60/0.32 = 1.875 → the news nearly doubles the prior. Ratio &gt; 1 pushes up, &lt; 1 pushes down, = 1 means the information was worthless.
•  Kill the classic error: P(A|B) ≠ P(B|A). Here 0.375 vs 0.60 — same two events, wildly different numbers.
FROM THE DESK — The base-rate trap costs money constantly. "This screen flags 90% of fraudulent issuers" sounds decisive until you remember fraud is 1% of the universe — most of your flags are then false positives. In credit, the base rate is the first thing to ask for and the last thing anyone volunteers.
ASK THE ROOM — A test detects 90% of defaulters. A name fails the test. Is it 90% likely to default? Why not?
NEXT — Now the full version — three mutually exclusive events, one piece of news, three posteriors.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mechanised version: build the joint column, sum it, divide. Three arithmetic steps, no formula to memorise.
•  Work the table column by column, left to right. Prior × likelihood = joint. Sum the joints = 0.41. Divide each joint by 0.41.
•  Emphasise that P(expansion) = 0.41 is not an input — it is derived. Students constantly look for it in the question.
•  The likelihoods 0.75 / 0.20 / 0.05 are the judgement call. Everything else is arithmetic. That is where the analyst adds value.
•  End on the check: 0.823 + 0.146 + 0.030 = 1.000. Mutually exclusive and exhaustive events must.
•  Optional: with diffuse priors (1/3 each), the posterior equals the likelihood — 0.75. Good sanity anchor if there is time.
FROM THE DESK — This is what a market actually does with a corporate announcement. The stock does not react to the capex decision; it reprices the distribution of the coming print. If you can articulate the prior, the likelihood and the posterior, you can explain why a "good news" release sold off — the news was already in the prior.
NEXT — Same formula, three real analyst problems — and one place where the base rate does all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Same three inputs, three different business questions. Once they see the pattern, Bayes stops being a formula.
•  Do case 1 with them, then let them attempt case 2 in 60 seconds before you reveal.
•  Compare the evidence ratios across the three panels: 1.06, 0.71, 0.60. Only the last two are real information.
•  Case 3 is the base-rate lesson: even a 0.60 ratio only moves 5% to 3%, because the prior was already tiny.
•  Say it plainly: a weak prior cannot be rescued by a strong signal, and a strong prior is hard to move with a weak one.
•  Warn on notation: A is the EVENT you care about, B is the INFORMATION. Getting them the wrong way round inverts the answer.
FROM THE DESK — Rating advisory is Bayesian updating with a committee attached. The prior is the current rating, the likelihood is how a given metric behaves in issuers that were actually downgraded, and the base rate — how rare a downgrade is at that rating — is what stops one bad quarter becoming a rating action.
NEXT — That closes single variables. Section 3: what happens when returns are joint.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section that pays their salary. Everything before this was one variable at a time.
•  ~35 minutes, six slides. Longest block — check the clock here.
•  One sentence to hold the whole section: returns add linearly, risks do not.
•  Arc: variance decomposition → how many inputs → the frontier → forward-looking covariance → downside risk → Roy.
•  Tell them slide 18 is the single most important slide in the deck.
NEXT — Start with the two formulas — one trivial, one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one asymmetry that defines portfolio management: expected return is a weighted average, risk is not.
•  Do E[R_p] in five seconds and say "that is the whole of expected return. Now the hard half."
•  Expand the double sum explicitly for n = 3 on the board — nine terms, three on the diagonal, six off it, six that pair up into three.
•  Cov(Rᵢ,Rᵢ) = σ²(Rᵢ). That is why one formula covers both variances and covariances.
•  Walk the arithmetic: 132.625 own-variance + 63.25 co-movement = 195.875. Then √ it: 14.00%.
•  Counterfactual is the payoff: zero covariances → 11.52%. Co-movement is costing 250 bp of volatility for identical expected return.
•  Note the weights are squared in the diagonal terms — a 50% weight contributes 25% of its variance. Concentration bites quadratically.
FROM THE DESK — Ask any PM what changed in their risk report and the answer is almost never a volatility — it is a correlation. Vols are sticky and observable; correlations move fast, are estimated badly, and drive the number that actually shows up in the VaR.
ASK THE ROOM — Two assets, same expected return, same σ. When does adding the second one reduce your risk — and when does it do nothing at all?
NEXT — If covariances drive risk, how many do you actually have to estimate? The answer is the practical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Portfolio theory is not limited by mathematics. It is limited by how many numbers you can honestly estimate.
•  Derive n(n−1)/2 with them: n² entries, minus n on the diagonal, halved because the matrix is symmetric.
•  Read the table down the left column and let the last two rows land on their own.
•  Then the killer ratio: 124,750 covariances to estimate from ~120 monthly observations per stock. The matrix is not even invertible.
•  That is the whole motivation for factor models — replace 124,750 free parameters with a handful of factor loadings.
•  Do not go into factor models here. Name them, flag deck 20, move on.
FROM THE DESK — Optimisers fed a raw sample covariance matrix produce beautiful, unstable, unfundable portfolios — they load on the estimation error, not the signal. That is why every serious shop shrinks the matrix or imposes structure before it goes anywhere near an optimiser.
NEXT — Two assets is where the intuition lives. Watch what correlation actually buys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Diversification is not "own more things". It is the gap between the curve and the straight line — and ρ sets its size.
•  Read the E[R_p] column first: 4.00, 4.80, 5.60 … perfectly linear. Now the σ column: 6.00, 6.38, 7.87 — not linear.
•  The last column is the whole slide. At 60/40 the portfolio is 1.73 pp less volatile than the straight-line σ of 9.60%.
•  Where the gap peaks matters: it is widest in the middle, near zero at the endpoints. Diversification needs both assets.
•  Minimum-variance point is 96/4, not 50/50 — because σ₂ is 2.5× σ₁ AND ρ is a fairly high 0.30. It only buys 3 bp of σ.
•  Push the counterfactual: at ρ = 0 the min-σ mix would be ~86/14; at ρ = −1 you could reach σ = 0. Correlation, not variance, is the lever.
FROM THE DESK — This is why "we added an uncorrelated sleeve" is a claim to interrogate, not accept. At ρ = 0.30 with an asset 2.5× more volatile, the risk reduction is a rounding error — you are buying return, and you should say so rather than dressing it as diversification.
ASK THE ROOM — If ρ were 1.00 instead of 0.30, what would the last column read all the way down?
NEXT — All of that assumed we already knew Cov. Where does it come from when there is no usable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Historical covariance is backward-looking. A joint probability table lets you state a covariance you actually believe.
•  Show the 3×3 joint table first: only the diagonal is non-zero. That is the modelling assumption — the two banks share one industry state.
•  Expected returns first (14% and 15%), then deviations, then the cross-product, then weight by probability. Same rhythm as slide 11.
•  Note the middle scenario contributes −1: the two stocks move opposite ways in the average state. Cross-products can be negative even in a positively correlated pair.
•  Then normalise: Cov = 16 is uninterpretable, ρ = 0.80 is a sentence you can say in a meeting. Always take the extra step.
•  Independence ⟹ zero covariance. The reverse does NOT hold — zero covariance only rules out LINEAR dependence. Repeat that.
FROM THE DESK — This is the honest tool for a merger arb, a new issuer with two years of history, or any post-regime-break asset. Historical covariance quietly assumes the last five years describe the next one; a joint probability table forces you to write down what you actually think and defend it.
NEXT — We can now build a portfolio's risk. But σ is symmetric — and clients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σ answers "how much does it move". Shortfall risk answers "how likely am I to miss what I actually need". Only the second is a client objective.
•  Define R_L as a real object, not a parameter: a liability, a drawdown, a covenant, a return floor. Inflation at 2% is the curriculum's example.
•  Compare I and II: identical σ = 8%, but 37.7% vs 24.6% shortfall. Mean return is a risk input once you fix a threshold.
•  Compare I and III: same 5% mean, σ 8% vs 12% → 37.7% vs 41.7%. Dispersion still matters, just not on its own.
•  Under normality this is a single z-score: (R_L − E)/σ then read the table. Show the mechanics once, do not belabour it.
•  Flag the assumption honestly — this all rests on normal returns, and slide 7 already told them returns are not normal.
FROM THE DESK — Pension trustees do not ask for volatility, they ask for the probability of missing the funding target. Same maths, completely different conversation — and the second one is the one that gets a mandate signed.
NEXT — If shortfall probability is the objective, there is a ratio that minimises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only slide in §3 where risk and return get collapsed into one decision number — and the winner is the low-return option.
•  Get R_L right first: 30,000 / 800,000 = 3.75%. It is a client fact, not a market parameter.
•  SFRatio is just a z-score: how many σ of headroom sit between the mean and the threshold.
•  Compute all three, then pause before revealing. B has the LOWEST expected return (11%) and wins — that surprises them every time.
•  Why: A earns 25% but with 27% σ, so the threshold sits only 0.79σ away. Headroom per unit of risk is what counts.
•  Then the identity: set R_L = R_f and SFRatio IS the Sharpe ratio. One formula, two names, and Sharpe now has a meaning — it minimises the probability of underperforming cash.
•  Close on the caveat: N(−SFRatio) requires normality. With the fat tails from slide 7, 18% is an optimistic floor.
FROM THE DESK — The curriculum makes the point quietly and it is the real lesson: change B's mean from 11% to 10% and Allocation A wins instead. These rankings are fragile to inputs nobody can estimate to one decimal — so present the ranking with its sensitivity, never as a result.
ASK THE ROOM — Your client needs 3.75% and you show her an 18% chance of missing it. Is that a recommendation or a warning?
NEXT — Everything so far assumed we could write the answer down. Section 4: when you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Last block. Two ideas: the right distribution for prices, and what to do when no formula exists at all.
•  ~25 minutes, seven slides. Energy is flagging by now — pick up the pace, lean on the worked examples.
•  Half of §4 is one sentence: returns normal ⟺ prices lognormal. Everything else follows.
•  Then Monte Carlo: a recipe, not a theory. Six steps, one worked option, then bootstrap as the non-parametric twin.
•  Signal the payoff: this is the machinery behind option pricing, VaR and every capital-planning model they will meet.
NEXT — Why prices cannot be normal — and what we use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distributions, one asset: returns look normal, prices cannot be. Keep the two straight and half of §4 is free.
•  Start with the fatal objection: a normal distribution puts positive probability on a negative price. That alone rules it out.
•  Definition trick: "lognormal" = "the LOG is normal". Say it, write it, they will never invert it again.
•  Asymmetry of compounding: −100% is the floor, +100% is not the ceiling. That asymmetry IS the right skew.
•  Then the parameters — μ and σ² belong to ln Y. Biggest single error on this topic; call it out before they meet it.
•  Mean vs median: exp(μ) is the median, exp(μ + 0.5σ²) is the mean. The wedge is exp(0.5σ²) and it grows with vol.
FROM THE DESK — The mean/median wedge is why the average simulated portfolio value flatters the typical outcome. Run a 30-year wealth projection at 15% vol and the mean path is well above the median path — quote the mean to a retail client and you are describing an outcome most of them will not get.
ASK THE ROOM — +50% then −50% on the same stock. Where are you? Now tell me why the arithmetic mean return is misleading.
NEXT — If prices are lognormal, the natural return measure is the log return. It has one very convenient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Why every volatility you will ever be quoted is annualised, and the one assumption that makes the conversion legal.
•  Start from why log returns: they add. ln(P₂/P₀) = ln(P₂/P₁) + ln(P₁/P₀). Simple returns compound instead, so they will not sum.
•  Adding T iid variables: means add (μT), variances add (σ²T), so σ scales with √T — NOT with T. That square root is the whole slide.
•  Read the last column across: every horizon back-annualises to the same 15.81%. That is the internal consistency the rule buys you.
•  250 vs 252 vs 260 trading days: conventions differ by desk. The CFA uses 250; just be consistent and state it.
•  Then break it: autocorrelation, vol clustering, illiquid marks. √T over-states vol for mean-reverting series and understates it for trending ones.
FROM THE DESK — Private and illiquid assets are where √T gets abused. Stale or smoothed marks suppress measured daily vol, √T-scaling then produces an annual number that flatters the asset — that is a large part of why some alternatives look so low-risk on paper.
NEXT — Let us run the whole pipeline on five real closing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Five closing prices to a headline volatility number, with nothing hidden. Make them do it with you.
•  Compute ln(7,000/6,950) = +0.00717 live. Then let them do the other three.
•  The divisor is n − 1 = 3, not 4 and not 5. Two chances to get it wrong — count returns, not prices, then subtract one.
•  Say plainly: the mean of −2.26% per day is meaningless on 4 observations. Volatility estimates converge fast, mean estimates do not. That asymmetry is worth a minute.
•  × √250 to annualise. 33.6% for an EM large-cap in a stressed week is entirely plausible — sanity-check the output, always.
•  Flag the sampling issue: this is one hand-picked stressed week. Change the window and the answer moves a lot.
FROM THE DESK — Realised vol is what everyone computes; implied vol is what everyone trades. When 33.6% realised sits against a 25% implied, that gap is a position, not an error — and reconciling the two is the daily job on a vol desk.
ASK THE ROOM — Would you quote this 33.6% to a client as "Astra's volatility"? What would you have to say alongside it?
NEXT — Everything so far had a formula. Now the case where there is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Monte Carlo is not a theory to understand, it is a recipe to follow. Six steps, and three of them are just judgement.
•  Split the six: 1–3 are SPECIFYING the simulation (done once, all the judgement lives here). 4–6 are RUNNING it (done N times, pure compute).
•  Step 3 is where every argument happens — which distribution, which μ, which σ. Everything downstream is mechanical.
•  Emphasise WHY you need paths at all: the payoff depends on the whole path, so a terminal-value formula cannot exist.
•  Trial count: more trials shrink the SAMPLING error only. They cannot fix a wrong model — that error does not shrink at all.
•  Applications to name and move on: path-dependent options, MBS prepayment, portfolio VaR, capital planning.
FROM THE DESK — Nobody in a live process argues about the number of trials — they argue about step 3. Two banks running the same simulation on the same asset land 20% apart because of the volatility and correlation assumptions, not the random draws.
NEXT — Six abstract steps. Now watch them price something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Concrete end to end: 12,000 random numbers become one price. Make them see the mechanics, not the magic.
•  Why no closed form: the payoff needs the AVERAGE price along the path, so you must simulate the whole path, not just S_T.
•  One trial = 12 draws → 12 prices → one average → one payoff → one PV. Then repeat 999 times.
•  Two paths on the board (A pays 3, B pays 0) make the max(·,0) concrete. Optionality means the downside is truncated.
•  The 65/35 split is the option's character: most trials pay nothing, value comes from a minority of good paths.
•  Order of operations trap: discount each payoff then average. Averaging first and discounting once is wrong whenever timing varies.
•  Convergence: 1,000 trials is illustrative. Production books run 10k–100k+, and standard error only falls as 1/√N.
FROM THE DESK — Every exotic on a bank's book is priced like this, revalued nightly. The audit question is never "did the simulation run" — it is which volatility surface and which correlation matrix went into step 3, because that is where the P&amp;L actually comes from.
NEXT — Same six steps. Now replace the assumed distribution with history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Same machine, different fuel. Monte Carlo invents the randomness; bootstrap borrows it from history.
•  Anchor the one-line difference: only step 3 changes. Everything else in the recipe is untouched.
•  "With replacement" and "same size as the original sample" — both matter, and both get dropped in exam answers.
•  What you gain: the real skew and fat tails come along for free. No need to pick a distribution family.
•  What you lose: you can never draw an event that has not already happened. A bootstrap of 2004–2007 data contains no 2008.
•  Give them the choosing rule: assumption you can defend → Monte Carlo. Sample you trust as representative → bootstrap.
FROM THE DESK — Historical-simulation VaR is bootstrap under another name, and its blind spot is exactly this: the window is the universe. Every institution that was "within VaR limits" going into a crisis was resampling a window that contained no crisis.
ASK THE ROOM — You bootstrap five years of daily returns to size a tail risk. What is structurally missing from your answer?
NEXT — So when should you not simulate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Simulation is the tool of last resort, not the tool of first choice. Say that out loud — it is the opposite of what they expect.
•  Rule of thumb: if a closed form exists, use it. It is exact, instant, and it tells you HOW the answer moves with each input.
•  Precision vs accuracy — the whole slide. N buys precision. Nothing buys accuracy except a defensible model.
•  1/√N: quadruple the trials to halve the error band. Diminishing returns arrive fast.
•  Walk the three columns left to right and give one live example per column.
•  Close the section on the honest ranking: analytical &gt; Monte Carlo &gt; bootstrap, in decreasing order of what the answer actually tells you.
FROM THE DESK — A simulation output with eight decimal places and no sensitivity table is a red flag, not a result. What a committee actually wants is the tornado chart — which assumption moves the answer, and by how much. Nobody has ever approved a deal on the mean of 10,000 paths alone.
NEXT — Wrap up — eight things to carry out of this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Do not read eight bullets. Pick the three they will actually need on Monday and land those.
•  Bullet 5 is the one that matters: returns average, risks do not. If they remember one line, this is it.
•  Bullet 2 is the exam-mark bullet — n vs n−1 vs probability weights. Worth 30 seconds of repetition.
•  Bullet 4 for judgement: base rates beat signals. Applies far beyond the exam.
•  Flag what is deliberately NOT here: estimating these quantities from samples, and testing them. That is deck 03.
•  Take questions on Bayes and on portfolio variance specifically — those are where the room usually still has doubt.
FROM THE DESK — Tell them the honest version: they will never compute a covariance matrix by hand again. What they will do, constantly, is judge whether someone else's is credible — and that is exactly what this deck was training.
NEXT — Break, then deck 03 — sampling, hypothesis testing and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100584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DECK 02  ·  WEEK 1  ·  MORNING 2</a:t>
            </a:r>
            <a:endParaRPr lang="en-US" sz="1100" dirty="0"/>
          </a:p>
        </p:txBody>
      </p:sp>
      <p:sp>
        <p:nvSpPr>
          <p:cNvPr id="5" name="Text 3"/>
          <p:cNvSpPr txBox="1"/>
          <p:nvPr/>
        </p:nvSpPr>
        <p:spPr>
          <a:xfrm>
            <a:off x="457200" y="1463040"/>
            <a:ext cx="8229600" cy="1920240"/>
          </a:xfrm>
          <a:prstGeom prst="rect">
            <a:avLst/>
          </a:prstGeom>
          <a:noFill/>
          <a:ln/>
        </p:spPr>
        <p:txBody>
          <a:bodyPr wrap="square" lIns="508" tIns="508" rIns="508" bIns="508" rtlCol="0" anchor="t">
            <a:normAutofit/>
            <a:spAutoFit/>
          </a:bodyPr>
          <a:lstStyle/>
          <a:p>
            <a:pPr algn="l" indent="0" marL="0">
              <a:buNone/>
            </a:pPr>
            <a:r>
              <a:rPr lang="en-US" sz="4200" b="1" dirty="0">
                <a:solidFill>
                  <a:srgbClr val="1B2A4A"/>
                </a:solidFill>
                <a:latin typeface="Trebuchet MS" pitchFamily="34" charset="0"/>
                <a:ea typeface="Trebuchet MS" pitchFamily="34" charset="-122"/>
                <a:cs typeface="Trebuchet MS" pitchFamily="34" charset="-120"/>
              </a:rPr>
              <a:t>Probability, Distributions</a:t>
            </a:r>
            <a:endParaRPr lang="en-US" sz="4200" dirty="0"/>
          </a:p>
          <a:p>
            <a:pPr algn="l" indent="0" marL="0">
              <a:buNone/>
            </a:pPr>
            <a:r>
              <a:rPr lang="en-US" sz="4200" b="1" dirty="0">
                <a:solidFill>
                  <a:srgbClr val="1B2A4A"/>
                </a:solidFill>
                <a:latin typeface="Trebuchet MS" pitchFamily="34" charset="0"/>
                <a:ea typeface="Trebuchet MS" pitchFamily="34" charset="-122"/>
                <a:cs typeface="Trebuchet MS" pitchFamily="34" charset="-120"/>
              </a:rPr>
              <a:t>&amp; Portfolio Math</a:t>
            </a:r>
            <a:endParaRPr lang="en-US" sz="4200" dirty="0"/>
          </a:p>
        </p:txBody>
      </p:sp>
      <p:sp>
        <p:nvSpPr>
          <p:cNvPr id="6" name="Text 4"/>
          <p:cNvSpPr txBox="1"/>
          <p:nvPr/>
        </p:nvSpPr>
        <p:spPr>
          <a:xfrm>
            <a:off x="457200" y="3493008"/>
            <a:ext cx="8229600" cy="457200"/>
          </a:xfrm>
          <a:prstGeom prst="rect">
            <a:avLst/>
          </a:prstGeom>
          <a:noFill/>
          <a:ln/>
        </p:spPr>
        <p:txBody>
          <a:bodyPr wrap="square" lIns="508" tIns="508" rIns="508" bIns="508" rtlCol="0" anchor="t">
            <a:normAutofit/>
            <a:spAutoFit/>
          </a:bodyPr>
          <a:lstStyle/>
          <a:p>
            <a:pPr algn="l" indent="0" marL="0">
              <a:buNone/>
            </a:pPr>
            <a:r>
              <a:rPr lang="en-US" sz="1500" i="1" dirty="0">
                <a:solidFill>
                  <a:srgbClr val="6B7A8D"/>
                </a:solidFill>
                <a:latin typeface="Trebuchet MS" pitchFamily="34" charset="0"/>
                <a:ea typeface="Trebuchet MS" pitchFamily="34" charset="-122"/>
                <a:cs typeface="Trebuchet MS" pitchFamily="34" charset="-120"/>
              </a:rPr>
              <a:t>From moments of one return series to Monte Carlo pricing of multi-asset portfolios</a:t>
            </a:r>
            <a:endParaRPr lang="en-US" sz="1500" dirty="0"/>
          </a:p>
        </p:txBody>
      </p:sp>
      <p:sp>
        <p:nvSpPr>
          <p:cNvPr id="7" name="Text 5"/>
          <p:cNvSpPr txBox="1"/>
          <p:nvPr/>
        </p:nvSpPr>
        <p:spPr>
          <a:xfrm>
            <a:off x="457200" y="4069080"/>
            <a:ext cx="8229600" cy="274320"/>
          </a:xfrm>
          <a:prstGeom prst="rect">
            <a:avLst/>
          </a:prstGeom>
          <a:noFill/>
          <a:ln/>
        </p:spPr>
        <p:txBody>
          <a:bodyPr wrap="square" lIns="508" tIns="508" rIns="508" bIns="508" rtlCol="0" anchor="ctr">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CFA Level I · Vol 1 Learning Modules 3–6</a:t>
            </a:r>
            <a:endParaRPr lang="en-US" sz="1100" dirty="0"/>
          </a:p>
        </p:txBody>
      </p:sp>
      <p:sp>
        <p:nvSpPr>
          <p:cNvPr id="8" name="Text 6"/>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Roadmap — Probability, Distributions, Portfolio Mathematics &amp; Simulation</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777240"/>
            <a:ext cx="8503920" cy="347472"/>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4 sections · ~2 hours · Built bottom-up from CFA readings</a:t>
            </a:r>
            <a:endParaRPr lang="en-US" sz="1300" dirty="0"/>
          </a:p>
        </p:txBody>
      </p:sp>
      <p:sp>
        <p:nvSpPr>
          <p:cNvPr id="8" name="Shape 6"/>
          <p:cNvSpPr/>
          <p:nvPr/>
        </p:nvSpPr>
        <p:spPr>
          <a:xfrm>
            <a:off x="320040" y="1207008"/>
            <a:ext cx="8503920" cy="859536"/>
          </a:xfrm>
          <a:prstGeom prst="rect">
            <a:avLst/>
          </a:prstGeom>
          <a:solidFill>
            <a:srgbClr val="FFFFFF"/>
          </a:solidFill>
          <a:ln/>
        </p:spPr>
      </p:sp>
      <p:sp>
        <p:nvSpPr>
          <p:cNvPr id="9" name="Shape 7"/>
          <p:cNvSpPr/>
          <p:nvPr/>
        </p:nvSpPr>
        <p:spPr>
          <a:xfrm>
            <a:off x="320040" y="1207008"/>
            <a:ext cx="594360" cy="859536"/>
          </a:xfrm>
          <a:prstGeom prst="rect">
            <a:avLst/>
          </a:prstGeom>
          <a:solidFill>
            <a:srgbClr val="1B2A4A"/>
          </a:solidFill>
          <a:ln/>
        </p:spPr>
      </p:sp>
      <p:sp>
        <p:nvSpPr>
          <p:cNvPr id="10" name="Text 8"/>
          <p:cNvSpPr txBox="1"/>
          <p:nvPr/>
        </p:nvSpPr>
        <p:spPr>
          <a:xfrm>
            <a:off x="320040" y="1207008"/>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01</a:t>
            </a:r>
            <a:endParaRPr lang="en-US" sz="1300" dirty="0"/>
          </a:p>
        </p:txBody>
      </p:sp>
      <p:sp>
        <p:nvSpPr>
          <p:cNvPr id="11" name="Text 9"/>
          <p:cNvSpPr txBox="1"/>
          <p:nvPr/>
        </p:nvSpPr>
        <p:spPr>
          <a:xfrm>
            <a:off x="1024128" y="1252728"/>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Moments, shape &amp; dispersion</a:t>
            </a:r>
            <a:endParaRPr lang="en-US" sz="1200" dirty="0"/>
          </a:p>
        </p:txBody>
      </p:sp>
      <p:sp>
        <p:nvSpPr>
          <p:cNvPr id="12" name="Text 10"/>
          <p:cNvSpPr txBox="1"/>
          <p:nvPr/>
        </p:nvSpPr>
        <p:spPr>
          <a:xfrm>
            <a:off x="1024128" y="1593799"/>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AM / median / mode · trimmed &amp; winsorized · variance / MAD / semideviation · skew &amp; kurtosis · correlation</a:t>
            </a:r>
            <a:endParaRPr lang="en-US" sz="1100" dirty="0"/>
          </a:p>
        </p:txBody>
      </p:sp>
      <p:sp>
        <p:nvSpPr>
          <p:cNvPr id="13" name="Shape 11"/>
          <p:cNvSpPr/>
          <p:nvPr/>
        </p:nvSpPr>
        <p:spPr>
          <a:xfrm>
            <a:off x="320040" y="2103120"/>
            <a:ext cx="8503920" cy="859536"/>
          </a:xfrm>
          <a:prstGeom prst="rect">
            <a:avLst/>
          </a:prstGeom>
          <a:solidFill>
            <a:srgbClr val="F5F7FA"/>
          </a:solidFill>
          <a:ln/>
        </p:spPr>
      </p:sp>
      <p:sp>
        <p:nvSpPr>
          <p:cNvPr id="14" name="Shape 12"/>
          <p:cNvSpPr/>
          <p:nvPr/>
        </p:nvSpPr>
        <p:spPr>
          <a:xfrm>
            <a:off x="320040" y="2103120"/>
            <a:ext cx="594360" cy="859536"/>
          </a:xfrm>
          <a:prstGeom prst="rect">
            <a:avLst/>
          </a:prstGeom>
          <a:solidFill>
            <a:srgbClr val="1B2A4A"/>
          </a:solidFill>
          <a:ln/>
        </p:spPr>
      </p:sp>
      <p:sp>
        <p:nvSpPr>
          <p:cNvPr id="15" name="Text 13"/>
          <p:cNvSpPr txBox="1"/>
          <p:nvPr/>
        </p:nvSpPr>
        <p:spPr>
          <a:xfrm>
            <a:off x="320040" y="2103120"/>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02</a:t>
            </a:r>
            <a:endParaRPr lang="en-US" sz="1300" dirty="0"/>
          </a:p>
        </p:txBody>
      </p:sp>
      <p:sp>
        <p:nvSpPr>
          <p:cNvPr id="16" name="Text 14"/>
          <p:cNvSpPr txBox="1"/>
          <p:nvPr/>
        </p:nvSpPr>
        <p:spPr>
          <a:xfrm>
            <a:off x="1024128" y="2148840"/>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Probability trees &amp; Bayes</a:t>
            </a:r>
            <a:endParaRPr lang="en-US" sz="1200" dirty="0"/>
          </a:p>
        </p:txBody>
      </p:sp>
      <p:sp>
        <p:nvSpPr>
          <p:cNvPr id="17" name="Text 15"/>
          <p:cNvSpPr txBox="1"/>
          <p:nvPr/>
        </p:nvSpPr>
        <p:spPr>
          <a:xfrm>
            <a:off x="1024128" y="2489911"/>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E[X], Var[X] for discrete RVs · BankCorp EPS conditional tree · total probability rule · Bayes in credit &amp; equity</a:t>
            </a:r>
            <a:endParaRPr lang="en-US" sz="1100" dirty="0"/>
          </a:p>
        </p:txBody>
      </p:sp>
      <p:sp>
        <p:nvSpPr>
          <p:cNvPr id="18" name="Shape 16"/>
          <p:cNvSpPr/>
          <p:nvPr/>
        </p:nvSpPr>
        <p:spPr>
          <a:xfrm>
            <a:off x="320040" y="2999232"/>
            <a:ext cx="8503920" cy="859536"/>
          </a:xfrm>
          <a:prstGeom prst="rect">
            <a:avLst/>
          </a:prstGeom>
          <a:solidFill>
            <a:srgbClr val="FFFFFF"/>
          </a:solidFill>
          <a:ln/>
        </p:spPr>
      </p:sp>
      <p:sp>
        <p:nvSpPr>
          <p:cNvPr id="19" name="Shape 17"/>
          <p:cNvSpPr/>
          <p:nvPr/>
        </p:nvSpPr>
        <p:spPr>
          <a:xfrm>
            <a:off x="320040" y="2999232"/>
            <a:ext cx="594360" cy="859536"/>
          </a:xfrm>
          <a:prstGeom prst="rect">
            <a:avLst/>
          </a:prstGeom>
          <a:solidFill>
            <a:srgbClr val="1B2A4A"/>
          </a:solidFill>
          <a:ln/>
        </p:spPr>
      </p:sp>
      <p:sp>
        <p:nvSpPr>
          <p:cNvPr id="20" name="Text 18"/>
          <p:cNvSpPr txBox="1"/>
          <p:nvPr/>
        </p:nvSpPr>
        <p:spPr>
          <a:xfrm>
            <a:off x="320040" y="2999232"/>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03</a:t>
            </a:r>
            <a:endParaRPr lang="en-US" sz="1300" dirty="0"/>
          </a:p>
        </p:txBody>
      </p:sp>
      <p:sp>
        <p:nvSpPr>
          <p:cNvPr id="21" name="Text 19"/>
          <p:cNvSpPr txBox="1"/>
          <p:nvPr/>
        </p:nvSpPr>
        <p:spPr>
          <a:xfrm>
            <a:off x="1024128" y="3044952"/>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Portfolio risk &amp; safety-first</a:t>
            </a:r>
            <a:endParaRPr lang="en-US" sz="1200" dirty="0"/>
          </a:p>
        </p:txBody>
      </p:sp>
      <p:sp>
        <p:nvSpPr>
          <p:cNvPr id="22" name="Text 20"/>
          <p:cNvSpPr txBox="1"/>
          <p:nvPr/>
        </p:nvSpPr>
        <p:spPr>
          <a:xfrm>
            <a:off x="1024128" y="3386023"/>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weighted return · covariance matrix · diversification · joint probability function · shortfall risk · Roy's criterion</a:t>
            </a:r>
            <a:endParaRPr lang="en-US" sz="1100" dirty="0"/>
          </a:p>
        </p:txBody>
      </p:sp>
      <p:sp>
        <p:nvSpPr>
          <p:cNvPr id="23" name="Shape 21"/>
          <p:cNvSpPr/>
          <p:nvPr/>
        </p:nvSpPr>
        <p:spPr>
          <a:xfrm>
            <a:off x="320040" y="3895344"/>
            <a:ext cx="8503920" cy="859536"/>
          </a:xfrm>
          <a:prstGeom prst="rect">
            <a:avLst/>
          </a:prstGeom>
          <a:solidFill>
            <a:srgbClr val="F5F7FA"/>
          </a:solidFill>
          <a:ln/>
        </p:spPr>
      </p:sp>
      <p:sp>
        <p:nvSpPr>
          <p:cNvPr id="24" name="Shape 22"/>
          <p:cNvSpPr/>
          <p:nvPr/>
        </p:nvSpPr>
        <p:spPr>
          <a:xfrm>
            <a:off x="320040" y="3895344"/>
            <a:ext cx="594360" cy="859536"/>
          </a:xfrm>
          <a:prstGeom prst="rect">
            <a:avLst/>
          </a:prstGeom>
          <a:solidFill>
            <a:srgbClr val="1B2A4A"/>
          </a:solidFill>
          <a:ln/>
        </p:spPr>
      </p:sp>
      <p:sp>
        <p:nvSpPr>
          <p:cNvPr id="25" name="Text 23"/>
          <p:cNvSpPr txBox="1"/>
          <p:nvPr/>
        </p:nvSpPr>
        <p:spPr>
          <a:xfrm>
            <a:off x="320040" y="3895344"/>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04</a:t>
            </a:r>
            <a:endParaRPr lang="en-US" sz="1300" dirty="0"/>
          </a:p>
        </p:txBody>
      </p:sp>
      <p:sp>
        <p:nvSpPr>
          <p:cNvPr id="26" name="Text 24"/>
          <p:cNvSpPr txBox="1"/>
          <p:nvPr/>
        </p:nvSpPr>
        <p:spPr>
          <a:xfrm>
            <a:off x="1024128" y="3941064"/>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Lognormal &amp; Monte Carlo</a:t>
            </a:r>
            <a:endParaRPr lang="en-US" sz="1200" dirty="0"/>
          </a:p>
        </p:txBody>
      </p:sp>
      <p:sp>
        <p:nvSpPr>
          <p:cNvPr id="27" name="Text 25"/>
          <p:cNvSpPr txBox="1"/>
          <p:nvPr/>
        </p:nvSpPr>
        <p:spPr>
          <a:xfrm>
            <a:off x="1024128" y="4282135"/>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lognormal asset prices · r_cc &amp; √T scaling · Astra volatility · 6-step Monte Carlo · bootstrap vs MC</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Learning objectives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822960"/>
            <a:ext cx="8503920" cy="274320"/>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By the end of this deck you should be able to:</a:t>
            </a:r>
            <a:endParaRPr lang="en-US" sz="1300" dirty="0"/>
          </a:p>
        </p:txBody>
      </p:sp>
      <p:sp>
        <p:nvSpPr>
          <p:cNvPr id="8" name="Text 6"/>
          <p:cNvSpPr txBox="1"/>
          <p:nvPr/>
        </p:nvSpPr>
        <p:spPr>
          <a:xfrm>
            <a:off x="320040" y="1188720"/>
            <a:ext cx="8503920" cy="3108960"/>
          </a:xfrm>
          <a:prstGeom prst="rect">
            <a:avLst/>
          </a:prstGeom>
          <a:noFill/>
          <a:ln/>
        </p:spPr>
        <p:txBody>
          <a:bodyPr wrap="square" rtlCol="0" anchor="t"/>
          <a:lstStyle/>
          <a:p>
            <a:pPr indent="0" marL="0">
              <a:buNone/>
            </a:pPr>
            <a:r>
              <a:rPr lang="en-US" sz="1200" b="1" dirty="0">
                <a:solidFill>
                  <a:srgbClr val="E8600A"/>
                </a:solidFill>
                <a:latin typeface="Trebuchet MS" pitchFamily="34" charset="0"/>
                <a:ea typeface="Trebuchet MS" pitchFamily="34" charset="-122"/>
                <a:cs typeface="Trebuchet MS" pitchFamily="34" charset="-120"/>
              </a:rPr>
              <a:t>1. </a:t>
            </a:r>
            <a:pPr indent="0" marL="0">
              <a:buNone/>
            </a:pPr>
            <a:r>
              <a:rPr lang="en-US" sz="1200" dirty="0">
                <a:solidFill>
                  <a:srgbClr val="334155"/>
                </a:solidFill>
                <a:latin typeface="Calibri" pitchFamily="34" charset="0"/>
                <a:ea typeface="Calibri" pitchFamily="34" charset="-122"/>
                <a:cs typeface="Calibri" pitchFamily="34" charset="-120"/>
              </a:rPr>
              <a:t>Compute and interpret the full set of descriptive statistics for an asset-return series — mean variants, variance / MAD / semideviation, skewness, kurtosis, covariance and correlation — and know which one answers which question.
</a:t>
            </a:r>
            <a:pPr indent="0" marL="0">
              <a:buNone/>
            </a:pPr>
            <a:r>
              <a:rPr lang="en-US" sz="1200" b="1" dirty="0">
                <a:solidFill>
                  <a:srgbClr val="E8600A"/>
                </a:solidFill>
                <a:latin typeface="Trebuchet MS" pitchFamily="34" charset="0"/>
                <a:ea typeface="Trebuchet MS" pitchFamily="34" charset="-122"/>
                <a:cs typeface="Trebuchet MS" pitchFamily="34" charset="-120"/>
              </a:rPr>
              <a:t>2. </a:t>
            </a:r>
            <a:pPr indent="0" marL="0">
              <a:buNone/>
            </a:pPr>
            <a:r>
              <a:rPr lang="en-US" sz="1200" dirty="0">
                <a:solidFill>
                  <a:srgbClr val="334155"/>
                </a:solidFill>
                <a:latin typeface="Calibri" pitchFamily="34" charset="0"/>
                <a:ea typeface="Calibri" pitchFamily="34" charset="-122"/>
                <a:cs typeface="Calibri" pitchFamily="34" charset="-120"/>
              </a:rPr>
              <a:t>Build a probability tree for a discrete random variable, read off conditional expected values and variances, and apply Bayes' formula to update a prior belief with new information.
</a:t>
            </a:r>
            <a:pPr indent="0" marL="0">
              <a:buNone/>
            </a:pPr>
            <a:r>
              <a:rPr lang="en-US" sz="1200" b="1" dirty="0">
                <a:solidFill>
                  <a:srgbClr val="E8600A"/>
                </a:solidFill>
                <a:latin typeface="Trebuchet MS" pitchFamily="34" charset="0"/>
                <a:ea typeface="Trebuchet MS" pitchFamily="34" charset="-122"/>
                <a:cs typeface="Trebuchet MS" pitchFamily="34" charset="-120"/>
              </a:rPr>
              <a:t>3. </a:t>
            </a:r>
            <a:pPr indent="0" marL="0">
              <a:buNone/>
            </a:pPr>
            <a:r>
              <a:rPr lang="en-US" sz="1200" dirty="0">
                <a:solidFill>
                  <a:srgbClr val="334155"/>
                </a:solidFill>
                <a:latin typeface="Calibri" pitchFamily="34" charset="0"/>
                <a:ea typeface="Calibri" pitchFamily="34" charset="-122"/>
                <a:cs typeface="Calibri" pitchFamily="34" charset="-120"/>
              </a:rPr>
              <a:t>Decompose portfolio variance into own-variance and covariance terms, enumerate how many distinct covariances an n-asset portfolio requires, and estimate covariance from a joint probability function when history is short.
</a:t>
            </a:r>
            <a:pPr indent="0" marL="0">
              <a:buNone/>
            </a:pPr>
            <a:r>
              <a:rPr lang="en-US" sz="1200" b="1" dirty="0">
                <a:solidFill>
                  <a:srgbClr val="E8600A"/>
                </a:solidFill>
                <a:latin typeface="Trebuchet MS" pitchFamily="34" charset="0"/>
                <a:ea typeface="Trebuchet MS" pitchFamily="34" charset="-122"/>
                <a:cs typeface="Trebuchet MS" pitchFamily="34" charset="-120"/>
              </a:rPr>
              <a:t>4. </a:t>
            </a:r>
            <a:pPr indent="0" marL="0">
              <a:buNone/>
            </a:pPr>
            <a:r>
              <a:rPr lang="en-US" sz="1200" dirty="0">
                <a:solidFill>
                  <a:srgbClr val="334155"/>
                </a:solidFill>
                <a:latin typeface="Calibri" pitchFamily="34" charset="0"/>
                <a:ea typeface="Calibri" pitchFamily="34" charset="-122"/>
                <a:cs typeface="Calibri" pitchFamily="34" charset="-120"/>
              </a:rPr>
              <a:t>Quantify shortfall risk using Roy's safety-first criterion and connect the SFRatio to the Sharpe ratio as a special case when the threshold equals the risk-free rate.
</a:t>
            </a:r>
            <a:pPr indent="0" marL="0">
              <a:buNone/>
            </a:pPr>
            <a:r>
              <a:rPr lang="en-US" sz="1200" b="1" dirty="0">
                <a:solidFill>
                  <a:srgbClr val="E8600A"/>
                </a:solidFill>
                <a:latin typeface="Trebuchet MS" pitchFamily="34" charset="0"/>
                <a:ea typeface="Trebuchet MS" pitchFamily="34" charset="-122"/>
                <a:cs typeface="Trebuchet MS" pitchFamily="34" charset="-120"/>
              </a:rPr>
              <a:t>5. </a:t>
            </a:r>
            <a:pPr indent="0" marL="0">
              <a:buNone/>
            </a:pPr>
            <a:r>
              <a:rPr lang="en-US" sz="1200" dirty="0">
                <a:solidFill>
                  <a:srgbClr val="334155"/>
                </a:solidFill>
                <a:latin typeface="Calibri" pitchFamily="34" charset="0"/>
                <a:ea typeface="Calibri" pitchFamily="34" charset="-122"/>
                <a:cs typeface="Calibri" pitchFamily="34" charset="-120"/>
              </a:rPr>
              <a:t>Explain why asset prices are modelled as lognormal while continuously compounded returns are modelled as normal, derive the √T volatility-scaling rule, and walk through the 6-step Monte Carlo recipe for a derivative with no closed form.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01</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Moments, shape</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&amp; dispersion</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1 of 4  ·  Deck 2 of 20  ·  Studio Tonton Gug</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Mean, median and mode answer three different questions about the same return series — and outliers are what force you to pick carefully</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3, pp. 89–93.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Arithmetic mean is the most used — and the least robust to outliers. Trimmed and winsorized means reclaim robustness without abandoning the mean entirely.</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X̄  =  (1/n) Σ Xᵢ        median = middle-ranked value        mode = most frequent value</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Median: position (n+1)/2 if n odd; mean of positions n/2 and (n+2)/2 if n even. Trimmed mean DROPS the tails; winsorized mean REPLACES them with the boundary percentile. Continuous return data usually has no single mode — quote the modal interval instead.</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0040" y="2331720"/>
          <a:ext cx="8503920" cy="914400"/>
        </p:xfrm>
        <a:graphic>
          <a:graphicData uri="http://schemas.openxmlformats.org/drawingml/2006/table">
            <a:tbl>
              <a:tblPr/>
              <a:tblGrid>
                <a:gridCol w="3566160"/>
                <a:gridCol w="1280160"/>
                <a:gridCol w="1097280"/>
                <a:gridCol w="25603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EAA Equity Index, 1,258 trading days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Observations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Mean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it tells you</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Arithmetic mean (all data)</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1,258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0.035%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baseline — all outliers in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5% trimmed (cut below P2.5 / above P97.5)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1,194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0.048%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64 obs. dropped; mean rises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95% winsorized (caps at −1.934% / +1.671%)</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1,258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0.038%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tails capped, not deleted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3" name="Shape 10"/>
          <p:cNvSpPr/>
          <p:nvPr/>
        </p:nvSpPr>
        <p:spPr>
          <a:xfrm>
            <a:off x="320040" y="3931920"/>
            <a:ext cx="8503920" cy="621792"/>
          </a:xfrm>
          <a:prstGeom prst="rect">
            <a:avLst/>
          </a:prstGeom>
          <a:solidFill>
            <a:srgbClr val="FEF0E7"/>
          </a:solidFill>
          <a:ln/>
        </p:spPr>
      </p:sp>
      <p:sp>
        <p:nvSpPr>
          <p:cNvPr id="14" name="Shape 11"/>
          <p:cNvSpPr/>
          <p:nvPr/>
        </p:nvSpPr>
        <p:spPr>
          <a:xfrm>
            <a:off x="320040" y="3931920"/>
            <a:ext cx="73152" cy="621792"/>
          </a:xfrm>
          <a:prstGeom prst="rect">
            <a:avLst/>
          </a:prstGeom>
          <a:solidFill>
            <a:srgbClr val="E8600A"/>
          </a:solidFill>
          <a:ln/>
        </p:spPr>
      </p:sp>
      <p:sp>
        <p:nvSpPr>
          <p:cNvPr id="15" name="Text 12"/>
          <p:cNvSpPr txBox="1"/>
          <p:nvPr/>
        </p:nvSpPr>
        <p:spPr>
          <a:xfrm>
            <a:off x="457200" y="39776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IT MATTERS</a:t>
            </a:r>
            <a:endParaRPr lang="en-US" sz="1100" dirty="0"/>
          </a:p>
        </p:txBody>
      </p:sp>
      <p:sp>
        <p:nvSpPr>
          <p:cNvPr id="16" name="Text 13"/>
          <p:cNvSpPr txBox="1"/>
          <p:nvPr/>
        </p:nvSpPr>
        <p:spPr>
          <a:xfrm>
            <a:off x="457200" y="4251960"/>
            <a:ext cx="8275320" cy="25603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Both robust means come out ABOVE the arithmetic mean — so the discarded observations were disproportionately large negatives. The gap (0.035% → 0.048%, +37% of the estimate itself) is a one-line diagnostic for influential left-tail outliers, before you plot anything.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Variance and standard deviation describe two-sided dispersion — downside deviation and coefficient of variation sharpen the view when asymmetry matters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3, pp. 100–108, Ex. 3–4.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Target semideviation only penalises observations below a chosen threshold — the investor-relevant cut of risk.</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s² = Σ(Xᵢ−X̄)² / (n−1)       s_target = √[Σ_{Xᵢ≤B}(Xᵢ−B)² / (n−1)]       CV = s / X̄</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B = target (minimum acceptable return). Note the denominator: n = TOTAL sample size, not the count of observations below B — the standard exam trap. CV is unitless, so it compares dispersion across datasets; it is meaningless when X̄ ≤ 0.</a:t>
            </a:r>
            <a:endParaRPr lang="en-US" sz="1100" dirty="0"/>
          </a:p>
        </p:txBody>
      </p:sp>
      <p:sp>
        <p:nvSpPr>
          <p:cNvPr id="12" name="Shape 10"/>
          <p:cNvSpPr/>
          <p:nvPr/>
        </p:nvSpPr>
        <p:spPr>
          <a:xfrm>
            <a:off x="320040" y="2331720"/>
            <a:ext cx="8503920" cy="1965960"/>
          </a:xfrm>
          <a:prstGeom prst="rect">
            <a:avLst/>
          </a:prstGeom>
          <a:solidFill>
            <a:srgbClr val="FEF0E7"/>
          </a:solidFill>
          <a:ln w="9525">
            <a:solidFill>
              <a:srgbClr val="E8600A"/>
            </a:solidFill>
            <a:prstDash val="solid"/>
          </a:ln>
        </p:spPr>
      </p:sp>
      <p:sp>
        <p:nvSpPr>
          <p:cNvPr id="13" name="Text 11"/>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3 EXAMPLES 3–4 — 12 MONTHLY PORTFOLIO RETURNS</a:t>
            </a:r>
            <a:endParaRPr lang="en-US" sz="1100" dirty="0"/>
          </a:p>
        </p:txBody>
      </p:sp>
      <p:sp>
        <p:nvSpPr>
          <p:cNvPr id="14" name="Text 12"/>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Returns: 5, 3, −1, −4, 4, 2, 0, 4, 3, 0, 6, 5 (%). They sum to 27, so X̄ = 27 / 12 = 2.25%.</a:t>
            </a:r>
            <a:endParaRPr lang="en-US" sz="1200" dirty="0"/>
          </a:p>
        </p:txBody>
      </p:sp>
      <p:sp>
        <p:nvSpPr>
          <p:cNvPr id="15" name="Text 13"/>
          <p:cNvSpPr txBox="1"/>
          <p:nvPr/>
        </p:nvSpPr>
        <p:spPr>
          <a:xfrm>
            <a:off x="457200" y="318211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Sample s: squared deviations from X̄ sum to 96.25  →  s = √(96.25 / 11) = 2.958%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Target B = 3%: five months fall below; squared shortfalls sum to 84  →  s_target = √(84 / 11) = 2.763%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Target B = 2%: only four months fall below; sum drops to 53  →  s_target = √(53 / 11) = 2.195%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CV = 2.958 / 2.25 = 1.31  →  1.3 units of risk per unit of mean return</a:t>
            </a:r>
            <a:endParaRPr lang="en-US" sz="105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s = 2.958%   ·   s_target@3% = 2.763%   ·   s_target@2% = 2.195%   ·   CV = 1.31</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Skewness measures asymmetry and kurtosis measures tail weight — both matter because real asset returns are almost never normal</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3, pp. 110–116, Ex. 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Normal = skew 0 and kurtosis 3 (excess kurtosis 0). Both formulas below are large-sample approximations — use them only when n ≥ 100.</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Skew  ≈  (1/n) Σ (Xᵢ−X̄)³ / s³          Excess Kurtosis  ≈  (1/n) Σ (Xᵢ−X̄)⁴ / s⁴   −   3</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Cubing keeps the sign, so skew is signed; the 4th power kills the sign, so kurtosis only measures tail WEIGHT, never direction. Positive skew → long right tail (frequent small losses, rare large gains). Negative skew → the mirror.</a:t>
            </a:r>
            <a:endParaRPr lang="en-US" sz="1100" dirty="0"/>
          </a:p>
        </p:txBody>
      </p:sp>
      <p:sp>
        <p:nvSpPr>
          <p:cNvPr id="12" name="Shape 10"/>
          <p:cNvSpPr/>
          <p:nvPr/>
        </p:nvSpPr>
        <p:spPr>
          <a:xfrm>
            <a:off x="320040" y="2331720"/>
            <a:ext cx="2743200" cy="1965960"/>
          </a:xfrm>
          <a:prstGeom prst="rect">
            <a:avLst/>
          </a:prstGeom>
          <a:solidFill>
            <a:srgbClr val="F5F7FA"/>
          </a:solidFill>
          <a:ln/>
        </p:spPr>
      </p:sp>
      <p:sp>
        <p:nvSpPr>
          <p:cNvPr id="13" name="Shape 11"/>
          <p:cNvSpPr/>
          <p:nvPr/>
        </p:nvSpPr>
        <p:spPr>
          <a:xfrm>
            <a:off x="320040" y="2331720"/>
            <a:ext cx="73152" cy="1965960"/>
          </a:xfrm>
          <a:prstGeom prst="rect">
            <a:avLst/>
          </a:prstGeom>
          <a:solidFill>
            <a:srgbClr val="1B2A4A"/>
          </a:solidFill>
          <a:ln/>
        </p:spPr>
      </p:sp>
      <p:sp>
        <p:nvSpPr>
          <p:cNvPr id="14" name="Text 12"/>
          <p:cNvSpPr txBox="1"/>
          <p:nvPr/>
        </p:nvSpPr>
        <p:spPr>
          <a:xfrm>
            <a:off x="45720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NEGATIVE SKEW</a:t>
            </a:r>
            <a:endParaRPr lang="en-US" sz="1100" dirty="0"/>
          </a:p>
        </p:txBody>
      </p:sp>
      <p:sp>
        <p:nvSpPr>
          <p:cNvPr id="15" name="Text 13"/>
          <p:cNvSpPr txBox="1"/>
          <p:nvPr/>
        </p:nvSpPr>
        <p:spPr>
          <a:xfrm>
            <a:off x="457200" y="2651760"/>
            <a:ext cx="251460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Frequent small gains, rare large losses.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Typical of equity indices — crashes live in the left tail. Ordering: mean &lt; median &lt; mode.</a:t>
            </a:r>
            <a:endParaRPr lang="en-US" sz="1200" dirty="0"/>
          </a:p>
        </p:txBody>
      </p:sp>
      <p:sp>
        <p:nvSpPr>
          <p:cNvPr id="16" name="Shape 14"/>
          <p:cNvSpPr/>
          <p:nvPr/>
        </p:nvSpPr>
        <p:spPr>
          <a:xfrm>
            <a:off x="3200400" y="2331720"/>
            <a:ext cx="2743200" cy="1965960"/>
          </a:xfrm>
          <a:prstGeom prst="rect">
            <a:avLst/>
          </a:prstGeom>
          <a:solidFill>
            <a:srgbClr val="FEF0E7"/>
          </a:solidFill>
          <a:ln/>
        </p:spPr>
      </p:sp>
      <p:sp>
        <p:nvSpPr>
          <p:cNvPr id="17" name="Shape 15"/>
          <p:cNvSpPr/>
          <p:nvPr/>
        </p:nvSpPr>
        <p:spPr>
          <a:xfrm>
            <a:off x="3200400" y="2331720"/>
            <a:ext cx="73152" cy="1965960"/>
          </a:xfrm>
          <a:prstGeom prst="rect">
            <a:avLst/>
          </a:prstGeom>
          <a:solidFill>
            <a:srgbClr val="E8600A"/>
          </a:solidFill>
          <a:ln/>
        </p:spPr>
      </p:sp>
      <p:sp>
        <p:nvSpPr>
          <p:cNvPr id="18" name="Text 16"/>
          <p:cNvSpPr txBox="1"/>
          <p:nvPr/>
        </p:nvSpPr>
        <p:spPr>
          <a:xfrm>
            <a:off x="333756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LEPTOKURTIC · K_E &gt; 0</a:t>
            </a:r>
            <a:endParaRPr lang="en-US" sz="1100" dirty="0"/>
          </a:p>
        </p:txBody>
      </p:sp>
      <p:sp>
        <p:nvSpPr>
          <p:cNvPr id="19" name="Text 17"/>
          <p:cNvSpPr txBox="1"/>
          <p:nvPr/>
        </p:nvSpPr>
        <p:spPr>
          <a:xfrm>
            <a:off x="3337560" y="2651760"/>
            <a:ext cx="251460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More mass in BOTH tails and near the mean; less in the shoulders.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EAA Equity Index: skew −0.43, excess kurtosis +3.80 → fat-tailed and left-skewed at the same time.</a:t>
            </a:r>
            <a:endParaRPr lang="en-US" sz="1200" dirty="0"/>
          </a:p>
        </p:txBody>
      </p:sp>
      <p:sp>
        <p:nvSpPr>
          <p:cNvPr id="20" name="Shape 18"/>
          <p:cNvSpPr/>
          <p:nvPr/>
        </p:nvSpPr>
        <p:spPr>
          <a:xfrm>
            <a:off x="6080760" y="2331720"/>
            <a:ext cx="2743200" cy="1965960"/>
          </a:xfrm>
          <a:prstGeom prst="rect">
            <a:avLst/>
          </a:prstGeom>
          <a:solidFill>
            <a:srgbClr val="F5F7FA"/>
          </a:solidFill>
          <a:ln/>
        </p:spPr>
      </p:sp>
      <p:sp>
        <p:nvSpPr>
          <p:cNvPr id="21" name="Shape 19"/>
          <p:cNvSpPr/>
          <p:nvPr/>
        </p:nvSpPr>
        <p:spPr>
          <a:xfrm>
            <a:off x="6080760" y="2331720"/>
            <a:ext cx="73152" cy="1965960"/>
          </a:xfrm>
          <a:prstGeom prst="rect">
            <a:avLst/>
          </a:prstGeom>
          <a:solidFill>
            <a:srgbClr val="1B2A4A"/>
          </a:solidFill>
          <a:ln/>
        </p:spPr>
      </p:sp>
      <p:sp>
        <p:nvSpPr>
          <p:cNvPr id="22" name="Text 20"/>
          <p:cNvSpPr txBox="1"/>
          <p:nvPr/>
        </p:nvSpPr>
        <p:spPr>
          <a:xfrm>
            <a:off x="621792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IGNORE AT YOUR PERIL</a:t>
            </a:r>
            <a:endParaRPr lang="en-US" sz="1100" dirty="0"/>
          </a:p>
        </p:txBody>
      </p:sp>
      <p:sp>
        <p:nvSpPr>
          <p:cNvPr id="23" name="Text 21"/>
          <p:cNvSpPr txBox="1"/>
          <p:nvPr/>
        </p:nvSpPr>
        <p:spPr>
          <a:xfrm>
            <a:off x="6217920" y="2651760"/>
            <a:ext cx="251460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mean–variance model with skew −0.43 and K_E +3.80 in the data will systematically understate the odds of very bad and very good days. This is why parametric VaR gets backtested.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Covariance is scale-dependent and therefore hard to compare — correlation normalises it to the interval [−1, +1] and becomes the workhorse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LM 3 pp. 119–121 (definitions) and LM 5 Example 2, pp. 165–166 (data).</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r = +1 is perfect positive LINEAR association. r = 0 means no LINEAR association — the two variables can still be perfectly related in a curve.</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s_XY  =  Σ (Xᵢ−X̄)(Yᵢ−Ȳ) / (n−1)          r_XY  =  s_XY / ( s_X · s_Y )</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Same n−1 as the variance, and for the same reason — it makes s_XY an unbiased estimate of the population covariance. Covariance carries the units of X × Y (returns squared); correlation is unitless and bounded by ±1.</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20040" y="2331720"/>
          <a:ext cx="8503920" cy="914400"/>
        </p:xfrm>
        <a:graphic>
          <a:graphicData uri="http://schemas.openxmlformats.org/drawingml/2006/table">
            <a:tbl>
              <a:tblPr/>
              <a:tblGrid>
                <a:gridCol w="3383280"/>
                <a:gridCol w="2103120"/>
                <a:gridCol w="1508760"/>
                <a:gridCol w="15087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Pair · 24 monthly returns, decimals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Variance of each</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Covariance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Correlation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Large-cap US vs world ex-US equity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0.001736 / 0.001488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0.001349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0.876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Intermediate vs long-term IG corporates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0.000174 / 0.000699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0.000318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0.951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3" name="Shape 10"/>
          <p:cNvSpPr/>
          <p:nvPr/>
        </p:nvSpPr>
        <p:spPr>
          <a:xfrm>
            <a:off x="320040" y="3310128"/>
            <a:ext cx="8503920" cy="960120"/>
          </a:xfrm>
          <a:prstGeom prst="rect">
            <a:avLst/>
          </a:prstGeom>
          <a:solidFill>
            <a:srgbClr val="FEF0E7"/>
          </a:solidFill>
          <a:ln/>
        </p:spPr>
      </p:sp>
      <p:sp>
        <p:nvSpPr>
          <p:cNvPr id="14" name="Shape 11"/>
          <p:cNvSpPr/>
          <p:nvPr/>
        </p:nvSpPr>
        <p:spPr>
          <a:xfrm>
            <a:off x="320040" y="3310128"/>
            <a:ext cx="73152" cy="960120"/>
          </a:xfrm>
          <a:prstGeom prst="rect">
            <a:avLst/>
          </a:prstGeom>
          <a:solidFill>
            <a:srgbClr val="E8600A"/>
          </a:solidFill>
          <a:ln/>
        </p:spPr>
      </p:sp>
      <p:sp>
        <p:nvSpPr>
          <p:cNvPr id="15" name="Text 12"/>
          <p:cNvSpPr txBox="1"/>
          <p:nvPr/>
        </p:nvSpPr>
        <p:spPr>
          <a:xfrm>
            <a:off x="457200" y="3355848"/>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READ THE TWO ROWS AGAINST EACH OTHER</a:t>
            </a:r>
            <a:endParaRPr lang="en-US" sz="1100" dirty="0"/>
          </a:p>
        </p:txBody>
      </p:sp>
      <p:sp>
        <p:nvSpPr>
          <p:cNvPr id="16" name="Text 13"/>
          <p:cNvSpPr txBox="1"/>
          <p:nvPr/>
        </p:nvSpPr>
        <p:spPr>
          <a:xfrm>
            <a:off x="457200" y="3630168"/>
            <a:ext cx="8275320" cy="594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equity pair has ~10× the variances and ~4× the covariance of the bond pair — and the WEAKER relationship (0.876 vs 0.951). Covariance magnitude tells you about scale, not about strength of association. Only after dividing by σ_X σ_Y can you compare pairs at all: that division is the entire job of the correlation coefficient.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Correlation captures only linear association — scatter plots remain essential to spot non-linearity, outliers, and spurious relationships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Spurious by chance: US retail sales of beer, wine and liquor vs atmospheric CO₂, 2000–2018, r = 0.824. No mechanism at all.
</a:t>
            </a:r>
            <a:pPr indent="0" marL="0">
              <a:buNone/>
            </a:pPr>
            <a:r>
              <a:rPr lang="en-US" sz="1000" dirty="0">
                <a:solidFill>
                  <a:srgbClr val="6B7A8D"/>
                </a:solidFill>
                <a:latin typeface="Calibri" pitchFamily="34" charset="0"/>
                <a:ea typeface="Calibri" pitchFamily="34" charset="-122"/>
                <a:cs typeface="Calibri" pitchFamily="34" charset="-120"/>
              </a:rPr>
              <a:t>² Also spurious: two series both divided by market cap; or two series driven by a hidden third factor (height and vocabulary ← age).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3, pp. 117–124, Example 7 (Anscombe 1973).</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IT sector returns cluster tightly along a positively sloped line against the S&amp;P 500; utility returns show no discernible pattern at all — same axes, opposite conclusions.</a:t>
            </a:r>
            <a:endParaRPr lang="en-US" sz="1300" dirty="0"/>
          </a:p>
        </p:txBody>
      </p:sp>
      <p:sp>
        <p:nvSpPr>
          <p:cNvPr id="10" name="Shape 8"/>
          <p:cNvSpPr/>
          <p:nvPr/>
        </p:nvSpPr>
        <p:spPr>
          <a:xfrm>
            <a:off x="320040" y="1188720"/>
            <a:ext cx="4160520" cy="2926080"/>
          </a:xfrm>
          <a:prstGeom prst="rect">
            <a:avLst/>
          </a:prstGeom>
          <a:solidFill>
            <a:srgbClr val="FEF0E7"/>
          </a:solidFill>
          <a:ln/>
        </p:spPr>
      </p:sp>
      <p:sp>
        <p:nvSpPr>
          <p:cNvPr id="11" name="Shape 9"/>
          <p:cNvSpPr/>
          <p:nvPr/>
        </p:nvSpPr>
        <p:spPr>
          <a:xfrm>
            <a:off x="320040" y="1188720"/>
            <a:ext cx="73152" cy="2926080"/>
          </a:xfrm>
          <a:prstGeom prst="rect">
            <a:avLst/>
          </a:prstGeom>
          <a:solidFill>
            <a:srgbClr val="E8600A"/>
          </a:solidFill>
          <a:ln/>
        </p:spPr>
      </p:sp>
      <p:sp>
        <p:nvSpPr>
          <p:cNvPr id="12" name="Text 10"/>
          <p:cNvSpPr txBox="1"/>
          <p:nvPr/>
        </p:nvSpPr>
        <p:spPr>
          <a:xfrm>
            <a:off x="4572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WHAT r CANNOT TELL YOU</a:t>
            </a:r>
            <a:endParaRPr lang="en-US" sz="1100" dirty="0"/>
          </a:p>
        </p:txBody>
      </p:sp>
      <p:sp>
        <p:nvSpPr>
          <p:cNvPr id="13" name="Text 11"/>
          <p:cNvSpPr txBox="1"/>
          <p:nvPr/>
        </p:nvSpPr>
        <p:spPr>
          <a:xfrm>
            <a:off x="457200" y="1508760"/>
            <a:ext cx="3931920" cy="25603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1.  Strength AND shape of the association</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2.  Curvature — a perfect parabola has r ≈ 0</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3.  Data range, gaps, and clustering</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4.  Single outliers that manufacture (or destroy) the coefficient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5.  Sub-populations / regime shifts hiding inside one cloud</a:t>
            </a:r>
            <a:endParaRPr lang="en-US" sz="1200" dirty="0"/>
          </a:p>
        </p:txBody>
      </p:sp>
      <p:sp>
        <p:nvSpPr>
          <p:cNvPr id="14" name="Shape 12"/>
          <p:cNvSpPr/>
          <p:nvPr/>
        </p:nvSpPr>
        <p:spPr>
          <a:xfrm>
            <a:off x="4663440" y="1188720"/>
            <a:ext cx="4160520" cy="2926080"/>
          </a:xfrm>
          <a:prstGeom prst="rect">
            <a:avLst/>
          </a:prstGeom>
          <a:solidFill>
            <a:srgbClr val="F5F7FA"/>
          </a:solidFill>
          <a:ln/>
        </p:spPr>
      </p:sp>
      <p:sp>
        <p:nvSpPr>
          <p:cNvPr id="15" name="Shape 13"/>
          <p:cNvSpPr/>
          <p:nvPr/>
        </p:nvSpPr>
        <p:spPr>
          <a:xfrm>
            <a:off x="4663440" y="1188720"/>
            <a:ext cx="73152" cy="2926080"/>
          </a:xfrm>
          <a:prstGeom prst="rect">
            <a:avLst/>
          </a:prstGeom>
          <a:solidFill>
            <a:srgbClr val="1B2A4A"/>
          </a:solidFill>
          <a:ln/>
        </p:spPr>
      </p:sp>
      <p:sp>
        <p:nvSpPr>
          <p:cNvPr id="16" name="Text 14"/>
          <p:cNvSpPr txBox="1"/>
          <p:nvPr/>
        </p:nvSpPr>
        <p:spPr>
          <a:xfrm>
            <a:off x="48006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ANSCOMBE'S QUARTET</a:t>
            </a:r>
            <a:endParaRPr lang="en-US" sz="1100" dirty="0"/>
          </a:p>
        </p:txBody>
      </p:sp>
      <p:sp>
        <p:nvSpPr>
          <p:cNvPr id="17" name="Text 15"/>
          <p:cNvSpPr txBox="1"/>
          <p:nvPr/>
        </p:nvSpPr>
        <p:spPr>
          <a:xfrm>
            <a:off x="4800600" y="1508760"/>
            <a:ext cx="3931920" cy="25603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Four datasets. Identical X̄ = 9.00, s_X = 3.32, Ȳ = 7.50, s_Y = 2.03, and identical r = 0.82.</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I — roughly linear.</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II — a clean curve.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III — perfectly linear except one outlier.</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IV — X constant except one point.</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Summary statistics do not describe data. Only the picture does.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02</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Probability trees</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&amp; Bayes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2 of 4  ·  Deck 2 of 20  ·  Studio Tonton Gug</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expected value of a discrete random variable is the probability-weighted sum of its outcomes — variance is the probability-weighted squared deviation around it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4, pp. 134–136.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Note the contrast with §1: there we averaged observations with equal weights (historical, sample). Here we weight OUTCOMES by probabilities — forward-looking, population. No n−1 anywhere.</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E[X]  =  Σ P(Xᵢ) · Xᵢ          σ²[X]  =  Σ P(Xᵢ) · [Xᵢ − E[X]]²          σ[X] = √σ²[X]</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Probabilities must be mutually exclusive, exhaustive, and sum to 1. Order of operations is fixed: expected value first, then variance, then standard deviation.</a:t>
            </a:r>
            <a:endParaRPr lang="en-US" sz="1100" dirty="0"/>
          </a:p>
        </p:txBody>
      </p:sp>
      <p:sp>
        <p:nvSpPr>
          <p:cNvPr id="12" name="Shape 10"/>
          <p:cNvSpPr/>
          <p:nvPr/>
        </p:nvSpPr>
        <p:spPr>
          <a:xfrm>
            <a:off x="320040" y="2331720"/>
            <a:ext cx="8503920" cy="1965960"/>
          </a:xfrm>
          <a:prstGeom prst="rect">
            <a:avLst/>
          </a:prstGeom>
          <a:solidFill>
            <a:srgbClr val="FEF0E7"/>
          </a:solidFill>
          <a:ln w="9525">
            <a:solidFill>
              <a:srgbClr val="E8600A"/>
            </a:solidFill>
            <a:prstDash val="solid"/>
          </a:ln>
        </p:spPr>
      </p:sp>
      <p:sp>
        <p:nvSpPr>
          <p:cNvPr id="13" name="Text 11"/>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4 EXAMPLE 1 — BANKCORP EPS FORECAST</a:t>
            </a:r>
            <a:endParaRPr lang="en-US" sz="1100" dirty="0"/>
          </a:p>
        </p:txBody>
      </p:sp>
      <p:sp>
        <p:nvSpPr>
          <p:cNvPr id="14" name="Text 12"/>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Four possible EPS outcomes with probabilities 0.15, 0.45, 0.24, 0.16 and EPS $2.60 / $2.45 / $2.20 / $2.00.</a:t>
            </a:r>
            <a:endParaRPr lang="en-US" sz="1200" dirty="0"/>
          </a:p>
        </p:txBody>
      </p:sp>
      <p:sp>
        <p:nvSpPr>
          <p:cNvPr id="15" name="Text 13"/>
          <p:cNvSpPr txBox="1"/>
          <p:nvPr/>
        </p:nvSpPr>
        <p:spPr>
          <a:xfrm>
            <a:off x="457200" y="318211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E[EPS] = 0.15(2.60) + 0.45(2.45) + 0.24(2.20) + 0.16(2.00) = $2.3405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σ²[EPS] = 0.15(2.60−2.34)² + 0.45(2.45−2.34)² + 0.24(2.20−2.34)² + 0.16(2.00−2.34)²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         = 0.01014 + 0.00545 + 0.00470 + 0.01850 = 0.03879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σ[EPS] = √0.03879 ≈ $0.197  →  expected EPS of $2.34 with a one-sigma band of roughly ±$0.20</a:t>
            </a:r>
            <a:endParaRPr lang="en-US" sz="105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E[EPS] = $2.34  ·  σ[EPS] = $0.20</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probability tree decomposes an unconditional forecast into scenario-conditional expectations that must recombine to the original number</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4, pp. 136–140.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Total probability rule for expected value: E[X] = Σ E[X | Sᵢ] · P(Sᵢ). The check that the recombined total matches the unconditional E[X] is non-negotiable.</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E[X]  =  E[X | S₁] · P(S₁)  +  E[X | S₂] · P(S₂)  +  …  +  E[X | S_n] · P(S_n)</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Scenarios S₁..S_n must be mutually exclusive and exhaustive. Their probabilities sum to 1.</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20040" y="2331720"/>
          <a:ext cx="8503920" cy="914400"/>
        </p:xfrm>
        <a:graphic>
          <a:graphicData uri="http://schemas.openxmlformats.org/drawingml/2006/table">
            <a:tbl>
              <a:tblPr/>
              <a:tblGrid>
                <a:gridCol w="2377440"/>
                <a:gridCol w="914400"/>
                <a:gridCol w="2834640"/>
                <a:gridCol w="1188720"/>
                <a:gridCol w="11887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Scenario Sᵢ</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P(Sᵢ)</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E[EPS | Sᵢ]</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Contribution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Branch probs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Declining interest rates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0.25·2.60 + 0.75·2.45 = $2.4875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1.4925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0.15 / 0.45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Stable interest rates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0.40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0.60·2.20 + 0.40·2.00 = $2.1200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0.8480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0.24 / 0.16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Unconditional E[EPS]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$2.3405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 slide 11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
        <p:nvSpPr>
          <p:cNvPr id="13" name="Shape 10"/>
          <p:cNvSpPr/>
          <p:nvPr/>
        </p:nvSpPr>
        <p:spPr>
          <a:xfrm>
            <a:off x="320040" y="3749040"/>
            <a:ext cx="8503920" cy="804672"/>
          </a:xfrm>
          <a:prstGeom prst="rect">
            <a:avLst/>
          </a:prstGeom>
          <a:solidFill>
            <a:srgbClr val="FEF0E7"/>
          </a:solidFill>
          <a:ln/>
        </p:spPr>
      </p:sp>
      <p:sp>
        <p:nvSpPr>
          <p:cNvPr id="14" name="Shape 11"/>
          <p:cNvSpPr/>
          <p:nvPr/>
        </p:nvSpPr>
        <p:spPr>
          <a:xfrm>
            <a:off x="320040" y="3749040"/>
            <a:ext cx="73152" cy="804672"/>
          </a:xfrm>
          <a:prstGeom prst="rect">
            <a:avLst/>
          </a:prstGeom>
          <a:solidFill>
            <a:srgbClr val="E8600A"/>
          </a:solidFill>
          <a:ln/>
        </p:spPr>
      </p:sp>
      <p:sp>
        <p:nvSpPr>
          <p:cNvPr id="15" name="Text 12"/>
          <p:cNvSpPr txBox="1"/>
          <p:nvPr/>
        </p:nvSpPr>
        <p:spPr>
          <a:xfrm>
            <a:off x="457200" y="379476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TREE IS THE FORECAST — $2.34 IS ONLY ITS SUMMARY</a:t>
            </a:r>
            <a:endParaRPr lang="en-US" sz="1100" dirty="0"/>
          </a:p>
        </p:txBody>
      </p:sp>
      <p:sp>
        <p:nvSpPr>
          <p:cNvPr id="16" name="Text 13"/>
          <p:cNvSpPr txBox="1"/>
          <p:nvPr/>
        </p:nvSpPr>
        <p:spPr>
          <a:xfrm>
            <a:off x="457200" y="4069080"/>
            <a:ext cx="8275320" cy="43891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"If rates decline we see $2.49; if they hold here, $2.12" says far more than "$2.34". And the branch probabilities must reconcile: 0.60 × 0.25 = 0.15, exactly the unconditional probability of a $2.60 print on slide 11. If they do not tie, the forecast is internally arbitrage-able.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Conditional variance is how scenario-conditioned forecasts keep track of residual risk inside each branch of the tree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4, pp. 138–140.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Conditional variance is computed exactly like any variance — but with conditional probabilities and deviations from the CONDITIONAL mean, not the unconditional one.</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σ²[X | S]  =  Σᵢ P(Xᵢ | S) · [Xᵢ − E[X | S]]²</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Branch variances do not average up to the unconditional variance — the spread BETWEEN branch means is risk too (law of total variance, below).</a:t>
            </a:r>
            <a:endParaRPr lang="en-US" sz="1100" dirty="0"/>
          </a:p>
        </p:txBody>
      </p:sp>
      <p:sp>
        <p:nvSpPr>
          <p:cNvPr id="12" name="Shape 10"/>
          <p:cNvSpPr/>
          <p:nvPr/>
        </p:nvSpPr>
        <p:spPr>
          <a:xfrm>
            <a:off x="320040" y="2194560"/>
            <a:ext cx="4160520" cy="1325880"/>
          </a:xfrm>
          <a:prstGeom prst="rect">
            <a:avLst/>
          </a:prstGeom>
          <a:solidFill>
            <a:srgbClr val="FEF0E7"/>
          </a:solidFill>
          <a:ln/>
        </p:spPr>
      </p:sp>
      <p:sp>
        <p:nvSpPr>
          <p:cNvPr id="13" name="Shape 11"/>
          <p:cNvSpPr/>
          <p:nvPr/>
        </p:nvSpPr>
        <p:spPr>
          <a:xfrm>
            <a:off x="320040" y="2194560"/>
            <a:ext cx="73152" cy="1325880"/>
          </a:xfrm>
          <a:prstGeom prst="rect">
            <a:avLst/>
          </a:prstGeom>
          <a:solidFill>
            <a:srgbClr val="E8600A"/>
          </a:solidFill>
          <a:ln/>
        </p:spPr>
      </p:sp>
      <p:sp>
        <p:nvSpPr>
          <p:cNvPr id="14" name="Text 12"/>
          <p:cNvSpPr txBox="1"/>
          <p:nvPr/>
        </p:nvSpPr>
        <p:spPr>
          <a:xfrm>
            <a:off x="457200" y="224028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DECLINING RATES · P = 0.60</a:t>
            </a:r>
            <a:endParaRPr lang="en-US" sz="1100" dirty="0"/>
          </a:p>
        </p:txBody>
      </p:sp>
      <p:sp>
        <p:nvSpPr>
          <p:cNvPr id="15" name="Text 13"/>
          <p:cNvSpPr txBox="1"/>
          <p:nvPr/>
        </p:nvSpPr>
        <p:spPr>
          <a:xfrm>
            <a:off x="457200" y="2514600"/>
            <a:ext cx="3931920" cy="9601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E[EPS | declining] = $2.4875</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σ² = 0.25(2.60−2.4875)² + 0.75(2.45−2.4875)²  =  0.00422</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σ = $0.065</a:t>
            </a:r>
            <a:endParaRPr lang="en-US" sz="1200" dirty="0"/>
          </a:p>
        </p:txBody>
      </p:sp>
      <p:sp>
        <p:nvSpPr>
          <p:cNvPr id="16" name="Shape 14"/>
          <p:cNvSpPr/>
          <p:nvPr/>
        </p:nvSpPr>
        <p:spPr>
          <a:xfrm>
            <a:off x="4663440" y="2194560"/>
            <a:ext cx="4160520" cy="1325880"/>
          </a:xfrm>
          <a:prstGeom prst="rect">
            <a:avLst/>
          </a:prstGeom>
          <a:solidFill>
            <a:srgbClr val="F5F7FA"/>
          </a:solidFill>
          <a:ln/>
        </p:spPr>
      </p:sp>
      <p:sp>
        <p:nvSpPr>
          <p:cNvPr id="17" name="Shape 15"/>
          <p:cNvSpPr/>
          <p:nvPr/>
        </p:nvSpPr>
        <p:spPr>
          <a:xfrm>
            <a:off x="4663440" y="2194560"/>
            <a:ext cx="73152" cy="1325880"/>
          </a:xfrm>
          <a:prstGeom prst="rect">
            <a:avLst/>
          </a:prstGeom>
          <a:solidFill>
            <a:srgbClr val="1B2A4A"/>
          </a:solidFill>
          <a:ln/>
        </p:spPr>
      </p:sp>
      <p:sp>
        <p:nvSpPr>
          <p:cNvPr id="18" name="Text 16"/>
          <p:cNvSpPr txBox="1"/>
          <p:nvPr/>
        </p:nvSpPr>
        <p:spPr>
          <a:xfrm>
            <a:off x="4800600" y="224028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STABLE RATES · P = 0.40</a:t>
            </a:r>
            <a:endParaRPr lang="en-US" sz="1100" dirty="0"/>
          </a:p>
        </p:txBody>
      </p:sp>
      <p:sp>
        <p:nvSpPr>
          <p:cNvPr id="19" name="Text 17"/>
          <p:cNvSpPr txBox="1"/>
          <p:nvPr/>
        </p:nvSpPr>
        <p:spPr>
          <a:xfrm>
            <a:off x="4800600" y="2514600"/>
            <a:ext cx="3931920" cy="9601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E[EPS | stable] = $2.1200</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σ² = 0.60(2.20−2.12)² + 0.40(2.00−2.12)²  =  0.00960</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σ = $0.098 — the lower-mean branch is the riskier one too</a:t>
            </a:r>
            <a:endParaRPr lang="en-US" sz="1200" dirty="0"/>
          </a:p>
        </p:txBody>
      </p:sp>
      <p:sp>
        <p:nvSpPr>
          <p:cNvPr id="20" name="Shape 18"/>
          <p:cNvSpPr/>
          <p:nvPr/>
        </p:nvSpPr>
        <p:spPr>
          <a:xfrm>
            <a:off x="320040" y="3611880"/>
            <a:ext cx="8503920" cy="914400"/>
          </a:xfrm>
          <a:prstGeom prst="rect">
            <a:avLst/>
          </a:prstGeom>
          <a:solidFill>
            <a:srgbClr val="FEF0E7"/>
          </a:solidFill>
          <a:ln/>
        </p:spPr>
      </p:sp>
      <p:sp>
        <p:nvSpPr>
          <p:cNvPr id="21" name="Shape 19"/>
          <p:cNvSpPr/>
          <p:nvPr/>
        </p:nvSpPr>
        <p:spPr>
          <a:xfrm>
            <a:off x="320040" y="3611880"/>
            <a:ext cx="73152" cy="914400"/>
          </a:xfrm>
          <a:prstGeom prst="rect">
            <a:avLst/>
          </a:prstGeom>
          <a:solidFill>
            <a:srgbClr val="E8600A"/>
          </a:solidFill>
          <a:ln/>
        </p:spPr>
      </p:sp>
      <p:sp>
        <p:nvSpPr>
          <p:cNvPr id="22" name="Text 20"/>
          <p:cNvSpPr txBox="1"/>
          <p:nvPr/>
        </p:nvSpPr>
        <p:spPr>
          <a:xfrm>
            <a:off x="457200" y="36576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TWO PIECES OF RISK MUST ADD BACK TO SLIDE 11</a:t>
            </a:r>
            <a:endParaRPr lang="en-US" sz="1100" dirty="0"/>
          </a:p>
        </p:txBody>
      </p:sp>
      <p:sp>
        <p:nvSpPr>
          <p:cNvPr id="23" name="Text 21"/>
          <p:cNvSpPr txBox="1"/>
          <p:nvPr/>
        </p:nvSpPr>
        <p:spPr>
          <a:xfrm>
            <a:off x="457200" y="3931920"/>
            <a:ext cx="8275320" cy="5486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Within-branch risk:  0.60(0.00422) + 0.40(0.00960) = 0.00637</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Between-branch risk:  0.60(2.4875−2.3405)² + 0.40(2.12−2.3405)² = 0.03241</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Sum = 0.03879 = σ²[EPS] on slide 11 — and 84% of it is WHICH scenario occurs, not what happens inside one.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Bayes' formula reverses a conditional probability — it updates a prior belief by the ratio of likelihood to unconditional probability of the new information</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4, pp. 141–144.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multiplier [P(Info | Event) / P(Info)] is the "evidence ratio". When it is &gt;1 the posterior rises; &lt;1 and the posterior falls.</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P(Event | Info)  =  [ P(Info | Event) / P(Info) ]  ·  P(Event)</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P(Event) = prior; P(Info | Event) = likelihood; P(Info) = unconditional probability; P(Event | Info) = posterior.</a:t>
            </a:r>
            <a:endParaRPr lang="en-US" sz="1100" dirty="0"/>
          </a:p>
        </p:txBody>
      </p:sp>
      <p:sp>
        <p:nvSpPr>
          <p:cNvPr id="12" name="Shape 10"/>
          <p:cNvSpPr/>
          <p:nvPr/>
        </p:nvSpPr>
        <p:spPr>
          <a:xfrm>
            <a:off x="320040" y="2331720"/>
            <a:ext cx="8503920" cy="1965960"/>
          </a:xfrm>
          <a:prstGeom prst="rect">
            <a:avLst/>
          </a:prstGeom>
          <a:solidFill>
            <a:srgbClr val="FEF0E7"/>
          </a:solidFill>
          <a:ln w="9525">
            <a:solidFill>
              <a:srgbClr val="E8600A"/>
            </a:solidFill>
            <a:prstDash val="solid"/>
          </a:ln>
        </p:spPr>
      </p:sp>
      <p:sp>
        <p:nvSpPr>
          <p:cNvPr id="13" name="Text 11"/>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TECH-FIRM FRAMEWORK — READ THE UPDATE AS A FREQUENCY</a:t>
            </a:r>
            <a:endParaRPr lang="en-US" sz="1100" dirty="0"/>
          </a:p>
        </p:txBody>
      </p:sp>
      <p:sp>
        <p:nvSpPr>
          <p:cNvPr id="14" name="Text 12"/>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500-stock index has 100 tech firms; 60 had returns &gt;10%. Of 400 non-tech firms, 100 had returns &gt;10%. What is P(tech | R &gt; 10%)?</a:t>
            </a:r>
            <a:endParaRPr lang="en-US" sz="1200" dirty="0"/>
          </a:p>
        </p:txBody>
      </p:sp>
      <p:sp>
        <p:nvSpPr>
          <p:cNvPr id="15" name="Text 13"/>
          <p:cNvSpPr txBox="1"/>
          <p:nvPr/>
        </p:nvSpPr>
        <p:spPr>
          <a:xfrm>
            <a:off x="457200" y="318211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Prior: P(tech) = 100/500 = 0.20  ·  unconditional P(R&gt;10%) = 160/500 = 0.32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Likelihood: P(R&gt;10% | tech) = 60/100 = 0.60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Bayes: P(tech | R&gt;10%) = (0.60 / 0.32) · 0.20 = 1.875 · 0.20 = 0.375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Frequency check: of 160 firms with R&gt;10%, 60 are tech  →  60/160 = 0.375 ✓</a:t>
            </a:r>
            <a:endParaRPr lang="en-US" sz="105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Posterior 0.375  =  prior 0.20  ×  evidence ratio 1.875</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The DriveMed expansion announcement lifts the implied probability of a consensus beat from 45% to 82% — a textbook Bayesian update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4, Example 4, pp. 144–147.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Three mutually exclusive events (beat / meet / miss) — the three posteriors must sum to 1, which is the final consistency check on the calculation.</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3017520"/>
                <a:gridCol w="1280160"/>
                <a:gridCol w="2377440"/>
                <a:gridCol w="1097280"/>
                <a:gridCol w="9144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Event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Prior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P(expansion | Event)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Joint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Posterior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EPS exceeded consensus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0.45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0.3375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0.823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EPS met consensus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0.0600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0.146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EPS fell short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0.0125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P(expansion) · Σ posterior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0.4100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
        <p:nvSpPr>
          <p:cNvPr id="10" name="Shape 7"/>
          <p:cNvSpPr/>
          <p:nvPr/>
        </p:nvSpPr>
        <p:spPr>
          <a:xfrm>
            <a:off x="320040" y="3474720"/>
            <a:ext cx="8503920" cy="914400"/>
          </a:xfrm>
          <a:prstGeom prst="rect">
            <a:avLst/>
          </a:prstGeom>
          <a:solidFill>
            <a:srgbClr val="FEF0E7"/>
          </a:solidFill>
          <a:ln/>
        </p:spPr>
      </p:sp>
      <p:sp>
        <p:nvSpPr>
          <p:cNvPr id="11" name="Shape 8"/>
          <p:cNvSpPr/>
          <p:nvPr/>
        </p:nvSpPr>
        <p:spPr>
          <a:xfrm>
            <a:off x="320040" y="3474720"/>
            <a:ext cx="73152" cy="914400"/>
          </a:xfrm>
          <a:prstGeom prst="rect">
            <a:avLst/>
          </a:prstGeom>
          <a:solidFill>
            <a:srgbClr val="E8600A"/>
          </a:solidFill>
          <a:ln/>
        </p:spPr>
      </p:sp>
      <p:sp>
        <p:nvSpPr>
          <p:cNvPr id="12" name="Text 9"/>
          <p:cNvSpPr txBox="1"/>
          <p:nvPr/>
        </p:nvSpPr>
        <p:spPr>
          <a:xfrm>
            <a:off x="457200" y="35204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MECHANICS — TWO COLUMNS AND ONE DIVISION</a:t>
            </a:r>
            <a:endParaRPr lang="en-US" sz="1100" dirty="0"/>
          </a:p>
        </p:txBody>
      </p:sp>
      <p:sp>
        <p:nvSpPr>
          <p:cNvPr id="13" name="Text 10"/>
          <p:cNvSpPr txBox="1"/>
          <p:nvPr/>
        </p:nvSpPr>
        <p:spPr>
          <a:xfrm>
            <a:off x="457200" y="3794760"/>
            <a:ext cx="8275320" cy="5486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Joint = prior × likelihood. P(expansion) = 0.41 is just the sum of the joint column — that is the total probability rule again. Posterior = joint / 0.41, e.g. 0.3375 / 0.41 = 0.823. One announcement moves the mass from 45 / 30 / 25 to 82 / 15 / 3, and the posteriors still sum to 1.000 — your check.</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Bayes is most valuable where the base rate is low and the signal is imperfect — credit scoring, bankruptcy prediction, CEO turnover</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4, Question Set, pp. 147–150.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Identical structure every time: prior P(A) · likelihood P(B|A) · unconditional P(B). Note P(B) is NOT a prior — it is the unconditional probability of the evidence, and it is the denominator.</a:t>
            </a:r>
            <a:endParaRPr lang="en-US" sz="1300" dirty="0"/>
          </a:p>
        </p:txBody>
      </p:sp>
      <p:sp>
        <p:nvSpPr>
          <p:cNvPr id="9" name="Shape 7"/>
          <p:cNvSpPr/>
          <p:nvPr/>
        </p:nvSpPr>
        <p:spPr>
          <a:xfrm>
            <a:off x="320040" y="1188720"/>
            <a:ext cx="2743200" cy="3154680"/>
          </a:xfrm>
          <a:prstGeom prst="rect">
            <a:avLst/>
          </a:prstGeom>
          <a:solidFill>
            <a:srgbClr val="F5F7FA"/>
          </a:solidFill>
          <a:ln/>
        </p:spPr>
      </p:sp>
      <p:sp>
        <p:nvSpPr>
          <p:cNvPr id="10" name="Shape 8"/>
          <p:cNvSpPr/>
          <p:nvPr/>
        </p:nvSpPr>
        <p:spPr>
          <a:xfrm>
            <a:off x="320040" y="1188720"/>
            <a:ext cx="73152" cy="3154680"/>
          </a:xfrm>
          <a:prstGeom prst="rect">
            <a:avLst/>
          </a:prstGeom>
          <a:solidFill>
            <a:srgbClr val="1B2A4A"/>
          </a:solidFill>
          <a:ln/>
        </p:spPr>
      </p:sp>
      <p:sp>
        <p:nvSpPr>
          <p:cNvPr id="11" name="Text 9"/>
          <p:cNvSpPr txBox="1"/>
          <p:nvPr/>
        </p:nvSpPr>
        <p:spPr>
          <a:xfrm>
            <a:off x="457200" y="128016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CREDIT SCORE · TIMELY REPAYMENT</a:t>
            </a:r>
            <a:endParaRPr lang="en-US" sz="1100" dirty="0"/>
          </a:p>
        </p:txBody>
      </p:sp>
      <p:sp>
        <p:nvSpPr>
          <p:cNvPr id="12" name="Text 10"/>
          <p:cNvSpPr txBox="1"/>
          <p:nvPr/>
        </p:nvSpPr>
        <p:spPr>
          <a:xfrm>
            <a:off x="457200" y="1645920"/>
            <a:ext cx="2468880" cy="260604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Prior:</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P(A) = 0.90  pays on time</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Evidence:</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P(B) = 0.80  good report</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Likelihood:</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P(B | A) = 0.85</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P(A | B) = (0.85 / 0.80) × 0.90</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 0.956</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Ratio 1.06 → a weak signal. 90% → 95.6%.</a:t>
            </a:r>
            <a:endParaRPr lang="en-US" sz="1100" dirty="0"/>
          </a:p>
        </p:txBody>
      </p:sp>
      <p:sp>
        <p:nvSpPr>
          <p:cNvPr id="13" name="Shape 11"/>
          <p:cNvSpPr/>
          <p:nvPr/>
        </p:nvSpPr>
        <p:spPr>
          <a:xfrm>
            <a:off x="3200400" y="1188720"/>
            <a:ext cx="2743200" cy="3154680"/>
          </a:xfrm>
          <a:prstGeom prst="rect">
            <a:avLst/>
          </a:prstGeom>
          <a:solidFill>
            <a:srgbClr val="FEF0E7"/>
          </a:solidFill>
          <a:ln/>
        </p:spPr>
      </p:sp>
      <p:sp>
        <p:nvSpPr>
          <p:cNvPr id="14" name="Shape 12"/>
          <p:cNvSpPr/>
          <p:nvPr/>
        </p:nvSpPr>
        <p:spPr>
          <a:xfrm>
            <a:off x="3200400" y="1188720"/>
            <a:ext cx="73152" cy="3154680"/>
          </a:xfrm>
          <a:prstGeom prst="rect">
            <a:avLst/>
          </a:prstGeom>
          <a:solidFill>
            <a:srgbClr val="E8600A"/>
          </a:solidFill>
          <a:ln/>
        </p:spPr>
      </p:sp>
      <p:sp>
        <p:nvSpPr>
          <p:cNvPr id="15" name="Text 13"/>
          <p:cNvSpPr txBox="1"/>
          <p:nvPr/>
        </p:nvSpPr>
        <p:spPr>
          <a:xfrm>
            <a:off x="3337560" y="128016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BANKRUPTCY MODEL · FAILURE RATE</a:t>
            </a:r>
            <a:endParaRPr lang="en-US" sz="1100" dirty="0"/>
          </a:p>
        </p:txBody>
      </p:sp>
      <p:sp>
        <p:nvSpPr>
          <p:cNvPr id="16" name="Text 14"/>
          <p:cNvSpPr txBox="1"/>
          <p:nvPr/>
        </p:nvSpPr>
        <p:spPr>
          <a:xfrm>
            <a:off x="3337560" y="1645920"/>
            <a:ext cx="2468880" cy="260604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Prior:</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P(fail) = 0.20</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Evidence:</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P(good) = 0.70</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Likelihood:</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P(good | fail) = 0.50</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P(fail | good) = (0.50/0.70) × 0.20</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 0.143</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Ratio 0.71 → posterior falls. 20% → 14.3%.</a:t>
            </a:r>
            <a:endParaRPr lang="en-US" sz="1100" dirty="0"/>
          </a:p>
        </p:txBody>
      </p:sp>
      <p:sp>
        <p:nvSpPr>
          <p:cNvPr id="17" name="Shape 15"/>
          <p:cNvSpPr/>
          <p:nvPr/>
        </p:nvSpPr>
        <p:spPr>
          <a:xfrm>
            <a:off x="6080760" y="1188720"/>
            <a:ext cx="2743200" cy="3154680"/>
          </a:xfrm>
          <a:prstGeom prst="rect">
            <a:avLst/>
          </a:prstGeom>
          <a:solidFill>
            <a:srgbClr val="F5F7FA"/>
          </a:solidFill>
          <a:ln/>
        </p:spPr>
      </p:sp>
      <p:sp>
        <p:nvSpPr>
          <p:cNvPr id="18" name="Shape 16"/>
          <p:cNvSpPr/>
          <p:nvPr/>
        </p:nvSpPr>
        <p:spPr>
          <a:xfrm>
            <a:off x="6080760" y="1188720"/>
            <a:ext cx="73152" cy="3154680"/>
          </a:xfrm>
          <a:prstGeom prst="rect">
            <a:avLst/>
          </a:prstGeom>
          <a:solidFill>
            <a:srgbClr val="1B2A4A"/>
          </a:solidFill>
          <a:ln/>
        </p:spPr>
      </p:sp>
      <p:sp>
        <p:nvSpPr>
          <p:cNvPr id="19" name="Text 17"/>
          <p:cNvSpPr txBox="1"/>
          <p:nvPr/>
        </p:nvSpPr>
        <p:spPr>
          <a:xfrm>
            <a:off x="6217920" y="128016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CEO FIRED · GOOD PERFORMANCE</a:t>
            </a:r>
            <a:endParaRPr lang="en-US" sz="1100" dirty="0"/>
          </a:p>
        </p:txBody>
      </p:sp>
      <p:sp>
        <p:nvSpPr>
          <p:cNvPr id="20" name="Text 18"/>
          <p:cNvSpPr txBox="1"/>
          <p:nvPr/>
        </p:nvSpPr>
        <p:spPr>
          <a:xfrm>
            <a:off x="6217920" y="1645920"/>
            <a:ext cx="2468880" cy="260604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Prior:</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P(fired) = 0.05</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Evidence:</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P(good) = 0.50</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Likelihood:</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P(good | fired) = 0.30</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P(fired | good) = (0.30/0.50) × 0.05</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 0.030</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Low base rate dominates: 5% → 3%, still not 0.</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03</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Portfolio risk</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3 of 4  ·  Deck 2 of 20  ·  Studio Tonton Gug</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portfolio's expected return is a simple weighted average, but its variance depends on pairwise covariances — which quickly dominate as n grows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5, pp. 154–157.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For n assets the double sum has n² terms: n variances on the diagonal and n² − n off-diagonal. At n = 20 that is 20 variances against 380 covariance entries — 19 co-movement terms for every own-risk term.</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E[R_p] = Σ wᵢ E[Rᵢ]       σ²[R_p] = Σᵢ Σⱼ wᵢ wⱼ Cov(Rᵢ, Rⱼ)</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Weights sum to 1. Diagonal Cov(Rᵢ, Rᵢ) = σ²[Rᵢ]. Off-diagonal terms capture co-movement.</a:t>
            </a:r>
            <a:endParaRPr lang="en-US" sz="1100" dirty="0"/>
          </a:p>
        </p:txBody>
      </p:sp>
      <p:sp>
        <p:nvSpPr>
          <p:cNvPr id="12" name="Shape 10"/>
          <p:cNvSpPr/>
          <p:nvPr/>
        </p:nvSpPr>
        <p:spPr>
          <a:xfrm>
            <a:off x="320040" y="2331720"/>
            <a:ext cx="8503920" cy="1965960"/>
          </a:xfrm>
          <a:prstGeom prst="rect">
            <a:avLst/>
          </a:prstGeom>
          <a:solidFill>
            <a:srgbClr val="FEF0E7"/>
          </a:solidFill>
          <a:ln w="9525">
            <a:solidFill>
              <a:srgbClr val="E8600A"/>
            </a:solidFill>
            <a:prstDash val="solid"/>
          </a:ln>
        </p:spPr>
      </p:sp>
      <p:sp>
        <p:nvSpPr>
          <p:cNvPr id="13" name="Text 11"/>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5 — THREE-ASSET PORTFOLIO (S&amp;P 500 / LT CORP BONDS / MSCI EAFE)</a:t>
            </a:r>
            <a:endParaRPr lang="en-US" sz="1100" dirty="0"/>
          </a:p>
        </p:txBody>
      </p:sp>
      <p:sp>
        <p:nvSpPr>
          <p:cNvPr id="14" name="Text 12"/>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Weights 50% / 25% / 25%. E[R] = 13% / 6% / 15%. Var diagonals 400 / 81 / 441 (%²). Off-diagonals 45 / 189 / 38.</a:t>
            </a:r>
            <a:endParaRPr lang="en-US" sz="1200" dirty="0"/>
          </a:p>
        </p:txBody>
      </p:sp>
      <p:sp>
        <p:nvSpPr>
          <p:cNvPr id="15" name="Text 13"/>
          <p:cNvSpPr txBox="1"/>
          <p:nvPr/>
        </p:nvSpPr>
        <p:spPr>
          <a:xfrm>
            <a:off x="457200" y="318211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E[R_p] = 0.50(13) + 0.25(6) + 0.25(15) = 11.75%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Variance contribution (diagonals): 0.25·400 + 0.0625·81 + 0.0625·441 = 132.625 (%²)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Covariance contribution: 2·0.50·0.25·45 + 2·0.50·0.25·189 + 2·0.25·0.25·38 = 63.25 (%²)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σ²[R_p] = 132.625 + 63.25 = 195.875  →  σ[R_p] = 14.00%   (vs √132.625 = 11.52% if all covariances were zero)</a:t>
            </a:r>
            <a:endParaRPr lang="en-US" sz="105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E[R_p] = 11.75%   ·   σ[R_p] = 14.00%   ·   co-movement costs ~250 bp of volatility</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covariance matrix captures everything portfolio math needs — for n assets it contains n variances plus n(n−1)/2 distinct covariances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5, pp. 156–160.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covariance matrix is symmetric (Cov(A,B) = Cov(B,A)), so only the upper (or lower) triangle needs to be estimated.</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4846320" cy="914400"/>
        </p:xfrm>
        <a:graphic>
          <a:graphicData uri="http://schemas.openxmlformats.org/drawingml/2006/table">
            <a:tbl>
              <a:tblPr/>
              <a:tblGrid>
                <a:gridCol w="1188720"/>
                <a:gridCol w="1234440"/>
                <a:gridCol w="1325880"/>
                <a:gridCol w="10972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Inputs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Variances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Distinct covariances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Total</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 = 3</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 = 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 = 10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 = 20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190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 = 50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 = 100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4,950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5,050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5349240" y="1188720"/>
            <a:ext cx="3474720" cy="3154680"/>
          </a:xfrm>
          <a:prstGeom prst="rect">
            <a:avLst/>
          </a:prstGeom>
          <a:solidFill>
            <a:srgbClr val="FEF0E7"/>
          </a:solidFill>
          <a:ln/>
        </p:spPr>
      </p:sp>
      <p:sp>
        <p:nvSpPr>
          <p:cNvPr id="11" name="Shape 8"/>
          <p:cNvSpPr/>
          <p:nvPr/>
        </p:nvSpPr>
        <p:spPr>
          <a:xfrm>
            <a:off x="5349240" y="1188720"/>
            <a:ext cx="73152" cy="3154680"/>
          </a:xfrm>
          <a:prstGeom prst="rect">
            <a:avLst/>
          </a:prstGeom>
          <a:solidFill>
            <a:srgbClr val="E8600A"/>
          </a:solidFill>
          <a:ln/>
        </p:spPr>
      </p:sp>
      <p:sp>
        <p:nvSpPr>
          <p:cNvPr id="12" name="Text 9"/>
          <p:cNvSpPr txBox="1"/>
          <p:nvPr/>
        </p:nvSpPr>
        <p:spPr>
          <a:xfrm>
            <a:off x="5486400" y="1234440"/>
            <a:ext cx="32461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PRACTICAL IMPLICATIONS</a:t>
            </a:r>
            <a:endParaRPr lang="en-US" sz="1100" dirty="0"/>
          </a:p>
        </p:txBody>
      </p:sp>
      <p:sp>
        <p:nvSpPr>
          <p:cNvPr id="13" name="Text 10"/>
          <p:cNvSpPr txBox="1"/>
          <p:nvPr/>
        </p:nvSpPr>
        <p:spPr>
          <a:xfrm>
            <a:off x="5486400" y="1508760"/>
            <a:ext cx="3246120" cy="2788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Inputs grow as n², so estimation becomes the bottleneck long before the formula does. A 500-stock portfolio needs 500 × 499 / 2 = 124,750 distinct covariances — with 10 years of monthly data you have only 120 observations per name.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Consequence: factor models (market plus style factors) and shrinkage estimators exist precisely to make the covariance matrix estimable and well-conditioned, not because anyone finds them elegant.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two-asset portfolio traces the efficient frontier — the curve bends left of the straight line, and that gap IS the diversification benefit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5, Example 1, pp. 159–160.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Stock 1: 4% return, 6% σ. Stock 2: 8% return, 15% σ. ρ = 0.30, so Cov = 0.30 × 6 × 15 = 27. Expected return moves in a straight line across the weights; σ does not.</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σ²[R_p] = w₁²σ₁² + w₂²σ₂² + 2w₁w₂ · ρ · σ₁σ₂            w₁* = (σ₂² − Cov) / (σ₁² + σ₂² − 2Cov)</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For any ρ &lt; 1, σ[R_p] sits strictly below the weighted average of σ₁ and σ₂ — the last column measures that gap. w₁* is the minimum-variance weight.</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20040" y="2331720"/>
          <a:ext cx="8503920" cy="914400"/>
        </p:xfrm>
        <a:graphic>
          <a:graphicData uri="http://schemas.openxmlformats.org/drawingml/2006/table">
            <a:tbl>
              <a:tblPr/>
              <a:tblGrid>
                <a:gridCol w="1645920"/>
                <a:gridCol w="1645920"/>
                <a:gridCol w="1645920"/>
                <a:gridCol w="1645920"/>
                <a:gridCol w="19202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w₁ / w₂</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E[R_p] (%)</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σ²[R_p] (%²)</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σ[R_p] (%)</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vs. straight line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1.00 / 0.00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36.00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0.80 / 0.20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40.68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6.38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−1.42 pp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0.60 / 0.40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61.92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7.87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−1.73 pp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0.40 / 0.60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6.40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99.72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9.99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−1.41 pp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0.20 / 0.80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154.08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12.41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−0.79 pp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0.00 / 1.00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225.00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Min-σ  0.96/0.04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4.17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35.61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5.97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−0.42 pp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joint probability function converts discrete scenarios into a forward-looking covariance — the right tool when history is short or regime-shifting</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5, pp. 163–166.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If X and Y are independent then P(X,Y) = P(X)·P(Y) and Cov(X,Y) = 0 — but the converse (zero correlation ⟹ independence) does NOT hold.</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Cov(R_A, R_B)  =  Σᵢ Σⱼ  P(R_A,i , R_B,j)  ·  (R_A,i − E[R_A])  ·  (R_B,j − E[R_B])</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Sum over all discrete (i, j) outcomes weighted by their joint probability — the discrete analogue of the continuous covariance integral.</a:t>
            </a:r>
            <a:endParaRPr lang="en-US" sz="1100" dirty="0"/>
          </a:p>
        </p:txBody>
      </p:sp>
      <p:sp>
        <p:nvSpPr>
          <p:cNvPr id="12" name="Shape 10"/>
          <p:cNvSpPr/>
          <p:nvPr/>
        </p:nvSpPr>
        <p:spPr>
          <a:xfrm>
            <a:off x="320040" y="2331720"/>
            <a:ext cx="8503920" cy="2148840"/>
          </a:xfrm>
          <a:prstGeom prst="rect">
            <a:avLst/>
          </a:prstGeom>
          <a:solidFill>
            <a:srgbClr val="FEF0E7"/>
          </a:solidFill>
          <a:ln w="9525">
            <a:solidFill>
              <a:srgbClr val="E8600A"/>
            </a:solidFill>
            <a:prstDash val="solid"/>
          </a:ln>
        </p:spPr>
      </p:sp>
      <p:sp>
        <p:nvSpPr>
          <p:cNvPr id="13" name="Text 11"/>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5 — BANKCORP × NEWBANK JOINT DISTRIBUTION</a:t>
            </a:r>
            <a:endParaRPr lang="en-US" sz="1100" dirty="0"/>
          </a:p>
        </p:txBody>
      </p:sp>
      <p:sp>
        <p:nvSpPr>
          <p:cNvPr id="14" name="Text 12"/>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Three banking-industry states: good (0.20), average (0.50), poor (0.30). BankCorp returns 25 / 12 / 10%; NewBank returns 20 / 16 / 10%.</a:t>
            </a:r>
            <a:endParaRPr lang="en-US" sz="1200" dirty="0"/>
          </a:p>
        </p:txBody>
      </p:sp>
      <p:sp>
        <p:nvSpPr>
          <p:cNvPr id="15" name="Text 13"/>
          <p:cNvSpPr txBox="1"/>
          <p:nvPr/>
        </p:nvSpPr>
        <p:spPr>
          <a:xfrm>
            <a:off x="457200" y="3182112"/>
            <a:ext cx="8229600" cy="78638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E[R_A] = 0.20(25) + 0.50(12) + 0.30(10) = 14%  ·  E[R_B] = 0.20(20) + 0.50(16) + 0.30(10) = 15%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Good:     (25−14)(20−15) = 55  →  weighted 0.20 · 55 = 11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Average:  (12−14)(16−15) = −2  →  weighted 0.50 · (−2) = −1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Poor:     (10−14)(10−15) = 20  →  weighted 0.30 · 20 = 6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Cov = 11 − 1 + 6 = 16.  σ_A = √31 = 5.57, σ_B = √13 = 3.61  →  ρ = 16 / (5.57 × 3.61)</a:t>
            </a:r>
            <a:endParaRPr lang="en-US" sz="1050" dirty="0"/>
          </a:p>
        </p:txBody>
      </p:sp>
      <p:sp>
        <p:nvSpPr>
          <p:cNvPr id="16" name="Shape 14"/>
          <p:cNvSpPr/>
          <p:nvPr/>
        </p:nvSpPr>
        <p:spPr>
          <a:xfrm>
            <a:off x="411480" y="4041648"/>
            <a:ext cx="8321040" cy="365760"/>
          </a:xfrm>
          <a:prstGeom prst="rect">
            <a:avLst/>
          </a:prstGeom>
          <a:solidFill>
            <a:srgbClr val="E8600A"/>
          </a:solidFill>
          <a:ln/>
        </p:spPr>
      </p:sp>
      <p:sp>
        <p:nvSpPr>
          <p:cNvPr id="17" name="Text 15"/>
          <p:cNvSpPr txBox="1"/>
          <p:nvPr/>
        </p:nvSpPr>
        <p:spPr>
          <a:xfrm>
            <a:off x="457200" y="404164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Cov(R_A, R_B) = 16 (%²)   ·   ρ(R_A, R_B) = 0.80  —  the number you can actually quote</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Shortfall risk — the probability of falling below a minimum acceptable return — is the downside metric that matches investor objectives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5, pp. 167–169.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Symmetric σ treats upside and downside equally. Shortfall risk asks the only question clients care about: what is the chance I lose more than I can afford?</a:t>
            </a:r>
            <a:endParaRPr lang="en-US" sz="1300" dirty="0"/>
          </a:p>
        </p:txBody>
      </p:sp>
      <p:sp>
        <p:nvSpPr>
          <p:cNvPr id="9" name="Shape 7"/>
          <p:cNvSpPr/>
          <p:nvPr/>
        </p:nvSpPr>
        <p:spPr>
          <a:xfrm>
            <a:off x="320040" y="1188720"/>
            <a:ext cx="4160520" cy="3063240"/>
          </a:xfrm>
          <a:prstGeom prst="rect">
            <a:avLst/>
          </a:prstGeom>
          <a:solidFill>
            <a:srgbClr val="FEF0E7"/>
          </a:solidFill>
          <a:ln/>
        </p:spPr>
      </p:sp>
      <p:sp>
        <p:nvSpPr>
          <p:cNvPr id="10" name="Shape 8"/>
          <p:cNvSpPr/>
          <p:nvPr/>
        </p:nvSpPr>
        <p:spPr>
          <a:xfrm>
            <a:off x="320040" y="1188720"/>
            <a:ext cx="73152" cy="3063240"/>
          </a:xfrm>
          <a:prstGeom prst="rect">
            <a:avLst/>
          </a:prstGeom>
          <a:solidFill>
            <a:srgbClr val="E8600A"/>
          </a:solidFill>
          <a:ln/>
        </p:spPr>
      </p:sp>
      <p:sp>
        <p:nvSpPr>
          <p:cNvPr id="11" name="Text 9"/>
          <p:cNvSpPr txBox="1"/>
          <p:nvPr/>
        </p:nvSpPr>
        <p:spPr>
          <a:xfrm>
            <a:off x="4572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SYMMETRIC RISK MISSES</a:t>
            </a:r>
            <a:endParaRPr lang="en-US" sz="1100" dirty="0"/>
          </a:p>
        </p:txBody>
      </p:sp>
      <p:sp>
        <p:nvSpPr>
          <p:cNvPr id="12" name="Text 10"/>
          <p:cNvSpPr txBox="1"/>
          <p:nvPr/>
        </p:nvSpPr>
        <p:spPr>
          <a:xfrm>
            <a:off x="457200" y="1508760"/>
            <a:ext cx="3931920" cy="2697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Two portfolios with identical σ but different mean returns have very different shortfall probabilities under normality.</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With target R_L, the portfolio with the higher mean has a smaller shaded area to the left of R_L — the same σ, but a dramatically different lived experience.</a:t>
            </a:r>
            <a:endParaRPr lang="en-US" sz="1200" dirty="0"/>
          </a:p>
        </p:txBody>
      </p:sp>
      <p:sp>
        <p:nvSpPr>
          <p:cNvPr id="13" name="Shape 11"/>
          <p:cNvSpPr/>
          <p:nvPr/>
        </p:nvSpPr>
        <p:spPr>
          <a:xfrm>
            <a:off x="4663440" y="1188720"/>
            <a:ext cx="4160520" cy="3063240"/>
          </a:xfrm>
          <a:prstGeom prst="rect">
            <a:avLst/>
          </a:prstGeom>
          <a:solidFill>
            <a:srgbClr val="F5F7FA"/>
          </a:solidFill>
          <a:ln/>
        </p:spPr>
      </p:sp>
      <p:sp>
        <p:nvSpPr>
          <p:cNvPr id="14" name="Shape 12"/>
          <p:cNvSpPr/>
          <p:nvPr/>
        </p:nvSpPr>
        <p:spPr>
          <a:xfrm>
            <a:off x="4663440" y="1188720"/>
            <a:ext cx="73152" cy="3063240"/>
          </a:xfrm>
          <a:prstGeom prst="rect">
            <a:avLst/>
          </a:prstGeom>
          <a:solidFill>
            <a:srgbClr val="1B2A4A"/>
          </a:solidFill>
          <a:ln/>
        </p:spPr>
      </p:sp>
      <p:sp>
        <p:nvSpPr>
          <p:cNvPr id="15" name="Text 13"/>
          <p:cNvSpPr txBox="1"/>
          <p:nvPr/>
        </p:nvSpPr>
        <p:spPr>
          <a:xfrm>
            <a:off x="48006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THREE PORTFOLIOS AT R_L = 2%</a:t>
            </a:r>
            <a:endParaRPr lang="en-US" sz="1100" dirty="0"/>
          </a:p>
        </p:txBody>
      </p:sp>
      <p:sp>
        <p:nvSpPr>
          <p:cNvPr id="16" name="Text 14"/>
          <p:cNvSpPr txBox="1"/>
          <p:nvPr/>
        </p:nvSpPr>
        <p:spPr>
          <a:xfrm>
            <a:off x="4800600" y="1508760"/>
            <a:ext cx="3931920" cy="2697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Portfolio I:    E = 5%,  σ = 8%   →  P(R &lt; 2%) = 37.7%</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Portfolio II:   E = 8%,  σ = 8%   →  P(R &lt; 2%) = 24.6%</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Portfolio III:  E = 5%,  σ = 12%  →  P(R &lt; 2%) = 41.7%</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II beats I on the same σ with more return. II beats III on the same-ish return with less σ. Shortfall risk responds to BOTH — which is exactly why a single σ ranking is not enough.</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Roy's safety-first criterion picks the portfolio that maximises the distance from the mean to the threshold, expressed in standard deviations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5, Example 3, pp. 169–170.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Under normal returns, P(R_p &lt; R_L) = N(−SFRatio) — so maximising the SFRatio minimises the shortfall probability. When R_L = R_f, SFRatio = Sharpe.</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SFRatio  =  ( E[R_p]  −  R_L )  /  σ[R_p]        pick the portfolio with the highest SFRatio</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R_L = minimum acceptable return. For normal returns, shortfall probability = N(−SFRatio).</a:t>
            </a:r>
            <a:endParaRPr lang="en-US" sz="1100" dirty="0"/>
          </a:p>
        </p:txBody>
      </p:sp>
      <p:sp>
        <p:nvSpPr>
          <p:cNvPr id="12" name="Shape 10"/>
          <p:cNvSpPr/>
          <p:nvPr/>
        </p:nvSpPr>
        <p:spPr>
          <a:xfrm>
            <a:off x="320040" y="2331720"/>
            <a:ext cx="8503920" cy="1965960"/>
          </a:xfrm>
          <a:prstGeom prst="rect">
            <a:avLst/>
          </a:prstGeom>
          <a:solidFill>
            <a:srgbClr val="FEF0E7"/>
          </a:solidFill>
          <a:ln w="9525">
            <a:solidFill>
              <a:srgbClr val="E8600A"/>
            </a:solidFill>
            <a:prstDash val="solid"/>
          </a:ln>
        </p:spPr>
      </p:sp>
      <p:sp>
        <p:nvSpPr>
          <p:cNvPr id="13" name="Text 11"/>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5 EXAMPLE 3 — CAD 800,000 CLIENT · WITHDRAW CAD 30,000 IN 1Y</a:t>
            </a:r>
            <a:endParaRPr lang="en-US" sz="1100" dirty="0"/>
          </a:p>
        </p:txBody>
      </p:sp>
      <p:sp>
        <p:nvSpPr>
          <p:cNvPr id="14" name="Text 12"/>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R_L = 30,000 / 800,000 = 3.75%. Three allocations A / B / C with E / σ = 25% / 27%,  11% / 8%,  14% / 20%.</a:t>
            </a:r>
            <a:endParaRPr lang="en-US" sz="1200" dirty="0"/>
          </a:p>
        </p:txBody>
      </p:sp>
      <p:sp>
        <p:nvSpPr>
          <p:cNvPr id="15" name="Text 13"/>
          <p:cNvSpPr txBox="1"/>
          <p:nvPr/>
        </p:nvSpPr>
        <p:spPr>
          <a:xfrm>
            <a:off x="457200" y="318211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A: SFRatio = (25 − 3.75) / 27 = 0.787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B: SFRatio = (11 − 3.75) / 8  = 0.906  ←  highest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C: SFRatio = (14 − 3.75) / 20 = 0.513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Shortfall probability for B under normality: N(−0.90625) ≈ 18.2%  (A: 21.6%, C: 30.4%)</a:t>
            </a:r>
            <a:endParaRPr lang="en-US" sz="105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Allocation B wins — the LOWEST expected return of the three, and still the safest against this threshold</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04</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Lognormal</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&amp; Monte Carlo</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4 of 4  ·  Deck 2 of 20  ·  Studio Tonton Gug</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Asset prices are modelled as lognormal because they are bounded below by zero and right-skewed — properties the normal distribution cannot reproduce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6, pp. 178–181.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Y is lognormal ⟺ ln Y is normal. Careful: the two parameters of a lognormal are the mean and variance of the OTHER distribution — of ln Y, not of Y itself.</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median[Y] = exp(μ)      E[Y] = exp( μ + 0.5σ² )      Var[Y] = exp(2μ + σ²) · [ exp(σ²) − 1 ]</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μ and σ² are the mean and variance of the ASSOCIATED NORMAL, i.e. of ln Y — never of Y. This is the distribution Black–Scholes–Merton assumes for the underlying price.</a:t>
            </a:r>
            <a:endParaRPr lang="en-US" sz="1100" dirty="0"/>
          </a:p>
        </p:txBody>
      </p:sp>
      <p:sp>
        <p:nvSpPr>
          <p:cNvPr id="12" name="Shape 10"/>
          <p:cNvSpPr/>
          <p:nvPr/>
        </p:nvSpPr>
        <p:spPr>
          <a:xfrm>
            <a:off x="320040" y="2331720"/>
            <a:ext cx="2743200" cy="1965960"/>
          </a:xfrm>
          <a:prstGeom prst="rect">
            <a:avLst/>
          </a:prstGeom>
          <a:solidFill>
            <a:srgbClr val="F5F7FA"/>
          </a:solidFill>
          <a:ln/>
        </p:spPr>
      </p:sp>
      <p:sp>
        <p:nvSpPr>
          <p:cNvPr id="13" name="Shape 11"/>
          <p:cNvSpPr/>
          <p:nvPr/>
        </p:nvSpPr>
        <p:spPr>
          <a:xfrm>
            <a:off x="320040" y="2331720"/>
            <a:ext cx="73152" cy="1965960"/>
          </a:xfrm>
          <a:prstGeom prst="rect">
            <a:avLst/>
          </a:prstGeom>
          <a:solidFill>
            <a:srgbClr val="1B2A4A"/>
          </a:solidFill>
          <a:ln/>
        </p:spPr>
      </p:sp>
      <p:sp>
        <p:nvSpPr>
          <p:cNvPr id="14" name="Text 12"/>
          <p:cNvSpPr txBox="1"/>
          <p:nvPr/>
        </p:nvSpPr>
        <p:spPr>
          <a:xfrm>
            <a:off x="45720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BOUNDED BELOW BY ZERO</a:t>
            </a:r>
            <a:endParaRPr lang="en-US" sz="1100" dirty="0"/>
          </a:p>
        </p:txBody>
      </p:sp>
      <p:sp>
        <p:nvSpPr>
          <p:cNvPr id="15" name="Text 13"/>
          <p:cNvSpPr txBox="1"/>
          <p:nvPr/>
        </p:nvSpPr>
        <p:spPr>
          <a:xfrm>
            <a:off x="457200" y="2651760"/>
            <a:ext cx="251460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Stock prices cannot go negative. Normal distribution assigns probability to negative prices; lognormal does not.</a:t>
            </a:r>
            <a:endParaRPr lang="en-US" sz="1200" dirty="0"/>
          </a:p>
        </p:txBody>
      </p:sp>
      <p:sp>
        <p:nvSpPr>
          <p:cNvPr id="16" name="Shape 14"/>
          <p:cNvSpPr/>
          <p:nvPr/>
        </p:nvSpPr>
        <p:spPr>
          <a:xfrm>
            <a:off x="3200400" y="2331720"/>
            <a:ext cx="2743200" cy="1965960"/>
          </a:xfrm>
          <a:prstGeom prst="rect">
            <a:avLst/>
          </a:prstGeom>
          <a:solidFill>
            <a:srgbClr val="FEF0E7"/>
          </a:solidFill>
          <a:ln/>
        </p:spPr>
      </p:sp>
      <p:sp>
        <p:nvSpPr>
          <p:cNvPr id="17" name="Shape 15"/>
          <p:cNvSpPr/>
          <p:nvPr/>
        </p:nvSpPr>
        <p:spPr>
          <a:xfrm>
            <a:off x="3200400" y="2331720"/>
            <a:ext cx="73152" cy="1965960"/>
          </a:xfrm>
          <a:prstGeom prst="rect">
            <a:avLst/>
          </a:prstGeom>
          <a:solidFill>
            <a:srgbClr val="E8600A"/>
          </a:solidFill>
          <a:ln/>
        </p:spPr>
      </p:sp>
      <p:sp>
        <p:nvSpPr>
          <p:cNvPr id="18" name="Text 16"/>
          <p:cNvSpPr txBox="1"/>
          <p:nvPr/>
        </p:nvSpPr>
        <p:spPr>
          <a:xfrm>
            <a:off x="333756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RIGHT-SKEWED</a:t>
            </a:r>
            <a:endParaRPr lang="en-US" sz="1100" dirty="0"/>
          </a:p>
        </p:txBody>
      </p:sp>
      <p:sp>
        <p:nvSpPr>
          <p:cNvPr id="19" name="Text 17"/>
          <p:cNvSpPr txBox="1"/>
          <p:nvPr/>
        </p:nvSpPr>
        <p:spPr>
          <a:xfrm>
            <a:off x="3337560" y="2651760"/>
            <a:ext cx="251460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Long right tail reflects compounding upside — a single year of +100% can double wealth, whereas −100% is the loss floor.</a:t>
            </a:r>
            <a:endParaRPr lang="en-US" sz="1200" dirty="0"/>
          </a:p>
        </p:txBody>
      </p:sp>
      <p:sp>
        <p:nvSpPr>
          <p:cNvPr id="20" name="Shape 18"/>
          <p:cNvSpPr/>
          <p:nvPr/>
        </p:nvSpPr>
        <p:spPr>
          <a:xfrm>
            <a:off x="6080760" y="2331720"/>
            <a:ext cx="2743200" cy="1965960"/>
          </a:xfrm>
          <a:prstGeom prst="rect">
            <a:avLst/>
          </a:prstGeom>
          <a:solidFill>
            <a:srgbClr val="F5F7FA"/>
          </a:solidFill>
          <a:ln/>
        </p:spPr>
      </p:sp>
      <p:sp>
        <p:nvSpPr>
          <p:cNvPr id="21" name="Shape 19"/>
          <p:cNvSpPr/>
          <p:nvPr/>
        </p:nvSpPr>
        <p:spPr>
          <a:xfrm>
            <a:off x="6080760" y="2331720"/>
            <a:ext cx="73152" cy="1965960"/>
          </a:xfrm>
          <a:prstGeom prst="rect">
            <a:avLst/>
          </a:prstGeom>
          <a:solidFill>
            <a:srgbClr val="1B2A4A"/>
          </a:solidFill>
          <a:ln/>
        </p:spPr>
      </p:sp>
      <p:sp>
        <p:nvSpPr>
          <p:cNvPr id="22" name="Text 20"/>
          <p:cNvSpPr txBox="1"/>
          <p:nvPr/>
        </p:nvSpPr>
        <p:spPr>
          <a:xfrm>
            <a:off x="621792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MEAN &gt; MEDIAN</a:t>
            </a:r>
            <a:endParaRPr lang="en-US" sz="1100" dirty="0"/>
          </a:p>
        </p:txBody>
      </p:sp>
      <p:sp>
        <p:nvSpPr>
          <p:cNvPr id="23" name="Text 21"/>
          <p:cNvSpPr txBox="1"/>
          <p:nvPr/>
        </p:nvSpPr>
        <p:spPr>
          <a:xfrm>
            <a:off x="6217920" y="2651760"/>
            <a:ext cx="251460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E[exp(X)] = exp(E[X]) × exp(0.5σ²) &gt; exp(E[X]). Raise σ and the distribution spreads up but cannot spread below 0, so the mean is pushed right of the median. Jensen's inequality.</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Continuously compounded returns are additive across time, so their sum over T periods scales linearly in mean and variance — the √T rule for volatility</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6, pp. 181–183.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Independence + identical distribution (iid) is the assumption. When it breaks (autocorrelation, regime shifts), √T scaling breaks too.</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r_0,T = Σ r_t       E[r_0,T] = μ · T       σ²[r_0,T] = σ² · T       σ[r_0,T] = σ · √T</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Log returns ADD across time (simple returns compound), which is what makes this work. Mean scales with T, variance with T, so volatility scales with √T. Requires iid per-period returns with mean μ and variance σ².</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20040" y="2331720"/>
          <a:ext cx="8503920" cy="914400"/>
        </p:xfrm>
        <a:graphic>
          <a:graphicData uri="http://schemas.openxmlformats.org/drawingml/2006/table">
            <a:tbl>
              <a:tblPr/>
              <a:tblGrid>
                <a:gridCol w="2743200"/>
                <a:gridCol w="1280160"/>
                <a:gridCol w="2011680"/>
                <a:gridCol w="24688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Horizon, given σ_daily = 1.00%</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 (days)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σ over T = 1% × √T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Back-annualised: σ_T × √(250/T)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 trading day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15.81%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 week (5 trading days)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2.24%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15.81%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 month (~21 trading days)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4.58%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15.81%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 quarter (~63 trading days)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7.94%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15.81%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 year (250 trading days)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15.81%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15.81%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week of Astra International closing prices lets us compute daily continuously compounded returns — √250 scaling gives an annualised volatility of 33.6%</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6, Example 1, pp. 182–184.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5 prices give only 4 returns — nowhere near enough to estimate an expected return, but enough to run the volatility-annualisation pipeline end to end.</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4663440" cy="914400"/>
        </p:xfrm>
        <a:graphic>
          <a:graphicData uri="http://schemas.openxmlformats.org/drawingml/2006/table">
            <a:tbl>
              <a:tblPr/>
              <a:tblGrid>
                <a:gridCol w="1554480"/>
                <a:gridCol w="1737360"/>
                <a:gridCol w="13716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Day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Close (IDR)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ln(Pₜ/Pₜ₋₁)</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6,950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Tue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+0.00717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Wed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6,850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−0.02166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Thu</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6,600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−0.03718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Fri</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6,350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−0.03862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5166360" y="1188720"/>
            <a:ext cx="3657600" cy="3108960"/>
          </a:xfrm>
          <a:prstGeom prst="rect">
            <a:avLst/>
          </a:prstGeom>
          <a:solidFill>
            <a:srgbClr val="FEF0E7"/>
          </a:solidFill>
          <a:ln w="9525">
            <a:solidFill>
              <a:srgbClr val="E8600A"/>
            </a:solidFill>
            <a:prstDash val="solid"/>
          </a:ln>
        </p:spPr>
      </p:sp>
      <p:sp>
        <p:nvSpPr>
          <p:cNvPr id="11" name="Text 8"/>
          <p:cNvSpPr txBox="1"/>
          <p:nvPr/>
        </p:nvSpPr>
        <p:spPr>
          <a:xfrm>
            <a:off x="5303520" y="1234440"/>
            <a:ext cx="338328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ANNUALISATION PIPELINE</a:t>
            </a:r>
            <a:endParaRPr lang="en-US" sz="1100" dirty="0"/>
          </a:p>
        </p:txBody>
      </p:sp>
      <p:sp>
        <p:nvSpPr>
          <p:cNvPr id="12" name="Text 9"/>
          <p:cNvSpPr txBox="1"/>
          <p:nvPr/>
        </p:nvSpPr>
        <p:spPr>
          <a:xfrm>
            <a:off x="5303520" y="1527048"/>
            <a:ext cx="338328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4 daily log returns → sample σ → × √250 to annualise.</a:t>
            </a:r>
            <a:endParaRPr lang="en-US" sz="1200" dirty="0"/>
          </a:p>
        </p:txBody>
      </p:sp>
      <p:sp>
        <p:nvSpPr>
          <p:cNvPr id="13" name="Text 10"/>
          <p:cNvSpPr txBox="1"/>
          <p:nvPr/>
        </p:nvSpPr>
        <p:spPr>
          <a:xfrm>
            <a:off x="5303520" y="2039112"/>
            <a:ext cx="3383280" cy="174650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Sum of returns = −0.090287, so r̄ = −0.022572 (ignore it — 4 obs.)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Sample variance s² = 0.000452, divisor n − 1 = 3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Daily σ = √0.000452 = 0.021261 = 2.13%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Annualised σ = 0.021261 × √250 = 0.3362 = 33.6%</a:t>
            </a:r>
            <a:endParaRPr lang="en-US" sz="1200" dirty="0"/>
          </a:p>
        </p:txBody>
      </p:sp>
      <p:sp>
        <p:nvSpPr>
          <p:cNvPr id="14" name="Shape 11"/>
          <p:cNvSpPr/>
          <p:nvPr/>
        </p:nvSpPr>
        <p:spPr>
          <a:xfrm>
            <a:off x="5257800" y="3858768"/>
            <a:ext cx="3474720" cy="365760"/>
          </a:xfrm>
          <a:prstGeom prst="rect">
            <a:avLst/>
          </a:prstGeom>
          <a:solidFill>
            <a:srgbClr val="E8600A"/>
          </a:solidFill>
          <a:ln/>
        </p:spPr>
      </p:sp>
      <p:sp>
        <p:nvSpPr>
          <p:cNvPr id="15" name="Text 12"/>
          <p:cNvSpPr txBox="1"/>
          <p:nvPr/>
        </p:nvSpPr>
        <p:spPr>
          <a:xfrm>
            <a:off x="5303520" y="3858768"/>
            <a:ext cx="338328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Annualised volatility ≈ 33.6%</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Monte Carlo simulation values securities where no closed form exists by generating thousands of random price paths from assumed distributions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6, pp. 184–187.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Specify once (steps 1–3), run repeatedly (steps 4–6). The more trials, the tighter the statistical estimate.</a:t>
            </a:r>
            <a:endParaRPr lang="en-US" sz="1300" dirty="0"/>
          </a:p>
        </p:txBody>
      </p:sp>
      <p:sp>
        <p:nvSpPr>
          <p:cNvPr id="9" name="Shape 7"/>
          <p:cNvSpPr/>
          <p:nvPr/>
        </p:nvSpPr>
        <p:spPr>
          <a:xfrm>
            <a:off x="320040" y="1143000"/>
            <a:ext cx="8503920" cy="530352"/>
          </a:xfrm>
          <a:prstGeom prst="rect">
            <a:avLst/>
          </a:prstGeom>
          <a:solidFill>
            <a:srgbClr val="FFFFFF"/>
          </a:solidFill>
          <a:ln/>
        </p:spPr>
      </p:sp>
      <p:sp>
        <p:nvSpPr>
          <p:cNvPr id="10" name="Shape 8"/>
          <p:cNvSpPr/>
          <p:nvPr/>
        </p:nvSpPr>
        <p:spPr>
          <a:xfrm>
            <a:off x="320040" y="1143000"/>
            <a:ext cx="91440" cy="530352"/>
          </a:xfrm>
          <a:prstGeom prst="rect">
            <a:avLst/>
          </a:prstGeom>
          <a:solidFill>
            <a:srgbClr val="E8600A"/>
          </a:solidFill>
          <a:ln/>
        </p:spPr>
      </p:sp>
      <p:sp>
        <p:nvSpPr>
          <p:cNvPr id="11" name="Text 9"/>
          <p:cNvSpPr txBox="1"/>
          <p:nvPr/>
        </p:nvSpPr>
        <p:spPr>
          <a:xfrm>
            <a:off x="502920" y="1143000"/>
            <a:ext cx="365760" cy="53035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1</a:t>
            </a:r>
            <a:endParaRPr lang="en-US" sz="1300" dirty="0"/>
          </a:p>
        </p:txBody>
      </p:sp>
      <p:sp>
        <p:nvSpPr>
          <p:cNvPr id="12" name="Text 10"/>
          <p:cNvSpPr txBox="1"/>
          <p:nvPr/>
        </p:nvSpPr>
        <p:spPr>
          <a:xfrm>
            <a:off x="868680" y="1179576"/>
            <a:ext cx="7863840" cy="23865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SPECIFY QUANTITY OF INTEREST</a:t>
            </a:r>
            <a:endParaRPr lang="en-US" sz="1200" dirty="0"/>
          </a:p>
        </p:txBody>
      </p:sp>
      <p:sp>
        <p:nvSpPr>
          <p:cNvPr id="13" name="Text 11"/>
          <p:cNvSpPr txBox="1"/>
          <p:nvPr/>
        </p:nvSpPr>
        <p:spPr>
          <a:xfrm>
            <a:off x="868680" y="1381658"/>
            <a:ext cx="7863840" cy="29169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What are we valuing? E.g., C_iT = value of an Asian option at maturity given simulated stock-price path i.</a:t>
            </a:r>
            <a:endParaRPr lang="en-US" sz="1200" dirty="0"/>
          </a:p>
        </p:txBody>
      </p:sp>
      <p:sp>
        <p:nvSpPr>
          <p:cNvPr id="14" name="Shape 12"/>
          <p:cNvSpPr/>
          <p:nvPr/>
        </p:nvSpPr>
        <p:spPr>
          <a:xfrm>
            <a:off x="320040" y="1719072"/>
            <a:ext cx="8503920" cy="530352"/>
          </a:xfrm>
          <a:prstGeom prst="rect">
            <a:avLst/>
          </a:prstGeom>
          <a:solidFill>
            <a:srgbClr val="F5F7FA"/>
          </a:solidFill>
          <a:ln/>
        </p:spPr>
      </p:sp>
      <p:sp>
        <p:nvSpPr>
          <p:cNvPr id="15" name="Shape 13"/>
          <p:cNvSpPr/>
          <p:nvPr/>
        </p:nvSpPr>
        <p:spPr>
          <a:xfrm>
            <a:off x="320040" y="1719072"/>
            <a:ext cx="91440" cy="530352"/>
          </a:xfrm>
          <a:prstGeom prst="rect">
            <a:avLst/>
          </a:prstGeom>
          <a:solidFill>
            <a:srgbClr val="E8600A"/>
          </a:solidFill>
          <a:ln/>
        </p:spPr>
      </p:sp>
      <p:sp>
        <p:nvSpPr>
          <p:cNvPr id="16" name="Text 14"/>
          <p:cNvSpPr txBox="1"/>
          <p:nvPr/>
        </p:nvSpPr>
        <p:spPr>
          <a:xfrm>
            <a:off x="502920" y="1719072"/>
            <a:ext cx="365760" cy="53035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2</a:t>
            </a:r>
            <a:endParaRPr lang="en-US" sz="1300" dirty="0"/>
          </a:p>
        </p:txBody>
      </p:sp>
      <p:sp>
        <p:nvSpPr>
          <p:cNvPr id="17" name="Text 15"/>
          <p:cNvSpPr txBox="1"/>
          <p:nvPr/>
        </p:nvSpPr>
        <p:spPr>
          <a:xfrm>
            <a:off x="868680" y="1755648"/>
            <a:ext cx="7863840" cy="23865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SPECIFY TIME GRID</a:t>
            </a:r>
            <a:endParaRPr lang="en-US" sz="1200" dirty="0"/>
          </a:p>
        </p:txBody>
      </p:sp>
      <p:sp>
        <p:nvSpPr>
          <p:cNvPr id="18" name="Text 16"/>
          <p:cNvSpPr txBox="1"/>
          <p:nvPr/>
        </p:nvSpPr>
        <p:spPr>
          <a:xfrm>
            <a:off x="868680" y="1957730"/>
            <a:ext cx="7863840" cy="29169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Divide the horizon into K sub-periods of length Δt. Example: 1 year with K = 12 gives monthly steps.</a:t>
            </a:r>
            <a:endParaRPr lang="en-US" sz="1200" dirty="0"/>
          </a:p>
        </p:txBody>
      </p:sp>
      <p:sp>
        <p:nvSpPr>
          <p:cNvPr id="19" name="Shape 17"/>
          <p:cNvSpPr/>
          <p:nvPr/>
        </p:nvSpPr>
        <p:spPr>
          <a:xfrm>
            <a:off x="320040" y="2295144"/>
            <a:ext cx="8503920" cy="530352"/>
          </a:xfrm>
          <a:prstGeom prst="rect">
            <a:avLst/>
          </a:prstGeom>
          <a:solidFill>
            <a:srgbClr val="FFFFFF"/>
          </a:solidFill>
          <a:ln/>
        </p:spPr>
      </p:sp>
      <p:sp>
        <p:nvSpPr>
          <p:cNvPr id="20" name="Shape 18"/>
          <p:cNvSpPr/>
          <p:nvPr/>
        </p:nvSpPr>
        <p:spPr>
          <a:xfrm>
            <a:off x="320040" y="2295144"/>
            <a:ext cx="91440" cy="530352"/>
          </a:xfrm>
          <a:prstGeom prst="rect">
            <a:avLst/>
          </a:prstGeom>
          <a:solidFill>
            <a:srgbClr val="E8600A"/>
          </a:solidFill>
          <a:ln/>
        </p:spPr>
      </p:sp>
      <p:sp>
        <p:nvSpPr>
          <p:cNvPr id="21" name="Text 19"/>
          <p:cNvSpPr txBox="1"/>
          <p:nvPr/>
        </p:nvSpPr>
        <p:spPr>
          <a:xfrm>
            <a:off x="502920" y="2295144"/>
            <a:ext cx="365760" cy="53035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3</a:t>
            </a:r>
            <a:endParaRPr lang="en-US" sz="1300" dirty="0"/>
          </a:p>
        </p:txBody>
      </p:sp>
      <p:sp>
        <p:nvSpPr>
          <p:cNvPr id="22" name="Text 20"/>
          <p:cNvSpPr txBox="1"/>
          <p:nvPr/>
        </p:nvSpPr>
        <p:spPr>
          <a:xfrm>
            <a:off x="868680" y="2331720"/>
            <a:ext cx="7863840" cy="23865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SPECIFY DATA-GENERATION METHOD</a:t>
            </a:r>
            <a:endParaRPr lang="en-US" sz="1200" dirty="0"/>
          </a:p>
        </p:txBody>
      </p:sp>
      <p:sp>
        <p:nvSpPr>
          <p:cNvPr id="23" name="Text 21"/>
          <p:cNvSpPr txBox="1"/>
          <p:nvPr/>
        </p:nvSpPr>
        <p:spPr>
          <a:xfrm>
            <a:off x="868680" y="2533802"/>
            <a:ext cx="7863840" cy="29169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Distributional assumption for each risk factor (e.g., standard normal Z_k for stock shocks); pick μ, σ.</a:t>
            </a:r>
            <a:endParaRPr lang="en-US" sz="1200" dirty="0"/>
          </a:p>
        </p:txBody>
      </p:sp>
      <p:sp>
        <p:nvSpPr>
          <p:cNvPr id="24" name="Shape 22"/>
          <p:cNvSpPr/>
          <p:nvPr/>
        </p:nvSpPr>
        <p:spPr>
          <a:xfrm>
            <a:off x="320040" y="2871216"/>
            <a:ext cx="8503920" cy="530352"/>
          </a:xfrm>
          <a:prstGeom prst="rect">
            <a:avLst/>
          </a:prstGeom>
          <a:solidFill>
            <a:srgbClr val="F5F7FA"/>
          </a:solidFill>
          <a:ln/>
        </p:spPr>
      </p:sp>
      <p:sp>
        <p:nvSpPr>
          <p:cNvPr id="25" name="Shape 23"/>
          <p:cNvSpPr/>
          <p:nvPr/>
        </p:nvSpPr>
        <p:spPr>
          <a:xfrm>
            <a:off x="320040" y="2871216"/>
            <a:ext cx="91440" cy="530352"/>
          </a:xfrm>
          <a:prstGeom prst="rect">
            <a:avLst/>
          </a:prstGeom>
          <a:solidFill>
            <a:srgbClr val="E8600A"/>
          </a:solidFill>
          <a:ln/>
        </p:spPr>
      </p:sp>
      <p:sp>
        <p:nvSpPr>
          <p:cNvPr id="26" name="Text 24"/>
          <p:cNvSpPr txBox="1"/>
          <p:nvPr/>
        </p:nvSpPr>
        <p:spPr>
          <a:xfrm>
            <a:off x="502920" y="2871216"/>
            <a:ext cx="365760" cy="53035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4</a:t>
            </a:r>
            <a:endParaRPr lang="en-US" sz="1300" dirty="0"/>
          </a:p>
        </p:txBody>
      </p:sp>
      <p:sp>
        <p:nvSpPr>
          <p:cNvPr id="27" name="Text 25"/>
          <p:cNvSpPr txBox="1"/>
          <p:nvPr/>
        </p:nvSpPr>
        <p:spPr>
          <a:xfrm>
            <a:off x="868680" y="2907792"/>
            <a:ext cx="7863840" cy="23865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CONVERT RANDOM DRAWS TO PRICES</a:t>
            </a:r>
            <a:endParaRPr lang="en-US" sz="1200" dirty="0"/>
          </a:p>
        </p:txBody>
      </p:sp>
      <p:sp>
        <p:nvSpPr>
          <p:cNvPr id="28" name="Text 26"/>
          <p:cNvSpPr txBox="1"/>
          <p:nvPr/>
        </p:nvSpPr>
        <p:spPr>
          <a:xfrm>
            <a:off x="868680" y="3109874"/>
            <a:ext cx="7863840" cy="29169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Apply the price-process model, e.g. ΔS = μ S Δt + σ S Z_k, iterated across the K sub-periods to build one path.</a:t>
            </a:r>
            <a:endParaRPr lang="en-US" sz="1200" dirty="0"/>
          </a:p>
        </p:txBody>
      </p:sp>
      <p:sp>
        <p:nvSpPr>
          <p:cNvPr id="29" name="Shape 27"/>
          <p:cNvSpPr/>
          <p:nvPr/>
        </p:nvSpPr>
        <p:spPr>
          <a:xfrm>
            <a:off x="320040" y="3447288"/>
            <a:ext cx="8503920" cy="530352"/>
          </a:xfrm>
          <a:prstGeom prst="rect">
            <a:avLst/>
          </a:prstGeom>
          <a:solidFill>
            <a:srgbClr val="FFFFFF"/>
          </a:solidFill>
          <a:ln/>
        </p:spPr>
      </p:sp>
      <p:sp>
        <p:nvSpPr>
          <p:cNvPr id="30" name="Shape 28"/>
          <p:cNvSpPr/>
          <p:nvPr/>
        </p:nvSpPr>
        <p:spPr>
          <a:xfrm>
            <a:off x="320040" y="3447288"/>
            <a:ext cx="91440" cy="530352"/>
          </a:xfrm>
          <a:prstGeom prst="rect">
            <a:avLst/>
          </a:prstGeom>
          <a:solidFill>
            <a:srgbClr val="E8600A"/>
          </a:solidFill>
          <a:ln/>
        </p:spPr>
      </p:sp>
      <p:sp>
        <p:nvSpPr>
          <p:cNvPr id="31" name="Text 29"/>
          <p:cNvSpPr txBox="1"/>
          <p:nvPr/>
        </p:nvSpPr>
        <p:spPr>
          <a:xfrm>
            <a:off x="502920" y="3447288"/>
            <a:ext cx="365760" cy="53035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5</a:t>
            </a:r>
            <a:endParaRPr lang="en-US" sz="1300" dirty="0"/>
          </a:p>
        </p:txBody>
      </p:sp>
      <p:sp>
        <p:nvSpPr>
          <p:cNvPr id="32" name="Text 30"/>
          <p:cNvSpPr txBox="1"/>
          <p:nvPr/>
        </p:nvSpPr>
        <p:spPr>
          <a:xfrm>
            <a:off x="868680" y="3483864"/>
            <a:ext cx="7863840" cy="23865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COMPUTE PAYOFF FOR ONE TRIAL</a:t>
            </a:r>
            <a:endParaRPr lang="en-US" sz="1200" dirty="0"/>
          </a:p>
        </p:txBody>
      </p:sp>
      <p:sp>
        <p:nvSpPr>
          <p:cNvPr id="33" name="Text 31"/>
          <p:cNvSpPr txBox="1"/>
          <p:nvPr/>
        </p:nvSpPr>
        <p:spPr>
          <a:xfrm>
            <a:off x="868680" y="3685946"/>
            <a:ext cx="7863840" cy="29169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Calculate the claim's terminal payoff C_iT; discount to Ci0 using an appropriate rate. One complete trial is done.</a:t>
            </a:r>
            <a:endParaRPr lang="en-US" sz="1200" dirty="0"/>
          </a:p>
        </p:txBody>
      </p:sp>
      <p:sp>
        <p:nvSpPr>
          <p:cNvPr id="34" name="Shape 32"/>
          <p:cNvSpPr/>
          <p:nvPr/>
        </p:nvSpPr>
        <p:spPr>
          <a:xfrm>
            <a:off x="320040" y="4023360"/>
            <a:ext cx="8503920" cy="530352"/>
          </a:xfrm>
          <a:prstGeom prst="rect">
            <a:avLst/>
          </a:prstGeom>
          <a:solidFill>
            <a:srgbClr val="F5F7FA"/>
          </a:solidFill>
          <a:ln/>
        </p:spPr>
      </p:sp>
      <p:sp>
        <p:nvSpPr>
          <p:cNvPr id="35" name="Shape 33"/>
          <p:cNvSpPr/>
          <p:nvPr/>
        </p:nvSpPr>
        <p:spPr>
          <a:xfrm>
            <a:off x="320040" y="4023360"/>
            <a:ext cx="91440" cy="530352"/>
          </a:xfrm>
          <a:prstGeom prst="rect">
            <a:avLst/>
          </a:prstGeom>
          <a:solidFill>
            <a:srgbClr val="E8600A"/>
          </a:solidFill>
          <a:ln/>
        </p:spPr>
      </p:sp>
      <p:sp>
        <p:nvSpPr>
          <p:cNvPr id="36" name="Text 34"/>
          <p:cNvSpPr txBox="1"/>
          <p:nvPr/>
        </p:nvSpPr>
        <p:spPr>
          <a:xfrm>
            <a:off x="502920" y="4023360"/>
            <a:ext cx="365760" cy="53035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6</a:t>
            </a:r>
            <a:endParaRPr lang="en-US" sz="1300" dirty="0"/>
          </a:p>
        </p:txBody>
      </p:sp>
      <p:sp>
        <p:nvSpPr>
          <p:cNvPr id="37" name="Text 35"/>
          <p:cNvSpPr txBox="1"/>
          <p:nvPr/>
        </p:nvSpPr>
        <p:spPr>
          <a:xfrm>
            <a:off x="868680" y="4059936"/>
            <a:ext cx="7863840" cy="23865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REPEAT N TRIALS, SUMMARISE</a:t>
            </a:r>
            <a:endParaRPr lang="en-US" sz="1200" dirty="0"/>
          </a:p>
        </p:txBody>
      </p:sp>
      <p:sp>
        <p:nvSpPr>
          <p:cNvPr id="38" name="Text 36"/>
          <p:cNvSpPr txBox="1"/>
          <p:nvPr/>
        </p:nvSpPr>
        <p:spPr>
          <a:xfrm>
            <a:off x="868680" y="4262018"/>
            <a:ext cx="7863840" cy="29169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Typically N = 1,000 to 100,000 trials. Average of Ci0 across trials is the Monte Carlo estimate of the claim's present value.</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Valuing an Asian option illustrates Monte Carlo end-to-end — average-minus-final payoff, 12 monthly steps, 1,000 trials</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6, Ex. 4–5 and Example 2, pp. 185–189.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Payoff = max( S_T − average(S), 0 ). No closed form exists because the payoff depends on the path, not only the terminal stock price.</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ΔS  =  μ · S · Δt  +  σ · S · Z_k        C_iT = max(S_T − S̄, 0)        Value ≈ (1/N) Σᵢ e^(−rT) · C_iT</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Z_k ~ standard normal i.i.d. S̄ = arithmetic average of the K simulated prices.</a:t>
            </a:r>
            <a:endParaRPr lang="en-US" sz="1100" dirty="0"/>
          </a:p>
        </p:txBody>
      </p:sp>
      <p:sp>
        <p:nvSpPr>
          <p:cNvPr id="12" name="Shape 10"/>
          <p:cNvSpPr/>
          <p:nvPr/>
        </p:nvSpPr>
        <p:spPr>
          <a:xfrm>
            <a:off x="320040" y="2331720"/>
            <a:ext cx="8503920" cy="1965960"/>
          </a:xfrm>
          <a:prstGeom prst="rect">
            <a:avLst/>
          </a:prstGeom>
          <a:solidFill>
            <a:srgbClr val="FEF0E7"/>
          </a:solidFill>
          <a:ln w="9525">
            <a:solidFill>
              <a:srgbClr val="E8600A"/>
            </a:solidFill>
            <a:prstDash val="solid"/>
          </a:ln>
        </p:spPr>
      </p:sp>
      <p:sp>
        <p:nvSpPr>
          <p:cNvPr id="13" name="Text 11"/>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ILLUSTRATIVE RUN — 1,000 TRIALS, T = 1Y, K = 12</a:t>
            </a:r>
            <a:endParaRPr lang="en-US" sz="1100" dirty="0"/>
          </a:p>
        </p:txBody>
      </p:sp>
      <p:sp>
        <p:nvSpPr>
          <p:cNvPr id="14" name="Text 12"/>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Draw 12,000 standard-normal shocks; build 1,000 paths of 12 monthly prices each; compute payoff, discount, average.</a:t>
            </a:r>
            <a:endParaRPr lang="en-US" sz="1200" dirty="0"/>
          </a:p>
        </p:txBody>
      </p:sp>
      <p:sp>
        <p:nvSpPr>
          <p:cNvPr id="15" name="Text 13"/>
          <p:cNvSpPr txBox="1"/>
          <p:nvPr/>
        </p:nvSpPr>
        <p:spPr>
          <a:xfrm>
            <a:off x="457200" y="318211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Path A: S_T = USD 34, S̄ = USD 31 → payoff max(3, 0) = USD 3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Path B: S_T = USD 28, S̄ = USD 32 → payoff max(−4, 0) = USD 0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Across the 1,000 trials: 654 finish at or below the average → zero payoff; 346 (34.6%) pay the difference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Discount every C_iT at an appropriate rate, then average the 1,000 present values → the option value today</a:t>
            </a:r>
            <a:endParaRPr lang="en-US" sz="105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Max simulated payoff USD 11  ·  value = mean of the 1,000 discounted payoffs, not of the payoffs</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Bootstrap resampling swaps the assumed distribution for the historical one — same recipe, but draws with replacement from the observed sample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6, pp. 189–192.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Bootstrap answers "what if history repeats?"  Monte Carlo answers "what if my distributional assumption is correct?"  Both are complements to closed-form pricing.</a:t>
            </a:r>
            <a:endParaRPr lang="en-US" sz="13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468880"/>
                <a:gridCol w="3017520"/>
                <a:gridCol w="30175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Dimension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Monte Carlo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Bootstrap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Source of random draws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Assumed distribution (e.g. normal)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Historical sample, with replacement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Distributional assumption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Required — must pick μ, σ, family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None — the sample IS the distribution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Strength</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Any custom payoff or model structure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Real fat tails and skew, for free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Weakness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Wrong assumption → wrong answer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Cannot extrapolate beyond the sample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When to use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Derivatives pricing, stress testing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Confidence intervals, back-testing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246120"/>
            <a:ext cx="8503920" cy="777240"/>
          </a:xfrm>
          <a:prstGeom prst="rect">
            <a:avLst/>
          </a:prstGeom>
          <a:solidFill>
            <a:srgbClr val="FEF0E7"/>
          </a:solidFill>
          <a:ln/>
        </p:spPr>
      </p:sp>
      <p:sp>
        <p:nvSpPr>
          <p:cNvPr id="11" name="Shape 8"/>
          <p:cNvSpPr/>
          <p:nvPr/>
        </p:nvSpPr>
        <p:spPr>
          <a:xfrm>
            <a:off x="320040" y="3246120"/>
            <a:ext cx="73152" cy="777240"/>
          </a:xfrm>
          <a:prstGeom prst="rect">
            <a:avLst/>
          </a:prstGeom>
          <a:solidFill>
            <a:srgbClr val="E8600A"/>
          </a:solidFill>
          <a:ln/>
        </p:spPr>
      </p:sp>
      <p:sp>
        <p:nvSpPr>
          <p:cNvPr id="12" name="Text 9"/>
          <p:cNvSpPr txBox="1"/>
          <p:nvPr/>
        </p:nvSpPr>
        <p:spPr>
          <a:xfrm>
            <a:off x="457200" y="32918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ONLY STRUCTURAL DIFFERENCE IS STEP 3</a:t>
            </a:r>
            <a:endParaRPr lang="en-US" sz="1100" dirty="0"/>
          </a:p>
        </p:txBody>
      </p:sp>
      <p:sp>
        <p:nvSpPr>
          <p:cNvPr id="13" name="Text 10"/>
          <p:cNvSpPr txBox="1"/>
          <p:nvPr/>
        </p:nvSpPr>
        <p:spPr>
          <a:xfrm>
            <a:off x="457200" y="3566160"/>
            <a:ext cx="8275320" cy="411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Steps 1, 2, 4, 5 and 6 are identical to the Monte Carlo recipe. Step 3 alone changes: you draw WITH REPLACEMENT from the observed sample, each resample the same size as the original — so some observations appear twice and others not at all.</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Monte Carlo and bootstrap give only statistical estimates — analytical solutions remain preferable whenever they exist because they show cause-and-effect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Standard error of a simulated estimate falls as 1 / √N: halving it costs 4× the trials, and a 10× tighter band costs 100×.
</a:t>
            </a:r>
            <a:pPr indent="0" marL="0">
              <a:buNone/>
            </a:pPr>
            <a:r>
              <a:rPr lang="en-US" sz="1000" dirty="0">
                <a:solidFill>
                  <a:srgbClr val="6B7A8D"/>
                </a:solidFill>
                <a:latin typeface="Calibri" pitchFamily="34" charset="0"/>
                <a:ea typeface="Calibri" pitchFamily="34" charset="-122"/>
                <a:cs typeface="Calibri" pitchFamily="34" charset="-120"/>
              </a:rPr>
              <a:t>² Analytical solutions show HOW parameters drive the answer (comparative statics). A simulation gives you a number and no derivative.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1, Learning Module 6, pp. 186–193.</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More trials shrink sampling error only. They do nothing at all about model error — a wrong distribution simulated 10 million times returns a very precise wrong answer.</a:t>
            </a:r>
            <a:endParaRPr lang="en-US" sz="1300" dirty="0"/>
          </a:p>
        </p:txBody>
      </p:sp>
      <p:sp>
        <p:nvSpPr>
          <p:cNvPr id="10" name="Shape 8"/>
          <p:cNvSpPr/>
          <p:nvPr/>
        </p:nvSpPr>
        <p:spPr>
          <a:xfrm>
            <a:off x="320040" y="1188720"/>
            <a:ext cx="2743200" cy="3154680"/>
          </a:xfrm>
          <a:prstGeom prst="rect">
            <a:avLst/>
          </a:prstGeom>
          <a:solidFill>
            <a:srgbClr val="F5F7FA"/>
          </a:solidFill>
          <a:ln/>
        </p:spPr>
      </p:sp>
      <p:sp>
        <p:nvSpPr>
          <p:cNvPr id="11" name="Shape 9"/>
          <p:cNvSpPr/>
          <p:nvPr/>
        </p:nvSpPr>
        <p:spPr>
          <a:xfrm>
            <a:off x="320040" y="1188720"/>
            <a:ext cx="73152" cy="3154680"/>
          </a:xfrm>
          <a:prstGeom prst="rect">
            <a:avLst/>
          </a:prstGeom>
          <a:solidFill>
            <a:srgbClr val="1A6B3C"/>
          </a:solidFill>
          <a:ln/>
        </p:spPr>
      </p:sp>
      <p:sp>
        <p:nvSpPr>
          <p:cNvPr id="12" name="Text 10"/>
          <p:cNvSpPr txBox="1"/>
          <p:nvPr/>
        </p:nvSpPr>
        <p:spPr>
          <a:xfrm>
            <a:off x="457200" y="128016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A6B3C"/>
                </a:solidFill>
                <a:latin typeface="Trebuchet MS" pitchFamily="34" charset="0"/>
                <a:ea typeface="Trebuchet MS" pitchFamily="34" charset="-122"/>
                <a:cs typeface="Trebuchet MS" pitchFamily="34" charset="-120"/>
              </a:rPr>
              <a:t>USE ANALYTICAL</a:t>
            </a:r>
            <a:endParaRPr lang="en-US" sz="1100" dirty="0"/>
          </a:p>
        </p:txBody>
      </p:sp>
      <p:sp>
        <p:nvSpPr>
          <p:cNvPr id="13" name="Text 11"/>
          <p:cNvSpPr txBox="1"/>
          <p:nvPr/>
        </p:nvSpPr>
        <p:spPr>
          <a:xfrm>
            <a:off x="457200" y="1645920"/>
            <a:ext cx="2468880" cy="260604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 European options → Black–Scholes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Vanilla bonds → DCF</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Normally-distributed portfolio VaR → parametric</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Why:</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Exact</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Cheap</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Reveals cause-and-effect</a:t>
            </a:r>
            <a:endParaRPr lang="en-US" sz="1100" dirty="0"/>
          </a:p>
        </p:txBody>
      </p:sp>
      <p:sp>
        <p:nvSpPr>
          <p:cNvPr id="14" name="Shape 12"/>
          <p:cNvSpPr/>
          <p:nvPr/>
        </p:nvSpPr>
        <p:spPr>
          <a:xfrm>
            <a:off x="3200400" y="1188720"/>
            <a:ext cx="2743200" cy="3154680"/>
          </a:xfrm>
          <a:prstGeom prst="rect">
            <a:avLst/>
          </a:prstGeom>
          <a:solidFill>
            <a:srgbClr val="FEF0E7"/>
          </a:solidFill>
          <a:ln/>
        </p:spPr>
      </p:sp>
      <p:sp>
        <p:nvSpPr>
          <p:cNvPr id="15" name="Shape 13"/>
          <p:cNvSpPr/>
          <p:nvPr/>
        </p:nvSpPr>
        <p:spPr>
          <a:xfrm>
            <a:off x="3200400" y="1188720"/>
            <a:ext cx="73152" cy="3154680"/>
          </a:xfrm>
          <a:prstGeom prst="rect">
            <a:avLst/>
          </a:prstGeom>
          <a:solidFill>
            <a:srgbClr val="E8600A"/>
          </a:solidFill>
          <a:ln/>
        </p:spPr>
      </p:sp>
      <p:sp>
        <p:nvSpPr>
          <p:cNvPr id="16" name="Text 14"/>
          <p:cNvSpPr txBox="1"/>
          <p:nvPr/>
        </p:nvSpPr>
        <p:spPr>
          <a:xfrm>
            <a:off x="3337560" y="128016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USE MONTE CARLO</a:t>
            </a:r>
            <a:endParaRPr lang="en-US" sz="1100" dirty="0"/>
          </a:p>
        </p:txBody>
      </p:sp>
      <p:sp>
        <p:nvSpPr>
          <p:cNvPr id="17" name="Text 15"/>
          <p:cNvSpPr txBox="1"/>
          <p:nvPr/>
        </p:nvSpPr>
        <p:spPr>
          <a:xfrm>
            <a:off x="3337560" y="1645920"/>
            <a:ext cx="2468880" cy="260604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 Path-dependent payoffs (Asian, barrier, lookback)</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MBS with prepayment models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Portfolio VaR with non-normal risk factors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Why:</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Flexible</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Handles any model</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Quantifies tail risk</a:t>
            </a:r>
            <a:endParaRPr lang="en-US" sz="1100" dirty="0"/>
          </a:p>
        </p:txBody>
      </p:sp>
      <p:sp>
        <p:nvSpPr>
          <p:cNvPr id="18" name="Shape 16"/>
          <p:cNvSpPr/>
          <p:nvPr/>
        </p:nvSpPr>
        <p:spPr>
          <a:xfrm>
            <a:off x="6080760" y="1188720"/>
            <a:ext cx="2743200" cy="3154680"/>
          </a:xfrm>
          <a:prstGeom prst="rect">
            <a:avLst/>
          </a:prstGeom>
          <a:solidFill>
            <a:srgbClr val="F5F7FA"/>
          </a:solidFill>
          <a:ln/>
        </p:spPr>
      </p:sp>
      <p:sp>
        <p:nvSpPr>
          <p:cNvPr id="19" name="Shape 17"/>
          <p:cNvSpPr/>
          <p:nvPr/>
        </p:nvSpPr>
        <p:spPr>
          <a:xfrm>
            <a:off x="6080760" y="1188720"/>
            <a:ext cx="73152" cy="3154680"/>
          </a:xfrm>
          <a:prstGeom prst="rect">
            <a:avLst/>
          </a:prstGeom>
          <a:solidFill>
            <a:srgbClr val="1B2A4A"/>
          </a:solidFill>
          <a:ln/>
        </p:spPr>
      </p:sp>
      <p:sp>
        <p:nvSpPr>
          <p:cNvPr id="20" name="Text 18"/>
          <p:cNvSpPr txBox="1"/>
          <p:nvPr/>
        </p:nvSpPr>
        <p:spPr>
          <a:xfrm>
            <a:off x="6217920" y="128016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USE BOOTSTRAP</a:t>
            </a:r>
            <a:endParaRPr lang="en-US" sz="1100" dirty="0"/>
          </a:p>
        </p:txBody>
      </p:sp>
      <p:sp>
        <p:nvSpPr>
          <p:cNvPr id="21" name="Text 19"/>
          <p:cNvSpPr txBox="1"/>
          <p:nvPr/>
        </p:nvSpPr>
        <p:spPr>
          <a:xfrm>
            <a:off x="6217920" y="1645920"/>
            <a:ext cx="2468880" cy="260604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 Confidence intervals on a complicated estimator</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Back-testing strategies over history</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Stress tests anchored in realised data</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Why:</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No distribution assumed</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Fat tails preserved</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Simple to implement</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But: cannot produce an event the sample never saw.</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22860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KEY TAKEAWAYS</a:t>
            </a:r>
            <a:endParaRPr lang="en-US" sz="1100" dirty="0"/>
          </a:p>
        </p:txBody>
      </p:sp>
      <p:sp>
        <p:nvSpPr>
          <p:cNvPr id="5" name="Text 3"/>
          <p:cNvSpPr txBox="1"/>
          <p:nvPr/>
        </p:nvSpPr>
        <p:spPr>
          <a:xfrm>
            <a:off x="457200" y="640080"/>
            <a:ext cx="8229600" cy="475488"/>
          </a:xfrm>
          <a:prstGeom prst="rect">
            <a:avLst/>
          </a:prstGeom>
          <a:noFill/>
          <a:ln/>
        </p:spPr>
        <p:txBody>
          <a:bodyPr wrap="square" lIns="508" tIns="508" rIns="508" bIns="508" rtlCol="0" anchor="t">
            <a:normAutofit/>
            <a:spAutoFit/>
          </a:bodyPr>
          <a:lstStyle/>
          <a:p>
            <a:pPr algn="l" indent="0" marL="0">
              <a:buNone/>
            </a:pPr>
            <a:r>
              <a:rPr lang="en-US" sz="1700" b="1" dirty="0">
                <a:solidFill>
                  <a:srgbClr val="1B2A4A"/>
                </a:solidFill>
                <a:latin typeface="Trebuchet MS" pitchFamily="34" charset="0"/>
                <a:ea typeface="Trebuchet MS" pitchFamily="34" charset="-122"/>
                <a:cs typeface="Trebuchet MS" pitchFamily="34" charset="-120"/>
              </a:rPr>
              <a:t>Deck 2 — Probability, Distributions, Portfolio Mathematics &amp; Simulation</a:t>
            </a:r>
            <a:endParaRPr lang="en-US" sz="1700" dirty="0"/>
          </a:p>
        </p:txBody>
      </p:sp>
      <p:sp>
        <p:nvSpPr>
          <p:cNvPr id="6" name="Shape 4"/>
          <p:cNvSpPr/>
          <p:nvPr/>
        </p:nvSpPr>
        <p:spPr>
          <a:xfrm>
            <a:off x="457200" y="1261872"/>
            <a:ext cx="4046220" cy="749808"/>
          </a:xfrm>
          <a:prstGeom prst="rect">
            <a:avLst/>
          </a:prstGeom>
          <a:solidFill>
            <a:srgbClr val="253A5E"/>
          </a:solidFill>
          <a:ln/>
        </p:spPr>
      </p:sp>
      <p:sp>
        <p:nvSpPr>
          <p:cNvPr id="7" name="Shape 5"/>
          <p:cNvSpPr/>
          <p:nvPr/>
        </p:nvSpPr>
        <p:spPr>
          <a:xfrm>
            <a:off x="621792" y="1389888"/>
            <a:ext cx="128016" cy="128016"/>
          </a:xfrm>
          <a:prstGeom prst="rect">
            <a:avLst/>
          </a:prstGeom>
          <a:solidFill>
            <a:srgbClr val="E8600A"/>
          </a:solidFill>
          <a:ln/>
        </p:spPr>
      </p:sp>
      <p:sp>
        <p:nvSpPr>
          <p:cNvPr id="8" name="Text 6"/>
          <p:cNvSpPr txBox="1"/>
          <p:nvPr/>
        </p:nvSpPr>
        <p:spPr>
          <a:xfrm>
            <a:off x="82296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Central tendency, dispersion, skewness, kurtosis and correlation are the five descriptive lenses every return series needs — each answers a different question.</a:t>
            </a:r>
            <a:endParaRPr lang="en-US" sz="1150" dirty="0"/>
          </a:p>
        </p:txBody>
      </p:sp>
      <p:sp>
        <p:nvSpPr>
          <p:cNvPr id="9" name="Shape 7"/>
          <p:cNvSpPr/>
          <p:nvPr/>
        </p:nvSpPr>
        <p:spPr>
          <a:xfrm>
            <a:off x="4640580" y="1261872"/>
            <a:ext cx="4046220" cy="749808"/>
          </a:xfrm>
          <a:prstGeom prst="rect">
            <a:avLst/>
          </a:prstGeom>
          <a:solidFill>
            <a:srgbClr val="253A5E"/>
          </a:solidFill>
          <a:ln/>
        </p:spPr>
      </p:sp>
      <p:sp>
        <p:nvSpPr>
          <p:cNvPr id="10" name="Shape 8"/>
          <p:cNvSpPr/>
          <p:nvPr/>
        </p:nvSpPr>
        <p:spPr>
          <a:xfrm>
            <a:off x="4805172" y="1389888"/>
            <a:ext cx="128016" cy="128016"/>
          </a:xfrm>
          <a:prstGeom prst="rect">
            <a:avLst/>
          </a:prstGeom>
          <a:solidFill>
            <a:srgbClr val="E8600A"/>
          </a:solidFill>
          <a:ln/>
        </p:spPr>
      </p:sp>
      <p:sp>
        <p:nvSpPr>
          <p:cNvPr id="11" name="Text 9"/>
          <p:cNvSpPr txBox="1"/>
          <p:nvPr/>
        </p:nvSpPr>
        <p:spPr>
          <a:xfrm>
            <a:off x="500634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Sample statistics divide by n−1; probability-weighted expectations do not divide at all. Target semideviation keeps the n−1 but sums only shortfalls below B.</a:t>
            </a:r>
            <a:endParaRPr lang="en-US" sz="1150" dirty="0"/>
          </a:p>
        </p:txBody>
      </p:sp>
      <p:sp>
        <p:nvSpPr>
          <p:cNvPr id="12" name="Shape 10"/>
          <p:cNvSpPr/>
          <p:nvPr/>
        </p:nvSpPr>
        <p:spPr>
          <a:xfrm>
            <a:off x="457200" y="2084832"/>
            <a:ext cx="4046220" cy="749808"/>
          </a:xfrm>
          <a:prstGeom prst="rect">
            <a:avLst/>
          </a:prstGeom>
          <a:solidFill>
            <a:srgbClr val="253A5E"/>
          </a:solidFill>
          <a:ln/>
        </p:spPr>
      </p:sp>
      <p:sp>
        <p:nvSpPr>
          <p:cNvPr id="13" name="Shape 11"/>
          <p:cNvSpPr/>
          <p:nvPr/>
        </p:nvSpPr>
        <p:spPr>
          <a:xfrm>
            <a:off x="621792" y="2212848"/>
            <a:ext cx="128016" cy="128016"/>
          </a:xfrm>
          <a:prstGeom prst="rect">
            <a:avLst/>
          </a:prstGeom>
          <a:solidFill>
            <a:srgbClr val="E8600A"/>
          </a:solidFill>
          <a:ln/>
        </p:spPr>
      </p:sp>
      <p:sp>
        <p:nvSpPr>
          <p:cNvPr id="14" name="Text 12"/>
          <p:cNvSpPr txBox="1"/>
          <p:nvPr/>
        </p:nvSpPr>
        <p:spPr>
          <a:xfrm>
            <a:off x="82296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Probability trees decompose an unconditional forecast into conditional ones and must recombine exactly. Total risk = risk within branches + risk between branches.</a:t>
            </a:r>
            <a:endParaRPr lang="en-US" sz="1150" dirty="0"/>
          </a:p>
        </p:txBody>
      </p:sp>
      <p:sp>
        <p:nvSpPr>
          <p:cNvPr id="15" name="Shape 13"/>
          <p:cNvSpPr/>
          <p:nvPr/>
        </p:nvSpPr>
        <p:spPr>
          <a:xfrm>
            <a:off x="4640580" y="2084832"/>
            <a:ext cx="4046220" cy="749808"/>
          </a:xfrm>
          <a:prstGeom prst="rect">
            <a:avLst/>
          </a:prstGeom>
          <a:solidFill>
            <a:srgbClr val="253A5E"/>
          </a:solidFill>
          <a:ln/>
        </p:spPr>
      </p:sp>
      <p:sp>
        <p:nvSpPr>
          <p:cNvPr id="16" name="Shape 14"/>
          <p:cNvSpPr/>
          <p:nvPr/>
        </p:nvSpPr>
        <p:spPr>
          <a:xfrm>
            <a:off x="4805172" y="2212848"/>
            <a:ext cx="128016" cy="128016"/>
          </a:xfrm>
          <a:prstGeom prst="rect">
            <a:avLst/>
          </a:prstGeom>
          <a:solidFill>
            <a:srgbClr val="E8600A"/>
          </a:solidFill>
          <a:ln/>
        </p:spPr>
      </p:sp>
      <p:sp>
        <p:nvSpPr>
          <p:cNvPr id="17" name="Text 15"/>
          <p:cNvSpPr txBox="1"/>
          <p:nvPr/>
        </p:nvSpPr>
        <p:spPr>
          <a:xfrm>
            <a:off x="500634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Bayes updates a prior by the evidence ratio P(Info|Event) / P(Info). DriveMed: 45% → 82%. With a low base rate, even a strong signal barely moves the posterior.</a:t>
            </a:r>
            <a:endParaRPr lang="en-US" sz="1150" dirty="0"/>
          </a:p>
        </p:txBody>
      </p:sp>
      <p:sp>
        <p:nvSpPr>
          <p:cNvPr id="18" name="Shape 16"/>
          <p:cNvSpPr/>
          <p:nvPr/>
        </p:nvSpPr>
        <p:spPr>
          <a:xfrm>
            <a:off x="457200" y="2907792"/>
            <a:ext cx="4046220" cy="749808"/>
          </a:xfrm>
          <a:prstGeom prst="rect">
            <a:avLst/>
          </a:prstGeom>
          <a:solidFill>
            <a:srgbClr val="253A5E"/>
          </a:solidFill>
          <a:ln/>
        </p:spPr>
      </p:sp>
      <p:sp>
        <p:nvSpPr>
          <p:cNvPr id="19" name="Shape 17"/>
          <p:cNvSpPr/>
          <p:nvPr/>
        </p:nvSpPr>
        <p:spPr>
          <a:xfrm>
            <a:off x="621792" y="3035808"/>
            <a:ext cx="128016" cy="128016"/>
          </a:xfrm>
          <a:prstGeom prst="rect">
            <a:avLst/>
          </a:prstGeom>
          <a:solidFill>
            <a:srgbClr val="E8600A"/>
          </a:solidFill>
          <a:ln/>
        </p:spPr>
      </p:sp>
      <p:sp>
        <p:nvSpPr>
          <p:cNvPr id="20" name="Text 18"/>
          <p:cNvSpPr txBox="1"/>
          <p:nvPr/>
        </p:nvSpPr>
        <p:spPr>
          <a:xfrm>
            <a:off x="82296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Returns are a weighted average; risk is not. σ² = Σᵢ Σⱼ wᵢwⱼCov — 20 assets means 20 variances against 190 distinct covariances, and estimation is the binding constraint.</a:t>
            </a:r>
            <a:endParaRPr lang="en-US" sz="1150" dirty="0"/>
          </a:p>
        </p:txBody>
      </p:sp>
      <p:sp>
        <p:nvSpPr>
          <p:cNvPr id="21" name="Shape 19"/>
          <p:cNvSpPr/>
          <p:nvPr/>
        </p:nvSpPr>
        <p:spPr>
          <a:xfrm>
            <a:off x="4640580" y="2907792"/>
            <a:ext cx="4046220" cy="749808"/>
          </a:xfrm>
          <a:prstGeom prst="rect">
            <a:avLst/>
          </a:prstGeom>
          <a:solidFill>
            <a:srgbClr val="253A5E"/>
          </a:solidFill>
          <a:ln/>
        </p:spPr>
      </p:sp>
      <p:sp>
        <p:nvSpPr>
          <p:cNvPr id="22" name="Shape 20"/>
          <p:cNvSpPr/>
          <p:nvPr/>
        </p:nvSpPr>
        <p:spPr>
          <a:xfrm>
            <a:off x="4805172" y="3035808"/>
            <a:ext cx="128016" cy="128016"/>
          </a:xfrm>
          <a:prstGeom prst="rect">
            <a:avLst/>
          </a:prstGeom>
          <a:solidFill>
            <a:srgbClr val="E8600A"/>
          </a:solidFill>
          <a:ln/>
        </p:spPr>
      </p:sp>
      <p:sp>
        <p:nvSpPr>
          <p:cNvPr id="23" name="Text 21"/>
          <p:cNvSpPr txBox="1"/>
          <p:nvPr/>
        </p:nvSpPr>
        <p:spPr>
          <a:xfrm>
            <a:off x="500634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Roy's criterion maximises SFRatio = (E[R_p] − R_L)/σ[R_p], which minimises P(R &lt; R_L) under normality. Set R_L = R_f and it IS the Sharpe ratio.</a:t>
            </a:r>
            <a:endParaRPr lang="en-US" sz="1150" dirty="0"/>
          </a:p>
        </p:txBody>
      </p:sp>
      <p:sp>
        <p:nvSpPr>
          <p:cNvPr id="24" name="Shape 22"/>
          <p:cNvSpPr/>
          <p:nvPr/>
        </p:nvSpPr>
        <p:spPr>
          <a:xfrm>
            <a:off x="457200" y="3730752"/>
            <a:ext cx="4046220" cy="749808"/>
          </a:xfrm>
          <a:prstGeom prst="rect">
            <a:avLst/>
          </a:prstGeom>
          <a:solidFill>
            <a:srgbClr val="253A5E"/>
          </a:solidFill>
          <a:ln/>
        </p:spPr>
      </p:sp>
      <p:sp>
        <p:nvSpPr>
          <p:cNvPr id="25" name="Shape 23"/>
          <p:cNvSpPr/>
          <p:nvPr/>
        </p:nvSpPr>
        <p:spPr>
          <a:xfrm>
            <a:off x="621792" y="3858768"/>
            <a:ext cx="128016" cy="128016"/>
          </a:xfrm>
          <a:prstGeom prst="rect">
            <a:avLst/>
          </a:prstGeom>
          <a:solidFill>
            <a:srgbClr val="E8600A"/>
          </a:solidFill>
          <a:ln/>
        </p:spPr>
      </p:sp>
      <p:sp>
        <p:nvSpPr>
          <p:cNvPr id="26" name="Text 24"/>
          <p:cNvSpPr txBox="1"/>
          <p:nvPr/>
        </p:nvSpPr>
        <p:spPr>
          <a:xfrm>
            <a:off x="82296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Prices lognormal, log returns normal — mean exceeds median by exp(0.5σ²). Volatility scales with √T under iid; Astra: 2.13% daily → 33.6% annualised.</a:t>
            </a:r>
            <a:endParaRPr lang="en-US" sz="1150" dirty="0"/>
          </a:p>
        </p:txBody>
      </p:sp>
      <p:sp>
        <p:nvSpPr>
          <p:cNvPr id="27" name="Shape 25"/>
          <p:cNvSpPr/>
          <p:nvPr/>
        </p:nvSpPr>
        <p:spPr>
          <a:xfrm>
            <a:off x="4640580" y="3730752"/>
            <a:ext cx="4046220" cy="749808"/>
          </a:xfrm>
          <a:prstGeom prst="rect">
            <a:avLst/>
          </a:prstGeom>
          <a:solidFill>
            <a:srgbClr val="253A5E"/>
          </a:solidFill>
          <a:ln/>
        </p:spPr>
      </p:sp>
      <p:sp>
        <p:nvSpPr>
          <p:cNvPr id="28" name="Shape 26"/>
          <p:cNvSpPr/>
          <p:nvPr/>
        </p:nvSpPr>
        <p:spPr>
          <a:xfrm>
            <a:off x="4805172" y="3858768"/>
            <a:ext cx="128016" cy="128016"/>
          </a:xfrm>
          <a:prstGeom prst="rect">
            <a:avLst/>
          </a:prstGeom>
          <a:solidFill>
            <a:srgbClr val="E8600A"/>
          </a:solidFill>
          <a:ln/>
        </p:spPr>
      </p:sp>
      <p:sp>
        <p:nvSpPr>
          <p:cNvPr id="29" name="Text 27"/>
          <p:cNvSpPr txBox="1"/>
          <p:nvPr/>
        </p:nvSpPr>
        <p:spPr>
          <a:xfrm>
            <a:off x="500634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Monte Carlo prices path-dependent claims by averaging discounted payoffs; bootstrap swaps the assumed distribution for the observed one. Both give estimates, never causes.</a:t>
            </a:r>
            <a:endParaRPr lang="en-US" sz="1150" dirty="0"/>
          </a:p>
        </p:txBody>
      </p:sp>
      <p:sp>
        <p:nvSpPr>
          <p:cNvPr id="30" name="Text 28"/>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Studio Tonton Gug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FF v2 · Deck 2 · Probability, Distributions, Portfolio Mathematics &amp; Simulation</dc:title>
  <dc:subject>PptxGenJS Presentation</dc:subject>
  <dc:creator>Studio Tonton Gug</dc:creator>
  <cp:lastModifiedBy>Studio Tonton Gug</cp:lastModifiedBy>
  <cp:revision>1</cp:revision>
  <dcterms:created xsi:type="dcterms:W3CDTF">2026-08-30T20:48:18Z</dcterms:created>
  <dcterms:modified xsi:type="dcterms:W3CDTF">2026-08-30T20:48:18Z</dcterms:modified>
</cp:coreProperties>
</file>