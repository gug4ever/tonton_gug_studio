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02  ·  WEEK 1  ·  MORNING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Probability, Distributions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Portfolio Math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moments of one return series to Monte Carlo pricing of multi-asset portfolios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1 Learning Modules 3–6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Probability, Distributions, Portfolio Mathematics &amp; Simulation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Moments, shape &amp; dispersion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93799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/ median / mode · trimmed &amp; winsorized · variance / MAD / semideviation · skew &amp; kurtosis · correlation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148840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trees &amp; Bayes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489911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E[X], Var[X] for discrete RVs · BankCorp EPS conditional tree · total probability rule · Bayes in credit &amp; equity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044952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risk &amp; safety-first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386023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return · covariance matrix · diversification · joint probability function · shortfall risk · Roy's criterion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895344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941064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Lognormal &amp; Monte Carlo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82135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lognormal asset prices · r_cc &amp; √T scaling · Astra volatility · 6-step Monte Carlo · bootstrap vs MC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interpret the full set of descriptive statistics for an asset-return series — mean variants, variance / MAD / semideviation, skewness, kurtosis, covariance and correlation — and know which one answers which question.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probability tree for a discrete random variable, read off conditional expected values and variances, and apply Bayes' formula to update a prior belief with new information.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portfolio variance into own-variance and covariance terms, enumerate how many distinct covariances an n-asset portfolio requires, and estimate covariance from a joint probability function when history is short.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shortfall risk using Roy's safety-first criterion and connect the SFRatio to the Sharpe ratio as a special case when the threshold equals the risk-free rate.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asset prices are modelled as lognormal while continuously compounded returns are modelled as normal, derive the √T volatility-scaling rule, and walk through the 6-step Monte Carlo recipe for a derivative with no closed form.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Moments, shape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dispersion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4  ·  Deck 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Mean, median and mode answer three different questions about the same return series — and outliers are what force you to pick carefully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3, pp. 89–93.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mean is the most used — and the least robust to outliers. Trimmed and winsorized means reclaim robustness without abandoning the mean entirely.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X̄  =  (1/n) Σ Xᵢ        median = middle value        mode = most frequent value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Trimmed mean: drop top &amp; bottom k%. Winsorized mean: replace tails with boundary quantile.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13716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EAA Equity Index, 1,258 trading days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Observations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Interpretation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 mean (all data)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baseline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trimmed (drop top / bottom 2.5%)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1,194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0.048%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→ neg. outliers dropped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winsorized (cap at ±P97.5)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modest — tails capped not dropped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931920"/>
            <a:ext cx="8503920" cy="621792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931920"/>
            <a:ext cx="73152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9776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519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between arithmetic, trimmed and winsorized means is a first-pass test for the presence of influential outliers. In this series the mean moves ~37% relative to itself — evidence the extreme observations are pulling the estimate.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Variance and standard deviation describe two-sided dispersion — downside deviation and coefficient of variation sharpen the view when asymmetry matters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3, pp. 100–108, Ex. 3–4.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semideviation only penalises observations below a chosen threshold — the investor-relevant cut of risk.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s² = Σ(Xᵢ−X̄)² / (n−1)       s_target = √[Σ_{Xᵢ&lt;B}(Xᵢ−B)² / (n−1)]       CV = s / X̄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B = target (minimum acceptable return). CV is unitless — enables direct comparison of dispersion across datasets.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3 EXAMPLE 3 — MONTHLY PORTFOLIO RETURNS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monthly returns: 5, 3, −1, −4, 4, 2, 0, 4, 3, 0, 6, 5 (%). Mean X̄ = 2.25%.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standard deviation: s = √(96.25 / 11) = 2.958%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3%: squared deviations below target sum to 84 → s_target = √(84/11) = 2.763%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2% (lower bar): s_target = √(36/11) = 1.809%  →  falls because fewer observations clear the bar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variation: CV = 2.958 / 2.25 = 1.31  →  dispersion is 1.3× the mean — high relative risk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2.958%;  s_target@3% = 2.763%;  CV = 1.31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Skewness measures asymmetry and kurtosis measures tail weight — both matter because real asset returns are almost never normal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3, pp. 110–116, Ex. 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= skew 0 and kurtosis 3. Excess kurtosis &gt; 0 signals fat tails — financial returns routinely show +3 to +5 of excess kurtosis.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Skew  ≈  (1/n) Σ (Xᵢ−X̄)³ / s³          Excess Kurtosis  ≈  (1/n) Σ (Xᵢ−X̄)⁴ / s⁴   −   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Positive skew → long right tail (rare gains, frequent small losses). Negative skew → the mirror.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 SKEW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small gains, rare large losses.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of equity indices — crashes are the tail. Mean &lt; median &lt; mode.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LEPTOKURTIC · K_E &gt; 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probability in tails AND near the mean; less in the shoulders.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 Equity Index: skew −0.43, excess kurtosis +3.80 → fat-tailed and left-skewed.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IGNORE AT YOUR PERIL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Variance-only risk models underestimate extreme losses when skew and kurtosis are non-trivial — why VaR is routinely backtested against fat-tailed empirical data.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Covariance is scale-dependent and therefore hard to compare — correlation normalises it to the interval [−1, +1] and becomes the workhorse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3, pp. 117–122.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of 1 = perfect positive linear. Correlation of 0 = no linear association (but could still be non-linearly related).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s_XY  =  Σ (Xᵢ−X̄)(Yᵢ−Ȳ) / (n−1)          r_XY  =  s_XY / ( s_X · s_Y 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Covariance is in units of X × Y; correlation is unitless and bounded by ±1.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137160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Asset pair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Variances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Covariance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Correlation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Large-cap US vs Large-cap world (ex-US)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σ² 0.00174 / 0.00149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0.00135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IG corp vs Long-term IG corp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σ² 0.00017 / 0.00070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0.00032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Equity-equity pair (lower correlation)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mixed variances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weaker link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Bond-bond pair (higher correlation)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variances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stronger link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 captures only linear association — scatter plots remain essential to spot non-linearity, outliers, and spurious relationships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A single outlier can pull a correlation coefficient from 0.1 to 0.7 — always inspect the cloud of points.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Spurious correlation: two series that move with a common third factor (e.g., inflation) are not themselves causally linked.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3, pp. 117–122.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sector returns track the S&amp;P 500 tightly; utility returns do not. The scatter plot diagnoses the relationship before the coefficient is computed.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4160520" cy="3063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063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PLOT REVEALS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Overall strength and direction of association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Linearity vs curvature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Data range and gaps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Outliers that may distort the coefficient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Clusters suggesting sub-populations or regime shifts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4160520" cy="3063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663440" y="1188720"/>
            <a:ext cx="73152" cy="3063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 ≠ CAUSATION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of a strong r_XY only implies the two variables move together historically. Causal attribution requires: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Economic theory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Stable regime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Controls for confounders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infer causation from a scatter plot alone.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trees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Bayes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4  ·  Deck 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expected value of a discrete random variable is the probability-weighted sum of its outcomes — variance is the probability-weighted squared deviation around 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4, pp. 134–136.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deviation brings variance back into the same units as the underlying variable — usually how investors think and talk.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E[X]  =  Σ P(Xᵢ) · Xᵢ          σ²[X]  =  Σ P(Xᵢ) · [Xᵢ − E[X]]²          σ[X] = √σ²[X]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4 EXAMPLE 1 — BANKCORP EPS FORECAST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possible EPS outcomes with probabilities 0.15, 0.45, 0.24, 0.16 and EPS $2.60 / $2.45 / $2.20 / $2.00.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E[EPS] = 0.15(2.60) + 0.45(2.45) + 0.24(2.20) + 0.16(2.00) = $2.3405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σ²[EPS] = 0.15(2.60−2.34)² + 0.45(2.45−2.34)² + 0.24(2.20−2.34)² + 0.16(2.00−2.34)²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= 0.01014 + 0.00545 + 0.00470 + 0.01850 = 0.03879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σ[EPS] = √0.03879 ≈ $0.197  →  expected EPS of $2.34 with one-sigma band of ±$0.20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E[EPS] = $2.34  ·  σ[EPS] = $0.20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probability tree decomposes an unconditional forecast into scenario-conditional expectations that must recombine to the original number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4, pp. 136–140.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probability rule for expected value: E[X] = Σ E[X | Sᵢ] · P(Sᵢ). The check that the recombined total matches the unconditional E[X] is non-negotiable.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E[X]  =  E[X | S₁] · P(S₁)  +  E[X | S₂] · P(S₂)  +  …  +  E[X | S_n] · P(S_n)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Scenarios S₁..S_n must be mutually exclusive and exhaustive. Their probabilities sum to 1.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097280"/>
                <a:gridCol w="1645920"/>
                <a:gridCol w="13716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P(Sᵢ)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E[EPS | Sᵢ]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Contribution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Check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Declining interest rates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0.25·2.60+0.75·2.45 = $2.4875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1.4925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 interest rates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0.60·2.20+0.40·2.00 = $2.1200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0.8480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Unconditional E[EPS]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$2.3405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 Slide 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749040"/>
            <a:ext cx="8503920" cy="804672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749040"/>
            <a:ext cx="73152" cy="80467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794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CONDITIONAL EXPECTED VALUE IS HOW ANALYSTS COMMUNICATE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69080"/>
            <a:ext cx="827532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 a recession, we expect EPS of $2.12; under our base case, $2.49." — the scenario-conditioned forecast tells a richer story than a single point estimate.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Conditional variance is how scenario-conditioned forecasts keep track of residual risk inside each branch of the tree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4, pp. 138–140.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Unconditional variance = average of conditional variances + variance of conditional means (law of total variance, discussed later in curriculum).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σ²[X | S]  =  Σᵢ P(Xᵢ | S) · [Xᵢ − E[X | S]]²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Computed exactly like unconditional variance, but using probabilities conditional on scenario S and deviations from the conditional mean E[X | S].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DECLINING RATES SCENARIO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E[EPS] = $2.49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 = 0.25(2.60−2.49)² + 0.75(2.45−2.49)²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0.00422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$0.065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RATES SCENARIO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E[EPS] = $2.12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 = 0.60(2.20−2.12)² + 0.40(2.00−2.12)²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0.00960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$0.098  →  about 50% more volatile than the declining-rates branch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Bayes' formula reverses a conditional probability — it updates a prior belief by the ratio of likelihood to unconditional probability of the new information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4, pp. 141–144.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multiplier [P(Info | Event) / P(Info)] is the "evidence ratio". When it is &gt;1 the posterior rises; &lt;1 and the posterior falls.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P(Event | Info)  =  [ P(Info | Event) / P(Info) ]  ·  P(Event)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P(Event) = prior; P(Info | Event) = likelihood; P(Info) = unconditional probability; P(Event | Info) = posterior.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TECH-FIRM FRAMEWORK — READ THE UPDATE AS A FREQUENCY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500-stock index has 100 tech firms; 60 had returns &gt;10%. Of 400 non-tech firms, 100 had returns &gt;10%. What is P(tech | R &gt; 10%)?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Prior: P(tech) = 100/500 = 0.20  ·  unconditional P(R&gt;10%) = 160/500 = 0.32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 P(R&gt;10% | tech) = 60/100 = 0.60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Bayes: P(tech | R&gt;10%) = (0.60 / 0.32) · 0.20 = 1.875 · 0.20 = 0.375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check: of 160 firms with R&gt;10%, 60 are tech  →  60/160 = 0.375 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 0.375 ≈ prior 0.20 × evidence ratio 1.875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DriveMed expansion announcement lifts the implied probability of a consensus beat from 45% to 82% — a textbook Bayesian update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4, Example 4, pp. 144–147.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mutually exclusive events (beat / meet / miss) — the three posteriors must sum to 1, which is the final consistency check on the calculation.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2377440"/>
                <a:gridCol w="109728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Event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P(expansion | Event)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Joint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Posterior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 exceeded consensus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0.3375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0.823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 met consensus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0.146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 fell short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0.0125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P(expansion) · Σ posterior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7472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7472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MECHANICS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9476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= Joint / P(expansion) — for example P(beat | expands) = 0.3375 / 0.41 = 0.823. A single piece of information (the factory expansion) shifts the probability mass dramatically from 45 / 30 / 25 to 82 / 15 / 3.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 is most valuable where the base rate is low and the signal is imperfect — credit, bankruptcy prediction, manager skill evaluation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4, Question Set, pp. 148–151.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three practice problems share the same structure — priors, likelihoods, posterior via Bayes — and together anchor the formula in realistic analyst workflows.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 SCORE · TIMELY REPAYMENT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P(A) = 0.90 (pays on time)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P(B) = 0.80 (good credit)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P(B | A) = 0.85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 | B) = 0.85 / 0.80 × 0.90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= 0.956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credit report raises timely-pay probability from 90% to 95.6%.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BANKRUPTCY MODEL · FAILURE RATE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P(fail) = 0.20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P(good) = 0.70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P(good | fail) = 0.50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P(fail | good) = 0.50 / 0.70 × 0.20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= 0.143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"good" rating drops the failure probability from 20% to 14.3%.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CEO FIRED · GOOD PERFORMANCE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P(fired) = 0.05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P(good) = 0.50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P(good | fired) = 0.30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P(fired | good) = 0.30 / 0.50 × 0.05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= 0.030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good performance leaves a 3% chance of firing — boards fire for reasons other than stock return.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risk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4  ·  Deck 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portfolio's expected return is a simple weighted average, but its variance depends on pairwise covariances — which quickly dominate as n grows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5, pp. 154–157.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 assets there are n variance terms and n(n−1)/2 distinct covariance terms — at n = 20 the ratio is 1:19 in favour of covariances.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E[R_p] = Σ wᵢ E[Rᵢ]       σ²[R_p] = Σᵢ Σⱼ wᵢ wⱼ Cov(Rᵢ, Rⱼ)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Weights sum to 1. Diagonal Cov(Rᵢ, Rᵢ) = σ²[Rᵢ]. Off-diagonal terms capture co-movement.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— THREE-ASSET PORTFOLIO (S&amp;P 500 / LT CORP BONDS / MSCI EAFE)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50% / 25% / 25%. E[R] = 13% / 6% / 15%. Var diagonals 400 / 81 / 441 (%²). Off-diagonals 45 / 189 / 38.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E[R_p] = 0.50(13) + 0.25(6) + 0.25(15) = 11.75%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contribution (diagonals): 0.25·400 + 0.0625·81 + 0.0625·441 = 132.625 (%²)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Covariance contribution: 2·0.50·0.25·45 + 2·0.50·0.25·189 + 2·0.25·0.25·38 = 63.25 (%²)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σ²[R_p] = 195.875  →  σ[R_p] = 14.00%  (vs 11.52% if covariances were zero — 2.5 pp of risk from co-movement)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E[R_p] = 11.75%  ·  σ[R_p] = 14.00%  (diversification gap ~250 bp)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covariance matrix captures everything portfolio math needs — for n assets it contains n variances plus n(n−1)/2 distinct covariances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5, pp. 156–160.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covariance matrix is symmetric (Cov(A,B) = Cov(B,A)), so only the upper (or lower) triangle needs to be estimated.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34440"/>
                <a:gridCol w="13258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Inputs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Variances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Distinct covariances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4,950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5,050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349240" y="1188720"/>
            <a:ext cx="347472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534924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0" y="1234440"/>
            <a:ext cx="3246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 IMPLICATIONS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508760"/>
            <a:ext cx="324612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becomes the bottleneck long before the formulas do. For a 500-stock portfolio you need 124,750 covariance estimates — far more than return history usually supports.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factor models (market + style factors) and shrinkage estimators exist precisely to make the covariance matrix estimable and well-conditioned.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two-asset portfolio traces the efficient frontier — low correlation does the diversification work, not low variance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5, Example 1, pp. 159–161.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minimum-variance combination for ρ = 0.30 is ~85% Stock 1 / 15% Stock 2 — less than either standalone standard deviation.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σ²[R_p] = w₁²σ₁² + w₂²σ₂² + 2w₁w₂ · ρ · σ₁ · σ₂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With ρ &lt; 1, σ[R_p] is strictly below the weighted average of σ₁ and σ₂ — this is the diversification benefit.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737360"/>
                <a:gridCol w="1737360"/>
                <a:gridCol w="1645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w₁ / w₂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E[R_p] (%)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σ²[R_p] (%²)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σ[R_p] (%)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vs linear σ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 / 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40.68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6.38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−1.42 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 / 0.40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61.92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−1.73 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 / 0.60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99.72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−1.61 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 / 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154.08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−0.79 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/ 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225.00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joint probability function converts discrete scenarios into a forward-looking covariance — the right tool when history is short or regime-shifting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5, pp. 163–166.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and Y are independent then P(X,Y) = P(X)·P(Y) and Cov(X,Y) = 0 — but the converse (zero correlation ⟹ independence) does NOT hold.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Cov(R_A, R_B)  =  Σᵢ Σⱼ  P(R_A,i , R_B,j)  ·  (R_A,i − E[R_A])  ·  (R_B,j − E[R_B])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Sum over all discrete (i, j) outcomes weighted by their joint probability — the discrete analogue of the continuous covariance integral.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— BANKCORP × NEWBANK JOINT DISTRIBUTION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banking-industry states: good (0.20), average (0.50), poor (0.30). BankCorp returns 25 / 12 / 10%; NewBank returns 20 / 16 / 10%.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E[R_A] = 0.20(25) + 0.50(12) + 0.30(10) = 14%  ·  E[R_B] = 0.20(20) + 0.50(16) + 0.30(10) = 15%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Good:     (25−14)(20−15) = 55  →  weighted 0.20 · 55 = 11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Average:  (12−14)(16−15) = −2  →  weighted 0.50 · (−2) = −1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Poor:     (10−14)(10−15) = 20  →  weighted 0.30 · 20 = 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Cov(R_A, R_B) = 11 − 1 + 6 = 16  (%²)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Shortfall risk — the probability of falling below a minimum acceptable return — is the downside metric that matches investor objectives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5, pp. 167–169.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σ treats upside and downside equally. Shortfall risk asks the only question clients care about: what is the chance I lose more than I can afford?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063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063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SYMMETRIC RISK MISSES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portfolios with identical σ but different mean returns have very different shortfall probabilities under normality.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target R_L, the portfolio with the higher mean has a smaller shaded area to the left of R_L — the same σ, but a dramatically different lived experience.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063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063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PORTFOLIOS AT R_L = 2%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I:   E = 5%, σ = 8%  →  P(x&lt;2%) = 37.7%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II:  E = 8%, σ = 8%  →  P(x&lt;2%) = 24.6%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III: E = 5%, σ = 12% →  P(x&lt;2%) = 41.7%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dominates I (higher return, same σ) and III (same return, lower σ). Both effects matter.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Roy's safety-first criterion picks the portfolio that maximises the distance from the mean to the threshold, expressed in standard deviations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5, Example 3, pp. 169–170.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normal returns, P(R_p &lt; R_L) = N(−SFRatio) — so maximising the SFRatio minimises the shortfall probability. When R_L = R_f, SFRatio = Sharpe.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SFRatio  =  ( E[R_p]  −  R_L )  /  σ[R_p]        pick the portfolio with the highest SFRatio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R_L = minimum acceptable return. For normal returns, shortfall probability = N(−SFRatio).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EXAMPLE 3 — CAD 800,000 CLIENT · WITHDRAW CAD 30,000 IN 1Y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R_L = 30,000 / 800,000 = 3.75%. Three allocations A / B / C with E / σ = 25% / 27%,  11% / 8%,  14% / 20%.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SFRatio = (25 − 3.75) / 27 = 0.787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SFRatio = (11 − 3.75) / 8  = 0.906  ←  highest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SFRatio = (14 − 3.75) / 20 = 0.513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Shortfall probability for B under normality: N(−0.906) ≈ 18.2%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Allocation B wins on Roy's criterion — ~18% chance of invading principal despite only 11% expected return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Lognormal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Monte Carlo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4  ·  Deck 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Asset prices are modelled as lognormal because they are bounded below by zero and right-skewed — properties the normal distribution cannot reproduce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6, pp. 178–181.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ln Y is normal, then Y is lognormal. The lognormal mean exceeds exp(μ) by a convexity term that grows with σ.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E[Y]  =  exp( μ + 0.5 σ² )        Var[Y]  =  exp(2μ + σ²) · [ exp(σ²) − 1 ]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μ, σ² are the mean and variance of the associated normal distribution (ln Y). Used by Black–Scholes–Merton.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BOUNDED BELOW BY ZERO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prices cannot go negative. Normal distribution assigns probability to negative prices; lognormal does not.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RIGHT-SKEWED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right tail reflects compounding upside — a single year of +100% can double wealth, whereas −100% is the loss floor.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CONVEXITY PREMIUM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E[exp(X)] &gt; exp(E[X]) by factor exp(0.5σ²). As volatility rises, the mean of prices drifts further above the median. Jensen's inequality in action.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Continuously compounded returns are additive across time, so their sum over T periods scales linearly in mean and variance — the √T rule for volatility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6, pp. 181–183.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Independence + identical distribution (iid) is the assumption. When it breaks (autocorrelation, regime shifts), √T scaling breaks too.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r_0,T = Σ r_t       E[r_0,T] = μ · T       σ²[r_0,T] = σ² · T       σ[r_0,T] = σ · √T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Under iid continuously compounded per-period returns with mean μ and variance σ².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463040"/>
                <a:gridCol w="182880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Period (under σ_daily = 1%)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 (days)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σ_T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Annualised σ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trading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week (5 trading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2.24%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month (~21 trading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4.58%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quarter (~63 trading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(250 trading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week of Astra International closing prices lets us compute daily continuously compounded returns — √250 scaling gives an annualised volatility of 33.6%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6, Example 1, pp. 182–184.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return observations — far too few to estimate expected return but enough to illustrate the mechanical volatility-annualization pipeline.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Close (IDR)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ln(Pₜ/Pₜ₋₁)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6,950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+0.00717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6,850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−0.02166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−0.03718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6,350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−0.03862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166360" y="1188720"/>
            <a:ext cx="365760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0" y="1234440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ANNUALIZATION PIPELINE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1527048"/>
            <a:ext cx="33832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daily returns → sample σ → × √250 to annualize.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2039112"/>
            <a:ext cx="338328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r̄ = −0.02257 (ignore — sample too short)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variance s² = 0.000452 (divisor n−1 = 3)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σ = √0.000452 = 0.02126 = 2.13%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σ = 0.02126 × √250 = 0.3362 = 33.6%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57800" y="3858768"/>
            <a:ext cx="347472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03520" y="3858768"/>
            <a:ext cx="338328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Annualized volatility ≈ 33.6%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Monte Carlo simulation values securities where no closed form exists by generating thousands of random price paths from assumed distributions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6, pp. 184–187.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once (steps 1–3), run repeatedly (steps 4–6). The more trials, the tighter the statistical estimate.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91440" cy="5303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43000"/>
            <a:ext cx="3657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179576"/>
            <a:ext cx="7863840" cy="2386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SPECIFY QUANTITY OF INTEREST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381658"/>
            <a:ext cx="7863840" cy="2916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we valuing? E.g., C_iT = value of an Asian option at maturity given simulated stock-price path 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719072"/>
            <a:ext cx="8503920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719072"/>
            <a:ext cx="91440" cy="5303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719072"/>
            <a:ext cx="3657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755648"/>
            <a:ext cx="7863840" cy="2386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SPECIFY TIME GRID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1957730"/>
            <a:ext cx="7863840" cy="2916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the horizon into K sub-periods of length Δt. Example: 1 year with K = 12 gives monthly steps.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295144"/>
            <a:ext cx="850392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95144"/>
            <a:ext cx="91440" cy="5303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295144"/>
            <a:ext cx="3657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331720"/>
            <a:ext cx="7863840" cy="2386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SPECIFY DATA-GENERATION METHOD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2533802"/>
            <a:ext cx="7863840" cy="2916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Distributional assumption for each risk factor (e.g., standard normal Z_k for stock shocks); pick μ, σ.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2871216"/>
            <a:ext cx="8503920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2871216"/>
            <a:ext cx="91440" cy="5303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2871216"/>
            <a:ext cx="3657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2907792"/>
            <a:ext cx="7863840" cy="2386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 RANDOM DRAWS TO PRICES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109874"/>
            <a:ext cx="7863840" cy="2916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price-process model, e.g. ΔS = μ S Δt + σ S Z_k, iterated across the K sub-periods to build one path.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3447288"/>
            <a:ext cx="850392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447288"/>
            <a:ext cx="91440" cy="5303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2920" y="3447288"/>
            <a:ext cx="3657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" y="3483864"/>
            <a:ext cx="7863840" cy="2386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 PAYOFF FOR ONE TRIAL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85946"/>
            <a:ext cx="7863840" cy="2916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claim's terminal payoff C_iT; discount to Ci0 using an appropriate rate. One complete trial is done.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" y="4023360"/>
            <a:ext cx="8503920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4023360"/>
            <a:ext cx="91440" cy="5303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2920" y="4023360"/>
            <a:ext cx="3657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4059936"/>
            <a:ext cx="7863840" cy="2386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REPEAT N TRIALS, SUMMARISE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4262018"/>
            <a:ext cx="7863840" cy="2916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N = 1,000 to 100,000 trials. Average of Ci0 across trials is the Monte Carlo estimate of the claim's present value.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Valuing an Asian option illustrates Monte Carlo end-to-end — average-minus-final payoff, 12 monthly steps, 1,000 trials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6, Ex. 4–5 and Example 2, pp. 185–189.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Payoff = max( S_T − average(S), 0 ). No closed form exists because the payoff depends on the path, not only the terminal stock price.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ΔS  =  μ · S · Δt  +  σ · S · Z_k        C_iT = max(S_T − S̄, 0)        Value ≈ (1/N) Σᵢ e^(−rT) · C_iT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Z_k ~ standard normal i.i.d. S̄ = arithmetic average of the K simulated prices.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ILLUSTRATIVE RUN — 1,000 TRIALS, T = 1Y, K = 12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12,000 standard-normal shocks; build 1,000 paths of 12 monthly prices each; compute payoff, discount, average.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A: S_T = USD 34, S̄ = USD 31 → payoff max(3, 0) = USD 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B: S_T = USD 28, S̄ = USD 32 → payoff max(−4, 0) = USD 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1,000 paths: 346 pay strictly positive (34.6%), 654 pay zero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each C_iT at the risk-free rate, take mean → Monte Carlo estimate of the option value today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simulated payoff = USD 11  ·  option PV estimate = average of discounted C_iT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Bootstrap resampling swaps the assumed distribution for the historical one — same recipe, but draws with replacement from the observed sample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6, pp. 189–192.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answers "what if history repeats?"  Monte Carlo answers "what if my distributional assumption is correct?"  Both are complements to closed-form pricing.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Monte Carlo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Bootstrap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random draws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Parametric distribution (e.g., normal)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Observed historical sample (with replacement)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 assumption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Required — must pick μ, σ, family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— empirical distribution is taken as truth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Handles any custom payoff or model structure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Captures real-world fat tails and asymmetries for free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Wrong assumption → wrong answer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Only as good as the sample — cannot extrapolate beyond observed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Pricing derivatives, stress testing, scenarios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Resampling for confidence intervals, back-testing, non-parametric inference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Monte Carlo and bootstrap give only statistical estimates — analytical solutions remain preferable whenever they exist because they show cause-and-effect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Statistical estimates carry sampling error that decreases as √N — doubling accuracy requires 4× the trials.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Analytical solutions provide insight into how parameters drive the answer (comparative statics) — simulations do not.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6, pp. 186–193.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of the Monte Carlo estimate shrinks as 1/N — so a 1 percentage-point tightening of the confidence band requires roughly 100× the trials.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ANALYTICAL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European options → Black–Scholes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Vanilla bonds → DCF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Normally-distributed portfolio VaR → parametric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Exact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Cheap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Reveals cause-and-effect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MONTE CARLO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Path-dependent payoffs (Asian, barrier, lookback)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MBS with prepayment models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Portfolio VaR with non-normal risk factors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Flexible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Handles any model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Quantifies tail risk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BOOTSTRAP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 intervals on a complicated estimator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Back-testing strategies over history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Stress tests anchored in realised data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distribution assumed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Fat tails preserved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Simple to implement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2 — Probability, Distributions, Portfolio Mathematics &amp; Simulation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tendency, dispersion, skewness, kurtosis and correlation are the five descriptive lenses every return series needs — each answers a different question.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semideviation and coefficient of variation refine the σ view; skew and excess kurtosis expose the non-normality that every equity series exhibits.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trees + total probability rule decompose unconditional expectations into scenario-conditional ones; variance has a conditional counterpart too.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Bayes' formula updates priors via the evidence ratio [ P(Info|Event) / P(Info) ]; DriveMed expansion raised P(EPS beat) from 45% to 82%.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variance = own variances + n(n−1)/2 covariances; diversification shows up when ρ &lt; 1. A 20-asset portfolio has 190 distinct covariance inputs.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Roy's safety-first criterion: maximise SFRatio = (E[R_p] − R_L)/σ[R_p]. When R_L = R_f it becomes the Sharpe ratio — same formula, different framing.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lognormal, continuously compounded returns normal; volatility scales with √T under iid; Astra IDR weekly example → 33.6% annualised σ.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values path-dependent securities (Asian / lookback / MBS) by averaging discounted payoffs over 1,000+ simulated paths; bootstrap is its non-parametric cousin.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2 · Probability, Distributions, Portfolio Mathematics &amp; Simulation</dc:title>
  <dc:subject>PptxGenJS Presentation</dc:subject>
  <dc:creator>Studio Tonton Gug</dc:creator>
  <cp:lastModifiedBy>Studio Tonton Gug</cp:lastModifiedBy>
  <cp:revision>1</cp:revision>
  <dcterms:created xsi:type="dcterms:W3CDTF">2026-04-23T09:30:48Z</dcterms:created>
  <dcterms:modified xsi:type="dcterms:W3CDTF">2026-04-23T09:30:48Z</dcterms:modified>
</cp:coreProperties>
</file>