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07  ·  WEEK 4  ·  AFTERNOON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FSA II — Cash Flow,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Inventories &amp; LT Assets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accounting choices that quietly drive earnings quality, tax, and comparability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4 Learning Modules 4–7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FSA II: Cash Flow, Inventories &amp; Long-Lived Assets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flow statement · structure &amp; preparation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1314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3-bucket CFS · direct vs indirect · indirect→direct conversion · investing &amp; financing build-up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923898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96961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Common-size CF + FCFF / FCFE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23003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inflows vs % revenue · FCFF from CFO and from NI · FCFE · 6 performance + 6 coverage ratios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640787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68650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methods &amp; ratio impact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4692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LCNRV · FIFO / LIFO / weighted-avg · inflation effects · LIFO reserve · LIFO liquidation · disclosures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57677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40339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PP&amp;E · capitalize vs expense · depreciation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66381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vs expense · SL / DDB / units · useful-life sensitivity · component depreciation · revaluation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74566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120286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Intangibles · impairment · R&amp;D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438070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/ internal / M&amp;A · goodwill · impairment IFRS vs GAAP · derecognition · R&amp;D IFRS vs GAAP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operating cash flow under both the direct and indirect methods, reconcile them, and convert from one to the other using balance sheet and income statement data.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FCFF and FCFE from both CFO and net income, and interpret cash-flow performance and coverage ratios.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FIFO, LIFO, and weighted-average cost flow assumptions — and the lower-of-cost-and-NRV rule — affect the income statement, balance sheet, and ratios under IFRS and US GAAP.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or expense an expenditure on a long-lived asset, choose an appropriate depreciation method, and quantify the sensitivity of earnings to depreciation estimates.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for intangibles by origin, test for impairment under IFRS vs US GAAP, and apply the distinct IFRS and US GAAP rules on research and development costs.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flow statement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 &amp; preparation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5  ·  Deck 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statement of cash flows reconciles opening and closing cash by sorting every movement into operating, investing, or financing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4, §1–2, pp. 125–131.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cash = beginning cash + CFO + CFI + CFF + FX effects. Every financing decision ultimately shows up in cash.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8016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8016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 Cash  =  CFO  +  CFI  +  CFF        (+  FX effects  on cash balances)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2743200" cy="21945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057400"/>
            <a:ext cx="73152" cy="2194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1031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— CFO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from day-to-day business: receipts from customers, payments to suppliers, wages, taxes. The main engine of long-run value creation.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057400"/>
            <a:ext cx="2743200" cy="2194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0" y="2057400"/>
            <a:ext cx="73152" cy="2194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37560" y="21031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 — CFI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to acquire or dispose of long-lived assets: PP&amp;E, intangibles, and financial instruments held for investment. Capex lives here.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057400"/>
            <a:ext cx="2743200" cy="21945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080760" y="2057400"/>
            <a:ext cx="73152" cy="2194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21031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FINANCING — CFF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to/from capital providers: debt issuance/repayment, equity issuance/buyback, dividends paid. IFRS allows more latitude than US GAAP.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and indirect methods produce the same CFO total — they only differ in how operating cash flow is presented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4, §3–4, pp. 131–141.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encourages the direct method; US GAAP permits either, but 99%+ of filers use indirect. Analysts often convert back.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 — ACME 2018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" y="1600200"/>
            <a:ext cx="388620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received from customers          23,543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paid to suppliers              (11,900)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paid to employees               (4,113)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paid for other opex             (3,532)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paid for interest                  (258)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paid for income tax             (1,134)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———————————————————————————————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cash from operating activities    2,606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28032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 METHOD — ACME 2018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600200"/>
            <a:ext cx="388620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income                             2,210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Depreciation                         1,052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 Gain on sale of equipment             (205)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 Δ Accounts receivable                   (55)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 Δ Inventory                            (707)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Δ Accounts payable                     263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other working-capital adjustments       48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———————————————————————————————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cash from operating activities    2,606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Any indirect-method CFO can be re-expressed in direct format via a three-step process — a core analyst skill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4, §5, pp. 141–142.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approximation is accurate enough for most analytical purposes. Key insight: every accrual item maps to a specific cash 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received from customers  =  Revenue  −  Δ Accounts receivable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874520"/>
            <a:ext cx="8503920" cy="24231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4 — ACME CORP. 2018 CONVERSION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data: Revenue 23,598; COGS 11,456; salaries 4,123; other opex 3,577; interest 246; tax 1,139. ΔAR +55, ΔInv +707, ΔAP +263, ΔPrepaid −23, ΔSalaryPay +10, ΔIntPay −12, ΔTaxPay +5, ΔAccrued +22.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24912"/>
            <a:ext cx="8229600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Aggregate: total revenue 23,803; total expenses 21,593; NI = 2,210.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Remove non-cash/non-operating: back out the 205 gain on equipment sale (revenue side) and 1,052 depreciation (expense side).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Adjust accruals for ΔWC to get cash: customers 23,598−55 = 23,543; suppliers 11,456+707−263 = 11,900; employees 4,123−10 = 4,113; other opex 3,577−23−22 = 3,532.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Finish: interest 246+12 = 258; tax 1,139−5 = 1,134.  Sum to USD 2,606.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 CFO = 23,543 − 11,900 − 4,113 − 3,532 − 258 − 1,134 = USD 2,606 ✓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full CFS walks from net income to ending cash through operating, investing and financing, and ties to the balance sheet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4, §2–4, pp. 131–141.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and financing are always presented on a gross, "direct" basis — regardless of which method is used for CFO.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64592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Line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Acme 2018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from operating activities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2,606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Cash received from sale of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762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Cash paid for purchase of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(1,300)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used in investing activities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(538)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Cash paid to retire long-term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(500)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Cash paid to retire common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(600)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Cash paid for dividends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(1,120)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used in financing activities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(2,220)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 decrease in cash (2,606 − 538 − 2,220)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(152)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8862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8862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9319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BALANCE-SHEET TIE-OUT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062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cash 1,163 − 152 = 1,011 ending cash — matches 12/31/2018 balance sheet exactly.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 and financing sections are always presented directly — and purchases and sales of PP&amp;E require careful disaggregation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4, §6 Question Set, pp. 143–144.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equipment change on the balance sheet conflates purchases with disposals. The income-statement gain gives you the third equation.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from sale  =  Book value of asset sold  +  Gain on sale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Book value = historical cost − accumulated depreciation, each computed from the BS roll-forward.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4 — COPPER INC. EQUIPMENT DISPOSAL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BS: Equipment 100 → 109; Accum. dep. 30 → 36. Capex USD 15m (all new equipment). IS: depreciation 8m, gain on sale 12m. Cash from sale?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cost of equipment sold: 100 + 15 − 109 = USD 6m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Accum. depreciation on equipment sold: 30 + 8 − 36 = USD 2m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value of equipment sold: 6 − 2 = USD 4m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received from sale: book value + gain = 4 + 12 = USD 16m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inflow in CFI = USD 16m. CFI net = +16 − 15 = +USD 1m from equipment transactions.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Common-size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free cash flow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5  ·  Deck 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Common-size cash flow analysis scales each line either to total inflows/outflows or to net revenue — both reveal different trends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5, §2–3, pp. 157–164.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Inflow/outflow view highlights mix of sources and uses; revenue view aids forecasting (each item as a % of sales).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645920"/>
                <a:gridCol w="173736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Acme 2018 cash flow line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Amount (USD)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% inflows / outflows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% net revenue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received from customers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23,543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96.86%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99.77%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paid to suppliers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(11,900)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48.66%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50.43%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paid to employees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(4,113)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16.82%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17.43%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paid for other opex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(3,532)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14.44%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14.97%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from operating activities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2,606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11.04%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expenditure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(1,300)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5.32%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Dividends paid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(1,120)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4.58%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4.75%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8862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8862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9319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BOTH MATTER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062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Inflow/outflow view: is CFO the dominant source of cash? Revenue view: does each item scale with sales at the expected ratio?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FCFF and FCFE separate the cash available to all capital providers from the cash available to equity holders alone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5, §4, pp. 167–168.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FCFF discounts at WACC to value the firm. FCFE discounts at cost of equity to value equity directly. Consistent discount-rate matching is non-negotiable.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FCFF  =  NI + NCC + Int × (1 − t) − FCInv − WCInv          FCFE  =  CFO − FCInv + Net borrowing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NCC = non-cash charges (mostly D&amp;A). FCInv = capex. WCInv = Δ non-cash working capital. Net borrowing = new debt issued − debt repaid.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FCFF — FIRM LEVEL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available to ALL capital providers (debt + equity) after reinvestment in fixed and working capital. Add back interest × (1−t) because debt-holders are paid BEFORE this line.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FCFE — EQUITY LEVEL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available to common stockholders after interest, principal repayment and reinvestment. Do NOT add back after-tax interest; DO adjust for net borrowing.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worked example — Acme's FCFE from net income — shows why the path matters more than the destination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5, §4 Exhibit 8, p. 168.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rate here is 34% (= tax expense / pretax income = 1,139 / 3,349). Two paths — NI-based and CFO-based — must reconcile exactly.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— ACME CORP. FCFF &amp; FCFE FROM CFO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= 2,606. Capex = 1,300. Proceeds from equipment sale = 762. Interest paid = 258. Net debt repayment = 500. Tax rate t = 34%.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FCInv (net) = 1,300 − 762 = USD 538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FCFF (from CFO) = CFO + Int×(1−t) − FCInv = 2,606 + 258×0.66 − 538 = 2,606 + 170 − 538 = USD 2,238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FCFE = CFO − FCInv − Net debt repayment = 2,606 − 538 − 500 = USD 1,568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(FCFE from NI): NI 2,210 + NCC 1,052 − FCInv 538 − WCInv ≈ (1,568) and ± net borrowing (0 here). Reconciles ✓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15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FCFF = USD 2,238  ·  FCFE = USD 1,568  —  a healthy 60% of FCFF flows to equity.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FCFE means Acme can sustainably pay dividends or buy back stock. Acme's actual dividend payment (1,120) sits comfortably below FCFE (1,568) — a coverage ratio of 1.40×.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flow ratios split cleanly into performance ratios (profitability) and coverage ratios (solvency) — all computed from CFO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5, §5 Exhibit 9, pp. 168–170.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Cash-based ratios sidestep accrual manipulation. They are especially useful for comparing earnings quality across issuers.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19456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Formula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measures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 to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Net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margin per dollar of sales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Perf.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return on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Avg. total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per dollar of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Perf.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return on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Avg. shareholders'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per dollar of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Perf.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to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Operating income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Earnings quality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Perf.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Total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Financial risk / leverage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Cover.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(CFO + Int + Tax) / Interest paid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the company service debt?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Cover.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Reinvestment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Capex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CFO fund capex?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Cover.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Dividend payment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CFO / Dividends paid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CFO fund dividends?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Cover.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ratios in practice — Microsoft's CFO/revenue and CFO/assets reveal earnings quality Apple has lost since 2015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5, Example 3, p. 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strong businesses. But trend matters: Microsoft's CFO/revenue is rising, Apple's is falling — a subtle earnings-quality signal.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188720"/>
                <a:gridCol w="1188720"/>
                <a:gridCol w="10058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Company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CFO / Revenue 2015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2016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2017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CFO / Assets 2015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2016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2017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Inc.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240280"/>
            <a:ext cx="73152" cy="2057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NUMBERS SAY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560320"/>
            <a:ext cx="827532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CFO/revenue — Microsoft now generates 43.9¢ of operating cash per dollar of sales, vs 27.7¢ at Apple. Microsoft's +12 pp trend over 3 years vs Apple's −7 pp is a classic earnings-quality divergence.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CFO/assets — Apple's drop from 31% → 18% reflects enormous treasury buildup: CFO divided by a growing investment portfolio. The underlying operating business remains cash-rich; the ratio mechanics hide it.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Analyst takeaway — never read a ratio in isolation. Decompose, question, and benchmark against the firm's own 5-year history before drawing conclusions.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methods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ratio impact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5  ·  Deck 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 IFRS inventory is carried at the lower of cost and NRV; US GAAP uses lower of cost / market and — for LIFO — forbids reversals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§2, pp. 175–181.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NRV = estimated selling price − costs to complete − costs to sell. Write-downs hit COGS; reversals (IFRS only) reduce COGS in the recovery year.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IFRS carrying amount  =  MIN ( historical cost,   NRV )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874520"/>
          <a:ext cx="8503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IFRS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 GAAP (LIFO filer)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5.2m; NRV declines to 4.7m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Write down to 4.7m; 0.5m in COGS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Write down to 4.7m; 0.5m in COGS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Prior-year NRV recovers from 4.7m back to 5.0m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Reverse up to 5.0m; 0.3m reduces COGS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 reversal allowed (stuck at 4.7m)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5.2m; replacement cost 4.9m, NRV 5.1m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 NRV ⇒ no write-down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 lower of cost / market ⇒ 4.9m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pledged as 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Disclose carrying amount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Disclose carrying amount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3840480"/>
            <a:ext cx="8503920" cy="502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0"/>
          <p:cNvSpPr/>
          <p:nvPr/>
        </p:nvSpPr>
        <p:spPr>
          <a:xfrm>
            <a:off x="320040" y="3840480"/>
            <a:ext cx="73152" cy="502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8862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160520"/>
            <a:ext cx="827532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Write-downs reduce current-period net income but improve future gross margin when the inventory is sold. Reversals under IFRS partially offset this.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FIFO, LIFO, and weighted-average allocate the same cost pool differently between COGS and ending inventory — identical cash, different profit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§3, pp. 181–184.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flow of goods is irrelevant to the accounting choice. LIFO is not permitted under IFRS; weighted-average and FIFO are.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61872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FIFO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0020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First-in, First-out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costs → COGS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Most-recent costs → ending inventory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closest to replacement cost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mismatches old COGS vs current sales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inflation: low COGS, high profit, high tax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61872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LIFO  (US GAAP only)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60020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Last-in, First-out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Most-recent costs → COGS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costs → ending inventory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closest to replacement cost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inventory at stale, low costs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inflation: high COGS, low profit, LOW TAX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61872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WEIGHTED AVERAGE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00200"/>
            <a:ext cx="246888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blended cost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cost = total cost / total units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unit (COGS + BS) at the same cost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FIFO and LIFO on every metric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used in continental Europe and Asia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a rising-price environment LIFO raises COGS and lowers ending inventory — cutting reported income and taxes but distorting ratios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Example 3, pp. 182–184.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L and F are identical except for the cost-flow assumption. 4% annual price inflation; 10% unit-volume growth; 2,000-unit base.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463040"/>
                <a:gridCol w="1188720"/>
                <a:gridCol w="1188720"/>
                <a:gridCol w="128016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Ending inv. (L-LIFO)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Ending inv. (F-FIFO)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COGS (L)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COGS (F)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Gross profit (L)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Gross profit (F)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16,640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183,040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182,400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160,160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160,800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17,306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209,398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208,732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183,223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183,889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17,998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239,551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238,859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209,607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210,299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18,718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274,046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273,326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239,791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240,511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5-yr gap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+2,718 (F &gt; 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+3,472 (L &gt; F)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−3,472 (L &lt; F)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2918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TAX IMPACT IF THEY WERE US FILERS AT 25% TAX RATE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5844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5 years, Company L reports USD 3,472 less gross profit than Company F — a pure tax shield from LIFO.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 tax saving ≈ 3,472 × 25% = USD 868 kept inside the firm. This is LIFO's entire economic rationale.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LIFO reserve bridges a US-LIFO filer back to a comparable FIFO view — indispensable for cross-border comparison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§4 Question Set, pp. 186–195.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filers disclose the LIFO reserve in the footnotes. Adding it back gives the FIFO-equivalent carrying amount — directly comparable to IFRS filers.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Inv_FIFO  =  Inv_LIFO  +  LIFO reserve          COGS_FIFO  =  COGS_LIFO  −  Δ LIFO reserve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Δ LIFO reserve = ending − beginning. Positive Δ → inventory cost rising → LIFO COGS &gt; FIFO COGS by exactly that amount.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15544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Line (JPY millions)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 reported (LIFO)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LIFO reserve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Adjusted (FIFO)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Ending inventory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608,572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+10,120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618,692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Beginning inventory (prior year)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594,200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+6,380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600,580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inventory (for turnover)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601,386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+8,250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609,636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3,160,000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 Δ reserve 3,740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3,156,260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Inventory turnover (COGS/avg inv.)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5.18×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931920"/>
            <a:ext cx="73152" cy="411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9776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BOTTOM LINE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51960"/>
            <a:ext cx="8275320" cy="45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FIFO-adjusted turnover is always LOWER than LIFO-reported turnover in rising-price environments — do not mistake this for worse inventory management.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LIFO liquidation — selling more than is replenished — releases old low-cost layers into COGS, inflating gross profit unsustainably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§3, p. 183.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declining inventory balance in a LIFO filer is a red flag. Check the 10-K for "LIFO liquidation" disclosure — required under US GAAP.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STYLISED EXAMPLE — LIFO LIQUIDATION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 holds 2,000 base-year units at USD 8/unit cost (total USD 16,000). Current cost is USD 14/unit. In 2024 the firm sells 2,500 units but only purchases 2,000.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COGS: 2,500 × 14 = USD 35,000 (if all units came from 2024 purchases at current cost).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LIFO COGS: 2,000 × 14 (current year layer) + 500 × 8 (base-year layer) = 28,000 + 4,000 = USD 32,000.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Liquidation gain: 35,000 − 32,000 = USD 3,000  = 500 units × (14 − 8) spread between current and base-year cost.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 boost: USD 3,000 of one-time, unsustainable gross margin uplift — with a matching inventory balance drop of USD 4,000.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15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 adjustment: strip out the USD 3,000 from gross profit when assessing sustainable margin.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 INCENTIVES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liquidations can also be triggered deliberately: running down inventory to boost reported EPS in a weak quarter. The liquidation REVERSES the tax benefit the LIFO reserve was holding — so the earnings boost is also a cash-tax hit.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disclosures let analysts recompute turnover, days-on-hand and gross margin on a consistent basis across companies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Example 4 (Jollof Inc.), pp. 186–195.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required IFRS disclosures — policy, carrying amount by class, write-down, reversals — are the raw material for inventory-quality analysis.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01168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Before adjustment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After removing write-down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23.95%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23.89%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Slightly lower w/o w-down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6.36%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6.31%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Tax offsets most of diff.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turnover (× p.a.)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4.18×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4.16×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Slightly more efficient w/ w-down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of inventory on hand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87.3 days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87.7 days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Same read on working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Write-down &lt;1% of current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834640"/>
            <a:ext cx="8503920" cy="14630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834640"/>
            <a:ext cx="73152" cy="14630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8803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ANALYST CHECKLIST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154680"/>
            <a:ext cx="827532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Extract inventory method (policy note) — if LIFO, get LIFO reserve to restate on FIFO.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Reconcile write-downs and reversals to identify trends.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Compare inventory growth vs revenue growth — if inventory outpaces sales, risk of obsolescence.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Benchmark inventory turnover and DOH against 3 industry peers, not just the firm's own history.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worked lower-of-cost-and-NRV example highlights the asymmetric treatment of reversals under IFRS vs US GAAP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6, §2, pp. 175–181.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years: a write-down of EUR 0.5m in 2023; a partial recovery to EUR 5.0m in 2024. Same economics, different earnings outcome.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HATSUMEI-STYLE WORKED EXAMPLE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2023: original cost EUR 5.2m; NRV declines to EUR 4.7m. 2024: NRV recovers to EUR 5.0m (still below original cost of 5.2m).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IFRS 2023: write-down 5.2 → 4.7; recognise EUR 0.5m loss in COGS. Carrying amount 4.7.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IFRS 2024: reversal 4.7 → 5.0; recognise EUR 0.3m reduction in COGS. Carrying amount 5.0. Note: cap at original cost.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US GAAP 2023 (LIFO filer): write-down 5.2 → 4.7; 0.5m in COGS. Carrying amount 4.7.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US GAAP 2024: NO REVERSAL. Carrying amount stays at 4.7 even though NRV is 5.0.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0720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80720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IFRS 2-yr net impact: −0.2m. US GAAP 2-yr net impact: −0.5m. US GAAP is structurally more conservative.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COMPARABILITY ADJUSTMENT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benchmarking a US GAAP LIFO filer against an IFRS peer, add back any permanent-but-recovered write-downs captured in the US firm's financials — otherwise its gross margin is artificially depressed in the recovery years.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PP&amp;E · capitalize vs expense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depreciation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5  ·  Deck 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Capitalizing spreads a cost across future periods; expensing hits earnings today — the choice reshapes income, assets, and leverage ratios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§2, pp. 211–216.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if the expenditure provides future economic benefit &gt; 1 year and can be reliably measured. Otherwise, expense as incurred.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834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Capitalize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Expense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(only dep'n hits)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(full amount hits)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2+ 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(ongoing depreciation)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(no further charge)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(asset on BS)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(no asset recorded)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Shareholders'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(smoothed earnings in retained)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in year 1, higher later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(outflow in CFI)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(outflow in CFO)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(capex outflow)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Unchanged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Debt-to-equity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(equity higher)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in year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 year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Capex ÷ bigger base → lower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 impact on asset side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9476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9476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8404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 ACCOUNTING RED FLAG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11480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company capitalizes costs that peers expense, margins look artificially high and ROA artificially low — look for rapid growth in "other non-current assets" or "capitalized software".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Straight-line is the default depreciation method; DDB front-loads expense; units-of-production matches expense to actual use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§2, pp. 213–216.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methods depreciate the SAME total amount (cost − salvage) over the life — they differ ONLY in the timing of the charge.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STRAIGHT-LINE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00200"/>
            <a:ext cx="24688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Dep_t = (Cost − Salvage) / Useful life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annual charge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under IFRS and US GAAP; most common.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benefits are reasonably even over the life (office buildings, most furniture).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DOUBLE-DECLINING BALANCE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600200"/>
            <a:ext cx="24688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Dep_t = (2 / Useful life) × NBV_(t−1)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— highest expense in year 1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subtract salvage in the formula; simply stop once NBV reaches salvage.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productivity drops with age (vehicles, certain machinery, tech equipment).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UNITS OF PRODUCTION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00200"/>
            <a:ext cx="24688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Dep_t = (Cost − Salvage)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× (Units used / Total units)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Activity-based — matches wear to output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assets where consumption is measurable: mine output, aircraft cycles, printing-press impressions.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 — USD 50,000 asset, 5-year life, USD 5,000 salvage — shows how method choice shifts the depreciation curve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 — SL vs DDB illustration, pp. 213–216.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DDB rate = 2 / 5 = 40%. Applied to opening NBV. Switch to SL whenever it produces a higher charge (standard convention).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737360"/>
                <a:gridCol w="2011680"/>
                <a:gridCol w="17373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SL expense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SL net book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DDB expense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DDB net book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4,320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6,480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1,480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Matches salvage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Matches salvage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08960"/>
            <a:ext cx="8503920" cy="12344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08960"/>
            <a:ext cx="73152" cy="12344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546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 INCOME IMPACT AT 25% TAX RATE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82753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1: SL reduces pretax income by 9,000 → tax 2,250; DDB reduces it by 20,000 → tax 5,000. DDB saves USD 2,750 of cash tax in year 1.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5 years total depreciation is identical (45,000) — so is total tax. DDB is a timing play: earlier deductions at the cost of higher later earnings.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life, salvage value, and depreciation method are three estimates — small changes produce large effects on reported earnings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§2, pp. 213–216.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useful life from 5 to 8 years cuts annual depreciation by 38% — a popular "earnings management" lever auditors watch carefully.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011680"/>
                <a:gridCol w="146304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Assumption change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Annual SL depreciation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Δ vs baseline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Year-5 NBV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life 5y, salvage 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extended to 8y (same salvage)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5,625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−3,375 (−38%)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21,875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raised to 10,000 (life still 5y)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−1,000 (−11%)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to DDB (life 5y, salvage 5,000)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20,000 yr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+11,000 yr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Both: life 8y AND salvage 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−4,000 (−44%)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972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VET ESTIMATES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firm's stated useful lives against peers (required disclosure under IFRS). Watch for unexplained upward revisions after a weak quarter. A simultaneous increase in useful life AND salvage is a double-barrelled earnings boost.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IFRS requires component depreciation for material parts with different useful lives; US GAAP permits but rarely applies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§4, pp. 223–225.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example: an aircraft with a 30-year airframe, 10-year engine, and 8-year interior — three components, three depreciation schedules.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 DEPRECIATION — IFRS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material component is depreciated separately using its own useful life and residual value.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More detailed fixed-asset register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Earlier, larger write-offs on shorter-life parts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Avoids overstating asset life on a blended basis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under IAS 16 when component cost is significant relative to the total.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REVALUATION MODEL — IFRS ONLY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the cost model. Revalue PP&amp;E to fair value periodically.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Revaluation surplus → OCI (not P&amp;L)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Depreciation then runs on the new, higher base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 subsequent decline reverses the OCI first, then hits P&amp;L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GAAP: revaluation PROHIBITED for PP&amp;E. Historical cost only.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Intangibles · impairment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R&amp;D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5  ·  Deck 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Intangible assets are accounted for differently by origin: purchased, internally developed, or acquired in a business combination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§2, pp. 213–217.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exists only from a business combination — it is the residual after all identifiable assets and liabilities are valued at fair value.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PURCHASED SEPARATELY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 single patent or domain name bought from a third party.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Recorded at fair value = purchase price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Finite-life: amortise; test for impairment when triggers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Indefinite-life (rare): no amortisation; annual impairment 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INTERNALLY DEVELOPED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EXPENSE as incurred.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IFRS: capitalize DEVELOPMENT costs once criteria met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 GAAP: capitalize certain software development costs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structural asymmetry vs purchased intangibles.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ACQUIRED IN M&amp;A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the purchase price to each asset at fair value.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Identifiable intangibles get their own line (patents, brands, customer lists)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Any residual is GOODWILL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Goodwill is not amortised — tested annually for impairment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Impairment writes an asset down when carrying amount exceeds recoverable amount — IFRS and US GAAP use different tests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§3 Examples 2–3, pp. 217–221.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IFRS the write-down can be smaller (value-in-use often &gt; fair value) but reversible. Under US GAAP it can be larger and is usually permanent.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IFRS: loss  =  CA − MAX (FV − costs to sell, Value-in-use)        US GAAP: if CA &gt; undisc. CF, loss  =  CA − FV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CA = carrying amount. Value-in-use = PV of future cash flows. US GAAP is a two-step test; IFRS is a single step.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7 EXAMPLE 3 — ESSEX MACHINE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amount GBP 18,000. Undiscounted CFs GBP 16,000. PV of CFs (value-in-use) GBP 14,000. Fair value if sold GBP 10,000. Costs to sell GBP 2,000.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recoverable amount = MAX(10,000 − 2,000;  14,000) = 14,000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impairment loss = 18,000 − 14,000 = GBP 4,000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GAAP Step 1: compare CA 18,000 vs undisc. CF 16,000 → CA is NOT recoverable → step 2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GAAP Step 2: loss = CA − FV = 18,000 − 10,000 = GBP 8,000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IFRS loss GBP 4,000  ·  US GAAP loss GBP 8,000  — same machine, USD 4,000 earnings difference.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Derecognition removes an asset from the balance sheet — gain or loss equals sale proceeds minus carrying amount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§3 Example 4, pp. 220–221.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indirect method, the gain is REMOVED from CFO (to avoid double counting) and the full proceeds appear in CFI.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Gain / (loss) on sale  =  Sale proceeds  −  (Historical cost  −  Accum. depreciation)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Carrying amount at time of sale = historical cost − accumulated depreciation − any prior impairment.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7 EXAMPLE 4 — MOUSSILAUKE DINERS SELLS 450 PIZZA OVENS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cost USD 5.1m. Accumulated depreciation USD 3.2m. Sale proceeds USD 3.1m.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amount: 5.1 − 3.2 = USD 1.9m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on sale: 3.1 − 1.9 = USD 1.2m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statement: USD 1.2m gain (typically in "Other gains")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CFS (indirect): subtract 1.2m from CFO; show 3.1m as CFI inflow.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Gain = USD 1.2m. Net CFI impact = +USD 3.1m (all proceeds sit in investing activities).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IFRS permits capitalization of development costs once criteria are met; US GAAP expenses R&amp;D except certain software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 Example 1, pp. 213–215.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criteria: technical feasibility + intent to complete + ability to use/sell + future benefits + reliable measurement + adequate resources.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7 EXAMPLE 1 — REH AG SOFTWARE DEVELOPMENT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 AG (IFRS filer) spends EUR 1,000 per month over FY2019 to develop software for internal use. Annual total EUR 12,000.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met on 1 Feb 2019: Jan costs EUR 1,000 EXPENSED. Feb–Dec EUR 11,000 CAPITALIZED as intangible asset.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met on 1 Dec 2019: Jan–Nov EUR 11,000 EXPENSED. Dec EUR 1,000 CAPITALIZED.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under US GAAP with probability established in 2018: full EUR 12,000 CAPITALIZED (internal-use software).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regimes: prior-period expenses cannot be retroactively reclassified to an asset — once expensed, always expensed.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0720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80720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IFRS date-sensitive, US GAAP probability-sensitive. Analyst must monitor the "capitalized development costs" line year-over-year for consistency.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ANALYTICAL IMPACT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that capitalizes more R&amp;D looks more profitable AND more asset-heavy than a peer that expenses it. For consistent comparison, analysts commonly expense ALL R&amp;D (the "conservative adjustment") across peers.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Goodwill is the residual in an acquisition — not amortised, but tested annually for impairment; large goodwill is a common analyst red flag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7, §2 Exhibit 1 (AB InBev / SABMiller), pp. 216–217.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InBev / SABMiller 2016: USD 103.1bn purchase price → USD 74.1bn of goodwill. Impairment test = compare CGU's recoverable amount to its carrying amount including goodwill.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8288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 InBev purchase-price allocation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USD million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% of price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Property, plant &amp;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Intangible assets (brands, customer lists, etc.)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20,040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Inventories, receivables, cash &amp; other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9,117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 held for sale (to be divested)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24,805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total liabilities + non-controlling interests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(33,969)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(32.9)%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identifiable assets acquired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29,053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Goodwill (purchase price − net identifiable assets)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74,083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purchase consideration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103,136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97764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97764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40233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GOODWILL MATTERS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9768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 of the price is goodwill — any future impairment hits earnings directly. Goodwill-heavy deals warrant close monitoring of the acquired unit's cash flows.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7 — FSA II: Cash Flow, Inventories &amp; Long-Lived Assets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is identical under direct and indirect methods; indirect → direct is a three-step process (aggregate → remove non-cash → adjust ΔWC). Acme 2018 CFO = USD 2,606 either way.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FCFF = NI + NCC + Int(1−t) − FCInv − WCInv = CFO + Int(1−t) − FCInv.  FCFE = CFO − FCInv + Net borrowing.  Match FCFF with WACC, FCFE with cost of equity.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ratios: 4 performance ratios (CFO/revenue, /assets, /equity, /operating income) + 4 coverage ratios (debt, interest, reinvestment, dividend coverage).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rising prices, LIFO → higher COGS, lower income, lower tax, lower ending inventory; FIFO → the reverse. LIFO reserve bridges LIFO to FIFO: Inv_FIFO = Inv_LIFO + LIFO reserve.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LCNRV: write-down hits COGS. Reversals allowed under IFRS, forbidden under US GAAP — a source of persistent earnings-comparability issues.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is flat (9,000 p.a. on the 50k/5y/5k example). DDB front-loads (20,000 in year 1). Both depreciate the same TOTAL but time differently.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Impairment: IFRS recoverable = MAX(FV−sell, VIU); US GAAP = 2-step undisc-CF then FV. Essex machine: IFRS loss GBP 4,000 vs US GAAP loss GBP 8,000.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R&amp;D: IFRS capitalises development costs once criteria met; US GAAP expenses all R&amp;D except certain software. Goodwill arises only in M&amp;A, is not amortised, and is tested annually.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7 · FSA II: Cash Flow, Inventories &amp; Long-Lived Assets</dc:title>
  <dc:subject>PptxGenJS Presentation</dc:subject>
  <dc:creator>Studio Tonton Gug</dc:creator>
  <cp:lastModifiedBy>Studio Tonton Gug</cp:lastModifiedBy>
  <cp:revision>1</cp:revision>
  <dcterms:created xsi:type="dcterms:W3CDTF">2026-04-23T09:33:27Z</dcterms:created>
  <dcterms:modified xsi:type="dcterms:W3CDTF">2026-04-23T09:33:27Z</dcterms:modified>
</cp:coreProperties>
</file>