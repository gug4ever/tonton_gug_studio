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most computational afternoon of the course. Set that expectation in the first thirty seconds.
•  Two hours. Calculators out from slide 6 and they stay out.
•  One spine: accrual profit is an opinion, cash is a fact — and three choices sit between them.
•  Warn them the sign conventions in section 1 are where everyone loses marks.
•  Do not linger on the cover. Straight to the roadmap.
NEXT — Roadmap — five sections, and say which two carry the marks.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Show the shape of the afternoon so nobody panics when the tables arrive.
•  Sections 1 and 2 are one continuous worked example (Acme). Say that now.
•  Section 3 is the highest-yield block for Level I. Do not run out of time before it.
•  Break after section 3. Tell them now so they stop asking.
•  Sections 4–5 are IFRS-vs-US-GAAP contrasts — pattern recognition, not arithmetic.
NEXT — Objectives — read two, summarise the rest.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This is the marking scheme, not a wish list. Point at 1 and 3.
•  Objective 1 is the only one that is pure mechanics — and it is the most examined.
•  Objective 3 carries the IFRS/US GAAP contrast that runs through the whole afternoon.
•  Objective 4 was rewritten for the 2025 curriculum: LM 7 tests disclosure analysis, not depreciation drill.
•  Do not read all five aloud.
NEXT — Section 1 — where cash actually comes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Five slides, 30 minutes. This is the section that must not run over.
•  One sentence only: three buckets, and every euro of movement lands in exactly one.
•  The examinable content is the direct/indirect reconciliation and the sign of each ΔWC item.
•  Acme Corporation carries slides 6 through 13 — introduce it once, here.
NEXT — Start with the identity everything else hangs off.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buckets is the easy half. The classification table is the half that decides whether two CFOs are comparable.
•  Draw the identity on the board before revealing the formula bar.
•  Stress: investing and financing are ALWAYS direct-format. Only CFO has two presentations.
•  Bank overdrafts: IFRS treats them as part of cash; US GAAP puts them in financing.
•  Taxes paid: operating under both, unless IFRS lets you tie them to a specific investing/financing event.
•  Land it: an IFRS issuer can park interest paid in CFF and post a structurally higher CFO than a US peer.
FROM THE DESK — In credit analysis this is not academic. Before any CFO/debt comparison across an IFRS and a US filer, force interest paid back into operating for both. Two identical businesses can show a 15% CFO gap on classification alone.
NEXT — Now build CFO two different ways and prove they land on the same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Same 2,606, twice. The point is not the number — it is the sign rule on the right-hand column.
•  Write the rule once and make them copy it: asset UP = cash DOWN. Liability UP = cash UP.
•  Receivables up 55 is a cash OUTFLOW — the sale happened, the cash did not.
•  The 205 gain is subtracted because the whole 762 of proceeds belongs in investing.
•  Other current-liability changes = +10 wages, −12 interest payable, +5 tax, +22 accrued = +25.
•  Ask them to add the right-hand column live. They must get 2,606.
FROM THE DESK — Almost every filer publishes indirect, which is exactly why the direct format is worth reconstructing: "cash received from customers" versus revenue is the fastest revenue-quality test there is.
NEXT — So how do you get from the right-hand column back to the left? Three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steps, and step 3 is the only one that requires thought. Slow down there.
•  Step 1: they will forget the gain sits inside "total revenues". Point at the 23,803.
•  Step 2: only two things come out — the 205 gain and the 1,052 depreciation.
•  Step 3: build "cash paid to suppliers" on the board in two moves — COGS to purchases, purchases to cash.
•  Interest and tax flip sign versus the others because the payables MOVED THE OTHER WAY. Say it explicitly.
•  Close by pointing at 2,606 on this slide and 2,606 on the previous one.
ASK THE ROOM — Blue Bayou reports revenue of 50 and receivables DOWN 12. Cash from customers?
NEXT — CFO done twice. Now the two sections that only ever come one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Everything below CFO was derived, not disclosed. Show them the derivation and the statement stops being a black box.
•  Retained earnings: opening + NI − dividends = closing. Rearrange it live and the 1,120 falls out.
•  A fall in long-term debt with no other information means retirement. Same logic for common stock.
•  Point at the tie-out: 1,163 opening cash minus 152 equals 1,011 on the closing balance sheet.
•  Note Acme is shrinking its balance sheet — debt down, stock bought back, dividends paid.
FROM THE DESK — The retained-earnings roll-forward is the fastest sanity check on any model. If your forecast dividend does not reconcile opening and closing retained earnings, something upstream is wrong — usually a forgotten minority interest or an OCI item.
NEXT — One more investing trap: the balance sheet nets purchases against disposals.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Students try to solve this in one step. Force the three roll-forwards on the board.
•  Beginning + additions − ending = what left. Same shape for cost and for accumulated depreciation.
•  The gain is the bridge: proceeds − book value = gain, so proceeds = book value + gain.
•  Stress that CFI reports +16 and −15 gross. The +1 net is an answer to a question nobody asked.
•  A LOSS works identically — just add a negative number.
ASK THE ROOM — Silverago: equipment 100 → 105, accum. dep. 40 → 46, capex 10, depreciation 8, LOSS of 2. Cash received?
NEXT — Section 1 done. Now what you do with the statement once you have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Section 1 built the statement. Section 2 reads it. Same Acme numbers throughout — no new data to absorb.
•  Five slides, 25 minutes. The FCFF/FCFE formulas are the examinable core.
•  Warn them now: FCFF and FCFE differ by two things, not one — after-tax interest AND net borrowing.
•  Finish on the Microsoft/Apple comparison — it is the only slide with real filings in this section.
NEXT — Start with the two ways to common-size a cash flow statement.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denominators, two questions. Students memorise one and then apply it to the wrong problem.
•  Inflows/outflows view: inflows get an inflow denominator, outflows an outflow denominator. Never mix.
•  Revenue view: every line over net revenue — that is the forecasting format.
•  CFO is 11.04% of revenue. Depreciation 4.46%, capex 5.51% — capex is outrunning depreciation.
•  Under the indirect format only the NET CFO can be shown as a percentage of inflows: 2,606 of 3,368, i.e. 77.4%.
FROM THE DESK — The revenue view is what actually goes in a model. Once you have forecast the top line, capex, working-capital drag and dividends all fall out as percentages — and a percentage that drifts three years running is where you start asking questions.
NEXT — Common-size tells you the shape. Free cash flow tells you what is left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formulas, one difference: who has already been paid before you count the cash.
•  Start from CFO. FCFF adds interest back because CFO already deducted it; FCFE does not.
•  The (1−t) exists because the interest deduction sheltered tax — add back only what the firm truly gave up.
•  Net borrowing is a plus sign in the formula but a negative number when the company repays.
•  FCFF − FCFE = Int(1−t) − Net borrowing. Write that on the board; it closes every gap.
FROM THE DESK — In practice the fight is never over the formula, it is over what counts as maintenance capex and what is growth. Two banks can be 20% apart on the same asset because one deducted the full capex line and the other only the replacement half.
NEXT — Both on Acme, with the actual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This is the slide where the two formulas stop being symbols. Make them do the 670 bridge out loud.
•  Derive t on the board — students expect to be handed it and are not.
•  FCInv is NET of disposal proceeds. 1,300 alone is the most common wrong answer.
•  Net borrowing is (500). Written as "+ net borrowing", it still subtracts. Say it twice.
•  The NI route needs the gain removed AND WCInv computed — show why it lands on 2,606 too.
•  1,568 ÷ 2,238 is 70%. The missing 30% went to lenders, not shareholders.
FROM THE DESK — Dividend cover on FCFE, not on EPS, is what a rating committee actually looks at. A 1.4× cover that only holds because the company skipped capex for a year is not cover — it is a deferral.
NEXT — Ratios next: the same CFO, sliced eleven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Do not read eleven rows. Pick three and make them mean something on Acme.
•  Cash to income is the earnings-quality ratio. Large income with weak CFO is the warning.
•  Interest coverage here adds interest AND taxes back — because both were deducted before CFO.
•  Acme: reinvestment = 2,606 ÷ 1,300 = 2.0×; dividend payment = 2,606 ÷ 1,120 = 2.3×. Comfortable.
•  Two IFRS traps: if interest paid sits in financing, do not add it back; if dividends paid sit in operating, add them back before computing cash flow per share.
FROM THE DESK — CFO/total debt is the ratio that moves rating decisions, not net debt/EBITDA. EBITDA is an accrual number with a capital-structure blind spot; CFO already absorbed the working-capital swing and the cash tax.
NEXT — Two real filers, three years, two of these ratios.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A trap slide. The obvious reading of row 4 is wrong, and the curriculum says so.
•  Let them look at Apple's 31% → 18% and call it deterioration. Then show them the denominator.
•  Apple parked years of surplus cash in securities; total assets grew far faster than CFO.
•  The revenue ratio is the cleaner earnings-quality read because the denominator is operational.
•  Microsoft is not "better" — it has a different mix. Say that plainly.
•  Rule to write down: decompose before you conclude.
ASK THE ROOM — Which of these two ratios would you use to compare a bank with a software company, and why neither?
NEXT — Section 3 — the highest-yield block of the afternoon. Inventories.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Seven slides, 40 minutes, and the densest exam yield of the deck. Do not arrive here with ten minutes left.
•  Two independent axes: the measurement rule (cost vs NRV) and the cost-flow assumption (FIFO/LIFO/average).
•  Students conflate them constantly. Draw the two axes on the board before slide 17.
•  LIFO is US GAAP only. Repeat it until it is boring.
•  Break after this section.
NEXT — Start with measurement: what number goes on the balance sheet.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One rule, one exception, one prohibition. The exception is the bit that gets tested.
•  Since fiscal years beginning after 15 Dec 2016, US GAAP is lower-of-cost-and-NRV for everything EXCEPT LIFO and retail.
•  Reversals: IFRS requires them, capped at the original write-down. US GAAP forbids them outright.
•  Write-downs are less likely under LIFO — inventory is already carried at the oldest, lowest costs.
•  Agricultural, forest and mineral products sit outside IAS 2 entirely: carried at NRV, gains AND losses through P&amp;L.
•  Flag the covenant angle: an impairment can breach a ratio covenant, which is why boards resist recording them.
FROM THE DESK — Companies resist write-downs precisely because they are irreversible under US GAAP. If you see a peer group taking charges and one issuer taking none, that is not superior forecasting — it is a deferred confession.
NEXT — Measurement settled. Now the cost-flow assumption — the choice that moves tax.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ways to cut one cost pool. The only economic consequence is the tax bill — everything else is presentation.
•  COGS + ending inventory = cost of goods available for sale. Always. The methods only split it differently.
•  Say it once: "FIFO gives you a good balance sheet, LIFO gives you a good income statement."
•  Do the deflation case out loud — every arrow flips and half the room will not have noticed.
•  Weighted average always lands in the middle. Useful for checking a student's answer is even plausible.
•  IFRS bans LIFO. That single fact makes any US-versus-European inventory comparison unusable raw.
FROM THE DESK — LIFO is a tax strategy dressed as an accounting policy, and it comes with a lock-in: US tax rules force a company using LIFO for tax to use it for reporting too. That is why LIFO filers stay LIFO filers even when the reserve becomes embarrassing.
NEXT — Two identical companies, five years, 4% inflation. Watch what diverges.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One number, 2,718, is the whole slide. It is the inventory gap, the COGS gap and the gross-profit gap simultaneously.
•  Show why it must be identical: same purchases, so whatever one puts in inventory the other put in COGS.
•  L's inventory never moves — 2,000 units frozen at the year-1 cost of USD 8.
•  Gross margin: L is flat at 46.7% every year; F drifts to 46.8–46.9% because part of its COGS is an older price.
•  The turnover distortion is the trap. Higher turnover here means stale inventory costs, not tight operations.
•  The USD 680 is deferred, not saved — it comes back the day the layers are liquidated.
FROM THE DESK — Working-capital normalisation in a model starts here. If a target is a LIFO filer, restate inventory to FIFO before you compute the working-capital peg, or you will hand the seller a couple of hundred basis points of value for free.
NEXT — Which raises the obvious question: how do you restate it?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reserve is free information sitting in a footnote. Show them exactly which two lines it fixes.
•  Inventory: add the reserve. Balance sheet done in one step.
•  COGS: subtract the CHANGE in the reserve, not the reserve itself. This is the step everyone gets wrong.
•  Reserve rose 9,540, so LIFO COGS was 9,540 higher than FIFO COGS would have been.
•  Restated turnover needs BOTH ends of the average inventory restated. Show the arithmetic.
•  A FALLING LIFO reserve is the warning sign — either prices are falling or layers are being liquidated.
FROM THE DESK — When you screen a US industrials universe, the LIFO reserve is also a rough measure of hidden asset value: it is the difference between the book carrying amount and something closer to replacement cost, sitting untaxed on the balance sheet.
NEXT — And when those old layers get sold, the reserve unwinds. That is a liquidation.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one place where LIFO flatters earnings instead of depressing them — and it costs cash to do it.
•  Build the two COGS figures side by side. The gap is the whole story.
•  Note the direction: gross profit UP, inventory DOWN, LIFO reserve DOWN. Three signals moving together.
•  It is unsustainable by construction — you can only liquidate a layer once.
•  The tax bill is the tell. An EPS beat that comes with a cash tax outflow is not an operating improvement.
•  Point them at the required US GAAP disclosure — it is in the inventory note, not the MD&amp;A.
NEXT — Now the disclosures themselves, and what you can rebuild from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Same company, same year, two sets of ratios — and the write-down makes the company look BETTER on activity.
•  Turnover 5.04× reported versus 4.71× adjusted. The write-down cut the denominator, not the operations.
•  Days on hand 72.4 versus 77.5 — five days of inventory that only exist because of an accounting allowance.
•  The margin direction is counter-intuitive here: Volvo's allowance FELL in 2017, so reported COGS is lower.
•  Net margin moves less than gross margin because tax absorbs part of the difference.
•  The IFRS disclosure list is the raw material: policy, carrying amount by class, write-downs, reversals, pledges.
FROM THE DESK — The allowance roll-forward is where the story is: additions, utilisation, FX. An issuer that keeps adding to the allowance and never utilises it is deferring a scrapping decision, and the eventual charge arrives all at once.
NEXT — One more measurement case, and this one has a third answer most students miss.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two regimes write down to DIFFERENT amounts, not just with different reversibility. That is the subtle half.
•  IFRS writes to NRV 4.9. The LIFO filer writes to market = replacement cost 4.7. Different bases.
•  The 2018 reversal is capped at the original write-down — carrying amount can never exceed original cost.
•  US GAAP: once down, always down. The 0.5m never comes back.
•  End-2018 balance sheets: 5.2 versus 4.7 for physically identical inventory.
•  The agricultural carve-out is a favourite exam distractor — commodities are marked, not written down.
FROM THE DESK — For a US filer, the recovery years look artificially profitable: the written-down cost flows through COGS at 4.7 while the goods sell at recovered prices. Comparing gross margin against an IFRS peer in those years without adjusting is simply wrong.
NEXT — Break here. Then long-lived assets — same logic, bigger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Five slides, 25 minutes. Conceptually easy, and that is exactly why students lose marks on the direction of each effect.
•  Note for them: the 2025 LM 7 tests capitalisation and depreciation through disclosure analysis, not drill.
•  The examinable skill is the direction table on the next slide plus the asset-age ratios at the end.
•  One asset — 50,000, five years, 5,000 salvage — carries slides 27 and 28. Introduce it once.
NEXT — The first fork: does the cost go on the balance sheet or through the income statement?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Eight rows, one logic: capitalising defers the charge. Make them derive the direction rather than memorise it.
•  Year 1 ROA is HIGHER under capitalisation — the numerator effect beats the denominator effect. Students reliably get this backwards.
•  Over the asset's full life cumulative net income is IDENTICAL. Only the path differs.
•  The CFO/CFI split is the one with no offsetting effect: capitalising permanently flatters reported CFO.
•  Growth: the expensing company shows faster profit growth later because it has no depreciation left.
•  AMRC in the practice set expensed track replacement that peers capitalise — that is the exam version.
FROM THE DESK — Aggressive capitalisation flatters EBITDA and leverage at the same time: the spend leaves EBITDA untouched and lands in capex below the line. When a software issuer's capitalised development costs grow faster than revenue, rebuild the ratios with all of it expensed before you sign off on the leverage.
NEXT — Once it is on the balance sheet, you have to unwind it. Three ways.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The examinable point is not the formulas — it is the SHAPE of the margin each one produces over time.
•  Accelerated depreciation gives an IMPROVING margin trend, because the charge shrinks each year. Half the room will say declining.
•  Straight-line gives the flattest margin. Units-of-production gives the most variable.
•  DDB ignores salvage in the formula. Stop when NBV hits salvage — that is the only role salvage plays.
•  Switching to an accelerated method for BOTH book and tax raises CFO, via lower cash tax.
•  IFRS and US GAAP both require the method to reflect the pattern of consumption. Neither prescribes one.
NEXT — Same asset, two methods, five years. Put numbers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columns, one total. Get them to notice year 5 before you explain it.
•  Year 5 DDB would be 6,480 × 40% = 2,592, which would breach salvage. So the charge is capped at 1,480.
•  Both columns total 45,000 = 50,000 − 5,000. Point at it.
•  DDB net book value is 30,000 after one year against 41,000 under SL — an 11,000 gap in reported assets.
•  That gap flows straight into ROA, asset turnover and every leverage ratio built on total assets.
•  Land the caveat on tax. It is the difference between an exam answer and a real one.
FROM THE DESK — In practice book and tax depreciation almost never coincide outside the US, which is why the deferred tax note is the only reliable place to see what a company actually claimed. Deck 08 picks this up.
NEXT — Method is one estimate of three. The other two do just as much damage.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Nothing physical changed in any of these rows. Only an assumption did. That is the whole lesson.
•  Row 2: 45,000 over 8 years instead of 5. A 38% cut in the annual charge, straight to operating profit.
•  Row 5 is the combination play: −44% on depreciation, and year-5 net book value five times the baseline.
•  A change in estimate is prospective — no restatement of prior years, which is what makes it attractive.
•  The DDB row is not comparable year-on-year; it is the year-1 charge only. Say so.
•  Push them to the next slide: you can test the claim, you do not have to take it on trust.
FROM THE DESK — Useful-life extensions are one of the cleanest earnings levers there is, and they leave a trace: depreciation expense growing slower than gross PP&amp;E for two or three years running. That divergence is worth a question on the call.
NEXT — So build the test. Three disclosed numbers give you the age of the asset base.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This is the LOS the 2025 curriculum actually tests on long-lived assets: reading disclosures, not drilling depreciation.
•  Three ratios, one denominator. Do Verizon live: 246,498 ÷ 14,741 = 16.7 years.
•  Age ÷ total life: Orange 73%, BCE 65%, Verizon 64% of the base already consumed.
•  Capex above depreciation for all three — they are replacing faster than they are writing off, consistent with an old base.
•  Exclude land where it is disclosed. For Verizon it barely moves the answer, but say why you check.
•  Fixed-asset turnover: Orange 1.6×, Verizon 1.5×, BCE 1.0×. Same industry, very different asset intensity.
FROM THE DESK — An old asset base with a short remaining life is a capex forecast in disguise. When you model a telco or a utility, this ratio tells you whether the next five years of free cash flow are about to be eaten by replacement spend.
NEXT — Section 5 — intangibles, where the asset may never appear on the balance sheet at 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Six slides, 30 minutes, and this is where the 2025 LM 7 actually spends its pages. Give it the time.
•  One organising idea: how an intangible arrived decides how it is accounted for.
•  Two IFRS-versus-US-GAAP contrasts to land hard: impairment measurement, and R&amp;D.
•  End on goodwill — the biggest single number on many balance sheets and the least examined.
NEXT — Start with origin, because everything downstream depends on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Three doors into the balance sheet, and only two of them actually open. That asymmetry is the analytical point.
•  Same economic asset, three accounting outcomes, depending purely on how it was obtained.
•  A company that builds its brand shows no asset; a company that buys the same brand shows one. Neither is wrong.
•  Under IFRS goodwill is not even classified as an identifiable intangible asset. Under US GAAP it is.
•  The footnote matters: build it and the cash sits in CFO; buy it and it sits in CFI. Free cash flow diverges.
•  US GAAP separates an intangible from goodwill only if it is contractual/legal OR separable.
FROM THE DESK — This is why software and pharma screens look cheap on price-to-book and expensive on price-to-earnings at the same time — the asset base is real but unrecognised. Capitalising R&amp;D on a common basis across a peer group is the standard fix, and it changes the ranking.
NEXT — Once recognised, an asset can go bad. Two regimes, two different tests.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One table, two fact patterns, and the regimes disagree in BOTH directions. That is the slide.
•  Sussex: the undiscounted screen passes, so US GAAP never reaches step 2. IFRS still writes down 2,000.
•  Essex: the screen fails, and US GAAP then measures against FAIR VALUE, not value in use — hence 8,000.
•  IFRS uses the HIGHER of the two recoverable measures. Students take the lower and lose the mark.
•  After a write-down, both regimes set a new depreciation schedule on the reduced carrying amount.
•  Reversals: IFRS permits them, capped at what the carrying amount would have been. US GAAP does not, for assets held for use — but does for assets held for sale.
FROM THE DESK — An impairment is a confession that depreciation was too slow in earlier years — net income was overstated then, and margins will look better afterwards on a smaller asset base. Never treat the post-impairment ROA improvement as operational.
NEXT — Impairment is a partial write-down. Derecognition removes the asset entirely.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Trivial arithmetic, and yet the cash flow treatment is where students lose the mark.
•  Carrying amount, then gain. Two subtractions, done.
•  The 1.2m gain is non-operating, so it comes OUT of CFO. The 3.1m goes into CFI in full.
•  Retirement or abandonment: no proceeds, so the loss equals the whole carrying amount.
•  Exchange: derecognise the old asset, book the new one at fair value, difference to P&amp;L.
•  Spin-off: no gain or loss at all — FCA distributing Ferrari to its own shareholders is the curriculum example.
ASK THE ROOM — A vehicle cost 100,000, residual 10,000, nine-year life, straight-line, sold after three years for 85,000. Gain or loss?
NEXT — Last accounting choice of the afternoon, and the one with the biggest cross-border gap: R&amp;D.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Two dates, two answers, same twelve thousand euros. Make them see that nothing about the software changed.
•  IFRS: research always expensed. Development capitalised ONLY from the day the criteria are met.
•  US GAAP splits by purpose: software for sale needs technological feasibility, internal-use software needs probable completion.
•  The curriculum notes probable completion is an easier hurdle than technological feasibility.
•  No retrospective reclassification. Once expensed, gone.
•  Note the asymmetry: US GAAP is more restrictive on R&amp;D generally but more permissive on internal-use software.
FROM THE DESK — Capitalised development is the single most common source of a flattering EBITDA in software and biotech. The tell is the ratio of capitalised development to total R&amp;D spend — if it climbs three years running while revenue does not, the accounting is doing the growing.
NEXT — One line left, and on many balance sheets it is the largest: goodwill.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72% of a hundred-billion-dollar price is an unamortised residual. Sit with that for a moment before explaining it.
•  Walk the table top to bottom: fair-value everything identifiable, deduct liabilities and NCI, and whatever is left is goodwill.
•  AB InBev's own stated drivers: assembled workforce, cost synergies, and deferred tax on non-deductible intangibles.
•  Assets held for sale are a quarter of the price — the divestments the competition authorities required.
•  Goodwill is never amortised, so it sits there until an impairment test catches up with it.
•  Point at the Orange numbers: the discount rate and growth assumption are disclosed, and they are where the judgement lives.
FROM THE DESK — A goodwill-heavy balance sheet is a leverage question, not an accounting one. Impairments are non-cash and covenants usually add them back — but they reset equity, and an issuer running close to a net-worth covenant can be pushed over by a write-down that changed no cash at all.
NEXT — Pull the afternoon together.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ANGLE — Eight cards. Read three, point at the rest, and get to the questions.
•  The two they must leave with: the ΔWC sign rule, and Inv(FIFO) = Inv(LIFO) + reserve.
•  Homework: LM 4 practice problems 9–11, LM 6 problems 22–37, LM 7 problems 4–13. All self-marking.
•  Repeat the two traps one last time — receivables up is an outflow, and net borrowing is negative on repayment.
•  Deck 08 picks up deferred tax, which is where the depreciation caveat from slide 27 gets settled.
NEXT — Leave five minutes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 07  ·  WEEK 4  ·  AFTERNOON 1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463040"/>
            <a:ext cx="8229600" cy="1920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FSA II — Cash Flow,</a:t>
            </a:r>
            <a:endParaRPr lang="en-US" sz="4200" dirty="0"/>
          </a:p>
          <a:p>
            <a:pPr algn="l" indent="0" marL="0">
              <a:buNone/>
            </a:pPr>
            <a:r>
              <a:rPr lang="en-US" sz="4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Inventories &amp; LT Assets</a:t>
            </a:r>
            <a:endParaRPr lang="en-US" sz="4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9300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6B7A8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accounting choices that quietly drive earnings quality, tax, and comparability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069080"/>
            <a:ext cx="82296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CFA Level I · Vol 4 Learning Modules 4–7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 — FSA II: Cash Flow, Inventories &amp; Long-Lived Assets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777240"/>
            <a:ext cx="850392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sections · ~2 hours · Built bottom-up from CFA readings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207008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320040" y="1207008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0040" y="1207008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252728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statement · structure &amp; preparation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24128" y="1513149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3-bucket CFS · direct vs indirect · indirect→direct conversion · investing &amp; financing build-up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1923898"/>
            <a:ext cx="8503920" cy="68031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" y="1923898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20040" y="1923898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024128" y="1969618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Common-size CF + FCFF / FCFE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2230039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inflows vs % revenue · FCFF from CFO and from NI · FCFE · 5 performance + 6 coverage ratios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2640787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2640787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0040" y="2640787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1024128" y="2686507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methods &amp; ratio impact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24128" y="294692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LCNRV · FIFO / LIFO / weighted-avg · inflation effects · LIFO reserve · LIFO liquidation · disclosures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357677"/>
            <a:ext cx="8503920" cy="680314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357677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0040" y="3357677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" y="3403397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PP&amp;E · capitalize vs expense · depreciation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24128" y="366381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vs expense · SL / DDB / units · useful-life sensitivity · asset-age ratios from disclosures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4074566"/>
            <a:ext cx="8503920" cy="68031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320040" y="4074566"/>
            <a:ext cx="594360" cy="680314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320040" y="4074566"/>
            <a:ext cx="594360" cy="68031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1024128" y="4120286"/>
            <a:ext cx="7726680" cy="30614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Intangibles · impairment · R&amp;D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24128" y="4380708"/>
            <a:ext cx="7726680" cy="3741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purchased / internal / M&amp;A · goodwill · impairment IFRS vs GAAP · derecognition · R&amp;D IFRS vs GAAP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objectives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822960"/>
            <a:ext cx="85039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of this deck you should be able to: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1188720"/>
            <a:ext cx="850392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operating cash flow under both the direct and indirect methods, reconcile them, and convert from one to the other using balance sheet and income statement data.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FCFF and FCFE from both CFO and net income, and interpret cash-flow performance and coverage ratios.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how FIFO, LIFO, and weighted-average cost flow assumptions — and the lower-of-cost-and-NRV rule — affect the income statement, balance sheet, and ratios under IFRS and US GAAP.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 whether an expenditure is capitalized or expensed, trace the consequences through income, assets, ratios and cash flow, and estimate asset age from disclosed cost and depreciation.
</a:t>
            </a:r>
            <a:pPr indent="0" marL="0">
              <a:buNone/>
            </a:pPr>
            <a:r>
              <a:rPr lang="en-US" sz="1200" b="1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5.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intangibles by origin, test for impairment under IFRS vs US GAAP, and apply the distinct IFRS and US GAAP rules on research and development costs.
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statement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structure &amp; preparation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 of 5  ·  Deck 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statement of cash flows reconciles opening and closing cash by sorting every movement into operating, investing, or financing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4, §1–2 and §8 Exhibit 34, pp. 124–127 and 146–147.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cash = beginning cash + CFO + CFI + CFF + FX effects. Accrual profit is a judgement; the cash line is arithmetic.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234440"/>
            <a:ext cx="8503920" cy="5303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234440"/>
            <a:ext cx="8321040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Cash  =  CFO  +  CFI  +  CFF   ( + FX effect on cash )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2743200" cy="1874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" y="1920240"/>
            <a:ext cx="73152" cy="1874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OPERATING — CFO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24028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Day-to-day business: receipts from customers, payments to suppliers, wages, taxes. Over the long run this is the only sustainable source of cash.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0" y="1920240"/>
            <a:ext cx="2743200" cy="187452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0" y="1920240"/>
            <a:ext cx="73152" cy="18745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3756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INVESTING — CFI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337560" y="224028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Buying and selling long-lived assets: PP&amp;E, intangibles, investment securities. Capex lives here. Always presented gross.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080760" y="1920240"/>
            <a:ext cx="2743200" cy="18745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0" name="Shape 18"/>
          <p:cNvSpPr/>
          <p:nvPr/>
        </p:nvSpPr>
        <p:spPr>
          <a:xfrm>
            <a:off x="6080760" y="1920240"/>
            <a:ext cx="73152" cy="18745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196596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FINANCING — CFF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2240280"/>
            <a:ext cx="25146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to and from capital providers: debt issued or repaid, equity issued or bought back, dividends paid. Also always gross.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24" name="Shape 22"/>
          <p:cNvSpPr/>
          <p:nvPr/>
        </p:nvSpPr>
        <p:spPr>
          <a:xfrm>
            <a:off x="320040" y="3858768"/>
            <a:ext cx="73152" cy="7315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457200" y="3904488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IFRS GIVES YOU A CHOICE AND US GAAP DOES NOT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4178808"/>
            <a:ext cx="82753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paid — IFRS operating OR financing; US GAAP operating. Dividends paid — IFRS operating OR financing; US GAAP financing. Interest and dividends received — IFRS operating OR investing; US GAAP operating.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and indirect methods produce the same CFO total — they only differ in how operating cash flow is presented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4, §3–4, Exhibits 9–11 and 25, pp. 131–140.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regimes encourage the direct method; almost every filer uses indirect. Analysts convert back — that is the next slide.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4160520" cy="310896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31089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84632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DIRECT METHOD — ACME 2018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84632" y="1600200"/>
            <a:ext cx="388620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received from customers          23,543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paid to suppliers              (11,900)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paid to employees               (4,113)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paid for other opex             (3,532)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paid for interest                 (258)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paid for income tax             (1,134)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———————————————————————————————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cash from operating activities     2,606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Six gross lines. You can see the business.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1188720"/>
            <a:ext cx="4160520" cy="31089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4663440" y="1188720"/>
            <a:ext cx="73152" cy="31089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28032" y="1280160"/>
            <a:ext cx="38862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INDIRECT METHOD — ACME 2018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4828032" y="1600200"/>
            <a:ext cx="3886200" cy="26060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income                             2,210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Depreciation expense                   1,052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on sale of equipment               (205)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 in accounts receivable          (55)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 in inventory                   (707)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Decrease in prepaid expenses              23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Increase in accounts payable             263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Other current-liability changes           25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———————————————————————————————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Net cash from operating activities     2,606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Any indirect-method CFO can be re-expressed in direct format via a three-step process — a core analyst skill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4, §5 Exhibit 26, pp. 140–141.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conversion is an approximation, but "sufficiently accurate for most analytical purposes". Every accrual line maps to one cash line.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received from customers  =  Revenue  −  Δ Accounts receivable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20040" y="1874520"/>
            <a:ext cx="8503920" cy="24231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202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EXHIBIT 26 — ACME CORP. 2018 CONVERSION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128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23,598; COGS 11,456; salaries 4,123; depreciation 1,052; other opex 3,577; interest 246; tax 1,139; gain on sale 205. ΔAR +55, ΔInv +707, ΔAP +263, ΔPrepaid −23, ΔWagesPay +10, ΔIntPay −12, ΔTaxPay +5, ΔAccrued +22.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24912"/>
            <a:ext cx="8229600" cy="10607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— Aggregate: total revenues 23,803 (23,598 + 205 gain); total expenses 21,593; net income 2,210.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— Strip non-cash and non-operating: revenues 23,803 − 205 = 23,598; expenses 21,593 − 1,052 depreciation = 20,541.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— Convert with ΔWC: customers 23,598 − 55 = 23,543; suppliers 11,456 + 707 − 263 = 11,900; employees 4,123 − 10 = 4,113; other opex 3,577 − 23 − 22 = 3,532.
</a:t>
            </a:r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Finish the same way: interest 246 + 12 = 258; income tax 1,139 − 5 = 1,134.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Direct CFO = 23,543 − 11,900 − 4,113 − 3,532 − 258 − 1,134 = USD 2,606 ✓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full cash flow statement walks from CFO through investing and financing to ending cash — and must tie to the balance sheet exactly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4, §4 Exhibit 25 and §7 Exhibit 32, pp. 139–140 and 145.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and financing are always presented gross, regardless of which method is used for CFO. No netting, no shortcuts.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5486400"/>
                <a:gridCol w="164592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Line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Acme 2018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Section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from operating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2,606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Cash received from sale of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Cash paid for purchase of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(1,300)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used in investing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(538)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Cash paid to retire long-term debt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(500)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Cash paid to retire common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(600)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Cash paid for dividends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(1,120)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cash used in financing activities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(2,220)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749040"/>
            <a:ext cx="8503920" cy="84124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749040"/>
            <a:ext cx="73152" cy="841248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79476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TIE-OUT, AND THE THREE NUMBERS NOBODY GAVE YOU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8275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decrease = 2,606 − 538 − 2,220 = (152). Opening cash 1,163 − 152 = 1,011 — the closing balance sheet exactly. Debt retired 500 and stock retired 600 are simply year-on-year falls in those lines; dividends 1,120 come from the retained-earnings roll-forward, 2,876 + 2,210 − 3,966.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net change in PP&amp;E hides two gross flows — you need the income-statement gain to split purchases from disposals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4, §6 Question Set Q1 (Copper Inc.), p. 143.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roll-forwards, one answer: gross cost, accumulated depreciation, then book value plus the gain gives cash received.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Cash from sale  =  Book value of asset sold  +  Gain on sale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Book value = historical cost − accumulated depreciation, each recovered from its own balance-sheet roll-forward.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8503920" cy="19659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4 QUESTION SET — COPPER INC. EQUIPMENT DISPOSAL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100 → 109. Accumulated depreciation 30 → 36. Capex USD 15m, all new equipment. Income statement: depreciation 8m, gain on sale 12m. How much cash came in?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82112"/>
            <a:ext cx="8229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of equipment sold: 100 + 15 − 109 = USD 6m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Accumulated depreciation on equipment sold: 30 + 8 − 36 = USD 2m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value of equipment sold: 6 − 2 = USD 4m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received: book value + gain = 4 + 12 = USD 16m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CFI shows +16 inflow and −15 outflow, not a single net line of +1.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Common-size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free cash flow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 of 5  ·  Deck 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Common-size cash flow analysis scales each line either to total inflows and outflows or to net revenue — the two answer different questions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5, §3 Exhibits 4–5, pp. 161–163.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Acme 2018: total inflows USD 24,305, total outflows USD 24,457, net change (152). Revenue base for the right-hand column is net revenue of USD 23,598.</a:t>
            </a:r>
            <a:endParaRPr lang="en-US" sz="13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3931920"/>
                <a:gridCol w="1645920"/>
                <a:gridCol w="173736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Acme 2018 — direct-format cash flow line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Amount (USD)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 inflows / outflows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 net revenue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received from customers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23,543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96.86%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99.77%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received from sale of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762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3.14%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3.23%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paid to suppliers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(11,900)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48.66%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50.43%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paid to employees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(4,113)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16.82%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17.43%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paid for other operating expenses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(3,532)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14.44%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14.97%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paid for interest and income tax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(1,392)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5.69%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5.90%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Purchase of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(1,300)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5.32%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5.51%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Retirement of long-term debt and stock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(1,100)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4.66%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Dividends paid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(1,120)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4.58%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4.75%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4023360"/>
            <a:ext cx="8503920" cy="56692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4023360"/>
            <a:ext cx="73152" cy="566928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406908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BOTH, NOT ONE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343400"/>
            <a:ext cx="82753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inflow view asks where the cash comes from. The revenue view asks whether each item scales with sales.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FCFF and FCFE separate the cash available to all capital providers from the cash available to equity holders alone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5, §4, pp. 166–167.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FCFF at WACC to value the firm; discount FCFE at the cost of equity to value the equity. Mismatching the pair is the classic valuation error.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868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 =  NI + NCC + Int(1−t) − FCInv − WCInv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 =  CFO + Int(1−t) − FCInv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FCFE  =  CFO − FCInv + Net borrowing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2084832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NCC = non-cash charges (D&amp;A). FCInv = net capex. WCInv = rise in working capital. Net borrowing = issued − repaid.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95728"/>
            <a:ext cx="4160520" cy="1901952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3" name="Shape 11"/>
          <p:cNvSpPr/>
          <p:nvPr/>
        </p:nvSpPr>
        <p:spPr>
          <a:xfrm>
            <a:off x="320040" y="2395728"/>
            <a:ext cx="73152" cy="190195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441448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FCFF — FIRM LEVEL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715768"/>
            <a:ext cx="3931920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 ALL capital providers after operating costs, taxes and reinvestment in fixed and working capital.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 is added back AFTER tax because debt-holders were already paid out of this cash — and because the interest deduction saved real tax.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2395728"/>
            <a:ext cx="4160520" cy="1901952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2395728"/>
            <a:ext cx="73152" cy="19019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800600" y="2441448"/>
            <a:ext cx="3931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FCFE — EQUITY LEVEL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800600" y="2715768"/>
            <a:ext cx="3931920" cy="1536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for common shareholders after interest, principal and reinvestment.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add back interest. DO add net borrowing — and remember it is NEGATIVE when debt is repaid, which is where the sign errors live.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Acme's FCFF and FCFE differ by USD 670 — after-tax interest going one way and debt repayment the other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5, §4 Exhibits 7–8, pp. 167–168.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 rate is derived, not given: 1,139 tax expense ÷ 3,349 pretax income = 34%. Same CFO of 2,606 feeds both measures.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201168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5 EXHIBITS 7 &amp; 8 — ACME CORP. FCFF AND FCFE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2,606. Capex 1,300. Proceeds from equipment sale 762. Interest paid 258. Long-term debt retired 500, none issued. Tax rate t = 34%.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39112"/>
            <a:ext cx="8229600" cy="6492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FCInv (net) = capex 1,300 − disposal proceeds 762 = USD 538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FCFF = CFO + Int(1−t) − FCInv = 2,606 + 258 × 0.66 − 538 = 2,606 + 170 − 538 = USD 2,238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borrowing = 0 issued − 500 repaid = USD (500)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FCFE = CFO − FCInv + Net borrowing = 2,606 − 538 − 500 = USD 1,568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6148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6148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FCFF 2,238 · FCFE 1,568 · gap 670 = 170 interest add-back + 500 repayment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8503920" cy="10058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291840"/>
            <a:ext cx="73152" cy="10058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CROSS-CHECK FROM NET INCOME — AND WHAT IT MEANS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8275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 2,210 + NCC 1,052 − gain 205 − WCInv 451 = 2,606 = CFO. Then − FCInv 538 − net borrowing 500 = 1,568. Same answer, different road.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WCInv 451 = operating current assets up 739 (AR 55, inventory 707, prepaid −23) less operating current liabilities up 288.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FCFE 1,568 against a dividend of 1,120 is 1.40× cover: the payout is funded, but only just, and only after a year of net deleveraging.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Cash flow ratios split into five performance ratios that measure profitability and six coverage ratios that measure solvency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5, §5 Exhibit 9, pp. 168–169.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one of them has CFO in the numerator. That is the point: cash-based ratios sidestep accrual judgement entirely.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3017520"/>
                <a:gridCol w="219456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Ratio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Formula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What it measures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Type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to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Net revenue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 per unit of revenue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return on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Avg. total assets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 per unit of assets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return on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Avg. shareholders' equity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 per unit of equity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to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Operating income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Earnings quality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flow per share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(CFO − Pref. div.) / Common shares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Per-share operating cash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Perf.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Total debt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Financial risk / leverage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Interest coverage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(CFO + Int + Tax paid) / Int paid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it service its debt?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Reinvestment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Cash paid for LT assets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CFO fund capex?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Cash paid for debt repayment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CFO repay principal?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Dividend payment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Dividends paid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CFO fund dividends?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Investing and financing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CFO / Investing + financing outflows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Can CFO fund all outflows?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Cover.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 cash-flow ratios as a trend, not a level — and check what changed in the denominator before you call it earnings quality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5, §5 Example 3, Exhibits 10–11, p. 169.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exceptional cash generators. The interesting part is that the two ratios tell different stories about the same three years.</a:t>
            </a:r>
            <a:endParaRPr lang="en-US" sz="13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1463040"/>
                <a:gridCol w="1005840"/>
                <a:gridCol w="1005840"/>
                <a:gridCol w="1005840"/>
                <a:gridCol w="18288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Metric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Company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2015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2016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2017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Change 2015 → 2017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net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31.7%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39.1%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43.9%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+12.2 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net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Apple Inc.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34.8%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27.7%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−7.1 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avg.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Microsoft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+1.1 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 / avg. 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Apple Inc.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31.1%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21.5%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18.2%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−12.9 pp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651760"/>
            <a:ext cx="8503920" cy="164592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2651760"/>
            <a:ext cx="73152" cy="16459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269748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THE NUMBERS ACTUALLY SAY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971800"/>
            <a:ext cx="827532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CFO / revenue — Microsoft converts 43.9 cents of every sales dollar into operating cash, versus 27.7 at Apple. Microsoft is rising, Apple falling; on this measure the ranking reversed between 2015 and 2016.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CFO / assets — Apple's collapse from 31% to 18% is NOT an operating deterioration. The denominator ballooned with a marketable-securities portfolio built out of past cash flow. Same numerator quality, different balance sheet.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discipline: before calling a falling ratio a warning, ask which half of it moved and why.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methods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ratio impact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 of 5  ·  Deck 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IFRS carries inventory at the lower of cost and NRV; US GAAP does the same except for LIFO and retail filers — and never permits a reversal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§2, pp. 174–176.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"Market" is a US GAAP concept and applies only to LIFO and retail filers: replacement cost, capped at NRV and floored at NRV less a normal profit margin.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56692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Carrying amount  =  MIN ( cost ,  net realisable value 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78308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NRV = selling price in the ordinary course of business − costs to complete − costs to sell. Assessed item by item.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80360"/>
                <a:gridCol w="2880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Question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IFRS (IAS 2)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 GAAP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Measurement 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of cost and NRV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of cost and NRV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…except LIFO / retail filers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n/a — LIFO is prohibited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of cost or market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write-down lands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 of sales (or separate line)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Cost of sales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Reversal if value recovers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Required, capped at original cost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Prohibited, permanently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 on activity ratios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Turnover looks better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Turnover looks better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320040" y="3840480"/>
            <a:ext cx="8503920" cy="74980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" y="3840480"/>
            <a:ext cx="73152" cy="749808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57200" y="388620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RATIO ASYMMETRY WORTH REMEMBERING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160520"/>
            <a:ext cx="827532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write-down cuts both profit and inventory, so profitability, liquidity and solvency ratios all worsen — but activity ratios IMPROVE, because the denominator shrank. Never read that improvement as better inventory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FIFO, LIFO and weighted average split the same cost pool differently between COGS and ending inventory — same purchases, different profit and different tax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§3, pp. 181–182.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flow of goods is irrelevant to the choice. LIFO is not permitted under IFRS; FIFO and weighted average are permitted under both regimes.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2743200" cy="3154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3154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FIFO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First-in, first-out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costs → COGS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costs → ending inventory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is close to replacement cost.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matches old costs to current sales.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PRICES: low COGS, high profit, high tax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PRICES: everything reverses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1546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188720"/>
            <a:ext cx="73152" cy="31546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3756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LIFO  (US GAAP only)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Last-in, first-out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Newest costs → COGS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Oldest costs → ending inventory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 is close to replacement cost.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carries stale, low costs.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PRICES: high COGS, low profit, LOW TAX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FALLING PRICES: everything reverses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743200" cy="3154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188720"/>
            <a:ext cx="73152" cy="3154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61872"/>
            <a:ext cx="246888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WEIGHTED AVERAGE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blended cost per unit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cost = cost of goods available ÷ units available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unit, in COGS and on the balance sheet, carries the same cost.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sits BETWEEN FIFO and LIFO on every metric — which makes it the useful sanity check.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 a rising-price environment LIFO raises COGS and freezes ending inventory — cutting reported income and tax, and quietly distorting the ratios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§3 Example 3, pp. 182–183.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L and F are identical except for the cost-flow assumption. 4% annual price inflation, 10% annual unit growth, a 2,000-unit base layer bought at USD 8.</a:t>
            </a:r>
            <a:endParaRPr lang="en-US" sz="13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463040"/>
                <a:gridCol w="1463040"/>
                <a:gridCol w="1188720"/>
                <a:gridCol w="1188720"/>
                <a:gridCol w="1280160"/>
                <a:gridCol w="118872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Year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Ending inv. (L)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Ending inv. (F)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COGS (L)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COGS (F)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Gross profit (L)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Gross profit (F)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16,640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183,040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182,400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160,160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160,800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17,306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209,398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208,732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183,223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183,889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17,998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239,551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238,859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209,607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210,299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18,718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274,046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273,326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239,791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240,511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+2,718 vs 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1,066,035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1,063,317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932,781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935,499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246120"/>
            <a:ext cx="8503920" cy="105156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246120"/>
            <a:ext cx="73152" cy="10515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29184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SAME 2,718 SHOWS UP FOUR TIMES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66160"/>
            <a:ext cx="8275320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Inventory — F ends year 5 at 18,718 against L's 16,000. The 2,718 gap is inflation, not more stock.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COGS — L charged 2,718 more over five years, so gross profit is 2,718 lower. Same pool, different split.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Turnover (COGS ÷ ending inventory) — L climbs 10.0× to 17.1×, F only 10.0× to 14.6×. LIFO merely looks better run.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Tax — at 25%, L's lower gross profit defers roughly USD 680 of cash tax. That is LIFO's entire case.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LIFO reserve is a disclosed footnote that bridges a US LIFO filer back to a comparable FIFO view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Practice Problems 28–33 (ZP Corporation), pp. 200–204.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LIFO filers must disclose the FIFO equivalent. ZP, a Japan-domiciled US GAAP filer, reports a reserve of JPY 10,120m in 2017 rising to JPY 19,660m in 2018.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80467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Inventory (FIFO)  =  Inventory (LIFO)  +  LIFO reserve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COGS (FIFO)  =  COGS (LIFO)  −  Δ LIFO reserve</a:t>
            </a:r>
            <a:endParaRPr lang="en-US" sz="18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0312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011680"/>
                <a:gridCol w="1737360"/>
                <a:gridCol w="2011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ZP Corporation (JPY millions)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 reported (LIFO)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LIFO reserve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Restated to FIFO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31 December 2017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608,572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10,120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618,692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31 December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486,465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19,660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506,125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in LIFO reserve during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+9,540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products sold,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5,822,805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− 9,540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5,813,265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Inventory turnover, 2018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10.64×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10.34×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20040" y="3858768"/>
            <a:ext cx="8503920" cy="73152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3" name="Shape 10"/>
          <p:cNvSpPr/>
          <p:nvPr/>
        </p:nvSpPr>
        <p:spPr>
          <a:xfrm>
            <a:off x="320040" y="3858768"/>
            <a:ext cx="73152" cy="73152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457200" y="3904488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BOTTOM LINE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457200" y="4178808"/>
            <a:ext cx="827532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Restating to FIFO lifts inventory and trims COGS, so turnover FALLS from 10.64× to 10.34× and the current ratio rises. A LIFO filer is not better at managing inventory — it is carrying old costs. Under IFRS the choice does not exist.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LIFO liquidation — selling more than you replace — releases old low-cost layers into COGS and inflates gross profit unsustainably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§3 Example 3 note and §4, pp. 182 and 184.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falling inventory balance at a LIFO filer is a red flag. US GAAP requires disclosure of any material income arising from a LIFO liquidation.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19659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STYLISED — EXTENDING COMPANY L'S BASE LAYER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L still holds its 2,000-unit base layer at the original USD 8. Current purchase cost has reached USD 14. This year it sells 2,500 units but buys only 2,000.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39112"/>
            <a:ext cx="8229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COGS if every unit came from this year's purchases: 2,500 × 14 = USD 35,000.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LIFO COGS: 2,000 × 14 (this year's layer) + 500 × 8 (base layer) = 28,000 + 4,000 = USD 32,000.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Liquidation gain: 35,000 − 32,000 = USD 3,000, i.e. 500 units × the USD 6 spread between current and base cost.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Ending inventory falls by 500 × 8 = USD 4,000, and the LIFO reserve shrinks by the same 3,000 of released spread.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11480" y="2715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715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Analyst adjustment: strip the 3,000 out before judging sustainable gross margin.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291840"/>
            <a:ext cx="8503920" cy="10058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291840"/>
            <a:ext cx="73152" cy="10058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33756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IT HAPPENS — AND WHY IT IS EXPENSIVE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611880"/>
            <a:ext cx="8275320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liquidation can be involuntary (a strike, a supply shock) or engineered — run inventory down and book a one-off margin uplift in a weak quarter. Either way the earnings boost is real cash tax paid: the liquidation unwinds precisely the deferral the LIFO reserve was holding. Management is trading tomorrow's tax shield for today's EPS.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Inventory disclosures let you strip the obsolescence allowance out and see what turnover and margin really look like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§2 Example 2 (Volvo Group), pp. 177–180.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Volvo carries inventory at FIFO, net of an obsolescence allowance of SEK 3,489m at end-2017. The allowance FELL 194 during the year, which flattered cost of sales.</a:t>
            </a:r>
            <a:endParaRPr lang="en-US" sz="13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54480"/>
                <a:gridCol w="1737360"/>
                <a:gridCol w="28346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Volvo Group 2017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 reported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Without allowance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Why it moves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Inventory, net (SEK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52,701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56,190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Add back the 3,489 allowance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of sales (SEK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254,581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254,775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Allowance fell 194 in 2017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Inventory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5.04×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4.71×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Write-downs shrink the denominator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Days of inventory on hand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72.4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77.5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365 ÷ inventory turnover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23.95%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23.89%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COGS as reported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profit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6.36%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6.31%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Tax at 25% damps the gap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200400"/>
            <a:ext cx="8503920" cy="114300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200400"/>
            <a:ext cx="73152" cy="11430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24612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ANALYST CHECKLIST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20440"/>
            <a:ext cx="8275320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Read the policy note first — FIFO, weighted average or LIFO changes every ratio below it.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If LIFO, pull the reserve and restate to FIFO before any cross-border comparison.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Add the obsolescence allowance back to see gross inventory; a rising allowance is an obsolescence signal.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Compare inventory growth with revenue growth. Inventory outrunning sales is the classic warning.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write-down, one recovery, two regimes — and a permanent EUR 0.5m gap between an IFRS filer and its US GAAP peer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6, §2 Example 1 (Hatsumei Enterprises), pp. 175–176.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Hatsumei manufactures computers and reports under IFRS. The comparison assumes an otherwise identical US GAAP filer using LIFO, for which "market" applies.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233172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6 EXAMPLE 1 — HATSUMEI ENTERPRISES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2017: ending inventory cost EUR 5.2m; NRV EUR 4.9m; current replacement cost EUR 4.7m. 2018: NRV recovers to EUR 0.5m above the carrying amount.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39112"/>
            <a:ext cx="8229600" cy="96926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2017 — carry at MIN(cost 5.2, NRV 4.9) = 4.9. The 0.3m decline is expensed.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2018 — reverse, capped at the original 0.3m: inventory back to 5.2, cost of sales cut by 0.3m.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GAAP 2017 (LIFO filer) — market = replacement cost 4.7, below NRV 4.9. Write down to 4.7; 0.5m into COGS.
</a:t>
            </a:r>
            <a:pPr indent="0" marL="0">
              <a:spcAft>
                <a:spcPts val="200"/>
              </a:spcAft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GAAP 2018 — no reversal, ever. Inventory sits at 4.7 while the IFRS peer carries 5.2.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11480" y="308152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308152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Two-year P&amp;L hit: IFRS zero (−0.3 then +0.3). US GAAP −0.5m, permanently.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611880"/>
            <a:ext cx="8503920" cy="7772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611880"/>
            <a:ext cx="73152" cy="777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65760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THIRD ANSWER MOST STUDENTS MISS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931920"/>
            <a:ext cx="827532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inventory were an agricultural product rather than computers, IAS 2 would not apply at all: it would be carried at NRV and the 2018 recovery booked as a EUR 0.5m GAIN — not a reversal capped at original cost.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PP&amp;E · capitalize vs expense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depreciation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 of 5  ·  Deck 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Capitalizing spreads a cost over future periods; expensing takes it today — and the choice moves income, assets, ratios and even which cash flow line it lands in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§2 p. 213 and Practice Problems 4 and 8–9, pp. 234–237.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Capitalize when the expenditure delivers benefit beyond the current period and can be measured reliably. Otherwise expense as incurred.</a:t>
            </a:r>
            <a:endParaRPr lang="en-US" sz="13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880360"/>
                <a:gridCol w="28803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In the year of the spend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Capitalize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Expense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income / net margin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 — only depreciation hits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— the full cost hits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 — an asset is recorded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— nothing recorded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Shareholders'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ROA and ROE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 — income effect dominates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 — outflow sits in CFI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— outflow inside CFO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asset turnover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— bigger denominator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to equity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Later-year profit GROWTH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Lower — depreciation drags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Higher — no charge left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749040"/>
            <a:ext cx="8503920" cy="84124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749040"/>
            <a:ext cx="73152" cy="841248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79476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CAPITALISED INTEREST — THE ONE THAT CATCHES PEOPLE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8275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Capitalised interest lands in PP&amp;E, not in interest expense, so fixed-asset turnover falls. Interest coverage only looks better if you compute it on interest EXPENSE — build it on total interest PAID, capitalised portion included, and the flattery disappears.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Straight-line is the default; double-declining balance front-loads the charge; units-of-production ties it to actual use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 — assumed foundation, tested in Practice Problems 5 and 10, pp. 235 and 242.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write off the SAME total (cost − salvage) over the same life. They differ only in timing — and therefore only in the shape of the reported margin.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2743200" cy="3154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0" name="Shape 8"/>
          <p:cNvSpPr/>
          <p:nvPr/>
        </p:nvSpPr>
        <p:spPr>
          <a:xfrm>
            <a:off x="320040" y="1188720"/>
            <a:ext cx="73152" cy="3154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STRAIGHT-LINE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= (Cost − Salvage) ÷ Useful life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 annual charge.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margin: the FLATTEST trend of the three.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where benefits are even across the life — buildings, fittings, most office assets.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0" y="1188720"/>
            <a:ext cx="2743200" cy="31546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188720"/>
            <a:ext cx="73152" cy="31546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3756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DOUBLE-DECLINING BALANCE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3756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= (2 ÷ Useful life) × opening NBV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Accelerated — biggest charge in year 1.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Salvage does NOT enter the formula; you simply stop once NBV reaches it.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margin: IMPROVES year on year as the charge falls.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88720"/>
            <a:ext cx="2743200" cy="315468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8" name="Shape 16"/>
          <p:cNvSpPr/>
          <p:nvPr/>
        </p:nvSpPr>
        <p:spPr>
          <a:xfrm>
            <a:off x="6080760" y="1188720"/>
            <a:ext cx="73152" cy="31546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1280160"/>
            <a:ext cx="24688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UNITS OF PRODUCTION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1600200"/>
            <a:ext cx="2468880" cy="2651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 = (Cost − Salvage)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× (Units used ÷ Total units)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Activity-based — matches wear to output.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profit margin: VARIABLE, moving with volume.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where consumption is measurable — mine tonnes, aircraft cycles, press impressions.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USD 50,000 asset, five-year life, USD 5,000 salvage — identical total depreciation, completely different reported curve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 — illustration of Practice Problems 5 and 10, pp. 235 and 242.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DDB rate = 2 ÷ 5 = 40%, applied to opening net book value. Salvage is ignored in the formula — you simply stop depreciating once NBV reaches it.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822960"/>
                <a:gridCol w="1737360"/>
                <a:gridCol w="2011680"/>
                <a:gridCol w="1737360"/>
                <a:gridCol w="21945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Year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SL expense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SL net book value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DDB expense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DDB net book value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41,000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32,000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12,000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23,000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7,200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10,800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4,320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6,480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1,480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Ends at salvage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Ends at salvage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200400"/>
            <a:ext cx="8503920" cy="10972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200400"/>
            <a:ext cx="73152" cy="10972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24612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TAX POINT — AND ITS CAVEAT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520440"/>
            <a:ext cx="82753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at a 25% rate: SL cuts pretax income by 9,000 (tax 2,250); DDB cuts it by 20,000 (tax 5,000) — 2,750 of cash tax deferred. Over five years both charge 45,000, so total tax is identical. DDB is timing, not value.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this only bites where tax depreciation follows the book method. Where it does not — most of Europe — the choice moves deferred tax, not cash.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Useful life, salvage value and method are three estimates, not three facts — and small revisions produce large earnings effects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§4 disclosure requirements, p. 223; sensitivity computed on the slide-27 asset.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USD 50,000 asset throughout. Stretching the useful life from five years to eight cuts the annual charge by 38% — with no change whatsoever in the asset.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2011680"/>
                <a:gridCol w="146304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Assumption change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Annual SL depreciation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Δ vs baseline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Year-5 NBV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Baseline: life 5y, salvage 5,000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—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Life extended to 8y (same salvage)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5,625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−3,375 (−38%)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21,875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Salvage raised to 10,000 (life still 5y)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−1,000 (−11%)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Switch to DDB (life 5y, salvage 5,000)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20,000 in yr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+11,000 yr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Both: life 8y AND salvage 10,000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−4,000 (−44%)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2971800"/>
            <a:ext cx="8503920" cy="132588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2971800"/>
            <a:ext cx="73152" cy="132588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01752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TO VET THE ESTIMATES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291840"/>
            <a:ext cx="82753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IFRS requires disclosure of useful lives or depreciation rates by class of asset. Benchmark them against three peers, not against the company's own history.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 for an upward revision to useful life announced alongside a weak quarter. Raising life AND salvage together is a double-barrelled earnings boost.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The next slide gives you the counter-test: back out the implied life from the disclosed cost and depreciation expense, and see whether it matches what the company says it uses.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Gross cost, accumulated depreciation and depreciation expense are enough to estimate how old an asset base is — and when the capex bill lands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§5 Example 6 (Orange / BCE / Verizon), pp. 229–232.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telecoms, one year, three depreciation policies. Orange and BCE write PP&amp;E off over 21–23 years; Verizon over 17. Roughly two-thirds of every base is already consumed.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Age  =  Accum. depreciation ÷ Dep. expense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Remaining life  =  Net PP&amp;E ÷ Dep. expense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Total useful life = age + remaining life = gross PP&amp;E ÷ dep. expense. Straight-line assumed — an indicator, not a measure.</a:t>
            </a:r>
            <a:endParaRPr lang="en-US" sz="11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94560"/>
          <a:ext cx="850392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920240"/>
                <a:gridCol w="1920240"/>
                <a:gridCol w="19202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2017, PP&amp;E under the cost model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Orange (EUR m)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BCE (CAD m)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Verizon (USD m)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PP&amp;E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97,092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69,230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246,498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Accumulated depreciation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70,427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45,197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157,930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Annual depreciation expense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4,708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3,037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14,741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Estimated total useful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20.6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22.8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16.7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Estimated 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15.0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14.9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10.7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⇒ Estimated remaining life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5.7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7.9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6.0 yrs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Capex ÷ dep.  ·  FA turnover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1.2× · 1.6×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1.4× · 1.0×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1.2× · 1.5×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914400" y="1371600"/>
            <a:ext cx="731520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920240"/>
            <a:ext cx="2743200" cy="457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057400"/>
            <a:ext cx="731520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Intangibles · impairment</a:t>
            </a:r>
            <a:endParaRPr lang="en-US" sz="3200" dirty="0"/>
          </a:p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 R&amp;D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640580"/>
            <a:ext cx="73152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E8EC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 of 5  ·  Deck 7 of 20  ·  Studio Tonton Gug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an intangible arrived decides how it is accounted for — purchased, internally developed, or acquired in a business combination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471416"/>
            <a:ext cx="8503920" cy="1920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¹ Cash flow trap: internally developing an intangible is an OPERATING outflow; buying the same intangible is an INVESTING outflow.
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§2, pp. 212–215.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Goodwill exists only in a business combination. It is the residual after every identifiable asset and liability has been fair-valued — never something you can buy on its own.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1188720"/>
            <a:ext cx="2743200" cy="3063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1188720"/>
            <a:ext cx="73152" cy="3063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45720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PURCHASED SEPARATELY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1508760"/>
            <a:ext cx="251460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patent, a licence, a domain name bought from a third party.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Recorded at fair value = purchase price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Buy a group? Allocate the price across them by relative fair value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Finite life: amortise, test on trigger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Indefinite life: no amortisation, annual test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0" y="1188720"/>
            <a:ext cx="2743200" cy="306324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5" name="Shape 13"/>
          <p:cNvSpPr/>
          <p:nvPr/>
        </p:nvSpPr>
        <p:spPr>
          <a:xfrm>
            <a:off x="3200400" y="1188720"/>
            <a:ext cx="73152" cy="306324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33756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INTERNALLY DEVELOPED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337560" y="1508760"/>
            <a:ext cx="251460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EXPENSED as incurred.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IFRS: research expensed; development capitalised once the criteria are met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US GAAP: R&amp;D expensed, except certain software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result is a structural asymmetry: build it and it never appears; buy it and it does.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80760" y="1188720"/>
            <a:ext cx="2743200" cy="30632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Shape 17"/>
          <p:cNvSpPr/>
          <p:nvPr/>
        </p:nvSpPr>
        <p:spPr>
          <a:xfrm>
            <a:off x="6080760" y="1188720"/>
            <a:ext cx="73152" cy="306324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217920" y="1234440"/>
            <a:ext cx="2514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ACQUIRED IN M&amp;A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508760"/>
            <a:ext cx="2514600" cy="2697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method: allocate the purchase price to each asset and liability at fair value.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Identifiable intangibles get their own lines — brands, patents, customer lists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The residual is GOODWILL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Not amortised; tested at least annually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Impairment writes an asset down when carrying amount exceeds recoverable amount — and IFRS and US GAAP can give opposite answers on the same machine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§3 Examples 2 and 3 (Sussex, Essex), pp. 217–219.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almost identical machines. On Sussex, US GAAP records nothing while IFRS records GBP 2,000. On Essex, US GAAP records double the IFRS loss.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IFRS loss  =  CA  −  MAX ( FV − costs to sell ,  value in use )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US GAAP, step 1: is CA above undiscounted cash flows? Only then, step 2: loss = CA − fair value. IFRS does it in one step.</a:t>
            </a:r>
            <a:endParaRPr lang="en-US" sz="110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2194560"/>
          <a:ext cx="850392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2377440"/>
                <a:gridCol w="2377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Same machine, two fact patterns (GBP)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Sussex — Example 2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Essex — Example 3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Carrying amount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Undiscounted expected future cash flows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 in use (PV of cash flows)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14,000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Fair value less costs to sell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17,000 − 2,000 = 15,000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10,000 − 2,000 = 8,000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IFRS: CA − MAX(FV−sell, VIU)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 2,000 → carry 16,000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 4,000 → carry 14,000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GAAP step 1: CA vs undisc. CF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 &lt; 19,000 → OK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18,000 &gt; 16,000 → fails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 GAAP step 2: loss = CA − FV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loss at 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Loss 8,000 → carry 10,000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Derecognition removes an asset from the balance sheet — gain or loss is simply proceeds minus carrying amount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§3 Example 4 (Moussilauke Diners), pp. 220–221.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indirect method the GAIN is removed from CFO and the FULL proceeds appear in CFI. Leave the gain in and you have counted the same cash twice.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658368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11480" y="1188720"/>
            <a:ext cx="83210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/ (loss) on sale  =  Sale proceeds  −  Carrying amount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20040" y="1874520"/>
            <a:ext cx="85039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where: Carrying amount = historical cost − accumulated depreciation − any prior impairment, or the revalued amount under the IFRS revaluation model.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331720"/>
            <a:ext cx="8503920" cy="196596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377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7 EXAMPLE 4 — MOUSSILAUKE DINERS SELLS 450 PIZZA OVENS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670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cost USD 5.1m. Accumulated depreciation USD 3.2m. Sale proceeds USD 3.1m. The chain is repositioning its menu towards healthier items.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182112"/>
            <a:ext cx="8229600" cy="60350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Carrying amount: 5.1 − 3.2 = USD 1.9m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 on sale: 3.1 − 1.9 = USD 1.2m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statement: 1.2m gain, usually inside other gains and losses.
</a:t>
            </a:r>
            <a:pPr indent="0" marL="0">
              <a:spcAft>
                <a:spcPts val="200"/>
              </a:spcAft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0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statement (indirect): subtract 1.2m from CFO, show the full 3.1m as a CFI inflow.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11480" y="385876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85876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1.2m in P&amp;L · +3.1m in investing · zero in operating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IFRS capitalises development costs once six criteria are met; US GAAP expenses all R&amp;D except certain software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§2 Example 1 (REH AG), pp. 214–215.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IFRS criteria: technical feasibility, intent to complete, ability to use or sell, probable future benefits, adequate resources, reliable measurement of the cost.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1188720"/>
            <a:ext cx="8503920" cy="2057400"/>
          </a:xfrm>
          <a:prstGeom prst="rect">
            <a:avLst/>
          </a:prstGeom>
          <a:solidFill>
            <a:srgbClr val="FEF0E7"/>
          </a:solidFill>
          <a:ln w="9525">
            <a:solidFill>
              <a:srgbClr val="E8600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23444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CFA LM 7 EXAMPLE 1 — REH AG SOFTWARE FOR INTERNAL USE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527048"/>
            <a:ext cx="82296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REH AG reports under IFRS and spends EUR 1,000 a month through the year ended 31 December 2019 developing software for internal use. Annual total EUR 12,000.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039112"/>
            <a:ext cx="8229600" cy="69494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  <a:spAutoFit/>
          </a:bodyPr>
          <a:lstStyle/>
          <a:p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met on 1 February: January's EUR 1,000 is expensed; EUR 11,000 is capitalised as an intangible asset.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Criteria met on 1 December: EUR 11,000 of January-to-November spend is expensed; only EUR 1,000 is capitalised.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US GAAP, with completion already probable in 2018: the full EUR 12,000 is capitalised as internal-use software.
</a:t>
            </a:r>
            <a:pPr indent="0" marL="0">
              <a:spcAft>
                <a:spcPts val="200"/>
              </a:spcAft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</a:t>
            </a:r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already expensed can never be reclassified to an asset later. The date the criteria are met is decisive.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2807208"/>
            <a:ext cx="8321040" cy="36576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57200" y="2807208"/>
            <a:ext cx="8229600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IFRS is date-sensitive; US GAAP software is probability-sensitive.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320040" y="3383280"/>
            <a:ext cx="8503920" cy="914400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6" name="Shape 14"/>
          <p:cNvSpPr/>
          <p:nvPr/>
        </p:nvSpPr>
        <p:spPr>
          <a:xfrm>
            <a:off x="320040" y="3383280"/>
            <a:ext cx="73152" cy="9144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42900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MAKES PEERS INCOMPARABLE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703320"/>
            <a:ext cx="8275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capitaliser reports higher profit, higher assets and higher CFO than an identical expenser — three ratios distorted at once, and the cash outflow moves from operating to investing. The standard fix is to expense ALL development spend across the peer group before ranking anything.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2179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621792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256032" y="0"/>
            <a:ext cx="8686800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Goodwill is the residual in an acquisition — not amortised, tested at least annually, and on a large deal it can be most of the price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E8ECF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74320" y="4892040"/>
            <a:ext cx="5943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750" dirty="0"/>
          </a:p>
        </p:txBody>
      </p:sp>
      <p:sp>
        <p:nvSpPr>
          <p:cNvPr id="7" name="Text 5"/>
          <p:cNvSpPr txBox="1"/>
          <p:nvPr/>
        </p:nvSpPr>
        <p:spPr>
          <a:xfrm>
            <a:off x="320040" y="4663440"/>
            <a:ext cx="850392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CFA Institute, Curriculum Vol 4, Learning Module 7, §2 Exhibit 1 (AB InBev / SABMiller) p. 216, and §4 Example 5 (Orange SA) pp. 225–226.</a:t>
            </a:r>
            <a:endParaRPr lang="en-US" sz="750" dirty="0"/>
          </a:p>
        </p:txBody>
      </p:sp>
      <p:sp>
        <p:nvSpPr>
          <p:cNvPr id="8" name="Text 6"/>
          <p:cNvSpPr txBox="1"/>
          <p:nvPr/>
        </p:nvSpPr>
        <p:spPr>
          <a:xfrm>
            <a:off x="320040" y="731520"/>
            <a:ext cx="850392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 InBev paid USD 103.1bn for SABMiller in 2016 and recognised USD 74.1bn of goodwill. Brands with indefinite life account for USD 19.9bn of the USD 20.0bn intangibles line.</a:t>
            </a:r>
            <a:endParaRPr lang="en-US" sz="130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188720"/>
          <a:ext cx="8503920" cy="914400"/>
        </p:xfrm>
        <a:graphic>
          <a:graphicData uri="http://schemas.openxmlformats.org/drawingml/2006/table">
            <a:tbl>
              <a:tblPr/>
              <a:tblGrid>
                <a:gridCol w="5303520"/>
                <a:gridCol w="1828800"/>
                <a:gridCol w="137160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AB InBev provisional purchase-price allocation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USD million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% of price</a:t>
                      </a:r>
                      <a:endParaRPr lang="en-US" sz="11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635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  <a:solidFill>
                      <a:srgbClr val="1B2A4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Property, plant &amp; equipment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9,060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Intangible assets (brands, licences, customer lists)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20,040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19.4%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Associates, inventories, receivables, cash, other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9,117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Assets held for sale (MillerCoors, Miller, CR Snow…)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24,805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24.1%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Less: total liabilities and non-controlling interests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(33,969)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(32.9)%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identifiable assets acquired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29,053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28.2%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Goodwill on acquisition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74,083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71.8%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3175" cap="flat" cmpd="sng" algn="ctr">
                      <a:solidFill>
                        <a:srgbClr val="D0D8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 purchase consideration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103,136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100.0%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A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CF0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20040" y="3749040"/>
            <a:ext cx="8503920" cy="841248"/>
          </a:xfrm>
          <a:prstGeom prst="rect">
            <a:avLst/>
          </a:prstGeom>
          <a:solidFill>
            <a:srgbClr val="FEF0E7"/>
          </a:solidFill>
          <a:ln/>
        </p:spPr>
      </p:sp>
      <p:sp>
        <p:nvSpPr>
          <p:cNvPr id="11" name="Shape 8"/>
          <p:cNvSpPr/>
          <p:nvPr/>
        </p:nvSpPr>
        <p:spPr>
          <a:xfrm>
            <a:off x="320040" y="3749040"/>
            <a:ext cx="73152" cy="841248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7200" y="3794760"/>
            <a:ext cx="8275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4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THE IMPAIRMENT SHOWS UP — AND WHAT DRIVES IT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4069080"/>
            <a:ext cx="827532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SA booked goodwill impairments of EUR 772m in 2016 and EUR 20m in 2017, and disclosed the assumptions behind them: post-tax discount rates from 5.5% in France to 8.8% in Romania, perpetuity growth 0.5% to 2.3%. Read those inputs before you trust any goodwill carrying amount.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914900"/>
            <a:ext cx="9144000" cy="228600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457200" y="228600"/>
            <a:ext cx="82296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1100" b="1" spc="800" kern="0" dirty="0">
                <a:solidFill>
                  <a:srgbClr val="E8600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640080"/>
            <a:ext cx="8229600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Deck 7 — FSA II: Cash Flow, Inventories &amp; Long-Lived Assets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57200" y="126187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7" name="Shape 5"/>
          <p:cNvSpPr/>
          <p:nvPr/>
        </p:nvSpPr>
        <p:spPr>
          <a:xfrm>
            <a:off x="621792" y="138988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33502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is identical under direct and indirect. Indirect→direct is three steps: aggregate, strip non-cash, adjust ΔWC. Acme 2018 = USD 2,606 both ways.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40580" y="126187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0" name="Shape 8"/>
          <p:cNvSpPr/>
          <p:nvPr/>
        </p:nvSpPr>
        <p:spPr>
          <a:xfrm>
            <a:off x="4805172" y="138988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006340" y="133502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rule: operating ASSET up = cash down; operating LIABILITY up = cash up. Investing and financing are always gross.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57200" y="208483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3" name="Shape 11"/>
          <p:cNvSpPr/>
          <p:nvPr/>
        </p:nvSpPr>
        <p:spPr>
          <a:xfrm>
            <a:off x="621792" y="221284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215798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FCFF = CFO + Int(1−t) − FCInv. FCFE = CFO − FCInv + net borrowing. Acme: 2,238 and 1,568 — a 670 gap, all interest and repayment.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40580" y="208483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6" name="Shape 14"/>
          <p:cNvSpPr/>
          <p:nvPr/>
        </p:nvSpPr>
        <p:spPr>
          <a:xfrm>
            <a:off x="4805172" y="221284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006340" y="215798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flow ratios: five performance (revenue, assets, equity, income, per share) and six coverage (debt, interest, reinvestment, debt payment, dividend, all outflows).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57200" y="290779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621792" y="303580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22960" y="298094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prices: LIFO gives higher COGS, lower income, lower tax, frozen inventory. Inv(FIFO) = Inv(LIFO) + reserve; COGS(FIFO) = COGS(LIFO) − Δ reserve.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640580" y="290779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4805172" y="303580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5006340" y="298094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LCNRV: write-downs hit COGS and make activity ratios look BETTER. IFRS reverses up to original cost; US GAAP never does. Hatsumei: 5.2 vs 4.7.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373075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5" name="Shape 23"/>
          <p:cNvSpPr/>
          <p:nvPr/>
        </p:nvSpPr>
        <p:spPr>
          <a:xfrm>
            <a:off x="621792" y="385876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822960" y="380390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Capitalising raises year-1 income, assets, ROA and CFO, and lowers asset turnover. Over the full life cumulative income is identical.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640580" y="3730752"/>
            <a:ext cx="4046220" cy="749808"/>
          </a:xfrm>
          <a:prstGeom prst="rect">
            <a:avLst/>
          </a:prstGeom>
          <a:solidFill>
            <a:srgbClr val="253A5E"/>
          </a:solidFill>
          <a:ln/>
        </p:spPr>
      </p:sp>
      <p:sp>
        <p:nvSpPr>
          <p:cNvPr id="28" name="Shape 26"/>
          <p:cNvSpPr/>
          <p:nvPr/>
        </p:nvSpPr>
        <p:spPr>
          <a:xfrm>
            <a:off x="4805172" y="3858768"/>
            <a:ext cx="128016" cy="128016"/>
          </a:xfrm>
          <a:prstGeom prst="rect">
            <a:avLst/>
          </a:prstGeom>
          <a:solidFill>
            <a:srgbClr val="E8600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006340" y="3803904"/>
            <a:ext cx="3589020" cy="6035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Impairment: IFRS = CA − MAX(FV−sell, VIU), one step. US GAAP screens on undiscounted cash flows, then measures to fair value. Essex: 4,000 vs 8,000.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4617720"/>
            <a:ext cx="822960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  <a:sp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6B7A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STUDIO TONTON GUG  ·  Finance Fundamentals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Studio Tonton Gug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FF v2 · Deck 7 · FSA II: Cash Flow, Inventories &amp; Long-Lived Assets</dc:title>
  <dc:subject>PptxGenJS Presentation</dc:subject>
  <dc:creator>Studio Tonton Gug</dc:creator>
  <cp:lastModifiedBy>Studio Tonton Gug</cp:lastModifiedBy>
  <cp:revision>1</cp:revision>
  <dcterms:created xsi:type="dcterms:W3CDTF">2026-09-02T08:30:25Z</dcterms:created>
  <dcterms:modified xsi:type="dcterms:W3CDTF">2026-09-02T08:30:25Z</dcterms:modified>
</cp:coreProperties>
</file>