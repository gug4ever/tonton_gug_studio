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  —  AFTERNOON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Statement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II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flows, ratios, DuPont &amp; quality of earnings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Statement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CFO, CFI and CFF. Distinguish direct vs indirect method. Calculate and interpret free cash 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Liquidity &amp; Solvency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current ratio, quick ratio, interest coverage and Net Debt/EBITDA to assess financial health.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Profitability Ratios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ROE, ROA, gross/EBIT/net margin and asset turnover. Interpret relative to peers.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DuPont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ROE into margin × turnover × leverage. Identify what is driving returns.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 ≠ Cash — Why the CF Statement Exists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can be highly profitable yet run out of cash. The cash flow statement reveals the truth behind accrual-based earnings.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1353312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Profitable but Cash-Strapped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records £2m revenue in Q3. Only £800k collected in cash (rest in receivables).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purchased: £600k but only £200k used (rest in inventory, paid immediately).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= £2m − £200k COGS recognised = £1.8m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= +£800k collected − £600k paid for materials = +£200k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 Income overstates cash generation by £1,600,000. This is what the CF statement adjusts for.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from Operations (CFO)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cash generation. Must be positive and growing. Single most important line for credit and equity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from Investing (CFI)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negative (capex, acquisitions). Large negative CFI = growth investment. Check for asset disposals masking cash issues.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17136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17136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from Financing (CFF)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497433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Debt/equity issuance and repayment, dividends, buybacks. Tells you how the company funds itself.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7448" y="4517136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4517136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 = CFO − Capex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28616" y="497433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available after maintaining/growing assets. The true 'owner earnings.' Hard to manipulate — preferred by value investors.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 Method — Reconciling Net Income to Cash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indirect method (most common in practice) starts with Net Income and adjusts for non-cash items and working capital changes.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344168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441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£85,000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2984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from P&amp;L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773936"/>
            <a:ext cx="8503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73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Depreciation &amp; Amortisation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819656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196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+£22,000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7739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 charge — add 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494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Stock-based compensation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295144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295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+£8,000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2494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 expense — add 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8503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249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Increase in Receivables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2770632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7706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(£15,000)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27249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not yet collected — subtract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004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Increase in Payables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246120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246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+£12,000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2004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not yet paid — add 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3675888"/>
            <a:ext cx="850392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75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Increase in Inventory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3721608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7216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(£18,000)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36758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spent on stock — subtract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151376"/>
            <a:ext cx="850392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151376"/>
            <a:ext cx="91440" cy="40233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513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Cash from Operations (CFO)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72000" y="4197096"/>
            <a:ext cx="1188720" cy="310896"/>
          </a:xfrm>
          <a:prstGeom prst="rect">
            <a:avLst/>
          </a:prstGeom>
          <a:solidFill>
            <a:srgbClr val="1A6B3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1970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£94,000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0" y="415137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Higher than NI: strong quality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Ratios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Liquidity Ratios — Short-Term Survival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company meet its obligations in the next 12 months? Liquidity ratios answer this question.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64592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Current Ratio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Current Assets / Current Liabilities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Rule of thumb &gt; 1.5x (&lt; 1 = danger)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Includes inventory — less liquid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£240k / £140k = 1.71x — adequate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Quick Ratio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(CA − Inventory) / CL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Stricter — excludes inventory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Better for manufacturing firms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(240−80) / 140 = 1.14x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Cash Ratio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Cash &amp; Equivalents / CL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Most conservative — pure cash cover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Used in stress scenarios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£50k / £140k = 0.36x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Cash Conversion Cycle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DIO + DSO − DPO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Days inventory + receivables − payables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Shorter = better cash efficiency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30+45−35 = 40 days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950208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DIO, DSO, DPO Formulas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(Days Inventory Outstanding) = Inventory / (COGS/365)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(Days Sales Outstanding) = Receivables / (Revenue/365)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(Days Payable Outstanding) = Payables / (COGS/365)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Solvency &amp; Leverage Ratios — Long-Term Health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company sustain its debt burden over the long run? These ratios are central to credit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Debt / EBITDA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(Gross Debt − Cash) / EBITDA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leverage metric.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2x: conservative  |  2-4x: moderate  |  &gt; 5x: high risk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agencies use this as primary threshold for investment grade.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 Coverage (ICR)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/ Interest Expense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ability to service debt from operating profit.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 &lt; 1.5x = warning zone  |  ICR &lt; 1.0x = cannot cover interest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Convenant trigger levels are often set around 2x.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Debt-to-Equity (D/E)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 / Total Equity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financial leverage and capital structure.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D/E → more risk but potentially higher ROE.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hugely by sector: banks ~10x, utilities ~1x, tech ~0.2x.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Debt-to-Assets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 / Total Assets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assets funded by debt.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generally considered highly leveraged.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cross-sector comparison where equity varies widely.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Leverage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956048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EBIT=£50m, Interest=£12m, Gross Debt=£180m, Cash=£20m, EBITDA=£65m, Equity=£100m.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Debt/EBITDA = (180−20)/65 = 2.46x  |  ICR = 50/12 = 4.2x  |  D/E = 180/100 = 1.8x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Moderate leverage. ICR comfortable. Net debt manageable at 2.5x. Investment grade territory.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DuPont Analysis — Decomposing Return on Equity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ROE  =  Net Profit Margin  ×  Asset Turnover  ×  Equity Multiplier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27632"/>
            <a:ext cx="2816352" cy="3657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Profit Margin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084832"/>
            <a:ext cx="24688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Income /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of sales. Low margin can still be great ROE if turnover is high.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584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Are margins strong?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64408" y="1627632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627632"/>
            <a:ext cx="2816352" cy="3657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Turnover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084832"/>
            <a:ext cx="24688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/ Total Assets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Efficiency. Asset-light businesses (tech) score high. Capital-intensive (utilities) score low.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01568" y="3584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 the asset base productive?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08776" y="1627632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627632"/>
            <a:ext cx="2816352" cy="3657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Multiplier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91656" y="2084832"/>
            <a:ext cx="24688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656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Assets / Equity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45936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boosts ROE but increases risk. Leverage of 2x doubles returns AND losses.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45936" y="358444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How levered?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736592"/>
            <a:ext cx="8503920" cy="4114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120640"/>
            <a:ext cx="8229600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A: ROE=20% = 5% NPM × 2.0x ATO × 2.0x EM. Luxury Brand B: ROE=20% = 25% NPM × 0.8x ATO × 1.0x 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ROE — completely different business models. DuPont reveals the source.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of Earnings — Can You Trust the Numbers?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earnings: sustainable, backed by cash, conservatively recognised. Low quality: inflated, one-off, or cash-deficient.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CFO / Net Income ratio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&gt; 1 is healthy — cash exceeds reported income. Ratio persistently &lt; 1 is a red flag.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371600"/>
            <a:ext cx="3200400" cy="585216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37160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manipulating accruals often show NI &gt; CFO.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39696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Accruals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237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 Income − CFO) / Total Assets. Low or negative accruals = conservative accounting.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2212848"/>
            <a:ext cx="3200400" cy="585216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21284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accruals with stable/falling cash = earnings quality deterioration.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recognition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growing in line with cash collected (receivables stable).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3054096"/>
            <a:ext cx="3200400" cy="585216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05409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rising much faster than revenue = concern.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77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Non-recurring items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items (asset sales, restructuring gains) should be stripped from 'underlying' earnings.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3895344"/>
            <a:ext cx="3200400" cy="585216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89534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of 'recurring restructuring charges' — 5th year in a row is not a one-off.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before turning the page.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0789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Income=£45k, D&amp;A=£12k, Receivables up £8k, Inventory down £5k, Payables up £6k. Calculate CFO using indirect method.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Debt=£200m, Cash=£30m, EBITDA=£55m, EBIT=£40m, Interest=£10m. Calculate Net Debt/EBITDA and ICR. Comment on credit quality.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= 24%. Asset Turnover = 1.5x, Equity Multiplier = 2.0x. What is the Net Profit Margin? What drives ROE here?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32841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A: Revenue £100m, CF from Operations £85m. Company B: Revenue £100m, CF from Operations £40m. Both report £70m net income. Which has higher earnings quality?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407822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= 45 days, DSO = 35 days, DPO = 25 days. Calculate Cash Conversion Cycle. If DPO improves to 40 days, what is the new CCC?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Answers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PM  •  Session 6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= 45+12−8+5+6 = £60,000. (CFO &gt; NI by £15k — D&amp;A add-back plus working capital improvements)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= 200−30 = £170m. Net Debt/EBITDA = 170/55 = 3.1x. ICR = 40/10 = 4.0x. Assessment: moderate leverage (3.1x is acceptable for most sectors), good ICR comfort (4x well above 1.5x threshold). Likely investment grade.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= NPM × ATO × EM → 24% = NPM × 1.5 × 2.0 = NPM × 3.0. NPM = 24%/3.0 = 8%. Driven equally by turnover and leverage; margin is modest — typical of a retailer with asset-light model.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9125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A: CFO/NI = 85/70 = 121% — excellent. Company B: CFO/NI = 40/70 = 57% — poor. Company A has much higher earnings quality. Company B may be front-loading revenue or deferring cash costs.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= 45+35−25 = 55 days. With DPO=40: CCC = 45+35−40 = 40 days. Improvement of 15 days. Less cash tied up in working capital — frees up liquidity.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6 — Financial Statements II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≠ Cash. The CF statement shows what actually happened to cash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= CFO − Capex: the cash available to all investors. Hard to manipulate.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&gt; 1.5x; Quick ratio &gt; 1.0x — liquidity safety thresholds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Debt/EBITDA: 2-3x typical; &gt;5x distress zone for most sectors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DuPont: ROE = Margin × Turnover × Leverage — find the driver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CFO/NI &gt; 1 = high earnings quality. &lt; 1 persistently = red flag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2026-04-06T18:21:04Z</dcterms:created>
  <dcterms:modified xsi:type="dcterms:W3CDTF">2026-04-06T18:21:04Z</dcterms:modified>
</cp:coreProperties>
</file>