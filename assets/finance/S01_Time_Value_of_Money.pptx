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  —  MORNING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Value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Money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fundamental concept in all of finance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Roadmap — 2 Hours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sections, building from first principles to real-world CFA examples. Every concept connects forward.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07008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07008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252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Interest Rate?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15087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interpretations • decomposing r • CFA LM1 bond yield build-up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28800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28800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Measurement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1305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period • geometric mean • harmonic mean • money-weighted vs time-weighted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50592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450592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50592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496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Value &amp; Compounding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275234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formula • compounding frequency • EAR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072384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072384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72384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118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 Value &amp; Discounting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337413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formula • timelines • CFA India bond • CFA Greece bond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94176"/>
            <a:ext cx="85039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94176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94176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3739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&amp; IRR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399592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evaluation • decision rules • conflict resolution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315968"/>
            <a:ext cx="8503920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315968"/>
            <a:ext cx="594360" cy="5394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315968"/>
            <a:ext cx="594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" y="4361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Annuities, Perpetuities &amp; DDM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4128" y="461772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• KB Financial perpetual • Shipline two-stage DDM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38988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 an interest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5179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 as required return, discount rate and opportunity cost. Decompose r into its five risk components.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184708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02996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return measures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15798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arithmetic, geometric and harmonic means. Distinguish money-weighted from time-weighted return.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67004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532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FV and PV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279806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compounding and discounting formulas. Handle multiple compounding frequencies. Compute EAR.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31012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172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bonds using TVM (CFA LM2)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43814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discount bonds, coupon bonds, semiannual bonds and perpetual bonds using real CFA worked examples.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76732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395020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813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NPV and IRR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407822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projects. Know when NPV and IRR conflict and which to trust. Understand IRR limitations.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4590288"/>
            <a:ext cx="182880" cy="18288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453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annuities, perpetuities &amp; DDM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" y="47183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shortcut formulas for mortgages, KB Financial perpetual bond and Shipline two-stage dividend model.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Interest Rate?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Ways to Read an Interest Rate (CFA LM1)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USD 9,500 today and USD 10,000 in one year are equivalent, the interest rate is 5.26%. CFA LM1 uses this to define three interpretations.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9844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 =  (10,000 − 9,500) / 9,500  =  USD 500 / USD 9,500  =  5.26%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21408"/>
            <a:ext cx="91440" cy="768096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85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Required Rate of Return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237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return an investor will accept. Below 5.26%, the investor prefers to hold USD 9,500 today rather than commit it for a year.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850392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17520"/>
            <a:ext cx="91440" cy="768096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81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Discount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41985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used to translate a future value back to a present value. USD 10,000 discounted at 5.26% equals USD 9,500 today.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913632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13632"/>
            <a:ext cx="91440" cy="768096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Opportunity Cost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159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foregone by choosing to invest. Spending USD 9,500 now means giving up the 5.26% return that could have been earned.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Decomposing an Interest Rate (CFA LM1)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 =  Real Risk-Free  +  Inflation  +  Default Risk  +  Liquidity  +  Maturity Premium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5577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Risk-Free Rate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0" y="1664208"/>
            <a:ext cx="868680" cy="3749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66420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0.5–1%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572768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 completely risk-free asset with zero inflation. Reflects investor time preference for consumption today over tomorrow.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850392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12848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Inflation Premium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0" y="2304288"/>
            <a:ext cx="868680" cy="3749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30428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2212848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Compensates for expected loss of purchasing power. Fisher approximation: Nominal rate = Real rate + Expected inflation.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852928"/>
            <a:ext cx="8503920" cy="5577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52928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Risk Premium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0" y="2944368"/>
            <a:ext cx="868680" cy="3749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94436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0–5%+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2852928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for potential non-payment. Corporate bonds yield more than government bonds because of this premium.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850392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93008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Liquidity Premium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0" y="3584448"/>
            <a:ext cx="868680" cy="3749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58444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0.5–1.5%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3493008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for assets that are hard to sell quickly at fair value. Small-issuer bonds carry higher illiquidity premiums.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4133088"/>
            <a:ext cx="8503920" cy="5577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33088"/>
            <a:ext cx="2103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Maturity Premium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0" y="4224528"/>
            <a:ext cx="868680" cy="3749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4224528"/>
            <a:ext cx="868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0.5–2%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49040" y="4133088"/>
            <a:ext cx="4937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bonds are more sensitive to rate changes. Investors demand extra return for locking up capital for longer periods.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Corporate Bond Yield — Step by Step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5-year BBB-rated UK corporate bond. Each component adds a specific risk premium to compensate the investor.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64592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Premium Added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Cumulative Yield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Real risk-free rate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0.75%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0.75%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Time preference, no risk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+ Inflation premium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2.75%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CPI expected 2% p.a.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+ Default risk premium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1.80%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4.55%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BBB-rated issuer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+ Liquidity premium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0.50%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5.05%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Medium-size issuer, infrequent trading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+ Maturity premium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0.45%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5.50%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5-year vs 1-year tenor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822192"/>
            <a:ext cx="8503920" cy="96012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8953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206240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yield = 5.50%. If the bond coupon = 5.50%, it prices at PAR (100).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above 5.50% → premium bond (price &gt; 100). Coupon below 5.50% → discount bond (price &lt; 100).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premium decomposition is the foundation of all credit and fixed income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Measurement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(CFA LM1)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Holding Period Return &amp; Arithmetic Mean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HPR  =  (End Price − Begin Price + Income) / Begin Price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HPR is the single-period total return. For multiple periods, the arithmetic mean averages them but does NOT give the compound growth rate.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8503920" cy="15087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TRAP: Arithmetic Mean Overstates Multi-Period 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8229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A: Year 1 = +50%, Year 2 = −50%.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mean = (+50 − 50)/2 = 0% — sounds like break-even.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USD 1,000 × 1.50 × 0.50 = USD 750. You LOST 25%.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geometric mean correctly shows: [(1.50)(0.50)]^0.5 − 1 = −13.4% per year.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Use arithmetic mean for expected FORWARD-looking returns. Use geometric mean for HISTORICAL multi-period compound growth.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 mean ≥ Geometric mean always. The gap grows with return volatility.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Geometric Mean — CFA LM1: Fund Y Practice 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Rᵍ  =  [(1+R₁)(1+R₂)…(1+Rₙ)]^(1/n)  −  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166420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 Y — directly from CFA Vol 1, LM1 Practice Problem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annual returns: Year 1 = 19.5%, Year 2 = −1.9%, Year 3 = 19.7%, Year 4 = 35.0%, Year 5 = 5.7%.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Convert to (1 + R) factors: 1.195 × 0.981 × 1.197 × 1.350 × 1.057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Product = 1.195 × 0.981 × 1.197 × 1.350 × 1.057 = 1.9841 (approx)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Take the 5th root: 1.9841^(1/5) = 1.1487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Subtract 1: 1.1487 − 1 = 14.87% ≈ 14.9%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answer: Geometric mean = 14.9%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410712"/>
            <a:ext cx="418795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410712"/>
            <a:ext cx="91440" cy="138988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502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14.9% means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38679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1,000 invested at the start grows to USD 1,000 × 1.149^5 = USD 1,984 — identical to the actual portfolio.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27448" y="3410712"/>
            <a:ext cx="418795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3410712"/>
            <a:ext cx="91440" cy="138988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3502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 mean here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28616" y="38679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(19.5 − 1.9 + 19.7 + 35.0 + 5.7)/5 = 15.6%. It overstates by 0.7 pp due to volatility drag.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Harmonic Mean — CFA LM1: Dollar-Cost Averaging Example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Xᴴ  =  n  /  Σ(1/Xᵢ)     Use when averaging prices or ratios (P/E) applied to a fixed currency amount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199339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LM1 PRACTICE PROBLEM 4 — directly from CFA Vol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8229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manager invests EUR 5,000 each year for 4 years at the following prices: Year 1 = EUR 62, Year 2 = EUR 76, Year 3 = EUR 84, Year 4 = EUR 90.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What is the average price paid per share?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= 4 / [(1/62) + (1/76) + (1/84) + (1/90)]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 / [0.01613 + 0.01316 + 0.01190 + 0.01111]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 / 0.05230 = EUR 76.48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mean would give: (62+76+84+90)/4 = EUR 78.00 — this OVERSTATES the average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is lower because more shares are bought when prices are low.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7588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Rule: Harmonic mean for prices applied to a fixed investment amount. Arithmetic mean for equal share quantities.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4114800"/>
            <a:ext cx="8503920" cy="50292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relationship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98848"/>
            <a:ext cx="82296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mean ≥ Geometric mean ≥ Harmonic mean (they are equal only if all values identical)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Money-Weighted vs Time-Weighted Return (CFA LM1)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 can show different returns depending on WHICH measure you use. CFA requires you to know both and when each is appropriate.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Money-Weighted Return (MWR)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Time-Weighted Return (TWR)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Formula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IRR of all cash flows in and out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Geometric mean of sub-period returns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Accounts for timing?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YES — larger investments at bad times hurt MWR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 — eliminates timing effect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Cash flow sensitivity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Sensitive — big inflow before crash lowers MWR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Not sensitive to investor cash flows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Best for measuring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Investor performance (fund client)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Manager skill (portfolio manager)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CFA preference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Investor perspective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PREFERRED by CFA for evaluating managers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When MWR &lt; TWR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Large investment made just BEFORE a bad period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When MWR &gt; TWR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Large investment made just BEFORE a good period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Rule: Time-weighted return is the PREFERRED measure for evaluating investment managers because it removes the effect of client cash flows, which are outside the manager's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Value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Compounding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Value — The Power of Compounding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FV  =  PV × (1 + r)ⁿ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period you earn interest on the ORIGINAL principal AND on all previously earned interest. Growth is non-linear.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57400"/>
          <a:ext cx="8503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FV at r=5% (£1,000)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FV at r=10% (£1,000)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FV at r=15% (£1,000)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£1,050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£1,150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£1,158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£1,331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£1,521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£1,276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£1,611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£2,011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£1,629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£2,594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£4,046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£2,653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£6,727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£16,367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£4,322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£17,449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£66,212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72 Rule: divide 72 by the interest rate to get approximate doubling time. At 6%: 72/6 = 12 years.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Future Value Step by Step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invest £2,500 today in a savings account paying 4% per year. How much will you have after 6 years?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61872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inputs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1645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£2,500  |  r = 4% = 0.04  |  n = 6 years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048256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048256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48256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24128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formula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4323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= PV × (1 + r)ⁿ  =  2,500 × (1.04)⁶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34640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3464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24128" y="2889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(1.04)⁶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2186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 × 1.04 × 1.04 × 1.04 × 1.04 × 1.04  =  1.2653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621024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621024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21024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24128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0050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= 2,500 × 1.2653  =  £3,163.22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462272"/>
            <a:ext cx="8503920" cy="65836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354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£663 extra?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interest would have earned: 2,500 × 0.04 × 6 = £600 exactly.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interest earned: £663.22.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£63.22 is INTEREST ON INTEREST — the compounding effect.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Compounding Frequency — Same Rate, Different Results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£1,000 and a NOMINAL rate of 12% p.a.: more frequent compounding → higher effective return.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FV  =  PV × (1 + r/m)^(m×n)     where m = compounding periods per year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93392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219456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Compounding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Periods/yr (m)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Effective Annual Rate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FV after 1 year (£1,000)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Annual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12.000%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£1,120.00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Semi-annual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12.360%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£1,123.60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Quarterly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12.551%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£1,125.51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Monthly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12.683%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£1,126.83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Daily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365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12.747%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£1,127.47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Continuous (∞)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e^0.12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12.750%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£1,127.50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4160520"/>
            <a:ext cx="8503920" cy="8229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233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compounding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544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= PV × e^(r×n). The limit as m→∞. Used in options pricing and some academic finance.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FV = 1,000 × e^0.12 = 1,000 × 1.12750 = £1,127.50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Effective Annual Rate (EAR) — The True Rate to Compare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  =  (1 + r/m)ᵐ  −  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converts ANY nominal rate to its equivalent ANNUAL effective rate, making products with different compounding frequencies directly comparable.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8503920" cy="166420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Which savings account is better?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A: nominal rate 12% p.a., compounded MONTHLY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B: nominal rate 12.3% p.a., compounded ANNUALLY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 EAR = (1 + 0.12/12)^12 − 1 = (1.01)^12 − 1 = 12.683%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 EAR = 12.300% (compounded once a year, so nominal = effective)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Account A — despite the LOWER nominal rate, monthly compounding gives 12.683% vs 12.300%.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compare using EAR, not the nominal stated rate.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5876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858768"/>
            <a:ext cx="91440" cy="10972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950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cards / mortgages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3159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quote monthly rates. A monthly rate of 1.5% = EAR of (1.015)^12 − 1 = 19.56% annually. Much higher than it appears.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385876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3858768"/>
            <a:ext cx="91440" cy="10972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3950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 from continuous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43159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= e^r − 1. At r = 12%: EAR = e^0.12 − 1 = 12.750%. The highest possible EAR for a given nominal rate.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 Value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Discounting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 Value — Discounting Future Cash Flows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  =  FV / (1 + r)ⁿ  =  FV × (1 + r)^(−n)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is the REVERSE of compounding. It answers: what is a future payment worth in today’s money? Higher r or longer n → lower PV.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Receive £10,000 in...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At r = 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At r = 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At r = 15%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 year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£9,524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£9,091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£8,696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 years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£8,638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£7,513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£6,575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5 years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£7,835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£6,209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£4,972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10 years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£6,139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£3,855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£2,472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20 years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£3,769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£1,486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£10,000 is worth VERY different amounts today depending on timing and risk. This is the entire logic of valuation.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Present Value Choice 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offered two options. Your required return is 9% p.a. Which do you prefer?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88720"/>
            <a:ext cx="4114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£8,000 TODAY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£8,000 (already in today’s money)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88720"/>
            <a:ext cx="4114800" cy="38404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664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£12,500 in 5 years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calculate PV first...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788920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8892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24128" y="2843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(1.09)⁵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1729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(1.09)^5 = 1.5386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575304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575304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75304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24128" y="3630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39593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12,500 / 1.5386 = £8,124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348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OPTION B: PV = £8,124 &gt; £8,000. Worth more in today’s money at your 9% required return.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Flow Timelines — A Critical Tool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draw a timeline before calculating. It prevents sign errors and missed cash flows. The golden rule: negatives are outflows, positives are inflows.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157276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EXAMPLE: Invest £5,000 today, receive £2,000/year for 5 years. Is this worthwhile at r = 10%?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t=0: √£5,000 (invest)    t=1: +£2,000    t=2: +£2,000    t=3: +£2,000    t=4: +£2,000    t=5: +£2,000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each inflow: 2,000/1.10 + 2,000/1.21 + 2,000/1.331 + 2,000/1.464 + 2,000/1.611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1,818 + 1,653 + 1,503 + 1,366 + 1,242 = £7,582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7,582 − 5,000 = +£2,582 → ACCEPT (NPV &gt; 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9992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rules: (1) Label t=0, t=1, t=2, etc. (2) Cash OUT is negative, cash IN is positive. (3) PV each cash flow at its specific discount factor. (4) Sum all PVs.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566160"/>
          <a:ext cx="8503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5603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Cash Flow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Discount Factor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√£5,000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√£5,000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+£2,000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1/1.10 = 0.909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£1,818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2–5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+£2,000 each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1/(1.10)^t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Σ = £7,582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NPV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= £7,582 − £5,000 = +£2,582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PV of Uneven Cash Flows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produces different cash flows each year. Discount each separately at its specific factor, then sum.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30175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Cash Flow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Discount Factor (8%)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Present Value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1/1.08 = 0.9259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£925.93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£2,500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1/(1.08)² = 0.8573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£2,143.35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£3,200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1/(1.08)³ = 0.7938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£2,540.12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£1,800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1/(1.08)⁴ = 0.7350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£1,323.06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TOTAL PV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£6,932.46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299923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initial investment is LESS than £6,932 → positive NPV → ACCEPT.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initial investment is MORE than £6,932 → negative NPV → REJECT.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3566160"/>
            <a:ext cx="8503920" cy="109728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technique: multiply each cash flow by its own discount factor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9502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factor = 1/(1+r)^1. Year 2 = 1/(1+r)^2. And so 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apply a single factor to all cash flows unless they are equal (annuity) — that is the annuity formula shortcut covered in Section 06.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LM2 Example 1 — Republic of India Discount Bond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1 LM2. Discount bonds (zero-coupon) pay NO coupons: all return comes from buying below par.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  =  FV / (1 + r)^t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248716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REPUBLIC OF INDIA GOVERNMENT BOND — CFA LM2, Example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principal cash flow payable in 20 years. YTM = 6.70%. Annual compounding. FV = INR 100.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1: Price at issuance?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100 / (1.067)^20 = 100 / 3.6585 = INR 27.33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2: Price 3 years later (17 years remaining, r unchanged)?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100 / (1.067)^17 = 100 / 3.0069 = INR 33.21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INR 5.88 price rise = implied interest earned over 3 years.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3: Bond price drops to INR 22.68. What is the implied YTM?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(100/22.68)^(1/20) − 1 = 7.70% (a 100bps rise reduced the price from 27.33 to 22.68)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LM2 Example 2 — Hellenic Republic of Greece Coupon Bond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coupon bond pays BOTH periodic coupons and final principal. Price = sum of all discounted cash flows. Directly from CFA Vol 1 LM2.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257860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HELLENIC REPUBLIC OF GREECE — Annual Coupon Bond (CFA LM2, Example 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during COVID: 2% annual coupon, 7-year maturity. At issuance YTM = 2.00%.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1: Issuance price?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2/1.02 + 2/1.02^2 + 2/1.02^3 + 2/1.02^4 + 2/1.02^5 + 2/1.02^6 + 102/1.02^7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1.96 + 1.92 + 1.88 + 1.85 + 1.81 + 1.78 + 88.80 = EUR 100.00 (at PAR, because coupon = YTM)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2: One year later, Eurozone inflation spiked. Bond trades at EUR 93.091. What is the implied YTM?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93.091 = 2/(1+r) + 2/(1+r)^2 + 2/(1+r)^3 + 2/(1+r)^4 + 102/(1+r)^5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using RATE function: r = 3.532%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Rising inflation → higher required yields → bond prices FALL. The investor suffers a capital loss.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2793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Price–Yield Rule: price and yield ALWAYS move in OPPOSITE directions.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LM2 Example 3 — Republic of India Semiannual Coupon Bond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bonds pay SEMIANNUAL coupons. Adjust: r/2 per period and n x 2 periods. Directly from CFA Vol 1 LM2.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263347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REPUBLIC OF INDIA SEMIANNUAL COUPON BOND — CFA LM2, Example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82296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20-year bond. Coupon rate = 6.70% p.a. semiannual. Par = INR 100.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PMT = 3.35 per period (= 6.70/2). Periodic rate = 3.35% (= 6.70%/2). N = 40 periods.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issuance (YTM = 6.70%):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3.35/1.0335 + 3.35/1.0335^2 + ... + 103.35/1.0335^40 = INR 100.00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= YTM → bond prices at PAR.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YTM rises immediately to 7.70% (r per period = 3.85%, n = 40):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3.35/1.0385 + 3.35/1.0385^2 + ... + 103.35/1.0385^40 = INR 89.88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Excel: =PV(0.0385, 40, 3.35, 100, 0) = −89.88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100bps rise in yield → bond price falls 10.12% from par. This is INTEREST RATE RISK.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33425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Semiannual rule: always divide annual YTM by 2 AND double the number of periods.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&amp; IRR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Present Value — The Gold Standard of Investment Appraisal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 =  Σ CFₜ / (1+r)ᵗ  −  Initial Investment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directly measures how much value a project creates in TODAY’S money. It is the theoretically correct criterion.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850392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57400"/>
            <a:ext cx="91440" cy="7498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574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&gt; 0   →   ACCEPT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earns MORE than the required rate. It creates value — increases firm and shareholder wealth.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850392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26080"/>
            <a:ext cx="91440" cy="74980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260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= 0   →   INDIFFERENT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292608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exactly meets the required return. Shareholders are no better or worse off.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94760"/>
            <a:ext cx="850392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94760"/>
            <a:ext cx="91440" cy="7498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&lt; 0   →   REJECT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79476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earns LESS than required. It destroys value. Capital is better deployed elsewhere.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Full NPV Calculation (Factory Upgrade)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 upgrade costs £50,000 today and generates cash inflows over 5 years. Cost of capital = 10%. Should you invest?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25603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Cash Flow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Discount Factor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t=0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√£50,000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√£50,000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Year 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+£12,000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1/1.10 = 0.9091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£10,909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Year 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+£15,000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1/1.21 = 0.8264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£12,397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Year 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+£18,000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1/1.331 = 0.7513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£13,524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Year 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+£16,000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1/1.464 = 0.6830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£10,928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Year 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+£14,000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1/1.611 = 0.6209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£8,693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SUM of PVs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£56,451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NPV = 56,451 − 50,000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= +£6,451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187952"/>
            <a:ext cx="8503920" cy="65836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1879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 — NPV = +£6,451. The factory earns more than 10% on the £50,000 invested. It creates £6,451 of value in today’s money.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Rate of Return (IRR)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  =  the discount rate r that makes NPV = 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same factory upgrade (same cash flows). We try different rates until NPV reaches zero.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Discount Rate Tested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NPV Result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+£14,716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Way above zero — IRR is much higher than 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+£6,451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Positive — IRR still above 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+£1,832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Positive but approaching zero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+£398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Almost zero — very close to IRR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14.5%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√£213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Crossed zero — IRR is between 14% and 14.5%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√£821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√£5,824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Strongly negative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658368"/>
            <a:ext cx="8503920" cy="9144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 ≈ 14.2%. Decision rule: IRR &gt; hurdle rate (10%) → ACCEPT. In Excel: =IRR(−50000,12000,15000,18000,16000,14000) = 14.2%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1042416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 — Strengths and Four Key Limitations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is intuitive (‘our return is 14%’) but has four important limitations that CFA emphasises.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98448"/>
            <a:ext cx="91440" cy="768096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62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Reinvestment assumption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assumes interim cash flows are reinvested at the IRR rate. If IRR = 25%, it assumes you can reinvest at 25% — usually unrealistic. NPV assumes reinvestment at r (the cost of capital), which is more realistic.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850392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85416"/>
            <a:ext cx="91440" cy="768096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IRR problem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8775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cash flows change sign more than once (e.g. out, in, out), multiple IRRs may exist. Spreadsheets return just one — which may not be meaningful. Use NPV in all such cases.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72384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72384"/>
            <a:ext cx="91440" cy="768096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problem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4747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ignores project size. A small project at 30% IRR may generate less VALUE than a large project at 18% IRR. IRR is a rate, not a currency amount.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59352"/>
            <a:ext cx="850392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59352"/>
            <a:ext cx="91440" cy="76809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always wins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36168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mutually exclusive projects, if NPV and IRR rank differently, ALWAYS follow NPV. It measures actual £ wealth created — the correct objective.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 vs IRR — When They Conflict (Scale Problem)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 projects: choose ONE. IRR says A, NPV says B. Which do you follow? CFA is clear: NPV wins.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2011680"/>
                <a:gridCol w="1554480"/>
                <a:gridCol w="1097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Investment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Cash Flow (yr 1)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NPV @ 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IRR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Project 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£13,500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+£2,273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35.0%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IRR says choose 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Project 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£50,000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£65,000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+£9,091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NPV says choose 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423160"/>
            <a:ext cx="85039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4231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 NPV — Project B creates £6,818 MORE value in £ terms. IRR’s higher % is on a much smaller base.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" y="3035808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3035808"/>
            <a:ext cx="91440" cy="7772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099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NPV WINS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34015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measures the actual INCREASE in wealth in £ terms.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A: +£2,273. Project B: +£9,091.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 need to invest £40k more but you gain £6,818 more value. Clearly worth it.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3035808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3035808"/>
            <a:ext cx="9144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" y="39319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" y="3931920"/>
            <a:ext cx="91440" cy="7772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995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IRR MISLEADS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" y="4297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on £10k = £3,500 gross return.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on £50k = £15,000 gross return.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ignores scale. A smaller project at a higher rate can still create LESS value.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39319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3931920"/>
            <a:ext cx="91440" cy="7772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01952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Annuities, Perpetuities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DDM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Ordinary Annuity — Equal Payments at Period End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annuity is a series of equal payments at equal intervals. The formula below avoids discounting each payment separately.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  =  PMT  ×  [ 1 − (1+r)^(−n) ] / 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109728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Car Loan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£20,000 at 6% p.a. compounded monthly. Repay in 48 monthly instalments.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per period = 6%/12 = 0.5%. n = 48.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PMT = 20,000 × 0.005 / [1 − (1.005)^(−48)] = 20,000 × 0.005 / 0.2132 = £469.70/month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paid = 48 × 469.70 = £22,546. Total interest = £2,546.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255264"/>
            <a:ext cx="41879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55264"/>
            <a:ext cx="91440" cy="1417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3467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applications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3712464"/>
            <a:ext cx="38404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Mortgages, car loans, bond coupon streams, lease payments, pension payouts — any equal periodic payment over a fixed horizon.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3255264"/>
            <a:ext cx="41879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3255264"/>
            <a:ext cx="91440" cy="1417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33467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Annuity factor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3712464"/>
            <a:ext cx="38404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[1−(1+r)^(−n)]/r is the annuity factor. It gives the PV of £1/period for n periods. Multiply by PMT to get total PV.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LM2 Example 5 — Mortgage Cash Flows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1 LM2, Example 5. The definitive worked example for annuity calculations in finance.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74980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35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(CFA LM2, Example 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investor seeks a fixed-rate 30-year mortgage to finance 80% of a USD 1,000,000 residential property. Annual mortgage rate = 5.25%.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21408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2140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4128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 amount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25054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80% × USD 1,000,000 = USD 800,000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07792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07792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24128" y="2962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291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5.25% / 12 = 0.4375% per month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694176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94176"/>
            <a:ext cx="621792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94176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24128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 periods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" y="40782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 × 12 = 360 monthly payments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449884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9884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PMT = 800,000 × 0.4375% / [1 − (1.004375)^(−360)] = USD 4,417.63 per month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Amortisation — How Payments Split Interest &amp; Principal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monthly payment of USD 4,417.63 is IDENTICAL, but the split between interest and principal changes each month.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2286000"/>
                <a:gridCol w="173736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Payment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Interest (0.4375% × Balance)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Principal Repaid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Remaining Balance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$4,417.63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$3,500.00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$917.63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$799,082.37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$4,417.63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$3,495.99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$921.64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$798,160.73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$4,417.63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$3,491.95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$925.68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$797,235.05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...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...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...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...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...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358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$4,417.63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$57.48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$4,360.15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$8,777.61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359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$4,417.63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$38.40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$4,379.23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$4,398.39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360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$4,417.63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$19.24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$4,398.39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$0.00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977640"/>
            <a:ext cx="8503920" cy="9144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050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Insight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3616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interest = £3,500 (79% of payment), principal = £918 (21%).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360: interest = £19 (0.4%), principal = £4,398 (99%).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interest over 30 years = USD 4,417.63 × 360 − 800,000 = USD 789,347 — nearly equal to the original loan!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Annuity Due — Payments at Period Beginning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annuity due shifts every payment one period earlier. Each payment is worth more (one extra period of earning).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PV(Annuity Due)  =  PV(Ordinary Annuity)  ×  (1 + r)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41879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84832"/>
            <a:ext cx="91440" cy="126187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57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Ordinary Annuity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496312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 at END of period 1 (t=1).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most loans, bond coupons, mortgage.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once the period is over.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27448" y="2084832"/>
            <a:ext cx="41879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27448" y="2084832"/>
            <a:ext cx="91440" cy="126187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157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Annuity Due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28616" y="2496312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 at BEGINNING of period 1 (t=0).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rent, insurance premiums, leasing contracts.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before the period begins.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456432"/>
            <a:ext cx="8503920" cy="117043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9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Lease Payments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lease of £500 for 12 months at 6% annual rate (0.5%/month).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annuity: PV = 500 × [1 − (1.005)^(−12)] / 0.005 = £5,814.17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Annuity due: PV = 5,814.17 × 1.005 = £5,843.24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annuity due is £29 more valuable because each payment arrives one month earlier.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Perpetuity — CFA LM2 Example 6: Shipline PLC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  =  PMT / r     (as n → ∞, the annuity factor converges to 1/r)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perpetuity is an annuity with no end date. The formula is elegantly simple but extremely sensitive to 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8503920" cy="18288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SHIPLINE PLC — CFA Vol 1, LM2, Example 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8229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Shipline PLC pays a regular annual dividend of GBP 1.50 per share indefinitely.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 require a 15% return.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GBP 1.50 / 0.15 = GBP 10.00 per share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if required return RISES to 20%: PV = 1.50 / 0.20 = GBP 7.50 (a 25% price DROP for a 5pp rate rise!)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required return FALLS to 10%: PV = 1.50 / 0.10 = GBP 15.00 (a 50% price RISE)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perpetuities are EXTREMELY sensitive to changes in the discount rate.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041648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041648"/>
            <a:ext cx="91440" cy="11155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of perpetuity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498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shares with fixed dividend.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 bonds (UK historical).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Endowments designed to fund income forever.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yielding perpetual rent.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4041648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4041648"/>
            <a:ext cx="91440" cy="11155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Price–rate intuition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4498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PMT/r. Double r → halve the price. Halve r → double the price. This is why long-duration assets are so sensitive to interest rate moves.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LM2 Example 4 — KB Financial Perpetual Bond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1, LM2, Example 4. Solving for IMPLIED YIELD from a market price — the reverse of pricing.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221284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KB FINANCIAL (KOOKMIN BANK HOLDING COMPANY) — CFA LM2, Example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2020, KB Financial issued KRW 325 billion in perpetual bonds with a 3.30% quarterly coupon.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= KRW 97.03 per KRW 100 par (a DISCOUNT to par).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What is the implied YTM at this market price?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Quarterly coupon = (3.30% × 100) / 4 = KRW 0.825 per period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Solve PV = PMT / r for 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97.03 = 0.825 / 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0.825 / 97.03 = 0.850% per quarter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Annualise: YTM = 0.850% × 4 = 3.40%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Bond trades at DISCOUNT (97.03 &lt; 100) → implied YTM (3.40%) &gt; coupon rate (3.30%).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95020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950208"/>
            <a:ext cx="91440" cy="10972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40416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trading at discount?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440740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investors now require a 3.40% yield but the bond only pays 3.30%, they will only buy it at a price BELOW par — hence 97.03. This is basic bond math: yield and price move oppositely.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27448" y="3950208"/>
            <a:ext cx="4187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3950208"/>
            <a:ext cx="91440" cy="10972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40416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perpetual bonds exist?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28616" y="440740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Issuers get equity-like financing with no maturity — no refinancing risk. Investors get higher yield. Common in banking (AT1 capital).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Growing Perpetuity — The Gordon Growth Model (1956)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  =  D₁ / (r − g)    where D₁ = next dividend, r = required return, g = dividend growth rate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dividends grow at a constant rate g forever, the perpetuity formula gains one extra term: the growth subtracted from 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8503920" cy="9144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EXAMPLE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just paid D₀ = £2.00. Dividends grow at 5%/yr forever. Required return r = 12%.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 = D₀ × (1+g) = 2.00 × 1.05 = £2.10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D₁ / (r − g) = 2.10 / (0.12 − 0.05) = 2.10 / 0.07 = £30.00 per share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85039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D₁ (next dividend)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108960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dividend → higher price. Directly proportional.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112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(required return)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511296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 / higher rates → lower price. In denominator.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85039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136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 (growth rate)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913632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growth → smaller denominator → higher price.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315968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15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Requirement: r &gt; 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4315968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 ≥ r, the formula blows up (infinite value). Only works for mature, slowly growing firms.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LM2 Example 7 — Shipline Two-Stage Dividend Growth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CFA Vol 1, LM2, Example 7. Many firms have a high early growth phase, then settle into steady-state growth.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315468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SHIPLINE PLC TWO-STAGE DDM — CFA LM2, Example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Shipline constant dividend GBP 1.50/yr gives PV = GBP 10.00 at r = 15%.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assume: dividend grows at gₛ = 6% for 3 years, then gₗ = 2% forever. r = 15%.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PV of dividends in high-growth phase (Years 1–3):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t=1: D₁ = 1.50×1.06 = 1.590. PV = 1.590/1.15 = 1.383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t=2: D₂ = 1.50×1.06² = 1.685. PV = 1.685/1.15² = 1.274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t=3: D₃ = 1.50×1.06³ = 1.787. PV = 1.787/1.15³ = 1.175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Stage 1 PVs = GBP 3.832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Terminal value at end of Year 3 (stable 2% growth from Year 4 onward):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D₄ = 1.787 × 1.02 = 1.822. P₃ = D₄ / (r−gₗ) = 1.822 / (0.15−0.02) = 1.822/0.13 = GBP 14.015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PV(P₃) = 14.015 / 1.15³ = 14.015 / 1.5209 = GBP 9.217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Total PV = 3.832 + 9.217 = GBP 13.05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answer: GBP 13.05 (vs GBP 10.00 constant, GBP 17.67 at permanent 6% growth — two-stage is between the extremes).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Gordon Growth Model — Sensitivity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D₁ = £3.00, r = 10%, g = 4%. PV = 3.00 / (0.10−0.04) = £50. The model is EXTREMELY sensitive to small changes in r−g.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D₁ / (r − g). Base case in BOLD. Note how small changes can nearly double or halve the price.</a:t>
            </a:r>
            <a:endParaRPr lang="en-US" sz="1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91640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554480"/>
                <a:gridCol w="155448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 \ 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 = 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 = 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 = 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 = 11%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 = 12%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 = 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£43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£38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£33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 = 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£43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£38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 = 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£43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 = 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£50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3749040"/>
            <a:ext cx="8503920" cy="12801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critical lessons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13308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r−g spread drives everything. Narrowing by 1 percentage point can increase value by 50–100%.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Never use g close to r — the model becomes meaninglessly sensitive. Practical limit: g &lt; (r−2%).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Small forecasting errors in g or r compound dramatically. Use sensitivity analysis and ranges, never a point estimate.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5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each before checking the answers on the next slide.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2144" y="105156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 of India discount bond (CFA LM2): par = INR 100, YTM = 6.70%, 20yr. If YTM RISES to 8.70%, what is the new price? Show calculation.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8308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2144" y="184708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invest £5,000 in Account A (8% p.a. monthly compounding) and Account B (8.2% p.a. annual compounding). Which has higher EAR? By how much?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78608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" y="2642616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costs £80,000 and generates: Year 1 = £25,000, Year 2 = £32,000, Year 3 = £28,000, Year 4 = £20,000. At r = 9%, calculate NPV. Accept or reject?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74136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7413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2144" y="3438144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Y (CFA LM1): annual returns over 5 years: 19.5%, −1.9%, 19.7%, 35.0%, 5.7%. Calculate the geometric mean return.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69664"/>
            <a:ext cx="8321040" cy="6949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69664"/>
            <a:ext cx="594360" cy="69494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966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144" y="4233672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Shipline two-stage DDM (CFA LM2): D₀=GBP1.50, gₛ=6% for 3yr, gₗ=2% forever, r=15%. What is the implied stock price? (CFA answer: GBP 13.05)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— Worked Solutions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7724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777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 = 8.70/2 = 4.35% for semiannual? No — this is annual compounding. PV = 100/(1.087)^20 = 100/5.226 = INR 19.13. (Annual 8.70%: factor = (1.087)^20 = 5.226. Compare with 6.70%: 100/(1.067)^20 = 100/3.659 = INR 27.33 — higher YTM = lower price.)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618488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18488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1848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61848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 EAR = (1+0.08/12)^12 − 1 = (1.00667)^12 − 1 = 8.300%. Account B EAR = 8.200%. Account A WINS by 0.10pp despite same nominal rate — monthly compounding makes the difference.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59736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59736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9736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45973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25,000/1.09 + 32,000/1.09^2 + 28,000/1.09^3 + 20,000/1.09^4 = 22,936+26,930+21,611+14,168 = £85,645. NPV = 85,645 − 80,000 = +£5,645. ACCEPT (NPV &gt; 0).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300984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300984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00984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3009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[(1.195)(0.981)(1.197)(1.350)(1.057)]^(1/5) − 1. Product = 1.195×0.981×1.197×1.350×1.057 = 1.984. 5th root = 1.984^0.2 = 1.1487. Geo mean = 14.87% ≈ 14.9%. CFA answer confirmed.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42232"/>
            <a:ext cx="594360" cy="7315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42232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14223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D₁=1.590/1.15=1.383, D₂=1.685/1.3225=1.274, D₃=1.787/1.5209=1.175. Sum=3.832. Stage 2: D₄=1.787×1.02=1.822. P₃=1.822/0.13=14.015. PV(P₃)=14.015/1.5209=9.217. Total = 3.832+9.217 = GBP 13.05.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 — Do Not Fall Into These Traps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97280"/>
            <a:ext cx="530352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9728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 compounding period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14264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rate with monthly payments: MUST convert. r = annual/12, n = years × 12. Never mix annual rates with monthly periods.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1737360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37360"/>
            <a:ext cx="530352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3736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1801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Nominal vs EAR confusion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206654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compounded monthly ≠ 12% effective. Always convert to EAR before comparing savings accounts, mortgages or credit cards.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377440"/>
            <a:ext cx="530352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37744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441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arithmetic mean for multi-period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270662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mean overstates historical compound growth. Use geometric mean for historical, arithmetic for forward-looking expectations.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530352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175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" y="3081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Gordon Growth with g ≥ 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0120" y="33467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growth ≥ required return, the formula returns negative or infinite value. Only valid when g is STRICTLY below r (at least 2pp gap).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657600"/>
            <a:ext cx="530352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65760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3721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Forgetting the t=0 cash flow in NPV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0120" y="39867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PV of all cash flows INCLUDING the initial outflow (negative at t=0). Forgetting it gives a PV sum, not an NPV.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" y="4297680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297680"/>
            <a:ext cx="530352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29768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120" y="4361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IRR over NPV (mutually exclusive)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60120" y="46268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IRR and NPV conflict for mutually exclusive projects, ALWAYS follow NPV. It measures actual value created in currency terms.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 Reference Card — Session 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AM  •  Session 1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formulas from this session in one place. Keep this for revision.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Holding Period Return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80360" y="11887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 = (End Price − Begin Price + Income) / Begin Price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481328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Geometric Mean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0360" y="14813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Rᵍ = [(1+R₁)(1+R₂)…(1+Rₙ)]^(1/n) − 1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773936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73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Harmonic Mean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0360" y="1773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Xᴴ = n / Σ(1/Xᵢ)   — use for cost-averaging &amp; P/E ratios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066544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66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Value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80360" y="206654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= PV × (1+r)^n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359152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FV (m compoundings)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80360" y="23591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= PV × (1 + r/m)^(m×n)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651760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Effective Annual Rate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80360" y="26517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= (1 + r/m)^m − 1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944368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 Value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80360" y="29443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FV / (1+r)^n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236976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Present Value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80360" y="323697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Σ CFₜ/(1+r)^t − C₀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529584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Ordinary Annuity PV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80360" y="352958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PMT × [1−(1+r)^(−n)] / 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822192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Annuity Due PV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80360" y="38221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PMT × [1−(1+r)^(−n)] / r × (1+r)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4114800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Perpetuity PV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880360" y="4114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PMT / 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4407408"/>
            <a:ext cx="8503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07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Gordon Growth Model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880360" y="44074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D₁ / (r − g)   requires r &gt; 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4700016"/>
            <a:ext cx="8503920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00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Nominal risk-free rate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880360" y="470001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Real rate + Inflation premium (Fisher approx)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 — Time Value of Money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68249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3502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Required return = Discount rate = Opportunity cost. Decompose into 5 risk premiums.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6187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68249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3502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mean (CFA: Fund Y = 14.9%) for compound history. Harmonic mean for DCA prices (CFA: EUR 76.48).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8529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0545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Time-weighted return preferred for evaluating managers (removes cash flow timing effects).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432304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92624" y="2852928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0545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bond (CFA LM2): PV = 100/(1.067)^20 = INR 27.33. Price and yield always move opposite.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402336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67588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 bond (CFA LM2): priced at 93.091 after inflation spike → implied YTM 3.532% (up from 2%).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602736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4023360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67588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always beats IRR for mutually exclusive decisions. NPV measures actual £ value created.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" y="519379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84632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(CFA LM2): USD 800k at 5.25%, 30yr → USD 4,417.63/month. Total interest = USD 789k.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77316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92624" y="519379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484632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Shipline 2-stage DDM (CFA LM2): g=6% for 3yr then 2% forever → GBP 13.05 (vs GBP 10 constant).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2026-04-11T19:58:28Z</dcterms:created>
  <dcterms:modified xsi:type="dcterms:W3CDTF">2026-04-11T19:58:28Z</dcterms:modified>
</cp:coreProperties>
</file>