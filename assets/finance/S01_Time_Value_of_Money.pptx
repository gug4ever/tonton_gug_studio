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 —  MORNING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Value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 Money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fundamental concept in all of finance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Roadmap — 2 Hours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 builds from first principles to full project evaluation. Every concept connects to the next.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80160"/>
            <a:ext cx="8503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280160"/>
            <a:ext cx="594360" cy="5943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280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133502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an Interest Rate?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1609344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interpretations • components of 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1975104"/>
            <a:ext cx="8503920" cy="5943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975104"/>
            <a:ext cx="594360" cy="5943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9751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24128" y="20299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Value &amp; Compounding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" y="2304288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 formula • compounding frequency • EAR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2670048"/>
            <a:ext cx="8503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2670048"/>
            <a:ext cx="594360" cy="5943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67004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2724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 Value &amp; Discounting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24128" y="2999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formula • timelines • multiple cash flows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3364992"/>
            <a:ext cx="8503920" cy="5943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364992"/>
            <a:ext cx="594360" cy="5943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3649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24128" y="34198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&amp; IRR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24128" y="3694176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evaluation • decision rules • worked examples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4059936"/>
            <a:ext cx="85039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" y="4059936"/>
            <a:ext cx="594360" cy="5943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40599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24128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Annuities &amp; Perpetuities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24128" y="438912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Mortgage maths • growing perpetuity • Gordon Growth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session you will be able to: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07008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" y="1408176"/>
            <a:ext cx="201168" cy="201168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52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 an interest rate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15361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 as a required return, discount rate, or opportunity cost, and decompose it into its risk components.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" y="1929384"/>
            <a:ext cx="8503920" cy="62179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" y="2130552"/>
            <a:ext cx="201168" cy="201168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Calculate FV and PV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22585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compounding and discounting formulas for single cash flows, including different compounding frequencies and EAR.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2651760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" y="2852928"/>
            <a:ext cx="201168" cy="201168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 with multiple cash flows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29809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cash flow timelines. Compute the PV and FV of uneven and even cash flow series.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3374136"/>
            <a:ext cx="8503920" cy="62179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" y="3575304"/>
            <a:ext cx="201168" cy="201168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419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NPV and IRR decision rules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3703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projects using NPV and IRR. Know when they conflict and which to trust.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20040" y="4096512"/>
            <a:ext cx="8503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" y="4297680"/>
            <a:ext cx="201168" cy="201168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142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 annuities &amp; perpetuities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7240" y="44256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shortcut formulas for mortgages, lease streams, preferred shares, and the Gordon Growth equity model.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93392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an Interest Rate?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Ways to Read an Interest Rate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£9,500 today and £10,000 in one year are equivalent in value, what is the interest rate?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  =  (£10,000 − £9,500) / £9,500  =  £500 / £9,500  =  5.26%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20040" y="2029968"/>
            <a:ext cx="85039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029968"/>
            <a:ext cx="91440" cy="75895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939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Required Rate of Return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414016"/>
            <a:ext cx="81381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minimum return an investor must earn to accept the investment. Below this, they prefer to stay in cash.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2916936"/>
            <a:ext cx="8503920" cy="75895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2916936"/>
            <a:ext cx="91440" cy="75895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809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Discount Rate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3300984"/>
            <a:ext cx="81381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that makes future cash flows equivalent to a present-day value. Used to 'bring money back' in 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803904"/>
            <a:ext cx="85039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3803904"/>
            <a:ext cx="91440" cy="75895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Opportunity Cost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81381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give up by choosing one option. Spending £9,500 today means forgoing 5.26% in returns.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Decomposing an Interest Rate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  =  Real Risk-Free Rate  +  Inflation  +  Default Risk  +  Liquidity  +  Maturity Premium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20040" y="1627632"/>
            <a:ext cx="850392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276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Risk-Free Rate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880360" y="1719072"/>
            <a:ext cx="868680" cy="3657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0360" y="171907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~0.5–1%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886200" y="162763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a completely risk-free asset in a world with no inflation. Reflects time preference for consumption today vs later.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2258568"/>
            <a:ext cx="8503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258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Inflation Premium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880360" y="2350008"/>
            <a:ext cx="868680" cy="3657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80360" y="235000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~2–3%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86200" y="22585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Compensates for expected loss of purchasing power. Nominal rate ≈ Real rate + Inflation (Fisher approximation).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889504"/>
            <a:ext cx="850392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88950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Default Risk Premium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880360" y="2980944"/>
            <a:ext cx="868680" cy="3657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80360" y="298094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0–5%+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86200" y="28895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 for the possibility of non-payment. Corporate bonds earn more than government bonds for this reason.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520440"/>
            <a:ext cx="8503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5204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Liquidity Premium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880360" y="3611880"/>
            <a:ext cx="868680" cy="3657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80360" y="36118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~0.5–1.5%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86200" y="35204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 for assets that are hard to sell quickly without a price discount. Illiquid bonds carry higher yields.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4151376"/>
            <a:ext cx="850392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1513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Maturity Premium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880360" y="4242816"/>
            <a:ext cx="868680" cy="3657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80360" y="42428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~0.5–2%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886200" y="415137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Longer-dated bonds are more sensitive to rate changes. Investors demand extra return for tying up money longer.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— Building a Corporate Bond Yield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the required yield for a 5-year corporate bond issued by a mid-size UK company: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61872"/>
          <a:ext cx="850392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82880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Premium Added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Cumulative Yield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Real risk-free rate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0.75%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0.75%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+ Inflation premium (expected 2%/yr)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2.00%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2.75%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+ Default risk premium (BBB-rated)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1.80%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4.55%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+ Liquidity premium (medium-size issuer)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0.50%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5.05%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+ Maturity premium (5-year vs 1-year)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0.45%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5.50%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83280"/>
            <a:ext cx="8503920" cy="12344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4564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Required yield = 5.50% — this is the minimum investors demand to hold this bond.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bond is issued at 5.50% coupon it will price at par (100). At a higher coupon it prices above par, lower coupon below par. This is covered in the Fixed Income session.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93392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Value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Compounding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Value — The Power of Compounding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8412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8503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FV  =  PV × (1 + r)ⁿ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20040" y="1737360"/>
            <a:ext cx="2011680" cy="82296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737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0040" y="213969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invested today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68880" y="1737360"/>
            <a:ext cx="2011680" cy="82296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1737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68880" y="213969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interest rate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1737360"/>
            <a:ext cx="2011680" cy="82296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1737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17720" y="213969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periods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66560" y="1737360"/>
            <a:ext cx="2011680" cy="82296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1737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FV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66560" y="213969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at end of period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0040" y="2715768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 — compounding is non-linear. Each year you earn interest on interest, so growth accelerates over time.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24612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Formula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FV at 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FV at 10%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1,000 × (1.05)^1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£1050.00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£1100.00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1,000 × (1.05)^2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£1102.50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£1210.00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1,000 × (1.05)^3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£1157.63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£1331.00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1,000 × (1.05)^5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£1276.28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£1610.51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1,000 × (1.05)^10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£1628.89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£2593.74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320040" y="468172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amount: £1,000 in all cases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1 — Future Value (Single Cash Flow)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105156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50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1430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invest £2,500 today in a savings account paying 4% per year.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will you have after 6 years?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196596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Step-by-step solution: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0040" y="2350008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350008"/>
            <a:ext cx="640080" cy="7498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350008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51560" y="2404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Identify inputs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73405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£2,500  |  r = 4% = 0.04  |  n = 6 years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136392"/>
            <a:ext cx="8503920" cy="74980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136392"/>
            <a:ext cx="640080" cy="7498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13639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51560" y="31912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the formula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52044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 = PV × (1 + r)ⁿ  =  2,500 × (1.04)⁶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922776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922776"/>
            <a:ext cx="640080" cy="7498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922776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051560" y="39776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Calculate (1.04)⁶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4306824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(1.04)⁶ = 1.04 × 1.04 × 1.04 × 1.04 × 1.04 × 1.04  =  1.2653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20040" y="4709160"/>
            <a:ext cx="8503920" cy="74980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4709160"/>
            <a:ext cx="640080" cy="7498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4709160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051560" y="47640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answer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5093208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 = 2,500 × 1.2653  =  £3,163.22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20040" y="4562856"/>
            <a:ext cx="8503920" cy="18288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457200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 £663.22 earned beyond the £600 in simple interest is interest-on-interest (the compounding effect).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Compounding Frequency — Same Rate, Different Results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nominal rate is 12% p.a., how much does £1,000 grow to after 1 year under different compounding frequencies?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129844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Formula:  FV = PV × (1 + r/m)^(m×n)  where m = compounding periods per year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73736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45920"/>
                <a:gridCol w="228600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Compounding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Periods/yr (m)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Effective Annual Rate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FV after 1 year (PV=£1,000)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Annual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12.000%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£1,120.00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Semi-annual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12.360%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£1,123.60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Quarterly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12.551%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£1,125.51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Monthly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12.683%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£1,126.83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Daily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365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12.747%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600A"/>
                          </a:solidFill>
                        </a:rPr>
                        <a:t>£1,127.47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Continuous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∞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12.750%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600A"/>
                          </a:solidFill>
                        </a:rPr>
                        <a:t>£1,127.50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20040" y="4160520"/>
            <a:ext cx="8503920" cy="74980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2336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compounding (limit): FV = PV × eʳⁿ = 1,000 × e^0.12 = £1,127.50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45537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frequent compounding → slightly higher FV. The difference narrows quickly beyond monthly.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 Annual Rate (EAR)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 is the true annual return, accounting for compounding frequency. It enables fair comparison across products.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850392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98448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  =  (1 + r/m)ᵐ  −  1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0040" y="2212848"/>
            <a:ext cx="8503920" cy="219456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— Which account is better?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A: 12% p.a., compounded monthly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B: 12.3% p.a., compounded annually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A:  EAR = (1 + 0.12/12)¹² − 1 = (1.01)¹² − 1 = 12.683%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B:  EAR = 12.300% (already annual)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Account A wins despite the lower stated rate — compounding makes it better.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457200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compare products using EAR, not the nominal (stated) rate. Credit cards, mortgages and savings accounts all report different bases.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 Value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Discounting</a:t>
            </a:r>
            <a:endParaRPr lang="en-US" sz="3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 Value — Discounting Future Cash Flows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 =  FV / (1 + r)ⁿ  =  FV × (1 + r)⁻ⁿ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" y="162763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 is the reverse of compounding. We ask: what is a future cash flow worth in today's money?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0040" y="205740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discount factor  (1+r)⁻ⁿ  is always ≤ 1 — it shrinks future values. The larger r or n, the smaller the discount factor.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542032"/>
          <a:ext cx="8503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28600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Receive £10,000 in...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Discount rate 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PV Today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£9,091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£8,696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3 years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£7,513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5 years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£6,209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10 years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£3,855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10 years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15%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£2,472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20040" y="459028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same £10,000 is worth very different amounts today depending on timing and risk. This is the entire logic of valuation.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2 — Present Value (Choice Problem)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102412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50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14300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offered two investment payoffs: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Option A:  £8,000 today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Option B:  £12,500 in 5 years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required return is 9% p.a. Which do you prefer?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1920240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— find the PV of Option B and compare: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0040" y="2304288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304288"/>
            <a:ext cx="640080" cy="7498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304288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51560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formula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68833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FV / (1+r)ⁿ  =  12,500 / (1.09)⁵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090672"/>
            <a:ext cx="8503920" cy="74980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090672"/>
            <a:ext cx="640080" cy="7498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30906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51560" y="31455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Calculate (1.09)⁵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47472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(1.09)⁵ = 1.5386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877056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877056"/>
            <a:ext cx="640080" cy="7498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877056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051560" y="39319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Divide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4261104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12,500 / 1.5386 = £8,124.43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20040" y="4690872"/>
            <a:ext cx="8503920" cy="182880"/>
          </a:xfrm>
          <a:prstGeom prst="rect">
            <a:avLst/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Option B is worth £8,124 today vs £8,000 — choose Option B (it has higher PV given your 9% required return).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 Flow Timelines — A Critical Tool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calculating anything, always draw a timeline. It prevents sign errors and missed cash flows.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8046720" cy="0"/>
          </a:xfrm>
          <a:prstGeom prst="line">
            <a:avLst/>
          </a:prstGeom>
          <a:noFill/>
          <a:ln w="38100">
            <a:solidFill>
              <a:srgbClr val="1B2A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2148840"/>
            <a:ext cx="82296" cy="182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2377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21408" y="2148840"/>
            <a:ext cx="82296" cy="182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92224" y="2377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30752" y="2148840"/>
            <a:ext cx="82296" cy="182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01568" y="2377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40096" y="2148840"/>
            <a:ext cx="82296" cy="182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10912" y="2377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49440" y="2148840"/>
            <a:ext cx="82296" cy="182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0256" y="2377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558784" y="2148840"/>
            <a:ext cx="82296" cy="1828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377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2240280"/>
            <a:ext cx="0" cy="548640"/>
          </a:xfrm>
          <a:prstGeom prst="line">
            <a:avLst/>
          </a:prstGeom>
          <a:noFill/>
          <a:ln w="25400">
            <a:solidFill>
              <a:srgbClr val="B71C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" y="28346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−£5,000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(invest)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157984" y="1417320"/>
            <a:ext cx="0" cy="822960"/>
          </a:xfrm>
          <a:prstGeom prst="line">
            <a:avLst/>
          </a:prstGeom>
          <a:noFill/>
          <a:ln w="25400">
            <a:solidFill>
              <a:srgbClr val="1A6B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655064" y="1005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+£2,000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767328" y="1417320"/>
            <a:ext cx="0" cy="822960"/>
          </a:xfrm>
          <a:prstGeom prst="line">
            <a:avLst/>
          </a:prstGeom>
          <a:noFill/>
          <a:ln w="25400">
            <a:solidFill>
              <a:srgbClr val="1A6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64408" y="1005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+£2,000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376672" y="1417320"/>
            <a:ext cx="0" cy="822960"/>
          </a:xfrm>
          <a:prstGeom prst="line">
            <a:avLst/>
          </a:prstGeom>
          <a:noFill/>
          <a:ln w="25400">
            <a:solidFill>
              <a:srgbClr val="1A6B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73752" y="1005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+£2,000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986016" y="1417320"/>
            <a:ext cx="0" cy="822960"/>
          </a:xfrm>
          <a:prstGeom prst="line">
            <a:avLst/>
          </a:prstGeom>
          <a:noFill/>
          <a:ln w="25400">
            <a:solidFill>
              <a:srgbClr val="1A6B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83096" y="1005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+£2,000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595360" y="1417320"/>
            <a:ext cx="0" cy="822960"/>
          </a:xfrm>
          <a:prstGeom prst="line">
            <a:avLst/>
          </a:prstGeom>
          <a:noFill/>
          <a:ln w="25400">
            <a:solidFill>
              <a:srgbClr val="1A6B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92440" y="1005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+£2,000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0040" y="345643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Invest £5,000 today, receive £2,000 per year for 5 years. Is this worthwhile at r = 10%?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20040" y="388620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of inflows = 2,000/1.1 + 2,000/1.1² + … + 2,000/1.1⁵ = 2,000 × [1−(1.1)⁻⁵]/0.1 = £7,581.57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20040" y="42793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= £7,581.57 − £5,000 = +£2,581.57 → YES, worth doing.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3 — PV of Uneven Cash Flows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109728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50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pays back cash flows as follows: £1,000 at end of year 1, £2,500 at end of year 2, £3,200 at end of year 3, £1,800 at end of year 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discount rate is 8%. What is the total PV?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19933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— discount each cash flow separately then sum: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95728"/>
          <a:ext cx="8503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365760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Cash Flow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Discount Factor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PV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Year 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£1,000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÷ (1.08)¹ = ÷ 1.0800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£925.93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Year 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£2,500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÷ (1.08)² = ÷ 1.1664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£2,143.35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Year 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£3,200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÷ (1.08)³ = ÷ 1.2597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£2,540.12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Year 4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£1,800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÷ (1.08)⁴ = ÷ 1.3605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£1,323.06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34155"/>
                          </a:solidFill>
                        </a:rPr>
                        <a:t>TOTAL PV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6B3C"/>
                          </a:solidFill>
                        </a:rPr>
                        <a:t>£6,932.46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20040" y="46177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initial investment is less than £6,932 → positive NPV. If more → negative NPV.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93392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&amp; IRR —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Evaluation</a:t>
            </a:r>
            <a:endParaRPr lang="en-US" sz="3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 Present Value (NPV)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 =  Σ  CFₜ / (1+r)ᵗ  −  Initial Investment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" y="160020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tells you how much value a project creates in today's money. It is the gold standard of investment appraisal.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103120"/>
            <a:ext cx="8503920" cy="713232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03120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&gt; 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40280" y="2103120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generates returns above the discount rate → creates value → ACCEPT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0040" y="2944368"/>
            <a:ext cx="8503920" cy="713232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944368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= 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240280" y="2944368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exactly meets the required return → breaks even → indifferent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20040" y="3785616"/>
            <a:ext cx="8503920" cy="713232"/>
          </a:xfrm>
          <a:prstGeom prst="rect">
            <a:avLst/>
          </a:prstGeom>
          <a:solidFill>
            <a:srgbClr val="FFEBEE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785616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&lt; 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240280" y="3785616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destroys value → earns less than required return → REJECT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20040" y="466344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discount rate r used in NPV should reflect the risk of the project's cash flows — riskier projects use higher r.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4 — Full NPV Calculation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10058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50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143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factory upgrade costs £50,000 today. It is expected to generate cash inflows of £12,000 / £15,000 / £18,000 / £16,000 / £14,000 in years 1–5. Your cost of capital is 10%. Should you invest?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20240"/>
          <a:ext cx="4754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Period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Cash Flow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PV @ 10%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71C1C"/>
                          </a:solidFill>
                        </a:rPr>
                        <a:t>t=0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71C1C"/>
                          </a:solidFill>
                        </a:rPr>
                        <a:t>−£50,000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71C1C"/>
                          </a:solidFill>
                        </a:rPr>
                        <a:t>−£50,000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Year 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£12,000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£10,909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Year 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£15,000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£12,397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Year 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£18,000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£13,524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Year 4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£16,000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£10,928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Year 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£14,000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£8,693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</a:rPr>
                        <a:t>Sum of PVs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6B3C"/>
                          </a:solidFill>
                        </a:rPr>
                        <a:t>£56,451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34155"/>
                          </a:solidFill>
                        </a:rPr>
                        <a:t>NPV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0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6B3C"/>
                          </a:solidFill>
                        </a:rPr>
                        <a:t>£6,451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212080" y="1920240"/>
            <a:ext cx="3611880" cy="2880360"/>
          </a:xfrm>
          <a:prstGeom prst="rect">
            <a:avLst/>
          </a:prstGeom>
          <a:solidFill>
            <a:srgbClr val="E8F5E9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12080" y="19202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✔ ACCEPT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212080" y="25146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= £6,451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5212080" y="320040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earns more than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10% required return.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creates £6,451 of value.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 Rate of Return (IRR)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49808"/>
            <a:ext cx="850392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 is the discount rate that makes NPV = 0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20040" y="166420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same factory example (£50,000 investment, same cash flows):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0040" y="208483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 = 10%: NPV = +£4,871  →  IRR &gt; 10%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20040" y="2450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keep raising the rate until NPV → 0. The IRR is approximately 13.6%.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880360"/>
          <a:ext cx="3840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Discount Rate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NPV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£14,716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£6,451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£3,597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600A"/>
                          </a:solidFill>
                        </a:rPr>
                        <a:t>13.6%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600A"/>
                          </a:solidFill>
                        </a:rPr>
                        <a:t>£1,473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£-279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20%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£-5,824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0" y="2880360"/>
            <a:ext cx="4251960" cy="19202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09160" y="29443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 Decision Rules: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09160" y="333756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&gt; hurdle rate</a:t>
            </a:r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Accept project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= hurdle rate</a:t>
            </a:r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Indifferent
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&lt; hurdle rate</a:t>
            </a:r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Reject project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 — Strengths and Limitations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is intuitive and widely used, but has four important limitations that analysts must know.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261872"/>
            <a:ext cx="4023360" cy="384048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6187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✔  Strengths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1719072"/>
            <a:ext cx="3749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communicate:</a:t>
            </a:r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"our return is 15%" is intuitive to non-finance people
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discount rate needed:</a:t>
            </a:r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don't need to pre-specify r to solve for IRR
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as a screening tool:</a:t>
            </a:r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 filter for clearly attractive or unattractive projects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1261872"/>
            <a:ext cx="4206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261872"/>
            <a:ext cx="4206240" cy="3840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2618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✖  Limitations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1719072"/>
            <a:ext cx="3931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Reinvestment assumption:</a:t>
            </a:r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IRR assumes interim cash flows are reinvested at the IRR rate — often unrealistic
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IRRs:</a:t>
            </a:r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cash flows change sign more than once, multiple IRRs may exist
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problem:</a:t>
            </a:r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IRR ignores absolute size — a small project can have high IRR but low NPV
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with NPV:</a:t>
            </a:r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projects are mutually exclusive, IRR ranking can differ from NPV ranking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0040" y="469087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NPV and IRR conflict, always use NPV. It directly measures value creation in £ terms.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vs IRR — When They Conflict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9144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50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— Choose one of two mutually exclusive projects (r = 10%):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A: Invest £10,000 today → receive £13,500 in 1 year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B: Invest £50,000 today → receive £65,000 in 1 year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828800"/>
          <a:ext cx="8503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828800"/>
                <a:gridCol w="182880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Project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Investment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Cash Flow yr1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NPV @ 10%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IRR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Project 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£10,000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£13,500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6B3C"/>
                          </a:solidFill>
                        </a:rPr>
                        <a:t>£2,273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0A"/>
                          </a:solidFill>
                        </a:rPr>
                        <a:t>35.0%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Project B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£50,000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£65,000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6B3C"/>
                          </a:solidFill>
                        </a:rPr>
                        <a:t>£9,091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0A"/>
                          </a:solidFill>
                        </a:rPr>
                        <a:t>30.0%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2852928"/>
            <a:ext cx="4023360" cy="173736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92608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 says: choose Project A (35% &gt; 30%)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33756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Project A's higher return is on a much smaller base. You 'miss' the larger opportunity.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17720" y="2852928"/>
            <a:ext cx="4206240" cy="1737360"/>
          </a:xfrm>
          <a:prstGeom prst="rect">
            <a:avLst/>
          </a:prstGeom>
          <a:solidFill>
            <a:srgbClr val="E8F5E9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00600" y="29260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says: choose Project B (+£9,091 vs +£2,273)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00600" y="33375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measures actual value created in £. Always follow NPV for mutually exclusive decisions.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20040" y="466344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Rule: NPV always wins for mutually exclusive projects. IRR is fine for standalone accept/reject decisions.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0" y="1901952"/>
            <a:ext cx="2743200" cy="502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Annuities &amp;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Perpetuities</a:t>
            </a:r>
            <a:endParaRPr lang="en-US" sz="3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 Annuity — Equal Payments at Period End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annuity is a series of equal payments at equal intervals. Rather than discounting each separately, we use a shortcut: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80160"/>
            <a:ext cx="8503920" cy="8686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8016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 =  PMT  ×  [ 1 − (1+r)⁻ⁿ ]  /  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0040" y="2304288"/>
            <a:ext cx="2011680" cy="73152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3042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PMT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20040" y="2670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per period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68880" y="2304288"/>
            <a:ext cx="2011680" cy="73152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23042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468880" y="2670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per period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17720" y="2304288"/>
            <a:ext cx="2011680" cy="73152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23042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17720" y="2670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periods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66560" y="2304288"/>
            <a:ext cx="2011680" cy="73152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23042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[…]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66560" y="2670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Annuity factor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0040" y="315468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mortgage repayments, car loans, bond coupon streams, lease payments, pension payouts.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20040" y="3584448"/>
            <a:ext cx="8503920" cy="109728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657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— Car Loan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39502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borrow £20,000 at 6% p.a. (monthly). You will repay in 48 monthly instalments. What is the monthly payment?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6%/12 = 0.5% per month  |  n = 48  |  PV = £20,000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PMT = 20,000 × 0.005 / [1−(1.005)⁻⁴⁸] = 20,000 × 0.005 / 0.2132 = £469.70/month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5 — Mortgage Cash Flows (CFA Example)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9144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50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 (from CFA Level 1 Curriculum)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investor seeks a 30-year fixed-rate mortgage for 80% of a £1,000,000 property.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annual mortgage rate is 5.25%. What is the monthly payment?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1828800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Step-by-step: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0040" y="2212848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212848"/>
            <a:ext cx="640080" cy="7498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212848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51560" y="22677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Loan amount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80% × £1,000,000 = £800,000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2999232"/>
            <a:ext cx="8503920" cy="74980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999232"/>
            <a:ext cx="640080" cy="7498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9992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51560" y="305409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 rate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51560" y="338328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5.25% / 12 = 0.4375% per month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785616"/>
            <a:ext cx="8503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785616"/>
            <a:ext cx="640080" cy="7498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785616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051560" y="3840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 periods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51560" y="4169664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30 × 12 = 360 monthly payments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20040" y="4572000"/>
            <a:ext cx="8503920" cy="347472"/>
          </a:xfrm>
          <a:prstGeom prst="rect">
            <a:avLst/>
          </a:prstGeom>
          <a:solidFill>
            <a:srgbClr val="E8F5E9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57200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Monthly payment PMT = 800,000 × 0.004375 / [1−(1.004375)⁻³⁶⁰] = £4,417.63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Amortisation — How Payments Split Interest &amp; Principal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mortgage payment is the same (£4,417.63), but the split between interest and principal changes: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"/>
          <a:ext cx="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Month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Interest Payment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Principal Repayment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Remaining Balance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£3,500.00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£917.63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£799,082.37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£3,495.99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£921.64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£798,160.73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£3,491.95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£925.68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£797,235.05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…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…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…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…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358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£57.48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£4,360.15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£8,777.61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359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£38.40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£4,379.23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£4,398.39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360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£19.24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£4,398.39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£0.00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£3,500.00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£917.63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£799,082.37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2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£3,495.99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£921.64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£798,160.73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£3,491.95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£925.68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£797,235.05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…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…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…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…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358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£57.48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£4,360.15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£8,777.61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359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£38.40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£4,379.23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£4,398.39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360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£19.24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£4,398.39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£0.00</a:t>
                      </a:r>
                      <a:endParaRPr lang="en-US" sz="11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4434840"/>
            <a:ext cx="8503920" cy="38404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45312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early payments are mostly interest; late payments are mostly principal. Total interest paid over 30 years: £789,347 — nearly equal to the loan itself!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Annuity Due — Payments at Period Beginning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annuity due shifts every payment one period earlier. Each payment is worth more (one extra period of compounding).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98448"/>
            <a:ext cx="850392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98448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(Annuity Due)  =  PV (Ordinary Annuity)  ×  (1 + r)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0040" y="2176272"/>
            <a:ext cx="40233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76272"/>
            <a:ext cx="4023360" cy="38404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17627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 Annuity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2633472"/>
            <a:ext cx="37490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at END of each period.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payment at t=1.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mortgage, bond coupons,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loans.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17720" y="2176272"/>
            <a:ext cx="42062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2176272"/>
            <a:ext cx="4206240" cy="38404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1762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Annuity Due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54880" y="2633472"/>
            <a:ext cx="393192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at BEGINNING of each period.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payment at t=0.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rent, insurance premiums,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leasing contracts.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4617720"/>
            <a:ext cx="8503920" cy="4572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983480"/>
            <a:ext cx="8229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 of £500/month, 12 months, 6% annual rate: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Ordinary: PV = 500 × [1−(1.005)⁻¹²]/0.005 = £5,814.17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Annuity Due: PV = £5,814.17 × 1.005 = £5,843.24  (higher — paid earlier)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Perpetuity — Infinite Equal Payments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n → ∞ in the annuity formula, the annuity factor converges to 1/r. Simple and elegant: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7772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 =  PMT  /  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0040" y="21488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higher the required return r, the lower the price — investors demand more for the same income stream.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0040" y="2606040"/>
            <a:ext cx="8503920" cy="11430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791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1 — Preference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971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Shipline PLC pays a fixed dividend of £1.50/year indefinitely.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Shareholders require a 15% return.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1.50 / 0.15 = £10.00 per share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required return rises to 20%: PV = 1.50 / 0.20 = £7.50 (share price falls!)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3840480"/>
            <a:ext cx="8503920" cy="100584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9136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2 — Consol Bond (UK Government Historical)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consol pays £50/year with no maturity. Required return = 4%.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50 / 0.04 = £1,250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rates rise to 5%: PV = 50 / 0.05 = £1,000 (−20% price drop on a 1% rate rise!)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Growing Perpetuity — The Gordon Growth Model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dividends grow at a constant rate g forever, we have a growing perpetuity: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61872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 =  D₁  /  (r  −  g)    [requires r &gt; g]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0040" y="21031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Gordon Growth Model (1956) — the foundation of dividend-based equity valuation. It shows that a stock's value depends on three things: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" y="2633472"/>
            <a:ext cx="8503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633472"/>
            <a:ext cx="73152" cy="56692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63347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D₁ (Next dividend)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017520" y="263347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dividend → higher price. Directly proportional.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291840"/>
            <a:ext cx="850392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3291840"/>
            <a:ext cx="73152" cy="56692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2918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 (Required return)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17520" y="329184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 / higher rates → higher r → lower price.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950208"/>
            <a:ext cx="8503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950208"/>
            <a:ext cx="73152" cy="56692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9502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 (Growth rate)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95020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growth → higher price. Widening the r−g spread matters most.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4608576"/>
            <a:ext cx="8503920" cy="475488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6817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EXAMPLE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974336"/>
            <a:ext cx="8229600" cy="1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company just paid D₀ = £2.00. Dividends grow at 5%/yr. Required return = 12%.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D₁ = 2.00 × 1.05 = £2.10     PV = 2.10 / (0.12 − 0.05) = 2.10 / 0.07 = £30.00 per share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6 — Gordon Growth Model Sensitivity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777240"/>
            <a:ext cx="8503920" cy="86868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503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CASE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pays D₁ = £3.00. Required return r = 10%. Growth rate g = 4%.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3.00 / (0.10 − 0.04) = 3.00 / 0.06 = £50.00 per share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17647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sensitive is the stock price to changes in r and g?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76272"/>
          <a:ext cx="8503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783080"/>
                <a:gridCol w="1783080"/>
                <a:gridCol w="178308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 \ 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r=8%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r=10%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r=12%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r=14%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g=3%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£60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£43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£33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£27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g=4%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£75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£50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0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£38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£30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g=5%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£100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£60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£43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£33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g=6%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£150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6B3C"/>
                          </a:solidFill>
                        </a:rPr>
                        <a:t>£75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£50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71C1C"/>
                          </a:solidFill>
                        </a:rPr>
                        <a:t>£38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794760"/>
            <a:ext cx="8503920" cy="914400"/>
          </a:xfrm>
          <a:prstGeom prst="rect">
            <a:avLst/>
          </a:prstGeom>
          <a:solidFill>
            <a:srgbClr val="FEF0E7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38587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 from sensitivity analysis: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Model is highly sensitive to the r−g spread. A 1% narrowing in the spread (e.g. r↓ or g↑) dramatically increases the price.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Never use g close to r — the formula blows up. Gordon Growth only works for mature, slowly growing firms.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53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PROBLEMS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before looking at the answers on the next slide.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060704"/>
            <a:ext cx="832104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60704"/>
            <a:ext cx="59436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60704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1115568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£25,000 in 4 years for a house deposit. Your savings account pays 3.5% p.a. How much must you deposit today?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819656"/>
            <a:ext cx="832104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819656"/>
            <a:ext cx="59436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81965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70432" y="1874520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costs £100,000 and generates: £30,000 (yr1), £40,000 (yr2), £35,000 (yr3), £25,000 (yr4). At r=8%, should you invest?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2578608"/>
            <a:ext cx="832104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578608"/>
            <a:ext cx="59436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78608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70432" y="2633472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 pays £80 coupon per year forever (perpetuity) and requires a 6.4% return. What is the fair price of the bond?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32104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337560"/>
            <a:ext cx="59436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33756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70432" y="3392424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take a 5-year loan of £15,000 at 7% annual interest. What is your annual payment? How much total interest do you pay?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096512"/>
            <a:ext cx="832104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096512"/>
            <a:ext cx="59436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9651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70432" y="4151376"/>
            <a:ext cx="7452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stock pays D₁=£1.80. Required return is 9%, expected growth is 3%. What is the stock's intrinsic value?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Practice — Answers &amp; Worked Solutions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804672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804672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80467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804672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25,000 / (1.035)⁴ = 25,000 / 1.1475 = £21,786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609344"/>
            <a:ext cx="8503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609344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60934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1609344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inflows = 27,778 + 34,294 + 27,783 + 18,375 = £108,230 → NPV = +£8,230 → ACCEPT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414016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414016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41401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2414016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80 / 0.064 = £1,250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218688"/>
            <a:ext cx="850392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3218688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21868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218688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PMT = 15,000 × 0.07 / [1−(1.07)⁻⁵] = £3,660.97. Total paid = 5×3,660.97 = £18,305. Interest = £3,305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4023360"/>
            <a:ext cx="8503920" cy="694944"/>
          </a:xfrm>
          <a:prstGeom prst="rect">
            <a:avLst/>
          </a:prstGeom>
          <a:solidFill>
            <a:srgbClr val="E8F5E9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4023360"/>
            <a:ext cx="594360" cy="694944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402336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24128" y="4023360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1.80 / (0.09 − 0.03) = 1.80 / 0.06 = £30.00 per share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 Mistakes — Don't Fall Into These Traps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errors cost marks in exams and, more importantly, cost money in the real world: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850392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" y="1444752"/>
            <a:ext cx="201168" cy="201168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2646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1298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the wrong compounding period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77240" y="1591056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rate is annual but payments are monthly, convert: r/12, n×12. Never mix annual rates with monthly periods.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1975104"/>
            <a:ext cx="8503920" cy="61264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" y="2157984"/>
            <a:ext cx="201168" cy="201168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2139696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Confusing nominal vs EAR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7240" y="2304288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monthly compounded ≠ 12% effective. Always convert to EAR before comparing products.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0040" y="2688336"/>
            <a:ext cx="850392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" y="2871216"/>
            <a:ext cx="201168" cy="201168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2852928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 IRR as the project's return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77240" y="3017520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assumes reinvestment at the IRR rate. In practice, cash flows are often reinvested at a lower rate.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3401568"/>
            <a:ext cx="8503920" cy="612648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768" y="3584448"/>
            <a:ext cx="201168" cy="201168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" y="3566160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34381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Gordon Growth when g ≥ 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77240" y="3730752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growth equals or exceeds the discount rate, the formula returns infinite value. Only use for mature, stable growers.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20040" y="4114800"/>
            <a:ext cx="8503920" cy="612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9768" y="4297680"/>
            <a:ext cx="201168" cy="201168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9768" y="4279392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" y="41513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Forgetting the initial investment in NPV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77240" y="4443984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= PV of inflows − INITIAL INVESTMENT. The t=0 cash flow is a negative number — include it.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Formula Sheet — Session 1 Reference Card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223760" y="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AM  •  Session 1 of 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|  Finance Fundamentals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for your revision. Every formula in this session in one place.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61872"/>
            <a:ext cx="420624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2618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Value: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2618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FV = PV × (1 + r)ⁿ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206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12618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 Value: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995160" y="126187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= FV / (1 + r)ⁿ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1901952"/>
            <a:ext cx="420624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190195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 Annual Rate: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560320" y="19019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 = (1 + r/m)ᵐ − 1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54880" y="1901952"/>
            <a:ext cx="4206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190195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 Present Value: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995160" y="190195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NPV = Σ CFₜ/(1+r)ᵗ − C₀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2542032"/>
            <a:ext cx="420624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" y="254203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 Annuity (PV):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60320" y="254203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= PMT × [1 − (1+r)⁻ⁿ] / 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0" y="2542032"/>
            <a:ext cx="4206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64608" y="254203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Annuity Due (PV):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95160" y="254203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= PMT × [1 − (1+r)⁻ⁿ] / r × (1+r)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20040" y="3182112"/>
            <a:ext cx="420624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318211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Perpetuity: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560320" y="31821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= PMT / 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754880" y="3182112"/>
            <a:ext cx="4206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318211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Gordon Growth Model: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95160" y="31821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PV = D₁ / (r − g)   [requires r &gt; g]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20040" y="3822192"/>
            <a:ext cx="8503920" cy="53035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382219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Interest Rate Build-Up: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743200" y="3822192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 = Real rate + Inflation + Default + Liquidity + Maturity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1 — Time Value of Money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3504" y="1709928"/>
            <a:ext cx="137160" cy="13716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37160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interest rate is simultaneously a required return, discount rate &amp; opportunity cost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46320" y="1298448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92624" y="1709928"/>
            <a:ext cx="137160" cy="13716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1371600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Real rate + Inflation + Default + Liquidity + Maturity premiums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" y="2880360"/>
            <a:ext cx="137160" cy="13716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2542032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 = PV×(1+r)ⁿ  — compounding is non-linear; earlier money grows faster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468880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92624" y="2880360"/>
            <a:ext cx="137160" cy="13716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0368" y="2542032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= FV/(1+r)ⁿ  — higher risk or longer wait → lower value today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63931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" y="4050792"/>
            <a:ext cx="137160" cy="13716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71246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&gt; 0 = value creation. NPV always beats IRR for mutually exclusive decisions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3639312"/>
            <a:ext cx="4160520" cy="1078992"/>
          </a:xfrm>
          <a:prstGeom prst="rect">
            <a:avLst/>
          </a:prstGeom>
          <a:solidFill>
            <a:srgbClr val="253A5E"/>
          </a:solidFill>
          <a:ln w="12700">
            <a:solidFill>
              <a:srgbClr val="253A5E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9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92624" y="4050792"/>
            <a:ext cx="137160" cy="13716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0368" y="3712464"/>
            <a:ext cx="363931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Annuities: PMT×[1−(1+r)⁻ⁿ]/r. Perpetuity: PMT/r. Gordon Growth: D₁/(r−g)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•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Value of Money — Finance Fundamentals</dc:title>
  <dc:subject>PptxGenJS Presentation</dc:subject>
  <dc:creator>PptxGenJS</dc:creator>
  <cp:lastModifiedBy>PptxGenJS</cp:lastModifiedBy>
  <cp:revision>1</cp:revision>
  <dcterms:created xsi:type="dcterms:W3CDTF">2026-04-06T13:35:03Z</dcterms:created>
  <dcterms:modified xsi:type="dcterms:W3CDTF">2026-04-06T13:35:03Z</dcterms:modified>
</cp:coreProperties>
</file>