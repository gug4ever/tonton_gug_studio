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14  ·  WEEK 4  ·  AFTERNOON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 Income II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Pricing, Yields &amp;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Term Structure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single discount rate to a full spot / par / forward curve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6 Learning Modules 6–9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Fixed Income II: Pricing, Yields &amp; Term Structure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Bond pricing mechanics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cash flows · discount/par/premium · Greece bond · flat vs full price · matrix pricing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Yield spread measures · fixed-rate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yield · street convention · yield-to-worst · G-spread · Z-spread · OAS intuition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Money-market and floater yields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 vs add-on rate · bond-equivalent yield conversion · FRN discount margin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 structure: spot / par / forward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curve · par rate · implied forwards · bootstrapping · curve-shape relationships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 fixed-coupon bond on and between coupon dates, including accrued interest, and classify it as discount, par, or premium.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the price or yield of an illiquid bond using matrix pricing from a ladder of comparable traded bonds.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current yield, street-convention YTM, yield-to-call and yield-to-worst on a callable bond, and reconcile rates of different periodicities.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bond's yield into a benchmark plus G-spread or Z-spread, and sketch how an OAS further adjusts for an embedded option.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money-market discount rates to bond-equivalent yields; price a floating-rate note; bootstrap a spot curve from par bond prices and derive par &amp; forward rates.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Bond pricing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mechanics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14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bond's price is the present value of its promised cash flows discounted at the market discount rate — and moves inversely with that rate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6, §2 "Bond Pricing and the TVM", pp. 130–134.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discount rate r is the rate of return investors demand for the bond's credit, liquidity and maturity risks — also called the required yield.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 =  PMT₁ / (1 + r)¹  +  PMT₂ / (1 + r)²  +  …  +  (PMTₙ + FVₙ) / (1 + 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75104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PMTₜ = coupon at period t; FVₙ = face value at maturity; r = market discount rate per period; n = number of periods to maturity.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7744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↑  →  PRICE 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factors (1+r)ᵗ grow with r; a higher rate shrinks every future cash flow by more.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7744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7744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CONVEX, NOT LINEAR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PV curve is convex in r — a 50-bp cut moves price by more than a 50-bp hike cuts it (second derivative positive).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7744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7744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 BONDS MOVE MORE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longer the maturity and the lower the coupon, the larger the % price change for a given Δr — duration intuition (Deck 15).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coupon &lt; YTM the bond trades at a discount; coupon = YTM → par; coupon &gt; YTM → premium — the three regimes summarised on one line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§2 Example 1 (BRWA bond) and Exhibit 3, pp. 130–133.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BRWA 5-year bond, semi-annual 1.6% periodic coupon (= 3.2% p.a.), priced at three different per-period YTMs.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18872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Periodic YTM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 vs rate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Regime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Intuition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&gt;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103.75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Excess coupon of +0.4/period for 10 periods, discounted at 1.2%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=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exactly meets the market-demanded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&lt;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96.41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Deficient coupon of −0.4/period for 10 periods, discounted at 2.0%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0604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60604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51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PULL-TO-PAR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(premium) bond's price drifts up (down) toward 100 as maturity approaches, even with the YTM held constant. Total return = coupon income + this predictable capital gain/loss.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" y="3657600"/>
            <a:ext cx="8503920" cy="6400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" y="3657600"/>
            <a:ext cx="73152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ANNUALIZED STATEMENT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97764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Equivalently: BRWA is at a premium when stated annual YTM 2.4% &lt; stated annual coupon 3.2%. Interest rates are annualized by multiplying periodic × 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Greece 5-year 3.5% coupon bond at a 5% YTM prices at EUR 93.50 per 100 — a worked proof of the discount-bond intuition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§2 Bond pricing with discount rate, pp. 131–134.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3.5% &lt; YTM 5.0% → the bond trades at a discount. Decompose the price into PV-of-coupons plus PV-of-face.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C · [ 1 − (1+r)⁻ⁿ ] / r   +   FV / (1 + 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92808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Annuity-form for level coupons + single PV of par. Equivalent to summing each cash flow individually.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6 — GREECE 5-YEAR SOVEREIGN · ANNUAL COUPONS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EUR 100, annual coupon 3.5%, market YTM = 5.0%. Cash flows: 3.5, 3.5, 3.5, 3.5, 103.5. Compute price.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coupons: C × [1 − (1.05)⁻⁵] / 0.05 = 3.5 × [1 − 0.78353] / 0.05 = 3.5 × 4.3295 = EUR 15.15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face:    100 / (1.05)⁵ = 100 / 1.27628 = EUR 78.35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PV(coupons) + PV(face) = 15.15 + 78.35 = EUR 93.50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coupon 3.5% &lt; YTM 5.0% → price &lt; par → discount bond 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EUR 93.50  per 100 face (a 6.50% discount to par, pulled to par over 5 years)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Between coupon dates full price = flat price + accrued interest — dealers quote the flat price but the buyer settles on the full price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§3 "Flat Price, Accrued Interest, Full Price", pp. 141–148.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full prices were quoted, investors would see a price jump down every coupon date — a quotation artefact. Flat price removes this sawtooth.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PV_Full  =  PV_Flat  +  AI            AI  =  (t / T) × PMT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 = days elapsed since last coupon; T = days in the full coupon period; PMT = coupon per period. Day count = Act/Act or 30/360.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FLAT (CLEAN / QUOTED)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dealers show on the screen. Removes the mechanical intra-period accrual so price changes reflect only yield moves. Used for all quoted-price statistics and for computing spreads.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(DIRTY / INVOICE)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cash paid by buyer on settlement. Includes the portion of the next coupon that accrued to the seller during their holding period. AI does NOT depend on yield — only on the calendar.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Romania 4.625% annual EUR bond settling 15 Dec 2031 at YTM 3.50% prices at EUR 107.60 full, EUR 3.23 accrued, EUR 104.37 flat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§3 Example (Romania eurobond), pp. 145–148.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coupon was 3 April 2031; next coupon 3 April 2032. Settlement 15 Dec 2031 sits in the middle of the coupon period.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70432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16152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ROMANIA 4.625% EUR ANNUAL BOND · ACT/ACT DAY COUNT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3 Apr 2049. Settlement 15 Dec 2031. YTM on settlement = 3.50%. 17 full coupons remaining.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20824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since last coupon: 3 Apr 2031 → 15 Dec 2031 = 256 days. Days in coupon period = 366 (Act/Act).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fraction t/T = 256 / 366 = 0.6995.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as of 3 Apr 2031 (full coupon date): price on-date = Σ 4.625 / 1.035ᵗ + 100 / 1.035¹⁷ = 114.69.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price at 15 Dec: PV_Full = PV_on_date × (1.035)^0.6995 = 114.69 × 1.0244 = EUR 107.60 (incl. AI).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43200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PV_Full 107.60  ·  AI = (256/366) × 4.625 = 3.23  ·  PV_Flat = 107.60 − 3.23 = 104.37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FLAT PRICE IS THE QUOTED PRICE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day after each coupon the quoted price in a stable-yield world is unchanged — accrued interest resets to 0 and the seller's claim on the next coupon is gone. Without this convention, quoted prices would mechanically climb every day between coupons.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Matrix pricing estimates the yield on an illiquid or new bond by interpolating across comparable traded bonds of similar credit and tenor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§4 "Matrix Pricing", pp. 155–163.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bonds trade thinly. When no recent print exists, pricing teams use comparable bonds as a proxy — widely used in dealer quotes.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YTM_new  ≈  linear interpolation of YTMs of comparable bonds by time-to-maturity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96596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196596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196596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00253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1 — Identify comparables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26222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bonds with similar credit quality, coupon rate, seniority, and (ideally) currency. Recent prints required.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69748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69748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269748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73405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2 — Compute each comparable YTM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99374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out YTM for each from observed flat prices using the standard PV equation. Confirm day-count conventions match.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2900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342900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" y="342900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346557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— Interpolate to target tenor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72526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Linearly weight the comparable YTMs by maturity distance from the target bond. Apply to target's cash flows to get price.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price a new 4-year 4.5% annual corporate bond from a 3-year 5.5% at 107.5 and a 5-year 4.5% at 104.75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6, §4 matrix-pricing examples, pp. 160–163.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Comparables must have similar credit — here, the corporate has just issued two bonds at 3y and 5y, giving a clean ladder for interpolation.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MATRIX PRICING A NEW 4-YEAR 4.5% ANNUAL COUPON BOND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5.50% comparable: price 107.500 → solve YTM. 5-year 4.50% comparable: price 104.750 → solve YTM. Target: 4-year 4.5%.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3-year YTM: 107.5 = 5.5/(1+r) + 5.5/(1+r)² + 105.5/(1+r)³  →  r₃ = 2.608%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5-year YTM: 104.75 = 4.5/(1+r) + 4.5/(1+r)² + 4.5/(1+r)³ + 4.5/(1+r)⁴ + 104.5/(1+r)⁵  →  r₅ = 3.378%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Interpolate to 4y: r₄ = (r₃ + r₅) / 2 = (2.608% + 3.378%) / 2 = 2.993%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Price target: 4.5/(1.02993) + 4.5/(1.02993)² + 4.5/(1.02993)³ + 104.5/(1.02993)⁴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Sum PVs: 4.370 + 4.244 + 4.121 + 92.815 = 105.55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Estimated price  ≈  EUR 105.55 per 100 face  (YTM ≈ 2.99%, implied spread over government benchmark tracked separately)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Yield spread measures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fixed-rate bonds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14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yield, street-convention YTM, true yield and government-equivalent yield are variations on one theme — what we discount and over what day count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§3 Other yield measures and conventions, pp. 163–168.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typically measure only a basis point or two — but always material when comparing bonds issued under different conventions.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Measure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Annual coupon / flat price — ignores time value, amortization of discount/premium, and reinvestment.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Quick proxy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Street-convention YTM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Standard YTM assuming cash flows occur on scheduled dates, ignoring weekends &amp; holidays.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Dealer quotes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YTM using actual payment dates, accounting for weekends/holidays. Always ≤ street-convention yield.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Accounting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Government-equivalent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Corporate 30/360 yield re-stated on Act/Act to compare with a Treasury benchmark.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G-spread input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+ straight-line amortization of price-to-par / flat price. Used mainly for JGBs.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Japan (JGBs)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91840"/>
            <a:ext cx="85039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9184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375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PERIODICITY CONVERSION — NEVER SKIP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11880"/>
            <a:ext cx="8275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+ APR_m / m)^m = (1 + APR_n / n)^n  —  two bonds with identical cash flows but different compounding conventions produce different YTMs. Align periodicities before computing a spread.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yield-to-worst on a callable bond is the minimum of YTM and every yield-to-call — the floor buyers assume when they can't control the option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§3 Example 6 VIVU callable notes, pp. 168–171.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 VIVU 7y callable notes at 106.50, semi-annual coupons. Call schedule declines from 103.25 in yr 3-4 to 101.00 in yr 6-7.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Σ PMT / (1+r)ᵗ  +  Call price / (1+r)ᴺ              YTW  =  min { YTC₁, YTC₂, …, YTM }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Issuer will only call when advantageous to them (= disadvantageous to investor), so YTW is the right conservative assumption.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20240"/>
          <a:ext cx="8503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463040"/>
                <a:gridCol w="16459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Semi-annual 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Annualized yield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Yield-to-first-call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 of 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103.25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Yield-to-second-call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 of 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2.624%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Yield-to-third-call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 of 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2.653%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Yield-to-fourth-call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 of 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Yield-to-maturity (not called)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 of 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2.705%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5.41%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Yield-to-worst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5.15% (YTC₁)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bond's YTM decomposes into a benchmark rate plus an issuer-specific yield spread — macro captured by the benchmark, micro in the spread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§4 "Yield Spreads over Benchmark Rates", pp. 171–176.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isolates issuer-specific risks (credit, liquidity, tax) from market-wide rate moves. Analysts monitor spreads vs history, not absolute yields.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YTM_bond  =  Benchmark_YTM  +  Yield spread           G-spread  =  YTM_bond  −  interpolated government YTM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9384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Benchmark = on-the-run sovereign of similar maturity (or interest-rate swap for I-spread). Spread often in bps.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G-SPREAD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vs (interpolated) government YTM of matching maturity. Cleanest cross-issuer credit gauge. Single-number.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I-SPREAD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vs matched-maturity interest-rate swap rate. Common for EUR corporates — swap curve is deeper than the sovereign curve.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Z-SPREAD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spread added to EVERY benchmark spot rate so PV of cash flows = price. More accurate when the curve is steep.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Russian Federation 5.25% 30y bond at 123.5 six years in has a G-spread of 166 bps over an interpolated 24y Treasury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§4 Example 7 Russian Federation bond, pp. 174–176.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issuance in 2020 the bond priced at 99.625 with a 200-bp spread over the 30y UST. Six years later we compute the current spread.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RUSSIA 5.25% USD · SEMI · 30Y ORIGINAL · 24Y REMAINING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Mar 2026 price = 123.5. 20-year UST yields 2.00%; 30-year UST yields 2.25%. Compute current G-spread.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Current YTM: solve 123.5 = Σ 2.625/(1+r/2)ᵗ + 100/(1+r/2)⁴⁸  →  YTM ≈ 3.756%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Weights for linear interpolation to 24-year tenor: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w₂₀ = (30 − 24)/(30 − 20) = 60%;  w₃₀ = 40%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Interpolated 24-year Treasury: r₂₄ = 0.6 × 2.00% + 0.4 × 2.25% = 2.10%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G-spread = YTM_bond − r₂₄ = 3.756% − 2.10% = 1.656%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G-spread  =  166 bps   (vs issuance spread of 200 bps → modest credit improvement)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Z-spread is the constant add-on to every benchmark spot rate that makes PV of the bond's cash flows equal its price — more accurate than G-spread when the curve is steep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§4 Z-spread and OAS, Equations 4–5, pp. 176–178.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G-spread uses ONE discount rate (the YTM). Z-spread uses the whole spot curve plus a constant — the spread an investor "earns at every point".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 =  Σₜ  PMTₜ / (1 + zₜ + Z)ᵗ   +   FV / (1 + zₙ + Z)ⁿ       OAS  =  Z-spread  −  option value (bps)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zₜ = benchmark spot rate for period t; Z = Z-spread (solve numerically). OAS strips out the value of an embedded call / put option.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Z &gt; G ON A STEEP CURVE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cash flows get a lower discount when using the full curve vs a single 30y YTM — raising their PV, forcing Z &gt; G to re-match the quoted price.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/ ZERO-VOLATILITY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Z-spread assumes a single deterministic path for rates — no option value. That's why callable-bond analysts pair it with OAS.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OAS INTUITION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callable: Z-spread overstates the credit spread because part of it compensates for the call. OAS = Z − option value = clean credit spread.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Z-spread on a 3-year 5% annual corporate bond priced at 98.50 given spot rates 3.0% / 3.5% / 4.0% is ≈ 160 bps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7, §4 Z-spread example paraphrased, pp. 176–178.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by iteration (Excel Goal Seek or bisection). Each cash flow is discounted at its own spot rate plus Z.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 FOR Z SO THAT SUM OF DISCOUNTED CASH FLOWS = 98.50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 5, 5, 105 at end of years 1, 2, 3. Spot curve: z₁ = 3.0%, z₂ = 3.5%, z₃ = 4.0%. Quoted price = 98.50.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up: 98.50 = 5 / (1.03 + Z)¹  +  5 / (1.035 + Z)²  +  105 / (1.04 + Z)³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Z = 1.00%:  5/1.040 + 5/1.045² + 105/1.050³ = 4.808 + 4.580 + 90.702  =  100.09  (too high)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Z = 2.00%:  5/1.050 + 5/1.055² + 105/1.060³ = 4.762 + 4.494 + 88.164  =  97.42   (too low)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 to Z = 1.60%:  5/1.046 + 5/1.051² + 105/1.056³ = 4.780 + 4.526 + 89.158 = 98.46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(Goal Seek): Z ≈ 1.599% so that PV = 98.500 exactly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Z-spread  ≈  160 bps   (constant add-on applied to every spot rate along the curve)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Money-market and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floater yields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14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Money-market rates are annualized but not compounded — and come in two mutually inconsistent flavours: discount rate (on FV) and add-on rate (on PV)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Convention alone separates these: a Treasury bill and a CD with the same cash flows will quote different numbers.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Always convert to a common basis (usually 365-day add-on = bond-equivalent yield) before comparing.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8, §3 Money Market Yield Measures, pp. 194–200.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Money-market discount rate UNDERSTATES the true return because it divides earned interest by FV, not PV — a legacy convention.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261872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PV_DR  =  FV × [1 − (Days/Year) × DR]        PV_AOR  =  FV / [1 + (Days/Year) × AOR]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2002536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DR quoted on face, AOR quoted on principal. Day-count: T-bills usually 360; CDs 360 or 365 depending on jurisdiction.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93192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Convention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instruments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(DR)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 = (Year/Days) × (FV − PV) / FV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T-bills · commercial paper · bankers' acceptances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 rate (AOR)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AOR = (Year/Days) × (FV − PV) / PV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Bank CDs · repos · MRR indices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Bond-equivalent yield (BEY)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AOR stated on a 365-day year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Standard common basis for comparison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a 90-day CP quoted at 0.100% discount rate on a 360-day year converts to a BEY of 0.102% once re-expressed on a 365-day add-on basis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8, §3 Example 3 and Exhibit 3, pp. 197–200.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Three-step conversion: (1) price from DR; (2) compute AOR on 365-day year; (3) that AOR = BEY.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BRWA 90-DAY COMMERCIAL PAPER · DISCOUNT RATE 0.100% · 360-DAY YEAR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price, then the BEY, then compare to a 90-day CD quoted at 0.120% AOR on a 365-day year (same credit).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Price from DR: PV = 100 × [1 − (90/360) × 0.00100] = 100 × 0.99975 = 99.975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AOR on 365-day year: AOR = (365/90) × (100 − 99.975) / 99.975 = 4.0555 × 0.0002501 = 0.001014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Express as BEY: BEY = AOR = 0.1014% ≈ 0.102% (365-day basis)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 CD: CFP Bank 90-day CD AOR on 365-day = 0.120%. BRWA CP at BEY 0.101% → CD is higher-yielding.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BRWA appears cheaper at 0.100% DR but only because of the 360-day convention masking 1.4% annualization uplift.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BRWA BEY  =  0.102%   vs   CFP Bank CD  =  0.120%   →   CD offers the higher return on an apples-to-apples basis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floating-rate note resets its coupon each period to MRR + quoted margin — so it trades at par only when the required margin equals the quoted margin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8, §2 FRN Pricing, Equation 1, pp. 188–193.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reset date cash flows "snap" back to market rates, so interest-rate risk is reduced. Residual price risk is driven by CREDIT — the discount margin.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 =  Σ  [ (MRR + QM)/m × FV ]  /  [1 + (MRR + DM)/m ]ᵗ   +   FV / [1 + (MRR + DM)/m ]ⁿ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QM = quoted margin (locked at issuance); DM = discount margin (market-determined, reflects current credit). Par if QM = DM.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QM &lt; DM  →  DISCOUNT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paying "deficient" margin vs what market now demands — bond falls below par. Credit has deteriorated.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QM = DM  →  PAR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Market-required margin = locked quoted margin. Bond prices exactly at 100 on each reset date.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QM &gt; DM  →  PREMIUM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"overpaying" vs current market. Credit improved since issuance — bond trades above par.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Antelas AG 4y FRN paying 3m MRR of −0.55% + 250 bps priced at 97 implies a discount margin of 329 bps — a clear credit downgrade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8, §2 Example 1 Antelas AG FRN, pp. 191–194.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is 3 pts below par → market requires more compensation than the 250-bp locked QM. Solve for the required margin implied by price.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ANTELAS AG FRN · EUR · QUARTERLY · 4-YEAR · 30/360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 = 250 bps; MRR (3m) = −0.55%; Price = 97 per 100 par; N = 16 remaining periods. Face = 100.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Periodic coupon: PMT = (MRR + QM) / m × FV = (−0.0055 + 0.025) / 4 × 100 = 0.4875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Solve for periodic rate r using PV = −97, FV = 100, PMT = 0.4875, N = 16 (Excel RATE)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r = 0.006861 per period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Back out DM: r = (MRR + DM) / m → 0.006861 = (−0.0055 + DM) / 4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DM = 4 × 0.006861 + 0.0055 = 0.0329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DM  =  329 bps   vs QM of 250 bps   →   market demands 79 bps MORE than at issuance (credit deterioration)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 structure: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spot, par &amp; forward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14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rates are zero-coupon yields — one rate per maturity — and form the ideal dataset because they carry no coupon reinvestment risk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§2 "Maturity Structure and Spot Rates", pp. 209–216.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strips (stripped coupon bonds) supply direct spot observations. Elsewhere, analysts bootstrap spots from coupon bonds.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96112"/>
                <a:gridCol w="896112"/>
                <a:gridCol w="896112"/>
                <a:gridCol w="896112"/>
                <a:gridCol w="886968"/>
                <a:gridCol w="886968"/>
                <a:gridCol w="886968"/>
                <a:gridCol w="88696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Maturity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7y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10y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30y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Canada 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 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06040"/>
            <a:ext cx="4160520" cy="1691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606040"/>
            <a:ext cx="73152" cy="1691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517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UPWARD-SLOPING (NORMAL)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rates &gt; short rates. Positive maturity premium. Typical in risk-on, moderate-inflation regimes.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606040"/>
            <a:ext cx="4160520" cy="1691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606040"/>
            <a:ext cx="73152" cy="1691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6517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DOWNWARD-SLOPING (INVERTED)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92608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rates &lt; short rates. Usually precedes recession — market expects rate cuts ahead.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bond's no-arbitrage price is the sum of each cash flow discounted at its OWN spot rate — not at a single YTM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§2 Bond Pricing with Spot Rates, pp. 213–216.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flat YTM mis-allocates the discount factor across the timeline. Arbitrage arguments force prices to equal the spot-rate PV.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PMT₁ / (1 + Z₁)¹  +  PMT₂ / (1 + Z₂)²  +  …  +  (PMTₙ + FV) / (1 + Zₙ)ⁿ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Zₜ = spot rate for maturity t. For corporate issuers, add a credit spread (Z-spread) uniformly to every spot.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SPOT-PRICING WINS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No-arbitrage. A dealer stripping coupons and pricing each at its own spot must equal whole-bond price — else a riskless profit exists.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YTM STILL USEFUL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YTM compresses the curve into one number — convenient for quoting, benchmarking, and spread measures. Just know that behind it lives the spot curve.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a 3-year 5% annual bond priced against spot rates 2% / 3% / 4% trades at 102.96 with an implied YTM of 3.94%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§2 numerical illustration, pp. 213–214.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YTM ≠ 5-year spot. It is a weighted mix of all three spots — mostly driven by the 3-year because that's where most of the PV sits.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3-YEAR 5% ANNUAL COUPON BOND · PAR 100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curve: Z₁ = 2%, Z₂ = 3%, Z₃ = 4%. Coupons: 5, 5, 105 at end of years 1-3. Compute price and YTM.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C₁: 5 / (1.02)¹  =  4.902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C₂: 5 / (1.03)²  =  4.713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C₃+Face: 105 / (1.04)³  =  93.345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4.902 + 4.713 + 93.345 = 102.960  (premium — coupon 5% beats every spot)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for YTM: 102.96 = 5/(1+r) + 5/(1+r)² + 105/(1+r)³  →  r = 3.935%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 =  102.96   ·   Implied YTM  =  3.935%   (between Z₁ 2% and Z₃ 4%, closest to 3-year spot because the final CF dominates)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par rate is the coupon that makes a bond price at 100 against the spot curve — the core of the published Treasury yield curve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§3 "Par Rates from Spot Rates", pp. 217–218.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Treasury publishes par rates each day because actual on-the-run bonds rarely price exactly at par — par rates are the clean hypothetical.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 =  Σₜ  PMT / (1 + Zₜ)ᵗ   +   (PMT + 100) / (1 + Zₙ)ⁿ      →   solve for PMT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Solve the PV equation for PMT given the spot curve. The resulting PMT / 100 is the par rate per period.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 RATE vs YTM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YTM depends on a specific bond's coupon; par rate is the SINGLE coupon that produces a par-priced bond. Par rate is purely about the curve.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CURVE-SHAPE RULES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 curve: par rate &lt; spot rate (averaging across earlier, lower spots).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curve: par rate &gt; spot rate.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curve: par rate = spot rate.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bootstrap 2-year and 3-year par rates from spot rates 5.263% / 5.616% / 6.359%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§3 par-rate illustration, pp. 217–218.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year: par rate trivially equals Z₁. For longer tenors, solve a polynomial in PMT against 100. Shown for 2y and 3y.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RATES GIVEN: Z₁ = 5.263%, Z₂ = 5.616%, Z₃ = 6.359%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annual coupon PMT that makes each bond price at 100. (Annual compounding, periodicity = 1.)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par: 100 = (PMT + 100) / 1.05263  →  PMT = 5.263  →  par rate = 5.263%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2-year par: 100 = PMT/1.05263 + (PMT + 100)/1.05616²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PMT × [1/1.05263 + 1/1.05616²] + 100/1.05616² = 100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PMT × [0.95000 + 0.89635] + 89.635 = 100  →  PMT × 1.84635 = 10.365  →  PMT = 5.614 ≈ 5.61%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par: 100 = PMT/1.05263 + PMT/1.05616² + (PMT+100)/1.06359³  →  PMT = 6.306%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1y par = 5.263%   ·   2y par = 5.606%   ·   3y par = 6.306%    (each below the corresponding spot, curve is upward-sloping)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implied forward rate is the breakeven reinvestment rate that makes a short-then-reinvest strategy equivalent to holding a longer zero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§3 "Forward Rates from Spot Rates", pp. 218–220.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Naming: "AyBy" = B-year rate starting A years from today. So "3y1y" is the 1-year rate, 3 years from now.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7132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07008"/>
            <a:ext cx="832104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 + Z_A)^A  ×  (1 + IFR_{A,B−A})^{B−A}   =   (1 + Z_B)^B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Z_A = shorter-tenor spot; Z_B = longer-tenor spot; IFR = the implied (B − A)-year forward rate starting at time 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BREAKEVEN INTUITION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expect rates HIGHER than IFR, go short (roll). If LOWER, go long (lock). IFR is the indifference point.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CURVE → FORWARD CURVE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forward rate is a ratio of adjacent spots. (1+Z_B)^B / (1+Z_A)^A, then take the (B−A)-th root.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CURVE → SPOT CURVE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= geometric average of forwards: (1+Z_n)^n = (1+0y1y)(1+1y1y)…(1+(n−1)y1y). Three curves, one information set.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the 2y1y implied forward rate from 2y and 3y spots of 3.0% and 4.0% is 6.03% — the breakeven for year 3 reinvestment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§3 Example 3, pp. 219–220.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at Z₃ = 4% for 3y must equal investing at Z₂ = 3% for 2y and then rolling at the 2y1y — solve for the rolled rate.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THE 2Y1Y FORWARD RATE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curve: Z₂ = 3.0%, Z₃ = 4.0%. Annual compounding. Find IFR_{2,1}.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(1 + Z₂)² × (1 + IFR_{2,1})¹ = (1 + Z₃)³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(1.03)² × (1 + IFR_{2,1}) = (1.04)³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1.0609  × (1 + IFR_{2,1}) = 1.124864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+ IFR_{2,1}) = 1.124864 / 1.0609 = 1.06032  →  IFR_{2,1} = 6.03%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15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2y1y  =  6.03%   (much higher than 4% 3y-spot: market priced into forwards a year-3 rate well above today's level)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TRADER TAKE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view is the 1-year rate two years from now will be 4.5% (below 6.03%), LOCK-IN: buy the 3-year zero now. If you think it will be 7% (above 6.03%), ROLL: buy the 2-year zero and reinvest at the expected higher rate.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Spot, par, and forward curves carry identical information — three lenses, one curve; their ordering depends only on the spot curve's slope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§4 "Spot, Par, Forward Yield Curves", pp. 225–229.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spot curve mechanically determines the par and forward curves; knowing any one lets you reconstruct the other two.</a:t>
            </a:r>
            <a:endParaRPr lang="en-US" sz="1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82880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Curve slope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Forward vs spot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Par vs spot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Economic 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Upward-sloping (normal)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Forward &gt;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 &lt;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expects higher future 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Forward =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 =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Expectations: rates stay constant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Downward-sloping (inverted)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Forward &lt;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 &gt; spot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expects lower future rates / recession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9748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69748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7432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FORWARDS SIT ABOVE SPOT ON AN UPWARD CURVE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01752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spot = geometric average of shorter spot and forwards. If Z₃ &gt; Z₂, then 2y1y must exceed Z₃ to drag the average UP. So forwards overshoot the spot curve when it rises.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" y="3749040"/>
            <a:ext cx="8503920" cy="548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" y="3749040"/>
            <a:ext cx="73152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MATH IDENTITY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6908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+ Z_n)ⁿ  =  Πᵢ (1 + iy1y)   —   spot is the geometric average of one-year forwards.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bootstrap the full 3-year spot curve from par bonds at 2%, 2.5% and 3% coupons — Z = 2.00% / 2.51% / 3.02%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LM 9, §3 bootstrapping synthesis, pp. 218–224.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= solve sequentially. Z₁ from the 1-year par bond. Z₂ plugs in Z₁. Z₃ plugs in Z₁, Z₂. Builds the entire spot curve.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 BONDS (EACH PRICED AT 100, ANNUAL COUPONS)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2% par bond. 2-year 2.5% par bond. 3-year 3% par bond. Recover the spot curve.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Z₁: 100 = 102 / (1 + Z₁)  →  Z₁ = 2.000%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Z₂: 100 = 2.5 / 1.02 + 102.5 / (1+Z₂)²  →  97.549 = 102.5 / (1+Z₂)²  →  Z₂ = 2.506%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Note Z₂ &gt; Z₁ (and &gt; 2y par coupon 2.5%) — upward-sloping curve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Z₃: 100 = 3 / 1.02 + 3 / 1.02506² + 103 / (1+Z₃)³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2.941 + 2.855 + 103/(1+Z₃)³  →  94.204 = 103/(1+Z₃)³  →  Z₃ = 3.020%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 curve: Z₁ = 2.00%  ·  Z₂ = 2.51%  ·  Z₃ = 3.02%   (each spot &gt; same-tenor par rate, confirming upward slope)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14 — Fixed Income II: Pricing, Yields &amp; Term Structure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price = PV of coupons + PV of face at the market discount rate. Coupon vs YTM determines discount / par / premium; the Greece 5y 3.5% at 5% YTM prices at 93.50.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coupon dates, full price = flat price + accrued interest; dealers quote flat (AI doesn't depend on yield).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pricing interpolates comparable-bond YTMs to price illiquid or new issues — three-step process: identify, back out YTMs, interpolate.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Yield-to-worst = min of YTM and every yield-to-call — the conservative yield on a callable. VIVU worked example: YTW = 5.15%.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G-spread = YTM − interpolated government YTM. Z-spread = constant add-on to every spot rate. OAS = Z-spread − option value.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Money-market rates come in DR (T-bills, CP) and AOR (CDs, repos) flavours — always convert to a 365-day bond-equivalent yield before comparing.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FRN prices at par when quoted margin = discount margin; Antelas AG 4y FRN at 97 implies a DM of 329 bps against a QM of 250 bps → credit widened.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Spot, par and forward curves carry the same information — bootstrap spots from par bonds, forwards from spots; upward curve ⇒ forwards &gt; spot &gt; par.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14 · Fixed Income II: Pricing, Yields &amp; Term Structure</dc:title>
  <dc:subject>PptxGenJS Presentation</dc:subject>
  <dc:creator>Studio Tonton Gug</dc:creator>
  <cp:lastModifiedBy>Studio Tonton Gug</cp:lastModifiedBy>
  <cp:revision>1</cp:revision>
  <dcterms:created xsi:type="dcterms:W3CDTF">2026-04-23T14:07:29Z</dcterms:created>
  <dcterms:modified xsi:type="dcterms:W3CDTF">2026-04-23T14:07:29Z</dcterms:modified>
</cp:coreProperties>
</file>