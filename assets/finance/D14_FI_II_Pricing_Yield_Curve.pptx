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Deck 13 described the instruments. This one prices them. Everything today is one equation seen from four angles.
•  Two hours. §1 and §2 are the exam engine — do not let §1 eat more than 35 min.
•  Warn them up front: this is the most computational deck of the course. Calculators out.
•  Every figure here is traceable to the 2025 curriculum, printed page cited on each slide.
•  Set the spine now: price ⇄ yield ⇄ spread ⇄ curve. Four words, four sections.
NEXT — Straight to the agenda — the cover is not a talking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Show them the arc: one discount rate at the start of the deck, a whole curve by the end.
•  §1 and §2 carry most of the exam weight — say so, it buys you attention.
•  §3 is short but is where conventions bite. §4 is the payoff.
•  Flag the running thread: every section is the same PV equation with a different unknown.
•  One minute. Do not narrate the sub-bullets.
NEXT — Objectives, then straight into pricing.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Objective 2 is the one they will skip and the one the exam loves — the three YTM conditions.
•  Read objectives 1 and 4 aloud; skim the rest.
•  Tell them: if you can only master one thing today, make it the bootstrap in §4.
•  Warn that "yield" is not one number — the deck defines at least eight of them.
•  Ninety seconds maximum.
NEXT — Section one. Back to first principles: what is a bond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Thirty-five minutes. Five ideas: PV identity, the three regimes, YTM and what it assumes, accrued interest, matrix pricing.
•  Say the destination: by the end of §1 they can price any plain-vanilla bond on any date.
•  Ask for a show of hands on who has used a bond calculator — calibrates your pace.
•  Keep the pace up here; §4 needs the time more than §1 does.
NEXT — Start with the identity everything else is built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They already know DCF. The only new thing is that the cash flows are contractual — so all the drama sits in r.
•  Write the equation once on the board. Say "this is the whole deck" and mean it.
•  Stress PER PERIOD: a semiannual bond means n×2 periods at r/2. Half of all errors start here.
•  Inverse relationship: rate up, price down. Have them say it back.
•  Convexity: the price gain from −80 bp beats the price loss from +80 bp. Do not prove it, just plant it.
•  Long + low coupon = most sensitive. Preview Deck 15 in one sentence, no more.
FROM THE DESK — Nobody on a desk talks about price. They talk about yield or spread and let the calculator produce the price — because price is not comparable across coupons and maturities, and spread is.
ASK THE ROOM — A 30-year zero and a 2-year 6% bond both yield 4%. Rates rise 50 bp. Which one hurts more, and why?
NEXT — If price moves inversely with r, what happens when coupon and r disagree? Three regimes.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Students memorise the three regimes and then state them backwards under pressure. Give them the causal story instead of the rule.
•  Do not read the table. Ask: "coupon 1.6%, market wants 2.0% — is this bond worth more or less than par?"
•  Land the mechanism: the gap IS the present value of the coupon shortfall. −0.4 per period for 10 periods = −3.59.
•  Pull-to-par: price converges to 100 even with the yield frozen. A premium bond loses price every year on purpose.
•  The three YTM conditions: read them slowly. Condition 3 is the one they get wrong.
•  Reinvestment is AT the YTM — not at the coupon rate, not at "market rates".
FROM THE DESK — This is why a high-coupon premium bond is not a "high-yield" bond. Retail investors buy the coupon; the amortisation of the premium quietly gives it back. Total return is the only honest measure.
ASK THE ROOM — A bond pays a 6% coupon and yields 4%. Does its price rise or fall over the next year if yields do not move?
NEXT — Put a number on it. A real CFA discount bond, priced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things to land: the periodicity conversion, and that the discount is not a mystery — it is an annuity you can compute.
•  Make them do step 1 out loud before you show it. n = 10, PMT = 1.625, r = 2%. Every error today starts here.
•  Common trap: 5 periods at 4%, or 10 periods at 4%. Both give the wrong answer and look plausible.
•  The cross-check in step 5 is the payoff — it ties the price straight back to Exhibit 1 on the last slide.
•  Note the answer is 96.632, NOT 96.661 — that distractor is the annual-compounding version.
•  Excel shortcut worth showing: =-PV(0.02,10,1.625,100,0) and =PRICE(...) both return 96.632.
FROM THE DESK — On a desk you would never build the annuity by hand — but you always sanity-check the sign. Coupon under the market rate and the model spits out a premium? The day count or the frequency is wrong.
NEXT — That was pricing on a coupon date. Trades settle on other days — which is where accrued interest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This is a quotation convention, not a valuation idea. Say that first and the confusion disappears.
•  Draw the sawtooth on the board: full price ramps up, drops on the coupon date, ramps again. Flat price is the smooth line under it.
•  The buyer receives the WHOLE next coupon, so they must pay the seller for the part the seller earned.
•  Say it twice: accrued interest does not depend on the yield. Only the flat price does.
•  Second formula is the practical route — price it on the last coupon date, then grow it forward by (1+r)^(t/T).
•  Day count: Act/Act for governments, 30/360 for corporates. It changes AI by a few cents, not by a lot.
FROM THE DESK — Settlement fails and coupon-date disputes are almost always an accrued-interest disagreement, not a price disagreement. Two desks agree on the flat price and still argue about the wire.
ASK THE ROOM — The bond trades flat at 99.00 and 60 of 180 days have passed on a 4% semiannual coupon. What do you actually pay?
NEXT — Full worked version, on a real sovereign, mid-coupon-period.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mechanical steps are easy. What trips people is choosing the right anchor date and the right number of coupons.
•  Eighteen coupons, not seventeen — count from the NEXT coupon (Apr 2032) to maturity (Apr 2049) inclusive.
•  Anchor on the last coupon date, price there, then compound forward by the fraction of the period elapsed.
•  Point at the leap year: T = 366, not 365. Act/Act means actual.
•  AI = 0.69945 × 4.625. No yield anywhere in that line — say it out loud.
•  The bond is at a big premium (114.400) because a 4.625% coupon against a 3.50% yield is generous.
FROM THE DESK — Sovereign eurobonds like this one are quoted flat and settle full across Euroclear. When a client queries "the price you showed me was 114.40, why is the invoice 117.64", this slide is the answer.
NEXT — Both examples assumed we could see a price. Most bonds never trade. So how do you price those?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This is the most practically used technique in the whole module and the one students dismiss as trivial.
•  Four steps, not three. Step 2 has two halves — solve, then average within the maturity bucket.
•  Say why it exists: most bonds do not trade today, and a new issue has never traded.
•  Exhibit 11 lays the comparables out as a grid — coupon down the side, maturity across. Hence "matrix".
•  Comparables must match on CREDIT first. Same tenor, wrong rating, useless.
•  Second use: underwriters price a new issue by matrix-pricing the spread off the issuer's own outstanding curve.
FROM THE DESK — This is exactly how a Bloomberg BVAL price gets built for a bond nobody has traded in weeks — and why a screen price is an estimate, not a print. Ask for the trade history before you trust it.
ASK THE ROOM — Your issuer has a 3-year and a 7-year outstanding. You are pricing their new 5-year. What could make simple interpolation wrong?
NEXT — Run the numbers on a real CFA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Mechanically simple, but every step is a place to slip. Walk it slowly once and they will never need it walked again.
•  Step 3 is a straight average only because 4 sits exactly halfway between 3 and 5. Say that — otherwise they will always average.
•  General form: r₄ = r₃ + [(4−3)/(5−3)] × (r₅ − r₃). Write it on the board.
•  Note the two comparables have DIFFERENT coupons — that is fine for yields, and it is precisely why we interpolate yields and not prices.
•  Sanity check the answer: coupon 4.50% above yield 3.153%, so the price must exceed 100. It does.
•  The exam distractors here are 103.895 and 106.125 — both come from interpolating prices instead of yields.
FROM THE DESK — A real desk would weight by DV01 and adjust for the coupon effect rather than averaging raw yields. The CFA method is the right first approximation, and it is what the screen does.
NEXT — Section one done. Now: the yield itself is not one number. Section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Section one gave them one yield. This section shows that "the yield" is a family, and that professionals mostly quote the SPREAD instead.
•  Thirty minutes. Conventions, then callables, then the spread ladder G → I → Z → OAS.
•  Tell them the punchline now: the spread is where the issuer-specific story lives.
•  This section has the highest exam density in the deck.
NEXT — Start with the vocabulary — six yield conventions on one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Do not teach this table row by row. Teach the two rows that change an answer: true yield and periodicity.
•  Current yield is a crude number — no time value, no pull-to-par, no reinvestment. Say "crude" and move on.
•  True yield ≤ street convention ALWAYS. Weekends and holidays only ever delay a payment, never accelerate it.
•  Government-equivalent exists for one reason: you cannot subtract a 30/360 yield from an Act/Act yield honestly.
•  The periodicity callout is the real content on this slide. 4.548% quarterly IS 4.574% semiannual — same cash flows.
•  Exam trap: a "177 bp" yield pickup that is really 179 bp once the periodicities match.
FROM THE DESK — In a cross-border comparison the convention gap is bigger than the credit view being expressed. A US corporate at 30/360 versus a gilt at Act/Act — restate before you form an opinion, or you are trading a day count.
NEXT — Now add an embedded option and the yield stops being a single number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Five yields on one bond. The point is not the arithmetic — it is that the investor does not choose which one they get.
•  Each row is the same equation with a different N and a different redemption amount. Nothing new is being taught.
•  The bond is at a premium (106.50), so the earliest call is the worst outcome — that is the usual pattern.
•  YTW here = yield-to-first-call = 5.15%. Circle it.
•  Note the yields rise monotonically here; do not tell them YTW is always the first call — it is whichever is lowest.
•  YTW is a dealer convention, not a valuation. The precise answer is an option-pricing model — say that and move on.
FROM THE DESK — High-yield desks quote everything to worst. A screen showing "5.37%" to maturity on a bond that will obviously be called in three years is not a lie, it is just answering a question nobody asked.
ASK THE ROOM — If VIVU were trading at 92 instead of 106.50, would the yield-to-first-call still be the worst?
NEXT — That covered the option. Now the second component of any yield: the spread.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This is the single most useful idea in the section: a yield is two stories glued together, and only one of them is about the issuer.
•  Benchmark = macro: real rate, inflation, policy, the cycle. Moves every bond in the market together.
•  Spread = micro: credit, liquidity, tax. Moves this issuer only.
•  That decomposition is why an analyst says "we are 20 bps wide to comps" and never "we yield 4.7%".
•  G vs I is a choice of benchmark curve, not a different concept. USD/GBP/JPY → government. EUR corporates → swaps.
•  Z is the step change: it stops using a single discount rate.
FROM THE DESK — A new issue gets priced as "benchmark plus concession". The syndicate argues about the spread, then reads the yield off the screen at pricing. Nobody negotiates a yield — they negotiate basis points.
ASK THE ROOM — Ten-year Treasuries rally 40 bp and your corporate bond rallies 40 bp. Did the issuer's credit improve?
NEXT — G-spread with a worked case — including what to do when no matching government bond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whole slide exists to teach one habit: when the benchmark you need does not exist, you build it.
•  Step 2 is the only place people slip. The 20-year gets the BIGGER weight because 24 is closer to 20.
•  Show the check line: 0.6×20 + 0.4×30 = 24. If that does not come back to 24, the weights are flipped.
•  The bond trades at 123.5 — well above par — because a 5.25% coupon against a 3.756% yield is rich.
•  Spread tightened from 200 to 166. Frame it as the market's verdict on the issuer, not on rates.
•  Note what G-spread ignores: the shape of the curve between now and year 24. That is the opening for Z-spread.
FROM THE DESK — Interpolating a benchmark is daily work in EM and in long-dated credit, where the sovereign curve has holes. The number you interpolate onto is a modelling choice — two banks can differ by several basis points on the same bond.
NEXT — G-spread uses one point on the curve. What if we used all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Z-spread is the first measure on the deck that respects the shape of the curve. OAS is the first that respects optionality.
•  One number added to every spot rate. Not a different number per period — that would be trivially solvable and meaningless.
•  Solved numerically. Goal Seek or Solver. There is no closed form and nobody expects one.
•  Do NOT let them memorise "Z is bigger than G". The sign depends on the coupon and the curve slope. What is true is that Z is cleaner.
•  OAS sign rule — drill it: callable → OAS &lt; Z. Putable → OAS &gt; Z. Ask them to justify it from who owns the option.
•  "Zero-volatility" is the giveaway: Z prices no optionality at all, which is fine for a bullet bond.
FROM THE DESK — On a screen, Z-spread is what a credit PM actually compares across bonds with different coupons and maturities. OAS is what they compare across bonds with different call structures. Quoting G-spread on a callable is close to meaningless.
NEXT — A worked Z-spread — running it forwards, then noting how you would run it backwards.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Deliberately run forwards. Once they see the same Z landing on every spot, the reverse solve stops being mysterious.
•  Emphasise step 1: the spots differ, the Z does not. That is the entire definition.
•  Contrast with G-spread: there you would have used ONE rate for all three cash flows.
•  The bond is at 94.20 because 378 bps of credit spread swamps a 5.5% coupon on a ~3.5% government curve.
•  In practice the price is the observable and Z is the unknown — Goal Seek, change cell Z, objective = quoted price.
•  If they want a second data point: CFA Example 9 (IIF bond) gives both a G-spread and a Z-spread on the same bond.
FROM THE DESK — A credit analyst pitches a bond as "trading 40 wide of its own curve on Z". Nobody says the price. Z-spread is the unit of relative value because it is the only one that is comparable across coupons and maturities.
NEXT — Fixed-rate bonds done. Money-market instruments and floaters play by different rules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shortest section and the one that generates the most careless errors — because everything here is a convention, not a concept.
•  Twenty minutes. Two ideas: DR vs AOR, and quoted margin vs discount margin.
•  Tell them plainly: nothing here is intellectually hard, and it is still where marks are lost.
•  Frame it as translation. Every instrument speaks a slightly different dialect of "yield".
NEXT — Money-market conventions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Land one idea: a discount rate is not an interest rate. It divides by the wrong number on purpose, for historical reasons.
•  Interest rate = amount earned ÷ amount invested. DR divides by FV, which already includes the earnings.
•  So DR always understates the return to the investor and the cost to the issuer. Always in the same direction.
•  Memorise the instrument split: T-bills, CP and bankers' acceptances on DR; CDs, repos and MRR indices on AOR.
•  Also flag: 360-day vs 365-day years vary by market. Two conventions, two year bases, four combinations.
•  BEY is just "AOR on a 365-day year". Nothing deeper than that.
FROM THE DESK — A treasurer comparing CP against a bank CD is comparing a DR/360 quote to an AOR/365 quote. The apparent pickup can flip sign once you translate — which is precisely why treasury policies mandate a single quoting basis.
ASK THE ROOM — A T-bill quoted at 4.00% discount — is the investor's actual return above or below 4.00%?
NEXT — Translate one,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conclusion flips depending on whether you translate. That is the lesson — not the arithmetic.
•  Two identical-looking 0.120% quotes. One is worth more. Ask them which BEFORE you show step 1.
•  Step 2 has two moves at once: change the denominator from FV to PV, and change the year from 360 to 365.
•  Both moves push the same way — so a DR quote always converts UP to its BEY.
•  Note the CD needs no conversion because it is already an AOR on 365. That is what "bond-equivalent" means.
•  Flag the footnote honestly — the printed setup line and the printed solution disagree. Good practice in reading sources.
FROM THE DESK — On a short-dated desk this conversion is invisible because the systems do it, but the risk is real: a portfolio benchmarked on one basis and traded on another will show phantom outperformance of a couple of basis points forever.
NEXT — Money-market instruments have no coupon at all. Floaters have a coupon that keeps changing.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FRN is the fixed-rate bond with one substitution: coupon rate → quoted margin, YTM → discount margin. Say that and the whole slide collapses to something familiar.
•  Point at the formula: QM is in the numerator (it sets the cash flow), DM is in the denominator (it discounts it).
•  QM is frozen at issuance. DM moves with credit. Premium/discount is entirely a credit story.
•  Map it back to slide 6: coupon vs YTM there, quoted margin vs required margin here. Identical logic.
•  Rate risk is small but NOT zero — it lives in the stub between now and the next reset.
•  CFA language check: "required margin" is the market spread; "discount margin" is our model estimate of it.
FROM THE DESK — Loan and FRN investors quote everything in discount margin because the reference rate is a pass-through. When SOFR moves 100 bp, an FRN book barely blinks — a fixed-rate book of the same duration does not.
NEXT — Solve one for its discount margin.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Same solve as a bond YTM, with one extra unwinding step at the end. Step 5 is what makes it click.
•  Step 1 only: (MRR + QM). Quoted margin sets the cash flow. Everyone gets this right.
•  Step 2 is just Excel RATE. Nothing conceptual — flag that PV goes in negative.
•  Step 3 is the step people forget: r is a PERIODIC rate, so multiply by m before you subtract MRR.
•  Sign discipline: MRR is negative here. −(−0.0055) = +0.0055. Watch them, they will drop it.
•  Step 5 closes the loop — the 3-point discount IS the present value of a 79 bp annuity. Same idea as slide 7.
FROM THE DESK — A negative reference rate is not an exam artefact — EUR markets lived there for years, and plenty of loan systems broke on it. Floors at zero in the loan docs are why the FRN and the swap hedging it can stop matching.
ASK THE ROOM — If the same note traded at 102 instead of 97, would the discount margin be above or below 250 bps?
NEXT — Everything so far used one discount rate, or one spread over one curve. Time to build the curve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payoff section. Three curves that look different and carry exactly the same information.
•  Thirty-five minutes, and protect it. If you are behind, cut §1 examples, not this.
•  Sequence: spot → price with spots → par → forward → bootstrap. Each builds on the last.
•  Say up front that any one of the three curves determines the other two. That is the whole section.
NEXT — Start with the cleanest rate there is: the zero-coupon yield.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A spot rate is a yield with no reinvestment assumption attached. That single property is why term-structure work is done on spots.
•  Definition first: the yield on a zero-coupon bond of that maturity. One cash flow, one date, one rate.
•  Contrast with YTM: a YTM assumes you reinvest coupons at the YTM. A spot rate assumes nothing.
•  Read the table across, not down — both curves rise, Australia starts lower and ends higher.
•  The footnote is worth saying aloud: a coupon bond's YTM lands just BELOW the same-maturity spot on a rising curve.
•  Do not go deep on inversion here — one sentence, then move.
FROM THE DESK — When the curve inverts, the first thing a DCM desk does is check the issuance window. Long money gets cheap relative to short money and every treasurer suddenly wants a 30-year. That is a real-world consequence of a slope.
NEXT — If we have a rate for every maturity, why would we ever discount everything at one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truths held together: spot pricing is correct, YTM pricing is convenient. Students want one to be wrong.
•  The strip argument is the whole justification. Walk it once — buy bond, sell the pieces, pocket the difference.
•  Note the parenthetical: adding a constant spread to every spot IS the Z-spread. Point back to slide 17.
•  Both methods give the SAME price when the YTM is the one implied by the spots. That is the next slide.
•  What differs is the PV of each individual cash flow, not the total. Preview that — it surprises people.
FROM THE DESK — STRIPS markets exist precisely because this arbitrage is real. Where a strip market is liquid, the spot curve is an observable, not a model output — and that is where curve traders prefer to work.
NEXT — Same bond, both methods, same answer. Watch the individual cash flows disagree.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reveal is step 5. The two methods agree on the total and disagree on every single component.
•  Do steps 1–3 briskly. They are just arithmetic and the class can follow.
•  Slow right down on step 5. Same price, different PVs. Ask why that is not a contradiction.
•  Answer: the YTM is the one rate that makes the errors cancel across the timeline. It over-discounts early, under-discounts late.
•  Note where the YTM lands — 3.935%, close to but below Z₃ = 4%, because the final cash flow dominates.
•  Tie it to §2: this is exactly why a G-spread is contaminated by the coupon and a Z-spread is not.
ASK THE ROOM — If the coupon were 1% instead of 5%, would the YTM move closer to or further from the three-year spot?
NEXT — Third lens on the same curve: the par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Par rate is the least intuitive of the three curves. Anchor it as "the coupon on a hypothetical new issue" and it lands.
•  Same equation as slide 26 with two changes: PV is fixed at 100, and PMT becomes the unknown.
•  Because the price is par, the coupon and the YTM are equal — that is why a par rate is a yield.
•  Why bother? The US Treasury curve you read in the press IS a par curve. So is most quoted swap curve data.
•  Curve-shape rule, upward case: the par rate blends in the LOW early spots, so it comes out below the long spot.
•  Do not let them confuse "par rate" with "on-the-run yield". Close cousins, not the same thing.
FROM THE DESK — When a syndicate desk says a new ten-year would come "at par with a 4.75% coupon", they are quoting a par rate. That is the number the issuer cares about, because it is the cash coupon they will actually pay.
NEXT — Compute two of them from a real spot curve.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Mechanically this is one line of algebra. The insight is that the par rate always sits inside the spot curve, never outside it.
•  Show the factoring: PMT × (sum of all discount factors) + 100 × (last discount factor) = 100. Then rearrange. Steps 2 and 3 are one move split in two.
•  The numerator 100 − 89.648 is "the part of par not covered by the redemption PV". The coupons must fund it.
•  Every par rate here is below its own spot, and the gap WIDENS with maturity — 0.010 at 2y, 0.053 at 3y, 0.109 at 4y.
•  That widening is the curve-shape rule from the previous slide, showing up numerically.
•  Step 5 is the verification — worth doing on the board, it closes the loop.
ASK THE ROOM — On an inverted curve, would the par rate sit above or below the spot at the same maturity — and why?
NEXT — Two curves down. The third one is the interesting one: forwards.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things students get wrong: the notation, and believing the forward is a prediction. Fix both here.
•  Drill the notation with two examples: 2y1y needs the 2y and 3y spots; 3y2y needs the 3y and 5y spots.
•  Rule of thumb: A + tenor = the LONGER spot you need. If they can state that, the off-by-one error disappears.
•  Say it plainly: the forward is not a forecast. It is the rate at which the two strategies tie.
•  Nobody is obliged to agree with the forward — a view IS a disagreement with the forward.
•  The two arrows on the right are the same equation read left-to-right and right-to-left. Say so.
FROM THE DESK — Every carry-and-roll trade is a bet against the forwards. "The curve is pricing four cuts and I only see two" is literally a statement that the forwards are too low.
ASK THE ROOM — Which two spot rates do you need to compute the 5y5y forward?
NEXT — Compute one, exactly as the curriculum does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A 53 bp difference between two spots implies a 161 bp jump in the one-year forward. Let that land — forwards amplify.
•  Have them predict the answer before you compute: "3.65 to 4.18, so the forward is roughly…". Most will guess ~4.7%.
•  Then reveal 5.79%. The gap between intuition and arithmetic is the teaching moment.
•  Why: the fourth year must pull a three-year average of 3.65% up to a four-year average of 4.18% single-handedly.
•  Step 5 is the sanity rule — on a rising curve the forward always sits above the longer spot.
•  The callout is the decision rule straight from the curriculum. Read it, do not paraphrase it.
FROM THE DESK — This is the arithmetic behind "the curve is pricing a lot of hikes". A modestly steep spot curve implies dramatic forward rates, which is why forward-implied paths so often look more aggressive than any economist's forecast.
NEXT — Three curves, one information set. Put them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One table to memorise for the exam, and one piece of intuition so they never have to.
•  Give them the intuition first: forwards are marginal rates, spots are averages, par rates are averages of averages.
•  On a rising curve: forwards on top, spots in the middle, par at the bottom. Invert everything when the curve inverts.
•  The flat row is the giveaway — if all three are equal, there is nothing being expected.
•  Read the numeric callout: forwards 1.88 → 4.12 produce spots 1.88 → 3.07. The spot curve is the smoothed version.
•  Point out the spread and par curves are always CLOSE; forwards are the one that diverges materially.
FROM THE DESK — Traders quote off forwards, issuers think in par rates, and risk systems discount off spots. Same curve, three teams, three vocabularies — and most cross-desk confusion is exactly this translation failing.
NEXT — Last piece: build the spot curve yourself, from nothing but observed par bonds.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This is the single most examinable technique in §4 and the one that most rewards doing slowly once.
•  Say the name: bootstrap, because each answer pulls the next one up by its own straps.
•  Z₁ is free — a one-year par bond has one cash flow, so it already is a zero.
•  For Z₂ the ONLY unknown is Z₂, because Z₁ is already solved. Emphasise that every step has exactly one unknown.
•  Watch the substitution in the Z₃ line: 1.02 and 1.02506 are spots, not the 3% coupon. That is the classic slip.
•  Check the answer against slide 28: rising curve, so every spot sits at or above its own par rate. It does.
FROM THE DESK — Real curve construction bootstraps off swap rates and on-the-run governments, with interpolation and a smoothing spline between the observable nodes. The mechanic here is exactly the same — there are just more knots.
ASK THE ROOM — If the three-year par bond had a 2.5% coupon instead of 3%, would Z₃ come out higher or lower?
NEXT — That closes the loop. Let us pull the whole deck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Do not re-teach. Name each line, pause, move on — and close on the one sentence that ties the whole deck together.
•  Three minutes maximum. They have the deck.
•  If time is short, read bullets 2, 5, 6 and 8 — the highest-yield exam points in the module.
•  The three most reliable traps: reinvestment AT the YTM, the OAS sign for putables, and the forward-rate off-by-one.
•  Close on the spine: one cash-flow stream, one discounting equation, and every measure today is that equation solved for a different unknown.
•  Point ahead: Deck 15 asks how much the price moves when the yield moves. Duration and convexity.
ASK THE ROOM — Pick any bond you can see a screen price for. Which of today's eight yield measures would you quote it on, and to whom?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p:spPr>
      </p:sp>
      <p:sp>
        <p:nvSpPr>
          <p:cNvPr id="3" name="Shape 1"/>
          <p:cNvSpPr/>
          <p:nvPr/>
        </p:nvSpPr>
        <p:spPr>
          <a:xfrm>
            <a:off x="0" y="4914900"/>
            <a:ext cx="9144000" cy="228600"/>
          </a:xfrm>
          <a:prstGeom prst="rect">
            <a:avLst/>
          </a:prstGeom>
          <a:solidFill>
            <a:srgbClr val="E8600A"/>
          </a:solidFill>
          <a:ln/>
        </p:spPr>
      </p:sp>
      <p:sp>
        <p:nvSpPr>
          <p:cNvPr id="4" name="Text 2"/>
          <p:cNvSpPr txBox="1"/>
          <p:nvPr/>
        </p:nvSpPr>
        <p:spPr>
          <a:xfrm>
            <a:off x="457200" y="1005840"/>
            <a:ext cx="8229600" cy="384048"/>
          </a:xfrm>
          <a:prstGeom prst="rect">
            <a:avLst/>
          </a:prstGeom>
          <a:noFill/>
          <a:ln/>
        </p:spPr>
        <p:txBody>
          <a:bodyPr wrap="square" lIns="508" tIns="508" rIns="508" bIns="508" rtlCol="0" anchor="ctr">
            <a:normAutofit/>
            <a:spAutoFit/>
          </a:bodyPr>
          <a:lstStyle/>
          <a:p>
            <a:pPr algn="l" indent="0" marL="0">
              <a:buNone/>
            </a:pPr>
            <a:r>
              <a:rPr lang="en-US" sz="1100" b="1" spc="800" kern="0" dirty="0">
                <a:solidFill>
                  <a:srgbClr val="E8600A"/>
                </a:solidFill>
                <a:latin typeface="Trebuchet MS" pitchFamily="34" charset="0"/>
                <a:ea typeface="Trebuchet MS" pitchFamily="34" charset="-122"/>
                <a:cs typeface="Trebuchet MS" pitchFamily="34" charset="-120"/>
              </a:rPr>
              <a:t>DECK 14  ·  WEEK 4  ·  AFTERNOON 2</a:t>
            </a:r>
            <a:endParaRPr lang="en-US" sz="1100" dirty="0"/>
          </a:p>
        </p:txBody>
      </p:sp>
      <p:sp>
        <p:nvSpPr>
          <p:cNvPr id="5" name="Text 3"/>
          <p:cNvSpPr txBox="1"/>
          <p:nvPr/>
        </p:nvSpPr>
        <p:spPr>
          <a:xfrm>
            <a:off x="457200" y="1463040"/>
            <a:ext cx="8229600" cy="1920240"/>
          </a:xfrm>
          <a:prstGeom prst="rect">
            <a:avLst/>
          </a:prstGeom>
          <a:noFill/>
          <a:ln/>
        </p:spPr>
        <p:txBody>
          <a:bodyPr wrap="square" lIns="508" tIns="508" rIns="508" bIns="508" rtlCol="0" anchor="t">
            <a:normAutofit/>
            <a:spAutoFit/>
          </a:bodyPr>
          <a:lstStyle/>
          <a:p>
            <a:pPr algn="l" indent="0" marL="0">
              <a:buNone/>
            </a:pPr>
            <a:r>
              <a:rPr lang="en-US" sz="4200" b="1" dirty="0">
                <a:solidFill>
                  <a:srgbClr val="1B2A4A"/>
                </a:solidFill>
                <a:latin typeface="Trebuchet MS" pitchFamily="34" charset="0"/>
                <a:ea typeface="Trebuchet MS" pitchFamily="34" charset="-122"/>
                <a:cs typeface="Trebuchet MS" pitchFamily="34" charset="-120"/>
              </a:rPr>
              <a:t>Fixed Income II</a:t>
            </a:r>
            <a:endParaRPr lang="en-US" sz="4200" dirty="0"/>
          </a:p>
          <a:p>
            <a:pPr algn="l" indent="0" marL="0">
              <a:buNone/>
            </a:pPr>
            <a:r>
              <a:rPr lang="en-US" sz="4200" b="1" dirty="0">
                <a:solidFill>
                  <a:srgbClr val="1B2A4A"/>
                </a:solidFill>
                <a:latin typeface="Trebuchet MS" pitchFamily="34" charset="0"/>
                <a:ea typeface="Trebuchet MS" pitchFamily="34" charset="-122"/>
                <a:cs typeface="Trebuchet MS" pitchFamily="34" charset="-120"/>
              </a:rPr>
              <a:t>Pricing, Yields &amp;</a:t>
            </a:r>
            <a:endParaRPr lang="en-US" sz="4200" dirty="0"/>
          </a:p>
          <a:p>
            <a:pPr algn="l" indent="0" marL="0">
              <a:buNone/>
            </a:pPr>
            <a:r>
              <a:rPr lang="en-US" sz="4200" b="1" dirty="0">
                <a:solidFill>
                  <a:srgbClr val="1B2A4A"/>
                </a:solidFill>
                <a:latin typeface="Trebuchet MS" pitchFamily="34" charset="0"/>
                <a:ea typeface="Trebuchet MS" pitchFamily="34" charset="-122"/>
                <a:cs typeface="Trebuchet MS" pitchFamily="34" charset="-120"/>
              </a:rPr>
              <a:t>the Term Structure</a:t>
            </a:r>
            <a:endParaRPr lang="en-US" sz="4200" dirty="0"/>
          </a:p>
        </p:txBody>
      </p:sp>
      <p:sp>
        <p:nvSpPr>
          <p:cNvPr id="6" name="Text 4"/>
          <p:cNvSpPr txBox="1"/>
          <p:nvPr/>
        </p:nvSpPr>
        <p:spPr>
          <a:xfrm>
            <a:off x="457200" y="3493008"/>
            <a:ext cx="8229600" cy="457200"/>
          </a:xfrm>
          <a:prstGeom prst="rect">
            <a:avLst/>
          </a:prstGeom>
          <a:noFill/>
          <a:ln/>
        </p:spPr>
        <p:txBody>
          <a:bodyPr wrap="square" lIns="508" tIns="508" rIns="508" bIns="508" rtlCol="0" anchor="t">
            <a:normAutofit/>
            <a:spAutoFit/>
          </a:bodyPr>
          <a:lstStyle/>
          <a:p>
            <a:pPr algn="l" indent="0" marL="0">
              <a:buNone/>
            </a:pPr>
            <a:r>
              <a:rPr lang="en-US" sz="1500" i="1" dirty="0">
                <a:solidFill>
                  <a:srgbClr val="6B7A8D"/>
                </a:solidFill>
                <a:latin typeface="Trebuchet MS" pitchFamily="34" charset="0"/>
                <a:ea typeface="Trebuchet MS" pitchFamily="34" charset="-122"/>
                <a:cs typeface="Trebuchet MS" pitchFamily="34" charset="-120"/>
              </a:rPr>
              <a:t>From a single discount rate to a full spot / par / forward curve</a:t>
            </a:r>
            <a:endParaRPr lang="en-US" sz="1500" dirty="0"/>
          </a:p>
        </p:txBody>
      </p:sp>
      <p:sp>
        <p:nvSpPr>
          <p:cNvPr id="7" name="Text 5"/>
          <p:cNvSpPr txBox="1"/>
          <p:nvPr/>
        </p:nvSpPr>
        <p:spPr>
          <a:xfrm>
            <a:off x="457200" y="4069080"/>
            <a:ext cx="8229600" cy="274320"/>
          </a:xfrm>
          <a:prstGeom prst="rect">
            <a:avLst/>
          </a:prstGeom>
          <a:noFill/>
          <a:ln/>
        </p:spPr>
        <p:txBody>
          <a:bodyPr wrap="square" lIns="508" tIns="508" rIns="508" bIns="508" rtlCol="0" anchor="ctr">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CFA Level I · Vol 6 Learning Modules 6–9</a:t>
            </a:r>
            <a:endParaRPr lang="en-US" sz="1100" dirty="0"/>
          </a:p>
        </p:txBody>
      </p:sp>
      <p:sp>
        <p:nvSpPr>
          <p:cNvPr id="8" name="Text 6"/>
          <p:cNvSpPr txBox="1"/>
          <p:nvPr/>
        </p:nvSpPr>
        <p:spPr>
          <a:xfrm>
            <a:off x="457200" y="4617720"/>
            <a:ext cx="8229600" cy="256032"/>
          </a:xfrm>
          <a:prstGeom prst="rect">
            <a:avLst/>
          </a:prstGeom>
          <a:noFill/>
          <a:ln/>
        </p:spPr>
        <p:txBody>
          <a:bodyPr wrap="square" lIns="508" tIns="508" rIns="508" bIns="508" rtlCol="0" anchor="ctr">
            <a:normAutofit/>
            <a:spAutoFit/>
          </a:bodyPr>
          <a:lstStyle/>
          <a:p>
            <a:pPr algn="l" indent="0" marL="0">
              <a:buNone/>
            </a:pPr>
            <a:r>
              <a:rPr lang="en-US" sz="80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900" b="1" dirty="0">
                <a:solidFill>
                  <a:srgbClr val="FFFFFF"/>
                </a:solidFill>
                <a:latin typeface="Trebuchet MS" pitchFamily="34" charset="0"/>
                <a:ea typeface="Trebuchet MS" pitchFamily="34" charset="-122"/>
                <a:cs typeface="Trebuchet MS" pitchFamily="34" charset="-120"/>
              </a:rPr>
              <a:t>Roadmap — Fixed Income II: Pricing, Yields &amp; Term Structure</a:t>
            </a:r>
            <a:endParaRPr lang="en-US" sz="19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777240"/>
            <a:ext cx="8503920" cy="347472"/>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4 sections · ~2 hours · Built bottom-up from CFA readings</a:t>
            </a:r>
            <a:endParaRPr lang="en-US" sz="1300" dirty="0"/>
          </a:p>
        </p:txBody>
      </p:sp>
      <p:sp>
        <p:nvSpPr>
          <p:cNvPr id="8" name="Shape 6"/>
          <p:cNvSpPr/>
          <p:nvPr/>
        </p:nvSpPr>
        <p:spPr>
          <a:xfrm>
            <a:off x="320040" y="1207008"/>
            <a:ext cx="8503920" cy="859536"/>
          </a:xfrm>
          <a:prstGeom prst="rect">
            <a:avLst/>
          </a:prstGeom>
          <a:solidFill>
            <a:srgbClr val="FFFFFF"/>
          </a:solidFill>
          <a:ln/>
        </p:spPr>
      </p:sp>
      <p:sp>
        <p:nvSpPr>
          <p:cNvPr id="9" name="Shape 7"/>
          <p:cNvSpPr/>
          <p:nvPr/>
        </p:nvSpPr>
        <p:spPr>
          <a:xfrm>
            <a:off x="320040" y="1207008"/>
            <a:ext cx="594360" cy="859536"/>
          </a:xfrm>
          <a:prstGeom prst="rect">
            <a:avLst/>
          </a:prstGeom>
          <a:solidFill>
            <a:srgbClr val="1B2A4A"/>
          </a:solidFill>
          <a:ln/>
        </p:spPr>
      </p:sp>
      <p:sp>
        <p:nvSpPr>
          <p:cNvPr id="10" name="Text 8"/>
          <p:cNvSpPr txBox="1"/>
          <p:nvPr/>
        </p:nvSpPr>
        <p:spPr>
          <a:xfrm>
            <a:off x="320040" y="1207008"/>
            <a:ext cx="594360" cy="859536"/>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01</a:t>
            </a:r>
            <a:endParaRPr lang="en-US" sz="1300" dirty="0"/>
          </a:p>
        </p:txBody>
      </p:sp>
      <p:sp>
        <p:nvSpPr>
          <p:cNvPr id="11" name="Text 9"/>
          <p:cNvSpPr txBox="1"/>
          <p:nvPr/>
        </p:nvSpPr>
        <p:spPr>
          <a:xfrm>
            <a:off x="1024128" y="1252728"/>
            <a:ext cx="7726680" cy="38679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Bond pricing mechanics</a:t>
            </a:r>
            <a:endParaRPr lang="en-US" sz="1200" dirty="0"/>
          </a:p>
        </p:txBody>
      </p:sp>
      <p:sp>
        <p:nvSpPr>
          <p:cNvPr id="12" name="Text 10"/>
          <p:cNvSpPr txBox="1"/>
          <p:nvPr/>
        </p:nvSpPr>
        <p:spPr>
          <a:xfrm>
            <a:off x="1024128" y="1593799"/>
            <a:ext cx="7726680" cy="472745"/>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PV of cash flows · discount/par/premium · flat vs full price · accrued interest · matrix pricing</a:t>
            </a:r>
            <a:endParaRPr lang="en-US" sz="1100" dirty="0"/>
          </a:p>
        </p:txBody>
      </p:sp>
      <p:sp>
        <p:nvSpPr>
          <p:cNvPr id="13" name="Shape 11"/>
          <p:cNvSpPr/>
          <p:nvPr/>
        </p:nvSpPr>
        <p:spPr>
          <a:xfrm>
            <a:off x="320040" y="2103120"/>
            <a:ext cx="8503920" cy="859536"/>
          </a:xfrm>
          <a:prstGeom prst="rect">
            <a:avLst/>
          </a:prstGeom>
          <a:solidFill>
            <a:srgbClr val="F5F7FA"/>
          </a:solidFill>
          <a:ln/>
        </p:spPr>
      </p:sp>
      <p:sp>
        <p:nvSpPr>
          <p:cNvPr id="14" name="Shape 12"/>
          <p:cNvSpPr/>
          <p:nvPr/>
        </p:nvSpPr>
        <p:spPr>
          <a:xfrm>
            <a:off x="320040" y="2103120"/>
            <a:ext cx="594360" cy="859536"/>
          </a:xfrm>
          <a:prstGeom prst="rect">
            <a:avLst/>
          </a:prstGeom>
          <a:solidFill>
            <a:srgbClr val="1B2A4A"/>
          </a:solidFill>
          <a:ln/>
        </p:spPr>
      </p:sp>
      <p:sp>
        <p:nvSpPr>
          <p:cNvPr id="15" name="Text 13"/>
          <p:cNvSpPr txBox="1"/>
          <p:nvPr/>
        </p:nvSpPr>
        <p:spPr>
          <a:xfrm>
            <a:off x="320040" y="2103120"/>
            <a:ext cx="594360" cy="859536"/>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02</a:t>
            </a:r>
            <a:endParaRPr lang="en-US" sz="1300" dirty="0"/>
          </a:p>
        </p:txBody>
      </p:sp>
      <p:sp>
        <p:nvSpPr>
          <p:cNvPr id="16" name="Text 14"/>
          <p:cNvSpPr txBox="1"/>
          <p:nvPr/>
        </p:nvSpPr>
        <p:spPr>
          <a:xfrm>
            <a:off x="1024128" y="2148840"/>
            <a:ext cx="7726680" cy="38679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Yield spread measures · fixed-rate</a:t>
            </a:r>
            <a:endParaRPr lang="en-US" sz="1200" dirty="0"/>
          </a:p>
        </p:txBody>
      </p:sp>
      <p:sp>
        <p:nvSpPr>
          <p:cNvPr id="17" name="Text 15"/>
          <p:cNvSpPr txBox="1"/>
          <p:nvPr/>
        </p:nvSpPr>
        <p:spPr>
          <a:xfrm>
            <a:off x="1024128" y="2489911"/>
            <a:ext cx="7726680" cy="472745"/>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current yield · street convention · yield-to-worst · G-spread · I-spread · Z-spread · OAS</a:t>
            </a:r>
            <a:endParaRPr lang="en-US" sz="1100" dirty="0"/>
          </a:p>
        </p:txBody>
      </p:sp>
      <p:sp>
        <p:nvSpPr>
          <p:cNvPr id="18" name="Shape 16"/>
          <p:cNvSpPr/>
          <p:nvPr/>
        </p:nvSpPr>
        <p:spPr>
          <a:xfrm>
            <a:off x="320040" y="2999232"/>
            <a:ext cx="8503920" cy="859536"/>
          </a:xfrm>
          <a:prstGeom prst="rect">
            <a:avLst/>
          </a:prstGeom>
          <a:solidFill>
            <a:srgbClr val="FFFFFF"/>
          </a:solidFill>
          <a:ln/>
        </p:spPr>
      </p:sp>
      <p:sp>
        <p:nvSpPr>
          <p:cNvPr id="19" name="Shape 17"/>
          <p:cNvSpPr/>
          <p:nvPr/>
        </p:nvSpPr>
        <p:spPr>
          <a:xfrm>
            <a:off x="320040" y="2999232"/>
            <a:ext cx="594360" cy="859536"/>
          </a:xfrm>
          <a:prstGeom prst="rect">
            <a:avLst/>
          </a:prstGeom>
          <a:solidFill>
            <a:srgbClr val="1B2A4A"/>
          </a:solidFill>
          <a:ln/>
        </p:spPr>
      </p:sp>
      <p:sp>
        <p:nvSpPr>
          <p:cNvPr id="20" name="Text 18"/>
          <p:cNvSpPr txBox="1"/>
          <p:nvPr/>
        </p:nvSpPr>
        <p:spPr>
          <a:xfrm>
            <a:off x="320040" y="2999232"/>
            <a:ext cx="594360" cy="859536"/>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03</a:t>
            </a:r>
            <a:endParaRPr lang="en-US" sz="1300" dirty="0"/>
          </a:p>
        </p:txBody>
      </p:sp>
      <p:sp>
        <p:nvSpPr>
          <p:cNvPr id="21" name="Text 19"/>
          <p:cNvSpPr txBox="1"/>
          <p:nvPr/>
        </p:nvSpPr>
        <p:spPr>
          <a:xfrm>
            <a:off x="1024128" y="3044952"/>
            <a:ext cx="7726680" cy="38679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Money-market and floater yields</a:t>
            </a:r>
            <a:endParaRPr lang="en-US" sz="1200" dirty="0"/>
          </a:p>
        </p:txBody>
      </p:sp>
      <p:sp>
        <p:nvSpPr>
          <p:cNvPr id="22" name="Text 20"/>
          <p:cNvSpPr txBox="1"/>
          <p:nvPr/>
        </p:nvSpPr>
        <p:spPr>
          <a:xfrm>
            <a:off x="1024128" y="3386023"/>
            <a:ext cx="7726680" cy="472745"/>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discount rate vs add-on rate · bond-equivalent yield · FRN pricing · discount margin</a:t>
            </a:r>
            <a:endParaRPr lang="en-US" sz="1100" dirty="0"/>
          </a:p>
        </p:txBody>
      </p:sp>
      <p:sp>
        <p:nvSpPr>
          <p:cNvPr id="23" name="Shape 21"/>
          <p:cNvSpPr/>
          <p:nvPr/>
        </p:nvSpPr>
        <p:spPr>
          <a:xfrm>
            <a:off x="320040" y="3895344"/>
            <a:ext cx="8503920" cy="859536"/>
          </a:xfrm>
          <a:prstGeom prst="rect">
            <a:avLst/>
          </a:prstGeom>
          <a:solidFill>
            <a:srgbClr val="F5F7FA"/>
          </a:solidFill>
          <a:ln/>
        </p:spPr>
      </p:sp>
      <p:sp>
        <p:nvSpPr>
          <p:cNvPr id="24" name="Shape 22"/>
          <p:cNvSpPr/>
          <p:nvPr/>
        </p:nvSpPr>
        <p:spPr>
          <a:xfrm>
            <a:off x="320040" y="3895344"/>
            <a:ext cx="594360" cy="859536"/>
          </a:xfrm>
          <a:prstGeom prst="rect">
            <a:avLst/>
          </a:prstGeom>
          <a:solidFill>
            <a:srgbClr val="1B2A4A"/>
          </a:solidFill>
          <a:ln/>
        </p:spPr>
      </p:sp>
      <p:sp>
        <p:nvSpPr>
          <p:cNvPr id="25" name="Text 23"/>
          <p:cNvSpPr txBox="1"/>
          <p:nvPr/>
        </p:nvSpPr>
        <p:spPr>
          <a:xfrm>
            <a:off x="320040" y="3895344"/>
            <a:ext cx="594360" cy="859536"/>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04</a:t>
            </a:r>
            <a:endParaRPr lang="en-US" sz="1300" dirty="0"/>
          </a:p>
        </p:txBody>
      </p:sp>
      <p:sp>
        <p:nvSpPr>
          <p:cNvPr id="26" name="Text 24"/>
          <p:cNvSpPr txBox="1"/>
          <p:nvPr/>
        </p:nvSpPr>
        <p:spPr>
          <a:xfrm>
            <a:off x="1024128" y="3941064"/>
            <a:ext cx="7726680" cy="38679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Term structure: spot / par / forward</a:t>
            </a:r>
            <a:endParaRPr lang="en-US" sz="1200" dirty="0"/>
          </a:p>
        </p:txBody>
      </p:sp>
      <p:sp>
        <p:nvSpPr>
          <p:cNvPr id="27" name="Text 25"/>
          <p:cNvSpPr txBox="1"/>
          <p:nvPr/>
        </p:nvSpPr>
        <p:spPr>
          <a:xfrm>
            <a:off x="1024128" y="4282135"/>
            <a:ext cx="7726680" cy="472745"/>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spot curve · par rates · implied forwards · bootstrapping · curve-shape relationships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900" b="1" dirty="0">
                <a:solidFill>
                  <a:srgbClr val="FFFFFF"/>
                </a:solidFill>
                <a:latin typeface="Trebuchet MS" pitchFamily="34" charset="0"/>
                <a:ea typeface="Trebuchet MS" pitchFamily="34" charset="-122"/>
                <a:cs typeface="Trebuchet MS" pitchFamily="34" charset="-120"/>
              </a:rPr>
              <a:t>Learning objectives</a:t>
            </a:r>
            <a:endParaRPr lang="en-US" sz="19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822960"/>
            <a:ext cx="8503920" cy="274320"/>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By the end of this deck you should be able to:</a:t>
            </a:r>
            <a:endParaRPr lang="en-US" sz="1300" dirty="0"/>
          </a:p>
        </p:txBody>
      </p:sp>
      <p:sp>
        <p:nvSpPr>
          <p:cNvPr id="8" name="Text 6"/>
          <p:cNvSpPr txBox="1"/>
          <p:nvPr/>
        </p:nvSpPr>
        <p:spPr>
          <a:xfrm>
            <a:off x="320040" y="1188720"/>
            <a:ext cx="8503920" cy="3108960"/>
          </a:xfrm>
          <a:prstGeom prst="rect">
            <a:avLst/>
          </a:prstGeom>
          <a:noFill/>
          <a:ln/>
        </p:spPr>
        <p:txBody>
          <a:bodyPr wrap="square" rtlCol="0" anchor="t"/>
          <a:lstStyle/>
          <a:p>
            <a:pPr indent="0" marL="0">
              <a:buNone/>
            </a:pPr>
            <a:r>
              <a:rPr lang="en-US" sz="1200" b="1" dirty="0">
                <a:solidFill>
                  <a:srgbClr val="E8600A"/>
                </a:solidFill>
                <a:latin typeface="Trebuchet MS" pitchFamily="34" charset="0"/>
                <a:ea typeface="Trebuchet MS" pitchFamily="34" charset="-122"/>
                <a:cs typeface="Trebuchet MS" pitchFamily="34" charset="-120"/>
              </a:rPr>
              <a:t>1. </a:t>
            </a:r>
            <a:pPr indent="0" marL="0">
              <a:buNone/>
            </a:pPr>
            <a:r>
              <a:rPr lang="en-US" sz="1200" dirty="0">
                <a:solidFill>
                  <a:srgbClr val="334155"/>
                </a:solidFill>
                <a:latin typeface="Calibri" pitchFamily="34" charset="0"/>
                <a:ea typeface="Calibri" pitchFamily="34" charset="-122"/>
                <a:cs typeface="Calibri" pitchFamily="34" charset="-120"/>
              </a:rPr>
              <a:t>Price a fixed-coupon bond on and between coupon dates, split full price into flat price and accrued interest, and classify it as discount, par or premium.
</a:t>
            </a:r>
            <a:pPr indent="0" marL="0">
              <a:buNone/>
            </a:pPr>
            <a:r>
              <a:rPr lang="en-US" sz="1200" b="1" dirty="0">
                <a:solidFill>
                  <a:srgbClr val="E8600A"/>
                </a:solidFill>
                <a:latin typeface="Trebuchet MS" pitchFamily="34" charset="0"/>
                <a:ea typeface="Trebuchet MS" pitchFamily="34" charset="-122"/>
                <a:cs typeface="Trebuchet MS" pitchFamily="34" charset="-120"/>
              </a:rPr>
              <a:t>2. </a:t>
            </a:r>
            <a:pPr indent="0" marL="0">
              <a:buNone/>
            </a:pPr>
            <a:r>
              <a:rPr lang="en-US" sz="1200" dirty="0">
                <a:solidFill>
                  <a:srgbClr val="334155"/>
                </a:solidFill>
                <a:latin typeface="Calibri" pitchFamily="34" charset="0"/>
                <a:ea typeface="Calibri" pitchFamily="34" charset="-122"/>
                <a:cs typeface="Calibri" pitchFamily="34" charset="-120"/>
              </a:rPr>
              <a:t>State the three conditions under which an investor actually earns the quoted yield-to-maturity, and estimate the price of an illiquid bond by matrix pricing.
</a:t>
            </a:r>
            <a:pPr indent="0" marL="0">
              <a:buNone/>
            </a:pPr>
            <a:r>
              <a:rPr lang="en-US" sz="1200" b="1" dirty="0">
                <a:solidFill>
                  <a:srgbClr val="E8600A"/>
                </a:solidFill>
                <a:latin typeface="Trebuchet MS" pitchFamily="34" charset="0"/>
                <a:ea typeface="Trebuchet MS" pitchFamily="34" charset="-122"/>
                <a:cs typeface="Trebuchet MS" pitchFamily="34" charset="-120"/>
              </a:rPr>
              <a:t>3. </a:t>
            </a:r>
            <a:pPr indent="0" marL="0">
              <a:buNone/>
            </a:pPr>
            <a:r>
              <a:rPr lang="en-US" sz="1200" dirty="0">
                <a:solidFill>
                  <a:srgbClr val="334155"/>
                </a:solidFill>
                <a:latin typeface="Calibri" pitchFamily="34" charset="0"/>
                <a:ea typeface="Calibri" pitchFamily="34" charset="-122"/>
                <a:cs typeface="Calibri" pitchFamily="34" charset="-120"/>
              </a:rPr>
              <a:t>Compute current yield, street-convention YTM, yield-to-call and yield-to-worst on a callable bond, and reconcile yields quoted at different periodicities.
</a:t>
            </a:r>
            <a:pPr indent="0" marL="0">
              <a:buNone/>
            </a:pPr>
            <a:r>
              <a:rPr lang="en-US" sz="1200" b="1" dirty="0">
                <a:solidFill>
                  <a:srgbClr val="E8600A"/>
                </a:solidFill>
                <a:latin typeface="Trebuchet MS" pitchFamily="34" charset="0"/>
                <a:ea typeface="Trebuchet MS" pitchFamily="34" charset="-122"/>
                <a:cs typeface="Trebuchet MS" pitchFamily="34" charset="-120"/>
              </a:rPr>
              <a:t>4. </a:t>
            </a:r>
            <a:pPr indent="0" marL="0">
              <a:buNone/>
            </a:pPr>
            <a:r>
              <a:rPr lang="en-US" sz="1200" dirty="0">
                <a:solidFill>
                  <a:srgbClr val="334155"/>
                </a:solidFill>
                <a:latin typeface="Calibri" pitchFamily="34" charset="0"/>
                <a:ea typeface="Calibri" pitchFamily="34" charset="-122"/>
                <a:cs typeface="Calibri" pitchFamily="34" charset="-120"/>
              </a:rPr>
              <a:t>Decompose a yield into benchmark plus G-spread, I-spread or Z-spread, and explain how an OAS adjusts the Z-spread for an embedded option.
</a:t>
            </a:r>
            <a:pPr indent="0" marL="0">
              <a:buNone/>
            </a:pPr>
            <a:r>
              <a:rPr lang="en-US" sz="1200" b="1" dirty="0">
                <a:solidFill>
                  <a:srgbClr val="E8600A"/>
                </a:solidFill>
                <a:latin typeface="Trebuchet MS" pitchFamily="34" charset="0"/>
                <a:ea typeface="Trebuchet MS" pitchFamily="34" charset="-122"/>
                <a:cs typeface="Trebuchet MS" pitchFamily="34" charset="-120"/>
              </a:rPr>
              <a:t>5. </a:t>
            </a:r>
            <a:pPr indent="0" marL="0">
              <a:buNone/>
            </a:pPr>
            <a:r>
              <a:rPr lang="en-US" sz="1200" dirty="0">
                <a:solidFill>
                  <a:srgbClr val="334155"/>
                </a:solidFill>
                <a:latin typeface="Calibri" pitchFamily="34" charset="0"/>
                <a:ea typeface="Calibri" pitchFamily="34" charset="-122"/>
                <a:cs typeface="Calibri" pitchFamily="34" charset="-120"/>
              </a:rPr>
              <a:t>Convert money-market discount rates to bond-equivalent yields, solve an FRN for its discount margin, and move between spot, par and forward curves.
</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01</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Bond pricing</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mechanics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1 of 4  ·  Deck 14 of 20  ·  Studio Tonton Gug</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bond's price is the present value of its promised cash flows discounted at the market discount rate — and moves inversely with that rate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Learning Module 6, §2 "Bond Pricing and the Time Value of Money", Equations 1–2, pp. 129–132.</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market discount rate r is the return investors demand for the bond's credit, liquidity and maturity risks — also called the required yield.</a:t>
            </a:r>
            <a:endParaRPr lang="en-US" sz="1300" dirty="0"/>
          </a:p>
        </p:txBody>
      </p:sp>
      <p:sp>
        <p:nvSpPr>
          <p:cNvPr id="9" name="Shape 7"/>
          <p:cNvSpPr/>
          <p:nvPr/>
        </p:nvSpPr>
        <p:spPr>
          <a:xfrm>
            <a:off x="320040" y="1234440"/>
            <a:ext cx="8503920" cy="713232"/>
          </a:xfrm>
          <a:prstGeom prst="rect">
            <a:avLst/>
          </a:prstGeom>
          <a:solidFill>
            <a:srgbClr val="1B2A4A"/>
          </a:solidFill>
          <a:ln/>
        </p:spPr>
      </p:sp>
      <p:sp>
        <p:nvSpPr>
          <p:cNvPr id="10" name="Text 8"/>
          <p:cNvSpPr txBox="1"/>
          <p:nvPr/>
        </p:nvSpPr>
        <p:spPr>
          <a:xfrm>
            <a:off x="411480" y="1234440"/>
            <a:ext cx="8321040" cy="713232"/>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PV  =  PMT₁ / (1 + r)¹  +  PMT₂ / (1 + r)²  +  …</a:t>
            </a:r>
            <a:endParaRPr lang="en-US" sz="1800" dirty="0"/>
          </a:p>
          <a:p>
            <a:pPr algn="ctr" indent="0" marL="0">
              <a:buNone/>
            </a:pPr>
            <a:r>
              <a:rPr lang="en-US" sz="1800" b="1" dirty="0">
                <a:solidFill>
                  <a:srgbClr val="FFFFFF"/>
                </a:solidFill>
                <a:latin typeface="Consolas" pitchFamily="34" charset="0"/>
                <a:ea typeface="Consolas" pitchFamily="34" charset="-122"/>
                <a:cs typeface="Consolas" pitchFamily="34" charset="-120"/>
              </a:rPr>
              <a:t>+  (PMTₙ + FVₙ) / (1 + r)ⁿ</a:t>
            </a:r>
            <a:endParaRPr lang="en-US" sz="1800" dirty="0"/>
          </a:p>
        </p:txBody>
      </p:sp>
      <p:sp>
        <p:nvSpPr>
          <p:cNvPr id="11" name="Text 9"/>
          <p:cNvSpPr txBox="1"/>
          <p:nvPr/>
        </p:nvSpPr>
        <p:spPr>
          <a:xfrm>
            <a:off x="320040" y="1975104"/>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PMTₜ = coupon per period; FVₙ = face value at maturity; r = market discount rate PER PERIOD; n = number of periods to maturity.</a:t>
            </a:r>
            <a:endParaRPr lang="en-US" sz="1100" dirty="0"/>
          </a:p>
        </p:txBody>
      </p:sp>
      <p:sp>
        <p:nvSpPr>
          <p:cNvPr id="12" name="Shape 10"/>
          <p:cNvSpPr/>
          <p:nvPr/>
        </p:nvSpPr>
        <p:spPr>
          <a:xfrm>
            <a:off x="320040" y="2377440"/>
            <a:ext cx="2743200" cy="1920240"/>
          </a:xfrm>
          <a:prstGeom prst="rect">
            <a:avLst/>
          </a:prstGeom>
          <a:solidFill>
            <a:srgbClr val="F5F7FA"/>
          </a:solidFill>
          <a:ln/>
        </p:spPr>
      </p:sp>
      <p:sp>
        <p:nvSpPr>
          <p:cNvPr id="13" name="Shape 11"/>
          <p:cNvSpPr/>
          <p:nvPr/>
        </p:nvSpPr>
        <p:spPr>
          <a:xfrm>
            <a:off x="320040" y="2377440"/>
            <a:ext cx="73152" cy="1920240"/>
          </a:xfrm>
          <a:prstGeom prst="rect">
            <a:avLst/>
          </a:prstGeom>
          <a:solidFill>
            <a:srgbClr val="1B2A4A"/>
          </a:solidFill>
          <a:ln/>
        </p:spPr>
      </p:sp>
      <p:sp>
        <p:nvSpPr>
          <p:cNvPr id="14" name="Text 12"/>
          <p:cNvSpPr txBox="1"/>
          <p:nvPr/>
        </p:nvSpPr>
        <p:spPr>
          <a:xfrm>
            <a:off x="457200" y="242316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RATE ↑  →  PRICE ↓</a:t>
            </a:r>
            <a:endParaRPr lang="en-US" sz="1100" dirty="0"/>
          </a:p>
        </p:txBody>
      </p:sp>
      <p:sp>
        <p:nvSpPr>
          <p:cNvPr id="15" name="Text 13"/>
          <p:cNvSpPr txBox="1"/>
          <p:nvPr/>
        </p:nvSpPr>
        <p:spPr>
          <a:xfrm>
            <a:off x="457200" y="269748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Discount factors (1+r)ᵗ grow with r; a higher rate shrinks every future cash flow by more. The cash flows never move — only the denominators.</a:t>
            </a:r>
            <a:endParaRPr lang="en-US" sz="1200" dirty="0"/>
          </a:p>
        </p:txBody>
      </p:sp>
      <p:sp>
        <p:nvSpPr>
          <p:cNvPr id="16" name="Shape 14"/>
          <p:cNvSpPr/>
          <p:nvPr/>
        </p:nvSpPr>
        <p:spPr>
          <a:xfrm>
            <a:off x="3200400" y="2377440"/>
            <a:ext cx="2743200" cy="1920240"/>
          </a:xfrm>
          <a:prstGeom prst="rect">
            <a:avLst/>
          </a:prstGeom>
          <a:solidFill>
            <a:srgbClr val="FEF0E7"/>
          </a:solidFill>
          <a:ln/>
        </p:spPr>
      </p:sp>
      <p:sp>
        <p:nvSpPr>
          <p:cNvPr id="17" name="Shape 15"/>
          <p:cNvSpPr/>
          <p:nvPr/>
        </p:nvSpPr>
        <p:spPr>
          <a:xfrm>
            <a:off x="3200400" y="2377440"/>
            <a:ext cx="73152" cy="1920240"/>
          </a:xfrm>
          <a:prstGeom prst="rect">
            <a:avLst/>
          </a:prstGeom>
          <a:solidFill>
            <a:srgbClr val="E8600A"/>
          </a:solidFill>
          <a:ln/>
        </p:spPr>
      </p:sp>
      <p:sp>
        <p:nvSpPr>
          <p:cNvPr id="18" name="Text 16"/>
          <p:cNvSpPr txBox="1"/>
          <p:nvPr/>
        </p:nvSpPr>
        <p:spPr>
          <a:xfrm>
            <a:off x="3337560" y="242316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CONVEX, NOT LINEAR</a:t>
            </a:r>
            <a:endParaRPr lang="en-US" sz="1100" dirty="0"/>
          </a:p>
        </p:txBody>
      </p:sp>
      <p:sp>
        <p:nvSpPr>
          <p:cNvPr id="19" name="Text 17"/>
          <p:cNvSpPr txBox="1"/>
          <p:nvPr/>
        </p:nvSpPr>
        <p:spPr>
          <a:xfrm>
            <a:off x="3337560" y="269748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price–yield line is curved. An 80-bp fall raises the price by MORE than an 80-bp rise cuts it. Positive convexity — Deck 15.</a:t>
            </a:r>
            <a:endParaRPr lang="en-US" sz="1200" dirty="0"/>
          </a:p>
        </p:txBody>
      </p:sp>
      <p:sp>
        <p:nvSpPr>
          <p:cNvPr id="20" name="Shape 18"/>
          <p:cNvSpPr/>
          <p:nvPr/>
        </p:nvSpPr>
        <p:spPr>
          <a:xfrm>
            <a:off x="6080760" y="2377440"/>
            <a:ext cx="2743200" cy="1920240"/>
          </a:xfrm>
          <a:prstGeom prst="rect">
            <a:avLst/>
          </a:prstGeom>
          <a:solidFill>
            <a:srgbClr val="F5F7FA"/>
          </a:solidFill>
          <a:ln/>
        </p:spPr>
      </p:sp>
      <p:sp>
        <p:nvSpPr>
          <p:cNvPr id="21" name="Shape 19"/>
          <p:cNvSpPr/>
          <p:nvPr/>
        </p:nvSpPr>
        <p:spPr>
          <a:xfrm>
            <a:off x="6080760" y="2377440"/>
            <a:ext cx="73152" cy="1920240"/>
          </a:xfrm>
          <a:prstGeom prst="rect">
            <a:avLst/>
          </a:prstGeom>
          <a:solidFill>
            <a:srgbClr val="1B2A4A"/>
          </a:solidFill>
          <a:ln/>
        </p:spPr>
      </p:sp>
      <p:sp>
        <p:nvSpPr>
          <p:cNvPr id="22" name="Text 20"/>
          <p:cNvSpPr txBox="1"/>
          <p:nvPr/>
        </p:nvSpPr>
        <p:spPr>
          <a:xfrm>
            <a:off x="6217920" y="242316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MATURITY AND COUPON</a:t>
            </a:r>
            <a:endParaRPr lang="en-US" sz="1100" dirty="0"/>
          </a:p>
        </p:txBody>
      </p:sp>
      <p:sp>
        <p:nvSpPr>
          <p:cNvPr id="23" name="Text 21"/>
          <p:cNvSpPr txBox="1"/>
          <p:nvPr/>
        </p:nvSpPr>
        <p:spPr>
          <a:xfrm>
            <a:off x="6217920" y="269748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longer the maturity and the lower the coupon, the larger the % price change for a given Δr. That is the duration intuition, arriving early.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Coupon &lt; YTM → discount; coupon = YTM → par; coupon &gt; YTM → premium — three regimes, and the price gap is the PV of the coupon shortfall or excess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LM 6, §2, Example 1 (BRWA bond), Exhibits 1–3, pp. 130–132.</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BRWA five-year bond, 3.2% p.a. paid semiannually (1.6% per period), priced at three different per-period market discount rates.</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20040" y="1170432"/>
          <a:ext cx="8503920" cy="914400"/>
        </p:xfrm>
        <a:graphic>
          <a:graphicData uri="http://schemas.openxmlformats.org/drawingml/2006/table">
            <a:tbl>
              <a:tblPr/>
              <a:tblGrid>
                <a:gridCol w="1280160"/>
                <a:gridCol w="1554480"/>
                <a:gridCol w="1005840"/>
                <a:gridCol w="1188720"/>
                <a:gridCol w="34747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Periodic YTM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Coupon vs rate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Price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Regime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Where the gap comes from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Coupon &gt; rate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103.75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Premium</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PV of ten +0.4 excess coupons = +3.75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1.6%</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Coupon = rate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Par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 excess, no shortfall — price = 100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Coupon &lt; rate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96.41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Discount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PV of ten −0.4 shortfalls = −3.59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2359152"/>
            <a:ext cx="8503920" cy="731520"/>
          </a:xfrm>
          <a:prstGeom prst="rect">
            <a:avLst/>
          </a:prstGeom>
          <a:solidFill>
            <a:srgbClr val="FEF0E7"/>
          </a:solidFill>
          <a:ln/>
        </p:spPr>
      </p:sp>
      <p:sp>
        <p:nvSpPr>
          <p:cNvPr id="11" name="Shape 8"/>
          <p:cNvSpPr/>
          <p:nvPr/>
        </p:nvSpPr>
        <p:spPr>
          <a:xfrm>
            <a:off x="320040" y="2359152"/>
            <a:ext cx="73152" cy="731520"/>
          </a:xfrm>
          <a:prstGeom prst="rect">
            <a:avLst/>
          </a:prstGeom>
          <a:solidFill>
            <a:srgbClr val="E8600A"/>
          </a:solidFill>
          <a:ln/>
        </p:spPr>
      </p:sp>
      <p:sp>
        <p:nvSpPr>
          <p:cNvPr id="12" name="Text 9"/>
          <p:cNvSpPr txBox="1"/>
          <p:nvPr/>
        </p:nvSpPr>
        <p:spPr>
          <a:xfrm>
            <a:off x="457200" y="2404872"/>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PULL-TO-PAR</a:t>
            </a:r>
            <a:endParaRPr lang="en-US" sz="1100" dirty="0"/>
          </a:p>
        </p:txBody>
      </p:sp>
      <p:sp>
        <p:nvSpPr>
          <p:cNvPr id="13" name="Text 10"/>
          <p:cNvSpPr txBox="1"/>
          <p:nvPr/>
        </p:nvSpPr>
        <p:spPr>
          <a:xfrm>
            <a:off x="457200" y="2679192"/>
            <a:ext cx="8275320" cy="3657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Hold the YTM constant and a discount bond drifts UP toward 100, a premium bond drifts DOWN toward 100. Total return = coupon income + this predictable capital gain or loss.</a:t>
            </a:r>
            <a:endParaRPr lang="en-US" sz="1200" dirty="0"/>
          </a:p>
        </p:txBody>
      </p:sp>
      <p:sp>
        <p:nvSpPr>
          <p:cNvPr id="14" name="Shape 11"/>
          <p:cNvSpPr/>
          <p:nvPr/>
        </p:nvSpPr>
        <p:spPr>
          <a:xfrm>
            <a:off x="320040" y="3200400"/>
            <a:ext cx="4160520" cy="1097280"/>
          </a:xfrm>
          <a:prstGeom prst="rect">
            <a:avLst/>
          </a:prstGeom>
          <a:solidFill>
            <a:srgbClr val="FEF0E7"/>
          </a:solidFill>
          <a:ln/>
        </p:spPr>
      </p:sp>
      <p:sp>
        <p:nvSpPr>
          <p:cNvPr id="15" name="Shape 12"/>
          <p:cNvSpPr/>
          <p:nvPr/>
        </p:nvSpPr>
        <p:spPr>
          <a:xfrm>
            <a:off x="320040" y="3200400"/>
            <a:ext cx="73152" cy="1097280"/>
          </a:xfrm>
          <a:prstGeom prst="rect">
            <a:avLst/>
          </a:prstGeom>
          <a:solidFill>
            <a:srgbClr val="E8600A"/>
          </a:solidFill>
          <a:ln/>
        </p:spPr>
      </p:sp>
      <p:sp>
        <p:nvSpPr>
          <p:cNvPr id="16" name="Text 13"/>
          <p:cNvSpPr txBox="1"/>
          <p:nvPr/>
        </p:nvSpPr>
        <p:spPr>
          <a:xfrm>
            <a:off x="457200" y="324612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YTM — THE THREE CONDITIONS</a:t>
            </a:r>
            <a:endParaRPr lang="en-US" sz="1100" dirty="0"/>
          </a:p>
        </p:txBody>
      </p:sp>
      <p:sp>
        <p:nvSpPr>
          <p:cNvPr id="17" name="Text 14"/>
          <p:cNvSpPr txBox="1"/>
          <p:nvPr/>
        </p:nvSpPr>
        <p:spPr>
          <a:xfrm>
            <a:off x="457200" y="3520440"/>
            <a:ext cx="3931920" cy="7315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You earn the quoted YTM only if (1) you hold to maturity, (2) the issuer pays every coupon and the principal in full and on time, and (3) you reinvest every coupon AT the YTM.</a:t>
            </a:r>
            <a:endParaRPr lang="en-US" sz="1200" dirty="0"/>
          </a:p>
        </p:txBody>
      </p:sp>
      <p:sp>
        <p:nvSpPr>
          <p:cNvPr id="18" name="Shape 15"/>
          <p:cNvSpPr/>
          <p:nvPr/>
        </p:nvSpPr>
        <p:spPr>
          <a:xfrm>
            <a:off x="4663440" y="3200400"/>
            <a:ext cx="4160520" cy="1097280"/>
          </a:xfrm>
          <a:prstGeom prst="rect">
            <a:avLst/>
          </a:prstGeom>
          <a:solidFill>
            <a:srgbClr val="F5F7FA"/>
          </a:solidFill>
          <a:ln/>
        </p:spPr>
      </p:sp>
      <p:sp>
        <p:nvSpPr>
          <p:cNvPr id="19" name="Shape 16"/>
          <p:cNvSpPr/>
          <p:nvPr/>
        </p:nvSpPr>
        <p:spPr>
          <a:xfrm>
            <a:off x="4663440" y="3200400"/>
            <a:ext cx="73152" cy="1097280"/>
          </a:xfrm>
          <a:prstGeom prst="rect">
            <a:avLst/>
          </a:prstGeom>
          <a:solidFill>
            <a:srgbClr val="1B2A4A"/>
          </a:solidFill>
          <a:ln/>
        </p:spPr>
      </p:sp>
      <p:sp>
        <p:nvSpPr>
          <p:cNvPr id="20" name="Text 17"/>
          <p:cNvSpPr txBox="1"/>
          <p:nvPr/>
        </p:nvSpPr>
        <p:spPr>
          <a:xfrm>
            <a:off x="4800600" y="324612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ANNUALIZED STATEMENT</a:t>
            </a:r>
            <a:endParaRPr lang="en-US" sz="1100" dirty="0"/>
          </a:p>
        </p:txBody>
      </p:sp>
      <p:sp>
        <p:nvSpPr>
          <p:cNvPr id="21" name="Text 18"/>
          <p:cNvSpPr txBox="1"/>
          <p:nvPr/>
        </p:nvSpPr>
        <p:spPr>
          <a:xfrm>
            <a:off x="4800600" y="3520440"/>
            <a:ext cx="3931920" cy="7315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Same fact stated per annum: BRWA is at a premium because its 3.2% stated coupon beats the 2.4% stated market discount rate. Periodic rate × m = stated annual rate.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Worked — a five-year 3.25% semiannual bond at a 4.0% market discount rate prices at 96.632, and the 3.368 discount is exactly the PV of the deficient coupons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LM 6, Learning Module Self-Assessment Q1, pp. 126–127; cross-check against §2 Exhibit 1, p. 131.</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Coupon 3.25% &lt; discount rate 4.0% → the bond must trade below par. Convert to PERIODS before you touch the calculator.</a:t>
            </a:r>
            <a:endParaRPr lang="en-US" sz="1300" dirty="0"/>
          </a:p>
        </p:txBody>
      </p:sp>
      <p:sp>
        <p:nvSpPr>
          <p:cNvPr id="9" name="Shape 7"/>
          <p:cNvSpPr/>
          <p:nvPr/>
        </p:nvSpPr>
        <p:spPr>
          <a:xfrm>
            <a:off x="320040" y="1152144"/>
            <a:ext cx="8503920" cy="658368"/>
          </a:xfrm>
          <a:prstGeom prst="rect">
            <a:avLst/>
          </a:prstGeom>
          <a:solidFill>
            <a:srgbClr val="1B2A4A"/>
          </a:solidFill>
          <a:ln/>
        </p:spPr>
      </p:sp>
      <p:sp>
        <p:nvSpPr>
          <p:cNvPr id="10" name="Text 8"/>
          <p:cNvSpPr txBox="1"/>
          <p:nvPr/>
        </p:nvSpPr>
        <p:spPr>
          <a:xfrm>
            <a:off x="411480" y="1152144"/>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P  =  PMT · [ 1 − (1+r)⁻ⁿ ] / r   +   FV / (1 + r)ⁿ</a:t>
            </a:r>
            <a:endParaRPr lang="en-US" sz="1800" dirty="0"/>
          </a:p>
        </p:txBody>
      </p:sp>
      <p:sp>
        <p:nvSpPr>
          <p:cNvPr id="11" name="Text 9"/>
          <p:cNvSpPr txBox="1"/>
          <p:nvPr/>
        </p:nvSpPr>
        <p:spPr>
          <a:xfrm>
            <a:off x="320040" y="1837944"/>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Annuity form for level coupons plus a single PV of face. Identical to summing the cash flows one by one — just faster.</a:t>
            </a:r>
            <a:endParaRPr lang="en-US" sz="1100" dirty="0"/>
          </a:p>
        </p:txBody>
      </p:sp>
      <p:sp>
        <p:nvSpPr>
          <p:cNvPr id="12" name="Shape 10"/>
          <p:cNvSpPr/>
          <p:nvPr/>
        </p:nvSpPr>
        <p:spPr>
          <a:xfrm>
            <a:off x="320040" y="2057400"/>
            <a:ext cx="8503920" cy="2240280"/>
          </a:xfrm>
          <a:prstGeom prst="rect">
            <a:avLst/>
          </a:prstGeom>
          <a:solidFill>
            <a:srgbClr val="FEF0E7"/>
          </a:solidFill>
          <a:ln w="9525">
            <a:solidFill>
              <a:srgbClr val="E8600A"/>
            </a:solidFill>
            <a:prstDash val="solid"/>
          </a:ln>
        </p:spPr>
      </p:sp>
      <p:sp>
        <p:nvSpPr>
          <p:cNvPr id="13" name="Text 11"/>
          <p:cNvSpPr txBox="1"/>
          <p:nvPr/>
        </p:nvSpPr>
        <p:spPr>
          <a:xfrm>
            <a:off x="457200" y="210312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LM 6 — 5-YEAR 3.25% SEMIANNUAL CORPORATE BOND · 30/360</a:t>
            </a:r>
            <a:endParaRPr lang="en-US" sz="1100" dirty="0"/>
          </a:p>
        </p:txBody>
      </p:sp>
      <p:sp>
        <p:nvSpPr>
          <p:cNvPr id="14" name="Text 12"/>
          <p:cNvSpPr txBox="1"/>
          <p:nvPr/>
        </p:nvSpPr>
        <p:spPr>
          <a:xfrm>
            <a:off x="457200" y="239572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Face 100, coupon 3.25% p.a. paid semiannually, market discount rate 4.0% p.a. Compute the price.</a:t>
            </a:r>
            <a:endParaRPr lang="en-US" sz="1200" dirty="0"/>
          </a:p>
        </p:txBody>
      </p:sp>
      <p:sp>
        <p:nvSpPr>
          <p:cNvPr id="15" name="Text 13"/>
          <p:cNvSpPr txBox="1"/>
          <p:nvPr/>
        </p:nvSpPr>
        <p:spPr>
          <a:xfrm>
            <a:off x="457200" y="2907792"/>
            <a:ext cx="8229600" cy="877824"/>
          </a:xfrm>
          <a:prstGeom prst="rect">
            <a:avLst/>
          </a:prstGeom>
          <a:noFill/>
          <a:ln/>
        </p:spPr>
        <p:txBody>
          <a:bodyPr wrap="square" lIns="254" tIns="254" rIns="254" bIns="254" rtlCol="0" anchor="t">
            <a:normAutofit/>
            <a:spAutoFit/>
          </a:bodyPr>
          <a:lstStyle/>
          <a:p>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Convert first: n = 5 × 2 = 10 periods · PMT = 3.25 / 2 = 1.625 · r = 4.0% / 2 = 2.0% per period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PV of coupons: 1.625 × [1 − (1.02)⁻¹⁰] / 0.02 = 1.625 × 8.98259 = 14.597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PV of face: 100 / (1.02)¹⁰ = 100 / 1.21899 = 82.035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Price = 14.597 + 82.035 = 96.632 per 100 of par value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5.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Cross-check: deficient coupon = (4.00 − 3.25)/2 = 0.375 per period → 0.375 × 8.98259 = 3.368 = 100 − 96.632 ✓</a:t>
            </a:r>
            <a:endParaRPr lang="en-US" sz="1100" dirty="0"/>
          </a:p>
        </p:txBody>
      </p:sp>
      <p:sp>
        <p:nvSpPr>
          <p:cNvPr id="16" name="Shape 14"/>
          <p:cNvSpPr/>
          <p:nvPr/>
        </p:nvSpPr>
        <p:spPr>
          <a:xfrm>
            <a:off x="411480" y="3858768"/>
            <a:ext cx="8321040" cy="365760"/>
          </a:xfrm>
          <a:prstGeom prst="rect">
            <a:avLst/>
          </a:prstGeom>
          <a:solidFill>
            <a:srgbClr val="E8600A"/>
          </a:solidFill>
          <a:ln/>
        </p:spPr>
      </p:sp>
      <p:sp>
        <p:nvSpPr>
          <p:cNvPr id="17" name="Text 15"/>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P  =  96.632  per 100 face   ·   the 3.368 discount IS the PV of ten 0.375 coupon shortfalls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Between coupon dates full price = flat price + accrued interest — dealers quote the flat price but the buyer settles on the full price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LM 6, §2 "Flat Price, Accrued Interest, and the Full Price", Equations 3–6 and Exhibit 5, pp. 134–136.</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Quote full prices and the screen climbs every day, then gaps down on each coupon date — a sawtooth from the calendar.</a:t>
            </a:r>
            <a:endParaRPr lang="en-US" sz="1300" dirty="0"/>
          </a:p>
        </p:txBody>
      </p:sp>
      <p:sp>
        <p:nvSpPr>
          <p:cNvPr id="9" name="Shape 7"/>
          <p:cNvSpPr/>
          <p:nvPr/>
        </p:nvSpPr>
        <p:spPr>
          <a:xfrm>
            <a:off x="320040" y="1188720"/>
            <a:ext cx="8503920" cy="777240"/>
          </a:xfrm>
          <a:prstGeom prst="rect">
            <a:avLst/>
          </a:prstGeom>
          <a:solidFill>
            <a:srgbClr val="1B2A4A"/>
          </a:solidFill>
          <a:ln/>
        </p:spPr>
      </p:sp>
      <p:sp>
        <p:nvSpPr>
          <p:cNvPr id="10" name="Text 8"/>
          <p:cNvSpPr txBox="1"/>
          <p:nvPr/>
        </p:nvSpPr>
        <p:spPr>
          <a:xfrm>
            <a:off x="411480" y="1188720"/>
            <a:ext cx="8321040" cy="777240"/>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PV_Full  =  PV_Flat  +  AI            AI  =  (t / T) × PMT</a:t>
            </a:r>
            <a:endParaRPr lang="en-US" sz="1800" dirty="0"/>
          </a:p>
          <a:p>
            <a:pPr algn="ctr" indent="0" marL="0">
              <a:buNone/>
            </a:pPr>
            <a:r>
              <a:rPr lang="en-US" sz="1800" b="1" dirty="0">
                <a:solidFill>
                  <a:srgbClr val="FFFFFF"/>
                </a:solidFill>
                <a:latin typeface="Consolas" pitchFamily="34" charset="0"/>
                <a:ea typeface="Consolas" pitchFamily="34" charset="-122"/>
                <a:cs typeface="Consolas" pitchFamily="34" charset="-120"/>
              </a:rPr>
              <a:t>PV_Full  =  PV_last-coupon-date  ×  (1 + r)^(t/T)</a:t>
            </a:r>
            <a:endParaRPr lang="en-US" sz="1800" dirty="0"/>
          </a:p>
        </p:txBody>
      </p:sp>
      <p:sp>
        <p:nvSpPr>
          <p:cNvPr id="11" name="Text 9"/>
          <p:cNvSpPr txBox="1"/>
          <p:nvPr/>
        </p:nvSpPr>
        <p:spPr>
          <a:xfrm>
            <a:off x="320040" y="1993392"/>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t = days elapsed since the last coupon; T = days in the full coupon period; PMT = coupon per period. Day count is Act/Act or 30/360.</a:t>
            </a:r>
            <a:endParaRPr lang="en-US" sz="1100" dirty="0"/>
          </a:p>
        </p:txBody>
      </p:sp>
      <p:sp>
        <p:nvSpPr>
          <p:cNvPr id="12" name="Shape 10"/>
          <p:cNvSpPr/>
          <p:nvPr/>
        </p:nvSpPr>
        <p:spPr>
          <a:xfrm>
            <a:off x="320040" y="2377440"/>
            <a:ext cx="2743200" cy="1920240"/>
          </a:xfrm>
          <a:prstGeom prst="rect">
            <a:avLst/>
          </a:prstGeom>
          <a:solidFill>
            <a:srgbClr val="FEF0E7"/>
          </a:solidFill>
          <a:ln/>
        </p:spPr>
      </p:sp>
      <p:sp>
        <p:nvSpPr>
          <p:cNvPr id="13" name="Shape 11"/>
          <p:cNvSpPr/>
          <p:nvPr/>
        </p:nvSpPr>
        <p:spPr>
          <a:xfrm>
            <a:off x="320040" y="2377440"/>
            <a:ext cx="73152" cy="1920240"/>
          </a:xfrm>
          <a:prstGeom prst="rect">
            <a:avLst/>
          </a:prstGeom>
          <a:solidFill>
            <a:srgbClr val="E8600A"/>
          </a:solidFill>
          <a:ln/>
        </p:spPr>
      </p:sp>
      <p:sp>
        <p:nvSpPr>
          <p:cNvPr id="14" name="Text 12"/>
          <p:cNvSpPr txBox="1"/>
          <p:nvPr/>
        </p:nvSpPr>
        <p:spPr>
          <a:xfrm>
            <a:off x="457200" y="242316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FLAT  (CLEAN)</a:t>
            </a:r>
            <a:endParaRPr lang="en-US" sz="1100" dirty="0"/>
          </a:p>
        </p:txBody>
      </p:sp>
      <p:sp>
        <p:nvSpPr>
          <p:cNvPr id="15" name="Text 13"/>
          <p:cNvSpPr txBox="1"/>
          <p:nvPr/>
        </p:nvSpPr>
        <p:spPr>
          <a:xfrm>
            <a:off x="457200" y="269748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What dealers show on the screen, and what every price statistic and spread is computed from. Strips out the mechanical accrual, so a price move means a yield move.</a:t>
            </a:r>
            <a:endParaRPr lang="en-US" sz="1200" dirty="0"/>
          </a:p>
        </p:txBody>
      </p:sp>
      <p:sp>
        <p:nvSpPr>
          <p:cNvPr id="16" name="Shape 14"/>
          <p:cNvSpPr/>
          <p:nvPr/>
        </p:nvSpPr>
        <p:spPr>
          <a:xfrm>
            <a:off x="3200400" y="2377440"/>
            <a:ext cx="2743200" cy="1920240"/>
          </a:xfrm>
          <a:prstGeom prst="rect">
            <a:avLst/>
          </a:prstGeom>
          <a:solidFill>
            <a:srgbClr val="F5F7FA"/>
          </a:solidFill>
          <a:ln/>
        </p:spPr>
      </p:sp>
      <p:sp>
        <p:nvSpPr>
          <p:cNvPr id="17" name="Shape 15"/>
          <p:cNvSpPr/>
          <p:nvPr/>
        </p:nvSpPr>
        <p:spPr>
          <a:xfrm>
            <a:off x="3200400" y="2377440"/>
            <a:ext cx="73152" cy="1920240"/>
          </a:xfrm>
          <a:prstGeom prst="rect">
            <a:avLst/>
          </a:prstGeom>
          <a:solidFill>
            <a:srgbClr val="1B2A4A"/>
          </a:solidFill>
          <a:ln/>
        </p:spPr>
      </p:sp>
      <p:sp>
        <p:nvSpPr>
          <p:cNvPr id="18" name="Text 16"/>
          <p:cNvSpPr txBox="1"/>
          <p:nvPr/>
        </p:nvSpPr>
        <p:spPr>
          <a:xfrm>
            <a:off x="3337560" y="242316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FULL  (DIRTY)</a:t>
            </a:r>
            <a:endParaRPr lang="en-US" sz="1100" dirty="0"/>
          </a:p>
        </p:txBody>
      </p:sp>
      <p:sp>
        <p:nvSpPr>
          <p:cNvPr id="19" name="Text 17"/>
          <p:cNvSpPr txBox="1"/>
          <p:nvPr/>
        </p:nvSpPr>
        <p:spPr>
          <a:xfrm>
            <a:off x="3337560" y="269748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cash the buyer actually wires at settlement. Includes the slice of the next coupon earned by the seller. Depends on the calendar only — never on the yield.</a:t>
            </a:r>
            <a:endParaRPr lang="en-US" sz="1200" dirty="0"/>
          </a:p>
        </p:txBody>
      </p:sp>
      <p:sp>
        <p:nvSpPr>
          <p:cNvPr id="20" name="Shape 18"/>
          <p:cNvSpPr/>
          <p:nvPr/>
        </p:nvSpPr>
        <p:spPr>
          <a:xfrm>
            <a:off x="6080760" y="2377440"/>
            <a:ext cx="2743200" cy="1920240"/>
          </a:xfrm>
          <a:prstGeom prst="rect">
            <a:avLst/>
          </a:prstGeom>
          <a:solidFill>
            <a:srgbClr val="FEF0E7"/>
          </a:solidFill>
          <a:ln/>
        </p:spPr>
      </p:sp>
      <p:sp>
        <p:nvSpPr>
          <p:cNvPr id="21" name="Shape 19"/>
          <p:cNvSpPr/>
          <p:nvPr/>
        </p:nvSpPr>
        <p:spPr>
          <a:xfrm>
            <a:off x="6080760" y="2377440"/>
            <a:ext cx="73152" cy="1920240"/>
          </a:xfrm>
          <a:prstGeom prst="rect">
            <a:avLst/>
          </a:prstGeom>
          <a:solidFill>
            <a:srgbClr val="E8600A"/>
          </a:solidFill>
          <a:ln/>
        </p:spPr>
      </p:sp>
      <p:sp>
        <p:nvSpPr>
          <p:cNvPr id="22" name="Text 20"/>
          <p:cNvSpPr txBox="1"/>
          <p:nvPr/>
        </p:nvSpPr>
        <p:spPr>
          <a:xfrm>
            <a:off x="6217920" y="242316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DAY COUNT SETS t / T</a:t>
            </a:r>
            <a:endParaRPr lang="en-US" sz="1100" dirty="0"/>
          </a:p>
        </p:txBody>
      </p:sp>
      <p:sp>
        <p:nvSpPr>
          <p:cNvPr id="23" name="Text 21"/>
          <p:cNvSpPr txBox="1"/>
          <p:nvPr/>
        </p:nvSpPr>
        <p:spPr>
          <a:xfrm>
            <a:off x="6217920" y="269748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Act/Act uses real days and a real year (governments). 30/360 assumes 30-day months and a 360-day year (corporates). CFA Example 2: the same accrual is 43/184 on one and 42/180 on the other.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Worked — the Romania 4.625% EUR bond settling 15 Dec 2031 at a 3.50% YTM: full price 117.635, accrued 3.235, flat price 114.400</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LM 6, §2 Example 4 (Romania eurobond), pp. 137–138.</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Annual coupons on 3 April. Settlement on 15 December sits 256 days into a 366-day coupon period — 2032 is a leap year.</a:t>
            </a:r>
            <a:endParaRPr lang="en-US" sz="1300" dirty="0"/>
          </a:p>
        </p:txBody>
      </p:sp>
      <p:sp>
        <p:nvSpPr>
          <p:cNvPr id="9" name="Shape 7"/>
          <p:cNvSpPr/>
          <p:nvPr/>
        </p:nvSpPr>
        <p:spPr>
          <a:xfrm>
            <a:off x="320040" y="1143000"/>
            <a:ext cx="8503920" cy="2240280"/>
          </a:xfrm>
          <a:prstGeom prst="rect">
            <a:avLst/>
          </a:prstGeom>
          <a:solidFill>
            <a:srgbClr val="FEF0E7"/>
          </a:solidFill>
          <a:ln w="9525">
            <a:solidFill>
              <a:srgbClr val="E8600A"/>
            </a:solidFill>
            <a:prstDash val="solid"/>
          </a:ln>
        </p:spPr>
      </p:sp>
      <p:sp>
        <p:nvSpPr>
          <p:cNvPr id="10" name="Text 8"/>
          <p:cNvSpPr txBox="1"/>
          <p:nvPr/>
        </p:nvSpPr>
        <p:spPr>
          <a:xfrm>
            <a:off x="457200" y="118872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ROMANIA 4.625% EUR · ANNUAL · ACT/ACT · MATURES 3 APRIL 2049</a:t>
            </a:r>
            <a:endParaRPr lang="en-US" sz="1100" dirty="0"/>
          </a:p>
        </p:txBody>
      </p:sp>
      <p:sp>
        <p:nvSpPr>
          <p:cNvPr id="11" name="Text 9"/>
          <p:cNvSpPr txBox="1"/>
          <p:nvPr/>
        </p:nvSpPr>
        <p:spPr>
          <a:xfrm>
            <a:off x="457200" y="148132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Settlement 15 Dec 2031, YTM on that date 3.50%. Eighteen full annual coupons remain (April 2032 through April 2049).</a:t>
            </a:r>
            <a:endParaRPr lang="en-US" sz="1200" dirty="0"/>
          </a:p>
        </p:txBody>
      </p:sp>
      <p:sp>
        <p:nvSpPr>
          <p:cNvPr id="12" name="Text 10"/>
          <p:cNvSpPr txBox="1"/>
          <p:nvPr/>
        </p:nvSpPr>
        <p:spPr>
          <a:xfrm>
            <a:off x="457200" y="1993392"/>
            <a:ext cx="8229600" cy="877824"/>
          </a:xfrm>
          <a:prstGeom prst="rect">
            <a:avLst/>
          </a:prstGeom>
          <a:noFill/>
          <a:ln/>
        </p:spPr>
        <p:txBody>
          <a:bodyPr wrap="square" lIns="254" tIns="254" rIns="254" bIns="254" rtlCol="0" anchor="t">
            <a:normAutofit/>
            <a:spAutoFit/>
          </a:bodyPr>
          <a:lstStyle/>
          <a:p>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Price it on the LAST coupon date, 3 Apr 2031: PV = −PV(0.035, 18, 4.625, 100) = 114.838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Count days: 3 Apr → 15 Dec 2031 = 256 days; full period 3 Apr 2031 → 3 Apr 2032 = 366 days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Roll forward: PV_Full = 114.838 × (1.035)^(256/366) = 114.838 × 1.02435 = 117.635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Accrued interest: AI = (256/366) × 4.625 = 0.69945 × 4.625 = 3.235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5.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Flat (quoted) price: PV_Flat = 117.635 − 3.235 = 114.400</a:t>
            </a:r>
            <a:endParaRPr lang="en-US" sz="1100" dirty="0"/>
          </a:p>
        </p:txBody>
      </p:sp>
      <p:sp>
        <p:nvSpPr>
          <p:cNvPr id="13" name="Shape 11"/>
          <p:cNvSpPr/>
          <p:nvPr/>
        </p:nvSpPr>
        <p:spPr>
          <a:xfrm>
            <a:off x="411480" y="2944368"/>
            <a:ext cx="8321040" cy="365760"/>
          </a:xfrm>
          <a:prstGeom prst="rect">
            <a:avLst/>
          </a:prstGeom>
          <a:solidFill>
            <a:srgbClr val="E8600A"/>
          </a:solidFill>
          <a:ln/>
        </p:spPr>
      </p:sp>
      <p:sp>
        <p:nvSpPr>
          <p:cNvPr id="14" name="Text 12"/>
          <p:cNvSpPr txBox="1"/>
          <p:nvPr/>
        </p:nvSpPr>
        <p:spPr>
          <a:xfrm>
            <a:off x="457200" y="29443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PV_Full 117.635   ·   AI 3.235   ·   PV_Flat 114.400   —   the screen shows 114.400</a:t>
            </a:r>
            <a:endParaRPr lang="en-US" sz="1150" dirty="0"/>
          </a:p>
        </p:txBody>
      </p:sp>
      <p:sp>
        <p:nvSpPr>
          <p:cNvPr id="15" name="Shape 13"/>
          <p:cNvSpPr/>
          <p:nvPr/>
        </p:nvSpPr>
        <p:spPr>
          <a:xfrm>
            <a:off x="320040" y="3474720"/>
            <a:ext cx="8503920" cy="822960"/>
          </a:xfrm>
          <a:prstGeom prst="rect">
            <a:avLst/>
          </a:prstGeom>
          <a:solidFill>
            <a:srgbClr val="FEF0E7"/>
          </a:solidFill>
          <a:ln/>
        </p:spPr>
      </p:sp>
      <p:sp>
        <p:nvSpPr>
          <p:cNvPr id="16" name="Shape 14"/>
          <p:cNvSpPr/>
          <p:nvPr/>
        </p:nvSpPr>
        <p:spPr>
          <a:xfrm>
            <a:off x="320040" y="3474720"/>
            <a:ext cx="73152" cy="822960"/>
          </a:xfrm>
          <a:prstGeom prst="rect">
            <a:avLst/>
          </a:prstGeom>
          <a:solidFill>
            <a:srgbClr val="E8600A"/>
          </a:solidFill>
          <a:ln/>
        </p:spPr>
      </p:sp>
      <p:sp>
        <p:nvSpPr>
          <p:cNvPr id="17" name="Text 15"/>
          <p:cNvSpPr txBox="1"/>
          <p:nvPr/>
        </p:nvSpPr>
        <p:spPr>
          <a:xfrm>
            <a:off x="457200" y="35204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WHY THE QUOTED PRICE IS THE FLAT PRICE</a:t>
            </a:r>
            <a:endParaRPr lang="en-US" sz="1100" dirty="0"/>
          </a:p>
        </p:txBody>
      </p:sp>
      <p:sp>
        <p:nvSpPr>
          <p:cNvPr id="18" name="Text 16"/>
          <p:cNvSpPr txBox="1"/>
          <p:nvPr/>
        </p:nvSpPr>
        <p:spPr>
          <a:xfrm>
            <a:off x="457200" y="3794760"/>
            <a:ext cx="827532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In a world with an unchanged yield, the flat price barely moves across the coupon date while the full price falls by the whole coupon. Quoting flat means a change in the number means something.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Matrix pricing estimates the yield of an illiquid or unissued bond from a grid of actively traded comparables — a four-step process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LM 6, §4 "Matrix Pricing", Exhibits 8–11, pp. 146–149.</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Unlike listed equities, most bonds are not actively traded — and a bond that has not been issued yet has no price at all. Comparables fill the gap.</a:t>
            </a:r>
            <a:endParaRPr lang="en-US" sz="1300" dirty="0"/>
          </a:p>
        </p:txBody>
      </p:sp>
      <p:sp>
        <p:nvSpPr>
          <p:cNvPr id="9" name="Shape 7"/>
          <p:cNvSpPr/>
          <p:nvPr/>
        </p:nvSpPr>
        <p:spPr>
          <a:xfrm>
            <a:off x="320040" y="1170432"/>
            <a:ext cx="8503920" cy="457200"/>
          </a:xfrm>
          <a:prstGeom prst="rect">
            <a:avLst/>
          </a:prstGeom>
          <a:solidFill>
            <a:srgbClr val="1B2A4A"/>
          </a:solidFill>
          <a:ln/>
        </p:spPr>
      </p:sp>
      <p:sp>
        <p:nvSpPr>
          <p:cNvPr id="10" name="Text 8"/>
          <p:cNvSpPr txBox="1"/>
          <p:nvPr/>
        </p:nvSpPr>
        <p:spPr>
          <a:xfrm>
            <a:off x="411480" y="1170432"/>
            <a:ext cx="8321040" cy="457200"/>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YTM_target  ≈  linear interpolation of comparable YTMs by time-to-maturity</a:t>
            </a:r>
            <a:endParaRPr lang="en-US" sz="1800" dirty="0"/>
          </a:p>
        </p:txBody>
      </p:sp>
      <p:sp>
        <p:nvSpPr>
          <p:cNvPr id="11" name="Shape 9"/>
          <p:cNvSpPr/>
          <p:nvPr/>
        </p:nvSpPr>
        <p:spPr>
          <a:xfrm>
            <a:off x="320040" y="1700784"/>
            <a:ext cx="8503920" cy="621792"/>
          </a:xfrm>
          <a:prstGeom prst="rect">
            <a:avLst/>
          </a:prstGeom>
          <a:solidFill>
            <a:srgbClr val="FFFFFF"/>
          </a:solidFill>
          <a:ln/>
        </p:spPr>
      </p:sp>
      <p:sp>
        <p:nvSpPr>
          <p:cNvPr id="12" name="Shape 10"/>
          <p:cNvSpPr/>
          <p:nvPr/>
        </p:nvSpPr>
        <p:spPr>
          <a:xfrm>
            <a:off x="320040" y="1700784"/>
            <a:ext cx="91440" cy="621792"/>
          </a:xfrm>
          <a:prstGeom prst="rect">
            <a:avLst/>
          </a:prstGeom>
          <a:solidFill>
            <a:srgbClr val="E8600A"/>
          </a:solidFill>
          <a:ln/>
        </p:spPr>
      </p:sp>
      <p:sp>
        <p:nvSpPr>
          <p:cNvPr id="13" name="Text 11"/>
          <p:cNvSpPr txBox="1"/>
          <p:nvPr/>
        </p:nvSpPr>
        <p:spPr>
          <a:xfrm>
            <a:off x="502920" y="1700784"/>
            <a:ext cx="365760" cy="621792"/>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1</a:t>
            </a:r>
            <a:endParaRPr lang="en-US" sz="1300" dirty="0"/>
          </a:p>
        </p:txBody>
      </p:sp>
      <p:sp>
        <p:nvSpPr>
          <p:cNvPr id="14" name="Text 12"/>
          <p:cNvSpPr txBox="1"/>
          <p:nvPr/>
        </p:nvSpPr>
        <p:spPr>
          <a:xfrm>
            <a:off x="868680" y="1737360"/>
            <a:ext cx="7863840" cy="279806"/>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IDENTIFY COMPARABLES</a:t>
            </a:r>
            <a:endParaRPr lang="en-US" sz="1200" dirty="0"/>
          </a:p>
        </p:txBody>
      </p:sp>
      <p:sp>
        <p:nvSpPr>
          <p:cNvPr id="15" name="Text 13"/>
          <p:cNvSpPr txBox="1"/>
          <p:nvPr/>
        </p:nvSpPr>
        <p:spPr>
          <a:xfrm>
            <a:off x="868680" y="1980590"/>
            <a:ext cx="7863840" cy="341986"/>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Similar time-to-maturity, coupon rate and credit quality. Recent prints only.</a:t>
            </a:r>
            <a:endParaRPr lang="en-US" sz="1200" dirty="0"/>
          </a:p>
        </p:txBody>
      </p:sp>
      <p:sp>
        <p:nvSpPr>
          <p:cNvPr id="16" name="Shape 14"/>
          <p:cNvSpPr/>
          <p:nvPr/>
        </p:nvSpPr>
        <p:spPr>
          <a:xfrm>
            <a:off x="320040" y="2377440"/>
            <a:ext cx="8503920" cy="621792"/>
          </a:xfrm>
          <a:prstGeom prst="rect">
            <a:avLst/>
          </a:prstGeom>
          <a:solidFill>
            <a:srgbClr val="F5F7FA"/>
          </a:solidFill>
          <a:ln/>
        </p:spPr>
      </p:sp>
      <p:sp>
        <p:nvSpPr>
          <p:cNvPr id="17" name="Shape 15"/>
          <p:cNvSpPr/>
          <p:nvPr/>
        </p:nvSpPr>
        <p:spPr>
          <a:xfrm>
            <a:off x="320040" y="2377440"/>
            <a:ext cx="91440" cy="621792"/>
          </a:xfrm>
          <a:prstGeom prst="rect">
            <a:avLst/>
          </a:prstGeom>
          <a:solidFill>
            <a:srgbClr val="E8600A"/>
          </a:solidFill>
          <a:ln/>
        </p:spPr>
      </p:sp>
      <p:sp>
        <p:nvSpPr>
          <p:cNvPr id="18" name="Text 16"/>
          <p:cNvSpPr txBox="1"/>
          <p:nvPr/>
        </p:nvSpPr>
        <p:spPr>
          <a:xfrm>
            <a:off x="502920" y="2377440"/>
            <a:ext cx="365760" cy="621792"/>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2</a:t>
            </a:r>
            <a:endParaRPr lang="en-US" sz="1300" dirty="0"/>
          </a:p>
        </p:txBody>
      </p:sp>
      <p:sp>
        <p:nvSpPr>
          <p:cNvPr id="19" name="Text 17"/>
          <p:cNvSpPr txBox="1"/>
          <p:nvPr/>
        </p:nvSpPr>
        <p:spPr>
          <a:xfrm>
            <a:off x="868680" y="2414016"/>
            <a:ext cx="7863840" cy="279806"/>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BACK OUT EACH YTM, THEN AVERAGE</a:t>
            </a:r>
            <a:endParaRPr lang="en-US" sz="1200" dirty="0"/>
          </a:p>
        </p:txBody>
      </p:sp>
      <p:sp>
        <p:nvSpPr>
          <p:cNvPr id="20" name="Text 18"/>
          <p:cNvSpPr txBox="1"/>
          <p:nvPr/>
        </p:nvSpPr>
        <p:spPr>
          <a:xfrm>
            <a:off x="868680" y="2657246"/>
            <a:ext cx="7863840" cy="341986"/>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Solve each comparable price for its yield, then average the yields within each maturity bucket.</a:t>
            </a:r>
            <a:endParaRPr lang="en-US" sz="1200" dirty="0"/>
          </a:p>
        </p:txBody>
      </p:sp>
      <p:sp>
        <p:nvSpPr>
          <p:cNvPr id="21" name="Shape 19"/>
          <p:cNvSpPr/>
          <p:nvPr/>
        </p:nvSpPr>
        <p:spPr>
          <a:xfrm>
            <a:off x="320040" y="3054096"/>
            <a:ext cx="8503920" cy="621792"/>
          </a:xfrm>
          <a:prstGeom prst="rect">
            <a:avLst/>
          </a:prstGeom>
          <a:solidFill>
            <a:srgbClr val="FFFFFF"/>
          </a:solidFill>
          <a:ln/>
        </p:spPr>
      </p:sp>
      <p:sp>
        <p:nvSpPr>
          <p:cNvPr id="22" name="Shape 20"/>
          <p:cNvSpPr/>
          <p:nvPr/>
        </p:nvSpPr>
        <p:spPr>
          <a:xfrm>
            <a:off x="320040" y="3054096"/>
            <a:ext cx="91440" cy="621792"/>
          </a:xfrm>
          <a:prstGeom prst="rect">
            <a:avLst/>
          </a:prstGeom>
          <a:solidFill>
            <a:srgbClr val="E8600A"/>
          </a:solidFill>
          <a:ln/>
        </p:spPr>
      </p:sp>
      <p:sp>
        <p:nvSpPr>
          <p:cNvPr id="23" name="Text 21"/>
          <p:cNvSpPr txBox="1"/>
          <p:nvPr/>
        </p:nvSpPr>
        <p:spPr>
          <a:xfrm>
            <a:off x="502920" y="3054096"/>
            <a:ext cx="365760" cy="621792"/>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3</a:t>
            </a:r>
            <a:endParaRPr lang="en-US" sz="1300" dirty="0"/>
          </a:p>
        </p:txBody>
      </p:sp>
      <p:sp>
        <p:nvSpPr>
          <p:cNvPr id="24" name="Text 22"/>
          <p:cNvSpPr txBox="1"/>
          <p:nvPr/>
        </p:nvSpPr>
        <p:spPr>
          <a:xfrm>
            <a:off x="868680" y="3090672"/>
            <a:ext cx="7863840" cy="279806"/>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INTERPOLATE TO THE TARGET TENOR</a:t>
            </a:r>
            <a:endParaRPr lang="en-US" sz="1200" dirty="0"/>
          </a:p>
        </p:txBody>
      </p:sp>
      <p:sp>
        <p:nvSpPr>
          <p:cNvPr id="25" name="Text 23"/>
          <p:cNvSpPr txBox="1"/>
          <p:nvPr/>
        </p:nvSpPr>
        <p:spPr>
          <a:xfrm>
            <a:off x="868680" y="3333902"/>
            <a:ext cx="7863840" cy="341986"/>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Linear interpolation between the bracketing buckets gives the target bond's estimated yield.</a:t>
            </a:r>
            <a:endParaRPr lang="en-US" sz="1200" dirty="0"/>
          </a:p>
        </p:txBody>
      </p:sp>
      <p:sp>
        <p:nvSpPr>
          <p:cNvPr id="26" name="Shape 24"/>
          <p:cNvSpPr/>
          <p:nvPr/>
        </p:nvSpPr>
        <p:spPr>
          <a:xfrm>
            <a:off x="320040" y="3730752"/>
            <a:ext cx="8503920" cy="621792"/>
          </a:xfrm>
          <a:prstGeom prst="rect">
            <a:avLst/>
          </a:prstGeom>
          <a:solidFill>
            <a:srgbClr val="F5F7FA"/>
          </a:solidFill>
          <a:ln/>
        </p:spPr>
      </p:sp>
      <p:sp>
        <p:nvSpPr>
          <p:cNvPr id="27" name="Shape 25"/>
          <p:cNvSpPr/>
          <p:nvPr/>
        </p:nvSpPr>
        <p:spPr>
          <a:xfrm>
            <a:off x="320040" y="3730752"/>
            <a:ext cx="91440" cy="621792"/>
          </a:xfrm>
          <a:prstGeom prst="rect">
            <a:avLst/>
          </a:prstGeom>
          <a:solidFill>
            <a:srgbClr val="E8600A"/>
          </a:solidFill>
          <a:ln/>
        </p:spPr>
      </p:sp>
      <p:sp>
        <p:nvSpPr>
          <p:cNvPr id="28" name="Text 26"/>
          <p:cNvSpPr txBox="1"/>
          <p:nvPr/>
        </p:nvSpPr>
        <p:spPr>
          <a:xfrm>
            <a:off x="502920" y="3730752"/>
            <a:ext cx="365760" cy="621792"/>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4</a:t>
            </a:r>
            <a:endParaRPr lang="en-US" sz="1300" dirty="0"/>
          </a:p>
        </p:txBody>
      </p:sp>
      <p:sp>
        <p:nvSpPr>
          <p:cNvPr id="29" name="Text 27"/>
          <p:cNvSpPr txBox="1"/>
          <p:nvPr/>
        </p:nvSpPr>
        <p:spPr>
          <a:xfrm>
            <a:off x="868680" y="3767328"/>
            <a:ext cx="7863840" cy="279806"/>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PRICE THE TARGET BOND</a:t>
            </a:r>
            <a:endParaRPr lang="en-US" sz="1200" dirty="0"/>
          </a:p>
        </p:txBody>
      </p:sp>
      <p:sp>
        <p:nvSpPr>
          <p:cNvPr id="30" name="Text 28"/>
          <p:cNvSpPr txBox="1"/>
          <p:nvPr/>
        </p:nvSpPr>
        <p:spPr>
          <a:xfrm>
            <a:off x="868680" y="4010558"/>
            <a:ext cx="7863840" cy="341986"/>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Discount the target bond's own coupons and principal at that estimated yield.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Worked — an illiquid four-year 4.50% bond prices at 104.99 off a three-year 5.50% at 107.500 and a five-year 4.50% at 104.750</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LM 6, §4 Question Set Q2, pp. 149–150.</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Two traded comparables of similar credit quality bracket the target maturity — a clean two-point ladder to interpolate across.</a:t>
            </a:r>
            <a:endParaRPr lang="en-US" sz="1300" dirty="0"/>
          </a:p>
        </p:txBody>
      </p:sp>
      <p:sp>
        <p:nvSpPr>
          <p:cNvPr id="9" name="Shape 7"/>
          <p:cNvSpPr/>
          <p:nvPr/>
        </p:nvSpPr>
        <p:spPr>
          <a:xfrm>
            <a:off x="320040" y="1143000"/>
            <a:ext cx="8503920" cy="2377440"/>
          </a:xfrm>
          <a:prstGeom prst="rect">
            <a:avLst/>
          </a:prstGeom>
          <a:solidFill>
            <a:srgbClr val="FEF0E7"/>
          </a:solidFill>
          <a:ln w="9525">
            <a:solidFill>
              <a:srgbClr val="E8600A"/>
            </a:solidFill>
            <a:prstDash val="solid"/>
          </a:ln>
        </p:spPr>
      </p:sp>
      <p:sp>
        <p:nvSpPr>
          <p:cNvPr id="10" name="Text 8"/>
          <p:cNvSpPr txBox="1"/>
          <p:nvPr/>
        </p:nvSpPr>
        <p:spPr>
          <a:xfrm>
            <a:off x="457200" y="118872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MATRIX-PRICING AN ILLIQUID 4-YEAR 4.50% CORPORATE BOND</a:t>
            </a:r>
            <a:endParaRPr lang="en-US" sz="1100" dirty="0"/>
          </a:p>
        </p:txBody>
      </p:sp>
      <p:sp>
        <p:nvSpPr>
          <p:cNvPr id="11" name="Text 9"/>
          <p:cNvSpPr txBox="1"/>
          <p:nvPr/>
        </p:nvSpPr>
        <p:spPr>
          <a:xfrm>
            <a:off x="457200" y="148132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Comparable A: 3-year, 5.50% annual, priced 107.500. Comparable B: 5-year, 4.50% annual, priced 104.750. All annual compounding.</a:t>
            </a:r>
            <a:endParaRPr lang="en-US" sz="1200" dirty="0"/>
          </a:p>
        </p:txBody>
      </p:sp>
      <p:sp>
        <p:nvSpPr>
          <p:cNvPr id="12" name="Text 10"/>
          <p:cNvSpPr txBox="1"/>
          <p:nvPr/>
        </p:nvSpPr>
        <p:spPr>
          <a:xfrm>
            <a:off x="457200" y="1993392"/>
            <a:ext cx="8229600" cy="1014984"/>
          </a:xfrm>
          <a:prstGeom prst="rect">
            <a:avLst/>
          </a:prstGeom>
          <a:noFill/>
          <a:ln/>
        </p:spPr>
        <p:txBody>
          <a:bodyPr wrap="square" lIns="254" tIns="254" rIns="254" bIns="254" rtlCol="0" anchor="t">
            <a:normAutofit/>
            <a:spAutoFit/>
          </a:bodyPr>
          <a:lstStyle/>
          <a:p>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3-year yield: 107.500 = 5.50/(1+r) + 5.50/(1+r)² + 105.50/(1+r)³  →  r₃ = 2.856%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5-year yield: 104.750 = 4.50/(1+r) + … + 104.50/(1+r)⁵  →  r₅ = 3.449%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Interpolate to 4 years: r₄ = (0.02856 + 0.03449) / 2 = 0.031525 = 3.153%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Price the target at 3.1525%: 4.50/(1.031525) + 4.50/(1.031525)² + 4.50/(1.031525)³ + 104.50/(1.031525)⁴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5.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Sum the four PVs: 4.362 + 4.229 + 4.100 + 92.299 = 104.991</a:t>
            </a:r>
            <a:endParaRPr lang="en-US" sz="1150" dirty="0"/>
          </a:p>
        </p:txBody>
      </p:sp>
      <p:sp>
        <p:nvSpPr>
          <p:cNvPr id="13" name="Shape 11"/>
          <p:cNvSpPr/>
          <p:nvPr/>
        </p:nvSpPr>
        <p:spPr>
          <a:xfrm>
            <a:off x="411480" y="3081528"/>
            <a:ext cx="8321040" cy="365760"/>
          </a:xfrm>
          <a:prstGeom prst="rect">
            <a:avLst/>
          </a:prstGeom>
          <a:solidFill>
            <a:srgbClr val="E8600A"/>
          </a:solidFill>
          <a:ln/>
        </p:spPr>
      </p:sp>
      <p:sp>
        <p:nvSpPr>
          <p:cNvPr id="14" name="Text 12"/>
          <p:cNvSpPr txBox="1"/>
          <p:nvPr/>
        </p:nvSpPr>
        <p:spPr>
          <a:xfrm>
            <a:off x="457200" y="308152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Estimated price = 104.991 per 100 of par   ·   estimated yield 3.153%   ·   a premium</a:t>
            </a:r>
            <a:endParaRPr lang="en-US" sz="1150" dirty="0"/>
          </a:p>
        </p:txBody>
      </p:sp>
      <p:sp>
        <p:nvSpPr>
          <p:cNvPr id="15" name="Shape 13"/>
          <p:cNvSpPr/>
          <p:nvPr/>
        </p:nvSpPr>
        <p:spPr>
          <a:xfrm>
            <a:off x="320040" y="3611880"/>
            <a:ext cx="8503920" cy="685800"/>
          </a:xfrm>
          <a:prstGeom prst="rect">
            <a:avLst/>
          </a:prstGeom>
          <a:solidFill>
            <a:srgbClr val="FEF0E7"/>
          </a:solidFill>
          <a:ln/>
        </p:spPr>
      </p:sp>
      <p:sp>
        <p:nvSpPr>
          <p:cNvPr id="16" name="Shape 14"/>
          <p:cNvSpPr/>
          <p:nvPr/>
        </p:nvSpPr>
        <p:spPr>
          <a:xfrm>
            <a:off x="320040" y="3611880"/>
            <a:ext cx="73152" cy="685800"/>
          </a:xfrm>
          <a:prstGeom prst="rect">
            <a:avLst/>
          </a:prstGeom>
          <a:solidFill>
            <a:srgbClr val="E8600A"/>
          </a:solidFill>
          <a:ln/>
        </p:spPr>
      </p:sp>
      <p:sp>
        <p:nvSpPr>
          <p:cNvPr id="17" name="Text 15"/>
          <p:cNvSpPr txBox="1"/>
          <p:nvPr/>
        </p:nvSpPr>
        <p:spPr>
          <a:xfrm>
            <a:off x="457200" y="36576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INTERPOLATE YIELDS, NEVER PRICES</a:t>
            </a:r>
            <a:endParaRPr lang="en-US" sz="1100" dirty="0"/>
          </a:p>
        </p:txBody>
      </p:sp>
      <p:sp>
        <p:nvSpPr>
          <p:cNvPr id="18" name="Text 16"/>
          <p:cNvSpPr txBox="1"/>
          <p:nvPr/>
        </p:nvSpPr>
        <p:spPr>
          <a:xfrm>
            <a:off x="457200" y="3931920"/>
            <a:ext cx="8275320" cy="3200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two comparables carry different coupons, so their prices are not comparable — only their yields are. Averaging the two prices gives 106.125, which is exactly one of the exam distractors.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02</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Yield spread measures</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for fixed-rate bonds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2 of 4  ·  Deck 14 of 20  ·  Studio Tonton Gug</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Current yield, day counts, street convention, true yield and government-equivalent yield are all one theme — what we discount and over what calendar</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LM 7, §3 "Other Yield Measures and Conventions", Exhibit 3, Example 4 and Example 5, pp. 163–167.</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Most of these differ by a basis point or two — but the difference is always material the moment you subtract one bond's yield from another's.</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20040" y="1143000"/>
          <a:ext cx="8503920" cy="914400"/>
        </p:xfrm>
        <a:graphic>
          <a:graphicData uri="http://schemas.openxmlformats.org/drawingml/2006/table">
            <a:tbl>
              <a:tblPr/>
              <a:tblGrid>
                <a:gridCol w="2103120"/>
                <a:gridCol w="4937760"/>
                <a:gridCol w="146304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Measure / convention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it means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Where used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Current yield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Annual coupon / flat price — ignores time value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Quick proxy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Act/Act day count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Actual days / actual days in the period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Governments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30/360 day count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30-day months, 360-day year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Corporates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Street convention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Cash flows assumed on scheduled dates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Dealer quotes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True yield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Actual pay dates — never above street yield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Rarely quoted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Government-equivalent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30/360 corporate YTM restated on Act/Act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G-spread input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Simple yield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Coupon + straight-line amortisation / flat price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Japan (JGBs)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3429000"/>
            <a:ext cx="8503920" cy="868680"/>
          </a:xfrm>
          <a:prstGeom prst="rect">
            <a:avLst/>
          </a:prstGeom>
          <a:solidFill>
            <a:srgbClr val="FEF0E7"/>
          </a:solidFill>
          <a:ln/>
        </p:spPr>
      </p:sp>
      <p:sp>
        <p:nvSpPr>
          <p:cNvPr id="11" name="Shape 8"/>
          <p:cNvSpPr/>
          <p:nvPr/>
        </p:nvSpPr>
        <p:spPr>
          <a:xfrm>
            <a:off x="320040" y="3429000"/>
            <a:ext cx="73152" cy="868680"/>
          </a:xfrm>
          <a:prstGeom prst="rect">
            <a:avLst/>
          </a:prstGeom>
          <a:solidFill>
            <a:srgbClr val="E8600A"/>
          </a:solidFill>
          <a:ln/>
        </p:spPr>
      </p:sp>
      <p:sp>
        <p:nvSpPr>
          <p:cNvPr id="12" name="Text 9"/>
          <p:cNvSpPr txBox="1"/>
          <p:nvPr/>
        </p:nvSpPr>
        <p:spPr>
          <a:xfrm>
            <a:off x="457200" y="347472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PERIODICITY CONVERSION — NEVER SKIP IT</a:t>
            </a:r>
            <a:endParaRPr lang="en-US" sz="1100" dirty="0"/>
          </a:p>
        </p:txBody>
      </p:sp>
      <p:sp>
        <p:nvSpPr>
          <p:cNvPr id="13" name="Text 10"/>
          <p:cNvSpPr txBox="1"/>
          <p:nvPr/>
        </p:nvSpPr>
        <p:spPr>
          <a:xfrm>
            <a:off x="457200" y="3749040"/>
            <a:ext cx="8275320" cy="5029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(1 + APRₘ/m)ᵐ = (1 + APRₙ/n)ⁿ.  CFA Example 5: the Antelas AG quarterly-pay bond yields 4.548% at periodicity 4, which is 4.574% at periodicity 2. Align periodicities before you difference two yields.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Yield-to-worst on a callable bond is the lowest of the yield-to-maturity and every yield-to-call — the conservative yield a buyer should assume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LM 7, §3 Example 6 (VIVU seven-year callable notes) and Exhibit 4, pp. 167–169.</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VIVU 6.5% seven-year callable notes priced at 106.50, semiannual coupons of 3.25. Call protection for three years, then a step-down call schedule.</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PV  =  Σ PMT / (1+r)ᵗ  +  (PMT + Call price) / (1+r)ᴺ</a:t>
            </a:r>
            <a:endParaRPr lang="en-US" sz="1800" dirty="0"/>
          </a:p>
          <a:p>
            <a:pPr algn="ctr" indent="0" marL="0">
              <a:buNone/>
            </a:pPr>
            <a:r>
              <a:rPr lang="en-US" sz="1800" b="1" dirty="0">
                <a:solidFill>
                  <a:srgbClr val="FFFFFF"/>
                </a:solidFill>
                <a:latin typeface="Consolas" pitchFamily="34" charset="0"/>
                <a:ea typeface="Consolas" pitchFamily="34" charset="-122"/>
                <a:cs typeface="Consolas" pitchFamily="34" charset="-120"/>
              </a:rPr>
              <a:t>YTW  =  min { YTC₁ ,  YTC₂ ,  … ,  YTM }</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The issuer calls only when it suits the issuer — which is when it hurts the investor. So assume the worst outcome, not the best.</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20040" y="2212848"/>
          <a:ext cx="8503920" cy="914400"/>
        </p:xfrm>
        <a:graphic>
          <a:graphicData uri="http://schemas.openxmlformats.org/drawingml/2006/table">
            <a:tbl>
              <a:tblPr/>
              <a:tblGrid>
                <a:gridCol w="2103120"/>
                <a:gridCol w="1280160"/>
                <a:gridCol w="1097280"/>
                <a:gridCol w="1554480"/>
                <a:gridCol w="1280160"/>
                <a:gridCol w="11887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Scenario</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Redeemed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Periods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Redemption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Semi 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Annualized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Yield-to-first call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End yr 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103.25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2.5748%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5.15%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Yield-to-second call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End yr 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102.50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2.6237%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Yield-to-third call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End yr 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101.75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2.6530%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5.31%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Yield-to-fourth call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End yr 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101.00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2.6811%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5.36%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Yield-to-maturity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End yr 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2.6868%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5.37%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b="1" dirty="0">
                          <a:solidFill>
                            <a:srgbClr val="1B2A4A"/>
                          </a:solidFill>
                          <a:latin typeface="Consolas" pitchFamily="34" charset="0"/>
                          <a:ea typeface="Consolas" pitchFamily="34" charset="-122"/>
                          <a:cs typeface="Consolas" pitchFamily="34" charset="-120"/>
                        </a:rPr>
                        <a:t>Yield-to-worst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5.15%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Every YTM decomposes into a benchmark rate plus an issuer-specific spread — macro sits in the benchmark, micro sits in the spread</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LM 7, §4 "Yield Spreads over Benchmark Rates", Exhibit 5 and Exhibit 8, pp. 171–177.</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Benchmark = expected real rate + expected inflation. Spread = credit + liquidity + taxation. Analysts track the spread against its own history, not the absolute yield.</a:t>
            </a:r>
            <a:endParaRPr lang="en-US" sz="1300" dirty="0"/>
          </a:p>
        </p:txBody>
      </p:sp>
      <p:sp>
        <p:nvSpPr>
          <p:cNvPr id="9" name="Shape 7"/>
          <p:cNvSpPr/>
          <p:nvPr/>
        </p:nvSpPr>
        <p:spPr>
          <a:xfrm>
            <a:off x="320040" y="1188720"/>
            <a:ext cx="8503920" cy="713232"/>
          </a:xfrm>
          <a:prstGeom prst="rect">
            <a:avLst/>
          </a:prstGeom>
          <a:solidFill>
            <a:srgbClr val="1B2A4A"/>
          </a:solidFill>
          <a:ln/>
        </p:spPr>
      </p:sp>
      <p:sp>
        <p:nvSpPr>
          <p:cNvPr id="10" name="Text 8"/>
          <p:cNvSpPr txBox="1"/>
          <p:nvPr/>
        </p:nvSpPr>
        <p:spPr>
          <a:xfrm>
            <a:off x="411480" y="1188720"/>
            <a:ext cx="8321040" cy="713232"/>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YTM_bond  =  Benchmark yield  +  Yield spread</a:t>
            </a:r>
            <a:endParaRPr lang="en-US" sz="1800" dirty="0"/>
          </a:p>
          <a:p>
            <a:pPr algn="ctr" indent="0" marL="0">
              <a:buNone/>
            </a:pPr>
            <a:r>
              <a:rPr lang="en-US" sz="1800" b="1" dirty="0">
                <a:solidFill>
                  <a:srgbClr val="FFFFFF"/>
                </a:solidFill>
                <a:latin typeface="Consolas" pitchFamily="34" charset="0"/>
                <a:ea typeface="Consolas" pitchFamily="34" charset="-122"/>
                <a:cs typeface="Consolas" pitchFamily="34" charset="-120"/>
              </a:rPr>
              <a:t>G-spread  =  YTM_bond  −  government YTM</a:t>
            </a:r>
            <a:endParaRPr lang="en-US" sz="1800" dirty="0"/>
          </a:p>
        </p:txBody>
      </p:sp>
      <p:sp>
        <p:nvSpPr>
          <p:cNvPr id="11" name="Text 9"/>
          <p:cNvSpPr txBox="1"/>
          <p:nvPr/>
        </p:nvSpPr>
        <p:spPr>
          <a:xfrm>
            <a:off x="320040" y="1929384"/>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Benchmark = the on-the-run sovereign of matching maturity, interpolated when no matching bond exists. Spreads are quoted in basis points.</a:t>
            </a:r>
            <a:endParaRPr lang="en-US" sz="1100" dirty="0"/>
          </a:p>
        </p:txBody>
      </p:sp>
      <p:sp>
        <p:nvSpPr>
          <p:cNvPr id="12" name="Shape 10"/>
          <p:cNvSpPr/>
          <p:nvPr/>
        </p:nvSpPr>
        <p:spPr>
          <a:xfrm>
            <a:off x="320040" y="2331720"/>
            <a:ext cx="2743200" cy="1965960"/>
          </a:xfrm>
          <a:prstGeom prst="rect">
            <a:avLst/>
          </a:prstGeom>
          <a:solidFill>
            <a:srgbClr val="F5F7FA"/>
          </a:solidFill>
          <a:ln/>
        </p:spPr>
      </p:sp>
      <p:sp>
        <p:nvSpPr>
          <p:cNvPr id="13" name="Shape 11"/>
          <p:cNvSpPr/>
          <p:nvPr/>
        </p:nvSpPr>
        <p:spPr>
          <a:xfrm>
            <a:off x="320040" y="2331720"/>
            <a:ext cx="73152" cy="1965960"/>
          </a:xfrm>
          <a:prstGeom prst="rect">
            <a:avLst/>
          </a:prstGeom>
          <a:solidFill>
            <a:srgbClr val="1B2A4A"/>
          </a:solidFill>
          <a:ln/>
        </p:spPr>
      </p:sp>
      <p:sp>
        <p:nvSpPr>
          <p:cNvPr id="14" name="Text 12"/>
          <p:cNvSpPr txBox="1"/>
          <p:nvPr/>
        </p:nvSpPr>
        <p:spPr>
          <a:xfrm>
            <a:off x="457200" y="2377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G-SPREAD</a:t>
            </a:r>
            <a:endParaRPr lang="en-US" sz="1100" dirty="0"/>
          </a:p>
        </p:txBody>
      </p:sp>
      <p:sp>
        <p:nvSpPr>
          <p:cNvPr id="15" name="Text 13"/>
          <p:cNvSpPr txBox="1"/>
          <p:nvPr/>
        </p:nvSpPr>
        <p:spPr>
          <a:xfrm>
            <a:off x="457200" y="2651760"/>
            <a:ext cx="2514600" cy="1600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Over an actual or interpolated government bond of the same maturity. The default in the US, UK and Japan. One number minus one number.</a:t>
            </a:r>
            <a:endParaRPr lang="en-US" sz="1200" dirty="0"/>
          </a:p>
        </p:txBody>
      </p:sp>
      <p:sp>
        <p:nvSpPr>
          <p:cNvPr id="16" name="Shape 14"/>
          <p:cNvSpPr/>
          <p:nvPr/>
        </p:nvSpPr>
        <p:spPr>
          <a:xfrm>
            <a:off x="3200400" y="2331720"/>
            <a:ext cx="2743200" cy="1965960"/>
          </a:xfrm>
          <a:prstGeom prst="rect">
            <a:avLst/>
          </a:prstGeom>
          <a:solidFill>
            <a:srgbClr val="FEF0E7"/>
          </a:solidFill>
          <a:ln/>
        </p:spPr>
      </p:sp>
      <p:sp>
        <p:nvSpPr>
          <p:cNvPr id="17" name="Shape 15"/>
          <p:cNvSpPr/>
          <p:nvPr/>
        </p:nvSpPr>
        <p:spPr>
          <a:xfrm>
            <a:off x="3200400" y="2331720"/>
            <a:ext cx="73152" cy="1965960"/>
          </a:xfrm>
          <a:prstGeom prst="rect">
            <a:avLst/>
          </a:prstGeom>
          <a:solidFill>
            <a:srgbClr val="E8600A"/>
          </a:solidFill>
          <a:ln/>
        </p:spPr>
      </p:sp>
      <p:sp>
        <p:nvSpPr>
          <p:cNvPr id="18" name="Text 16"/>
          <p:cNvSpPr txBox="1"/>
          <p:nvPr/>
        </p:nvSpPr>
        <p:spPr>
          <a:xfrm>
            <a:off x="3337560" y="2377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I-SPREAD</a:t>
            </a:r>
            <a:endParaRPr lang="en-US" sz="1100" dirty="0"/>
          </a:p>
        </p:txBody>
      </p:sp>
      <p:sp>
        <p:nvSpPr>
          <p:cNvPr id="19" name="Text 17"/>
          <p:cNvSpPr txBox="1"/>
          <p:nvPr/>
        </p:nvSpPr>
        <p:spPr>
          <a:xfrm>
            <a:off x="3337560" y="2651760"/>
            <a:ext cx="2514600" cy="1600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Over the matched-tenor interest-rate swap rate. The convention for euro-denominated corporates, quoted as "mid-swaps plus X".</a:t>
            </a:r>
            <a:endParaRPr lang="en-US" sz="1200" dirty="0"/>
          </a:p>
        </p:txBody>
      </p:sp>
      <p:sp>
        <p:nvSpPr>
          <p:cNvPr id="20" name="Shape 18"/>
          <p:cNvSpPr/>
          <p:nvPr/>
        </p:nvSpPr>
        <p:spPr>
          <a:xfrm>
            <a:off x="6080760" y="2331720"/>
            <a:ext cx="2743200" cy="1965960"/>
          </a:xfrm>
          <a:prstGeom prst="rect">
            <a:avLst/>
          </a:prstGeom>
          <a:solidFill>
            <a:srgbClr val="F5F7FA"/>
          </a:solidFill>
          <a:ln/>
        </p:spPr>
      </p:sp>
      <p:sp>
        <p:nvSpPr>
          <p:cNvPr id="21" name="Shape 19"/>
          <p:cNvSpPr/>
          <p:nvPr/>
        </p:nvSpPr>
        <p:spPr>
          <a:xfrm>
            <a:off x="6080760" y="2331720"/>
            <a:ext cx="73152" cy="1965960"/>
          </a:xfrm>
          <a:prstGeom prst="rect">
            <a:avLst/>
          </a:prstGeom>
          <a:solidFill>
            <a:srgbClr val="1B2A4A"/>
          </a:solidFill>
          <a:ln/>
        </p:spPr>
      </p:sp>
      <p:sp>
        <p:nvSpPr>
          <p:cNvPr id="22" name="Text 20"/>
          <p:cNvSpPr txBox="1"/>
          <p:nvPr/>
        </p:nvSpPr>
        <p:spPr>
          <a:xfrm>
            <a:off x="6217920" y="2377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Z-SPREAD</a:t>
            </a:r>
            <a:endParaRPr lang="en-US" sz="1100" dirty="0"/>
          </a:p>
        </p:txBody>
      </p:sp>
      <p:sp>
        <p:nvSpPr>
          <p:cNvPr id="23" name="Text 21"/>
          <p:cNvSpPr txBox="1"/>
          <p:nvPr/>
        </p:nvSpPr>
        <p:spPr>
          <a:xfrm>
            <a:off x="6217920" y="2651760"/>
            <a:ext cx="2514600" cy="1600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constant add-on to EVERY benchmark spot rate such that the PV of the cash flows equals the price. Uses the whole curve, not one point.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Worked — the Russian Federation 5.25% 30-year bond at 123.5 with 24 years left has a G-spread of 166 bps over an interpolated 24-year Treasury</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LM 7, §4 Example 7 "Calculating G-Spread without a Comparable Benchmark Bond", pp. 174–175.</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Issued at 99.625 at 200 bps over the 30-year Treasury. Six years on, no 24-year Treasury exists — so we build one by interpolation.</a:t>
            </a:r>
            <a:endParaRPr lang="en-US" sz="1300" dirty="0"/>
          </a:p>
        </p:txBody>
      </p:sp>
      <p:sp>
        <p:nvSpPr>
          <p:cNvPr id="9" name="Shape 7"/>
          <p:cNvSpPr/>
          <p:nvPr/>
        </p:nvSpPr>
        <p:spPr>
          <a:xfrm>
            <a:off x="320040" y="1143000"/>
            <a:ext cx="8503920" cy="2377440"/>
          </a:xfrm>
          <a:prstGeom prst="rect">
            <a:avLst/>
          </a:prstGeom>
          <a:solidFill>
            <a:srgbClr val="FEF0E7"/>
          </a:solidFill>
          <a:ln w="9525">
            <a:solidFill>
              <a:srgbClr val="E8600A"/>
            </a:solidFill>
            <a:prstDash val="solid"/>
          </a:ln>
        </p:spPr>
      </p:sp>
      <p:sp>
        <p:nvSpPr>
          <p:cNvPr id="10" name="Text 8"/>
          <p:cNvSpPr txBox="1"/>
          <p:nvPr/>
        </p:nvSpPr>
        <p:spPr>
          <a:xfrm>
            <a:off x="457200" y="118872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RUSSIAN FEDERATION 5.25% USD · SEMIANNUAL · 24 YEARS LEFT</a:t>
            </a:r>
            <a:endParaRPr lang="en-US" sz="1100" dirty="0"/>
          </a:p>
        </p:txBody>
      </p:sp>
      <p:sp>
        <p:nvSpPr>
          <p:cNvPr id="11" name="Text 9"/>
          <p:cNvSpPr txBox="1"/>
          <p:nvPr/>
        </p:nvSpPr>
        <p:spPr>
          <a:xfrm>
            <a:off x="457200" y="148132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On 15 Mar 2026 the bond trades at 123.5. The 20-year US Treasury yields 2.00% and the 30-year yields 2.25%. Find the current G-spread.</a:t>
            </a:r>
            <a:endParaRPr lang="en-US" sz="1200" dirty="0"/>
          </a:p>
        </p:txBody>
      </p:sp>
      <p:sp>
        <p:nvSpPr>
          <p:cNvPr id="12" name="Text 10"/>
          <p:cNvSpPr txBox="1"/>
          <p:nvPr/>
        </p:nvSpPr>
        <p:spPr>
          <a:xfrm>
            <a:off x="457200" y="1993392"/>
            <a:ext cx="8229600" cy="1014984"/>
          </a:xfrm>
          <a:prstGeom prst="rect">
            <a:avLst/>
          </a:prstGeom>
          <a:noFill/>
          <a:ln/>
        </p:spPr>
        <p:txBody>
          <a:bodyPr wrap="square" lIns="254" tIns="254" rIns="254" bIns="254" rtlCol="0" anchor="t">
            <a:normAutofit/>
            <a:spAutoFit/>
          </a:bodyPr>
          <a:lstStyle/>
          <a:p>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Current YTM: solve 123.5 = Σ 2.625/(1+r)ᵗ + 100/(1+r)⁴⁸ over 48 semiannual periods  →  YTM = 3.756%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Interpolation weights: w₂₀ = (30 − 24)/(30 − 20) = 60%,  w₃₀ = 40%   [check: 0.6×20 + 0.4×30 = 24]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Synthetic 24-year benchmark: r₂₄ = (60% × 2.00%) + (40% × 2.25%) = 2.10%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G-spread = 3.756% − 2.10% = 1.656% = 166 bps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5.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166 bps today against 200 bps at issuance → the market charges this issuer less than it did</a:t>
            </a:r>
            <a:endParaRPr lang="en-US" sz="1150" dirty="0"/>
          </a:p>
        </p:txBody>
      </p:sp>
      <p:sp>
        <p:nvSpPr>
          <p:cNvPr id="13" name="Shape 11"/>
          <p:cNvSpPr/>
          <p:nvPr/>
        </p:nvSpPr>
        <p:spPr>
          <a:xfrm>
            <a:off x="411480" y="3081528"/>
            <a:ext cx="8321040" cy="365760"/>
          </a:xfrm>
          <a:prstGeom prst="rect">
            <a:avLst/>
          </a:prstGeom>
          <a:solidFill>
            <a:srgbClr val="E8600A"/>
          </a:solidFill>
          <a:ln/>
        </p:spPr>
      </p:sp>
      <p:sp>
        <p:nvSpPr>
          <p:cNvPr id="14" name="Text 12"/>
          <p:cNvSpPr txBox="1"/>
          <p:nvPr/>
        </p:nvSpPr>
        <p:spPr>
          <a:xfrm>
            <a:off x="457200" y="308152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G-spread  =  166 bps   ·   34 bps tighter than the 200 bp issuance spread</a:t>
            </a:r>
            <a:endParaRPr lang="en-US" sz="1150" dirty="0"/>
          </a:p>
        </p:txBody>
      </p:sp>
      <p:sp>
        <p:nvSpPr>
          <p:cNvPr id="15" name="Shape 13"/>
          <p:cNvSpPr/>
          <p:nvPr/>
        </p:nvSpPr>
        <p:spPr>
          <a:xfrm>
            <a:off x="320040" y="3611880"/>
            <a:ext cx="8503920" cy="685800"/>
          </a:xfrm>
          <a:prstGeom prst="rect">
            <a:avLst/>
          </a:prstGeom>
          <a:solidFill>
            <a:srgbClr val="FEF0E7"/>
          </a:solidFill>
          <a:ln/>
        </p:spPr>
      </p:sp>
      <p:sp>
        <p:nvSpPr>
          <p:cNvPr id="16" name="Shape 14"/>
          <p:cNvSpPr/>
          <p:nvPr/>
        </p:nvSpPr>
        <p:spPr>
          <a:xfrm>
            <a:off x="320040" y="3611880"/>
            <a:ext cx="73152" cy="685800"/>
          </a:xfrm>
          <a:prstGeom prst="rect">
            <a:avLst/>
          </a:prstGeom>
          <a:solidFill>
            <a:srgbClr val="E8600A"/>
          </a:solidFill>
          <a:ln/>
        </p:spPr>
      </p:sp>
      <p:sp>
        <p:nvSpPr>
          <p:cNvPr id="17" name="Text 15"/>
          <p:cNvSpPr txBox="1"/>
          <p:nvPr/>
        </p:nvSpPr>
        <p:spPr>
          <a:xfrm>
            <a:off x="457200" y="36576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WHAT A G-SPREAD CANNOT SEE</a:t>
            </a:r>
            <a:endParaRPr lang="en-US" sz="1100" dirty="0"/>
          </a:p>
        </p:txBody>
      </p:sp>
      <p:sp>
        <p:nvSpPr>
          <p:cNvPr id="18" name="Text 16"/>
          <p:cNvSpPr txBox="1"/>
          <p:nvPr/>
        </p:nvSpPr>
        <p:spPr>
          <a:xfrm>
            <a:off x="457200" y="3931920"/>
            <a:ext cx="8275320" cy="3200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It uses one point on the government curve and one yield on the bond, so it says nothing about the shape of the curve in between. On a steep curve, that blind spot is exactly what the Z-spread closes.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The Z-spread is the constant add-on to every benchmark spot rate that makes the PV of the bond's cash flows equal its price — and OAS strips the option out of it</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LM 7, §4 "Yield Spreads over the Benchmark Yield Curve", Equations 4–5 and Exhibit 8, pp. 176–177.</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G-spread differences two single yields. Z-spread never averages the curve — it adds the same number to every point on it, then solves.</a:t>
            </a:r>
            <a:endParaRPr lang="en-US" sz="1300" dirty="0"/>
          </a:p>
        </p:txBody>
      </p:sp>
      <p:sp>
        <p:nvSpPr>
          <p:cNvPr id="9" name="Shape 7"/>
          <p:cNvSpPr/>
          <p:nvPr/>
        </p:nvSpPr>
        <p:spPr>
          <a:xfrm>
            <a:off x="320040" y="1207008"/>
            <a:ext cx="8503920" cy="713232"/>
          </a:xfrm>
          <a:prstGeom prst="rect">
            <a:avLst/>
          </a:prstGeom>
          <a:solidFill>
            <a:srgbClr val="1B2A4A"/>
          </a:solidFill>
          <a:ln/>
        </p:spPr>
      </p:sp>
      <p:sp>
        <p:nvSpPr>
          <p:cNvPr id="10" name="Text 8"/>
          <p:cNvSpPr txBox="1"/>
          <p:nvPr/>
        </p:nvSpPr>
        <p:spPr>
          <a:xfrm>
            <a:off x="411480" y="1207008"/>
            <a:ext cx="8321040" cy="713232"/>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Price  =  Σₜ PMT / (1 + zₜ + Z)ᵗ  +  (PMT + FV) / (1 + zₙ + Z)ⁿ</a:t>
            </a:r>
            <a:endParaRPr lang="en-US" sz="1800" dirty="0"/>
          </a:p>
          <a:p>
            <a:pPr algn="ctr" indent="0" marL="0">
              <a:buNone/>
            </a:pPr>
            <a:r>
              <a:rPr lang="en-US" sz="1800" b="1" dirty="0">
                <a:solidFill>
                  <a:srgbClr val="FFFFFF"/>
                </a:solidFill>
                <a:latin typeface="Consolas" pitchFamily="34" charset="0"/>
                <a:ea typeface="Consolas" pitchFamily="34" charset="-122"/>
                <a:cs typeface="Consolas" pitchFamily="34" charset="-120"/>
              </a:rPr>
              <a:t>OAS  =  Z-spread  −  option value (bps)</a:t>
            </a:r>
            <a:endParaRPr lang="en-US" sz="1800" dirty="0"/>
          </a:p>
        </p:txBody>
      </p:sp>
      <p:sp>
        <p:nvSpPr>
          <p:cNvPr id="11" name="Text 9"/>
          <p:cNvSpPr txBox="1"/>
          <p:nvPr/>
        </p:nvSpPr>
        <p:spPr>
          <a:xfrm>
            <a:off x="320040" y="1947672"/>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zₜ = benchmark spot rate for period t; Z = the Z-spread, identical in every period, solved numerically. Also called the static or zero-volatility spread.</a:t>
            </a:r>
            <a:endParaRPr lang="en-US" sz="1100" dirty="0"/>
          </a:p>
        </p:txBody>
      </p:sp>
      <p:sp>
        <p:nvSpPr>
          <p:cNvPr id="12" name="Shape 10"/>
          <p:cNvSpPr/>
          <p:nvPr/>
        </p:nvSpPr>
        <p:spPr>
          <a:xfrm>
            <a:off x="320040" y="2331720"/>
            <a:ext cx="2743200" cy="1920240"/>
          </a:xfrm>
          <a:prstGeom prst="rect">
            <a:avLst/>
          </a:prstGeom>
          <a:solidFill>
            <a:srgbClr val="FEF0E7"/>
          </a:solidFill>
          <a:ln/>
        </p:spPr>
      </p:sp>
      <p:sp>
        <p:nvSpPr>
          <p:cNvPr id="13" name="Shape 11"/>
          <p:cNvSpPr/>
          <p:nvPr/>
        </p:nvSpPr>
        <p:spPr>
          <a:xfrm>
            <a:off x="320040" y="2331720"/>
            <a:ext cx="73152" cy="1920240"/>
          </a:xfrm>
          <a:prstGeom prst="rect">
            <a:avLst/>
          </a:prstGeom>
          <a:solidFill>
            <a:srgbClr val="E8600A"/>
          </a:solidFill>
          <a:ln/>
        </p:spPr>
      </p:sp>
      <p:sp>
        <p:nvSpPr>
          <p:cNvPr id="14" name="Text 12"/>
          <p:cNvSpPr txBox="1"/>
          <p:nvPr/>
        </p:nvSpPr>
        <p:spPr>
          <a:xfrm>
            <a:off x="457200" y="2377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G USES ONE RATE</a:t>
            </a:r>
            <a:endParaRPr lang="en-US" sz="1100" dirty="0"/>
          </a:p>
        </p:txBody>
      </p:sp>
      <p:sp>
        <p:nvSpPr>
          <p:cNvPr id="15" name="Text 13"/>
          <p:cNvSpPr txBox="1"/>
          <p:nvPr/>
        </p:nvSpPr>
        <p:spPr>
          <a:xfrm>
            <a:off x="457200" y="265176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YTM is one PV-weighted average of the curve, and the weights depend on the coupon. So G compares two slightly different averages. Z adds a constant to every spot and averages nothing.</a:t>
            </a:r>
            <a:endParaRPr lang="en-US" sz="1200" dirty="0"/>
          </a:p>
        </p:txBody>
      </p:sp>
      <p:sp>
        <p:nvSpPr>
          <p:cNvPr id="16" name="Shape 14"/>
          <p:cNvSpPr/>
          <p:nvPr/>
        </p:nvSpPr>
        <p:spPr>
          <a:xfrm>
            <a:off x="3200400" y="2331720"/>
            <a:ext cx="2743200" cy="1920240"/>
          </a:xfrm>
          <a:prstGeom prst="rect">
            <a:avLst/>
          </a:prstGeom>
          <a:solidFill>
            <a:srgbClr val="F5F7FA"/>
          </a:solidFill>
          <a:ln/>
        </p:spPr>
      </p:sp>
      <p:sp>
        <p:nvSpPr>
          <p:cNvPr id="17" name="Shape 15"/>
          <p:cNvSpPr/>
          <p:nvPr/>
        </p:nvSpPr>
        <p:spPr>
          <a:xfrm>
            <a:off x="3200400" y="2331720"/>
            <a:ext cx="73152" cy="1920240"/>
          </a:xfrm>
          <a:prstGeom prst="rect">
            <a:avLst/>
          </a:prstGeom>
          <a:solidFill>
            <a:srgbClr val="1B2A4A"/>
          </a:solidFill>
          <a:ln/>
        </p:spPr>
      </p:sp>
      <p:sp>
        <p:nvSpPr>
          <p:cNvPr id="18" name="Text 16"/>
          <p:cNvSpPr txBox="1"/>
          <p:nvPr/>
        </p:nvSpPr>
        <p:spPr>
          <a:xfrm>
            <a:off x="3337560" y="2377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ZERO-VOLATILITY</a:t>
            </a:r>
            <a:endParaRPr lang="en-US" sz="1100" dirty="0"/>
          </a:p>
        </p:txBody>
      </p:sp>
      <p:sp>
        <p:nvSpPr>
          <p:cNvPr id="19" name="Text 17"/>
          <p:cNvSpPr txBox="1"/>
          <p:nvPr/>
        </p:nvSpPr>
        <p:spPr>
          <a:xfrm>
            <a:off x="3337560" y="265176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Z assumes one deterministic path for rates — no volatility, so no option value. That is exactly why a bond with an embedded option needs a further adjustment.</a:t>
            </a:r>
            <a:endParaRPr lang="en-US" sz="1200" dirty="0"/>
          </a:p>
        </p:txBody>
      </p:sp>
      <p:sp>
        <p:nvSpPr>
          <p:cNvPr id="20" name="Shape 18"/>
          <p:cNvSpPr/>
          <p:nvPr/>
        </p:nvSpPr>
        <p:spPr>
          <a:xfrm>
            <a:off x="6080760" y="2331720"/>
            <a:ext cx="2743200" cy="1920240"/>
          </a:xfrm>
          <a:prstGeom prst="rect">
            <a:avLst/>
          </a:prstGeom>
          <a:solidFill>
            <a:srgbClr val="FEF0E7"/>
          </a:solidFill>
          <a:ln/>
        </p:spPr>
      </p:sp>
      <p:sp>
        <p:nvSpPr>
          <p:cNvPr id="21" name="Shape 19"/>
          <p:cNvSpPr/>
          <p:nvPr/>
        </p:nvSpPr>
        <p:spPr>
          <a:xfrm>
            <a:off x="6080760" y="2331720"/>
            <a:ext cx="73152" cy="1920240"/>
          </a:xfrm>
          <a:prstGeom prst="rect">
            <a:avLst/>
          </a:prstGeom>
          <a:solidFill>
            <a:srgbClr val="E8600A"/>
          </a:solidFill>
          <a:ln/>
        </p:spPr>
      </p:sp>
      <p:sp>
        <p:nvSpPr>
          <p:cNvPr id="22" name="Text 20"/>
          <p:cNvSpPr txBox="1"/>
          <p:nvPr/>
        </p:nvSpPr>
        <p:spPr>
          <a:xfrm>
            <a:off x="6217920" y="2377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OAS SIGN RULE</a:t>
            </a:r>
            <a:endParaRPr lang="en-US" sz="1100" dirty="0"/>
          </a:p>
        </p:txBody>
      </p:sp>
      <p:sp>
        <p:nvSpPr>
          <p:cNvPr id="23" name="Text 21"/>
          <p:cNvSpPr txBox="1"/>
          <p:nvPr/>
        </p:nvSpPr>
        <p:spPr>
          <a:xfrm>
            <a:off x="6217920" y="265176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Callable: you SOLD the option, part of the Z-spread pays you for it → OAS &lt; Z. Putable: you OWN the option → OAS &gt; Z. OAS is the like-for-like credit spread.</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Worked — a three-year 5.5% corporate bond at a 378 bp Z-spread over government spots of 2.98 / 3.48 / 4.00% prices at 94.20</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LM 7, §4 Question Set Q2 (Mexican corporate bond), Equation 4, p. 179.</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Each cash flow is discounted at its OWN government spot rate plus the SAME Z. On the desk you run this backwards: quote the price, solve for Z.</a:t>
            </a:r>
            <a:endParaRPr lang="en-US" sz="1300" dirty="0"/>
          </a:p>
        </p:txBody>
      </p:sp>
      <p:sp>
        <p:nvSpPr>
          <p:cNvPr id="9" name="Shape 7"/>
          <p:cNvSpPr/>
          <p:nvPr/>
        </p:nvSpPr>
        <p:spPr>
          <a:xfrm>
            <a:off x="320040" y="1143000"/>
            <a:ext cx="8503920" cy="2377440"/>
          </a:xfrm>
          <a:prstGeom prst="rect">
            <a:avLst/>
          </a:prstGeom>
          <a:solidFill>
            <a:srgbClr val="FEF0E7"/>
          </a:solidFill>
          <a:ln w="9525">
            <a:solidFill>
              <a:srgbClr val="E8600A"/>
            </a:solidFill>
            <a:prstDash val="solid"/>
          </a:ln>
        </p:spPr>
      </p:sp>
      <p:sp>
        <p:nvSpPr>
          <p:cNvPr id="10" name="Text 8"/>
          <p:cNvSpPr txBox="1"/>
          <p:nvPr/>
        </p:nvSpPr>
        <p:spPr>
          <a:xfrm>
            <a:off x="457200" y="118872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3-YEAR 5.5% CORPORATE BOND · Z-SPREAD 378 BPS</a:t>
            </a:r>
            <a:endParaRPr lang="en-US" sz="1100" dirty="0"/>
          </a:p>
        </p:txBody>
      </p:sp>
      <p:sp>
        <p:nvSpPr>
          <p:cNvPr id="11" name="Text 9"/>
          <p:cNvSpPr txBox="1"/>
          <p:nvPr/>
        </p:nvSpPr>
        <p:spPr>
          <a:xfrm>
            <a:off x="457200" y="148132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Government spot curve (effective annual): z₁ = 2.98%, z₂ = 3.48%, z₃ = 4.00%. Cash flows 5.5, 5.5, 105.5. Find the price.</a:t>
            </a:r>
            <a:endParaRPr lang="en-US" sz="1200" dirty="0"/>
          </a:p>
        </p:txBody>
      </p:sp>
      <p:sp>
        <p:nvSpPr>
          <p:cNvPr id="12" name="Text 10"/>
          <p:cNvSpPr txBox="1"/>
          <p:nvPr/>
        </p:nvSpPr>
        <p:spPr>
          <a:xfrm>
            <a:off x="457200" y="1993392"/>
            <a:ext cx="8229600" cy="1014984"/>
          </a:xfrm>
          <a:prstGeom prst="rect">
            <a:avLst/>
          </a:prstGeom>
          <a:noFill/>
          <a:ln/>
        </p:spPr>
        <p:txBody>
          <a:bodyPr wrap="square" lIns="254" tIns="254" rIns="254" bIns="254" rtlCol="0" anchor="t">
            <a:normAutofit/>
            <a:spAutoFit/>
          </a:bodyPr>
          <a:lstStyle/>
          <a:p>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Build each discount rate: z₁ + Z = 6.76% · z₂ + Z = 7.26% · z₃ + Z = 7.78%  (same 3.78% added to each)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Year 1: 5.5 / (1.0676)¹ = 5.152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Year 2: 5.5 / (1.0726)² = 5.5 / 1.15047 = 4.781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Year 3: 105.5 / (1.0778)³ = 105.5 / 1.25203 = 84.263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5.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Price = 5.152 + 4.781 + 84.263 = 94.20 — a deep discount, since 5.5% coupon vs 6.8–7.8% discount rates</a:t>
            </a:r>
            <a:endParaRPr lang="en-US" sz="1150" dirty="0"/>
          </a:p>
        </p:txBody>
      </p:sp>
      <p:sp>
        <p:nvSpPr>
          <p:cNvPr id="13" name="Shape 11"/>
          <p:cNvSpPr/>
          <p:nvPr/>
        </p:nvSpPr>
        <p:spPr>
          <a:xfrm>
            <a:off x="411480" y="3081528"/>
            <a:ext cx="8321040" cy="365760"/>
          </a:xfrm>
          <a:prstGeom prst="rect">
            <a:avLst/>
          </a:prstGeom>
          <a:solidFill>
            <a:srgbClr val="E8600A"/>
          </a:solidFill>
          <a:ln/>
        </p:spPr>
      </p:sp>
      <p:sp>
        <p:nvSpPr>
          <p:cNvPr id="14" name="Text 12"/>
          <p:cNvSpPr txBox="1"/>
          <p:nvPr/>
        </p:nvSpPr>
        <p:spPr>
          <a:xfrm>
            <a:off x="457200" y="308152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Price = 94.20 per 100 of par   ·   run it in reverse and 94.20 returns Z = 378 bps</a:t>
            </a:r>
            <a:endParaRPr lang="en-US" sz="1150" dirty="0"/>
          </a:p>
        </p:txBody>
      </p:sp>
      <p:sp>
        <p:nvSpPr>
          <p:cNvPr id="15" name="Shape 13"/>
          <p:cNvSpPr/>
          <p:nvPr/>
        </p:nvSpPr>
        <p:spPr>
          <a:xfrm>
            <a:off x="320040" y="3611880"/>
            <a:ext cx="8503920" cy="685800"/>
          </a:xfrm>
          <a:prstGeom prst="rect">
            <a:avLst/>
          </a:prstGeom>
          <a:solidFill>
            <a:srgbClr val="FEF0E7"/>
          </a:solidFill>
          <a:ln/>
        </p:spPr>
      </p:sp>
      <p:sp>
        <p:nvSpPr>
          <p:cNvPr id="16" name="Shape 14"/>
          <p:cNvSpPr/>
          <p:nvPr/>
        </p:nvSpPr>
        <p:spPr>
          <a:xfrm>
            <a:off x="320040" y="3611880"/>
            <a:ext cx="73152" cy="685800"/>
          </a:xfrm>
          <a:prstGeom prst="rect">
            <a:avLst/>
          </a:prstGeom>
          <a:solidFill>
            <a:srgbClr val="E8600A"/>
          </a:solidFill>
          <a:ln/>
        </p:spPr>
      </p:sp>
      <p:sp>
        <p:nvSpPr>
          <p:cNvPr id="17" name="Text 15"/>
          <p:cNvSpPr txBox="1"/>
          <p:nvPr/>
        </p:nvSpPr>
        <p:spPr>
          <a:xfrm>
            <a:off x="457200" y="36576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ON A SCREEN IT RUNS THE OTHER WAY</a:t>
            </a:r>
            <a:endParaRPr lang="en-US" sz="1100" dirty="0"/>
          </a:p>
        </p:txBody>
      </p:sp>
      <p:sp>
        <p:nvSpPr>
          <p:cNvPr id="18" name="Text 16"/>
          <p:cNvSpPr txBox="1"/>
          <p:nvPr/>
        </p:nvSpPr>
        <p:spPr>
          <a:xfrm>
            <a:off x="457200" y="3931920"/>
            <a:ext cx="8275320" cy="3200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price is the observable and Z is the unknown: Solver or Goal Seek, objective = the quoted price, change cell = Z. That is why credit is compared in Z-spread — it is the only measure comparable across coupons and maturities.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03</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Money-market and</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floater yields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3 of 4  ·  Deck 14 of 20  ·  Studio Tonton Gug</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Money-market rates are annualized but NOT compounded — and come in two mutually inconsistent flavours: discount rates on FV and add-on rates on PV</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A discount rate divides the interest earned by the maturity value, not by the amount invested — so by design it understates the true return.
</a:t>
            </a:r>
            <a:pPr indent="0" marL="0">
              <a:buNone/>
            </a:pPr>
            <a:r>
              <a:rPr lang="en-US" sz="1000" dirty="0">
                <a:solidFill>
                  <a:srgbClr val="6B7A8D"/>
                </a:solidFill>
                <a:latin typeface="Calibri" pitchFamily="34" charset="0"/>
                <a:ea typeface="Calibri" pitchFamily="34" charset="-122"/>
                <a:cs typeface="Calibri" pitchFamily="34" charset="-120"/>
              </a:rPr>
              <a:t>² Convert everything to a 365-day add-on rate (the bond-equivalent yield) before comparing any two money-market instruments.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LM 8, §3 "Yield Measures for Money Market Instruments", Equations 2–5, Exhibits 2–3 and Example 4, pp. 194–199.</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Bond yields are annualized AND compounded. Money-market yields are simple interest — and two instruments with identical cash flows will quote different numbers.</a:t>
            </a:r>
            <a:endParaRPr lang="en-US" sz="1300" dirty="0"/>
          </a:p>
        </p:txBody>
      </p:sp>
      <p:sp>
        <p:nvSpPr>
          <p:cNvPr id="10" name="Shape 8"/>
          <p:cNvSpPr/>
          <p:nvPr/>
        </p:nvSpPr>
        <p:spPr>
          <a:xfrm>
            <a:off x="320040" y="1261872"/>
            <a:ext cx="8503920" cy="713232"/>
          </a:xfrm>
          <a:prstGeom prst="rect">
            <a:avLst/>
          </a:prstGeom>
          <a:solidFill>
            <a:srgbClr val="1B2A4A"/>
          </a:solidFill>
          <a:ln/>
        </p:spPr>
      </p:sp>
      <p:sp>
        <p:nvSpPr>
          <p:cNvPr id="11" name="Text 9"/>
          <p:cNvSpPr txBox="1"/>
          <p:nvPr/>
        </p:nvSpPr>
        <p:spPr>
          <a:xfrm>
            <a:off x="411480" y="1261872"/>
            <a:ext cx="8321040" cy="713232"/>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PV_DR   =  FV × [1 − (Days/Year) × DR]</a:t>
            </a:r>
            <a:endParaRPr lang="en-US" sz="1800" dirty="0"/>
          </a:p>
          <a:p>
            <a:pPr algn="ctr" indent="0" marL="0">
              <a:buNone/>
            </a:pPr>
            <a:r>
              <a:rPr lang="en-US" sz="1800" b="1" dirty="0">
                <a:solidFill>
                  <a:srgbClr val="FFFFFF"/>
                </a:solidFill>
                <a:latin typeface="Consolas" pitchFamily="34" charset="0"/>
                <a:ea typeface="Consolas" pitchFamily="34" charset="-122"/>
                <a:cs typeface="Consolas" pitchFamily="34" charset="-120"/>
              </a:rPr>
              <a:t>PV_AOR  =  FV / [1 + (Days/Year) × AOR]</a:t>
            </a:r>
            <a:endParaRPr lang="en-US" sz="1800" dirty="0"/>
          </a:p>
        </p:txBody>
      </p:sp>
      <p:sp>
        <p:nvSpPr>
          <p:cNvPr id="12" name="Text 10"/>
          <p:cNvSpPr txBox="1"/>
          <p:nvPr/>
        </p:nvSpPr>
        <p:spPr>
          <a:xfrm>
            <a:off x="320040" y="2002536"/>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DR is quoted on the face value paid at maturity; AOR is quoted on the price at issuance. The year is 360 or 365 depending on instrument and jurisdiction.</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320040" y="2331720"/>
          <a:ext cx="8503920" cy="914400"/>
        </p:xfrm>
        <a:graphic>
          <a:graphicData uri="http://schemas.openxmlformats.org/drawingml/2006/table">
            <a:tbl>
              <a:tblPr/>
              <a:tblGrid>
                <a:gridCol w="2468880"/>
                <a:gridCol w="3931920"/>
                <a:gridCol w="21031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Convention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Formula</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Typical instruments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Discount rate (DR)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DR = (Year/Days) × (FV − PV) / FV</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T-bills · CP · BAs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Add-on rate (AOR)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AOR = (Year/Days) × (FV − PV) / PV</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CDs · repos · MRRs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Bond-equivalent yield (BEY)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AOR stated on a 365-day year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Common basis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4" name="Shape 11"/>
          <p:cNvSpPr/>
          <p:nvPr/>
        </p:nvSpPr>
        <p:spPr>
          <a:xfrm>
            <a:off x="320040" y="3547872"/>
            <a:ext cx="8503920" cy="685800"/>
          </a:xfrm>
          <a:prstGeom prst="rect">
            <a:avLst/>
          </a:prstGeom>
          <a:solidFill>
            <a:srgbClr val="FEF0E7"/>
          </a:solidFill>
          <a:ln/>
        </p:spPr>
      </p:sp>
      <p:sp>
        <p:nvSpPr>
          <p:cNvPr id="15" name="Shape 12"/>
          <p:cNvSpPr/>
          <p:nvPr/>
        </p:nvSpPr>
        <p:spPr>
          <a:xfrm>
            <a:off x="320040" y="3547872"/>
            <a:ext cx="73152" cy="685800"/>
          </a:xfrm>
          <a:prstGeom prst="rect">
            <a:avLst/>
          </a:prstGeom>
          <a:solidFill>
            <a:srgbClr val="E8600A"/>
          </a:solidFill>
          <a:ln/>
        </p:spPr>
      </p:sp>
      <p:sp>
        <p:nvSpPr>
          <p:cNvPr id="16" name="Text 13"/>
          <p:cNvSpPr txBox="1"/>
          <p:nvPr/>
        </p:nvSpPr>
        <p:spPr>
          <a:xfrm>
            <a:off x="457200" y="3593592"/>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FOUR WAYS TO SAY THE SAME THING</a:t>
            </a:r>
            <a:endParaRPr lang="en-US" sz="1100" dirty="0"/>
          </a:p>
        </p:txBody>
      </p:sp>
      <p:sp>
        <p:nvSpPr>
          <p:cNvPr id="17" name="Text 14"/>
          <p:cNvSpPr txBox="1"/>
          <p:nvPr/>
        </p:nvSpPr>
        <p:spPr>
          <a:xfrm>
            <a:off x="457200" y="3867912"/>
            <a:ext cx="8275320" cy="3200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Quote basis (DR or AOR) × year basis (360 or 365) = four dialects for identical cash flows. In CFA Example 4 the 180-day instrument with the LOWEST quoted rate, 4.33%, turns out to have the HIGHEST bond-equivalent yield at 4.487%.</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Worked — a 90-day CP quoted at a 0.120% discount rate on a 360-day year is a 0.122% bond-equivalent yield, which beats a CD quoting 0.120% add-on</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The printed setup line reads 0.100%, but the curriculum's own solution and its 0.2 bps conclusion both use DR = 0.120%. We follow the calculation.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LM 8, §3 Example 3 and Exhibit 3, pp. 197–198.</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Same credit, same 90-day tenor, two quoting conventions. Until they are translated, the two numbers cannot be compared at all.</a:t>
            </a:r>
            <a:endParaRPr lang="en-US" sz="1300" dirty="0"/>
          </a:p>
        </p:txBody>
      </p:sp>
      <p:sp>
        <p:nvSpPr>
          <p:cNvPr id="10" name="Shape 8"/>
          <p:cNvSpPr/>
          <p:nvPr/>
        </p:nvSpPr>
        <p:spPr>
          <a:xfrm>
            <a:off x="320040" y="1143000"/>
            <a:ext cx="8503920" cy="2377440"/>
          </a:xfrm>
          <a:prstGeom prst="rect">
            <a:avLst/>
          </a:prstGeom>
          <a:solidFill>
            <a:srgbClr val="FEF0E7"/>
          </a:solidFill>
          <a:ln w="9525">
            <a:solidFill>
              <a:srgbClr val="E8600A"/>
            </a:solidFill>
            <a:prstDash val="solid"/>
          </a:ln>
        </p:spPr>
      </p:sp>
      <p:sp>
        <p:nvSpPr>
          <p:cNvPr id="11" name="Text 9"/>
          <p:cNvSpPr txBox="1"/>
          <p:nvPr/>
        </p:nvSpPr>
        <p:spPr>
          <a:xfrm>
            <a:off x="457200" y="118872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BRWA 90-DAY COMMERCIAL PAPER vs CFP BANK 90-DAY CD</a:t>
            </a:r>
            <a:endParaRPr lang="en-US" sz="1100" dirty="0"/>
          </a:p>
        </p:txBody>
      </p:sp>
      <p:sp>
        <p:nvSpPr>
          <p:cNvPr id="12" name="Text 10"/>
          <p:cNvSpPr txBox="1"/>
          <p:nvPr/>
        </p:nvSpPr>
        <p:spPr>
          <a:xfrm>
            <a:off x="457200" y="148132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CP: 0.120% discount rate, 360-day year. CD: 0.120% add-on rate, 365-day year. Which offers the higher return?</a:t>
            </a:r>
            <a:endParaRPr lang="en-US" sz="1200" dirty="0"/>
          </a:p>
        </p:txBody>
      </p:sp>
      <p:sp>
        <p:nvSpPr>
          <p:cNvPr id="13" name="Text 11"/>
          <p:cNvSpPr txBox="1"/>
          <p:nvPr/>
        </p:nvSpPr>
        <p:spPr>
          <a:xfrm>
            <a:off x="457200" y="1993392"/>
            <a:ext cx="8229600" cy="1014984"/>
          </a:xfrm>
          <a:prstGeom prst="rect">
            <a:avLst/>
          </a:prstGeom>
          <a:noFill/>
          <a:ln/>
        </p:spPr>
        <p:txBody>
          <a:bodyPr wrap="square" lIns="254" tIns="254" rIns="254" bIns="254" rtlCol="0" anchor="t">
            <a:normAutofit/>
            <a:spAutoFit/>
          </a:bodyPr>
          <a:lstStyle/>
          <a:p>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Price the CP from its discount rate: PV = 100 × [1 − (90/360) × 0.00120] = 99.970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Restate on a 365-day add-on basis (Equation 5): AOR = (365/90) × (100 − 99.970) / 99.970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AOR = 4.05556 × 0.00030009 = 0.00122 — and that add-on rate IS the bond-equivalent yield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The CD is already an add-on rate on a 365-day year, so its 0.120% needs no conversion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5.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Both adjustments — FV→PV in the denominator, 360→365 in the year — push the same way, so a DR always converts UP</a:t>
            </a:r>
            <a:endParaRPr lang="en-US" sz="1150" dirty="0"/>
          </a:p>
        </p:txBody>
      </p:sp>
      <p:sp>
        <p:nvSpPr>
          <p:cNvPr id="14" name="Shape 12"/>
          <p:cNvSpPr/>
          <p:nvPr/>
        </p:nvSpPr>
        <p:spPr>
          <a:xfrm>
            <a:off x="411480" y="3081528"/>
            <a:ext cx="8321040" cy="365760"/>
          </a:xfrm>
          <a:prstGeom prst="rect">
            <a:avLst/>
          </a:prstGeom>
          <a:solidFill>
            <a:srgbClr val="E8600A"/>
          </a:solidFill>
          <a:ln/>
        </p:spPr>
      </p:sp>
      <p:sp>
        <p:nvSpPr>
          <p:cNvPr id="15" name="Text 13"/>
          <p:cNvSpPr txBox="1"/>
          <p:nvPr/>
        </p:nvSpPr>
        <p:spPr>
          <a:xfrm>
            <a:off x="457200" y="308152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CP BEY 0.122%   vs   CD 0.120%   →   the CP wins by ~0.2 bps once conventions match</a:t>
            </a:r>
            <a:endParaRPr lang="en-US" sz="1150" dirty="0"/>
          </a:p>
        </p:txBody>
      </p:sp>
      <p:sp>
        <p:nvSpPr>
          <p:cNvPr id="16" name="Shape 14"/>
          <p:cNvSpPr/>
          <p:nvPr/>
        </p:nvSpPr>
        <p:spPr>
          <a:xfrm>
            <a:off x="320040" y="3611880"/>
            <a:ext cx="8503920" cy="640080"/>
          </a:xfrm>
          <a:prstGeom prst="rect">
            <a:avLst/>
          </a:prstGeom>
          <a:solidFill>
            <a:srgbClr val="FEF0E7"/>
          </a:solidFill>
          <a:ln/>
        </p:spPr>
      </p:sp>
      <p:sp>
        <p:nvSpPr>
          <p:cNvPr id="17" name="Shape 15"/>
          <p:cNvSpPr/>
          <p:nvPr/>
        </p:nvSpPr>
        <p:spPr>
          <a:xfrm>
            <a:off x="320040" y="3611880"/>
            <a:ext cx="73152" cy="640080"/>
          </a:xfrm>
          <a:prstGeom prst="rect">
            <a:avLst/>
          </a:prstGeom>
          <a:solidFill>
            <a:srgbClr val="E8600A"/>
          </a:solidFill>
          <a:ln/>
        </p:spPr>
      </p:sp>
      <p:sp>
        <p:nvSpPr>
          <p:cNvPr id="18" name="Text 16"/>
          <p:cNvSpPr txBox="1"/>
          <p:nvPr/>
        </p:nvSpPr>
        <p:spPr>
          <a:xfrm>
            <a:off x="457200" y="36576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QUOTED NUMBER IS NOT THE RETURN</a:t>
            </a:r>
            <a:endParaRPr lang="en-US" sz="1100" dirty="0"/>
          </a:p>
        </p:txBody>
      </p:sp>
      <p:sp>
        <p:nvSpPr>
          <p:cNvPr id="19" name="Text 17"/>
          <p:cNvSpPr txBox="1"/>
          <p:nvPr/>
        </p:nvSpPr>
        <p:spPr>
          <a:xfrm>
            <a:off x="457200" y="3931920"/>
            <a:ext cx="8275320" cy="2743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Two quotes that both read "0.120%" are not the same return. Until both are expressed as 365-day add-on rates, the comparison is meaningless — and the ranking can flip.</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floating-rate note resets its coupon each period to MRR + quoted margin — so it prices at par on a reset date only when the required margin equals the quoted margin</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LM 8, §2 "Yield and Yield Spread Measures for Floating-Rate Notes", Equation 1 and Exhibit 1, pp. 188–190.</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coupon snaps back to market every reset, so interest-rate risk is small. What is left is CREDIT risk — and that is what the discount margin measures.</a:t>
            </a:r>
            <a:endParaRPr lang="en-US" sz="1300" dirty="0"/>
          </a:p>
        </p:txBody>
      </p:sp>
      <p:sp>
        <p:nvSpPr>
          <p:cNvPr id="9" name="Shape 7"/>
          <p:cNvSpPr/>
          <p:nvPr/>
        </p:nvSpPr>
        <p:spPr>
          <a:xfrm>
            <a:off x="320040" y="1207008"/>
            <a:ext cx="8503920" cy="713232"/>
          </a:xfrm>
          <a:prstGeom prst="rect">
            <a:avLst/>
          </a:prstGeom>
          <a:solidFill>
            <a:srgbClr val="1B2A4A"/>
          </a:solidFill>
          <a:ln/>
        </p:spPr>
      </p:sp>
      <p:sp>
        <p:nvSpPr>
          <p:cNvPr id="10" name="Text 8"/>
          <p:cNvSpPr txBox="1"/>
          <p:nvPr/>
        </p:nvSpPr>
        <p:spPr>
          <a:xfrm>
            <a:off x="411480" y="1207008"/>
            <a:ext cx="8321040" cy="713232"/>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PV  =  Σ  [(MRR + QM) × FV / m]  /  [1 + (MRR + DM)/m]ᵗ</a:t>
            </a:r>
            <a:endParaRPr lang="en-US" sz="1800" dirty="0"/>
          </a:p>
          <a:p>
            <a:pPr algn="ctr" indent="0" marL="0">
              <a:buNone/>
            </a:pPr>
            <a:r>
              <a:rPr lang="en-US" sz="1800" b="1" dirty="0">
                <a:solidFill>
                  <a:srgbClr val="FFFFFF"/>
                </a:solidFill>
                <a:latin typeface="Consolas" pitchFamily="34" charset="0"/>
                <a:ea typeface="Consolas" pitchFamily="34" charset="-122"/>
                <a:cs typeface="Consolas" pitchFamily="34" charset="-120"/>
              </a:rPr>
              <a:t>+   FV / [1 + (MRR + DM)/m]ᴺ</a:t>
            </a:r>
            <a:endParaRPr lang="en-US" sz="1800" dirty="0"/>
          </a:p>
        </p:txBody>
      </p:sp>
      <p:sp>
        <p:nvSpPr>
          <p:cNvPr id="11" name="Text 9"/>
          <p:cNvSpPr txBox="1"/>
          <p:nvPr/>
        </p:nvSpPr>
        <p:spPr>
          <a:xfrm>
            <a:off x="320040" y="1947672"/>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QM = quoted margin, fixed at issuance, sits in the NUMERATOR. DM = discount margin, set by the market today, sits in the DENOMINATOR. Par when they are equal.</a:t>
            </a:r>
            <a:endParaRPr lang="en-US" sz="1100" dirty="0"/>
          </a:p>
        </p:txBody>
      </p:sp>
      <p:sp>
        <p:nvSpPr>
          <p:cNvPr id="12" name="Shape 10"/>
          <p:cNvSpPr/>
          <p:nvPr/>
        </p:nvSpPr>
        <p:spPr>
          <a:xfrm>
            <a:off x="320040" y="2331720"/>
            <a:ext cx="2743200" cy="1920240"/>
          </a:xfrm>
          <a:prstGeom prst="rect">
            <a:avLst/>
          </a:prstGeom>
          <a:solidFill>
            <a:srgbClr val="FFEBEE"/>
          </a:solidFill>
          <a:ln/>
        </p:spPr>
      </p:sp>
      <p:sp>
        <p:nvSpPr>
          <p:cNvPr id="13" name="Shape 11"/>
          <p:cNvSpPr/>
          <p:nvPr/>
        </p:nvSpPr>
        <p:spPr>
          <a:xfrm>
            <a:off x="320040" y="2331720"/>
            <a:ext cx="73152" cy="1920240"/>
          </a:xfrm>
          <a:prstGeom prst="rect">
            <a:avLst/>
          </a:prstGeom>
          <a:solidFill>
            <a:srgbClr val="B71C1C"/>
          </a:solidFill>
          <a:ln/>
        </p:spPr>
      </p:sp>
      <p:sp>
        <p:nvSpPr>
          <p:cNvPr id="14" name="Text 12"/>
          <p:cNvSpPr txBox="1"/>
          <p:nvPr/>
        </p:nvSpPr>
        <p:spPr>
          <a:xfrm>
            <a:off x="457200" y="2377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B71C1C"/>
                </a:solidFill>
                <a:latin typeface="Trebuchet MS" pitchFamily="34" charset="0"/>
                <a:ea typeface="Trebuchet MS" pitchFamily="34" charset="-122"/>
                <a:cs typeface="Trebuchet MS" pitchFamily="34" charset="-120"/>
              </a:rPr>
              <a:t>DM &gt; QM  →  DISCOUNT</a:t>
            </a:r>
            <a:endParaRPr lang="en-US" sz="1100" dirty="0"/>
          </a:p>
        </p:txBody>
      </p:sp>
      <p:sp>
        <p:nvSpPr>
          <p:cNvPr id="15" name="Text 13"/>
          <p:cNvSpPr txBox="1"/>
          <p:nvPr/>
        </p:nvSpPr>
        <p:spPr>
          <a:xfrm>
            <a:off x="457200" y="265176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Credit has deteriorated. The issuer now pays a "deficient" margin versus what the market demands, so the note falls below par by the PV of that shortfall.</a:t>
            </a:r>
            <a:endParaRPr lang="en-US" sz="1200" dirty="0"/>
          </a:p>
        </p:txBody>
      </p:sp>
      <p:sp>
        <p:nvSpPr>
          <p:cNvPr id="16" name="Shape 14"/>
          <p:cNvSpPr/>
          <p:nvPr/>
        </p:nvSpPr>
        <p:spPr>
          <a:xfrm>
            <a:off x="3200400" y="2331720"/>
            <a:ext cx="2743200" cy="1920240"/>
          </a:xfrm>
          <a:prstGeom prst="rect">
            <a:avLst/>
          </a:prstGeom>
          <a:solidFill>
            <a:srgbClr val="F5F7FA"/>
          </a:solidFill>
          <a:ln/>
        </p:spPr>
      </p:sp>
      <p:sp>
        <p:nvSpPr>
          <p:cNvPr id="17" name="Shape 15"/>
          <p:cNvSpPr/>
          <p:nvPr/>
        </p:nvSpPr>
        <p:spPr>
          <a:xfrm>
            <a:off x="3200400" y="2331720"/>
            <a:ext cx="73152" cy="1920240"/>
          </a:xfrm>
          <a:prstGeom prst="rect">
            <a:avLst/>
          </a:prstGeom>
          <a:solidFill>
            <a:srgbClr val="1B2A4A"/>
          </a:solidFill>
          <a:ln/>
        </p:spPr>
      </p:sp>
      <p:sp>
        <p:nvSpPr>
          <p:cNvPr id="18" name="Text 16"/>
          <p:cNvSpPr txBox="1"/>
          <p:nvPr/>
        </p:nvSpPr>
        <p:spPr>
          <a:xfrm>
            <a:off x="3337560" y="2377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DM = QM  →  PAR</a:t>
            </a:r>
            <a:endParaRPr lang="en-US" sz="1100" dirty="0"/>
          </a:p>
        </p:txBody>
      </p:sp>
      <p:sp>
        <p:nvSpPr>
          <p:cNvPr id="19" name="Text 17"/>
          <p:cNvSpPr txBox="1"/>
          <p:nvPr/>
        </p:nvSpPr>
        <p:spPr>
          <a:xfrm>
            <a:off x="3337560" y="265176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Nothing has changed since issuance. The note prices exactly at 100 on every reset date, and is pulled back to par between them.</a:t>
            </a:r>
            <a:endParaRPr lang="en-US" sz="1200" dirty="0"/>
          </a:p>
        </p:txBody>
      </p:sp>
      <p:sp>
        <p:nvSpPr>
          <p:cNvPr id="20" name="Shape 18"/>
          <p:cNvSpPr/>
          <p:nvPr/>
        </p:nvSpPr>
        <p:spPr>
          <a:xfrm>
            <a:off x="6080760" y="2331720"/>
            <a:ext cx="2743200" cy="1920240"/>
          </a:xfrm>
          <a:prstGeom prst="rect">
            <a:avLst/>
          </a:prstGeom>
          <a:solidFill>
            <a:srgbClr val="E8F5E9"/>
          </a:solidFill>
          <a:ln/>
        </p:spPr>
      </p:sp>
      <p:sp>
        <p:nvSpPr>
          <p:cNvPr id="21" name="Shape 19"/>
          <p:cNvSpPr/>
          <p:nvPr/>
        </p:nvSpPr>
        <p:spPr>
          <a:xfrm>
            <a:off x="6080760" y="2331720"/>
            <a:ext cx="73152" cy="1920240"/>
          </a:xfrm>
          <a:prstGeom prst="rect">
            <a:avLst/>
          </a:prstGeom>
          <a:solidFill>
            <a:srgbClr val="1A6B3C"/>
          </a:solidFill>
          <a:ln/>
        </p:spPr>
      </p:sp>
      <p:sp>
        <p:nvSpPr>
          <p:cNvPr id="22" name="Text 20"/>
          <p:cNvSpPr txBox="1"/>
          <p:nvPr/>
        </p:nvSpPr>
        <p:spPr>
          <a:xfrm>
            <a:off x="6217920" y="2377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A6B3C"/>
                </a:solidFill>
                <a:latin typeface="Trebuchet MS" pitchFamily="34" charset="0"/>
                <a:ea typeface="Trebuchet MS" pitchFamily="34" charset="-122"/>
                <a:cs typeface="Trebuchet MS" pitchFamily="34" charset="-120"/>
              </a:rPr>
              <a:t>DM &lt; QM  →  PREMIUM</a:t>
            </a:r>
            <a:endParaRPr lang="en-US" sz="1100" dirty="0"/>
          </a:p>
        </p:txBody>
      </p:sp>
      <p:sp>
        <p:nvSpPr>
          <p:cNvPr id="23" name="Text 21"/>
          <p:cNvSpPr txBox="1"/>
          <p:nvPr/>
        </p:nvSpPr>
        <p:spPr>
          <a:xfrm>
            <a:off x="6217920" y="265176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Credit has improved. The issuer is now "overpaying" versus the market, so the note trades above par by the PV of that excess margin.</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Worked — the Antelas AG four-year FRN paying 3-month MRR of −0.55% plus 250 bps, priced at 97, implies a discount margin of 329 bps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LM 8, §2 Example 1 "Calculating the Discount Margin for a Floating-Rate Note", pp. 191–192.</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note sits 3 points below par, so the market must be demanding more than the 250 bp locked in at issuance. Solve the pricing model for the margin that produces 97.</a:t>
            </a:r>
            <a:endParaRPr lang="en-US" sz="1300" dirty="0"/>
          </a:p>
        </p:txBody>
      </p:sp>
      <p:sp>
        <p:nvSpPr>
          <p:cNvPr id="9" name="Shape 7"/>
          <p:cNvSpPr/>
          <p:nvPr/>
        </p:nvSpPr>
        <p:spPr>
          <a:xfrm>
            <a:off x="320040" y="1143000"/>
            <a:ext cx="8503920" cy="2377440"/>
          </a:xfrm>
          <a:prstGeom prst="rect">
            <a:avLst/>
          </a:prstGeom>
          <a:solidFill>
            <a:srgbClr val="FEF0E7"/>
          </a:solidFill>
          <a:ln w="9525">
            <a:solidFill>
              <a:srgbClr val="E8600A"/>
            </a:solidFill>
            <a:prstDash val="solid"/>
          </a:ln>
        </p:spPr>
      </p:sp>
      <p:sp>
        <p:nvSpPr>
          <p:cNvPr id="10" name="Text 8"/>
          <p:cNvSpPr txBox="1"/>
          <p:nvPr/>
        </p:nvSpPr>
        <p:spPr>
          <a:xfrm>
            <a:off x="457200" y="118872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ANTELAS AG FRN · EUR · QUARTERLY · 4 YEARS · 30/360</a:t>
            </a:r>
            <a:endParaRPr lang="en-US" sz="1100" dirty="0"/>
          </a:p>
        </p:txBody>
      </p:sp>
      <p:sp>
        <p:nvSpPr>
          <p:cNvPr id="11" name="Text 9"/>
          <p:cNvSpPr txBox="1"/>
          <p:nvPr/>
        </p:nvSpPr>
        <p:spPr>
          <a:xfrm>
            <a:off x="457200" y="148132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QM = 250 bps. Three-month MRR held constant at −0.55%. Price 97 per 100 of par. m = 4, N = 16 periods, FV = 100.</a:t>
            </a:r>
            <a:endParaRPr lang="en-US" sz="1200" dirty="0"/>
          </a:p>
        </p:txBody>
      </p:sp>
      <p:sp>
        <p:nvSpPr>
          <p:cNvPr id="12" name="Text 10"/>
          <p:cNvSpPr txBox="1"/>
          <p:nvPr/>
        </p:nvSpPr>
        <p:spPr>
          <a:xfrm>
            <a:off x="457200" y="1993392"/>
            <a:ext cx="8229600" cy="1014984"/>
          </a:xfrm>
          <a:prstGeom prst="rect">
            <a:avLst/>
          </a:prstGeom>
          <a:noFill/>
          <a:ln/>
        </p:spPr>
        <p:txBody>
          <a:bodyPr wrap="square" lIns="254" tIns="254" rIns="254" bIns="254" rtlCol="0" anchor="t">
            <a:normAutofit/>
            <a:spAutoFit/>
          </a:bodyPr>
          <a:lstStyle/>
          <a:p>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Periodic coupon: PMT = (MRR + QM) × FV / m = (−0.0055 + 0.0250) × 100 / 4 = 0.4875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Solve for the periodic discount rate: PV = −97, FV = 100, PMT = 0.4875, N = 16  →  r = 0.686122%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Unwind r into the margin: r = (MRR + DM) / m  →  0.00686122 = (−0.0055 + DM) / 4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DM = 4 × 0.00686122 + 0.0055 = 0.03294 = 329 bps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5.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Check: the 79 bp shortfall is 0.1975 a quarter; × the 16-period annuity factor 15.10 = 2.98 ≈ the 3-point discount ✓</a:t>
            </a:r>
            <a:endParaRPr lang="en-US" sz="1150" dirty="0"/>
          </a:p>
        </p:txBody>
      </p:sp>
      <p:sp>
        <p:nvSpPr>
          <p:cNvPr id="13" name="Shape 11"/>
          <p:cNvSpPr/>
          <p:nvPr/>
        </p:nvSpPr>
        <p:spPr>
          <a:xfrm>
            <a:off x="411480" y="3081528"/>
            <a:ext cx="8321040" cy="365760"/>
          </a:xfrm>
          <a:prstGeom prst="rect">
            <a:avLst/>
          </a:prstGeom>
          <a:solidFill>
            <a:srgbClr val="E8600A"/>
          </a:solidFill>
          <a:ln/>
        </p:spPr>
      </p:sp>
      <p:sp>
        <p:nvSpPr>
          <p:cNvPr id="14" name="Text 12"/>
          <p:cNvSpPr txBox="1"/>
          <p:nvPr/>
        </p:nvSpPr>
        <p:spPr>
          <a:xfrm>
            <a:off x="457200" y="308152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DM = 329 bps  vs  QM 250 bps   →   the 79 bp shortfall IS the 3-point discount</a:t>
            </a:r>
            <a:endParaRPr lang="en-US" sz="1150" dirty="0"/>
          </a:p>
        </p:txBody>
      </p:sp>
      <p:sp>
        <p:nvSpPr>
          <p:cNvPr id="15" name="Shape 13"/>
          <p:cNvSpPr/>
          <p:nvPr/>
        </p:nvSpPr>
        <p:spPr>
          <a:xfrm>
            <a:off x="320040" y="3611880"/>
            <a:ext cx="8503920" cy="685800"/>
          </a:xfrm>
          <a:prstGeom prst="rect">
            <a:avLst/>
          </a:prstGeom>
          <a:solidFill>
            <a:srgbClr val="FEF0E7"/>
          </a:solidFill>
          <a:ln/>
        </p:spPr>
      </p:sp>
      <p:sp>
        <p:nvSpPr>
          <p:cNvPr id="16" name="Shape 14"/>
          <p:cNvSpPr/>
          <p:nvPr/>
        </p:nvSpPr>
        <p:spPr>
          <a:xfrm>
            <a:off x="320040" y="3611880"/>
            <a:ext cx="73152" cy="685800"/>
          </a:xfrm>
          <a:prstGeom prst="rect">
            <a:avLst/>
          </a:prstGeom>
          <a:solidFill>
            <a:srgbClr val="E8600A"/>
          </a:solidFill>
          <a:ln/>
        </p:spPr>
      </p:sp>
      <p:sp>
        <p:nvSpPr>
          <p:cNvPr id="17" name="Text 15"/>
          <p:cNvSpPr txBox="1"/>
          <p:nvPr/>
        </p:nvSpPr>
        <p:spPr>
          <a:xfrm>
            <a:off x="457200" y="36576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WATCH THE SIGNS AND THE PERIODICITY</a:t>
            </a:r>
            <a:endParaRPr lang="en-US" sz="1100" dirty="0"/>
          </a:p>
        </p:txBody>
      </p:sp>
      <p:sp>
        <p:nvSpPr>
          <p:cNvPr id="18" name="Text 16"/>
          <p:cNvSpPr txBox="1"/>
          <p:nvPr/>
        </p:nvSpPr>
        <p:spPr>
          <a:xfrm>
            <a:off x="457200" y="3931920"/>
            <a:ext cx="8275320" cy="3200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MRR is negative here, so −(−0.0055) adds back. And r is a PERIODIC rate — multiply by m = 4 before subtracting MRR. Dropping either step is the standard way this calculation goes wrong.</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04</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Term structure:</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spot, par &amp; forward</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4 of 4  ·  Deck 14 of 20  ·  Studio Tonton Gug</a:t>
            </a:r>
            <a:endParaRPr lang="en-US" sz="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Spot rates are zero-coupon yields — one rate per maturity — and they are the ideal term-structure dataset because there is nothing to reinvest</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CFA Example 1: a five-year Canadian 1.00% bond priced on these spots is 99.50, and its YTM is 1.104% — just under the 1.11% five-year spot.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LM 9, §2 "Maturity Structure of Interest Rates and Spot Rates", Exhibit 3 and Example 1, pp. 209–215.</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Where zero-coupon strips trade, spot rates are observed directly. Everywhere else, analysts bootstrap them out of coupon bonds.</a:t>
            </a:r>
            <a:endParaRPr lang="en-US" sz="13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280160"/>
                <a:gridCol w="804672"/>
                <a:gridCol w="804672"/>
                <a:gridCol w="804672"/>
                <a:gridCol w="804672"/>
                <a:gridCol w="804672"/>
                <a:gridCol w="804672"/>
                <a:gridCol w="804672"/>
                <a:gridCol w="804672"/>
                <a:gridCol w="786384"/>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Maturity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1y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2y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3y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4y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5y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7y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10y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20y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30y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Canada spot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0.31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0.57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0.80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0.96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1.11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1.30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1.58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1.98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2.06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Australia spot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0.30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0.59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0.81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1.17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1.52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2.35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2.47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Slope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1" name="Shape 8"/>
          <p:cNvSpPr/>
          <p:nvPr/>
        </p:nvSpPr>
        <p:spPr>
          <a:xfrm>
            <a:off x="320040" y="2395728"/>
            <a:ext cx="2743200" cy="1508760"/>
          </a:xfrm>
          <a:prstGeom prst="rect">
            <a:avLst/>
          </a:prstGeom>
          <a:solidFill>
            <a:srgbClr val="FEF0E7"/>
          </a:solidFill>
          <a:ln/>
        </p:spPr>
      </p:sp>
      <p:sp>
        <p:nvSpPr>
          <p:cNvPr id="12" name="Shape 9"/>
          <p:cNvSpPr/>
          <p:nvPr/>
        </p:nvSpPr>
        <p:spPr>
          <a:xfrm>
            <a:off x="320040" y="2395728"/>
            <a:ext cx="73152" cy="1508760"/>
          </a:xfrm>
          <a:prstGeom prst="rect">
            <a:avLst/>
          </a:prstGeom>
          <a:solidFill>
            <a:srgbClr val="E8600A"/>
          </a:solidFill>
          <a:ln/>
        </p:spPr>
      </p:sp>
      <p:sp>
        <p:nvSpPr>
          <p:cNvPr id="13" name="Text 10"/>
          <p:cNvSpPr txBox="1"/>
          <p:nvPr/>
        </p:nvSpPr>
        <p:spPr>
          <a:xfrm>
            <a:off x="457200" y="2441448"/>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UPWARD-SLOPING</a:t>
            </a:r>
            <a:endParaRPr lang="en-US" sz="1100" dirty="0"/>
          </a:p>
        </p:txBody>
      </p:sp>
      <p:sp>
        <p:nvSpPr>
          <p:cNvPr id="14" name="Text 11"/>
          <p:cNvSpPr txBox="1"/>
          <p:nvPr/>
        </p:nvSpPr>
        <p:spPr>
          <a:xfrm>
            <a:off x="457200" y="2715768"/>
            <a:ext cx="2514600" cy="11430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Long rates above short rates. A positive maturity premium and no expectation of falling short rates. The usual shape — both curves above.</a:t>
            </a:r>
            <a:endParaRPr lang="en-US" sz="1200" dirty="0"/>
          </a:p>
        </p:txBody>
      </p:sp>
      <p:sp>
        <p:nvSpPr>
          <p:cNvPr id="15" name="Shape 12"/>
          <p:cNvSpPr/>
          <p:nvPr/>
        </p:nvSpPr>
        <p:spPr>
          <a:xfrm>
            <a:off x="3200400" y="2395728"/>
            <a:ext cx="2743200" cy="1508760"/>
          </a:xfrm>
          <a:prstGeom prst="rect">
            <a:avLst/>
          </a:prstGeom>
          <a:solidFill>
            <a:srgbClr val="F5F7FA"/>
          </a:solidFill>
          <a:ln/>
        </p:spPr>
      </p:sp>
      <p:sp>
        <p:nvSpPr>
          <p:cNvPr id="16" name="Shape 13"/>
          <p:cNvSpPr/>
          <p:nvPr/>
        </p:nvSpPr>
        <p:spPr>
          <a:xfrm>
            <a:off x="3200400" y="2395728"/>
            <a:ext cx="73152" cy="1508760"/>
          </a:xfrm>
          <a:prstGeom prst="rect">
            <a:avLst/>
          </a:prstGeom>
          <a:solidFill>
            <a:srgbClr val="1B2A4A"/>
          </a:solidFill>
          <a:ln/>
        </p:spPr>
      </p:sp>
      <p:sp>
        <p:nvSpPr>
          <p:cNvPr id="17" name="Text 14"/>
          <p:cNvSpPr txBox="1"/>
          <p:nvPr/>
        </p:nvSpPr>
        <p:spPr>
          <a:xfrm>
            <a:off x="3337560" y="2441448"/>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FLAT</a:t>
            </a:r>
            <a:endParaRPr lang="en-US" sz="1100" dirty="0"/>
          </a:p>
        </p:txBody>
      </p:sp>
      <p:sp>
        <p:nvSpPr>
          <p:cNvPr id="18" name="Text 15"/>
          <p:cNvSpPr txBox="1"/>
          <p:nvPr/>
        </p:nvSpPr>
        <p:spPr>
          <a:xfrm>
            <a:off x="3337560" y="2715768"/>
            <a:ext cx="2514600" cy="11430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Every maturity at the same rate. Nothing is being expected — and the par and forward curves collapse onto the spot curve.</a:t>
            </a:r>
            <a:endParaRPr lang="en-US" sz="1200" dirty="0"/>
          </a:p>
        </p:txBody>
      </p:sp>
      <p:sp>
        <p:nvSpPr>
          <p:cNvPr id="19" name="Shape 16"/>
          <p:cNvSpPr/>
          <p:nvPr/>
        </p:nvSpPr>
        <p:spPr>
          <a:xfrm>
            <a:off x="6080760" y="2395728"/>
            <a:ext cx="2743200" cy="1508760"/>
          </a:xfrm>
          <a:prstGeom prst="rect">
            <a:avLst/>
          </a:prstGeom>
          <a:solidFill>
            <a:srgbClr val="FEF0E7"/>
          </a:solidFill>
          <a:ln/>
        </p:spPr>
      </p:sp>
      <p:sp>
        <p:nvSpPr>
          <p:cNvPr id="20" name="Shape 17"/>
          <p:cNvSpPr/>
          <p:nvPr/>
        </p:nvSpPr>
        <p:spPr>
          <a:xfrm>
            <a:off x="6080760" y="2395728"/>
            <a:ext cx="73152" cy="1508760"/>
          </a:xfrm>
          <a:prstGeom prst="rect">
            <a:avLst/>
          </a:prstGeom>
          <a:solidFill>
            <a:srgbClr val="E8600A"/>
          </a:solidFill>
          <a:ln/>
        </p:spPr>
      </p:sp>
      <p:sp>
        <p:nvSpPr>
          <p:cNvPr id="21" name="Text 18"/>
          <p:cNvSpPr txBox="1"/>
          <p:nvPr/>
        </p:nvSpPr>
        <p:spPr>
          <a:xfrm>
            <a:off x="6217920" y="2441448"/>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INVERTED</a:t>
            </a:r>
            <a:endParaRPr lang="en-US" sz="1100" dirty="0"/>
          </a:p>
        </p:txBody>
      </p:sp>
      <p:sp>
        <p:nvSpPr>
          <p:cNvPr id="22" name="Text 19"/>
          <p:cNvSpPr txBox="1"/>
          <p:nvPr/>
        </p:nvSpPr>
        <p:spPr>
          <a:xfrm>
            <a:off x="6217920" y="2715768"/>
            <a:ext cx="2514600" cy="11430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Long rates below short rates. The market is pricing cuts — historically a recession signal, always a financing-window signal.</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A bond's no-arbitrage price is each cash flow discounted at its OWN spot rate — not all of them at a single YTM</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LM 9, §2 "Bond Pricing Using Spot Rates", Equation 1, pp. 212–213.</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 one-year cash flow and a ten-year cash flow are different assets. Pricing them at the same rate is a convenience, not a valuation.</a:t>
            </a:r>
            <a:endParaRPr lang="en-US" sz="1300" dirty="0"/>
          </a:p>
        </p:txBody>
      </p:sp>
      <p:sp>
        <p:nvSpPr>
          <p:cNvPr id="9" name="Shape 7"/>
          <p:cNvSpPr/>
          <p:nvPr/>
        </p:nvSpPr>
        <p:spPr>
          <a:xfrm>
            <a:off x="320040" y="1207008"/>
            <a:ext cx="8503920" cy="713232"/>
          </a:xfrm>
          <a:prstGeom prst="rect">
            <a:avLst/>
          </a:prstGeom>
          <a:solidFill>
            <a:srgbClr val="1B2A4A"/>
          </a:solidFill>
          <a:ln/>
        </p:spPr>
      </p:sp>
      <p:sp>
        <p:nvSpPr>
          <p:cNvPr id="10" name="Text 8"/>
          <p:cNvSpPr txBox="1"/>
          <p:nvPr/>
        </p:nvSpPr>
        <p:spPr>
          <a:xfrm>
            <a:off x="411480" y="1207008"/>
            <a:ext cx="8321040" cy="713232"/>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PV  =  PMT / (1 + Z₁)¹  +  PMT / (1 + Z₂)²  +  …</a:t>
            </a:r>
            <a:endParaRPr lang="en-US" sz="1800" dirty="0"/>
          </a:p>
          <a:p>
            <a:pPr algn="ctr" indent="0" marL="0">
              <a:buNone/>
            </a:pPr>
            <a:r>
              <a:rPr lang="en-US" sz="1800" b="1" dirty="0">
                <a:solidFill>
                  <a:srgbClr val="FFFFFF"/>
                </a:solidFill>
                <a:latin typeface="Consolas" pitchFamily="34" charset="0"/>
                <a:ea typeface="Consolas" pitchFamily="34" charset="-122"/>
                <a:cs typeface="Consolas" pitchFamily="34" charset="-120"/>
              </a:rPr>
              <a:t>+  (PMT + FV) / (1 + Zₙ)ⁿ</a:t>
            </a:r>
            <a:endParaRPr lang="en-US" sz="1800" dirty="0"/>
          </a:p>
        </p:txBody>
      </p:sp>
      <p:sp>
        <p:nvSpPr>
          <p:cNvPr id="11" name="Text 9"/>
          <p:cNvSpPr txBox="1"/>
          <p:nvPr/>
        </p:nvSpPr>
        <p:spPr>
          <a:xfrm>
            <a:off x="320040" y="1947672"/>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Zₜ = the spot rate for maturity t. For an issuer with credit risk, add a spread to every spot — which is precisely the Z-spread from §2.</a:t>
            </a:r>
            <a:endParaRPr lang="en-US" sz="1100" dirty="0"/>
          </a:p>
        </p:txBody>
      </p:sp>
      <p:sp>
        <p:nvSpPr>
          <p:cNvPr id="12" name="Shape 10"/>
          <p:cNvSpPr/>
          <p:nvPr/>
        </p:nvSpPr>
        <p:spPr>
          <a:xfrm>
            <a:off x="320040" y="2331720"/>
            <a:ext cx="4160520" cy="1965960"/>
          </a:xfrm>
          <a:prstGeom prst="rect">
            <a:avLst/>
          </a:prstGeom>
          <a:solidFill>
            <a:srgbClr val="FEF0E7"/>
          </a:solidFill>
          <a:ln/>
        </p:spPr>
      </p:sp>
      <p:sp>
        <p:nvSpPr>
          <p:cNvPr id="13" name="Shape 11"/>
          <p:cNvSpPr/>
          <p:nvPr/>
        </p:nvSpPr>
        <p:spPr>
          <a:xfrm>
            <a:off x="320040" y="2331720"/>
            <a:ext cx="73152" cy="1965960"/>
          </a:xfrm>
          <a:prstGeom prst="rect">
            <a:avLst/>
          </a:prstGeom>
          <a:solidFill>
            <a:srgbClr val="E8600A"/>
          </a:solidFill>
          <a:ln/>
        </p:spPr>
      </p:sp>
      <p:sp>
        <p:nvSpPr>
          <p:cNvPr id="14" name="Text 12"/>
          <p:cNvSpPr txBox="1"/>
          <p:nvPr/>
        </p:nvSpPr>
        <p:spPr>
          <a:xfrm>
            <a:off x="457200" y="2377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WHY NO-ARBITRAGE</a:t>
            </a:r>
            <a:endParaRPr lang="en-US" sz="1100" dirty="0"/>
          </a:p>
        </p:txBody>
      </p:sp>
      <p:sp>
        <p:nvSpPr>
          <p:cNvPr id="15" name="Text 13"/>
          <p:cNvSpPr txBox="1"/>
          <p:nvPr/>
        </p:nvSpPr>
        <p:spPr>
          <a:xfrm>
            <a:off x="457200" y="2651760"/>
            <a:ext cx="3931920" cy="1600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dealer can strip the coupons and sell each as a separate zero. If the whole bond is worth less than the sum of its stripped parts, you buy the bond, strip it, and bank a riskless profit.</a:t>
            </a:r>
            <a:endParaRPr lang="en-US" sz="1200" dirty="0"/>
          </a:p>
        </p:txBody>
      </p:sp>
      <p:sp>
        <p:nvSpPr>
          <p:cNvPr id="16" name="Shape 14"/>
          <p:cNvSpPr/>
          <p:nvPr/>
        </p:nvSpPr>
        <p:spPr>
          <a:xfrm>
            <a:off x="4663440" y="2331720"/>
            <a:ext cx="4160520" cy="1965960"/>
          </a:xfrm>
          <a:prstGeom prst="rect">
            <a:avLst/>
          </a:prstGeom>
          <a:solidFill>
            <a:srgbClr val="F5F7FA"/>
          </a:solidFill>
          <a:ln/>
        </p:spPr>
      </p:sp>
      <p:sp>
        <p:nvSpPr>
          <p:cNvPr id="17" name="Shape 15"/>
          <p:cNvSpPr/>
          <p:nvPr/>
        </p:nvSpPr>
        <p:spPr>
          <a:xfrm>
            <a:off x="4663440" y="2331720"/>
            <a:ext cx="73152" cy="1965960"/>
          </a:xfrm>
          <a:prstGeom prst="rect">
            <a:avLst/>
          </a:prstGeom>
          <a:solidFill>
            <a:srgbClr val="1B2A4A"/>
          </a:solidFill>
          <a:ln/>
        </p:spPr>
      </p:sp>
      <p:sp>
        <p:nvSpPr>
          <p:cNvPr id="18" name="Text 16"/>
          <p:cNvSpPr txBox="1"/>
          <p:nvPr/>
        </p:nvSpPr>
        <p:spPr>
          <a:xfrm>
            <a:off x="4800600" y="2377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YTM IS STILL USEFUL</a:t>
            </a:r>
            <a:endParaRPr lang="en-US" sz="1100" dirty="0"/>
          </a:p>
        </p:txBody>
      </p:sp>
      <p:sp>
        <p:nvSpPr>
          <p:cNvPr id="19" name="Text 17"/>
          <p:cNvSpPr txBox="1"/>
          <p:nvPr/>
        </p:nvSpPr>
        <p:spPr>
          <a:xfrm>
            <a:off x="4800600" y="2651760"/>
            <a:ext cx="3931920" cy="1600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It compresses the whole curve into one quotable number, which is what makes bonds comparable and spreads computable. Just remember a curve is hiding behind it.</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Worked — a three-year 5% bond priced against spots of 2% / 3% / 4% is 102.960, and the single YTM that reproduces that price is 3.935%</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LM 9, §2 "Bond Pricing Using Spot Rates", numerical illustration, p. 213.</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YTM is not an average of 2, 3 and 4. It is the PV-weighted blend — dominated by year three, where 91% of the present value sits.</a:t>
            </a:r>
            <a:endParaRPr lang="en-US" sz="1300" dirty="0"/>
          </a:p>
        </p:txBody>
      </p:sp>
      <p:sp>
        <p:nvSpPr>
          <p:cNvPr id="9" name="Shape 7"/>
          <p:cNvSpPr/>
          <p:nvPr/>
        </p:nvSpPr>
        <p:spPr>
          <a:xfrm>
            <a:off x="320040" y="1143000"/>
            <a:ext cx="8503920" cy="2697480"/>
          </a:xfrm>
          <a:prstGeom prst="rect">
            <a:avLst/>
          </a:prstGeom>
          <a:solidFill>
            <a:srgbClr val="FEF0E7"/>
          </a:solidFill>
          <a:ln w="9525">
            <a:solidFill>
              <a:srgbClr val="E8600A"/>
            </a:solidFill>
            <a:prstDash val="solid"/>
          </a:ln>
        </p:spPr>
      </p:sp>
      <p:sp>
        <p:nvSpPr>
          <p:cNvPr id="10" name="Text 8"/>
          <p:cNvSpPr txBox="1"/>
          <p:nvPr/>
        </p:nvSpPr>
        <p:spPr>
          <a:xfrm>
            <a:off x="457200" y="118872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THREE-YEAR 5% ANNUAL-COUPON BOND · PAR 100 · ANNUAL COMPOUNDING</a:t>
            </a:r>
            <a:endParaRPr lang="en-US" sz="1100" dirty="0"/>
          </a:p>
        </p:txBody>
      </p:sp>
      <p:sp>
        <p:nvSpPr>
          <p:cNvPr id="11" name="Text 9"/>
          <p:cNvSpPr txBox="1"/>
          <p:nvPr/>
        </p:nvSpPr>
        <p:spPr>
          <a:xfrm>
            <a:off x="457200" y="148132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Spot curve: Z₁ = 2%, Z₂ = 3%, Z₃ = 4%. Cash flows 5, 5, 105. Price it on the spots, then back out the equivalent YTM.</a:t>
            </a:r>
            <a:endParaRPr lang="en-US" sz="1200" dirty="0"/>
          </a:p>
        </p:txBody>
      </p:sp>
      <p:sp>
        <p:nvSpPr>
          <p:cNvPr id="12" name="Text 10"/>
          <p:cNvSpPr txBox="1"/>
          <p:nvPr/>
        </p:nvSpPr>
        <p:spPr>
          <a:xfrm>
            <a:off x="457200" y="1993392"/>
            <a:ext cx="8229600" cy="1335024"/>
          </a:xfrm>
          <a:prstGeom prst="rect">
            <a:avLst/>
          </a:prstGeom>
          <a:noFill/>
          <a:ln/>
        </p:spPr>
        <p:txBody>
          <a:bodyPr wrap="square" lIns="254" tIns="254" rIns="254" bIns="254" rtlCol="0" anchor="t">
            <a:normAutofit/>
            <a:spAutoFit/>
          </a:bodyPr>
          <a:lstStyle/>
          <a:p>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Spot pricing:   5/(1.02)¹ = 4.902  ·  5/(1.03)² = 4.713  ·  105/(1.04)³ = 93.345   →   Price = 102.960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The bond is at a premium: the 5% coupon beats every spot rate on the curve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Now solve one rate: 102.960 = 5/(1+r)¹ + 5/(1+r)² + 105/(1+r)³   →   r = 3.935%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Re-price at that single YTM: 4.811 + 4.629 + 93.520 = 102.960 — the same total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5.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But look at the pieces: year 1 is 4.902 on spots vs 4.811 on YTM; year 3 is 93.345 vs 93.520</a:t>
            </a:r>
            <a:endParaRPr lang="en-US" sz="1200" dirty="0"/>
          </a:p>
        </p:txBody>
      </p:sp>
      <p:sp>
        <p:nvSpPr>
          <p:cNvPr id="13" name="Shape 11"/>
          <p:cNvSpPr/>
          <p:nvPr/>
        </p:nvSpPr>
        <p:spPr>
          <a:xfrm>
            <a:off x="411480" y="3401568"/>
            <a:ext cx="8321040" cy="365760"/>
          </a:xfrm>
          <a:prstGeom prst="rect">
            <a:avLst/>
          </a:prstGeom>
          <a:solidFill>
            <a:srgbClr val="E8600A"/>
          </a:solidFill>
          <a:ln/>
        </p:spPr>
      </p:sp>
      <p:sp>
        <p:nvSpPr>
          <p:cNvPr id="14" name="Text 12"/>
          <p:cNvSpPr txBox="1"/>
          <p:nvPr/>
        </p:nvSpPr>
        <p:spPr>
          <a:xfrm>
            <a:off x="457200" y="34015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Price 102.960 either way   ·   YTM 3.935%   ·   same total, different cash-flow PVs</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par rate is the coupon that makes a bond price at exactly 100 against the spot curve — and it is what the published Treasury curve actually shows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LM 9, §3 "Par Rates from Spot Rates", Equation 2, pp. 217–218.</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Par rates are used for term-structure work because they neutralise the tax, coupon and trading distortions that come with bonds priced away from 100.</a:t>
            </a:r>
            <a:endParaRPr lang="en-US" sz="1300" dirty="0"/>
          </a:p>
        </p:txBody>
      </p:sp>
      <p:sp>
        <p:nvSpPr>
          <p:cNvPr id="9" name="Shape 7"/>
          <p:cNvSpPr/>
          <p:nvPr/>
        </p:nvSpPr>
        <p:spPr>
          <a:xfrm>
            <a:off x="320040" y="1207008"/>
            <a:ext cx="8503920" cy="713232"/>
          </a:xfrm>
          <a:prstGeom prst="rect">
            <a:avLst/>
          </a:prstGeom>
          <a:solidFill>
            <a:srgbClr val="1B2A4A"/>
          </a:solidFill>
          <a:ln/>
        </p:spPr>
      </p:sp>
      <p:sp>
        <p:nvSpPr>
          <p:cNvPr id="10" name="Text 8"/>
          <p:cNvSpPr txBox="1"/>
          <p:nvPr/>
        </p:nvSpPr>
        <p:spPr>
          <a:xfrm>
            <a:off x="411480" y="1207008"/>
            <a:ext cx="8321040" cy="713232"/>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100  =  PMT / (1 + z₁)¹  +  …  +  (PMT + 100) / (1 + zₙ)ⁿ</a:t>
            </a:r>
            <a:endParaRPr lang="en-US" sz="1800" dirty="0"/>
          </a:p>
          <a:p>
            <a:pPr algn="ctr" indent="0" marL="0">
              <a:buNone/>
            </a:pPr>
            <a:r>
              <a:rPr lang="en-US" sz="1800" b="1" dirty="0">
                <a:solidFill>
                  <a:srgbClr val="FFFFFF"/>
                </a:solidFill>
                <a:latin typeface="Consolas" pitchFamily="34" charset="0"/>
                <a:ea typeface="Consolas" pitchFamily="34" charset="-122"/>
                <a:cs typeface="Consolas" pitchFamily="34" charset="-120"/>
              </a:rPr>
              <a:t>→   solve for PMT</a:t>
            </a:r>
            <a:endParaRPr lang="en-US" sz="1800" dirty="0"/>
          </a:p>
        </p:txBody>
      </p:sp>
      <p:sp>
        <p:nvSpPr>
          <p:cNvPr id="11" name="Text 9"/>
          <p:cNvSpPr txBox="1"/>
          <p:nvPr/>
        </p:nvSpPr>
        <p:spPr>
          <a:xfrm>
            <a:off x="320040" y="1947672"/>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Set price = face = 100 and solve for the coupon. That PMT divided by 100 is the par rate — and it is also that hypothetical bond's YTM.</a:t>
            </a:r>
            <a:endParaRPr lang="en-US" sz="1100" dirty="0"/>
          </a:p>
        </p:txBody>
      </p:sp>
      <p:sp>
        <p:nvSpPr>
          <p:cNvPr id="12" name="Shape 10"/>
          <p:cNvSpPr/>
          <p:nvPr/>
        </p:nvSpPr>
        <p:spPr>
          <a:xfrm>
            <a:off x="320040" y="2331720"/>
            <a:ext cx="4160520" cy="1965960"/>
          </a:xfrm>
          <a:prstGeom prst="rect">
            <a:avLst/>
          </a:prstGeom>
          <a:solidFill>
            <a:srgbClr val="FEF0E7"/>
          </a:solidFill>
          <a:ln/>
        </p:spPr>
      </p:sp>
      <p:sp>
        <p:nvSpPr>
          <p:cNvPr id="13" name="Shape 11"/>
          <p:cNvSpPr/>
          <p:nvPr/>
        </p:nvSpPr>
        <p:spPr>
          <a:xfrm>
            <a:off x="320040" y="2331720"/>
            <a:ext cx="73152" cy="1965960"/>
          </a:xfrm>
          <a:prstGeom prst="rect">
            <a:avLst/>
          </a:prstGeom>
          <a:solidFill>
            <a:srgbClr val="E8600A"/>
          </a:solidFill>
          <a:ln/>
        </p:spPr>
      </p:sp>
      <p:sp>
        <p:nvSpPr>
          <p:cNvPr id="14" name="Text 12"/>
          <p:cNvSpPr txBox="1"/>
          <p:nvPr/>
        </p:nvSpPr>
        <p:spPr>
          <a:xfrm>
            <a:off x="457200" y="2377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PAR RATE vs YTM</a:t>
            </a:r>
            <a:endParaRPr lang="en-US" sz="1100" dirty="0"/>
          </a:p>
        </p:txBody>
      </p:sp>
      <p:sp>
        <p:nvSpPr>
          <p:cNvPr id="15" name="Text 13"/>
          <p:cNvSpPr txBox="1"/>
          <p:nvPr/>
        </p:nvSpPr>
        <p:spPr>
          <a:xfrm>
            <a:off x="457200" y="2651760"/>
            <a:ext cx="3931920" cy="1600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YTM belongs to a specific bond with a specific coupon. A par rate belongs to the CURVE — it is the coupon a new bond would have to carry to price at 100 today. On-the-run yields are close to par rates but not equal to them.</a:t>
            </a:r>
            <a:endParaRPr lang="en-US" sz="1200" dirty="0"/>
          </a:p>
        </p:txBody>
      </p:sp>
      <p:sp>
        <p:nvSpPr>
          <p:cNvPr id="16" name="Shape 14"/>
          <p:cNvSpPr/>
          <p:nvPr/>
        </p:nvSpPr>
        <p:spPr>
          <a:xfrm>
            <a:off x="4663440" y="2331720"/>
            <a:ext cx="4160520" cy="1965960"/>
          </a:xfrm>
          <a:prstGeom prst="rect">
            <a:avLst/>
          </a:prstGeom>
          <a:solidFill>
            <a:srgbClr val="F5F7FA"/>
          </a:solidFill>
          <a:ln/>
        </p:spPr>
      </p:sp>
      <p:sp>
        <p:nvSpPr>
          <p:cNvPr id="17" name="Shape 15"/>
          <p:cNvSpPr/>
          <p:nvPr/>
        </p:nvSpPr>
        <p:spPr>
          <a:xfrm>
            <a:off x="4663440" y="2331720"/>
            <a:ext cx="73152" cy="1965960"/>
          </a:xfrm>
          <a:prstGeom prst="rect">
            <a:avLst/>
          </a:prstGeom>
          <a:solidFill>
            <a:srgbClr val="1B2A4A"/>
          </a:solidFill>
          <a:ln/>
        </p:spPr>
      </p:sp>
      <p:sp>
        <p:nvSpPr>
          <p:cNvPr id="18" name="Text 16"/>
          <p:cNvSpPr txBox="1"/>
          <p:nvPr/>
        </p:nvSpPr>
        <p:spPr>
          <a:xfrm>
            <a:off x="4800600" y="2377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CURVE-SHAPE RULES</a:t>
            </a:r>
            <a:endParaRPr lang="en-US" sz="1100" dirty="0"/>
          </a:p>
        </p:txBody>
      </p:sp>
      <p:sp>
        <p:nvSpPr>
          <p:cNvPr id="19" name="Text 17"/>
          <p:cNvSpPr txBox="1"/>
          <p:nvPr/>
        </p:nvSpPr>
        <p:spPr>
          <a:xfrm>
            <a:off x="4800600" y="2651760"/>
            <a:ext cx="3931920" cy="1600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Upward-sloping spot curve → par curve sits BELOW it.</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Flat spot curve → par curve equals it.</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Downward-sloping spot curve → par curve sits ABOVE it.</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(CFA Exhibit 8, p. 227.)</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Worked — spots of 5.263 / 5.616 / 6.359 / 7.008% give par rates of 5.263 / 5.606 / 6.306 / 6.899%, each at or below its own spot</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LM 9, §3 "Par Rates from Spot Rates", worked illustration, pp. 217–218.</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one-year par rate is trivially the one-year spot. Beyond that, factor PMT out of the PV equation and divide — no iteration needed.</a:t>
            </a:r>
            <a:endParaRPr lang="en-US" sz="1300" dirty="0"/>
          </a:p>
        </p:txBody>
      </p:sp>
      <p:sp>
        <p:nvSpPr>
          <p:cNvPr id="9" name="Shape 7"/>
          <p:cNvSpPr/>
          <p:nvPr/>
        </p:nvSpPr>
        <p:spPr>
          <a:xfrm>
            <a:off x="320040" y="1143000"/>
            <a:ext cx="8503920" cy="2697480"/>
          </a:xfrm>
          <a:prstGeom prst="rect">
            <a:avLst/>
          </a:prstGeom>
          <a:solidFill>
            <a:srgbClr val="FEF0E7"/>
          </a:solidFill>
          <a:ln w="9525">
            <a:solidFill>
              <a:srgbClr val="E8600A"/>
            </a:solidFill>
            <a:prstDash val="solid"/>
          </a:ln>
        </p:spPr>
      </p:sp>
      <p:sp>
        <p:nvSpPr>
          <p:cNvPr id="10" name="Text 8"/>
          <p:cNvSpPr txBox="1"/>
          <p:nvPr/>
        </p:nvSpPr>
        <p:spPr>
          <a:xfrm>
            <a:off x="457200" y="118872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PAR RATES FROM A GIVEN SPOT CURVE · EFFECTIVE ANNUAL RATES</a:t>
            </a:r>
            <a:endParaRPr lang="en-US" sz="1100" dirty="0"/>
          </a:p>
        </p:txBody>
      </p:sp>
      <p:sp>
        <p:nvSpPr>
          <p:cNvPr id="11" name="Text 9"/>
          <p:cNvSpPr txBox="1"/>
          <p:nvPr/>
        </p:nvSpPr>
        <p:spPr>
          <a:xfrm>
            <a:off x="457200" y="148132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Spot curve: Z₁ = 5.263%, Z₂ = 5.616%, Z₃ = 6.359%, Z₄ = 7.008%. Find the coupon PMT that prices each bond at exactly 100.</a:t>
            </a:r>
            <a:endParaRPr lang="en-US" sz="1200" dirty="0"/>
          </a:p>
        </p:txBody>
      </p:sp>
      <p:sp>
        <p:nvSpPr>
          <p:cNvPr id="12" name="Text 10"/>
          <p:cNvSpPr txBox="1"/>
          <p:nvPr/>
        </p:nvSpPr>
        <p:spPr>
          <a:xfrm>
            <a:off x="457200" y="1993392"/>
            <a:ext cx="8229600" cy="1335024"/>
          </a:xfrm>
          <a:prstGeom prst="rect">
            <a:avLst/>
          </a:prstGeom>
          <a:noFill/>
          <a:ln/>
        </p:spPr>
        <p:txBody>
          <a:bodyPr wrap="square" lIns="254" tIns="254" rIns="254" bIns="254" rtlCol="0" anchor="t">
            <a:normAutofit/>
            <a:spAutoFit/>
          </a:bodyPr>
          <a:lstStyle/>
          <a:p>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1-year: 100 = (PMT + 100)/1.05263  →  PMT = 5.263. The one-year par rate IS Z₁.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Two-year discount factors: 1/1.05263 = 0.95000  ·  1/(1.05616)² = 0.89648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2-year: PMT × (0.95000 + 0.89648) = 100 − 89.648 = 10.352  →  PMT = 10.352 / 1.84648 = 5.606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3-year: add 1/(1.06359)³ = 0.83115  →  PMT × 2.67763 = 100 − 83.115 = 16.885  →  PMT = 6.306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5.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Verify: 5.606/1.05606 + 105.606/(1.05606)² = 100 ✓  the par bond really does price at par</a:t>
            </a:r>
            <a:endParaRPr lang="en-US" sz="1200" dirty="0"/>
          </a:p>
        </p:txBody>
      </p:sp>
      <p:sp>
        <p:nvSpPr>
          <p:cNvPr id="13" name="Shape 11"/>
          <p:cNvSpPr/>
          <p:nvPr/>
        </p:nvSpPr>
        <p:spPr>
          <a:xfrm>
            <a:off x="411480" y="3401568"/>
            <a:ext cx="8321040" cy="365760"/>
          </a:xfrm>
          <a:prstGeom prst="rect">
            <a:avLst/>
          </a:prstGeom>
          <a:solidFill>
            <a:srgbClr val="E8600A"/>
          </a:solidFill>
          <a:ln/>
        </p:spPr>
      </p:sp>
      <p:sp>
        <p:nvSpPr>
          <p:cNvPr id="14" name="Text 12"/>
          <p:cNvSpPr txBox="1"/>
          <p:nvPr/>
        </p:nvSpPr>
        <p:spPr>
          <a:xfrm>
            <a:off x="457200" y="34015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Par rates  5.263%  ·  5.606%  ·  6.306%  ·  6.899%   —   each at or below its own spot rate</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An implied forward rate is the breakeven reinvestment rate that makes rolling a shorter zero exactly as good as holding a longer one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LM 9, §3 "Forward Rates from Spot Rates", Equation 3 and Exhibits 4–5, pp. 218–220.</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Naming: in "AyBy", A is how many years forward the period starts and B is the tenor of the rate. So 3y1y is the one-year rate, three years from today.</a:t>
            </a:r>
            <a:endParaRPr lang="en-US" sz="1300" dirty="0"/>
          </a:p>
        </p:txBody>
      </p:sp>
      <p:sp>
        <p:nvSpPr>
          <p:cNvPr id="9" name="Shape 7"/>
          <p:cNvSpPr/>
          <p:nvPr/>
        </p:nvSpPr>
        <p:spPr>
          <a:xfrm>
            <a:off x="320040" y="1207008"/>
            <a:ext cx="8503920" cy="713232"/>
          </a:xfrm>
          <a:prstGeom prst="rect">
            <a:avLst/>
          </a:prstGeom>
          <a:solidFill>
            <a:srgbClr val="1B2A4A"/>
          </a:solidFill>
          <a:ln/>
        </p:spPr>
      </p:sp>
      <p:sp>
        <p:nvSpPr>
          <p:cNvPr id="10" name="Text 8"/>
          <p:cNvSpPr txBox="1"/>
          <p:nvPr/>
        </p:nvSpPr>
        <p:spPr>
          <a:xfrm>
            <a:off x="411480" y="1207008"/>
            <a:ext cx="8321040" cy="713232"/>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(1 + Z_A)^A  ×  (1 + IFR_A,B−A)^(B−A)   =   (1 + Z_B)^B</a:t>
            </a:r>
            <a:endParaRPr lang="en-US" sz="1800" dirty="0"/>
          </a:p>
        </p:txBody>
      </p:sp>
      <p:sp>
        <p:nvSpPr>
          <p:cNvPr id="11" name="Text 9"/>
          <p:cNvSpPr txBox="1"/>
          <p:nvPr/>
        </p:nvSpPr>
        <p:spPr>
          <a:xfrm>
            <a:off x="320040" y="1947672"/>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Z_A = the shorter spot, Z_B = the longer spot, IFR = the implied (B − A)-year rate starting at year A. Money markets state the same thing in months.</a:t>
            </a:r>
            <a:endParaRPr lang="en-US" sz="1100" dirty="0"/>
          </a:p>
        </p:txBody>
      </p:sp>
      <p:sp>
        <p:nvSpPr>
          <p:cNvPr id="12" name="Shape 10"/>
          <p:cNvSpPr/>
          <p:nvPr/>
        </p:nvSpPr>
        <p:spPr>
          <a:xfrm>
            <a:off x="320040" y="2331720"/>
            <a:ext cx="2743200" cy="1920240"/>
          </a:xfrm>
          <a:prstGeom prst="rect">
            <a:avLst/>
          </a:prstGeom>
          <a:solidFill>
            <a:srgbClr val="F5F7FA"/>
          </a:solidFill>
          <a:ln/>
        </p:spPr>
      </p:sp>
      <p:sp>
        <p:nvSpPr>
          <p:cNvPr id="13" name="Shape 11"/>
          <p:cNvSpPr/>
          <p:nvPr/>
        </p:nvSpPr>
        <p:spPr>
          <a:xfrm>
            <a:off x="320040" y="2331720"/>
            <a:ext cx="73152" cy="1920240"/>
          </a:xfrm>
          <a:prstGeom prst="rect">
            <a:avLst/>
          </a:prstGeom>
          <a:solidFill>
            <a:srgbClr val="1B2A4A"/>
          </a:solidFill>
          <a:ln/>
        </p:spPr>
      </p:sp>
      <p:sp>
        <p:nvSpPr>
          <p:cNvPr id="14" name="Text 12"/>
          <p:cNvSpPr txBox="1"/>
          <p:nvPr/>
        </p:nvSpPr>
        <p:spPr>
          <a:xfrm>
            <a:off x="457200" y="2377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NOT A FORECAST</a:t>
            </a:r>
            <a:endParaRPr lang="en-US" sz="1100" dirty="0"/>
          </a:p>
        </p:txBody>
      </p:sp>
      <p:sp>
        <p:nvSpPr>
          <p:cNvPr id="15" name="Text 13"/>
          <p:cNvSpPr txBox="1"/>
          <p:nvPr/>
        </p:nvSpPr>
        <p:spPr>
          <a:xfrm>
            <a:off x="457200" y="265176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Expect the future rate ABOVE the forward → go short and roll. Expect it BELOW → go long and lock. The forward is the point where you do not care.</a:t>
            </a:r>
            <a:endParaRPr lang="en-US" sz="1200" dirty="0"/>
          </a:p>
        </p:txBody>
      </p:sp>
      <p:sp>
        <p:nvSpPr>
          <p:cNvPr id="16" name="Shape 14"/>
          <p:cNvSpPr/>
          <p:nvPr/>
        </p:nvSpPr>
        <p:spPr>
          <a:xfrm>
            <a:off x="3200400" y="2331720"/>
            <a:ext cx="2743200" cy="1920240"/>
          </a:xfrm>
          <a:prstGeom prst="rect">
            <a:avLst/>
          </a:prstGeom>
          <a:solidFill>
            <a:srgbClr val="FEF0E7"/>
          </a:solidFill>
          <a:ln/>
        </p:spPr>
      </p:sp>
      <p:sp>
        <p:nvSpPr>
          <p:cNvPr id="17" name="Shape 15"/>
          <p:cNvSpPr/>
          <p:nvPr/>
        </p:nvSpPr>
        <p:spPr>
          <a:xfrm>
            <a:off x="3200400" y="2331720"/>
            <a:ext cx="73152" cy="1920240"/>
          </a:xfrm>
          <a:prstGeom prst="rect">
            <a:avLst/>
          </a:prstGeom>
          <a:solidFill>
            <a:srgbClr val="E8600A"/>
          </a:solidFill>
          <a:ln/>
        </p:spPr>
      </p:sp>
      <p:sp>
        <p:nvSpPr>
          <p:cNvPr id="18" name="Text 16"/>
          <p:cNvSpPr txBox="1"/>
          <p:nvPr/>
        </p:nvSpPr>
        <p:spPr>
          <a:xfrm>
            <a:off x="3337560" y="2377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SPOT  →  FORWARD</a:t>
            </a:r>
            <a:endParaRPr lang="en-US" sz="1100" dirty="0"/>
          </a:p>
        </p:txBody>
      </p:sp>
      <p:sp>
        <p:nvSpPr>
          <p:cNvPr id="19" name="Text 17"/>
          <p:cNvSpPr txBox="1"/>
          <p:nvPr/>
        </p:nvSpPr>
        <p:spPr>
          <a:xfrm>
            <a:off x="3337560" y="265176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Divide the longer compounded spot by the shorter one, then take the (B − A)-th root. Every forward is a ratio of two adjacent points on the spot curve.</a:t>
            </a:r>
            <a:endParaRPr lang="en-US" sz="1200" dirty="0"/>
          </a:p>
        </p:txBody>
      </p:sp>
      <p:sp>
        <p:nvSpPr>
          <p:cNvPr id="20" name="Shape 18"/>
          <p:cNvSpPr/>
          <p:nvPr/>
        </p:nvSpPr>
        <p:spPr>
          <a:xfrm>
            <a:off x="6080760" y="2331720"/>
            <a:ext cx="2743200" cy="1920240"/>
          </a:xfrm>
          <a:prstGeom prst="rect">
            <a:avLst/>
          </a:prstGeom>
          <a:solidFill>
            <a:srgbClr val="F5F7FA"/>
          </a:solidFill>
          <a:ln/>
        </p:spPr>
      </p:sp>
      <p:sp>
        <p:nvSpPr>
          <p:cNvPr id="21" name="Shape 19"/>
          <p:cNvSpPr/>
          <p:nvPr/>
        </p:nvSpPr>
        <p:spPr>
          <a:xfrm>
            <a:off x="6080760" y="2331720"/>
            <a:ext cx="73152" cy="1920240"/>
          </a:xfrm>
          <a:prstGeom prst="rect">
            <a:avLst/>
          </a:prstGeom>
          <a:solidFill>
            <a:srgbClr val="1B2A4A"/>
          </a:solidFill>
          <a:ln/>
        </p:spPr>
      </p:sp>
      <p:sp>
        <p:nvSpPr>
          <p:cNvPr id="22" name="Text 20"/>
          <p:cNvSpPr txBox="1"/>
          <p:nvPr/>
        </p:nvSpPr>
        <p:spPr>
          <a:xfrm>
            <a:off x="6217920" y="2377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FORWARD  →  SPOT</a:t>
            </a:r>
            <a:endParaRPr lang="en-US" sz="1100" dirty="0"/>
          </a:p>
        </p:txBody>
      </p:sp>
      <p:sp>
        <p:nvSpPr>
          <p:cNvPr id="23" name="Text 21"/>
          <p:cNvSpPr txBox="1"/>
          <p:nvPr/>
        </p:nvSpPr>
        <p:spPr>
          <a:xfrm>
            <a:off x="6217920" y="2651760"/>
            <a:ext cx="251460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Run it the other way: (1 + Zₙ)ⁿ = (1 + 0y1y)(1 + 1y1y) … (1 + (n−1)y1y). The spot rate is the geometric average of the one-year forwards.</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Worked — with a three-year zero at 3.65% and a four-year zero at 4.18%, the 3y1y implied forward rate is 5.79%</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LM 9, §3 "Forward Rates from Spot Rates", Exhibit 4 illustration, pp. 218–220.</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Question being answered: what extra return does the fourth year have to deliver to justify going out one year further? That number is the 3y1y.</a:t>
            </a:r>
            <a:endParaRPr lang="en-US" sz="1300" dirty="0"/>
          </a:p>
        </p:txBody>
      </p:sp>
      <p:sp>
        <p:nvSpPr>
          <p:cNvPr id="9" name="Shape 7"/>
          <p:cNvSpPr/>
          <p:nvPr/>
        </p:nvSpPr>
        <p:spPr>
          <a:xfrm>
            <a:off x="320040" y="1143000"/>
            <a:ext cx="8503920" cy="2240280"/>
          </a:xfrm>
          <a:prstGeom prst="rect">
            <a:avLst/>
          </a:prstGeom>
          <a:solidFill>
            <a:srgbClr val="FEF0E7"/>
          </a:solidFill>
          <a:ln w="9525">
            <a:solidFill>
              <a:srgbClr val="E8600A"/>
            </a:solidFill>
            <a:prstDash val="solid"/>
          </a:ln>
        </p:spPr>
      </p:sp>
      <p:sp>
        <p:nvSpPr>
          <p:cNvPr id="10" name="Text 8"/>
          <p:cNvSpPr txBox="1"/>
          <p:nvPr/>
        </p:nvSpPr>
        <p:spPr>
          <a:xfrm>
            <a:off x="457200" y="118872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COMPUTE THE 3Y1Y IMPLIED FORWARD RATE · ANNUAL COMPOUNDING</a:t>
            </a:r>
            <a:endParaRPr lang="en-US" sz="1100" dirty="0"/>
          </a:p>
        </p:txBody>
      </p:sp>
      <p:sp>
        <p:nvSpPr>
          <p:cNvPr id="11" name="Text 9"/>
          <p:cNvSpPr txBox="1"/>
          <p:nvPr/>
        </p:nvSpPr>
        <p:spPr>
          <a:xfrm>
            <a:off x="457200" y="148132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Three-year zero yields Z₃ = 3.65%; four-year zero yields Z₄ = 4.18%. Solve Equation 3 for IFR₃,₁.</a:t>
            </a:r>
            <a:endParaRPr lang="en-US" sz="1200" dirty="0"/>
          </a:p>
        </p:txBody>
      </p:sp>
      <p:sp>
        <p:nvSpPr>
          <p:cNvPr id="12" name="Text 10"/>
          <p:cNvSpPr txBox="1"/>
          <p:nvPr/>
        </p:nvSpPr>
        <p:spPr>
          <a:xfrm>
            <a:off x="457200" y="1993392"/>
            <a:ext cx="8229600" cy="877824"/>
          </a:xfrm>
          <a:prstGeom prst="rect">
            <a:avLst/>
          </a:prstGeom>
          <a:noFill/>
          <a:ln/>
        </p:spPr>
        <p:txBody>
          <a:bodyPr wrap="square" lIns="254" tIns="254" rIns="254" bIns="254" rtlCol="0" anchor="t">
            <a:normAutofit/>
            <a:spAutoFit/>
          </a:bodyPr>
          <a:lstStyle/>
          <a:p>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Set up: (1 + Z₃)³ × (1 + IFR₃,₁)¹ = (1 + Z₄)⁴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Compound each side: (1.0365)³ = 1.113545   and   (1.0418)⁴ = 1.177979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1 + IFR₃,₁ = 1.177979 / 1.113545 = 1.057860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IFR₃,₁ = 5.786% ≈ 5.79% — well above the 4.18% four-year spot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5.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Sense check: the forward MUST exceed Z₄ whenever the spot curve is rising, or the average could not climb</a:t>
            </a:r>
            <a:endParaRPr lang="en-US" sz="1100" dirty="0"/>
          </a:p>
        </p:txBody>
      </p:sp>
      <p:sp>
        <p:nvSpPr>
          <p:cNvPr id="13" name="Shape 11"/>
          <p:cNvSpPr/>
          <p:nvPr/>
        </p:nvSpPr>
        <p:spPr>
          <a:xfrm>
            <a:off x="411480" y="2944368"/>
            <a:ext cx="8321040" cy="365760"/>
          </a:xfrm>
          <a:prstGeom prst="rect">
            <a:avLst/>
          </a:prstGeom>
          <a:solidFill>
            <a:srgbClr val="E8600A"/>
          </a:solidFill>
          <a:ln/>
        </p:spPr>
      </p:sp>
      <p:sp>
        <p:nvSpPr>
          <p:cNvPr id="14" name="Text 12"/>
          <p:cNvSpPr txBox="1"/>
          <p:nvPr/>
        </p:nvSpPr>
        <p:spPr>
          <a:xfrm>
            <a:off x="457200" y="29443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3y1y  =  5.79%   —   the year-4 rate at which rolling the 3-year zero ties buying the 4-year</a:t>
            </a:r>
            <a:endParaRPr lang="en-US" sz="1150" dirty="0"/>
          </a:p>
        </p:txBody>
      </p:sp>
      <p:sp>
        <p:nvSpPr>
          <p:cNvPr id="15" name="Shape 13"/>
          <p:cNvSpPr/>
          <p:nvPr/>
        </p:nvSpPr>
        <p:spPr>
          <a:xfrm>
            <a:off x="320040" y="3474720"/>
            <a:ext cx="8503920" cy="822960"/>
          </a:xfrm>
          <a:prstGeom prst="rect">
            <a:avLst/>
          </a:prstGeom>
          <a:solidFill>
            <a:srgbClr val="FEF0E7"/>
          </a:solidFill>
          <a:ln/>
        </p:spPr>
      </p:sp>
      <p:sp>
        <p:nvSpPr>
          <p:cNvPr id="16" name="Shape 14"/>
          <p:cNvSpPr/>
          <p:nvPr/>
        </p:nvSpPr>
        <p:spPr>
          <a:xfrm>
            <a:off x="320040" y="3474720"/>
            <a:ext cx="73152" cy="822960"/>
          </a:xfrm>
          <a:prstGeom prst="rect">
            <a:avLst/>
          </a:prstGeom>
          <a:solidFill>
            <a:srgbClr val="E8600A"/>
          </a:solidFill>
          <a:ln/>
        </p:spPr>
      </p:sp>
      <p:sp>
        <p:nvSpPr>
          <p:cNvPr id="17" name="Text 15"/>
          <p:cNvSpPr txBox="1"/>
          <p:nvPr/>
        </p:nvSpPr>
        <p:spPr>
          <a:xfrm>
            <a:off x="457200" y="35204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HOW TO TRADE IT</a:t>
            </a:r>
            <a:endParaRPr lang="en-US" sz="1100" dirty="0"/>
          </a:p>
        </p:txBody>
      </p:sp>
      <p:sp>
        <p:nvSpPr>
          <p:cNvPr id="18" name="Text 16"/>
          <p:cNvSpPr txBox="1"/>
          <p:nvPr/>
        </p:nvSpPr>
        <p:spPr>
          <a:xfrm>
            <a:off x="457200" y="3794760"/>
            <a:ext cx="827532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Think the one-year rate three years out will be ABOVE 5.79%? Buy the three-year zero and roll — you beat the four-year. Think BELOW? Buy the four-year and lock it in. The forward is the indifference point, not a prediction.</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Spot, par and forward curves carry identical information — three lenses on one curve, and their ordering depends only on the slope</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6, LM 9, §4 "Spot, Par, and Forward Yield Curves", Exhibits 6–8, pp. 225–227.</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Know any one of the three and the other two are determined. There is no extra information in the forward curve — only a different view of the same data.</a:t>
            </a:r>
            <a:endParaRPr lang="en-US" sz="13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194560"/>
                <a:gridCol w="1920240"/>
                <a:gridCol w="1737360"/>
                <a:gridCol w="26517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Spot curve shape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Forward curve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Par curve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it is saying</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Upward-sloping (normal)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Above spot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Below spot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Higher future short rates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Flat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Equal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Equal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Rates expected unchanged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Downward-sloping (inverted)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Below spot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Above spot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Lower future rates / cuts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2697480"/>
            <a:ext cx="8503920" cy="914400"/>
          </a:xfrm>
          <a:prstGeom prst="rect">
            <a:avLst/>
          </a:prstGeom>
          <a:solidFill>
            <a:srgbClr val="FEF0E7"/>
          </a:solidFill>
          <a:ln/>
        </p:spPr>
      </p:sp>
      <p:sp>
        <p:nvSpPr>
          <p:cNvPr id="11" name="Shape 8"/>
          <p:cNvSpPr/>
          <p:nvPr/>
        </p:nvSpPr>
        <p:spPr>
          <a:xfrm>
            <a:off x="320040" y="2697480"/>
            <a:ext cx="73152" cy="914400"/>
          </a:xfrm>
          <a:prstGeom prst="rect">
            <a:avLst/>
          </a:prstGeom>
          <a:solidFill>
            <a:srgbClr val="E8600A"/>
          </a:solidFill>
          <a:ln/>
        </p:spPr>
      </p:sp>
      <p:sp>
        <p:nvSpPr>
          <p:cNvPr id="12" name="Text 9"/>
          <p:cNvSpPr txBox="1"/>
          <p:nvPr/>
        </p:nvSpPr>
        <p:spPr>
          <a:xfrm>
            <a:off x="457200" y="27432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WHY FORWARDS OVERSHOOT WHEN THE CURVE RISES</a:t>
            </a:r>
            <a:endParaRPr lang="en-US" sz="1100" dirty="0"/>
          </a:p>
        </p:txBody>
      </p:sp>
      <p:sp>
        <p:nvSpPr>
          <p:cNvPr id="13" name="Text 10"/>
          <p:cNvSpPr txBox="1"/>
          <p:nvPr/>
        </p:nvSpPr>
        <p:spPr>
          <a:xfrm>
            <a:off x="457200" y="3017520"/>
            <a:ext cx="8275320" cy="5486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long spot is the geometric average of the shorter spot and the forwards in between. If Z₃ exceeds Z₂, the 2y1y forward must exceed Z₃ to drag that average up. Averages always lag the marginal input.</a:t>
            </a:r>
            <a:endParaRPr lang="en-US" sz="1200" dirty="0"/>
          </a:p>
        </p:txBody>
      </p:sp>
      <p:sp>
        <p:nvSpPr>
          <p:cNvPr id="14" name="Shape 11"/>
          <p:cNvSpPr/>
          <p:nvPr/>
        </p:nvSpPr>
        <p:spPr>
          <a:xfrm>
            <a:off x="320040" y="3703320"/>
            <a:ext cx="8503920" cy="594360"/>
          </a:xfrm>
          <a:prstGeom prst="rect">
            <a:avLst/>
          </a:prstGeom>
          <a:solidFill>
            <a:srgbClr val="F5F7FA"/>
          </a:solidFill>
          <a:ln/>
        </p:spPr>
      </p:sp>
      <p:sp>
        <p:nvSpPr>
          <p:cNvPr id="15" name="Shape 12"/>
          <p:cNvSpPr/>
          <p:nvPr/>
        </p:nvSpPr>
        <p:spPr>
          <a:xfrm>
            <a:off x="320040" y="3703320"/>
            <a:ext cx="73152" cy="594360"/>
          </a:xfrm>
          <a:prstGeom prst="rect">
            <a:avLst/>
          </a:prstGeom>
          <a:solidFill>
            <a:srgbClr val="1B2A4A"/>
          </a:solidFill>
          <a:ln/>
        </p:spPr>
      </p:sp>
      <p:sp>
        <p:nvSpPr>
          <p:cNvPr id="16" name="Text 13"/>
          <p:cNvSpPr txBox="1"/>
          <p:nvPr/>
        </p:nvSpPr>
        <p:spPr>
          <a:xfrm>
            <a:off x="457200" y="37490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THE IDENTITY, WITH NUMBERS</a:t>
            </a:r>
            <a:endParaRPr lang="en-US" sz="1100" dirty="0"/>
          </a:p>
        </p:txBody>
      </p:sp>
      <p:sp>
        <p:nvSpPr>
          <p:cNvPr id="17" name="Text 14"/>
          <p:cNvSpPr txBox="1"/>
          <p:nvPr/>
        </p:nvSpPr>
        <p:spPr>
          <a:xfrm>
            <a:off x="457200" y="4023360"/>
            <a:ext cx="8275320" cy="2286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CFA: forwards of 1.88 / 2.77 / 3.54 / 4.12% compound to spots of 1.880 / 2.324 / 2.728 / 3.074% (pp. 220–221).</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Worked — bootstrap a spot curve out of par bonds at 2%, 2.5% and 3%: Z₁ = 2.000%, Z₂ = 2.506%, Z₃ = 3.020%</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Worked exercise built on CFA Institute, Curriculum Vol 6, LM 9, §3, Equation 2, pp. 217–218 — the curriculum runs spot → par; here we run par → spot.</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Bootstrapping is sequential substitution: solve Z₁, plug it into the two-year equation to get Z₂, plug both into the three-year equation to get Z₃.</a:t>
            </a:r>
            <a:endParaRPr lang="en-US" sz="1300" dirty="0"/>
          </a:p>
        </p:txBody>
      </p:sp>
      <p:sp>
        <p:nvSpPr>
          <p:cNvPr id="9" name="Shape 7"/>
          <p:cNvSpPr/>
          <p:nvPr/>
        </p:nvSpPr>
        <p:spPr>
          <a:xfrm>
            <a:off x="320040" y="1143000"/>
            <a:ext cx="8503920" cy="2697480"/>
          </a:xfrm>
          <a:prstGeom prst="rect">
            <a:avLst/>
          </a:prstGeom>
          <a:solidFill>
            <a:srgbClr val="FEF0E7"/>
          </a:solidFill>
          <a:ln w="9525">
            <a:solidFill>
              <a:srgbClr val="E8600A"/>
            </a:solidFill>
            <a:prstDash val="solid"/>
          </a:ln>
        </p:spPr>
      </p:sp>
      <p:sp>
        <p:nvSpPr>
          <p:cNvPr id="10" name="Text 8"/>
          <p:cNvSpPr txBox="1"/>
          <p:nvPr/>
        </p:nvSpPr>
        <p:spPr>
          <a:xfrm>
            <a:off x="457200" y="118872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THREE PAR BONDS AT 100, ANNUAL COUPONS — RECOVER THE SPOTS</a:t>
            </a:r>
            <a:endParaRPr lang="en-US" sz="1100" dirty="0"/>
          </a:p>
        </p:txBody>
      </p:sp>
      <p:sp>
        <p:nvSpPr>
          <p:cNvPr id="11" name="Text 9"/>
          <p:cNvSpPr txBox="1"/>
          <p:nvPr/>
        </p:nvSpPr>
        <p:spPr>
          <a:xfrm>
            <a:off x="457200" y="148132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1-year 2.0% par bond · 2-year 2.5% par bond · 3-year 3.0% par bond. Each trades at exactly 100. Find Z₁, Z₂, Z₃.</a:t>
            </a:r>
            <a:endParaRPr lang="en-US" sz="1200" dirty="0"/>
          </a:p>
        </p:txBody>
      </p:sp>
      <p:sp>
        <p:nvSpPr>
          <p:cNvPr id="12" name="Text 10"/>
          <p:cNvSpPr txBox="1"/>
          <p:nvPr/>
        </p:nvSpPr>
        <p:spPr>
          <a:xfrm>
            <a:off x="457200" y="1993392"/>
            <a:ext cx="8229600" cy="1335024"/>
          </a:xfrm>
          <a:prstGeom prst="rect">
            <a:avLst/>
          </a:prstGeom>
          <a:noFill/>
          <a:ln/>
        </p:spPr>
        <p:txBody>
          <a:bodyPr wrap="square" lIns="254" tIns="254" rIns="254" bIns="254" rtlCol="0" anchor="t">
            <a:normAutofit/>
            <a:spAutoFit/>
          </a:bodyPr>
          <a:lstStyle/>
          <a:p>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Z₁: 100 = 102 / (1 + Z₁)  →  1 + Z₁ = 1.02  →  Z₁ = 2.000%   (a one-period bond IS a zero)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Z₂: 100 = 2.5/1.02 + 102.5/(1 + Z₂)²  →  100 − 2.451 = 97.549 = 102.5/(1 + Z₂)²  →  Z₂ = 2.506%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Check: Z₂ exceeds both Z₁ and the 2.5% par coupon — the curve is upward-sloping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Z₃: 100 = 3/1.02 + 3/(1.02506)² + 103/(1 + Z₃)³  →  100 − 2.941 − 2.855 = 94.204 = 103/(1 + Z₃)³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5.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Solve: (1 + Z₃)³ = 103 / 94.204 = 1.09337  →  Z₃ = 3.020%</a:t>
            </a:r>
            <a:endParaRPr lang="en-US" sz="1200" dirty="0"/>
          </a:p>
        </p:txBody>
      </p:sp>
      <p:sp>
        <p:nvSpPr>
          <p:cNvPr id="13" name="Shape 11"/>
          <p:cNvSpPr/>
          <p:nvPr/>
        </p:nvSpPr>
        <p:spPr>
          <a:xfrm>
            <a:off x="411480" y="3401568"/>
            <a:ext cx="8321040" cy="365760"/>
          </a:xfrm>
          <a:prstGeom prst="rect">
            <a:avLst/>
          </a:prstGeom>
          <a:solidFill>
            <a:srgbClr val="E8600A"/>
          </a:solidFill>
          <a:ln/>
        </p:spPr>
      </p:sp>
      <p:sp>
        <p:nvSpPr>
          <p:cNvPr id="14" name="Text 12"/>
          <p:cNvSpPr txBox="1"/>
          <p:nvPr/>
        </p:nvSpPr>
        <p:spPr>
          <a:xfrm>
            <a:off x="457200" y="34015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Spot curve  Z₁ 2.000%  ·  Z₂ 2.506%  ·  Z₃ 3.020%   —   every spot above its own par rate ✓</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p:spPr>
      </p:sp>
      <p:sp>
        <p:nvSpPr>
          <p:cNvPr id="3" name="Shape 1"/>
          <p:cNvSpPr/>
          <p:nvPr/>
        </p:nvSpPr>
        <p:spPr>
          <a:xfrm>
            <a:off x="0" y="4914900"/>
            <a:ext cx="9144000" cy="228600"/>
          </a:xfrm>
          <a:prstGeom prst="rect">
            <a:avLst/>
          </a:prstGeom>
          <a:solidFill>
            <a:srgbClr val="E8600A"/>
          </a:solidFill>
          <a:ln/>
        </p:spPr>
      </p:sp>
      <p:sp>
        <p:nvSpPr>
          <p:cNvPr id="4" name="Text 2"/>
          <p:cNvSpPr txBox="1"/>
          <p:nvPr/>
        </p:nvSpPr>
        <p:spPr>
          <a:xfrm>
            <a:off x="457200" y="228600"/>
            <a:ext cx="8229600" cy="384048"/>
          </a:xfrm>
          <a:prstGeom prst="rect">
            <a:avLst/>
          </a:prstGeom>
          <a:noFill/>
          <a:ln/>
        </p:spPr>
        <p:txBody>
          <a:bodyPr wrap="square" lIns="508" tIns="508" rIns="508" bIns="508" rtlCol="0" anchor="ctr">
            <a:normAutofit/>
            <a:spAutoFit/>
          </a:bodyPr>
          <a:lstStyle/>
          <a:p>
            <a:pPr algn="l" indent="0" marL="0">
              <a:buNone/>
            </a:pPr>
            <a:r>
              <a:rPr lang="en-US" sz="1100" b="1" spc="800" kern="0" dirty="0">
                <a:solidFill>
                  <a:srgbClr val="E8600A"/>
                </a:solidFill>
                <a:latin typeface="Trebuchet MS" pitchFamily="34" charset="0"/>
                <a:ea typeface="Trebuchet MS" pitchFamily="34" charset="-122"/>
                <a:cs typeface="Trebuchet MS" pitchFamily="34" charset="-120"/>
              </a:rPr>
              <a:t>KEY TAKEAWAYS</a:t>
            </a:r>
            <a:endParaRPr lang="en-US" sz="1100" dirty="0"/>
          </a:p>
        </p:txBody>
      </p:sp>
      <p:sp>
        <p:nvSpPr>
          <p:cNvPr id="5" name="Text 3"/>
          <p:cNvSpPr txBox="1"/>
          <p:nvPr/>
        </p:nvSpPr>
        <p:spPr>
          <a:xfrm>
            <a:off x="457200" y="640080"/>
            <a:ext cx="8229600" cy="475488"/>
          </a:xfrm>
          <a:prstGeom prst="rect">
            <a:avLst/>
          </a:prstGeom>
          <a:noFill/>
          <a:ln/>
        </p:spPr>
        <p:txBody>
          <a:bodyPr wrap="square" lIns="508" tIns="508" rIns="508" bIns="508" rtlCol="0" anchor="t">
            <a:normAutofit/>
            <a:spAutoFit/>
          </a:bodyPr>
          <a:lstStyle/>
          <a:p>
            <a:pPr algn="l" indent="0" marL="0">
              <a:buNone/>
            </a:pPr>
            <a:r>
              <a:rPr lang="en-US" sz="1700" b="1" dirty="0">
                <a:solidFill>
                  <a:srgbClr val="1B2A4A"/>
                </a:solidFill>
                <a:latin typeface="Trebuchet MS" pitchFamily="34" charset="0"/>
                <a:ea typeface="Trebuchet MS" pitchFamily="34" charset="-122"/>
                <a:cs typeface="Trebuchet MS" pitchFamily="34" charset="-120"/>
              </a:rPr>
              <a:t>Deck 14 — Fixed Income II: Pricing, Yields &amp; Term Structure</a:t>
            </a:r>
            <a:endParaRPr lang="en-US" sz="1700" dirty="0"/>
          </a:p>
        </p:txBody>
      </p:sp>
      <p:sp>
        <p:nvSpPr>
          <p:cNvPr id="6" name="Shape 4"/>
          <p:cNvSpPr/>
          <p:nvPr/>
        </p:nvSpPr>
        <p:spPr>
          <a:xfrm>
            <a:off x="457200" y="1261872"/>
            <a:ext cx="4046220" cy="749808"/>
          </a:xfrm>
          <a:prstGeom prst="rect">
            <a:avLst/>
          </a:prstGeom>
          <a:solidFill>
            <a:srgbClr val="253A5E"/>
          </a:solidFill>
          <a:ln/>
        </p:spPr>
      </p:sp>
      <p:sp>
        <p:nvSpPr>
          <p:cNvPr id="7" name="Shape 5"/>
          <p:cNvSpPr/>
          <p:nvPr/>
        </p:nvSpPr>
        <p:spPr>
          <a:xfrm>
            <a:off x="621792" y="1389888"/>
            <a:ext cx="128016" cy="128016"/>
          </a:xfrm>
          <a:prstGeom prst="rect">
            <a:avLst/>
          </a:prstGeom>
          <a:solidFill>
            <a:srgbClr val="E8600A"/>
          </a:solidFill>
          <a:ln/>
        </p:spPr>
      </p:sp>
      <p:sp>
        <p:nvSpPr>
          <p:cNvPr id="8" name="Text 6"/>
          <p:cNvSpPr txBox="1"/>
          <p:nvPr/>
        </p:nvSpPr>
        <p:spPr>
          <a:xfrm>
            <a:off x="822960" y="133502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Price = PV of promised cash flows at the market rate. Coupon below the rate → discount, equal → par, above → premium; the gap is the PV of the coupon shortfall.</a:t>
            </a:r>
            <a:endParaRPr lang="en-US" sz="1150" dirty="0"/>
          </a:p>
        </p:txBody>
      </p:sp>
      <p:sp>
        <p:nvSpPr>
          <p:cNvPr id="9" name="Shape 7"/>
          <p:cNvSpPr/>
          <p:nvPr/>
        </p:nvSpPr>
        <p:spPr>
          <a:xfrm>
            <a:off x="4640580" y="1261872"/>
            <a:ext cx="4046220" cy="749808"/>
          </a:xfrm>
          <a:prstGeom prst="rect">
            <a:avLst/>
          </a:prstGeom>
          <a:solidFill>
            <a:srgbClr val="253A5E"/>
          </a:solidFill>
          <a:ln/>
        </p:spPr>
      </p:sp>
      <p:sp>
        <p:nvSpPr>
          <p:cNvPr id="10" name="Shape 8"/>
          <p:cNvSpPr/>
          <p:nvPr/>
        </p:nvSpPr>
        <p:spPr>
          <a:xfrm>
            <a:off x="4805172" y="1389888"/>
            <a:ext cx="128016" cy="128016"/>
          </a:xfrm>
          <a:prstGeom prst="rect">
            <a:avLst/>
          </a:prstGeom>
          <a:solidFill>
            <a:srgbClr val="E8600A"/>
          </a:solidFill>
          <a:ln/>
        </p:spPr>
      </p:sp>
      <p:sp>
        <p:nvSpPr>
          <p:cNvPr id="11" name="Text 9"/>
          <p:cNvSpPr txBox="1"/>
          <p:nvPr/>
        </p:nvSpPr>
        <p:spPr>
          <a:xfrm>
            <a:off x="5006340" y="133502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You earn the quoted YTM only if you hold to maturity, the issuer pays in full and on time, and you reinvest every coupon AT the YTM.</a:t>
            </a:r>
            <a:endParaRPr lang="en-US" sz="1150" dirty="0"/>
          </a:p>
        </p:txBody>
      </p:sp>
      <p:sp>
        <p:nvSpPr>
          <p:cNvPr id="12" name="Shape 10"/>
          <p:cNvSpPr/>
          <p:nvPr/>
        </p:nvSpPr>
        <p:spPr>
          <a:xfrm>
            <a:off x="457200" y="2084832"/>
            <a:ext cx="4046220" cy="749808"/>
          </a:xfrm>
          <a:prstGeom prst="rect">
            <a:avLst/>
          </a:prstGeom>
          <a:solidFill>
            <a:srgbClr val="253A5E"/>
          </a:solidFill>
          <a:ln/>
        </p:spPr>
      </p:sp>
      <p:sp>
        <p:nvSpPr>
          <p:cNvPr id="13" name="Shape 11"/>
          <p:cNvSpPr/>
          <p:nvPr/>
        </p:nvSpPr>
        <p:spPr>
          <a:xfrm>
            <a:off x="621792" y="2212848"/>
            <a:ext cx="128016" cy="128016"/>
          </a:xfrm>
          <a:prstGeom prst="rect">
            <a:avLst/>
          </a:prstGeom>
          <a:solidFill>
            <a:srgbClr val="E8600A"/>
          </a:solidFill>
          <a:ln/>
        </p:spPr>
      </p:sp>
      <p:sp>
        <p:nvSpPr>
          <p:cNvPr id="14" name="Text 12"/>
          <p:cNvSpPr txBox="1"/>
          <p:nvPr/>
        </p:nvSpPr>
        <p:spPr>
          <a:xfrm>
            <a:off x="822960" y="215798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Between coupon dates, full price = flat price + accrued interest. Dealers quote flat, and accrued interest depends on the calendar, never on the yield.</a:t>
            </a:r>
            <a:endParaRPr lang="en-US" sz="1150" dirty="0"/>
          </a:p>
        </p:txBody>
      </p:sp>
      <p:sp>
        <p:nvSpPr>
          <p:cNvPr id="15" name="Shape 13"/>
          <p:cNvSpPr/>
          <p:nvPr/>
        </p:nvSpPr>
        <p:spPr>
          <a:xfrm>
            <a:off x="4640580" y="2084832"/>
            <a:ext cx="4046220" cy="749808"/>
          </a:xfrm>
          <a:prstGeom prst="rect">
            <a:avLst/>
          </a:prstGeom>
          <a:solidFill>
            <a:srgbClr val="253A5E"/>
          </a:solidFill>
          <a:ln/>
        </p:spPr>
      </p:sp>
      <p:sp>
        <p:nvSpPr>
          <p:cNvPr id="16" name="Shape 14"/>
          <p:cNvSpPr/>
          <p:nvPr/>
        </p:nvSpPr>
        <p:spPr>
          <a:xfrm>
            <a:off x="4805172" y="2212848"/>
            <a:ext cx="128016" cy="128016"/>
          </a:xfrm>
          <a:prstGeom prst="rect">
            <a:avLst/>
          </a:prstGeom>
          <a:solidFill>
            <a:srgbClr val="E8600A"/>
          </a:solidFill>
          <a:ln/>
        </p:spPr>
      </p:sp>
      <p:sp>
        <p:nvSpPr>
          <p:cNvPr id="17" name="Text 15"/>
          <p:cNvSpPr txBox="1"/>
          <p:nvPr/>
        </p:nvSpPr>
        <p:spPr>
          <a:xfrm>
            <a:off x="5006340" y="215798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Matrix pricing, four steps: identify comparables, back out and average their yields, interpolate to the target tenor, discount the target's cash flows.</a:t>
            </a:r>
            <a:endParaRPr lang="en-US" sz="1150" dirty="0"/>
          </a:p>
        </p:txBody>
      </p:sp>
      <p:sp>
        <p:nvSpPr>
          <p:cNvPr id="18" name="Shape 16"/>
          <p:cNvSpPr/>
          <p:nvPr/>
        </p:nvSpPr>
        <p:spPr>
          <a:xfrm>
            <a:off x="457200" y="2907792"/>
            <a:ext cx="4046220" cy="749808"/>
          </a:xfrm>
          <a:prstGeom prst="rect">
            <a:avLst/>
          </a:prstGeom>
          <a:solidFill>
            <a:srgbClr val="253A5E"/>
          </a:solidFill>
          <a:ln/>
        </p:spPr>
      </p:sp>
      <p:sp>
        <p:nvSpPr>
          <p:cNvPr id="19" name="Shape 17"/>
          <p:cNvSpPr/>
          <p:nvPr/>
        </p:nvSpPr>
        <p:spPr>
          <a:xfrm>
            <a:off x="621792" y="3035808"/>
            <a:ext cx="128016" cy="128016"/>
          </a:xfrm>
          <a:prstGeom prst="rect">
            <a:avLst/>
          </a:prstGeom>
          <a:solidFill>
            <a:srgbClr val="E8600A"/>
          </a:solidFill>
          <a:ln/>
        </p:spPr>
      </p:sp>
      <p:sp>
        <p:nvSpPr>
          <p:cNvPr id="20" name="Text 18"/>
          <p:cNvSpPr txBox="1"/>
          <p:nvPr/>
        </p:nvSpPr>
        <p:spPr>
          <a:xfrm>
            <a:off x="822960" y="298094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Yield-to-worst is the lowest of the YTM and every yield-to-call — the VIVU callable notes work out at 5.15%, the yield to the first call.</a:t>
            </a:r>
            <a:endParaRPr lang="en-US" sz="1150" dirty="0"/>
          </a:p>
        </p:txBody>
      </p:sp>
      <p:sp>
        <p:nvSpPr>
          <p:cNvPr id="21" name="Shape 19"/>
          <p:cNvSpPr/>
          <p:nvPr/>
        </p:nvSpPr>
        <p:spPr>
          <a:xfrm>
            <a:off x="4640580" y="2907792"/>
            <a:ext cx="4046220" cy="749808"/>
          </a:xfrm>
          <a:prstGeom prst="rect">
            <a:avLst/>
          </a:prstGeom>
          <a:solidFill>
            <a:srgbClr val="253A5E"/>
          </a:solidFill>
          <a:ln/>
        </p:spPr>
      </p:sp>
      <p:sp>
        <p:nvSpPr>
          <p:cNvPr id="22" name="Shape 20"/>
          <p:cNvSpPr/>
          <p:nvPr/>
        </p:nvSpPr>
        <p:spPr>
          <a:xfrm>
            <a:off x="4805172" y="3035808"/>
            <a:ext cx="128016" cy="128016"/>
          </a:xfrm>
          <a:prstGeom prst="rect">
            <a:avLst/>
          </a:prstGeom>
          <a:solidFill>
            <a:srgbClr val="E8600A"/>
          </a:solidFill>
          <a:ln/>
        </p:spPr>
      </p:sp>
      <p:sp>
        <p:nvSpPr>
          <p:cNvPr id="23" name="Text 21"/>
          <p:cNvSpPr txBox="1"/>
          <p:nvPr/>
        </p:nvSpPr>
        <p:spPr>
          <a:xfrm>
            <a:off x="5006340" y="298094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G-spread differences two yields; Z-spread adds a constant to every spot; OAS strips out the option — below Z for a callable, above Z for a putable.</a:t>
            </a:r>
            <a:endParaRPr lang="en-US" sz="1150" dirty="0"/>
          </a:p>
        </p:txBody>
      </p:sp>
      <p:sp>
        <p:nvSpPr>
          <p:cNvPr id="24" name="Shape 22"/>
          <p:cNvSpPr/>
          <p:nvPr/>
        </p:nvSpPr>
        <p:spPr>
          <a:xfrm>
            <a:off x="457200" y="3730752"/>
            <a:ext cx="4046220" cy="749808"/>
          </a:xfrm>
          <a:prstGeom prst="rect">
            <a:avLst/>
          </a:prstGeom>
          <a:solidFill>
            <a:srgbClr val="253A5E"/>
          </a:solidFill>
          <a:ln/>
        </p:spPr>
      </p:sp>
      <p:sp>
        <p:nvSpPr>
          <p:cNvPr id="25" name="Shape 23"/>
          <p:cNvSpPr/>
          <p:nvPr/>
        </p:nvSpPr>
        <p:spPr>
          <a:xfrm>
            <a:off x="621792" y="3858768"/>
            <a:ext cx="128016" cy="128016"/>
          </a:xfrm>
          <a:prstGeom prst="rect">
            <a:avLst/>
          </a:prstGeom>
          <a:solidFill>
            <a:srgbClr val="E8600A"/>
          </a:solidFill>
          <a:ln/>
        </p:spPr>
      </p:sp>
      <p:sp>
        <p:nvSpPr>
          <p:cNvPr id="26" name="Text 24"/>
          <p:cNvSpPr txBox="1"/>
          <p:nvPr/>
        </p:nvSpPr>
        <p:spPr>
          <a:xfrm>
            <a:off x="822960" y="380390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Money-market rates come as discount or add-on rates — convert both to a 365-day bond-equivalent yield. An FRN sits at par when required margin = quoted margin.</a:t>
            </a:r>
            <a:endParaRPr lang="en-US" sz="1150" dirty="0"/>
          </a:p>
        </p:txBody>
      </p:sp>
      <p:sp>
        <p:nvSpPr>
          <p:cNvPr id="27" name="Shape 25"/>
          <p:cNvSpPr/>
          <p:nvPr/>
        </p:nvSpPr>
        <p:spPr>
          <a:xfrm>
            <a:off x="4640580" y="3730752"/>
            <a:ext cx="4046220" cy="749808"/>
          </a:xfrm>
          <a:prstGeom prst="rect">
            <a:avLst/>
          </a:prstGeom>
          <a:solidFill>
            <a:srgbClr val="253A5E"/>
          </a:solidFill>
          <a:ln/>
        </p:spPr>
      </p:sp>
      <p:sp>
        <p:nvSpPr>
          <p:cNvPr id="28" name="Shape 26"/>
          <p:cNvSpPr/>
          <p:nvPr/>
        </p:nvSpPr>
        <p:spPr>
          <a:xfrm>
            <a:off x="4805172" y="3858768"/>
            <a:ext cx="128016" cy="128016"/>
          </a:xfrm>
          <a:prstGeom prst="rect">
            <a:avLst/>
          </a:prstGeom>
          <a:solidFill>
            <a:srgbClr val="E8600A"/>
          </a:solidFill>
          <a:ln/>
        </p:spPr>
      </p:sp>
      <p:sp>
        <p:nvSpPr>
          <p:cNvPr id="29" name="Text 27"/>
          <p:cNvSpPr txBox="1"/>
          <p:nvPr/>
        </p:nvSpPr>
        <p:spPr>
          <a:xfrm>
            <a:off x="5006340" y="380390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Spot, par and forward curves are one information set. Upward-sloping curve: forwards above spots, spots above par rates. Bootstrap sequentially.</a:t>
            </a:r>
            <a:endParaRPr lang="en-US" sz="1150" dirty="0"/>
          </a:p>
        </p:txBody>
      </p:sp>
      <p:sp>
        <p:nvSpPr>
          <p:cNvPr id="30" name="Text 28"/>
          <p:cNvSpPr txBox="1"/>
          <p:nvPr/>
        </p:nvSpPr>
        <p:spPr>
          <a:xfrm>
            <a:off x="457200" y="4617720"/>
            <a:ext cx="8229600" cy="256032"/>
          </a:xfrm>
          <a:prstGeom prst="rect">
            <a:avLst/>
          </a:prstGeom>
          <a:noFill/>
          <a:ln/>
        </p:spPr>
        <p:txBody>
          <a:bodyPr wrap="square" lIns="508" tIns="508" rIns="508" bIns="508" rtlCol="0" anchor="ctr">
            <a:normAutofit/>
            <a:spAutoFit/>
          </a:bodyPr>
          <a:lstStyle/>
          <a:p>
            <a:pPr algn="l" indent="0" marL="0">
              <a:buNone/>
            </a:pPr>
            <a:r>
              <a:rPr lang="en-US" sz="80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Studio Tonton Gug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FF v2 · Deck 14 · Fixed Income II: Pricing, Yields &amp; Term Structure</dc:title>
  <dc:subject>PptxGenJS Presentation</dc:subject>
  <dc:creator>Studio Tonton Gug</dc:creator>
  <cp:lastModifiedBy>Studio Tonton Gug</cp:lastModifiedBy>
  <cp:revision>1</cp:revision>
  <dcterms:created xsi:type="dcterms:W3CDTF">2026-09-02T13:53:49Z</dcterms:created>
  <dcterms:modified xsi:type="dcterms:W3CDTF">2026-09-02T13:53:49Z</dcterms:modified>
</cp:coreProperties>
</file>