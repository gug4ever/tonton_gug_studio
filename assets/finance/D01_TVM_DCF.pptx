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01  ·  WEEK 1  ·  MORNING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 Value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 Money &amp; DCF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financial-math foundation every deck that follows will draw from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Level I · Vol 1 Learning Modules 1–2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— Time Value of Money &amp; DCF Foundations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sections · ~2 hours · Built bottom-up from CFA readings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5608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207008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207008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252728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an interest rate?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459382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interpretations · decomposing r · risk premia · CFA Example 1 five bonds · nominal vs real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804416"/>
            <a:ext cx="8503920" cy="5608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804416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1804416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1850136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Measuring return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056790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HPR · arithmetic / geometric / harmonic means · trimmed-winsorized · money- vs time-weighted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401824"/>
            <a:ext cx="8503920" cy="5608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401824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401824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447544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Annualizing returns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2654198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→ annual · EAR · continuous compounding · gross / net / real / levered views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2999232"/>
            <a:ext cx="8503920" cy="5608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2999232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" y="2999232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3044952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value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3251606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CF · compounding frequency · FV of an annuity (retirement savings)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3596640"/>
            <a:ext cx="8503920" cy="5608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3596640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0040" y="3596640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3642360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 value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3849014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CF · annuity · perpetuity · bond pricing (India, Greece) · Gordon DDM (Shipline)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20040" y="4194048"/>
            <a:ext cx="8503920" cy="5608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" y="4194048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20040" y="4194048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" y="4239768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NPV, IRR &amp; applications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4446422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decision rule · when IRR breaks · mortgage amortization · TVM archetype map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22960"/>
            <a:ext cx="8503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deck you should be able to: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 interest rate three ways — required return, discount rate, opportunity cost — and back out each risk premium from a set of traded bonds.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correct mean (arithmetic, geometric, harmonic, trimmed/winsorized) for a given return-aggregation problem and justify the choice.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money-weighted from time-weighted returns and explain why the latter is the GIPS standard for evaluating managers.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any nominal rate into an EAR or a continuously compounded rate and move a single cash flow anywhere on a timeline.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 plain-vanilla bond, value a stock with a constant- or multi-stage DDM, and evaluate a capital project using NPV (and know when IRR misleads).
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an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interest rate?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6  ·  Deck 1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interest rate is simultaneously a required return, a discount rate, and an opportunity cost — three views of the same number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1, pp. 4–7.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USD 9,500 today and USD 10,000 in one year are equivalent in value, then r = 500 / 9,500 = 5.26%.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80160"/>
            <a:ext cx="8503920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80160"/>
            <a:ext cx="83210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 =  (FV − PV) / PV   →   (10,000 − 9,500) / 9,500  =  5.26%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" y="2057400"/>
            <a:ext cx="850392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" y="2057400"/>
            <a:ext cx="91440" cy="6583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2057400"/>
            <a:ext cx="36576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2093976"/>
            <a:ext cx="7863840" cy="2962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Required rate of return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2353666"/>
            <a:ext cx="7863840" cy="3621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MINIMUM rate an investor must receive to accept an investment. Below this rate, they walk away.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788920"/>
            <a:ext cx="8503920" cy="65836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" y="2788920"/>
            <a:ext cx="91440" cy="6583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" y="2788920"/>
            <a:ext cx="36576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2825496"/>
            <a:ext cx="7863840" cy="2962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 rate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3085186"/>
            <a:ext cx="7863840" cy="3621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used to translate a future value back to present — the inverse operation of compounding.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" y="3520440"/>
            <a:ext cx="850392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3520440"/>
            <a:ext cx="91440" cy="6583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2920" y="3520440"/>
            <a:ext cx="36576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3557016"/>
            <a:ext cx="7863840" cy="2962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Opportunity cost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" y="3816706"/>
            <a:ext cx="7863840" cy="3621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forgone by choosing a course of action. Spending USD 9,500 today forgoes 5.26% earned by saving.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market interest rate decomposes into a real risk-free rate plus four risk premia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1, "Determinants of Interest Rates", pp. 6–8.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additive shortcut is fine for quick mental math; compounding is exact. Indicative ranges are post-2000 developed-market averages.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80160"/>
            <a:ext cx="8503920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80160"/>
            <a:ext cx="83210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 =  r_real-rf  +  Inflation  +  Default  +  Liquidity  +  Maturity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965960"/>
          <a:ext cx="8503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828800"/>
                <a:gridCol w="37490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Component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Indicative range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it compensates for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risk-free 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 – 1.5%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Time preference for current vs future consumption, no inflation, no risk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 premium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 – 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Expected loss of purchasing power over the life of the instrument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risk premium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– 5%+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Compensation for possible non-payment (issuer credit risk)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Liquidity premium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 – 1.5%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Cost of selling an investment quickly at close to fair value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Maturity premium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 – 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Longer bonds are more sensitive to yield moves — an additional risk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1 Example 1 lets us back out each premium by comparing five bonds that differ on one dimension at a time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1, Example 1, pp. 7–8.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— all five investments promise a single payment at maturity. Inflation, liquidity, and default premia are constant across horizons.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416052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960120"/>
                <a:gridCol w="914400"/>
                <a:gridCol w="82296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Inv.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Maturity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Liquidity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Default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 (%)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r₃ ?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0" y="1188720"/>
            <a:ext cx="4251960" cy="33832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09160" y="1234440"/>
            <a:ext cx="39776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 — READ OFF THE PREMIA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1527048"/>
            <a:ext cx="3977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bonds that differ on exactly one feature to isolate each premium.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09160" y="2039112"/>
            <a:ext cx="3977640" cy="2020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premium: (Inv 2 − Inv 1) = 2.5% − 2.0% = 0.50%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premium:   (Inv 5 − Inv 4) − LP = (6.5% − 4.0%) − 0.50% = 2.00%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bound for r₃: Inv 4 adjusted for low liquidity = 4.0% + 0.50% = 4.50%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 for r₃: Inv 2 (same liquidity &amp; default, shorter) = 2.50%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663440" y="4133088"/>
            <a:ext cx="406908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709160" y="4133088"/>
            <a:ext cx="397764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⇒  2.50% ≤ r₃ ≤ 4.50% (positive maturity premium in between)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nominal risk-free rate is the real rate plus expected inflation — exact via Fisher, approximated additively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1, pp. 6–8.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approximation drops a 2nd-order term (real × inflation). For developed-market rates it rarely matters; in high-inflation economies it does.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 + r_nominal-rf)  =  (1 + r_real-rf) × (1 + π)     ≈     r_nominal-rf  =  r_real-rf  +  π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π = expected inflation over the horizon of the instrument.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28600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28600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3172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UNITED STATES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0604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Short-dated US T-bill yield is the standard nominal r-f proxy for USD-denominated analysis. 90-day T-bill quoted at 3% is already annualized — not the 90-day holding return.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286000"/>
            <a:ext cx="274320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228600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37560" y="233172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FRANCE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260604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BTF (Bons du Trésor à taux fixe) — French negotiable Treasury bills with maturities up to 1 year. The eurozone risk-free proxy for short horizons.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80760" y="228600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6080760" y="228600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233172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JAPAN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60604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JGB T-bills issued at 6- and 12-month maturities serve as the JPY short-dated r-f proxy.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Measuring return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6  ·  Deck 1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holding-period return captures both income yield and capital gain over any single period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1, Example 2, pp. 8–10.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HPR is the single-period building block — every multi-period return measure either averages or compounds HPRs.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 =  (P₁ − P₀ + I₁) / P₀     =     capital-gain yield  +  income yield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P₀ = beginning price; P₁ = ending price; I₁ = income (dividend, coupon) received at period end.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286000"/>
            <a:ext cx="8503920" cy="2011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31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1 EXAMPLE 2 — SINGLE-QUARTER EQUITY POSITION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2432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buys 100 shares at USD 34.50, receives USD 51.55 dividend, sells at USD 30.50 one quarter later.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36392"/>
            <a:ext cx="8229600" cy="649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basis: 100 × 34.50 = USD 3,450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value + income: (100 × 30.50) + 51.55 = USD 3,101.55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HPR = (3,101.55 − 3,450) / 3,450 = −10.1%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Decomposition: dividend yield 51.55 / 3,450 = +1.49%; capital loss −400 / 3,450 = −11.59%; total = −10.1%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HPR = −10.10% (answer C)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Arithmetic mean return is simple and unbiased for the next-period expected return — but biased up when returns actually compound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1, pp. 10–12.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bias is worst when returns alternate between large gains and large losses — precisely the regime where the bias matters most.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R̄ᵢ  =  ( R_i1 + R_i2 + … + R_iT )  /  T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874520"/>
          <a:ext cx="85039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645920"/>
                <a:gridCol w="2103120"/>
                <a:gridCol w="228600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Year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Actual return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Actual balance (EUR)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Balance if earned AM 4%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Error (EUR)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−50%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+0.5400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0.6750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1.0816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+0.4066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+27%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0.8573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1.1249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+0.2676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 of returns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ending 0.8573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ending 1.1249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bias +31%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Geometric mean return captures actual compound growth of one unit of capital — always ≤ arithmetic, with equality only when all returns are equal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1, pp. 11–12.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Jensen's inequality: concavity of log(1+x) implies E[log(1+R)] ≤ log(1+E[R]) — which is why GM ≤ AM.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R̄_G  =  [ (1 + R₁)(1 + R₂) … (1 + R_T) ]^(1/T)  −  1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Must compound gross-of-loss factors (1+R) — NOT raw returns. Product of factors must be ≥ 0.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77440"/>
            <a:ext cx="8503920" cy="1920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SERIES AS PREVIOUS SLIDE: −50%, +35%, +27%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geometric mean return and verify it reproduces the actual EUR 0.8573 ending balance.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27832"/>
            <a:ext cx="82296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factors: (1 − 0.50) × (1 + 0.35) × (1 + 0.27) = 0.50 × 1.35 × 1.27 = 0.85725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 root: 0.85725^(1/3) = 0.9500  →  R̄_G = −5.00%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check: 1 × (1 − 0.05)³ = 0.857375  ✓ (matches actual balance up to rounding)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GM = −5.00% vs AM = +4.00%  →  GM-AM gap of 9 percentage points driven by the −50% drawdown.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Harmonic mean is the right average for prices under a dollar-cost-averaging strategy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1, Example 7, pp. 13–14.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averaging prices applied to a FIXED amount of cash each period → harmonic. Averaging returns applied to capital → geometric. Averaging quantities → arithmetic.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X_H  =  n  /  Σᵢ (1 / Xᵢ)        AM  ≥  GM  ≥  HM   (equality iff all Xᵢ equal)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" y="2377440"/>
            <a:ext cx="8503920" cy="1920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4231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1 EXAMPLE 7 — PORTFOLIO MANAGER DOLLAR-COST-AVERAGES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7157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invests EUR 5,000 every year for 4 years. Share prices observed: EUR 62.00, 76.00, 84.00, 90.00. Average cost per share?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227832"/>
            <a:ext cx="82296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 bought each year: 5,000/62 = 80.65;  5,000/76 = 65.79;  5,000/84 = 59.52;  5,000/90 = 55.56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shares: 261.52.  Total invested: EUR 20,000.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= 20,000 / 261.52 = EUR 76.48 — which equals the harmonic mean of the four prices.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arithmetic mean = (62+76+84+90)/4 = 78.00 → overstates true average cost.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HM = 76.48 &lt; AM = 78.00. Harmonic avoids the upward bias that would matter at allocation time.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Trimmed and winsorized means are robust to outliers — crucial when a single extreme observation dominates a small sample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1, pp. 14–15.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measures lower the weight of the tails. Trimmed = delete tails; Winsorized = substitute the boundary value.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063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063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TRIMMED MEAN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top and bottom k% of observations, then take the arithmetic mean of what remains. Common choices: 5% or 10% trim.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Effect: completely removes outliers.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063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063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WINSORIZED MEAN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top k% with the (1−k) percentile and the bottom k% with the k percentile — then arithmetic mean.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Effect: caps outliers at a defensible quantile instead of deleting them.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43400"/>
          <a:ext cx="8503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66344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Measure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Returns kept / replaced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Result (%)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Arithmetic mean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 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+5.40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 trimmed mean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drop top 1 and bottom 1 (8 returns)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+3.10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 winsorized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replace top 1 with P95, bottom 1 with P5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+3.85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Money-weighted returns reflect investor cash-flow timing; time-weighted returns isolate manager skill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1, pp. 16–20.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MWR is an IRR on the portfolio's cash flows. TWR compounds sub-period HPRs, making cash-flow timing irrelevant.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TWR:   (1 + R_twr)ⁿ  =  Π (1 + R_t)            MWR:   Σ CFₜ / (1 + R_mwr)ᵗ  =  0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R_t = return in sub-period t (between cash flows); CFₜ = net cash flow (deposits negative, withdrawals positive).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416052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MONEY-WEIGHTED RETURN (MWR)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39319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IRR. Weights each sub-period by invested capital, so the RETURN the INVESTOR actually earned given deposits and withdrawals. Right metric for an investor evaluating personal wealth growth.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331720"/>
            <a:ext cx="416052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466344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006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TIME-WEIGHTED RETURN (TWR)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651760"/>
            <a:ext cx="39319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of sub-period HPRs. Neutral to cash-flow timing. The GIPS-required performance measure for evaluating PORTFOLIO MANAGERS, because deposits and withdrawals are outside their control.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Time-weighted return is the preferred performance measure for evaluating portfolio managers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1, Worked Examples, pp. 18–20.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portfolio, same dates — TWR and MWR can diverge sharply whenever the investor adds or withdraws cash.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34440"/>
          <a:ext cx="85039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1828800"/>
                <a:gridCol w="13716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Event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Date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Portfolio value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Cash flow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Sub-period HPR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investment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= 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−100,000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period 1 (before additional deposit)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= 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108,000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+8.00%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deposits 50,000 at t =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= 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158,000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−50,000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period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= 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149,100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+149,100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−5.63%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383280"/>
            <a:ext cx="8503920" cy="96012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342900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TWR vs MWR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TWR  =  [(1 + 0.08)(1 − 0.0563)]^(1/2) − 1  =  +0.97%   ·   MWR solves the IRR → −1.21%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" y="390448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manager's sub-periods gained 0.97% p.a. The investor lost 1.21% — the deposit landed right before a drawdown.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Annualizing returns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6  ·  Deck 1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Any periodic return can be annualized by compounding — but different compounding frequencies produce different effective annual rates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1, pp. 20–24.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stated (nominal) rate is a quoting convention. The EAR is what the investor actually earns in a year.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  =  (1 + r_nominal / m)^m  −  1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r_nominal = quoted annual rate; m = number of compounding periods per year.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2011680"/>
                <a:gridCol w="173736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Compounding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Per-period rate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EAR (r = 6%)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EAR (r = 12%)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6.0000%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6.0000%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12.0000%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Semi-annual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3.0000%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6.0900%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12.3600%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Quarterly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1.5000%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6.1364%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12.5509%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0.5000%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6.1678%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12.6825%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365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0.01644%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6.1831%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12.7475%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∞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limit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6.1837%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12.7497%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Continuous compounding is the limit as frequency → ∞ and is the standard in derivatives and options models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1, pp. 24–26.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rates are additive across time — critical for Black-Scholes and for combining returns over non-integer horizons.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FV  =  PV × e^(r × n)        r_cc  =  ln(1 + R_periodic)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r_cc = continuously compounded rate; R_periodic = discrete periodic return. r_cc &lt; R_periodic always.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416052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DISCRETE TO CONTINUOUS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39319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stated annual rate of 12% becomes a continuously compounded rate of ln(1.12) = 11.33%. Lower number — but equivalent economically.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331720"/>
            <a:ext cx="416052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466344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006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CONTINUOUS TO DISCRETE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651760"/>
            <a:ext cx="39319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10% continuously compounded rate corresponds to a discrete annual rate of e^0.10 − 1 = 10.52%. Use one convention consistently inside any model.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Gross, net, after-tax, real and leveraged returns are five progressively "adjusted" views of the same underlying asset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1, pp. 26–30.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confirm which of these five a quoted return refers to before comparing assets or managers.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21208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Measure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Definition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Example at 8.00% gross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Return before any management / admin fees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Gross minus direct management and admin fees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7.15%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After-tax nominal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Net minus tax on dividends, coupons, realised gains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After-tax nominal deflated by the inflation rate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2.44%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Leveraged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Return on equity after borrowing (e.g. 50% LTV at 4%)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246120"/>
            <a:ext cx="8503920" cy="10058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246120"/>
            <a:ext cx="73152" cy="10058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2918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LEVERAGE AMPLIFIES BOTH WAYS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566160"/>
            <a:ext cx="82753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portfolio returning 8% with 50% borrowed at 4% returns 12% on equity — but a −4% year on the asset becomes −12% on equity. Leverage never lowers risk; it only reshapes outcomes.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value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of 6  ·  Deck 1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future value of a single cash flow is PV grown by (1+r) over n periods — the single most-used formula in all of finance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2, pp. 46–50.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TVM formula (annuity, perpetuity, bond, DDM) is built from this single building block.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FV_n  =  PV × (1 + r)ⁿ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PV = present value; r = per-period rate; n = number of periods. Consistency of r and n is non-negotiable.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CASH-FLOW TIMELINE — ALWAYS DRAW ONE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deposit £10,000 today (t=0) at 5% p.a., compounded annually. What is the balance after 10 years?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= £10,000;  r = 5%;  n = 10.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FV = 10,000 × (1.05)^10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(1.05)^10 = 1.62889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FV = £16,289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£16,289  —  a 62.9% total gain, or 5.00% p.a.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Compounding frequency materially changes the outcome even when the nominal rate is unchanged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2, pp. 50–54.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£1,000 invested for 5 years at 12% nominal — the gap from annual to continuous is ~3.4% of final value.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FV  =  PV × (1 + r/m)^(m × n)            FV_continuous  =  PV × e^(r × n)</a:t>
            </a:r>
            <a:endParaRPr lang="en-US" sz="1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920240"/>
          <a:ext cx="8503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005840"/>
                <a:gridCol w="219456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Compounding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FV after 5y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Uplift vs annual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£1,762.34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Semi-annual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£1,790.85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+£28.51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Quarterly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£1,806.11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+£43.77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£1,816.70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+£54.36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365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£1,821.94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+£59.60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∞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£1,822.12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+£59.78  (+3.4%)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future value of a level annuity is a closed-form sum of compounded payments — the core formula of retirement planning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2, pp. 54–58.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annuity = payments at period END. Annuity due = payments at period START — multiply ordinary formula by (1+r) to convert.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FV_annuity  =  PMT × [ ((1 + r)ⁿ − 1) / r 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PMT = recurring payment; r = rate per period; n = number of payments.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77440"/>
            <a:ext cx="8503920" cy="1920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RETIREMENT-SAVINGS EXAMPLE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save £10,000 at the end of every year for 20 years in an account paying 6% p.a.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27832"/>
            <a:ext cx="82296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PMT = 10,000;  r = 6%;  n = 20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(1.06)^20 = 3.2071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((1.06)^20 − 1) / 0.06 = 2.2071 / 0.06 = 36.7856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FV = 10,000 × 36.7856 = £367,856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£367,856 at retirement — of which £200,000 principal and £167,856 compound interest.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 value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6  ·  Deck 1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 value of any future cash flow is just its FV discounted back at r — the inverse operation of compounding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2, pp. 54–60.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DCF — bonds, stocks, projects — is a weighted sum of applications of this formula.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PV  =  FV_n  /  (1 + r)ⁿ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Move money BACKWARDS on the timeline by dividing by the compounding factor.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£100 in 1y @ 5%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= 100 / 1.05 = £95.24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331720"/>
            <a:ext cx="274320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233172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3756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£100 in 10y @ 5%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= 100 / 1.05^10 = £61.39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80760" y="233172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608076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£100 in 30y @ 5%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= 100 / 1.05^30 = £23.14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Annuities and perpetuities have closed-form present values that collapse an entire cash-flow stream into a single number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2, pp. 56–60.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perpetuity is simply an annuity as n → ∞ — the (1+r)^(−n) term vanishes.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128016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PV OF ORDINARY ANNUITY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00200"/>
            <a:ext cx="388620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1600200"/>
            <a:ext cx="370332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PV  =  PMT × [ 1 − (1+r)^(−n) ] / 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2377440"/>
            <a:ext cx="379476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£10,000/yr for 20y at 6%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= 10,000 × [1 − 1.06⁻²⁰] / 0.06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= 10,000 × 11.4699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= £114,699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5" name="Shape 13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00600" y="128016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PV OF PERPETUITY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1600200"/>
            <a:ext cx="388620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92040" y="1600200"/>
            <a:ext cx="370332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PV  =  PMT  /  r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377440"/>
            <a:ext cx="379476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UK consol paying £50/yr at 5%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= 50 / 0.05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= £1,000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annuity with n → ∞ collapses to the same formula because (1+r)^(−n) → 0.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bond's price is the present value of its promised coupons plus the present value of par — nothing more, nothing less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2, pp. 60–65.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Zero-coupon bonds collapse the pricing formula down to a single term — PV of face value.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 =  Σ  C / (1 + r)ᵗ   +   FV / (1 + r)ⁿ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C = periodic coupon; FV = face value at maturity; r = per-period YTM; n = periods to maturity.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77440"/>
            <a:ext cx="8503920" cy="1920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2 — INDIA SOVEREIGN ZERO-COUPON BOND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20-year Government of India zero-coupon bond, face value INR 100, YTM 6.7%. Compute the price.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27832"/>
            <a:ext cx="82296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0 (zero-coupon). Only one cash flow: FV = INR 100 at n = 20.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= 100 / (1.067)^20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(1.067)^20 = 3.634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= 100 / 3.634 = INR 27.51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 = INR 27.51 — the bond trades at roughly 27.5% of face, reflecting the 20-year discount at 6.7%.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bond trading below par carries a discount that unwinds back to par at maturity — a predictable pull-to-par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2, pp. 65–70.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&lt; YTM ⇒ price &lt; par. Coupon &gt; YTM ⇒ price &gt; par (premium). Coupon = YTM ⇒ price = par.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2011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2 — GREECE 5-YEAR SOVEREIGN BOND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Greek government bond, face value EUR 100, annual coupon 3.5%, market YTM = 5.0%. Compute the price.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39112"/>
            <a:ext cx="8229600" cy="649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flows: 3.5, 3.5, 3.5, 3.5, 103.5 (last year includes face)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of coupons = 3.5 × [1 − (1.05)^(−5)] / 0.05 = 3.5 × 4.3295 = EUR 15.15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of face = 100 / (1.05)^5 = 100 / 1.2763 = EUR 78.35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= 15.15 + 78.35 = EUR 93.49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1480" y="276148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76148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 = EUR 93.49. CFA text rounds to EUR 93.091; both answer under par because coupon &lt; YTM.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0040" y="338328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338328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4290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PULL-TO-PAR INTUITION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70332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each year of the bond's life the price drifts back toward par, independent of yield changes. The total return decomposes into a coupon income and a capital gain component that together sum to YTM if yields stay constant.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Gordon-growth DDM prices a stock as the PV of a growing perpetuity of dividends — the workhorse of equity valuation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2, pp. 71–76.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DDM = explicit-period PV + Gordon-growth terminal. Rule: terminal growth g must be &lt; required return 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P₀  =  Σ  Dₜ / (1 + r)ᵗ   +   [ D_(N+1) / (r − g) ]  /  (1 + r)ᴺ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Stage 1: explicit dividends D₁..D_N. Stage 2: Gordon terminal with steady growth g from N+1 onward.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77440"/>
            <a:ext cx="8503920" cy="1920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2 — SHIPLINE INC. TWO-STAGE DDM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dividend D₀ = USD 2.00. High growth g₁ = 6% for 3 years. Long-run g₂ = 3% thereafter. Required return r = 10%.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27832"/>
            <a:ext cx="82296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dividends: D₁ = 2.12, D₂ = 2.247, D₃ = 2.382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value at t = 3: TV = D₄ / (r − g₂) = (2.382 × 1.03) / (0.10 − 0.03) = 2.453 / 0.07 = USD 35.05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cash flows: D₁/1.10 + D₂/1.10² + D₃/1.10³ + TV/1.10³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1.927 + 1.857 + 1.790 + 26.329 = USD 31.90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P₀ ≈ USD 31.90 — 82% of the value comes from the terminal, typical for DDMs with moderate explicit periods.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NPV, IRR &amp; applications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of 6  ·  Deck 1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NPV tells you the dollar value of a project today; accept if positive, reject if negative — unambiguously correct under any capital structure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2, pp. 76–82.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compounds the promise: a positive NPV means the project increases firm value today by exactly that amount.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NPV  =  −CF₀   +   Σ  CFₜ / (1 + r)ᵗ          accept iff NPV &gt; 0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CF₀ = initial outlay (negative by convention); r = cost of capital = required return on the project.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77440"/>
            <a:ext cx="8503920" cy="1920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EVALUATION EXAMPLE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outlay USD 1,000; after-tax cash flows 300, 400, 400, 300 over years 1–4. Cost of capital 10%.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27832"/>
            <a:ext cx="82296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PV(y1) = 300 / 1.10    = 272.73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PV(y2) = 400 / 1.10²  = 330.58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PV(y3) = 400 / 1.10³  = 300.53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PV(y4) = 300 / 1.10⁴  = 204.90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= −1,000 + 272.73 + 330.58 + 300.53 + 204.90 = +108.74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NPV = +USD 108.74  →  ACCEPT. The project increases shareholder value by ~USD 109 today.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 is a useful shorthand but breaks down with non-conventional cash flows or mutually exclusive projects — always cross-check with NPV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325112"/>
            <a:ext cx="850392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IRR implicitly assumes intermediate cash flows are reinvested at the IRR — often an unrealistic assumption above the WACC.
</a:t>
            </a:r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 For mutually exclusive projects with different scales, NPV wins the tie every time — IRR can prefer a smaller project.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2, pp. 78–82.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is the r at which NPV = 0. It's a useful comparable but the NPV rule is the theoretically correct decision rule.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Shape 9"/>
          <p:cNvSpPr/>
          <p:nvPr/>
        </p:nvSpPr>
        <p:spPr>
          <a:xfrm>
            <a:off x="320040" y="1188720"/>
            <a:ext cx="73152" cy="315468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FAILURE 1  ·  MULTIPLE IRRs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645920"/>
            <a:ext cx="246888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cash-flow pattern with sign changes in both directions (−, +, −) can satisfy NPV = 0 at more than one rate.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mining project with end-of-life clean-up outflow.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0" y="1188720"/>
            <a:ext cx="73152" cy="315468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3756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FAILURE 2  ·  SCALE MISMATCH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337560" y="1645920"/>
            <a:ext cx="246888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A: invest 100, earn 150 (IRR 50%).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B: invest 1,000, earn 1,300 (IRR 30%).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prefers A. NPV at 10% says B creates much more value. B wins.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8076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9" name="Shape 17"/>
          <p:cNvSpPr/>
          <p:nvPr/>
        </p:nvSpPr>
        <p:spPr>
          <a:xfrm>
            <a:off x="6080760" y="1188720"/>
            <a:ext cx="73152" cy="315468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FAILURE 3  ·  TIMING MISMATCH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645920"/>
            <a:ext cx="246888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Front-loaded cash flows look good under IRR (high reinvestment assumption), back-loaded under NPV (actual cost of capital).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Crossover rate = discount rate at which NPVs match. Below it, NPV and IRR disagree.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level mortgage payment is just the PMT of an annuity that discounts to the loan amount — the same annuity formula solved the other way round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2, pp. 58–60.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loan balance is the PV of remaining payments. Early payments are mostly interest; late payments are mostly principal.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PMT  =  PV × r / [ 1 − (1 + r)^(−n) 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PV = loan principal; r = per-period rate; n = number of payments (monthly over loan life).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77440"/>
            <a:ext cx="8503920" cy="1920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2 — USD 800,000 MORTGAGE · 30-YEAR · 5.25% NOMINAL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PV = 800,000. Nominal 5.25% annual → monthly rate = 5.25%/12 = 0.4375%. n = 360 months.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27832"/>
            <a:ext cx="82296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Denominator: 1 − (1.004375)^(−360) = 1 − 0.2092 = 0.7908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Numerator: 800,000 × 0.004375 = 3,500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PMT = 3,500 / 0.7908 × (1 / 0.004375) simplifies directly to USD 4,418.11 per month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paid over 30 years: 4,418.11 × 360 = USD 1,590,519  →  USD 790,519 of interest on USD 800,000 principal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USD 4,418.11 monthly payment. First month: 3,500 interest / 918 principal. Last month: 19 interest / 4,399 principal.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TVM problem reduces to a single question: where on the timeline is each cash flow, and at what rate do we move them?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2, Summary.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archetypes below cover every calculation in this deck. Identify the pattern first; apply the formula second.</a:t>
            </a:r>
            <a:endParaRPr lang="en-US" sz="13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023360"/>
                <a:gridCol w="19202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Archetype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Formula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use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CF — FV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FV = PV × (1 + r)ⁿ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Savings growth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CF — PV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PV = FV / (1 + r)ⁿ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Zero-coupon bond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Ordinary annuity — PV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PV = PMT × [1 − (1+r)^(−n)] / 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Loan amortization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Ordinary annuity — FV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FV = PMT × [(1+r)ⁿ − 1] / 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Retirement contributions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Perpetuity — PV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PV = PMT / 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Consols, preferred stock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Growing perpetuity — PV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PV = PMT / (r − g)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Gordon-growth DDM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383280"/>
            <a:ext cx="8503920" cy="9601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383280"/>
            <a:ext cx="73152" cy="960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4290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FOUR-STEP DECISION RULE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703320"/>
            <a:ext cx="827532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Draw the timeline.  2. Identify the archetype.  3. Pick the matching formula.  4. Check units: does r match the period of n?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 — Time Value of Money &amp; DCF Foundations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simultaneously a required return, a discount rate, and an opportunity cost — decomposable into r_real-rf + inflation + default + liquidity + maturity premia.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058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0" name="Shape 8"/>
          <p:cNvSpPr/>
          <p:nvPr/>
        </p:nvSpPr>
        <p:spPr>
          <a:xfrm>
            <a:off x="480517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634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mean ≥ Geometric mean ≥ Harmonic mean; pick the mean that matches the question (expected next-period vs actual compound vs dollar-cost-averaging).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Time-weighted return evaluates managers (GIPS standard); money-weighted evaluates the investor's actual wealth experience.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058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517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0634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 = (1 + r/m)^m − 1; continuous compounding is the limit with FV = PV × e^(r·n); rates are additive under continuous compounding.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→ Net → After-tax → Real → Leveraged: always know which of these five a quoted return refers to.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4058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517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634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price = PV of coupons + PV of face; India 20y zero at 6.7% → 27.51; Greece 5y 3.5% coupon at 5% YTM → 93.49.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DDM (Shipline): explicit dividends + Gordon terminal; terminal value usually dominates total PV.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4058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517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0634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rule dominates IRR: NPV &gt; 0 ⇒ accept, unambiguous under any capital structure. IRR can mislead with non-conventional CFs, scale, or timing.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Studio Tonton Gug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v2 · Deck 1 · Time Value of Money &amp; DCF Foundations</dc:title>
  <dc:subject>PptxGenJS Presentation</dc:subject>
  <dc:creator>Studio Tonton Gug</dc:creator>
  <cp:lastModifiedBy>Studio Tonton Gug</cp:lastModifiedBy>
  <cp:revision>1</cp:revision>
  <dcterms:created xsi:type="dcterms:W3CDTF">2026-04-23T09:14:04Z</dcterms:created>
  <dcterms:modified xsi:type="dcterms:W3CDTF">2026-04-23T09:14:04Z</dcterms:modified>
</cp:coreProperties>
</file>