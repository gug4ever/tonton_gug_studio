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hours of plumbing. Sell it as plumbing that decides billion-euro arguments.
•  Introduce yourself in 60 seconds — IB, ratings, event-driven. Then stop talking about yourself.
•  Frame: every valuation they will ever see is this deck plus assumptions.
•  Set the contract: I will show the maths once, then we do numbers together.
•  Housekeeping — calculators out, phones down, questions any time.
•  Budget: ~20 min per section, two breaks. Do not over-run §2.
FROM THE DESK — The pitch: the only thing separating an analyst from a Director on a valuation is not the formula — it is knowing which number in it is actually being negotiated.
NEXT — Roadmap first — six blocks, and where each one shows up on a real 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 shape of the two hours so nobody is lost at minute 70.
•  §1–3 = the CFA "Rates and Returns" module. §4–6 = "Time Value of Money in Finance".
•  Flag the spine: sections 1–3 build r, sections 4–6 spend it.
•  Warn them §2 is the densest — five different means, and the exam loves it.
•  Promise the payoff: by §5 they price a sovereign bond and a stock from scratch.
•  Breaks after §2 and §4.
NEXT — Objectives — what they should be able to DO, not what they will have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Objectives are verbs. Read them as "you will be asked to do this", not "we will mention this".
•  Point at #2 — the mean-selection question is the one most students get wrong.
•  Point at #5 — running the model backwards is the objective that separates this from a maths class.
•  Tell them: nothing here needs more than a basic calculator.
•  Say what is NOT covered: risk, volatility, WACC build-up — those are decks 2 and 3.
ASK THE ROOM — Who has already built a DCF? Keep a mental note — you will pair them with beginners later.
NEXT — Start with the single most overloaded symbol in finance: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Reset the room. Four slides, ~20 minutes, and they end able to price risk additively.
•  One line only: "before we discount anything, we have to agree what r means."
•  Do not read the divider. Move.
NEXT — Open with the 9,500 / 10,000 trade — make them compute it before you reveal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Students think "interest rate" is one thing. It is three — and which one you mean changes the maths you reach for.
•  Put the 9,500 vs 10,000 trade up first — let them compute 5.26% before you reveal it.
•  Required return = the investor hurdle. Below it, they walk away.
•  Discount rate = the same number used backwards. Stress: same r, inverse operation.
•  Opportunity cost = what you gave up. This is what ties r to every "should we do this deal" question.
•  Land it: one number, three questions. Later DCF confusion always traces back here.
FROM THE DESK — In a live process the fight is never about the cash flows — it is about r. Two banks pitching the same asset 20% apart is a WACC disagreement, not a modelling one.
ASK THE ROOM — If your required return is 8% and the deal offers 6%, what is NPV telling you?
NEXT — If r is the hurdle, what sets its level? Take it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 is not handed down. It is assembled — and each block is a separate question you can argue about.
•  Write the equation once, then walk the five blocks left to right.
•  Real risk-free = pure time preference. Say it: no inflation, no risk, nothing else.
•  Inflation premium is EXPECTED over the life of the instrument — not last month's CPI.
•  Default vs liquidity: default is "will they pay?", liquidity is "can I get out?". Different risks.
•  Maturity premium = duration risk compensation. Flag it: this is why curves normally slope up.
•  Caveat the ranges out loud — they are anchors, the real risk-free rate was negative through much of the 2010s.
FROM THE DESK — Rating advisory lives inside the default block alone. A one-notch move is worth 20–40bp on a corporate spread — on a EUR 1bn issue that is real money for one letter.
NEXT — Next slide the CFA hands us five bonds and lets us read the premia straight off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market prices risk one attribute at a time — if you can find the right pair, you can read the premium straight off the screen.
•  Do NOT give the answer. Give them the table and three minutes.
•  Step 1 — Inv 1 vs Inv 2: only liquidity differs ⇒ LP = 50bp.
•  Step 2 — Inv 4 vs Inv 5: default AND liquidity differ. Subtract the 50bp you already own ⇒ DP = 2.00%.
•  Step 3 — r₃ is bracketed, not solved: above Inv 2 (longer), below a liquidity-adjusted Inv 4 (shorter).
•  The honest caveat: r₃ could exceed Inv 4's 4.0% — depends on liquidity vs maturity premium size.
FROM THE DESK — This is exactly how a new issue gets priced. You find two comps that isolate the one thing your issuer differs on, and you argue about that number only. Everything else is agreed before the meeting starts.
ASK THE ROOM — Which pair would you use to isolate the maturity premium? (Answer: none cleanly — that is the point.)
NEXT — One premium deserves its own slide, because the shortcut everyone uses for it is only an approximation.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Everyone adds real + inflation. Show them exactly when that shortcut stops being harmless.
•  Write the exact Fisher relation first, THEN show the approximation as a deliberate simplification.
•  The dropped term is real × inflation — second order, which is why it hides in developed markets.
•  Run the two numbers on the kicker line: 6bp of error vs 100bp of error.
•  Quoting convention trap: a 90-day bill at 3% is annualized. The 90-day return is roughly 0.74%.
•  Name the local proxy for the room — BTF, T-bill, JGB bill. Make it concrete.
FROM THE DESK — The moment you model an emerging-market asset in local currency, the additive shortcut breaks and takes the whole valuation with it. Turkey, Argentina, Egypt — always Fisher, never addition.
NEXT — We now know what r is. Section 2: how do we measure what an asset actually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densest block of the morning: seven slides, five different averages, one live argument about manager performance.
•  Warn them: this is the section the exam mines hardest.
•  Promise a rule at the end — how to pick the right mean in ten seconds.
•  Keep energy up; do not let the mean taxonomy become a list.
NEXT — Start with the atom: one period, one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Return has two engines. Students who only track price will misprice every income asset they ever touch.
•  Formula on the board, then immediately decompose it into the two yields.
•  Run Example 2 live — they should get −10.1% in under a minute.
•  Make them state the split out loud: +1.49% income, −11.59% price.
•  Flag the timing assumption: income at period END. Received earlier, it could be reinvested and the HPR would be higher.
•  Footnote: multi-period HPRs COMPOUND. +14/−10/−2 gives +0.55%, not +2%.
FROM THE DESK — Total-return vs price-return is where half of retail performance arguments come from. An index at "flat over five years" with a 4% dividend yield returned over 20%. Always ask which series you are being shown.
NEXT — One period is easy. Aggregating many periods is where four different answers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+4% average that turned one euro into 86 cents. Let that contradiction sit for ten seconds before you explain it.
•  Write −50, +35, +27 and ask for the average. They will say 4%. Agree.
•  Then walk the actual balance column: 1.00 → 0.50 → 0.675 → 0.857.
•  The reveal: "your average return was positive and you lost 14% of your money."
•  Explain the mechanism — AM implicitly re-funds the account to EUR 1.00 each year.
•  Do NOT dismiss the AM: it is the correct estimator of a SINGLE next-period return.
•  Keep this table on the board — the next slide reuses it.
FROM THE DESK — Every hedge-fund tear sheet quoting "average annual return" is quoting the arithmetic mean. Ask for the compound number. The gap between the two is a clean read on how volatile the strategy really is.
ASK THE ROOM — Down 50% one year, up 50% the next — average 0%. What actually happened to your money?
NEXT — So what average DOES reproduce 0.8573? The geometric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geometric mean is the only average that is a fact about the account rather than a fact about the series.
•  Emphasise: compound the (1+R) factors, not the returns. This is the #1 mechanical error.
•  Do the cube root live; then verify by compounding −5% three times back to 0.857.
•  State the rule cleanly: GM ≤ AM, equality only if every return is identical.
•  Jensen in one line — log(1+x) is concave, so averaging logs loses to logging the average.
•  CFA Example 5 anchor: the most volatile country index has the widest AM-vs-GM gap. Dispersion IS the gap.
•  Rule of thumb worth writing down: GM ≈ AM − σ²/2.
FROM THE DESK — Use GM for reporting history, AM for forecasting one period ahead. Mixing them is how a pitch ends up with a growth assumption nobody can defend in diligence.
ASK THE ROOM — A fund is +100% then −50%. Arithmetic says +25%. What did the client get?
NEXT — Third mean, and the one nobody expects: when the average of PRICES is not the average of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trap is not the formula. It is recognising which quantity is being held fixed.
•  Ask them the average price first: they will say 12.50. Then walk the share count.
•  The mechanism: EUR 1,000 buys 100 shares at 10 but only 66.67 at 15. Low prices get more weight automatically.
•  Show HM = 12.00 reproduces the actual 2,000 / 166.67. The average is derived, not chosen.
•  Give the selection rule out loud — fixed cash → harmonic; capital compounding → geometric; fixed quantity → arithmetic.
•  Extension: the same logic is why an index P/E is a harmonic-style aggregate, not a simple average of constituent P/Es.
FROM THE DESK — Averaging the P/Es of a comps set arithmetically is a real and common error — one loss-making or barely-profitable comp with a 90× multiple will drag the "average" somewhere no banker can defend. Harmonic, or median, or drop the comp.
ASK THE ROOM — You buy 100 shares each month instead of EUR 1,000 each month. Which mean is right now?
NEXT — Two more means, both built to survive a single ugly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number changes, and only two of the four measures notice. That is the entire argument for robust statistics.
•  Put the base series up. AM 3.00%, GM 2.97% — CFA-verified, they agree.
•  Now change one observation: Year 4 goes from −2% to −40%.
•  AM falls to −0.80%. GM to −1.96%. Trimmed and winsorized do not move at all.
•  Explain why: the outlier was ALREADY the lowest, so trimming/winsorizing had already neutralised it.
•  Be precise on naming — dropping 1 of 10 per tail is a 10% trim, not 5%. See footnote.
•  When to use which: winsorize if the extreme is real but unrepresentative; trim if you think it is bad data.
FROM THE DESK — Robust means are how you stop one distressed or barely-profitable comp from setting the multiple for an entire sector. Same instinct as using median EV/EBITDA rather than mean.
NEXT — Now the argument that actually gets people fired: whose return is it — the manager's or the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portfolio, same dates, two legitimate return numbers. Which one is right depends entirely on who is being judged.
•  Frame it as a question, not a definition: "who controlled the timing of the cash?"
•  MWR = IRR. Say the word IRR — most of them already half-know it.
•  TWR = link the sub-period returns; cash flows only decide WHERE you cut the periods.
•  Manager cannot control deposits ⇒ judge on TWR. Investor lives with her own timing ⇒ MWR.
•  The exception worth naming: in PE the GP DOES control the drawdown, so IRR (money-weighted) is the right yardstick.
•  Footnote the annualization trap — only take a root when each period is a full year.
FROM THE DESK — This is not academic. A GP quoting IRR and an LP quoting TWR on the same fund will produce genuinely different numbers, and both are correct. Know which one is in front of you before you argue about it.
NEXT — Numbers make it obvious. One portfolio, two answers, 137 basis points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Make them compute both. The 137bp gap is small enough to look harmless and large enough to end a mandate.
•  Build the cash-flow column with them: −200, −220 (dividend nets against the purchase), +480.
•  Two HPRs first: 15% and 6.67%. Note the year-2 base is 450, not 455 — the dividend was spent.
•  TWR: link and take the square root because each period is a full year. 10.76%.
•  MWR: quadratic in (1+r), or just say "IRR function". 9.39%.
•  Explain the direction — more capital deployed into the weaker year drags MWR down.
•  Kill the myth before it forms: TWR is not always higher. It depends on the timing.
FROM THE DESK — The uncomfortable version of this: a manager can post a flawless TWR while every client loses money, because clients reliably add capital after good years. That behaviour gap is worth several points a year in retail funds.
ASK THE ROOM — If you had deposited the extra USD 220 a year LATER, which of the two numbers would move?
NEXT — We can now measure a return over any period. Next: how to state it so two investments can be compared.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Short block, three slides. Purpose: make every return in the room comparable, and then be honest about what that comparability costs.
•  One line: "a 4% return means nothing until you say over how long."
•  Flag that §3 ends with the five ways a return can be quoted — the most practically useful slide of the morning.
NEXT — Annualization first, then the limit case, then the five lenses.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separate ideas that look like one: annualizing a HOLDING period, and compounding a QUOTED rate. Keep them apart.
•  First formula answers "I held it 100 days, what is that per year?"
•  Second answers "the bank says 6%, what do I actually get?"
•  Walk the 12% column, not the 6% one — the gaps are visible: 12.00 → 12.36 → 12.55 → 12.68 → 12.75.
•  Note the daily-to-continuous step is only 2bp. Diminishing returns to frequency.
•  Then the honesty slide: annualizing assumes repeatability. 5% a week = 1,164% a year.
•  ETF footnote is a good 90-second exercise if the room is fast.
FROM THE DESK — Read the quoting convention before you compare anything. Money-market instruments, mortgages and swaps all quote differently, and a 30bp "edge" that vanishes once you convert to EAR is a very expensive way to learn this.
ASK THE ROOM — Would you rather have 6% compounded monthly or 6.1% compounded annually?
NEXT — Push m to infinity and something useful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not a curiosity. It is the reason log returns exist, and the reason risk models are built on them.
•  Show the limit numerically first — 12.6825% monthly → 12.7497% continuous. It converges fast.
•  Then the real payoff: continuously compounded returns ADD over time.
•  Do ln(1.12) = 11.33% and e^0.10 − 1 = 10.52% on the board. Both directions.
•  The price-relative form ln(P₁/P₀) is what every risk system actually stores.
•  Warn: r_cc is always smaller than the simple return. It is not a worse return, it is a different unit.
FROM THE DESK — Every volatility number you will ever see — VaR, option implieds, correlation matrices — is computed on log returns, precisely because they add and are roughly symmetric. Get comfortable with the convention now.
NEXT — Last piece of §3, and the most immediately useful: the same asset quoted five different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asset, five quoted numbers between 2.44% and 12.00%. Whoever chooses which one to show you is choosing the story.
•  Walk the ladder top to bottom, saying what is removed at each rung.
•  Gross vs net: gross judges the MANAGER (fees vary with AUM and investor type), net is what the client banks.
•  Order matters — tax first, THEN deflate for inflation. Never the other way round.
•  Real return uses division, not subtraction. Same Fisher point as slide 8.
•  Leverage formula: R_P + (V_B/V_E)(R_P − r_D). Make them read it as "base return plus spread times gearing".
•  Then say −4% out loud and let them compute −12%.
FROM THE DESK — Small funds waive fees precisely because net return is what sells, and fixed admin costs hurt a small AUM base disproportionately. When a manager quotes gross, ask for the fee load — the answer tells you the size of the shop.
ASK THE ROOM — Two managers, both 8% gross. One charges 40bp, one charges 150bp. How many years before that gap matters?
NEXT — Enough about measuring the past. Section 4: move money forward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Short, mechanical, confidence-building. Three slides and they can move any cash flow forwards.
•  Say the discipline out loud: draw the timeline before you touch the calculator. Every time.
•  Second break lands after this section.
NEXT — The single formula everything else is built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formula is trivial. The discipline around it — units, timeline, sense check — is what they will actually get wrong.
•  Draw the timeline on the board before writing the formula. Model the habit.
•  Hammer the unit rule: monthly rate goes with a monthly n, always.
•  Do 1.05^10 = 1.6289 live so they see the compounding, not just the answer.
•  Teach the sense check: rule of 72 → 72/5 ≈ 14 years to double.
•  Mention the continuous form now, so it is not a surprise in derivatives later.
ASK THE ROOM — At 7%, roughly how long to double? (Rule of 72 — about 10 years.)
NEXT — Same rate, same horizon, different compounding frequency. How much can that possibly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Frequency is not a detail. It is the difference between two rates that look identical on a term sheet.
•  Point at the Periods column — that is the only thing changing. Same rate, same horizon.
•  Walk the uplift column: 28.51 → 43.77 → 54.36 → 59.60 → 59.78.
•  Note where it saturates: daily is already within 20 pence of continuous.
•  Tie back to slide 18 — this is the FV mirror of the EAR table.
•  CFA Example 11 if they want a PV version: CAD 5m in 10 years at 6% monthly discounts to CAD 2,748,164.
FROM THE DESK — On a term sheet the compounding basis sits in a schedule nobody reads. On a large facility, quarterly vs annual compounding is a real number — always convert everything to one basis before you compare pricing.
NEXT — One cash flow is easy. Now a stream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hundred thousand pounds in, three hundred and sixty-eight thousand out. Make the compounding visible, not asserted.
•  Split the answer out loud: GBP 200,000 of their money, GBP 167,856 from the market.
•  Derive the factor rather than quoting it — it is a geometric series, and they should see why.
•  Ordinary vs due: one extra period of compounding, worth GBP 22,071 here. Timing is not cosmetic.
•  Ask what happens at 8% instead of 6% before you show it — intuition is usually far too low.
•  Same formula solves for PMT: "how much per year to hit a target?" Just rearrange.
FROM THE DESK — The identical formula sizes a sinking fund or a debt-service reserve. Any time a covenant says "accumulate X by year N", you are solving this for PMT.
NEXT — Everything so far moved money forwards. Valuation runs the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core of the deck. Six slides: the mechanic, the shortcuts, then real bonds and a real stock.
•  Say it plainly: "everything after this point is one formula applied repeatedly."
•  This is where the room should be most awake — budget the time for it.
NEXT — Reverse the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ideas, one slide: discounting shrinks the future, and discounted values are additive. Everything downstream is these two facts.
•  Walk the discount-factor column, not the PV column — get them reading DFs as prices.
•  GBP 100 in 30 years is worth GBP 23 today at 5%. Let that land.
•  Half-life: 14 years at 5%, 7 at 10%. This is the intuition behind terminal-value dominance.
•  Additivity: PVs at the same date add. Sounds trivial; it is the entire no-arbitrage condition.
•  CFA Example 12 — two very different cash-flow shapes, same PV of GBP 11.91. Shape ≠ value.
FROM THE DESK — Additivity is what lets you strip a bond, bootstrap a curve, or build a synthetic forward. Every structuring idea you will ever see is somebody rearranging dated cash flows without changing their present value.
ASK THE ROOM — Would you rather have GBP 100 in year 5 or GBP 200 in year 20? At 5%, then at 10% — the answer flips.
NEXT — Discounting one cash flow at a time is slow. Two closed forms make it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formulas that replace an infinite amount of arithmetic. Make them see the annuity factor as a number with meaning.
•  Derive the annuity as "perpetuity starting now minus perpetuity starting at n+1" — it makes both formulas one idea.
•  20 payments buy 11.47 years of value. Ask why, before explaining.
•  Perpetuity PV = PMT/r is the single most reused formula in valuation. Terminal values, preferred stock, consols.
•  Flip it live: price and coupon known ⇒ r = PMT/PV. That is a yield.
•  KB Financial: quarterly coupon, so r comes out per quarter. Annualize deliberately.
FROM THE DESK — PMT/r is the skeleton of every terminal value in every DCF ever built. Which means the terminal value is almost always the most fragile number in the model and the least discussed in the meeting.
NEXT — Now put it to work on a real instrument — a stripped Indian government cash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formula, three completely different questions — and students routinely confuse the answers to all three.
•  Price first: 100 / 1.067²⁰ = 27.33. Have them do it; the exponent is where errors live.
•  Then hold yields flat and move time: 33.21 after three years. Ask whether they "made money".
•  Answer: no — that is accretion, contractually owed. Separate it from a yield move.
•  Then hold time flat and move yields: +100bp costs INR 4.65 of price on a 27 price. Enormous in percentage terms.
•  Name the reason: 20 years of duration on a zero. Longest duration instrument there is.
•  Footnote the semiannual version — 26.77 vs 27.33 for the same stated rate.
FROM THE DESK — Long-dated strips are the cleanest duration instrument on the market, which is why pension funds and insurers use them for liability matching. They are also brutal: the 2022 rate move took 30-year strips down by more than half.
ASK THE ROOM — Same 100bp rise on a 2-year strip instead of a 20-year. How much price?
NEXT — Add coupons and one relationship explains the entire bond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Par is not a default. It is the special case where the coupon happens to equal what the market wants.
•  Show the PV row first — 88.80 of the 100.00 sits in the final cash flow. Principal dominates a low-coupon bond.
•  State the three-way rule: coupon vs YTM decides discount / par / premium. Test them on it.
•  Then move the yield: 3.532% required, price 93.09. Ask who lost the EUR 6.91.
•  The holder who bought at par did. Coupons keep paying; the mark-to-market is where it hurts.
•  CFA Example 9 closes it: reinvesting coupons at 2%, the two-year realised return was −1.445%.
FROM THE DESK — Every bond investor in 2022 relearned this slide. Coupons kept arriving and portfolios still posted double-digit losses, because price is a function of the yield the market demands today, not the coupon printed on the bond.
ASK THE ROOM — A 6% coupon bond trades at 108. Is its YTM above or below 6%?
NEXT — Bonds promise their cash flows. Equities do not — so the same maths needs one more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prices for one company: 10.00, 13.05, 17.67. Nothing changed except the growth story.
•  Start with the no-growth case so they see the DDM is just a perpetuity.
•  Add constant growth: the denominator shrinks from 0.15 to 0.09 and the price jumps 77%.
•  Two-stage: explicit dividends for three years, then Gordon from year 4. Walk D₄ = D₃ × 1.02 carefully.
•  Make them notice 9.22 of the 13.05 — 71% — is terminal. That is the number to interrogate.
•  State the constraint hard: r must exceed g. g ≥ r means the model has broken, not that the stock is infinitely valuable.
•  Footnote sensitivity: 0% to 6% terminal growth spans GBP 11.66 to GBP 17.67 on identical near-term dividends.
FROM THE DESK — In a live valuation the terminal value is typically 60–80% of the total, and terminal growth is negotiated in 25bp increments. When you see a DCF where g_L exceeds long-run nominal GDP, someone is solving backwards to a price they already promised.
ASK THE ROOM — Set g = 15% with r = 15%. What does the formula say, and what does it actually mean?
NEXT — Everything so far assumed we know r and g. In the market we know the PRICE. Invert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slide that turns a valuation model into an argument. Stop asking "what is it worth" and start asking "what is being assumed".
•  Start from the Gordon formula and rearrange live. Do not present the result as new.
•  r = dividend yield + growth. Say it as a sentence — it is intuitive once heard.
•  Coca-Cola: 2.79% yield. Pick g, get r. Pick r, get g. The price only ever fixes the difference.
•  Then the multiple version: forward P/E = payout / (r − g). Same identity, different units.
•  The P/E 28 case is the punchline — the market is implying r − g = 2.50%. Is that defensible?
•  Frame the discipline: an implied growth rate above long-run nominal GDP should always be challenged.
FROM THE DESK — This is the most useful screen a junior can run: back out implied growth across a sector and rank it. Where implied growth exceeds anything management has ever guided to, you have either found a story stock or a short.
ASK THE ROOM — A stock yields 1% and you require 8%. What growth is the market assuming forever?
NEXT — Section 6: the same discounting, now pointed at decisions rather than at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Last stretch. Four slides, and they are the ones that make the previous thirty feel worth it.
•  Signal the finish line — energy dips here, so name it.
•  Note the source shift: the NPV rule itself is Corporate Issuers, but the maths is exactly the IRR from §2.
NEXT — The decision rule that never 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NPV is not a score. It is a currency amount of value created, available today.
•  Have them add the raw cash flows first: 1,400 on 1,000. Feels like a 40% profit.
•  Then discount: only 108.74 of value once the cost of capital is charged.
•  The 291 difference IS the cost of capital. Make that explicit.
•  Stress that r must match the project's risk, not the company's average or its borrowing rate.
•  Define IRR here in one line — the r that makes NPV zero. Sets up the next slide.
FROM THE DESK — In practice the argument is almost never about the cash flows — it is about r and about the terminal assumption. Anyone can shift an NPV from negative to positive with 150bp on the discount rate, which is exactly why the rate is set centrally and defended.
ASK THE ROOM — If the cost of capital were 15% instead of 10%, would you still accept?
NEXT — IRR is the number everybody quotes instead. Here is when it 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IRR is a percentage, and percentages hide size. That single fact generates all three failures.
•  Give the scale example as a question: 50% or 30%? They will pick 50%. Then show +36 vs +182.
•  Land the line: you cannot spend a percentage.
•  Multiple IRRs — sign changes. Ask for a real cash-flow pattern that does this (decommissioning).
•  Reinvestment assumption is the deepest problem — IRR assumes you can redeploy at the IRR.
•  Practical rule: rank with NPV, communicate with IRR, and know when the two disagree.
FROM THE DESK — Private equity runs on IRR because the clock is controllable — call capital late, return it early, and the IRR improves without a single euro of extra value. That is exactly why MOIC sits next to IRR on every LP report.
ASK THE ROOM — How would you shorten a fund's holding period to raise IRR without creating any value at all?
NEXT — One last application, and it is the one they will meet personally.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Everyone in the room will sign one of these. Make them see where the money actually goes in the early years.
•  Solve for PMT live — it is the annuity formula rearranged, nothing new.
•  Month 1: 3,500 of the 4,417.63 is interest. That is 79%.
•  Month 360: 19.24 interest. The split reverses completely and gradually.
•  Total interest 790,347 on an 800,000 loan — almost exactly the principal again.
•  Key idea: the outstanding balance is always the PV of the remaining payments. That is how you value a loan book.
•  Ask what happens to total interest at 6.25% instead of 5.25% — the intuition is always too low.
FROM THE DESK — Same formula scales straight into structured finance: an amortising term loan, an RMBS pool, a lease portfolio. The only additions are prepayment and default assumptions layered on top of exactly this schedule.
NEXT — Pull the whole morning together into one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Compression slide. Six patterns, one procedure, and the point that any stream decomposes into pieces they already own.
•  Read the table as three pairs: single CF, annuity, perpetuity — each forwards and backwards.
•  Note the last row is the whole of equity valuation in five characters.
•  Emphasise step 2: decomposition. A bond is an annuity plus a single CF. A two-stage DDM is an annuity plus a growing perpetuity.
•  Step 4 catches most exam errors — annual rate against monthly periods.
•  Tell them to photograph this slide. It is the one worth keeping.
ASK THE ROOM — A bond with a 5-year call. Which archetypes, and in what combination?
NEXT — Eight takeaways,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read eight bullets. Pick three, land them, and open the floor.
•  Lead with the mean-selection rule — that is the one they will misuse first.
•  Second: TWR vs MWR. Whoever chooses the metric is choosing who looks good.
•  Third: terminal value is most of the answer, so terminal growth deserves most of the scrutiny.
•  Preview deck 2 in one sentence so the arc is visible.
•  Leave 5 minutes for questions. If none come, ask them the P/E 28 question again.
FROM THE DESK — The takeaway that outlasts the exam: knowing which number in a valuation is actually being argued about, and being the person in the room who can say so out loud.
NEXT — Deck 02 — risk, dispersion and the statistics that make r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01  ·  WEEK 1  ·  MORNING 1</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Time Value</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of Money &amp; DCF</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The financial-math foundation every deck that follows will draw from</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1 Learning Modules 1–2</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Time Value of Money &amp; DCF Foundations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6 sections · ~2 hours · Built bottom-up from CFA readings</a:t>
            </a:r>
            <a:endParaRPr lang="en-US" sz="1300" dirty="0"/>
          </a:p>
        </p:txBody>
      </p:sp>
      <p:sp>
        <p:nvSpPr>
          <p:cNvPr id="8" name="Shape 6"/>
          <p:cNvSpPr/>
          <p:nvPr/>
        </p:nvSpPr>
        <p:spPr>
          <a:xfrm>
            <a:off x="320040" y="1207008"/>
            <a:ext cx="8503920" cy="560832"/>
          </a:xfrm>
          <a:prstGeom prst="rect">
            <a:avLst/>
          </a:prstGeom>
          <a:solidFill>
            <a:srgbClr val="FFFFFF"/>
          </a:solidFill>
          <a:ln/>
        </p:spPr>
      </p:sp>
      <p:sp>
        <p:nvSpPr>
          <p:cNvPr id="9" name="Shape 7"/>
          <p:cNvSpPr/>
          <p:nvPr/>
        </p:nvSpPr>
        <p:spPr>
          <a:xfrm>
            <a:off x="320040" y="1207008"/>
            <a:ext cx="594360" cy="560832"/>
          </a:xfrm>
          <a:prstGeom prst="rect">
            <a:avLst/>
          </a:prstGeom>
          <a:solidFill>
            <a:srgbClr val="1B2A4A"/>
          </a:solidFill>
          <a:ln/>
        </p:spPr>
      </p:sp>
      <p:sp>
        <p:nvSpPr>
          <p:cNvPr id="10" name="Text 8"/>
          <p:cNvSpPr txBox="1"/>
          <p:nvPr/>
        </p:nvSpPr>
        <p:spPr>
          <a:xfrm>
            <a:off x="320040" y="120700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What is an interest rate?</a:t>
            </a:r>
            <a:endParaRPr lang="en-US" sz="1200" dirty="0"/>
          </a:p>
        </p:txBody>
      </p:sp>
      <p:sp>
        <p:nvSpPr>
          <p:cNvPr id="12" name="Text 10"/>
          <p:cNvSpPr txBox="1"/>
          <p:nvPr/>
        </p:nvSpPr>
        <p:spPr>
          <a:xfrm>
            <a:off x="1024128" y="145938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3 interpretations · decomposing r · risk premia · CFA Example 1 five bonds · nominal vs real (Fisher)</a:t>
            </a:r>
            <a:endParaRPr lang="en-US" sz="1100" dirty="0"/>
          </a:p>
        </p:txBody>
      </p:sp>
      <p:sp>
        <p:nvSpPr>
          <p:cNvPr id="13" name="Shape 11"/>
          <p:cNvSpPr/>
          <p:nvPr/>
        </p:nvSpPr>
        <p:spPr>
          <a:xfrm>
            <a:off x="320040" y="1804416"/>
            <a:ext cx="8503920" cy="560832"/>
          </a:xfrm>
          <a:prstGeom prst="rect">
            <a:avLst/>
          </a:prstGeom>
          <a:solidFill>
            <a:srgbClr val="F5F7FA"/>
          </a:solidFill>
          <a:ln/>
        </p:spPr>
      </p:sp>
      <p:sp>
        <p:nvSpPr>
          <p:cNvPr id="14" name="Shape 12"/>
          <p:cNvSpPr/>
          <p:nvPr/>
        </p:nvSpPr>
        <p:spPr>
          <a:xfrm>
            <a:off x="320040" y="1804416"/>
            <a:ext cx="594360" cy="560832"/>
          </a:xfrm>
          <a:prstGeom prst="rect">
            <a:avLst/>
          </a:prstGeom>
          <a:solidFill>
            <a:srgbClr val="1B2A4A"/>
          </a:solidFill>
          <a:ln/>
        </p:spPr>
      </p:sp>
      <p:sp>
        <p:nvSpPr>
          <p:cNvPr id="15" name="Text 13"/>
          <p:cNvSpPr txBox="1"/>
          <p:nvPr/>
        </p:nvSpPr>
        <p:spPr>
          <a:xfrm>
            <a:off x="320040" y="1804416"/>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850136"/>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Measuring return</a:t>
            </a:r>
            <a:endParaRPr lang="en-US" sz="1200" dirty="0"/>
          </a:p>
        </p:txBody>
      </p:sp>
      <p:sp>
        <p:nvSpPr>
          <p:cNvPr id="17" name="Text 15"/>
          <p:cNvSpPr txBox="1"/>
          <p:nvPr/>
        </p:nvSpPr>
        <p:spPr>
          <a:xfrm>
            <a:off x="1024128" y="2056790"/>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HPR · arithmetic / geometric / harmonic · trimmed &amp; winsorized · money- vs time-weighted</a:t>
            </a:r>
            <a:endParaRPr lang="en-US" sz="1100" dirty="0"/>
          </a:p>
        </p:txBody>
      </p:sp>
      <p:sp>
        <p:nvSpPr>
          <p:cNvPr id="18" name="Shape 16"/>
          <p:cNvSpPr/>
          <p:nvPr/>
        </p:nvSpPr>
        <p:spPr>
          <a:xfrm>
            <a:off x="320040" y="2401824"/>
            <a:ext cx="8503920" cy="560832"/>
          </a:xfrm>
          <a:prstGeom prst="rect">
            <a:avLst/>
          </a:prstGeom>
          <a:solidFill>
            <a:srgbClr val="FFFFFF"/>
          </a:solidFill>
          <a:ln/>
        </p:spPr>
      </p:sp>
      <p:sp>
        <p:nvSpPr>
          <p:cNvPr id="19" name="Shape 17"/>
          <p:cNvSpPr/>
          <p:nvPr/>
        </p:nvSpPr>
        <p:spPr>
          <a:xfrm>
            <a:off x="320040" y="2401824"/>
            <a:ext cx="594360" cy="560832"/>
          </a:xfrm>
          <a:prstGeom prst="rect">
            <a:avLst/>
          </a:prstGeom>
          <a:solidFill>
            <a:srgbClr val="1B2A4A"/>
          </a:solidFill>
          <a:ln/>
        </p:spPr>
      </p:sp>
      <p:sp>
        <p:nvSpPr>
          <p:cNvPr id="20" name="Text 18"/>
          <p:cNvSpPr txBox="1"/>
          <p:nvPr/>
        </p:nvSpPr>
        <p:spPr>
          <a:xfrm>
            <a:off x="320040" y="2401824"/>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447544"/>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Annualizing returns</a:t>
            </a:r>
            <a:endParaRPr lang="en-US" sz="1200" dirty="0"/>
          </a:p>
        </p:txBody>
      </p:sp>
      <p:sp>
        <p:nvSpPr>
          <p:cNvPr id="22" name="Text 20"/>
          <p:cNvSpPr txBox="1"/>
          <p:nvPr/>
        </p:nvSpPr>
        <p:spPr>
          <a:xfrm>
            <a:off x="1024128" y="2654198"/>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periodic → annual · EAR · continuous compounding · gross / net / after-tax / real / levered</a:t>
            </a:r>
            <a:endParaRPr lang="en-US" sz="1100" dirty="0"/>
          </a:p>
        </p:txBody>
      </p:sp>
      <p:sp>
        <p:nvSpPr>
          <p:cNvPr id="23" name="Shape 21"/>
          <p:cNvSpPr/>
          <p:nvPr/>
        </p:nvSpPr>
        <p:spPr>
          <a:xfrm>
            <a:off x="320040" y="2999232"/>
            <a:ext cx="8503920" cy="560832"/>
          </a:xfrm>
          <a:prstGeom prst="rect">
            <a:avLst/>
          </a:prstGeom>
          <a:solidFill>
            <a:srgbClr val="F5F7FA"/>
          </a:solidFill>
          <a:ln/>
        </p:spPr>
      </p:sp>
      <p:sp>
        <p:nvSpPr>
          <p:cNvPr id="24" name="Shape 22"/>
          <p:cNvSpPr/>
          <p:nvPr/>
        </p:nvSpPr>
        <p:spPr>
          <a:xfrm>
            <a:off x="320040" y="2999232"/>
            <a:ext cx="594360" cy="560832"/>
          </a:xfrm>
          <a:prstGeom prst="rect">
            <a:avLst/>
          </a:prstGeom>
          <a:solidFill>
            <a:srgbClr val="1B2A4A"/>
          </a:solidFill>
          <a:ln/>
        </p:spPr>
      </p:sp>
      <p:sp>
        <p:nvSpPr>
          <p:cNvPr id="25" name="Text 23"/>
          <p:cNvSpPr txBox="1"/>
          <p:nvPr/>
        </p:nvSpPr>
        <p:spPr>
          <a:xfrm>
            <a:off x="320040" y="2999232"/>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044952"/>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Future value</a:t>
            </a:r>
            <a:endParaRPr lang="en-US" sz="1200" dirty="0"/>
          </a:p>
        </p:txBody>
      </p:sp>
      <p:sp>
        <p:nvSpPr>
          <p:cNvPr id="27" name="Text 25"/>
          <p:cNvSpPr txBox="1"/>
          <p:nvPr/>
        </p:nvSpPr>
        <p:spPr>
          <a:xfrm>
            <a:off x="1024128" y="3251606"/>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single CF · compounding frequency · FV of an annuity (retirement savings)</a:t>
            </a:r>
            <a:endParaRPr lang="en-US" sz="1100" dirty="0"/>
          </a:p>
        </p:txBody>
      </p:sp>
      <p:sp>
        <p:nvSpPr>
          <p:cNvPr id="28" name="Shape 26"/>
          <p:cNvSpPr/>
          <p:nvPr/>
        </p:nvSpPr>
        <p:spPr>
          <a:xfrm>
            <a:off x="320040" y="3596640"/>
            <a:ext cx="8503920" cy="560832"/>
          </a:xfrm>
          <a:prstGeom prst="rect">
            <a:avLst/>
          </a:prstGeom>
          <a:solidFill>
            <a:srgbClr val="FFFFFF"/>
          </a:solidFill>
          <a:ln/>
        </p:spPr>
      </p:sp>
      <p:sp>
        <p:nvSpPr>
          <p:cNvPr id="29" name="Shape 27"/>
          <p:cNvSpPr/>
          <p:nvPr/>
        </p:nvSpPr>
        <p:spPr>
          <a:xfrm>
            <a:off x="320040" y="3596640"/>
            <a:ext cx="594360" cy="560832"/>
          </a:xfrm>
          <a:prstGeom prst="rect">
            <a:avLst/>
          </a:prstGeom>
          <a:solidFill>
            <a:srgbClr val="1B2A4A"/>
          </a:solidFill>
          <a:ln/>
        </p:spPr>
      </p:sp>
      <p:sp>
        <p:nvSpPr>
          <p:cNvPr id="30" name="Text 28"/>
          <p:cNvSpPr txBox="1"/>
          <p:nvPr/>
        </p:nvSpPr>
        <p:spPr>
          <a:xfrm>
            <a:off x="320040" y="3596640"/>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3642360"/>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Present value</a:t>
            </a:r>
            <a:endParaRPr lang="en-US" sz="1200" dirty="0"/>
          </a:p>
        </p:txBody>
      </p:sp>
      <p:sp>
        <p:nvSpPr>
          <p:cNvPr id="32" name="Text 30"/>
          <p:cNvSpPr txBox="1"/>
          <p:nvPr/>
        </p:nvSpPr>
        <p:spPr>
          <a:xfrm>
            <a:off x="1024128" y="3849014"/>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single CF · annuity · perpetuity · India &amp; Greece bonds · Shipline DDM · implied r and g</a:t>
            </a:r>
            <a:endParaRPr lang="en-US" sz="1100" dirty="0"/>
          </a:p>
        </p:txBody>
      </p:sp>
      <p:sp>
        <p:nvSpPr>
          <p:cNvPr id="33" name="Shape 31"/>
          <p:cNvSpPr/>
          <p:nvPr/>
        </p:nvSpPr>
        <p:spPr>
          <a:xfrm>
            <a:off x="320040" y="4194048"/>
            <a:ext cx="8503920" cy="560832"/>
          </a:xfrm>
          <a:prstGeom prst="rect">
            <a:avLst/>
          </a:prstGeom>
          <a:solidFill>
            <a:srgbClr val="F5F7FA"/>
          </a:solidFill>
          <a:ln/>
        </p:spPr>
      </p:sp>
      <p:sp>
        <p:nvSpPr>
          <p:cNvPr id="34" name="Shape 32"/>
          <p:cNvSpPr/>
          <p:nvPr/>
        </p:nvSpPr>
        <p:spPr>
          <a:xfrm>
            <a:off x="320040" y="4194048"/>
            <a:ext cx="594360" cy="560832"/>
          </a:xfrm>
          <a:prstGeom prst="rect">
            <a:avLst/>
          </a:prstGeom>
          <a:solidFill>
            <a:srgbClr val="1B2A4A"/>
          </a:solidFill>
          <a:ln/>
        </p:spPr>
      </p:sp>
      <p:sp>
        <p:nvSpPr>
          <p:cNvPr id="35" name="Text 33"/>
          <p:cNvSpPr txBox="1"/>
          <p:nvPr/>
        </p:nvSpPr>
        <p:spPr>
          <a:xfrm>
            <a:off x="320040" y="419404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06</a:t>
            </a:r>
            <a:endParaRPr lang="en-US" sz="1300" dirty="0"/>
          </a:p>
        </p:txBody>
      </p:sp>
      <p:sp>
        <p:nvSpPr>
          <p:cNvPr id="36" name="Text 34"/>
          <p:cNvSpPr txBox="1"/>
          <p:nvPr/>
        </p:nvSpPr>
        <p:spPr>
          <a:xfrm>
            <a:off x="1024128" y="423976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NPV, IRR &amp; applications</a:t>
            </a:r>
            <a:endParaRPr lang="en-US" sz="1200" dirty="0"/>
          </a:p>
        </p:txBody>
      </p:sp>
      <p:sp>
        <p:nvSpPr>
          <p:cNvPr id="37" name="Text 35"/>
          <p:cNvSpPr txBox="1"/>
          <p:nvPr/>
        </p:nvSpPr>
        <p:spPr>
          <a:xfrm>
            <a:off x="1024128" y="444642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NPV decision rule · when IRR breaks · mortgage amortization · TVM archetype map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Read an interest rate three ways — required return, discount rate, opportunity cost — and back out each risk premium from a set of traded bonds.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Choose the correct mean (arithmetic, geometric, harmonic, trimmed / winsorized) for a given return-aggregation problem and justify the choice.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Distinguish money-weighted from time-weighted returns and explain why the latter is the standard for evaluating managers.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Convert any periodic return into an annualized return, an EAR, or a continuously compounded rate, and move a cash flow anywhere on a timeline.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Price a bond, value a stock with a constant- or two-stage DDM, and run both backwards to recover the market-implied return and growth rate.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What is an</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interest rate?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6  ·  Deck 1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An interest rate is simultaneously a required return, a discount rate, and an opportunity cost — three views of the same number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§2 "Interest Rates and Time Value of Money", p. 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If USD 9,500 today and USD 10,000 in one year are equivalent in value, then r = 500 / 9,500 = 5.26%.</a:t>
            </a:r>
            <a:endParaRPr lang="en-US" sz="1300" dirty="0"/>
          </a:p>
        </p:txBody>
      </p:sp>
      <p:sp>
        <p:nvSpPr>
          <p:cNvPr id="9" name="Shape 7"/>
          <p:cNvSpPr/>
          <p:nvPr/>
        </p:nvSpPr>
        <p:spPr>
          <a:xfrm>
            <a:off x="320040" y="1280160"/>
            <a:ext cx="8503920" cy="566928"/>
          </a:xfrm>
          <a:prstGeom prst="rect">
            <a:avLst/>
          </a:prstGeom>
          <a:solidFill>
            <a:srgbClr val="1B2A4A"/>
          </a:solidFill>
          <a:ln/>
        </p:spPr>
      </p:sp>
      <p:sp>
        <p:nvSpPr>
          <p:cNvPr id="10" name="Text 8"/>
          <p:cNvSpPr txBox="1"/>
          <p:nvPr/>
        </p:nvSpPr>
        <p:spPr>
          <a:xfrm>
            <a:off x="411480" y="128016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  =  (FV − PV) / PV   →   (10,000 − 9,500) / 9,500  =  5.26%</a:t>
            </a:r>
            <a:endParaRPr lang="en-US" sz="1800" dirty="0"/>
          </a:p>
        </p:txBody>
      </p:sp>
      <p:sp>
        <p:nvSpPr>
          <p:cNvPr id="11" name="Shape 9"/>
          <p:cNvSpPr/>
          <p:nvPr/>
        </p:nvSpPr>
        <p:spPr>
          <a:xfrm>
            <a:off x="320040" y="2057400"/>
            <a:ext cx="8503920" cy="658368"/>
          </a:xfrm>
          <a:prstGeom prst="rect">
            <a:avLst/>
          </a:prstGeom>
          <a:solidFill>
            <a:srgbClr val="FFFFFF"/>
          </a:solidFill>
          <a:ln/>
        </p:spPr>
      </p:sp>
      <p:sp>
        <p:nvSpPr>
          <p:cNvPr id="12" name="Shape 10"/>
          <p:cNvSpPr/>
          <p:nvPr/>
        </p:nvSpPr>
        <p:spPr>
          <a:xfrm>
            <a:off x="320040" y="2057400"/>
            <a:ext cx="91440" cy="658368"/>
          </a:xfrm>
          <a:prstGeom prst="rect">
            <a:avLst/>
          </a:prstGeom>
          <a:solidFill>
            <a:srgbClr val="E8600A"/>
          </a:solidFill>
          <a:ln/>
        </p:spPr>
      </p:sp>
      <p:sp>
        <p:nvSpPr>
          <p:cNvPr id="13" name="Text 11"/>
          <p:cNvSpPr txBox="1"/>
          <p:nvPr/>
        </p:nvSpPr>
        <p:spPr>
          <a:xfrm>
            <a:off x="502920" y="2057400"/>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4" name="Text 12"/>
          <p:cNvSpPr txBox="1"/>
          <p:nvPr/>
        </p:nvSpPr>
        <p:spPr>
          <a:xfrm>
            <a:off x="868680" y="2093976"/>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Required rate of return</a:t>
            </a:r>
            <a:endParaRPr lang="en-US" sz="1200" dirty="0"/>
          </a:p>
        </p:txBody>
      </p:sp>
      <p:sp>
        <p:nvSpPr>
          <p:cNvPr id="15" name="Text 13"/>
          <p:cNvSpPr txBox="1"/>
          <p:nvPr/>
        </p:nvSpPr>
        <p:spPr>
          <a:xfrm>
            <a:off x="868680" y="2353666"/>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MINIMUM rate an investor must receive to accept an investment. Below this rate, they walk away.</a:t>
            </a:r>
            <a:endParaRPr lang="en-US" sz="1200" dirty="0"/>
          </a:p>
        </p:txBody>
      </p:sp>
      <p:sp>
        <p:nvSpPr>
          <p:cNvPr id="16" name="Shape 14"/>
          <p:cNvSpPr/>
          <p:nvPr/>
        </p:nvSpPr>
        <p:spPr>
          <a:xfrm>
            <a:off x="320040" y="2788920"/>
            <a:ext cx="8503920" cy="658368"/>
          </a:xfrm>
          <a:prstGeom prst="rect">
            <a:avLst/>
          </a:prstGeom>
          <a:solidFill>
            <a:srgbClr val="F5F7FA"/>
          </a:solidFill>
          <a:ln/>
        </p:spPr>
      </p:sp>
      <p:sp>
        <p:nvSpPr>
          <p:cNvPr id="17" name="Shape 15"/>
          <p:cNvSpPr/>
          <p:nvPr/>
        </p:nvSpPr>
        <p:spPr>
          <a:xfrm>
            <a:off x="320040" y="2788920"/>
            <a:ext cx="91440" cy="658368"/>
          </a:xfrm>
          <a:prstGeom prst="rect">
            <a:avLst/>
          </a:prstGeom>
          <a:solidFill>
            <a:srgbClr val="E8600A"/>
          </a:solidFill>
          <a:ln/>
        </p:spPr>
      </p:sp>
      <p:sp>
        <p:nvSpPr>
          <p:cNvPr id="18" name="Text 16"/>
          <p:cNvSpPr txBox="1"/>
          <p:nvPr/>
        </p:nvSpPr>
        <p:spPr>
          <a:xfrm>
            <a:off x="502920" y="2788920"/>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9" name="Text 17"/>
          <p:cNvSpPr txBox="1"/>
          <p:nvPr/>
        </p:nvSpPr>
        <p:spPr>
          <a:xfrm>
            <a:off x="868680" y="2825496"/>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Discount rate</a:t>
            </a:r>
            <a:endParaRPr lang="en-US" sz="1200" dirty="0"/>
          </a:p>
        </p:txBody>
      </p:sp>
      <p:sp>
        <p:nvSpPr>
          <p:cNvPr id="20" name="Text 18"/>
          <p:cNvSpPr txBox="1"/>
          <p:nvPr/>
        </p:nvSpPr>
        <p:spPr>
          <a:xfrm>
            <a:off x="868680" y="3085186"/>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rate at which USD 10,000 in one year is equivalent to USD 9,500 today — the same operation run backwards.</a:t>
            </a:r>
            <a:endParaRPr lang="en-US" sz="1200" dirty="0"/>
          </a:p>
        </p:txBody>
      </p:sp>
      <p:sp>
        <p:nvSpPr>
          <p:cNvPr id="21" name="Shape 19"/>
          <p:cNvSpPr/>
          <p:nvPr/>
        </p:nvSpPr>
        <p:spPr>
          <a:xfrm>
            <a:off x="320040" y="3520440"/>
            <a:ext cx="8503920" cy="658368"/>
          </a:xfrm>
          <a:prstGeom prst="rect">
            <a:avLst/>
          </a:prstGeom>
          <a:solidFill>
            <a:srgbClr val="FFFFFF"/>
          </a:solidFill>
          <a:ln/>
        </p:spPr>
      </p:sp>
      <p:sp>
        <p:nvSpPr>
          <p:cNvPr id="22" name="Shape 20"/>
          <p:cNvSpPr/>
          <p:nvPr/>
        </p:nvSpPr>
        <p:spPr>
          <a:xfrm>
            <a:off x="320040" y="3520440"/>
            <a:ext cx="91440" cy="658368"/>
          </a:xfrm>
          <a:prstGeom prst="rect">
            <a:avLst/>
          </a:prstGeom>
          <a:solidFill>
            <a:srgbClr val="E8600A"/>
          </a:solidFill>
          <a:ln/>
        </p:spPr>
      </p:sp>
      <p:sp>
        <p:nvSpPr>
          <p:cNvPr id="23" name="Text 21"/>
          <p:cNvSpPr txBox="1"/>
          <p:nvPr/>
        </p:nvSpPr>
        <p:spPr>
          <a:xfrm>
            <a:off x="502920" y="3520440"/>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4" name="Text 22"/>
          <p:cNvSpPr txBox="1"/>
          <p:nvPr/>
        </p:nvSpPr>
        <p:spPr>
          <a:xfrm>
            <a:off x="868680" y="3557016"/>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Opportunity cost</a:t>
            </a:r>
            <a:endParaRPr lang="en-US" sz="1200" dirty="0"/>
          </a:p>
        </p:txBody>
      </p:sp>
      <p:sp>
        <p:nvSpPr>
          <p:cNvPr id="25" name="Text 23"/>
          <p:cNvSpPr txBox="1"/>
          <p:nvPr/>
        </p:nvSpPr>
        <p:spPr>
          <a:xfrm>
            <a:off x="868680" y="3816706"/>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value forgone by choosing a course of action. Spending the USD 9,500 today forgoes the 5.26% earned by saving 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Every market interest rate decomposes into a real risk-free rate plus four risk premia</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"Determinants of Interest Rates", pp. 6–7.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CFA states this decomposition additively. The ranges below are illustrative teaching anchors, not the curriculum.</a:t>
            </a:r>
            <a:endParaRPr lang="en-US" sz="1300" dirty="0"/>
          </a:p>
        </p:txBody>
      </p:sp>
      <p:sp>
        <p:nvSpPr>
          <p:cNvPr id="9" name="Shape 7"/>
          <p:cNvSpPr/>
          <p:nvPr/>
        </p:nvSpPr>
        <p:spPr>
          <a:xfrm>
            <a:off x="320040" y="1280160"/>
            <a:ext cx="8503920" cy="566928"/>
          </a:xfrm>
          <a:prstGeom prst="rect">
            <a:avLst/>
          </a:prstGeom>
          <a:solidFill>
            <a:srgbClr val="1B2A4A"/>
          </a:solidFill>
          <a:ln/>
        </p:spPr>
      </p:sp>
      <p:sp>
        <p:nvSpPr>
          <p:cNvPr id="10" name="Text 8"/>
          <p:cNvSpPr txBox="1"/>
          <p:nvPr/>
        </p:nvSpPr>
        <p:spPr>
          <a:xfrm>
            <a:off x="411480" y="128016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  =  r_real-rf  +  Inflation  +  Default  +  Liquidity  +  Maturity</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965960"/>
          <a:ext cx="8503920" cy="914400"/>
        </p:xfrm>
        <a:graphic>
          <a:graphicData uri="http://schemas.openxmlformats.org/drawingml/2006/table">
            <a:tbl>
              <a:tblPr/>
              <a:tblGrid>
                <a:gridCol w="2377440"/>
                <a:gridCol w="1645920"/>
                <a:gridCol w="4480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Component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Illustrative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compensates for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Real risk-free rate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 – 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Time preference, current vs future consumption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Inflation premium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 – 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Expected inflation over the LIFE of the bond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Default risk premium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 – 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Risk the borrower fails to pay as contracted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Liquidity premium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 – 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Loss vs fair value if you must sell quickly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Maturity premium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0.5 – 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Rising price sensitivity as maturity extends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2" name="Shape 9"/>
          <p:cNvSpPr/>
          <p:nvPr/>
        </p:nvSpPr>
        <p:spPr>
          <a:xfrm>
            <a:off x="320040" y="3703320"/>
            <a:ext cx="8503920" cy="868680"/>
          </a:xfrm>
          <a:prstGeom prst="rect">
            <a:avLst/>
          </a:prstGeom>
          <a:solidFill>
            <a:srgbClr val="FEF0E7"/>
          </a:solidFill>
          <a:ln/>
        </p:spPr>
      </p:sp>
      <p:sp>
        <p:nvSpPr>
          <p:cNvPr id="13" name="Shape 10"/>
          <p:cNvSpPr/>
          <p:nvPr/>
        </p:nvSpPr>
        <p:spPr>
          <a:xfrm>
            <a:off x="320040" y="3703320"/>
            <a:ext cx="73152" cy="868680"/>
          </a:xfrm>
          <a:prstGeom prst="rect">
            <a:avLst/>
          </a:prstGeom>
          <a:solidFill>
            <a:srgbClr val="E8600A"/>
          </a:solidFill>
          <a:ln/>
        </p:spPr>
      </p:sp>
      <p:sp>
        <p:nvSpPr>
          <p:cNvPr id="14" name="Text 11"/>
          <p:cNvSpPr txBox="1"/>
          <p:nvPr/>
        </p:nvSpPr>
        <p:spPr>
          <a:xfrm>
            <a:off x="457200" y="37490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TWO THINGS THE TABLE HIDES</a:t>
            </a:r>
            <a:endParaRPr lang="en-US" sz="1100" dirty="0"/>
          </a:p>
        </p:txBody>
      </p:sp>
      <p:sp>
        <p:nvSpPr>
          <p:cNvPr id="15" name="Text 12"/>
          <p:cNvSpPr txBox="1"/>
          <p:nvPr/>
        </p:nvSpPr>
        <p:spPr>
          <a:xfrm>
            <a:off x="457200" y="4023360"/>
            <a:ext cx="8275320" cy="502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US T-bills bear NO liquidity premium — size can be traded without moving the price. And every premium, including the real risk-free rate, moves continuously: the decomposition is a lens, never a fixed set of numbers.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CFA LM 1 Example 1 lets us back out each premium by comparing five bonds that differ on one dimension at a time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Example 1 "Determining Interest Rates", pp. 7–8.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All five promise a single payment at maturity. Inflation, liquidity and default premia are constant across horizons.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4160520" cy="914400"/>
        </p:xfrm>
        <a:graphic>
          <a:graphicData uri="http://schemas.openxmlformats.org/drawingml/2006/table">
            <a:tbl>
              <a:tblPr/>
              <a:tblGrid>
                <a:gridCol w="594360"/>
                <a:gridCol w="960120"/>
                <a:gridCol w="914400"/>
                <a:gridCol w="822960"/>
                <a:gridCol w="8686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Inv.</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Maturity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Liquidity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Default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7y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r₃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8y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8y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971800"/>
            <a:ext cx="4160520" cy="1600200"/>
          </a:xfrm>
          <a:prstGeom prst="rect">
            <a:avLst/>
          </a:prstGeom>
          <a:solidFill>
            <a:srgbClr val="FEF0E7"/>
          </a:solidFill>
          <a:ln/>
        </p:spPr>
      </p:sp>
      <p:sp>
        <p:nvSpPr>
          <p:cNvPr id="11" name="Shape 8"/>
          <p:cNvSpPr/>
          <p:nvPr/>
        </p:nvSpPr>
        <p:spPr>
          <a:xfrm>
            <a:off x="320040" y="2971800"/>
            <a:ext cx="73152" cy="1600200"/>
          </a:xfrm>
          <a:prstGeom prst="rect">
            <a:avLst/>
          </a:prstGeom>
          <a:solidFill>
            <a:srgbClr val="E8600A"/>
          </a:solidFill>
          <a:ln/>
        </p:spPr>
      </p:sp>
      <p:sp>
        <p:nvSpPr>
          <p:cNvPr id="12" name="Text 9"/>
          <p:cNvSpPr txBox="1"/>
          <p:nvPr/>
        </p:nvSpPr>
        <p:spPr>
          <a:xfrm>
            <a:off x="457200" y="30175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TECHNIQUE, NOT THE ANSWER</a:t>
            </a:r>
            <a:endParaRPr lang="en-US" sz="1100" dirty="0"/>
          </a:p>
        </p:txBody>
      </p:sp>
      <p:sp>
        <p:nvSpPr>
          <p:cNvPr id="13" name="Text 10"/>
          <p:cNvSpPr txBox="1"/>
          <p:nvPr/>
        </p:nvSpPr>
        <p:spPr>
          <a:xfrm>
            <a:off x="457200" y="3291840"/>
            <a:ext cx="3931920" cy="12344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Hold everything constant but one feature, take the difference, and the market has priced that feature for you.</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This is the whole of relative value: comparables exist so that a single variable can be isolated.</a:t>
            </a:r>
            <a:endParaRPr lang="en-US" sz="1200" dirty="0"/>
          </a:p>
        </p:txBody>
      </p:sp>
      <p:sp>
        <p:nvSpPr>
          <p:cNvPr id="14" name="Shape 11"/>
          <p:cNvSpPr/>
          <p:nvPr/>
        </p:nvSpPr>
        <p:spPr>
          <a:xfrm>
            <a:off x="4572000" y="1188720"/>
            <a:ext cx="4251960" cy="3383280"/>
          </a:xfrm>
          <a:prstGeom prst="rect">
            <a:avLst/>
          </a:prstGeom>
          <a:solidFill>
            <a:srgbClr val="FEF0E7"/>
          </a:solidFill>
          <a:ln w="9525">
            <a:solidFill>
              <a:srgbClr val="E8600A"/>
            </a:solidFill>
            <a:prstDash val="solid"/>
          </a:ln>
        </p:spPr>
      </p:sp>
      <p:sp>
        <p:nvSpPr>
          <p:cNvPr id="15" name="Text 12"/>
          <p:cNvSpPr txBox="1"/>
          <p:nvPr/>
        </p:nvSpPr>
        <p:spPr>
          <a:xfrm>
            <a:off x="4709160" y="1234440"/>
            <a:ext cx="397764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SOLUTION — READ THE PREMIA OFF THE MARKET</a:t>
            </a:r>
            <a:endParaRPr lang="en-US" sz="1100" dirty="0"/>
          </a:p>
        </p:txBody>
      </p:sp>
      <p:sp>
        <p:nvSpPr>
          <p:cNvPr id="16" name="Text 13"/>
          <p:cNvSpPr txBox="1"/>
          <p:nvPr/>
        </p:nvSpPr>
        <p:spPr>
          <a:xfrm>
            <a:off x="4709160" y="1527048"/>
            <a:ext cx="397764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Compare bonds that differ on exactly one feature to isolate each premium.</a:t>
            </a:r>
            <a:endParaRPr lang="en-US" sz="1200" dirty="0"/>
          </a:p>
        </p:txBody>
      </p:sp>
      <p:sp>
        <p:nvSpPr>
          <p:cNvPr id="17" name="Text 14"/>
          <p:cNvSpPr txBox="1"/>
          <p:nvPr/>
        </p:nvSpPr>
        <p:spPr>
          <a:xfrm>
            <a:off x="4709160" y="2039112"/>
            <a:ext cx="3977640" cy="202082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Liquidity premium: Inv 2 − Inv 1 = 2.5% − 2.0% = 0.50% (same maturity, same default)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Default premium: (Inv 5 − Inv 4) − LP = (6.5% − 4.0%) − 0.50% = 2.00%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Lower bound on r₃: Inv 2 has the same liquidity and default but is shorter ⇒ r₃ &gt; 2.50%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Upper bound on r₃: Inv 4 re-quoted with low liquidity = 4.0% + 0.50% = 4.50% ⇒ r₃ &lt; 4.50%</a:t>
            </a:r>
            <a:endParaRPr lang="en-US" sz="1200" dirty="0"/>
          </a:p>
        </p:txBody>
      </p:sp>
      <p:sp>
        <p:nvSpPr>
          <p:cNvPr id="18" name="Shape 15"/>
          <p:cNvSpPr/>
          <p:nvPr/>
        </p:nvSpPr>
        <p:spPr>
          <a:xfrm>
            <a:off x="4663440" y="4133088"/>
            <a:ext cx="4069080" cy="365760"/>
          </a:xfrm>
          <a:prstGeom prst="rect">
            <a:avLst/>
          </a:prstGeom>
          <a:solidFill>
            <a:srgbClr val="E8600A"/>
          </a:solidFill>
          <a:ln/>
        </p:spPr>
      </p:sp>
      <p:sp>
        <p:nvSpPr>
          <p:cNvPr id="19" name="Text 16"/>
          <p:cNvSpPr txBox="1"/>
          <p:nvPr/>
        </p:nvSpPr>
        <p:spPr>
          <a:xfrm>
            <a:off x="4709160" y="4133088"/>
            <a:ext cx="397764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2.50%  &lt;  r₃  &lt;  4.50%</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nominal risk-free rate is the real rate compounded with expected inflation — the additive version is only an approximation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"Determinants of Interest Rates", pp. 6–7.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Real 2% + 3% inflation: exact 5.06% vs additive 5.00%, ignorable. At 50% inflation: 53.0% vs 52.0%, not ignorable.</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(1 + r_nominal-rf)  =  (1 + r_real-rf) × (1 + π)      ≈      r_real-rf  +  π</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π = expected inflation over the horizon of the instrument. The dropped term is the cross-product r_real × π.</a:t>
            </a:r>
            <a:endParaRPr lang="en-US" sz="1100" dirty="0"/>
          </a:p>
        </p:txBody>
      </p:sp>
      <p:sp>
        <p:nvSpPr>
          <p:cNvPr id="12" name="Shape 10"/>
          <p:cNvSpPr/>
          <p:nvPr/>
        </p:nvSpPr>
        <p:spPr>
          <a:xfrm>
            <a:off x="320040" y="2286000"/>
            <a:ext cx="2743200" cy="1920240"/>
          </a:xfrm>
          <a:prstGeom prst="rect">
            <a:avLst/>
          </a:prstGeom>
          <a:solidFill>
            <a:srgbClr val="F5F7FA"/>
          </a:solidFill>
          <a:ln/>
        </p:spPr>
      </p:sp>
      <p:sp>
        <p:nvSpPr>
          <p:cNvPr id="13" name="Shape 11"/>
          <p:cNvSpPr/>
          <p:nvPr/>
        </p:nvSpPr>
        <p:spPr>
          <a:xfrm>
            <a:off x="320040" y="2286000"/>
            <a:ext cx="73152" cy="1920240"/>
          </a:xfrm>
          <a:prstGeom prst="rect">
            <a:avLst/>
          </a:prstGeom>
          <a:solidFill>
            <a:srgbClr val="1B2A4A"/>
          </a:solidFill>
          <a:ln/>
        </p:spPr>
      </p:sp>
      <p:sp>
        <p:nvSpPr>
          <p:cNvPr id="14" name="Text 12"/>
          <p:cNvSpPr txBox="1"/>
          <p:nvPr/>
        </p:nvSpPr>
        <p:spPr>
          <a:xfrm>
            <a:off x="457200" y="23317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UNITED STATES</a:t>
            </a:r>
            <a:endParaRPr lang="en-US" sz="1100" dirty="0"/>
          </a:p>
        </p:txBody>
      </p:sp>
      <p:sp>
        <p:nvSpPr>
          <p:cNvPr id="15" name="Text 13"/>
          <p:cNvSpPr txBox="1"/>
          <p:nvPr/>
        </p:nvSpPr>
        <p:spPr>
          <a:xfrm>
            <a:off x="457200" y="260604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90-day T-bill is the standard nominal risk-free proxy for USD analysis. A 90-day bill quoted at 3% is the ANNUALIZED rate — not the return earned over the 90 days.</a:t>
            </a:r>
            <a:endParaRPr lang="en-US" sz="1200" dirty="0"/>
          </a:p>
        </p:txBody>
      </p:sp>
      <p:sp>
        <p:nvSpPr>
          <p:cNvPr id="16" name="Shape 14"/>
          <p:cNvSpPr/>
          <p:nvPr/>
        </p:nvSpPr>
        <p:spPr>
          <a:xfrm>
            <a:off x="3200400" y="2286000"/>
            <a:ext cx="2743200" cy="1920240"/>
          </a:xfrm>
          <a:prstGeom prst="rect">
            <a:avLst/>
          </a:prstGeom>
          <a:solidFill>
            <a:srgbClr val="FEF0E7"/>
          </a:solidFill>
          <a:ln/>
        </p:spPr>
      </p:sp>
      <p:sp>
        <p:nvSpPr>
          <p:cNvPr id="17" name="Shape 15"/>
          <p:cNvSpPr/>
          <p:nvPr/>
        </p:nvSpPr>
        <p:spPr>
          <a:xfrm>
            <a:off x="3200400" y="2286000"/>
            <a:ext cx="73152" cy="1920240"/>
          </a:xfrm>
          <a:prstGeom prst="rect">
            <a:avLst/>
          </a:prstGeom>
          <a:solidFill>
            <a:srgbClr val="E8600A"/>
          </a:solidFill>
          <a:ln/>
        </p:spPr>
      </p:sp>
      <p:sp>
        <p:nvSpPr>
          <p:cNvPr id="18" name="Text 16"/>
          <p:cNvSpPr txBox="1"/>
          <p:nvPr/>
        </p:nvSpPr>
        <p:spPr>
          <a:xfrm>
            <a:off x="3337560" y="23317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FRANCE</a:t>
            </a:r>
            <a:endParaRPr lang="en-US" sz="1100" dirty="0"/>
          </a:p>
        </p:txBody>
      </p:sp>
      <p:sp>
        <p:nvSpPr>
          <p:cNvPr id="19" name="Text 17"/>
          <p:cNvSpPr txBox="1"/>
          <p:nvPr/>
        </p:nvSpPr>
        <p:spPr>
          <a:xfrm>
            <a:off x="3337560" y="260604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BTFs — Bons du Trésor à taux fixe et à intérêts précomptés — are negotiable fixed-rate discount Treasury bills with maturities up to one year. The eurozone short-horizon proxy.</a:t>
            </a:r>
            <a:endParaRPr lang="en-US" sz="1200" dirty="0"/>
          </a:p>
        </p:txBody>
      </p:sp>
      <p:sp>
        <p:nvSpPr>
          <p:cNvPr id="20" name="Shape 18"/>
          <p:cNvSpPr/>
          <p:nvPr/>
        </p:nvSpPr>
        <p:spPr>
          <a:xfrm>
            <a:off x="6080760" y="2286000"/>
            <a:ext cx="2743200" cy="1920240"/>
          </a:xfrm>
          <a:prstGeom prst="rect">
            <a:avLst/>
          </a:prstGeom>
          <a:solidFill>
            <a:srgbClr val="F5F7FA"/>
          </a:solidFill>
          <a:ln/>
        </p:spPr>
      </p:sp>
      <p:sp>
        <p:nvSpPr>
          <p:cNvPr id="21" name="Shape 19"/>
          <p:cNvSpPr/>
          <p:nvPr/>
        </p:nvSpPr>
        <p:spPr>
          <a:xfrm>
            <a:off x="6080760" y="2286000"/>
            <a:ext cx="73152" cy="1920240"/>
          </a:xfrm>
          <a:prstGeom prst="rect">
            <a:avLst/>
          </a:prstGeom>
          <a:solidFill>
            <a:srgbClr val="1B2A4A"/>
          </a:solidFill>
          <a:ln/>
        </p:spPr>
      </p:sp>
      <p:sp>
        <p:nvSpPr>
          <p:cNvPr id="22" name="Text 20"/>
          <p:cNvSpPr txBox="1"/>
          <p:nvPr/>
        </p:nvSpPr>
        <p:spPr>
          <a:xfrm>
            <a:off x="6217920" y="23317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JAPAN</a:t>
            </a:r>
            <a:endParaRPr lang="en-US" sz="1100" dirty="0"/>
          </a:p>
        </p:txBody>
      </p:sp>
      <p:sp>
        <p:nvSpPr>
          <p:cNvPr id="23" name="Text 21"/>
          <p:cNvSpPr txBox="1"/>
          <p:nvPr/>
        </p:nvSpPr>
        <p:spPr>
          <a:xfrm>
            <a:off x="6217920" y="260604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Japanese government issues short-term Treasury bills at 6- and 12-month maturities: the JPY short-dated risk-free proxy.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Measuring return</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6  ·  Deck 1 of 20  ·  Studio Tonton Gug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A holding-period return captures both income yield and capital gain over any single period</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Multi-period HPRs link multiplicatively: R = (1+R₁)(1+R₂)(1+R₃) − 1. CFA Example 3: +14%, −10%, −2% compounds to +0.55%, not the +2% a naive sum gives.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§3 "Rates of Return", Eq. 1 and Example 2, pp. 9–11.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HPR is the single-period building block — every multi-period measure that follows either averages or compounds HPRs.</a:t>
            </a:r>
            <a:endParaRPr lang="en-US" sz="1300" dirty="0"/>
          </a:p>
        </p:txBody>
      </p:sp>
      <p:sp>
        <p:nvSpPr>
          <p:cNvPr id="10" name="Shape 8"/>
          <p:cNvSpPr/>
          <p:nvPr/>
        </p:nvSpPr>
        <p:spPr>
          <a:xfrm>
            <a:off x="320040" y="1234440"/>
            <a:ext cx="8503920" cy="658368"/>
          </a:xfrm>
          <a:prstGeom prst="rect">
            <a:avLst/>
          </a:prstGeom>
          <a:solidFill>
            <a:srgbClr val="1B2A4A"/>
          </a:solidFill>
          <a:ln/>
        </p:spPr>
      </p:sp>
      <p:sp>
        <p:nvSpPr>
          <p:cNvPr id="11" name="Text 9"/>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  =  (P₁ − P₀ + I₁) / P₀     =     capital-gain yield  +  income yield</a:t>
            </a:r>
            <a:endParaRPr lang="en-US" sz="1800" dirty="0"/>
          </a:p>
        </p:txBody>
      </p:sp>
      <p:sp>
        <p:nvSpPr>
          <p:cNvPr id="12" name="Text 10"/>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P₀ = beginning price; P₁ = ending price; I₁ = income (dividend, coupon) received at period end.</a:t>
            </a:r>
            <a:endParaRPr lang="en-US" sz="1100" dirty="0"/>
          </a:p>
        </p:txBody>
      </p:sp>
      <p:sp>
        <p:nvSpPr>
          <p:cNvPr id="13" name="Shape 11"/>
          <p:cNvSpPr/>
          <p:nvPr/>
        </p:nvSpPr>
        <p:spPr>
          <a:xfrm>
            <a:off x="320040" y="2286000"/>
            <a:ext cx="8503920" cy="1965960"/>
          </a:xfrm>
          <a:prstGeom prst="rect">
            <a:avLst/>
          </a:prstGeom>
          <a:solidFill>
            <a:srgbClr val="FEF0E7"/>
          </a:solidFill>
          <a:ln w="9525">
            <a:solidFill>
              <a:srgbClr val="E8600A"/>
            </a:solidFill>
            <a:prstDash val="solid"/>
          </a:ln>
        </p:spPr>
      </p:sp>
      <p:sp>
        <p:nvSpPr>
          <p:cNvPr id="14" name="Text 12"/>
          <p:cNvSpPr txBox="1"/>
          <p:nvPr/>
        </p:nvSpPr>
        <p:spPr>
          <a:xfrm>
            <a:off x="457200" y="2331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1 EXAMPLE 2 — SINGLE-QUARTER EQUITY POSITION</a:t>
            </a:r>
            <a:endParaRPr lang="en-US" sz="1100" dirty="0"/>
          </a:p>
        </p:txBody>
      </p:sp>
      <p:sp>
        <p:nvSpPr>
          <p:cNvPr id="15" name="Text 13"/>
          <p:cNvSpPr txBox="1"/>
          <p:nvPr/>
        </p:nvSpPr>
        <p:spPr>
          <a:xfrm>
            <a:off x="457200" y="2624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Investor buys 100 shares at USD 34.50, receives a USD 51.55 dividend, sells at USD 30.50 one quarter later.</a:t>
            </a:r>
            <a:endParaRPr lang="en-US" sz="1200" dirty="0"/>
          </a:p>
        </p:txBody>
      </p:sp>
      <p:sp>
        <p:nvSpPr>
          <p:cNvPr id="16" name="Text 14"/>
          <p:cNvSpPr txBox="1"/>
          <p:nvPr/>
        </p:nvSpPr>
        <p:spPr>
          <a:xfrm>
            <a:off x="457200" y="313639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Cost basis: 100 × 34.50 = USD 3,450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End-of-period value + income: (100 × 30.50) + 51.55 = USD 3,101.55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HPR = (3,050 − 3,450 + 51.55) / 3,450 = −10.1%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Split it: income yield 51.55 / 3,450 = +1.49%; capital loss −400 / 3,450 = −11.59%</a:t>
            </a:r>
            <a:endParaRPr lang="en-US" sz="1050" dirty="0"/>
          </a:p>
        </p:txBody>
      </p:sp>
      <p:sp>
        <p:nvSpPr>
          <p:cNvPr id="17" name="Shape 15"/>
          <p:cNvSpPr/>
          <p:nvPr/>
        </p:nvSpPr>
        <p:spPr>
          <a:xfrm>
            <a:off x="411480" y="3813048"/>
            <a:ext cx="8321040" cy="365760"/>
          </a:xfrm>
          <a:prstGeom prst="rect">
            <a:avLst/>
          </a:prstGeom>
          <a:solidFill>
            <a:srgbClr val="E8600A"/>
          </a:solidFill>
          <a:ln/>
        </p:spPr>
      </p:sp>
      <p:sp>
        <p:nvSpPr>
          <p:cNvPr id="18" name="Text 16"/>
          <p:cNvSpPr txBox="1"/>
          <p:nvPr/>
        </p:nvSpPr>
        <p:spPr>
          <a:xfrm>
            <a:off x="457200" y="381304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HPR = −10.1%  =  +1.49% income  −  11.59% capital</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Arithmetic mean is the right estimate of NEXT period's return — and a biased overstatement of what capital actually did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§3 "Arithmetic or Mean Return" and Exhibit 2, pp. 9–10.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CFA Exhibit 2 — three annual returns of −50%, +35%, +27% on one euro of capital.</a:t>
            </a:r>
            <a:endParaRPr lang="en-US" sz="1300" dirty="0"/>
          </a:p>
        </p:txBody>
      </p:sp>
      <p:sp>
        <p:nvSpPr>
          <p:cNvPr id="9" name="Shape 7"/>
          <p:cNvSpPr/>
          <p:nvPr/>
        </p:nvSpPr>
        <p:spPr>
          <a:xfrm>
            <a:off x="320040" y="1170432"/>
            <a:ext cx="8503920" cy="548640"/>
          </a:xfrm>
          <a:prstGeom prst="rect">
            <a:avLst/>
          </a:prstGeom>
          <a:solidFill>
            <a:srgbClr val="1B2A4A"/>
          </a:solidFill>
          <a:ln/>
        </p:spPr>
      </p:sp>
      <p:sp>
        <p:nvSpPr>
          <p:cNvPr id="10" name="Text 8"/>
          <p:cNvSpPr txBox="1"/>
          <p:nvPr/>
        </p:nvSpPr>
        <p:spPr>
          <a:xfrm>
            <a:off x="411480" y="1170432"/>
            <a:ext cx="8321040" cy="54864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R̄ᵢ  =  ( R_i1 + … + R_iT ) / T   =   (−50 + 35 + 27) / 3  =  +4.00%</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828800"/>
          <a:ext cx="8503920" cy="914400"/>
        </p:xfrm>
        <a:graphic>
          <a:graphicData uri="http://schemas.openxmlformats.org/drawingml/2006/table">
            <a:tbl>
              <a:tblPr/>
              <a:tblGrid>
                <a:gridCol w="914400"/>
                <a:gridCol w="1645920"/>
                <a:gridCol w="2103120"/>
                <a:gridCol w="1920240"/>
                <a:gridCol w="19202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Year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Actual return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Actual year-end amount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At AM of +4%</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At GM of −5%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Year 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Year 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0.9500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Year 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0.6750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1.0816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0.9025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Year 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0.8573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1.1249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0.8574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Verdict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AM = +4.00%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truth = 0.8573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+0.2676 too 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GM = −5.00%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2" name="Shape 9"/>
          <p:cNvSpPr/>
          <p:nvPr/>
        </p:nvSpPr>
        <p:spPr>
          <a:xfrm>
            <a:off x="320040" y="3611880"/>
            <a:ext cx="8503920" cy="960120"/>
          </a:xfrm>
          <a:prstGeom prst="rect">
            <a:avLst/>
          </a:prstGeom>
          <a:solidFill>
            <a:srgbClr val="FEF0E7"/>
          </a:solidFill>
          <a:ln/>
        </p:spPr>
      </p:sp>
      <p:sp>
        <p:nvSpPr>
          <p:cNvPr id="13" name="Shape 10"/>
          <p:cNvSpPr/>
          <p:nvPr/>
        </p:nvSpPr>
        <p:spPr>
          <a:xfrm>
            <a:off x="320040" y="3611880"/>
            <a:ext cx="73152" cy="960120"/>
          </a:xfrm>
          <a:prstGeom prst="rect">
            <a:avLst/>
          </a:prstGeom>
          <a:solidFill>
            <a:srgbClr val="E8600A"/>
          </a:solidFill>
          <a:ln/>
        </p:spPr>
      </p:sp>
      <p:sp>
        <p:nvSpPr>
          <p:cNvPr id="14" name="Text 11"/>
          <p:cNvSpPr txBox="1"/>
          <p:nvPr/>
        </p:nvSpPr>
        <p:spPr>
          <a:xfrm>
            <a:off x="457200" y="36576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ARITHMETIC MEAN IS BIASED UP</a:t>
            </a:r>
            <a:endParaRPr lang="en-US" sz="1100" dirty="0"/>
          </a:p>
        </p:txBody>
      </p:sp>
      <p:sp>
        <p:nvSpPr>
          <p:cNvPr id="15" name="Text 12"/>
          <p:cNvSpPr txBox="1"/>
          <p:nvPr/>
        </p:nvSpPr>
        <p:spPr>
          <a:xfrm>
            <a:off x="457200" y="393192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AM assumes the same amount is invested at the start of every period. Capital does not work that way: the +35% in Year 2 is earned on EUR 0.50, not on the original EUR 1.00. The bias is zero only when every period return is identical, and it is worst when gains and losses alternate.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Geometric mean return captures the actual compound growth of one unit of capital — always ≤ arithmetic, equal only when every return is identical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§3 "Geometric Mean Return", Eq. 3, and Examples 4–5, pp. 10–13.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gap between AM and GM widens with dispersion. It is a volatility tax, and it is paid in real money.</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R̄_G  =  [ (1 + R₁)(1 + R₂) … (1 + R_T) ]^(1/T)  −  1</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Compound the GROSS factors (1+R), never the raw returns. The product must stay non-negative — a −100% period ends the series.</a:t>
            </a:r>
            <a:endParaRPr lang="en-US" sz="1100" dirty="0"/>
          </a:p>
        </p:txBody>
      </p:sp>
      <p:sp>
        <p:nvSpPr>
          <p:cNvPr id="12" name="Shape 10"/>
          <p:cNvSpPr/>
          <p:nvPr/>
        </p:nvSpPr>
        <p:spPr>
          <a:xfrm>
            <a:off x="320040" y="2377440"/>
            <a:ext cx="8503920" cy="1920240"/>
          </a:xfrm>
          <a:prstGeom prst="rect">
            <a:avLst/>
          </a:prstGeom>
          <a:solidFill>
            <a:srgbClr val="FEF0E7"/>
          </a:solidFill>
          <a:ln w="9525">
            <a:solidFill>
              <a:srgbClr val="E8600A"/>
            </a:solidFill>
            <a:prstDash val="solid"/>
          </a:ln>
        </p:spPr>
      </p:sp>
      <p:sp>
        <p:nvSpPr>
          <p:cNvPr id="13" name="Text 11"/>
          <p:cNvSpPr txBox="1"/>
          <p:nvPr/>
        </p:nvSpPr>
        <p:spPr>
          <a:xfrm>
            <a:off x="457200" y="24231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SAME SERIES AS THE PREVIOUS SLIDE:  −50%,  +35%,  +27%</a:t>
            </a:r>
            <a:endParaRPr lang="en-US" sz="1100" dirty="0"/>
          </a:p>
        </p:txBody>
      </p:sp>
      <p:sp>
        <p:nvSpPr>
          <p:cNvPr id="14" name="Text 12"/>
          <p:cNvSpPr txBox="1"/>
          <p:nvPr/>
        </p:nvSpPr>
        <p:spPr>
          <a:xfrm>
            <a:off x="457200" y="27157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Compute the geometric mean and check that it reproduces the actual EUR 0.8573 ending balance.</a:t>
            </a:r>
            <a:endParaRPr lang="en-US" sz="1200" dirty="0"/>
          </a:p>
        </p:txBody>
      </p:sp>
      <p:sp>
        <p:nvSpPr>
          <p:cNvPr id="15" name="Text 13"/>
          <p:cNvSpPr txBox="1"/>
          <p:nvPr/>
        </p:nvSpPr>
        <p:spPr>
          <a:xfrm>
            <a:off x="457200" y="3227832"/>
            <a:ext cx="8229600" cy="55778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Gross factors: (1 − 0.50) × (1 + 0.35) × (1 + 0.27) = 0.50 × 1.35 × 1.27 = 0.85725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Cube root: 0.85725^(1/3) = 0.9500  →  R̄_G = −5.00%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Check: 1.0000 × (1 − 0.05)³ = 0.8574  ✓  matches the actual balance</a:t>
            </a:r>
            <a:endParaRPr lang="en-US" sz="110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GM −5.00%  vs  AM +4.00%  →  a 9-point gap created by one −50% year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When a fixed sum of money buys a variable number of units, the correct average price is the harmonic mean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AM × HM = GM² holds exactly for two observations (12.5 × 12.0 = 12.2474²). For larger samples AM ≥ GM ≥ HM still holds — the product identity does not.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§3 "The Harmonic Mean", Eq. 4, Examples 6–7, pp. 14–17.</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Prices applied to a FIXED cash amount → harmonic. Returns applied to capital → geometric. Quantities → arithmetic.</a:t>
            </a:r>
            <a:endParaRPr lang="en-US" sz="1300" dirty="0"/>
          </a:p>
        </p:txBody>
      </p:sp>
      <p:sp>
        <p:nvSpPr>
          <p:cNvPr id="10" name="Shape 8"/>
          <p:cNvSpPr/>
          <p:nvPr/>
        </p:nvSpPr>
        <p:spPr>
          <a:xfrm>
            <a:off x="320040" y="1143000"/>
            <a:ext cx="8503920" cy="548640"/>
          </a:xfrm>
          <a:prstGeom prst="rect">
            <a:avLst/>
          </a:prstGeom>
          <a:solidFill>
            <a:srgbClr val="1B2A4A"/>
          </a:solidFill>
          <a:ln/>
        </p:spPr>
      </p:sp>
      <p:sp>
        <p:nvSpPr>
          <p:cNvPr id="11" name="Text 9"/>
          <p:cNvSpPr txBox="1"/>
          <p:nvPr/>
        </p:nvSpPr>
        <p:spPr>
          <a:xfrm>
            <a:off x="411480" y="1143000"/>
            <a:ext cx="8321040" cy="54864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X̄_H  =  n / Σᵢ (1 / Xᵢ)        AM ≥ GM ≥ HM  (equal iff all Xᵢ equal)</a:t>
            </a:r>
            <a:endParaRPr lang="en-US" sz="1800" dirty="0"/>
          </a:p>
        </p:txBody>
      </p:sp>
      <p:sp>
        <p:nvSpPr>
          <p:cNvPr id="12" name="Shape 10"/>
          <p:cNvSpPr/>
          <p:nvPr/>
        </p:nvSpPr>
        <p:spPr>
          <a:xfrm>
            <a:off x="320040" y="1755648"/>
            <a:ext cx="8503920" cy="1874520"/>
          </a:xfrm>
          <a:prstGeom prst="rect">
            <a:avLst/>
          </a:prstGeom>
          <a:solidFill>
            <a:srgbClr val="FEF0E7"/>
          </a:solidFill>
          <a:ln w="9525">
            <a:solidFill>
              <a:srgbClr val="E8600A"/>
            </a:solidFill>
            <a:prstDash val="solid"/>
          </a:ln>
        </p:spPr>
      </p:sp>
      <p:sp>
        <p:nvSpPr>
          <p:cNvPr id="13" name="Text 11"/>
          <p:cNvSpPr txBox="1"/>
          <p:nvPr/>
        </p:nvSpPr>
        <p:spPr>
          <a:xfrm>
            <a:off x="457200" y="1801368"/>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1 EXAMPLE 6 — COST AVERAGING</a:t>
            </a:r>
            <a:endParaRPr lang="en-US" sz="1100" dirty="0"/>
          </a:p>
        </p:txBody>
      </p:sp>
      <p:sp>
        <p:nvSpPr>
          <p:cNvPr id="14" name="Text 12"/>
          <p:cNvSpPr txBox="1"/>
          <p:nvPr/>
        </p:nvSpPr>
        <p:spPr>
          <a:xfrm>
            <a:off x="457200" y="2093976"/>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An investor puts EUR 1,000 into the same stock each month for two months. Share prices: EUR 10, then EUR 15.</a:t>
            </a:r>
            <a:endParaRPr lang="en-US" sz="1200" dirty="0"/>
          </a:p>
        </p:txBody>
      </p:sp>
      <p:sp>
        <p:nvSpPr>
          <p:cNvPr id="15" name="Text 13"/>
          <p:cNvSpPr txBox="1"/>
          <p:nvPr/>
        </p:nvSpPr>
        <p:spPr>
          <a:xfrm>
            <a:off x="457200" y="2606040"/>
            <a:ext cx="8229600" cy="51206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Month 1: 1,000 / 10 = 100.00 shares.   Month 2: 1,000 / 15 = 66.67 shares.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Total: 166.67 shares for EUR 2,000  →  average price actually paid = 2,000 / 166.67 = EUR 12.00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Harmonic mean of the prices: 2 / (1/10 + 1/15) = EUR 12.00  ✓  the arithmetic mean would say EUR 12.50</a:t>
            </a:r>
            <a:endParaRPr lang="en-US" sz="1100" dirty="0"/>
          </a:p>
        </p:txBody>
      </p:sp>
      <p:sp>
        <p:nvSpPr>
          <p:cNvPr id="16" name="Shape 14"/>
          <p:cNvSpPr/>
          <p:nvPr/>
        </p:nvSpPr>
        <p:spPr>
          <a:xfrm>
            <a:off x="411480" y="3191256"/>
            <a:ext cx="8321040" cy="365760"/>
          </a:xfrm>
          <a:prstGeom prst="rect">
            <a:avLst/>
          </a:prstGeom>
          <a:solidFill>
            <a:srgbClr val="E8600A"/>
          </a:solidFill>
          <a:ln/>
        </p:spPr>
      </p:sp>
      <p:sp>
        <p:nvSpPr>
          <p:cNvPr id="17" name="Text 15"/>
          <p:cNvSpPr txBox="1"/>
          <p:nvPr/>
        </p:nvSpPr>
        <p:spPr>
          <a:xfrm>
            <a:off x="457200" y="3191256"/>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HM 12.00  &lt;  AM 12.50 — the fixed cash amount buys MORE shares when prices are low</a:t>
            </a:r>
            <a:endParaRPr lang="en-US" sz="1150" dirty="0"/>
          </a:p>
        </p:txBody>
      </p:sp>
      <p:sp>
        <p:nvSpPr>
          <p:cNvPr id="18" name="Shape 16"/>
          <p:cNvSpPr/>
          <p:nvPr/>
        </p:nvSpPr>
        <p:spPr>
          <a:xfrm>
            <a:off x="320040" y="3703320"/>
            <a:ext cx="8503920" cy="731520"/>
          </a:xfrm>
          <a:prstGeom prst="rect">
            <a:avLst/>
          </a:prstGeom>
          <a:solidFill>
            <a:srgbClr val="FEF0E7"/>
          </a:solidFill>
          <a:ln/>
        </p:spPr>
      </p:sp>
      <p:sp>
        <p:nvSpPr>
          <p:cNvPr id="19" name="Shape 17"/>
          <p:cNvSpPr/>
          <p:nvPr/>
        </p:nvSpPr>
        <p:spPr>
          <a:xfrm>
            <a:off x="320040" y="3703320"/>
            <a:ext cx="73152" cy="731520"/>
          </a:xfrm>
          <a:prstGeom prst="rect">
            <a:avLst/>
          </a:prstGeom>
          <a:solidFill>
            <a:srgbClr val="E8600A"/>
          </a:solidFill>
          <a:ln/>
        </p:spPr>
      </p:sp>
      <p:sp>
        <p:nvSpPr>
          <p:cNvPr id="20" name="Text 18"/>
          <p:cNvSpPr txBox="1"/>
          <p:nvPr/>
        </p:nvSpPr>
        <p:spPr>
          <a:xfrm>
            <a:off x="457200" y="37490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SAME LOGIC PRICES A MULTIPLE</a:t>
            </a:r>
            <a:endParaRPr lang="en-US" sz="1100" dirty="0"/>
          </a:p>
        </p:txBody>
      </p:sp>
      <p:sp>
        <p:nvSpPr>
          <p:cNvPr id="21" name="Text 19"/>
          <p:cNvSpPr txBox="1"/>
          <p:nvPr/>
        </p:nvSpPr>
        <p:spPr>
          <a:xfrm>
            <a:off x="457200" y="4023360"/>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CFA Example 7 — ten stocks whose P/Es average 12.15 arithmetically have a harmonic mean P/E of 10.81 (geometric 11.43). An index P/E divides total price by total earnings, which is exactly this weighting.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Trimmed and winsorized means survive an outlier that would drag the arithmetic mean anywhere it liked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Naming: dropping one of ten from each tail is a 10% trim per tail. A "5% trimmed mean" conventionally discards the lowest and highest 2.5%.
</a:t>
            </a:r>
            <a:pPr indent="0" marL="0">
              <a:buNone/>
            </a:pPr>
            <a:r>
              <a:rPr lang="en-US" sz="1000" dirty="0">
                <a:solidFill>
                  <a:srgbClr val="6B7A8D"/>
                </a:solidFill>
                <a:latin typeface="Calibri" pitchFamily="34" charset="0"/>
                <a:ea typeface="Calibri" pitchFamily="34" charset="-122"/>
                <a:cs typeface="Calibri" pitchFamily="34" charset="-120"/>
              </a:rPr>
              <a:t>² Base series (%): 4.5, 6.0, 1.5, −2.0, 0.0, 4.5, 3.5, 2.5, 5.5, 4.0. CFA-confirmed AM 3.00%, GM 2.9717%.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§3, pp. 17–18; return series from the LM 1 Question Set, Exhibit 9, p. 18.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Trimmed = delete the tails. Winsorized = replace them with the nearest surviving value. Both keep the centre honest.</a:t>
            </a:r>
            <a:endParaRPr lang="en-US" sz="1300" dirty="0"/>
          </a:p>
        </p:txBody>
      </p:sp>
      <p:sp>
        <p:nvSpPr>
          <p:cNvPr id="10" name="Shape 8"/>
          <p:cNvSpPr/>
          <p:nvPr/>
        </p:nvSpPr>
        <p:spPr>
          <a:xfrm>
            <a:off x="320040" y="1143000"/>
            <a:ext cx="4160520" cy="1078992"/>
          </a:xfrm>
          <a:prstGeom prst="rect">
            <a:avLst/>
          </a:prstGeom>
          <a:solidFill>
            <a:srgbClr val="FEF0E7"/>
          </a:solidFill>
          <a:ln/>
        </p:spPr>
      </p:sp>
      <p:sp>
        <p:nvSpPr>
          <p:cNvPr id="11" name="Shape 9"/>
          <p:cNvSpPr/>
          <p:nvPr/>
        </p:nvSpPr>
        <p:spPr>
          <a:xfrm>
            <a:off x="320040" y="1143000"/>
            <a:ext cx="73152" cy="1078992"/>
          </a:xfrm>
          <a:prstGeom prst="rect">
            <a:avLst/>
          </a:prstGeom>
          <a:solidFill>
            <a:srgbClr val="E8600A"/>
          </a:solidFill>
          <a:ln/>
        </p:spPr>
      </p:sp>
      <p:sp>
        <p:nvSpPr>
          <p:cNvPr id="12" name="Text 10"/>
          <p:cNvSpPr txBox="1"/>
          <p:nvPr/>
        </p:nvSpPr>
        <p:spPr>
          <a:xfrm>
            <a:off x="457200" y="1188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TRIMMED MEAN</a:t>
            </a:r>
            <a:endParaRPr lang="en-US" sz="1100" dirty="0"/>
          </a:p>
        </p:txBody>
      </p:sp>
      <p:sp>
        <p:nvSpPr>
          <p:cNvPr id="13" name="Text 11"/>
          <p:cNvSpPr txBox="1"/>
          <p:nvPr/>
        </p:nvSpPr>
        <p:spPr>
          <a:xfrm>
            <a:off x="457200" y="1463040"/>
            <a:ext cx="3931920" cy="71323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Remove a defined percentage of the largest and smallest observations, then take the arithmetic mean of what is left. The outlier contributes nothing at all.</a:t>
            </a:r>
            <a:endParaRPr lang="en-US" sz="1200" dirty="0"/>
          </a:p>
        </p:txBody>
      </p:sp>
      <p:sp>
        <p:nvSpPr>
          <p:cNvPr id="14" name="Shape 12"/>
          <p:cNvSpPr/>
          <p:nvPr/>
        </p:nvSpPr>
        <p:spPr>
          <a:xfrm>
            <a:off x="4663440" y="1143000"/>
            <a:ext cx="4160520" cy="1078992"/>
          </a:xfrm>
          <a:prstGeom prst="rect">
            <a:avLst/>
          </a:prstGeom>
          <a:solidFill>
            <a:srgbClr val="F5F7FA"/>
          </a:solidFill>
          <a:ln/>
        </p:spPr>
      </p:sp>
      <p:sp>
        <p:nvSpPr>
          <p:cNvPr id="15" name="Shape 13"/>
          <p:cNvSpPr/>
          <p:nvPr/>
        </p:nvSpPr>
        <p:spPr>
          <a:xfrm>
            <a:off x="4663440" y="1143000"/>
            <a:ext cx="73152" cy="1078992"/>
          </a:xfrm>
          <a:prstGeom prst="rect">
            <a:avLst/>
          </a:prstGeom>
          <a:solidFill>
            <a:srgbClr val="1B2A4A"/>
          </a:solidFill>
          <a:ln/>
        </p:spPr>
      </p:sp>
      <p:sp>
        <p:nvSpPr>
          <p:cNvPr id="16" name="Text 14"/>
          <p:cNvSpPr txBox="1"/>
          <p:nvPr/>
        </p:nvSpPr>
        <p:spPr>
          <a:xfrm>
            <a:off x="4800600" y="1188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WINSORIZED MEAN</a:t>
            </a:r>
            <a:endParaRPr lang="en-US" sz="1100" dirty="0"/>
          </a:p>
        </p:txBody>
      </p:sp>
      <p:sp>
        <p:nvSpPr>
          <p:cNvPr id="17" name="Text 15"/>
          <p:cNvSpPr txBox="1"/>
          <p:nvPr/>
        </p:nvSpPr>
        <p:spPr>
          <a:xfrm>
            <a:off x="4800600" y="1463040"/>
            <a:ext cx="3931920" cy="71323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Keep every observation but replace the extremes at both ends with the value of their nearest surviving neighbour. The outlier still votes — just quietly.</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2359152"/>
          <a:ext cx="8503920" cy="914400"/>
        </p:xfrm>
        <a:graphic>
          <a:graphicData uri="http://schemas.openxmlformats.org/drawingml/2006/table">
            <a:tbl>
              <a:tblPr/>
              <a:tblGrid>
                <a:gridCol w="2377440"/>
                <a:gridCol w="3383280"/>
                <a:gridCol w="1280160"/>
                <a:gridCol w="1463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Measure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How it is built (10 annual returns)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Base case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Year 4 at −40%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Arithmetic mean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all 10 observations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Geometric mean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compound all 10 gross factors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2.97%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−1.96%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Trimmed mean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drop 1 high and 1 low, average the 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Winsorized mean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tails replaced by nearest kept value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Money-weighted return measures what the investor earned; time-weighted return measures what the manager did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Annualization trap: take a root only when each linked return spans a full year. CFA Example 10 — a 4-month and an 8-month return link to 21.03%, no root.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§4 "Money-Weighted and Time-Weighted Return", Eqs. 5–6, pp. 19–25.</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MWR is an IRR on the investor's cash flows. TWR compounds sub-period returns, which makes cash-flow timing irrelevant.</a:t>
            </a:r>
            <a:endParaRPr lang="en-US" sz="1300" dirty="0"/>
          </a:p>
        </p:txBody>
      </p:sp>
      <p:sp>
        <p:nvSpPr>
          <p:cNvPr id="10" name="Shape 8"/>
          <p:cNvSpPr/>
          <p:nvPr/>
        </p:nvSpPr>
        <p:spPr>
          <a:xfrm>
            <a:off x="320040" y="1234440"/>
            <a:ext cx="8503920" cy="658368"/>
          </a:xfrm>
          <a:prstGeom prst="rect">
            <a:avLst/>
          </a:prstGeom>
          <a:solidFill>
            <a:srgbClr val="1B2A4A"/>
          </a:solidFill>
          <a:ln/>
        </p:spPr>
      </p:sp>
      <p:sp>
        <p:nvSpPr>
          <p:cNvPr id="11" name="Text 9"/>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MWR:  Σ CFₜ / (1 + MWR)ᵗ = 0          TWR:  1 + R_TW = (1+R₁)(1+R₂)…(1+R_n)</a:t>
            </a:r>
            <a:endParaRPr lang="en-US" sz="1800" dirty="0"/>
          </a:p>
        </p:txBody>
      </p:sp>
      <p:sp>
        <p:nvSpPr>
          <p:cNvPr id="12" name="Text 10"/>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R_t = return of the sub-period between cash flows; CFₜ = net investor cash flow (money in negative, money out positive). Across N years: R_TW = [Π(1+R_year)]^(1/N) − 1.</a:t>
            </a:r>
            <a:endParaRPr lang="en-US" sz="1100" dirty="0"/>
          </a:p>
        </p:txBody>
      </p:sp>
      <p:sp>
        <p:nvSpPr>
          <p:cNvPr id="13" name="Shape 11"/>
          <p:cNvSpPr/>
          <p:nvPr/>
        </p:nvSpPr>
        <p:spPr>
          <a:xfrm>
            <a:off x="320040" y="2331720"/>
            <a:ext cx="4160520" cy="1920240"/>
          </a:xfrm>
          <a:prstGeom prst="rect">
            <a:avLst/>
          </a:prstGeom>
          <a:solidFill>
            <a:srgbClr val="FEF0E7"/>
          </a:solidFill>
          <a:ln/>
        </p:spPr>
      </p:sp>
      <p:sp>
        <p:nvSpPr>
          <p:cNvPr id="14" name="Shape 12"/>
          <p:cNvSpPr/>
          <p:nvPr/>
        </p:nvSpPr>
        <p:spPr>
          <a:xfrm>
            <a:off x="320040" y="2331720"/>
            <a:ext cx="73152" cy="1920240"/>
          </a:xfrm>
          <a:prstGeom prst="rect">
            <a:avLst/>
          </a:prstGeom>
          <a:solidFill>
            <a:srgbClr val="E8600A"/>
          </a:solidFill>
          <a:ln/>
        </p:spPr>
      </p:sp>
      <p:sp>
        <p:nvSpPr>
          <p:cNvPr id="15" name="Text 13"/>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MONEY-WEIGHTED RETURN (MWR)</a:t>
            </a:r>
            <a:endParaRPr lang="en-US" sz="1100" dirty="0"/>
          </a:p>
        </p:txBody>
      </p:sp>
      <p:sp>
        <p:nvSpPr>
          <p:cNvPr id="16" name="Text 14"/>
          <p:cNvSpPr txBox="1"/>
          <p:nvPr/>
        </p:nvSpPr>
        <p:spPr>
          <a:xfrm>
            <a:off x="4572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An IRR. Weights every sub-period by the capital actually at work, so it is the return the INVESTOR experienced given her deposits and withdrawals.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Right metric for personal wealth, and for any vehicle where the manager controls the drawdown of capital — private equity, infrastructure, real estate.</a:t>
            </a:r>
            <a:endParaRPr lang="en-US" sz="1200" dirty="0"/>
          </a:p>
        </p:txBody>
      </p:sp>
      <p:sp>
        <p:nvSpPr>
          <p:cNvPr id="17" name="Shape 15"/>
          <p:cNvSpPr/>
          <p:nvPr/>
        </p:nvSpPr>
        <p:spPr>
          <a:xfrm>
            <a:off x="4663440" y="2331720"/>
            <a:ext cx="4160520" cy="1920240"/>
          </a:xfrm>
          <a:prstGeom prst="rect">
            <a:avLst/>
          </a:prstGeom>
          <a:solidFill>
            <a:srgbClr val="F5F7FA"/>
          </a:solidFill>
          <a:ln/>
        </p:spPr>
      </p:sp>
      <p:sp>
        <p:nvSpPr>
          <p:cNvPr id="18" name="Shape 16"/>
          <p:cNvSpPr/>
          <p:nvPr/>
        </p:nvSpPr>
        <p:spPr>
          <a:xfrm>
            <a:off x="4663440" y="2331720"/>
            <a:ext cx="73152" cy="1920240"/>
          </a:xfrm>
          <a:prstGeom prst="rect">
            <a:avLst/>
          </a:prstGeom>
          <a:solidFill>
            <a:srgbClr val="1B2A4A"/>
          </a:solidFill>
          <a:ln/>
        </p:spPr>
      </p:sp>
      <p:sp>
        <p:nvSpPr>
          <p:cNvPr id="19" name="Text 17"/>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TIME-WEIGHTED RETURN (TWR)</a:t>
            </a:r>
            <a:endParaRPr lang="en-US" sz="1100" dirty="0"/>
          </a:p>
        </p:txBody>
      </p:sp>
      <p:sp>
        <p:nvSpPr>
          <p:cNvPr id="20" name="Text 18"/>
          <p:cNvSpPr txBox="1"/>
          <p:nvPr/>
        </p:nvSpPr>
        <p:spPr>
          <a:xfrm>
            <a:off x="48006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compound growth of one unit invested at the start, built by linking sub-period returns. Neutral to the timing and size of cash flows.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The preferred measure for evaluating PORTFOLIO MANAGERS, because additions and withdrawals are outside their control.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One portfolio, two defensible answers — the gap is entirely explained by when the money was at work</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"Money-Weighted Return for a Dividend-Paying Stock" and "Computing Time-Weighted Returns", pp. 20–24.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Buy one share, buy a second a year later, sell both at the end of year two. Dividends of USD 5 per share per year, not reinvested.</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234440"/>
          <a:ext cx="8503920" cy="914400"/>
        </p:xfrm>
        <a:graphic>
          <a:graphicData uri="http://schemas.openxmlformats.org/drawingml/2006/table">
            <a:tbl>
              <a:tblPr/>
              <a:tblGrid>
                <a:gridCol w="868680"/>
                <a:gridCol w="4343400"/>
                <a:gridCol w="192024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Time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happens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Net investor cash flow</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Sub-period HPR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 = 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Buy 1 share at USD 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 = 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Dividend USD 5; buy a 2nd share at USD 225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 = 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Dividends USD 10; sell both shares at 235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+6.67%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423160"/>
            <a:ext cx="8503920" cy="2148840"/>
          </a:xfrm>
          <a:prstGeom prst="rect">
            <a:avLst/>
          </a:prstGeom>
          <a:solidFill>
            <a:srgbClr val="FEF0E7"/>
          </a:solidFill>
          <a:ln w="9525">
            <a:solidFill>
              <a:srgbClr val="E8600A"/>
            </a:solidFill>
            <a:prstDash val="solid"/>
          </a:ln>
        </p:spPr>
      </p:sp>
      <p:sp>
        <p:nvSpPr>
          <p:cNvPr id="11" name="Text 8"/>
          <p:cNvSpPr txBox="1"/>
          <p:nvPr/>
        </p:nvSpPr>
        <p:spPr>
          <a:xfrm>
            <a:off x="457200" y="246888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TIME-WEIGHTED vs MONEY-WEIGHTED, SAME DATA</a:t>
            </a:r>
            <a:endParaRPr lang="en-US" sz="1100" dirty="0"/>
          </a:p>
        </p:txBody>
      </p:sp>
      <p:sp>
        <p:nvSpPr>
          <p:cNvPr id="12" name="Text 9"/>
          <p:cNvSpPr txBox="1"/>
          <p:nvPr/>
        </p:nvSpPr>
        <p:spPr>
          <a:xfrm>
            <a:off x="457200" y="276148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Year 1 HPR = (5 + 225 − 200) / 200 = 15.00%.   Year 2 HPR = (10 + 470 − 450) / 450 = 6.67%.</a:t>
            </a:r>
            <a:endParaRPr lang="en-US" sz="1200" dirty="0"/>
          </a:p>
        </p:txBody>
      </p:sp>
      <p:sp>
        <p:nvSpPr>
          <p:cNvPr id="13" name="Text 10"/>
          <p:cNvSpPr txBox="1"/>
          <p:nvPr/>
        </p:nvSpPr>
        <p:spPr>
          <a:xfrm>
            <a:off x="457200" y="3273552"/>
            <a:ext cx="8229600" cy="78638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TWR = [(1.15)(1.0667)]^(1/2) − 1 = 10.76% per year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MWR solves −200 − 220/(1+r) + 480/(1+r)² = 0  →  r = 9.39% per year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Why MWR is lower: USD 450 was at work during the weak year (6.67%), only USD 200 during the strong one (15%)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Reverse the timing — big money in the good year — and MWR would sit ABOVE TWR. The direction is not a rule</a:t>
            </a:r>
            <a:endParaRPr lang="en-US" sz="1100" dirty="0"/>
          </a:p>
        </p:txBody>
      </p:sp>
      <p:sp>
        <p:nvSpPr>
          <p:cNvPr id="14" name="Shape 11"/>
          <p:cNvSpPr/>
          <p:nvPr/>
        </p:nvSpPr>
        <p:spPr>
          <a:xfrm>
            <a:off x="411480" y="4133088"/>
            <a:ext cx="8321040" cy="365760"/>
          </a:xfrm>
          <a:prstGeom prst="rect">
            <a:avLst/>
          </a:prstGeom>
          <a:solidFill>
            <a:srgbClr val="E8600A"/>
          </a:solidFill>
          <a:ln/>
        </p:spPr>
      </p:sp>
      <p:sp>
        <p:nvSpPr>
          <p:cNvPr id="15" name="Text 12"/>
          <p:cNvSpPr txBox="1"/>
          <p:nvPr/>
        </p:nvSpPr>
        <p:spPr>
          <a:xfrm>
            <a:off x="457200" y="41330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TWR 10.76% grades the manager  ·  MWR 9.39% is what the investor actually earned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Annualizing returns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6  ·  Deck 1 of 20  ·  Studio Tonton Gug</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Annualize by compounding the period return through a full year — and note that the compounding frequency itself changes the answer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Annualizing assumes the period return repeats. A 5% week annualizes to 1,164.3% (= 1.05⁵² − 1). Use it to compare, never to forecast.
</a:t>
            </a:r>
            <a:pPr indent="0" marL="0">
              <a:buNone/>
            </a:pPr>
            <a:r>
              <a:rPr lang="en-US" sz="1000" dirty="0">
                <a:solidFill>
                  <a:srgbClr val="6B7A8D"/>
                </a:solidFill>
                <a:latin typeface="Calibri" pitchFamily="34" charset="0"/>
                <a:ea typeface="Calibri" pitchFamily="34" charset="-122"/>
                <a:cs typeface="Calibri" pitchFamily="34" charset="-120"/>
              </a:rPr>
              <a:t>² CFA Example 13 — 4.61%/146 days = 11.93% p.a.; 1.10%/5 weeks = 12.05%; 14.35%/15 months = 11.32%. The smallest periodic return compounds most often.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§5 "Annualized Return", Eqs. 7–9 and Examples 12–13, pp. 29–32.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stated (nominal) rate is a quoting convention. The EAR is what the money actually does in a year.</a:t>
            </a:r>
            <a:endParaRPr lang="en-US" sz="1300" dirty="0"/>
          </a:p>
        </p:txBody>
      </p:sp>
      <p:sp>
        <p:nvSpPr>
          <p:cNvPr id="10" name="Shape 8"/>
          <p:cNvSpPr/>
          <p:nvPr/>
        </p:nvSpPr>
        <p:spPr>
          <a:xfrm>
            <a:off x="320040" y="1170432"/>
            <a:ext cx="8503920" cy="621792"/>
          </a:xfrm>
          <a:prstGeom prst="rect">
            <a:avLst/>
          </a:prstGeom>
          <a:solidFill>
            <a:srgbClr val="1B2A4A"/>
          </a:solidFill>
          <a:ln/>
        </p:spPr>
      </p:sp>
      <p:sp>
        <p:nvSpPr>
          <p:cNvPr id="11" name="Text 9"/>
          <p:cNvSpPr txBox="1"/>
          <p:nvPr/>
        </p:nvSpPr>
        <p:spPr>
          <a:xfrm>
            <a:off x="411480" y="1170432"/>
            <a:ext cx="8321040" cy="62179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R_annual = (1 + R_period)^c − 1              EAR = (1 + r_s / m)^m − 1</a:t>
            </a:r>
            <a:endParaRPr lang="en-US" sz="1800" dirty="0"/>
          </a:p>
        </p:txBody>
      </p:sp>
      <p:sp>
        <p:nvSpPr>
          <p:cNvPr id="12" name="Text 10"/>
          <p:cNvSpPr txBox="1"/>
          <p:nvPr/>
        </p:nvSpPr>
        <p:spPr>
          <a:xfrm>
            <a:off x="320040" y="181965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 = periods per year (52 weekly, 12 monthly, 2/3 for an 18-month return); m = compounding periods per year; r_s = quoted rate.</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2194560"/>
          <a:ext cx="8503920" cy="914400"/>
        </p:xfrm>
        <a:graphic>
          <a:graphicData uri="http://schemas.openxmlformats.org/drawingml/2006/table">
            <a:tbl>
              <a:tblPr/>
              <a:tblGrid>
                <a:gridCol w="2011680"/>
                <a:gridCol w="914400"/>
                <a:gridCol w="2011680"/>
                <a:gridCol w="173736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Compounding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Rate per period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EAR (r_s = 6%)</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EAR (r_s = 12%)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Annual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Semi-annual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6.0900%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12.3600%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Quarterly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6.1364%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12.5509%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Monthly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6.1678%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12.6825%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Daily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0.016438%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6.1831%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12.7475%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Continuous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limit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6.1837%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12.7497%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Continuous compounding is the limit as frequency → ∞, and its returns ADD across time instead of compounding</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§5 "Continuously Compounded Returns", Eqs. 10–13, p. 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Additivity is the whole point — it is why option models, log-return series and any non-integer horizon use this convention.</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FV  =  PV × e^(r_cc × n)        r_cc  =  ln(1 + R)  =  ln(P₁ / P₀)</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r_cc ≤ R always, because ln(1+x) ≤ x. Over many periods r_(0,T) = r_(0,1) + r_(1,2) + … + r_(T−1,T) — a sum, not a product.</a:t>
            </a:r>
            <a:endParaRPr lang="en-US" sz="1100" dirty="0"/>
          </a:p>
        </p:txBody>
      </p:sp>
      <p:sp>
        <p:nvSpPr>
          <p:cNvPr id="12" name="Shape 10"/>
          <p:cNvSpPr/>
          <p:nvPr/>
        </p:nvSpPr>
        <p:spPr>
          <a:xfrm>
            <a:off x="320040" y="2331720"/>
            <a:ext cx="2743200" cy="1920240"/>
          </a:xfrm>
          <a:prstGeom prst="rect">
            <a:avLst/>
          </a:prstGeom>
          <a:solidFill>
            <a:srgbClr val="F5F7FA"/>
          </a:solidFill>
          <a:ln/>
        </p:spPr>
      </p:sp>
      <p:sp>
        <p:nvSpPr>
          <p:cNvPr id="13" name="Shape 11"/>
          <p:cNvSpPr/>
          <p:nvPr/>
        </p:nvSpPr>
        <p:spPr>
          <a:xfrm>
            <a:off x="320040" y="2331720"/>
            <a:ext cx="73152" cy="1920240"/>
          </a:xfrm>
          <a:prstGeom prst="rect">
            <a:avLst/>
          </a:prstGeom>
          <a:solidFill>
            <a:srgbClr val="1B2A4A"/>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DISCRETE → CONTINUOUS</a:t>
            </a:r>
            <a:endParaRPr lang="en-US" sz="1100" dirty="0"/>
          </a:p>
        </p:txBody>
      </p:sp>
      <p:sp>
        <p:nvSpPr>
          <p:cNvPr id="15" name="Text 13"/>
          <p:cNvSpPr txBox="1"/>
          <p:nvPr/>
        </p:nvSpPr>
        <p:spPr>
          <a:xfrm>
            <a:off x="45720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12% holding-period return is a continuously compounded return of ln(1.12) = 11.33%.</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 smaller number describing exactly the same amount of money.</a:t>
            </a:r>
            <a:endParaRPr lang="en-US" sz="1200" dirty="0"/>
          </a:p>
        </p:txBody>
      </p:sp>
      <p:sp>
        <p:nvSpPr>
          <p:cNvPr id="16" name="Shape 14"/>
          <p:cNvSpPr/>
          <p:nvPr/>
        </p:nvSpPr>
        <p:spPr>
          <a:xfrm>
            <a:off x="3200400" y="2331720"/>
            <a:ext cx="2743200" cy="1920240"/>
          </a:xfrm>
          <a:prstGeom prst="rect">
            <a:avLst/>
          </a:prstGeom>
          <a:solidFill>
            <a:srgbClr val="FEF0E7"/>
          </a:solidFill>
          <a:ln/>
        </p:spPr>
      </p:sp>
      <p:sp>
        <p:nvSpPr>
          <p:cNvPr id="17" name="Shape 15"/>
          <p:cNvSpPr/>
          <p:nvPr/>
        </p:nvSpPr>
        <p:spPr>
          <a:xfrm>
            <a:off x="3200400" y="2331720"/>
            <a:ext cx="73152" cy="1920240"/>
          </a:xfrm>
          <a:prstGeom prst="rect">
            <a:avLst/>
          </a:prstGeom>
          <a:solidFill>
            <a:srgbClr val="E8600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CONTINUOUS → DISCRETE</a:t>
            </a:r>
            <a:endParaRPr lang="en-US" sz="1100" dirty="0"/>
          </a:p>
        </p:txBody>
      </p:sp>
      <p:sp>
        <p:nvSpPr>
          <p:cNvPr id="19" name="Text 17"/>
          <p:cNvSpPr txBox="1"/>
          <p:nvPr/>
        </p:nvSpPr>
        <p:spPr>
          <a:xfrm>
            <a:off x="333756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10% continuously compounded rate corresponds to a discrete annual return of e^0.10 − 1 = 10.52%.</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Pick one convention per model and never mix.</a:t>
            </a:r>
            <a:endParaRPr lang="en-US" sz="1200" dirty="0"/>
          </a:p>
        </p:txBody>
      </p:sp>
      <p:sp>
        <p:nvSpPr>
          <p:cNvPr id="20" name="Shape 18"/>
          <p:cNvSpPr/>
          <p:nvPr/>
        </p:nvSpPr>
        <p:spPr>
          <a:xfrm>
            <a:off x="6080760" y="2331720"/>
            <a:ext cx="2743200" cy="1920240"/>
          </a:xfrm>
          <a:prstGeom prst="rect">
            <a:avLst/>
          </a:prstGeom>
          <a:solidFill>
            <a:srgbClr val="F5F7FA"/>
          </a:solidFill>
          <a:ln/>
        </p:spPr>
      </p:sp>
      <p:sp>
        <p:nvSpPr>
          <p:cNvPr id="21" name="Shape 19"/>
          <p:cNvSpPr/>
          <p:nvPr/>
        </p:nvSpPr>
        <p:spPr>
          <a:xfrm>
            <a:off x="6080760" y="2331720"/>
            <a:ext cx="73152" cy="1920240"/>
          </a:xfrm>
          <a:prstGeom prst="rect">
            <a:avLst/>
          </a:prstGeom>
          <a:solidFill>
            <a:srgbClr val="1B2A4A"/>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STRAIGHT FROM PRICES</a:t>
            </a:r>
            <a:endParaRPr lang="en-US" sz="1100" dirty="0"/>
          </a:p>
        </p:txBody>
      </p:sp>
      <p:sp>
        <p:nvSpPr>
          <p:cNvPr id="23" name="Text 21"/>
          <p:cNvSpPr txBox="1"/>
          <p:nvPr/>
        </p:nvSpPr>
        <p:spPr>
          <a:xfrm>
            <a:off x="621792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r_cc = ln(P₁/P₀). Buy at USD 30, worth USD 34.50: ln(34.50/30) = 13.98%, against a 15.00% holding-period return.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No income term needed — the price relative does the work.</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Gross, net, after-tax, real and leveraged returns are five progressively adjusted views of one identical asset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§6 "Other Major Return Measures", Eq. 15 and Examples 14–15, pp. 33–37.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Assumptions: 0.85% fees, 30% tax on income and realised gains, 2.5% inflation, 50% debt costing 4%.</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1170432"/>
          <a:ext cx="8503920" cy="914400"/>
        </p:xfrm>
        <a:graphic>
          <a:graphicData uri="http://schemas.openxmlformats.org/drawingml/2006/table">
            <a:tbl>
              <a:tblPr/>
              <a:tblGrid>
                <a:gridCol w="2194560"/>
                <a:gridCol w="493776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Measure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is deducted, and in which order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Result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Gross return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nothing; trading commissions ARE already deducted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Net return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− 0.85% management and administrative expenses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After-tax nominal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− 30% tax on income and realised gains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5.01%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Real return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(1 + 2.5% inflation), applied AFTER tax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Leveraged return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 debt at 4%:  8.00 + 1.00 × (8.00 − 4.00)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926080"/>
            <a:ext cx="8503920" cy="548640"/>
          </a:xfrm>
          <a:prstGeom prst="rect">
            <a:avLst/>
          </a:prstGeom>
          <a:solidFill>
            <a:srgbClr val="1B2A4A"/>
          </a:solidFill>
          <a:ln/>
        </p:spPr>
      </p:sp>
      <p:sp>
        <p:nvSpPr>
          <p:cNvPr id="11" name="Text 8"/>
          <p:cNvSpPr txBox="1"/>
          <p:nvPr/>
        </p:nvSpPr>
        <p:spPr>
          <a:xfrm>
            <a:off x="411480" y="2926080"/>
            <a:ext cx="8321040" cy="54864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R_L  =  R_P  +  (V_B / V_E) × (R_P − r_D)</a:t>
            </a:r>
            <a:endParaRPr lang="en-US" sz="1800" dirty="0"/>
          </a:p>
        </p:txBody>
      </p:sp>
      <p:sp>
        <p:nvSpPr>
          <p:cNvPr id="12" name="Text 9"/>
          <p:cNvSpPr txBox="1"/>
          <p:nvPr/>
        </p:nvSpPr>
        <p:spPr>
          <a:xfrm>
            <a:off x="320040" y="350215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V_B = debt, V_E = equity, r_D = cost of debt. Leverage adds value only while R_P &gt; r_D.</a:t>
            </a:r>
            <a:endParaRPr lang="en-US" sz="1100" dirty="0"/>
          </a:p>
        </p:txBody>
      </p:sp>
      <p:sp>
        <p:nvSpPr>
          <p:cNvPr id="13" name="Shape 10"/>
          <p:cNvSpPr/>
          <p:nvPr/>
        </p:nvSpPr>
        <p:spPr>
          <a:xfrm>
            <a:off x="320040" y="3794760"/>
            <a:ext cx="8503920" cy="777240"/>
          </a:xfrm>
          <a:prstGeom prst="rect">
            <a:avLst/>
          </a:prstGeom>
          <a:solidFill>
            <a:srgbClr val="FEF0E7"/>
          </a:solidFill>
          <a:ln/>
        </p:spPr>
      </p:sp>
      <p:sp>
        <p:nvSpPr>
          <p:cNvPr id="14" name="Shape 11"/>
          <p:cNvSpPr/>
          <p:nvPr/>
        </p:nvSpPr>
        <p:spPr>
          <a:xfrm>
            <a:off x="320040" y="3794760"/>
            <a:ext cx="73152" cy="777240"/>
          </a:xfrm>
          <a:prstGeom prst="rect">
            <a:avLst/>
          </a:prstGeom>
          <a:solidFill>
            <a:srgbClr val="E8600A"/>
          </a:solidFill>
          <a:ln/>
        </p:spPr>
      </p:sp>
      <p:sp>
        <p:nvSpPr>
          <p:cNvPr id="15" name="Text 12"/>
          <p:cNvSpPr txBox="1"/>
          <p:nvPr/>
        </p:nvSpPr>
        <p:spPr>
          <a:xfrm>
            <a:off x="457200" y="38404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LEVERAGE IS SYMMETRIC</a:t>
            </a:r>
            <a:endParaRPr lang="en-US" sz="1100" dirty="0"/>
          </a:p>
        </p:txBody>
      </p:sp>
      <p:sp>
        <p:nvSpPr>
          <p:cNvPr id="16" name="Text 13"/>
          <p:cNvSpPr txBox="1"/>
          <p:nvPr/>
        </p:nvSpPr>
        <p:spPr>
          <a:xfrm>
            <a:off x="457200" y="4114800"/>
            <a:ext cx="8275320" cy="411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same 50% debt that turns +8% into +12% turns −4% into −12%. Leverage never reduces risk; it redistributes outcomes. (CFA's milder case: 30% debt at 5% lifts 8% to 9.29%.)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Future value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6  ·  Deck 1 of 20  ·  Studio Tonton Gug</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future value of a single cash flow is PV grown by (1+r) over n periods — every other TVM formula is built from this one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2, §2, Eqs. 1–2, pp. 46–47.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Annuities, perpetuities, bond prices and DDMs are all just sums of this expression applied at different dates.</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FV_n  =  PV × (1 + r)ⁿ        FV_cont  =  PV × e^(r × n)</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PV = present value; r = rate PER PERIOD; n = number of PERIODS. r and n must be measured in the same unit — this is non-negotiable.</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CASH-FLOW TIMELINE — ALWAYS DRAW ONE</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Deposit GBP 10,000 today (t = 0) at 5% per year, compounded annually. What is the balance after 10 years?</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PV = 10,000;  r = 5%;  n = 10.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(1.05)^10 = 1.62889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FV = 10,000 × 1.62889 = GBP 16,288.95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Sense check: at 5% money doubles in about 14 years, so ~1.63× after 10 is right.</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GBP 16,289  —  a 62.9% total gain from 5.00% per year</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Compounding frequency materially changes the outcome even when the nominal rate never moves</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1, "Non-annual Compounding", Eq. 7 and Example 11, pp. 29–30; LM 2, Eq. 2, p. 46.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GBP 1,000 invested for 5 years at a 12% nominal rate. Annual to continuous is worth 3.4% of final value.</a:t>
            </a:r>
            <a:endParaRPr lang="en-US" sz="1300" dirty="0"/>
          </a:p>
        </p:txBody>
      </p:sp>
      <p:sp>
        <p:nvSpPr>
          <p:cNvPr id="9" name="Shape 7"/>
          <p:cNvSpPr/>
          <p:nvPr/>
        </p:nvSpPr>
        <p:spPr>
          <a:xfrm>
            <a:off x="320040" y="1188720"/>
            <a:ext cx="8503920" cy="566928"/>
          </a:xfrm>
          <a:prstGeom prst="rect">
            <a:avLst/>
          </a:prstGeom>
          <a:solidFill>
            <a:srgbClr val="1B2A4A"/>
          </a:solidFill>
          <a:ln/>
        </p:spPr>
      </p:sp>
      <p:sp>
        <p:nvSpPr>
          <p:cNvPr id="10" name="Text 8"/>
          <p:cNvSpPr txBox="1"/>
          <p:nvPr/>
        </p:nvSpPr>
        <p:spPr>
          <a:xfrm>
            <a:off x="411480" y="118872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FV = PV × (1 + r_s/m)^(m × n)        FV_cont = PV × e^(r_s × n)</a:t>
            </a:r>
            <a:endParaRPr lang="en-US" sz="1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920240"/>
          <a:ext cx="8503920" cy="914400"/>
        </p:xfrm>
        <a:graphic>
          <a:graphicData uri="http://schemas.openxmlformats.org/drawingml/2006/table">
            <a:tbl>
              <a:tblPr/>
              <a:tblGrid>
                <a:gridCol w="2103120"/>
                <a:gridCol w="914400"/>
                <a:gridCol w="1828800"/>
                <a:gridCol w="182880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Compounding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Periods (m × 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FV after 5 years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Uplift vs annual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Annual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GBP 1,762.34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Semi-annual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GBP 1,790.85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+28.51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Quarterly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GBP 1,806.11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+43.77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Monthly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GBP 1,816.70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+54.36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Daily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GBP 1,821.94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+59.60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Continuous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GBP 1,822.12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+59.78  (+3.4%)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future value of a level annuity is a closed-form sum of compounded payments — the core arithmetic of retirement planning</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2, §2 "Annuity Instruments", Eq. 8, p. 54; annuity FV form from the TVM pre-reads.</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Ordinary annuity = payments at period END. Annuity due = payments at START — multiply the ordinary result by (1 + r).</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FV_annuity  =  PMT × [ ((1 + r)ⁿ − 1) / r ]</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PMT = level payment; r = rate per period; n = number of payments. The bracketed term is the future-value annuity factor.</a:t>
            </a:r>
            <a:endParaRPr lang="en-US" sz="1100" dirty="0"/>
          </a:p>
        </p:txBody>
      </p:sp>
      <p:sp>
        <p:nvSpPr>
          <p:cNvPr id="12" name="Shape 10"/>
          <p:cNvSpPr/>
          <p:nvPr/>
        </p:nvSpPr>
        <p:spPr>
          <a:xfrm>
            <a:off x="320040" y="2377440"/>
            <a:ext cx="8503920" cy="1920240"/>
          </a:xfrm>
          <a:prstGeom prst="rect">
            <a:avLst/>
          </a:prstGeom>
          <a:solidFill>
            <a:srgbClr val="FEF0E7"/>
          </a:solidFill>
          <a:ln w="9525">
            <a:solidFill>
              <a:srgbClr val="E8600A"/>
            </a:solidFill>
            <a:prstDash val="solid"/>
          </a:ln>
        </p:spPr>
      </p:sp>
      <p:sp>
        <p:nvSpPr>
          <p:cNvPr id="13" name="Text 11"/>
          <p:cNvSpPr txBox="1"/>
          <p:nvPr/>
        </p:nvSpPr>
        <p:spPr>
          <a:xfrm>
            <a:off x="457200" y="24231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RETIREMENT-SAVINGS EXAMPLE</a:t>
            </a:r>
            <a:endParaRPr lang="en-US" sz="1100" dirty="0"/>
          </a:p>
        </p:txBody>
      </p:sp>
      <p:sp>
        <p:nvSpPr>
          <p:cNvPr id="14" name="Text 12"/>
          <p:cNvSpPr txBox="1"/>
          <p:nvPr/>
        </p:nvSpPr>
        <p:spPr>
          <a:xfrm>
            <a:off x="457200" y="27157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Save GBP 10,000 at the end of every year for 20 years, in an account paying 6% per year.</a:t>
            </a:r>
            <a:endParaRPr lang="en-US" sz="1200" dirty="0"/>
          </a:p>
        </p:txBody>
      </p:sp>
      <p:sp>
        <p:nvSpPr>
          <p:cNvPr id="15" name="Text 13"/>
          <p:cNvSpPr txBox="1"/>
          <p:nvPr/>
        </p:nvSpPr>
        <p:spPr>
          <a:xfrm>
            <a:off x="457200" y="3227832"/>
            <a:ext cx="8229600" cy="55778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PMT = 10,000;  r = 6%;  n = 20.   (1.06)^20 = 3.20714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Annuity factor = (3.20714 − 1) / 0.06 = 36.7856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FV = 10,000 × 36.7856 = GBP 367,856   of which GBP 200,000 is principal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Pay at the START of each year instead: × 1.06 = GBP 389,927. One year of timing is worth GBP 22,071.</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GBP 367,856 ordinary  ·  GBP 389,927 annuity due  ·  compound interest = GBP 167,856</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Present value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6  ·  Deck 1 of 20  ·  Studio Tonton Gug</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Present value is future value discounted at r — and any stream of cash flows is worth the sum of its discounted parts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2, §2 Eqs. 3–5, pp. 46–48; §4 "Cash Flow Additivity", pp. 69–70.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discount factor 1/(1+r)ⁿ is the only thing being applied anywhere in this section. Learn to read it as a price.</a:t>
            </a:r>
            <a:endParaRPr lang="en-US" sz="1300" dirty="0"/>
          </a:p>
        </p:txBody>
      </p:sp>
      <p:sp>
        <p:nvSpPr>
          <p:cNvPr id="9" name="Shape 7"/>
          <p:cNvSpPr/>
          <p:nvPr/>
        </p:nvSpPr>
        <p:spPr>
          <a:xfrm>
            <a:off x="320040" y="1170432"/>
            <a:ext cx="8503920" cy="621792"/>
          </a:xfrm>
          <a:prstGeom prst="rect">
            <a:avLst/>
          </a:prstGeom>
          <a:solidFill>
            <a:srgbClr val="1B2A4A"/>
          </a:solidFill>
          <a:ln/>
        </p:spPr>
      </p:sp>
      <p:sp>
        <p:nvSpPr>
          <p:cNvPr id="10" name="Text 8"/>
          <p:cNvSpPr txBox="1"/>
          <p:nvPr/>
        </p:nvSpPr>
        <p:spPr>
          <a:xfrm>
            <a:off x="411480" y="1170432"/>
            <a:ext cx="8321040" cy="62179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  =  FV_n  /  (1 + r)ⁿ  =  FV_n × (1 + r)^(−n)</a:t>
            </a:r>
            <a:endParaRPr lang="en-US" sz="1800" dirty="0"/>
          </a:p>
        </p:txBody>
      </p:sp>
      <p:sp>
        <p:nvSpPr>
          <p:cNvPr id="11" name="Text 9"/>
          <p:cNvSpPr txBox="1"/>
          <p:nvPr/>
        </p:nvSpPr>
        <p:spPr>
          <a:xfrm>
            <a:off x="320040" y="181965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Move money BACKWARDS on the timeline by dividing by the compounding factor. Continuous equivalent: PV = FV × e^(−r n).</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2148840"/>
          <a:ext cx="4160520" cy="914400"/>
        </p:xfrm>
        <a:graphic>
          <a:graphicData uri="http://schemas.openxmlformats.org/drawingml/2006/table">
            <a:tbl>
              <a:tblPr/>
              <a:tblGrid>
                <a:gridCol w="1417320"/>
                <a:gridCol w="137160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Horizon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DF at 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PV of GBP 100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year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0.9524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95.24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years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0.7835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78.35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 years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0.6139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 years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0.3769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37.69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30 years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0.2314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320040" y="3867912"/>
            <a:ext cx="4160520" cy="621792"/>
          </a:xfrm>
          <a:prstGeom prst="rect">
            <a:avLst/>
          </a:prstGeom>
          <a:noFill/>
          <a:ln/>
        </p:spPr>
        <p:txBody>
          <a:bodyPr wrap="square" lIns="508" tIns="508" rIns="508" bIns="508" rtlCol="0" anchor="t">
            <a:normAutofit/>
            <a:spAutoFit/>
          </a:bodyPr>
          <a:lstStyle/>
          <a:p>
            <a:pPr algn="l" indent="0" marL="0">
              <a:buNone/>
            </a:pPr>
            <a:r>
              <a:rPr lang="en-US" sz="1100" i="1" dirty="0">
                <a:solidFill>
                  <a:srgbClr val="6B7A8D"/>
                </a:solidFill>
                <a:latin typeface="Calibri" pitchFamily="34" charset="0"/>
                <a:ea typeface="Calibri" pitchFamily="34" charset="-122"/>
                <a:cs typeface="Calibri" pitchFamily="34" charset="-120"/>
              </a:rPr>
              <a:t>At 5% a cash flow loses half its value every 14.2 years. At 10%, every 7.3. This single fact is why terminal value dominates almost every DCF you will build.</a:t>
            </a:r>
            <a:endParaRPr lang="en-US" sz="1100" dirty="0"/>
          </a:p>
        </p:txBody>
      </p:sp>
      <p:sp>
        <p:nvSpPr>
          <p:cNvPr id="14" name="Shape 11"/>
          <p:cNvSpPr/>
          <p:nvPr/>
        </p:nvSpPr>
        <p:spPr>
          <a:xfrm>
            <a:off x="4663440" y="2148840"/>
            <a:ext cx="4160520" cy="2377440"/>
          </a:xfrm>
          <a:prstGeom prst="rect">
            <a:avLst/>
          </a:prstGeom>
          <a:solidFill>
            <a:srgbClr val="FEF0E7"/>
          </a:solidFill>
          <a:ln/>
        </p:spPr>
      </p:sp>
      <p:sp>
        <p:nvSpPr>
          <p:cNvPr id="15" name="Shape 12"/>
          <p:cNvSpPr/>
          <p:nvPr/>
        </p:nvSpPr>
        <p:spPr>
          <a:xfrm>
            <a:off x="4663440" y="2148840"/>
            <a:ext cx="73152" cy="2377440"/>
          </a:xfrm>
          <a:prstGeom prst="rect">
            <a:avLst/>
          </a:prstGeom>
          <a:solidFill>
            <a:srgbClr val="E8600A"/>
          </a:solidFill>
          <a:ln/>
        </p:spPr>
      </p:sp>
      <p:sp>
        <p:nvSpPr>
          <p:cNvPr id="16" name="Text 13"/>
          <p:cNvSpPr txBox="1"/>
          <p:nvPr/>
        </p:nvSpPr>
        <p:spPr>
          <a:xfrm>
            <a:off x="4800600" y="219456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CASH-FLOW ADDITIVITY</a:t>
            </a:r>
            <a:endParaRPr lang="en-US" sz="1100" dirty="0"/>
          </a:p>
        </p:txBody>
      </p:sp>
      <p:sp>
        <p:nvSpPr>
          <p:cNvPr id="17" name="Text 14"/>
          <p:cNvSpPr txBox="1"/>
          <p:nvPr/>
        </p:nvSpPr>
        <p:spPr>
          <a:xfrm>
            <a:off x="4800600" y="2468880"/>
            <a:ext cx="3931920" cy="20116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Cash flows indexed to the same date can be added. So the present value of any stream is simply the sum of the present values of its parts.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That is what forces no-arbitrage: two strategies with identical dated cash flows must carry identical prices, or a riskless profit exists.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CFA Example 12 — GBP 45 / 45 / 45 and GBP 60 / 40 / 32.35 against the same GBP 100 outlay at 10% both have PV = GBP 11.91. Different shapes, identical value.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Annuities and perpetuities have closed-form present values that collapse an entire cash-flow stream into one number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2, §2 Eqs. 7–8 and Example 4 (KB Financial perpetual), pp. 53–54.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perpetuity is an annuity with n → ∞: the (1+r)^(−n) term vanishes and the factor collapses to 1/r.</a:t>
            </a:r>
            <a:endParaRPr lang="en-US" sz="1300" dirty="0"/>
          </a:p>
        </p:txBody>
      </p:sp>
      <p:sp>
        <p:nvSpPr>
          <p:cNvPr id="9" name="Shape 7"/>
          <p:cNvSpPr/>
          <p:nvPr/>
        </p:nvSpPr>
        <p:spPr>
          <a:xfrm>
            <a:off x="320040" y="1188720"/>
            <a:ext cx="4160520" cy="3108960"/>
          </a:xfrm>
          <a:prstGeom prst="rect">
            <a:avLst/>
          </a:prstGeom>
          <a:solidFill>
            <a:srgbClr val="F5F7FA"/>
          </a:solidFill>
          <a:ln/>
        </p:spPr>
      </p:sp>
      <p:sp>
        <p:nvSpPr>
          <p:cNvPr id="10" name="Text 8"/>
          <p:cNvSpPr txBox="1"/>
          <p:nvPr/>
        </p:nvSpPr>
        <p:spPr>
          <a:xfrm>
            <a:off x="457200" y="128016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PV OF AN ORDINARY ANNUITY</a:t>
            </a:r>
            <a:endParaRPr lang="en-US" sz="1100" dirty="0"/>
          </a:p>
        </p:txBody>
      </p:sp>
      <p:sp>
        <p:nvSpPr>
          <p:cNvPr id="11" name="Shape 9"/>
          <p:cNvSpPr/>
          <p:nvPr/>
        </p:nvSpPr>
        <p:spPr>
          <a:xfrm>
            <a:off x="457200" y="1600200"/>
            <a:ext cx="3886200" cy="658368"/>
          </a:xfrm>
          <a:prstGeom prst="rect">
            <a:avLst/>
          </a:prstGeom>
          <a:solidFill>
            <a:srgbClr val="1B2A4A"/>
          </a:solidFill>
          <a:ln/>
        </p:spPr>
      </p:sp>
      <p:sp>
        <p:nvSpPr>
          <p:cNvPr id="12" name="Text 10"/>
          <p:cNvSpPr txBox="1"/>
          <p:nvPr/>
        </p:nvSpPr>
        <p:spPr>
          <a:xfrm>
            <a:off x="548640" y="1600200"/>
            <a:ext cx="370332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  =  PMT × [ 1 − (1+r)^(−n) ] / r</a:t>
            </a:r>
            <a:endParaRPr lang="en-US" sz="1800" dirty="0"/>
          </a:p>
        </p:txBody>
      </p:sp>
      <p:sp>
        <p:nvSpPr>
          <p:cNvPr id="13" name="Text 11"/>
          <p:cNvSpPr txBox="1"/>
          <p:nvPr/>
        </p:nvSpPr>
        <p:spPr>
          <a:xfrm>
            <a:off x="502920" y="2377440"/>
            <a:ext cx="3794760" cy="182880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GBP 10,000 a year for 20 years at 6%:</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factor = [1 − 1.06⁻²⁰] / 0.06 = 11.4699</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PV = 10,000 × 11.4699 = GBP 114,699</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Read the factor as "years of payment you are actually buying" — 20 payments, but only 11.5 years' worth of value.</a:t>
            </a:r>
            <a:endParaRPr lang="en-US" sz="1150" dirty="0"/>
          </a:p>
        </p:txBody>
      </p:sp>
      <p:sp>
        <p:nvSpPr>
          <p:cNvPr id="14" name="Shape 12"/>
          <p:cNvSpPr/>
          <p:nvPr/>
        </p:nvSpPr>
        <p:spPr>
          <a:xfrm>
            <a:off x="4663440" y="1188720"/>
            <a:ext cx="4160520" cy="3108960"/>
          </a:xfrm>
          <a:prstGeom prst="rect">
            <a:avLst/>
          </a:prstGeom>
          <a:solidFill>
            <a:srgbClr val="FEF0E7"/>
          </a:solidFill>
          <a:ln/>
        </p:spPr>
      </p:sp>
      <p:sp>
        <p:nvSpPr>
          <p:cNvPr id="15" name="Shape 13"/>
          <p:cNvSpPr/>
          <p:nvPr/>
        </p:nvSpPr>
        <p:spPr>
          <a:xfrm>
            <a:off x="4663440" y="1188720"/>
            <a:ext cx="73152" cy="3108960"/>
          </a:xfrm>
          <a:prstGeom prst="rect">
            <a:avLst/>
          </a:prstGeom>
          <a:solidFill>
            <a:srgbClr val="E8600A"/>
          </a:solidFill>
          <a:ln/>
        </p:spPr>
      </p:sp>
      <p:sp>
        <p:nvSpPr>
          <p:cNvPr id="16" name="Text 14"/>
          <p:cNvSpPr txBox="1"/>
          <p:nvPr/>
        </p:nvSpPr>
        <p:spPr>
          <a:xfrm>
            <a:off x="4800600" y="128016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PV OF A PERPETUITY</a:t>
            </a:r>
            <a:endParaRPr lang="en-US" sz="1100" dirty="0"/>
          </a:p>
        </p:txBody>
      </p:sp>
      <p:sp>
        <p:nvSpPr>
          <p:cNvPr id="17" name="Shape 15"/>
          <p:cNvSpPr/>
          <p:nvPr/>
        </p:nvSpPr>
        <p:spPr>
          <a:xfrm>
            <a:off x="4800600" y="1600200"/>
            <a:ext cx="3886200" cy="658368"/>
          </a:xfrm>
          <a:prstGeom prst="rect">
            <a:avLst/>
          </a:prstGeom>
          <a:solidFill>
            <a:srgbClr val="1B2A4A"/>
          </a:solidFill>
          <a:ln/>
        </p:spPr>
      </p:sp>
      <p:sp>
        <p:nvSpPr>
          <p:cNvPr id="18" name="Text 16"/>
          <p:cNvSpPr txBox="1"/>
          <p:nvPr/>
        </p:nvSpPr>
        <p:spPr>
          <a:xfrm>
            <a:off x="4892040" y="1600200"/>
            <a:ext cx="370332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  =  PMT  /  r</a:t>
            </a:r>
            <a:endParaRPr lang="en-US" sz="1800" dirty="0"/>
          </a:p>
        </p:txBody>
      </p:sp>
      <p:sp>
        <p:nvSpPr>
          <p:cNvPr id="19" name="Text 17"/>
          <p:cNvSpPr txBox="1"/>
          <p:nvPr/>
        </p:nvSpPr>
        <p:spPr>
          <a:xfrm>
            <a:off x="4846320" y="2377440"/>
            <a:ext cx="3794760" cy="182880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A perpetual bond paying GBP 50 a year at 5%:</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PV = 50 / 0.05 = GBP 1,000</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Run it backwards to get the yield. CFA Example 4 — KB Financial's perpetual pays KRW 0.825 a quarter and trades at KRW 97.03, so r = 0.825/97.03 = 0.85% per quarter, or 3.40% annualized.</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discount bond is a single present-value calculation — and its price accretes to par purely by the passage of time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Compound the same 6.70% semiannually (40 periods at 3.35%) and the price falls to INR 26.77. The compounding convention is part of the price.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2, §2 Example 1 (Republic of India discount bond) and Example 3, pp. 48–52.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US, UK and India all let investors buy individual stripped coupon or principal cash flows. That is all a discount bond is.</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PV(discount bond)  =  FV_t  /  (1 + r)ᵗ</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No coupon, so the entire return is the pull from PV up to FV. Here annual compounding is assumed, so t is simply the number of years.</a:t>
            </a:r>
            <a:endParaRPr lang="en-US" sz="1100" dirty="0"/>
          </a:p>
        </p:txBody>
      </p:sp>
      <p:sp>
        <p:nvSpPr>
          <p:cNvPr id="13" name="Shape 11"/>
          <p:cNvSpPr/>
          <p:nvPr/>
        </p:nvSpPr>
        <p:spPr>
          <a:xfrm>
            <a:off x="320040" y="2194560"/>
            <a:ext cx="8503920" cy="2103120"/>
          </a:xfrm>
          <a:prstGeom prst="rect">
            <a:avLst/>
          </a:prstGeom>
          <a:solidFill>
            <a:srgbClr val="FEF0E7"/>
          </a:solidFill>
          <a:ln w="9525">
            <a:solidFill>
              <a:srgbClr val="E8600A"/>
            </a:solidFill>
            <a:prstDash val="solid"/>
          </a:ln>
        </p:spPr>
      </p:sp>
      <p:sp>
        <p:nvSpPr>
          <p:cNvPr id="14" name="Text 12"/>
          <p:cNvSpPr txBox="1"/>
          <p:nvPr/>
        </p:nvSpPr>
        <p:spPr>
          <a:xfrm>
            <a:off x="457200" y="224028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2 EXAMPLE 1 — 20-YEAR REPUBLIC OF INDIA PRINCIPAL STRIP</a:t>
            </a:r>
            <a:endParaRPr lang="en-US" sz="1100" dirty="0"/>
          </a:p>
        </p:txBody>
      </p:sp>
      <p:sp>
        <p:nvSpPr>
          <p:cNvPr id="15" name="Text 13"/>
          <p:cNvSpPr txBox="1"/>
          <p:nvPr/>
        </p:nvSpPr>
        <p:spPr>
          <a:xfrm>
            <a:off x="457200" y="253288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single principal cash flow of INR 100 payable in 20 years, issued when the YTM was 6.70%.</a:t>
            </a:r>
            <a:endParaRPr lang="en-US" sz="1200" dirty="0"/>
          </a:p>
        </p:txBody>
      </p:sp>
      <p:sp>
        <p:nvSpPr>
          <p:cNvPr id="16" name="Text 14"/>
          <p:cNvSpPr txBox="1"/>
          <p:nvPr/>
        </p:nvSpPr>
        <p:spPr>
          <a:xfrm>
            <a:off x="457200" y="3044952"/>
            <a:ext cx="8229600" cy="74066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(1.067)²⁰ = 3.6584   ⇒   PV = 100 / 3.6584 = INR 27.33 per INR 100 of principal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Three years later, yields unchanged: PV = 100 / (1.067)¹⁷ = INR 33.21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The INR 5.88 gain is accrued interest, not a windfall — a positive r pulls PV up towards FV as t shrinks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Now move the yield instead: at a price of INR 22.68, r = (100/22.68)^(1/20) − 1 = 7.70% — a 100bp rise costs INR 4.65</a:t>
            </a:r>
            <a:endParaRPr lang="en-US" sz="110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INR 27.33 today  ·  INR 33.21 in three years at constant yields  ·  INR 22.68 if yields rise 100bp</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When the coupon equals the YTM a bond prices at par — the moment the market demands more, the price must fall</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2, §2 Example 2 (Hellenic Republic annual coupon bond), p. 51; §3 Example 9, p. 64.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Coupon &lt; YTM ⇒ discount.  Coupon &gt; YTM ⇒ premium.  Coupon = YTM ⇒ par. That is the whole of bond-pricing intuition.</a:t>
            </a:r>
            <a:endParaRPr lang="en-US" sz="1300" dirty="0"/>
          </a:p>
        </p:txBody>
      </p:sp>
      <p:sp>
        <p:nvSpPr>
          <p:cNvPr id="9" name="Shape 7"/>
          <p:cNvSpPr/>
          <p:nvPr/>
        </p:nvSpPr>
        <p:spPr>
          <a:xfrm>
            <a:off x="320040" y="1170432"/>
            <a:ext cx="8503920" cy="2148840"/>
          </a:xfrm>
          <a:prstGeom prst="rect">
            <a:avLst/>
          </a:prstGeom>
          <a:solidFill>
            <a:srgbClr val="FEF0E7"/>
          </a:solidFill>
          <a:ln w="9525">
            <a:solidFill>
              <a:srgbClr val="E8600A"/>
            </a:solidFill>
            <a:prstDash val="solid"/>
          </a:ln>
        </p:spPr>
      </p:sp>
      <p:sp>
        <p:nvSpPr>
          <p:cNvPr id="10" name="Text 8"/>
          <p:cNvSpPr txBox="1"/>
          <p:nvPr/>
        </p:nvSpPr>
        <p:spPr>
          <a:xfrm>
            <a:off x="457200" y="121615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2 EXAMPLE 2 — HELLENIC REPUBLIC 2.00% ANNUAL COUPON, 7 YEARS</a:t>
            </a:r>
            <a:endParaRPr lang="en-US" sz="1100" dirty="0"/>
          </a:p>
        </p:txBody>
      </p:sp>
      <p:sp>
        <p:nvSpPr>
          <p:cNvPr id="11" name="Text 9"/>
          <p:cNvSpPr txBox="1"/>
          <p:nvPr/>
        </p:nvSpPr>
        <p:spPr>
          <a:xfrm>
            <a:off x="457200" y="150876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Greece issued a 2.00% annual-coupon bond maturing in seven years, at an observed YTM of 2.00%.</a:t>
            </a:r>
            <a:endParaRPr lang="en-US" sz="1200" dirty="0"/>
          </a:p>
        </p:txBody>
      </p:sp>
      <p:sp>
        <p:nvSpPr>
          <p:cNvPr id="12" name="Text 10"/>
          <p:cNvSpPr txBox="1"/>
          <p:nvPr/>
        </p:nvSpPr>
        <p:spPr>
          <a:xfrm>
            <a:off x="457200" y="2020824"/>
            <a:ext cx="8229600" cy="78638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PV = Σ 2/(1.02)ᵗ for t = 1…7, plus 100/(1.02)⁷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PV of the seven coupons = EUR 12.94;  PV of the EUR 100 principal = EUR 87.06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Total = EUR 100.00 — coupon equals YTM, so the bond prices exactly at par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Later, with five years remaining, it traded at EUR 93.091. Solving for r gives a YTM of 3.532%</a:t>
            </a:r>
            <a:endParaRPr lang="en-US" sz="1100" dirty="0"/>
          </a:p>
        </p:txBody>
      </p:sp>
      <p:sp>
        <p:nvSpPr>
          <p:cNvPr id="13" name="Shape 11"/>
          <p:cNvSpPr/>
          <p:nvPr/>
        </p:nvSpPr>
        <p:spPr>
          <a:xfrm>
            <a:off x="411480" y="2880360"/>
            <a:ext cx="8321040" cy="365760"/>
          </a:xfrm>
          <a:prstGeom prst="rect">
            <a:avLst/>
          </a:prstGeom>
          <a:solidFill>
            <a:srgbClr val="E8600A"/>
          </a:solidFill>
          <a:ln/>
        </p:spPr>
      </p:sp>
      <p:sp>
        <p:nvSpPr>
          <p:cNvPr id="14" name="Text 12"/>
          <p:cNvSpPr txBox="1"/>
          <p:nvPr/>
        </p:nvSpPr>
        <p:spPr>
          <a:xfrm>
            <a:off x="457200" y="2880360"/>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Par at issuance  →  EUR 93.09 once the market demands 3.53%. Price and yield move in opposite directions</a:t>
            </a:r>
            <a:endParaRPr lang="en-US" sz="11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20040" y="3429000"/>
          <a:ext cx="8503920" cy="914400"/>
        </p:xfrm>
        <a:graphic>
          <a:graphicData uri="http://schemas.openxmlformats.org/drawingml/2006/table">
            <a:tbl>
              <a:tblPr/>
              <a:tblGrid>
                <a:gridCol w="2084832"/>
                <a:gridCol w="914400"/>
                <a:gridCol w="914400"/>
                <a:gridCol w="914400"/>
                <a:gridCol w="914400"/>
                <a:gridCol w="914400"/>
                <a:gridCol w="914400"/>
                <a:gridCol w="932688"/>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Year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3</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4</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6</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7</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flow (EUR)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PV at 2.00% (EUR)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88.80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stock is the present value of its dividends — and the growth assumption you attach does most of the valuation work</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Terminal-growth sensitivity after three years at 6%: g_L = 0% → GBP 11.66; 2% → 13.05; 4% → 14.94; 6% → 17.67. Two points of g move the price 14%.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2, §2, Eqs. 10, 14–17, Examples 6–7 (Shipline PLC), pp. 56–59.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company, same 15% required return, same GBP 1.50 dividend. Only growth changes — and the price nearly doubles.</a:t>
            </a:r>
            <a:endParaRPr lang="en-US" sz="1300" dirty="0"/>
          </a:p>
        </p:txBody>
      </p:sp>
      <p:sp>
        <p:nvSpPr>
          <p:cNvPr id="10" name="Shape 8"/>
          <p:cNvSpPr/>
          <p:nvPr/>
        </p:nvSpPr>
        <p:spPr>
          <a:xfrm>
            <a:off x="320040" y="1170432"/>
            <a:ext cx="8503920" cy="621792"/>
          </a:xfrm>
          <a:prstGeom prst="rect">
            <a:avLst/>
          </a:prstGeom>
          <a:solidFill>
            <a:srgbClr val="1B2A4A"/>
          </a:solidFill>
          <a:ln/>
        </p:spPr>
      </p:sp>
      <p:sp>
        <p:nvSpPr>
          <p:cNvPr id="11" name="Text 9"/>
          <p:cNvSpPr txBox="1"/>
          <p:nvPr/>
        </p:nvSpPr>
        <p:spPr>
          <a:xfrm>
            <a:off x="411480" y="1170432"/>
            <a:ext cx="8321040" cy="62179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P₀ = D / r      P₀ = D₀(1+g) / (r − g)      TV_N = D_(N+1) / (r − g_L)</a:t>
            </a:r>
            <a:endParaRPr lang="en-US" sz="1800" dirty="0"/>
          </a:p>
        </p:txBody>
      </p:sp>
      <p:sp>
        <p:nvSpPr>
          <p:cNvPr id="12" name="Text 10"/>
          <p:cNvSpPr txBox="1"/>
          <p:nvPr/>
        </p:nvSpPr>
        <p:spPr>
          <a:xfrm>
            <a:off x="320040" y="181965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No growth, constant growth, and the terminal value that closes a two-stage model. All three require r &gt; g, or the formula returns nonsense.</a:t>
            </a:r>
            <a:endParaRPr lang="en-US" sz="1100" dirty="0"/>
          </a:p>
        </p:txBody>
      </p:sp>
      <p:sp>
        <p:nvSpPr>
          <p:cNvPr id="13" name="Shape 11"/>
          <p:cNvSpPr/>
          <p:nvPr/>
        </p:nvSpPr>
        <p:spPr>
          <a:xfrm>
            <a:off x="320040" y="2148840"/>
            <a:ext cx="2743200" cy="2103120"/>
          </a:xfrm>
          <a:prstGeom prst="rect">
            <a:avLst/>
          </a:prstGeom>
          <a:solidFill>
            <a:srgbClr val="F5F7FA"/>
          </a:solidFill>
          <a:ln/>
        </p:spPr>
      </p:sp>
      <p:sp>
        <p:nvSpPr>
          <p:cNvPr id="14" name="Shape 12"/>
          <p:cNvSpPr/>
          <p:nvPr/>
        </p:nvSpPr>
        <p:spPr>
          <a:xfrm>
            <a:off x="320040" y="2148840"/>
            <a:ext cx="73152" cy="2103120"/>
          </a:xfrm>
          <a:prstGeom prst="rect">
            <a:avLst/>
          </a:prstGeom>
          <a:solidFill>
            <a:srgbClr val="1B2A4A"/>
          </a:solidFill>
          <a:ln/>
        </p:spPr>
      </p:sp>
      <p:sp>
        <p:nvSpPr>
          <p:cNvPr id="15" name="Text 13"/>
          <p:cNvSpPr txBox="1"/>
          <p:nvPr/>
        </p:nvSpPr>
        <p:spPr>
          <a:xfrm>
            <a:off x="457200" y="21945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NO GROWTH  →  GBP 10.00</a:t>
            </a:r>
            <a:endParaRPr lang="en-US" sz="1100" dirty="0"/>
          </a:p>
        </p:txBody>
      </p:sp>
      <p:sp>
        <p:nvSpPr>
          <p:cNvPr id="16" name="Text 14"/>
          <p:cNvSpPr txBox="1"/>
          <p:nvPr/>
        </p:nvSpPr>
        <p:spPr>
          <a:xfrm>
            <a:off x="457200" y="2468880"/>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 = GBP 1.50 flat, forever. r = 15%.</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P₀ = 1.50 / 0.15 = GBP 10.00.</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 pure perpetuity — identical maths to a perpetual bond.</a:t>
            </a:r>
            <a:endParaRPr lang="en-US" sz="1200" dirty="0"/>
          </a:p>
        </p:txBody>
      </p:sp>
      <p:sp>
        <p:nvSpPr>
          <p:cNvPr id="17" name="Shape 15"/>
          <p:cNvSpPr/>
          <p:nvPr/>
        </p:nvSpPr>
        <p:spPr>
          <a:xfrm>
            <a:off x="3200400" y="2148840"/>
            <a:ext cx="2743200" cy="2103120"/>
          </a:xfrm>
          <a:prstGeom prst="rect">
            <a:avLst/>
          </a:prstGeom>
          <a:solidFill>
            <a:srgbClr val="FEF0E7"/>
          </a:solidFill>
          <a:ln/>
        </p:spPr>
      </p:sp>
      <p:sp>
        <p:nvSpPr>
          <p:cNvPr id="18" name="Shape 16"/>
          <p:cNvSpPr/>
          <p:nvPr/>
        </p:nvSpPr>
        <p:spPr>
          <a:xfrm>
            <a:off x="3200400" y="2148840"/>
            <a:ext cx="73152" cy="2103120"/>
          </a:xfrm>
          <a:prstGeom prst="rect">
            <a:avLst/>
          </a:prstGeom>
          <a:solidFill>
            <a:srgbClr val="E8600A"/>
          </a:solidFill>
          <a:ln/>
        </p:spPr>
      </p:sp>
      <p:sp>
        <p:nvSpPr>
          <p:cNvPr id="19" name="Text 17"/>
          <p:cNvSpPr txBox="1"/>
          <p:nvPr/>
        </p:nvSpPr>
        <p:spPr>
          <a:xfrm>
            <a:off x="3337560" y="21945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CONSTANT g = 6%  →  GBP 17.67</a:t>
            </a:r>
            <a:endParaRPr lang="en-US" sz="1100" dirty="0"/>
          </a:p>
        </p:txBody>
      </p:sp>
      <p:sp>
        <p:nvSpPr>
          <p:cNvPr id="20" name="Text 18"/>
          <p:cNvSpPr txBox="1"/>
          <p:nvPr/>
        </p:nvSpPr>
        <p:spPr>
          <a:xfrm>
            <a:off x="3337560" y="2468880"/>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D₁ = 1.50 × 1.06 = 1.59.</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P₀ = 1.59 / (0.15 − 0.06) = GBP 17.67.</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Six points of perpetual growth are worth +77% of the price. Growth in the denominator is powerful and dangerous.</a:t>
            </a:r>
            <a:endParaRPr lang="en-US" sz="1200" dirty="0"/>
          </a:p>
        </p:txBody>
      </p:sp>
      <p:sp>
        <p:nvSpPr>
          <p:cNvPr id="21" name="Shape 19"/>
          <p:cNvSpPr/>
          <p:nvPr/>
        </p:nvSpPr>
        <p:spPr>
          <a:xfrm>
            <a:off x="6080760" y="2148840"/>
            <a:ext cx="2743200" cy="2103120"/>
          </a:xfrm>
          <a:prstGeom prst="rect">
            <a:avLst/>
          </a:prstGeom>
          <a:solidFill>
            <a:srgbClr val="F5F7FA"/>
          </a:solidFill>
          <a:ln/>
        </p:spPr>
      </p:sp>
      <p:sp>
        <p:nvSpPr>
          <p:cNvPr id="22" name="Shape 20"/>
          <p:cNvSpPr/>
          <p:nvPr/>
        </p:nvSpPr>
        <p:spPr>
          <a:xfrm>
            <a:off x="6080760" y="2148840"/>
            <a:ext cx="73152" cy="2103120"/>
          </a:xfrm>
          <a:prstGeom prst="rect">
            <a:avLst/>
          </a:prstGeom>
          <a:solidFill>
            <a:srgbClr val="1B2A4A"/>
          </a:solidFill>
          <a:ln/>
        </p:spPr>
      </p:sp>
      <p:sp>
        <p:nvSpPr>
          <p:cNvPr id="23" name="Text 21"/>
          <p:cNvSpPr txBox="1"/>
          <p:nvPr/>
        </p:nvSpPr>
        <p:spPr>
          <a:xfrm>
            <a:off x="6217920" y="21945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TWO-STAGE 6% → 2%  →  GBP 13.05</a:t>
            </a:r>
            <a:endParaRPr lang="en-US" sz="1100" dirty="0"/>
          </a:p>
        </p:txBody>
      </p:sp>
      <p:sp>
        <p:nvSpPr>
          <p:cNvPr id="24" name="Text 22"/>
          <p:cNvSpPr txBox="1"/>
          <p:nvPr/>
        </p:nvSpPr>
        <p:spPr>
          <a:xfrm>
            <a:off x="6217920" y="2468880"/>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Stage 1: D₁ 1.590, D₂ 1.685, D₃ 1.787 ⇒ PV = GBP 3.83.</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D₄ = 1.787 × 1.02 = 1.823; TV₃ = 1.823 / 0.13 = 14.02; PV(TV₃) = 14.02 / 1.15³ = GBP 9.22.</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Total GBP 13.05 — 71% of it terminal value.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Run the model backwards and the market price tells you what investors are actually assuming</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2, §3 "Implied Return and Growth", Eqs. 20–24, Examples 10–11, pp. 66–68.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You never observe r and g. You observe price. A price fixes the pair (r, g) — it cannot pin down either one alone.</a:t>
            </a:r>
            <a:endParaRPr lang="en-US" sz="1300" dirty="0"/>
          </a:p>
        </p:txBody>
      </p:sp>
      <p:sp>
        <p:nvSpPr>
          <p:cNvPr id="9" name="Shape 7"/>
          <p:cNvSpPr/>
          <p:nvPr/>
        </p:nvSpPr>
        <p:spPr>
          <a:xfrm>
            <a:off x="320040" y="1170432"/>
            <a:ext cx="8503920" cy="621792"/>
          </a:xfrm>
          <a:prstGeom prst="rect">
            <a:avLst/>
          </a:prstGeom>
          <a:solidFill>
            <a:srgbClr val="1B2A4A"/>
          </a:solidFill>
          <a:ln/>
        </p:spPr>
      </p:sp>
      <p:sp>
        <p:nvSpPr>
          <p:cNvPr id="10" name="Text 8"/>
          <p:cNvSpPr txBox="1"/>
          <p:nvPr/>
        </p:nvSpPr>
        <p:spPr>
          <a:xfrm>
            <a:off x="411480" y="1170432"/>
            <a:ext cx="8321040" cy="62179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  =  D₁ / P₀  +  g                    g  =  r  −  D₁ / P₀</a:t>
            </a:r>
            <a:endParaRPr lang="en-US" sz="1800" dirty="0"/>
          </a:p>
        </p:txBody>
      </p:sp>
      <p:sp>
        <p:nvSpPr>
          <p:cNvPr id="11" name="Text 9"/>
          <p:cNvSpPr txBox="1"/>
          <p:nvPr/>
        </p:nvSpPr>
        <p:spPr>
          <a:xfrm>
            <a:off x="320040" y="181965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Both are rearrangements of the Gordon formula: required return = dividend yield + growth. In multiples: P₀ / E₁ = (payout ratio) / (r − g).</a:t>
            </a:r>
            <a:endParaRPr lang="en-US" sz="1100" dirty="0"/>
          </a:p>
        </p:txBody>
      </p:sp>
      <p:sp>
        <p:nvSpPr>
          <p:cNvPr id="12" name="Shape 10"/>
          <p:cNvSpPr/>
          <p:nvPr/>
        </p:nvSpPr>
        <p:spPr>
          <a:xfrm>
            <a:off x="320040" y="2148840"/>
            <a:ext cx="4160520" cy="2148840"/>
          </a:xfrm>
          <a:prstGeom prst="rect">
            <a:avLst/>
          </a:prstGeom>
          <a:solidFill>
            <a:srgbClr val="FEF0E7"/>
          </a:solidFill>
          <a:ln w="9525">
            <a:solidFill>
              <a:srgbClr val="E8600A"/>
            </a:solidFill>
            <a:prstDash val="solid"/>
          </a:ln>
        </p:spPr>
      </p:sp>
      <p:sp>
        <p:nvSpPr>
          <p:cNvPr id="13" name="Text 11"/>
          <p:cNvSpPr txBox="1"/>
          <p:nvPr/>
        </p:nvSpPr>
        <p:spPr>
          <a:xfrm>
            <a:off x="457200" y="219456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2 EXAMPLE 10 — COCA-COLA</a:t>
            </a:r>
            <a:endParaRPr lang="en-US" sz="1100" dirty="0"/>
          </a:p>
        </p:txBody>
      </p:sp>
      <p:sp>
        <p:nvSpPr>
          <p:cNvPr id="14" name="Text 12"/>
          <p:cNvSpPr txBox="1"/>
          <p:nvPr/>
        </p:nvSpPr>
        <p:spPr>
          <a:xfrm>
            <a:off x="457200" y="248716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Share price USD 63.00; expected dividend per share over the next year USD 1.76.</a:t>
            </a:r>
            <a:endParaRPr lang="en-US" sz="1200" dirty="0"/>
          </a:p>
        </p:txBody>
      </p:sp>
      <p:sp>
        <p:nvSpPr>
          <p:cNvPr id="15" name="Text 13"/>
          <p:cNvSpPr txBox="1"/>
          <p:nvPr/>
        </p:nvSpPr>
        <p:spPr>
          <a:xfrm>
            <a:off x="457200" y="2999232"/>
            <a:ext cx="3886200" cy="78638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Dividend yield = 1.76 / 63 = 2.79%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Assume g = 4%  ⇒  r = 2.79% + 4% = 6.79%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Assume r = 7%  ⇒  g = 7% − 2.79% = 4.21%</a:t>
            </a:r>
            <a:endParaRPr lang="en-US" sz="1200" dirty="0"/>
          </a:p>
        </p:txBody>
      </p:sp>
      <p:sp>
        <p:nvSpPr>
          <p:cNvPr id="16" name="Shape 14"/>
          <p:cNvSpPr/>
          <p:nvPr/>
        </p:nvSpPr>
        <p:spPr>
          <a:xfrm>
            <a:off x="411480" y="3858768"/>
            <a:ext cx="3977640" cy="365760"/>
          </a:xfrm>
          <a:prstGeom prst="rect">
            <a:avLst/>
          </a:prstGeom>
          <a:solidFill>
            <a:srgbClr val="E8600A"/>
          </a:solidFill>
          <a:ln/>
        </p:spPr>
      </p:sp>
      <p:sp>
        <p:nvSpPr>
          <p:cNvPr id="17" name="Text 15"/>
          <p:cNvSpPr txBox="1"/>
          <p:nvPr/>
        </p:nvSpPr>
        <p:spPr>
          <a:xfrm>
            <a:off x="457200" y="385876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The price fixes r − g = 2.79%. Nothing more</a:t>
            </a:r>
            <a:endParaRPr lang="en-US" sz="1150" dirty="0"/>
          </a:p>
        </p:txBody>
      </p:sp>
      <p:sp>
        <p:nvSpPr>
          <p:cNvPr id="18" name="Shape 16"/>
          <p:cNvSpPr/>
          <p:nvPr/>
        </p:nvSpPr>
        <p:spPr>
          <a:xfrm>
            <a:off x="4663440" y="2148840"/>
            <a:ext cx="4160520" cy="2148840"/>
          </a:xfrm>
          <a:prstGeom prst="rect">
            <a:avLst/>
          </a:prstGeom>
          <a:solidFill>
            <a:srgbClr val="F5F7FA"/>
          </a:solidFill>
          <a:ln/>
        </p:spPr>
      </p:sp>
      <p:sp>
        <p:nvSpPr>
          <p:cNvPr id="19" name="Shape 17"/>
          <p:cNvSpPr/>
          <p:nvPr/>
        </p:nvSpPr>
        <p:spPr>
          <a:xfrm>
            <a:off x="4663440" y="2148840"/>
            <a:ext cx="73152" cy="2148840"/>
          </a:xfrm>
          <a:prstGeom prst="rect">
            <a:avLst/>
          </a:prstGeom>
          <a:solidFill>
            <a:srgbClr val="1B2A4A"/>
          </a:solidFill>
          <a:ln/>
        </p:spPr>
      </p:sp>
      <p:sp>
        <p:nvSpPr>
          <p:cNvPr id="20" name="Text 18"/>
          <p:cNvSpPr txBox="1"/>
          <p:nvPr/>
        </p:nvSpPr>
        <p:spPr>
          <a:xfrm>
            <a:off x="4800600" y="219456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SAME TEST ON A MULTIPLE</a:t>
            </a:r>
            <a:endParaRPr lang="en-US" sz="1100" dirty="0"/>
          </a:p>
        </p:txBody>
      </p:sp>
      <p:sp>
        <p:nvSpPr>
          <p:cNvPr id="21" name="Text 19"/>
          <p:cNvSpPr txBox="1"/>
          <p:nvPr/>
        </p:nvSpPr>
        <p:spPr>
          <a:xfrm>
            <a:off x="4800600" y="2468880"/>
            <a:ext cx="3931920" cy="1783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Forward P/E  =  payout ratio / (r − g).</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CFA Example 11 — a forward P/E of 28 with a 70% payout requires r − g = 2.50%.</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Demand a 9% return with 4.5% growth and that same payout only supports a P/E of 15.6. The market is paying 28.</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So either r is far below 9%, or g is far above 4.5%, or the stock is expensive. There is no fourth option.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06</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NPV, IRR &amp; applications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6 of 6  ·  Deck 1 of 20  ·  Studio Tonton Gug</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NPV states the value a project adds today — accept if positive, reject if negative, and the rule never contradicts itself</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Discounting and IRR mechanics: CFA Institute, Vol 1, Learning Module 1, §4, Eq. 5, p. 20. The NPV decision rule itself is developed in the Corporate Issuers volume.</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positive NPV means the project increases firm value today by exactly that amount — not eventually, today.</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NPV  =  −CF₀   +   Σ  CFₜ / (1 + r)ᵗ          accept iff NPV &gt; 0</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CF₀ = initial outlay; r = cost of capital, i.e. the required return on a project of this risk. IRR is the r that sets NPV to zero.</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PROJECT EVALUATION</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Initial outlay USD 1,000. After-tax cash flows of 300, 400, 400, 300 across years 1–4. Cost of capital 10%.</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PV(y1) = 300 / 1.10 = 272.73    ·    PV(y2) = 400 / 1.10² = 330.58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PV(y3) = 400 / 1.10³ = 300.53    ·    PV(y4) = 300 / 1.10⁴ = 204.90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NPV = −1,000 + 272.73 + 330.58 + 300.53 + 204.90 = +108.74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Undiscounted the project returns 1,400 on 1,000 — but 291 of that "profit" is just the cost of waiting</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NPV = +USD 108.74  →  ACCEPT. Shareholder value rises by ~USD 109 today</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IRR is a useful shorthand that breaks with non-conventional cash flows, different scales, or different timing — always cross-check with NPV</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IRR implicitly assumes every interim cash flow is reinvested AT the IRR — rarely true, and flattering whenever the IRR sits above the cost of capital.
</a:t>
            </a:r>
            <a:pPr indent="0" marL="0">
              <a:buNone/>
            </a:pPr>
            <a:r>
              <a:rPr lang="en-US" sz="1000" dirty="0">
                <a:solidFill>
                  <a:srgbClr val="6B7A8D"/>
                </a:solidFill>
                <a:latin typeface="Calibri" pitchFamily="34" charset="0"/>
                <a:ea typeface="Calibri" pitchFamily="34" charset="-122"/>
                <a:cs typeface="Calibri" pitchFamily="34" charset="-120"/>
              </a:rPr>
              <a:t>² For mutually exclusive projects, NPV wins the tie every time: it is denominated in value created, and IRR is not.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IRR definition: CFA Institute, Vol 1, Learning Module 1, §4, Eq. 5, p. 20. Failure modes are developed in the Corporate Issuers volume.</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IRR is the r at which NPV = 0. It is a good comparable and a bad decision rule.</a:t>
            </a:r>
            <a:endParaRPr lang="en-US" sz="1300" dirty="0"/>
          </a:p>
        </p:txBody>
      </p:sp>
      <p:sp>
        <p:nvSpPr>
          <p:cNvPr id="10" name="Shape 8"/>
          <p:cNvSpPr/>
          <p:nvPr/>
        </p:nvSpPr>
        <p:spPr>
          <a:xfrm>
            <a:off x="320040" y="1188720"/>
            <a:ext cx="2743200" cy="3063240"/>
          </a:xfrm>
          <a:prstGeom prst="rect">
            <a:avLst/>
          </a:prstGeom>
          <a:solidFill>
            <a:srgbClr val="F5F7FA"/>
          </a:solidFill>
          <a:ln/>
        </p:spPr>
      </p:sp>
      <p:sp>
        <p:nvSpPr>
          <p:cNvPr id="11" name="Shape 9"/>
          <p:cNvSpPr/>
          <p:nvPr/>
        </p:nvSpPr>
        <p:spPr>
          <a:xfrm>
            <a:off x="320040" y="1188720"/>
            <a:ext cx="73152" cy="3063240"/>
          </a:xfrm>
          <a:prstGeom prst="rect">
            <a:avLst/>
          </a:prstGeom>
          <a:solidFill>
            <a:srgbClr val="B71C1C"/>
          </a:solidFill>
          <a:ln/>
        </p:spPr>
      </p:sp>
      <p:sp>
        <p:nvSpPr>
          <p:cNvPr id="12" name="Text 10"/>
          <p:cNvSpPr txBox="1"/>
          <p:nvPr/>
        </p:nvSpPr>
        <p:spPr>
          <a:xfrm>
            <a:off x="45720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FAILURE 1  ·  MULTIPLE IRRs</a:t>
            </a:r>
            <a:endParaRPr lang="en-US" sz="1100" dirty="0"/>
          </a:p>
        </p:txBody>
      </p:sp>
      <p:sp>
        <p:nvSpPr>
          <p:cNvPr id="13" name="Text 11"/>
          <p:cNvSpPr txBox="1"/>
          <p:nvPr/>
        </p:nvSpPr>
        <p:spPr>
          <a:xfrm>
            <a:off x="457200" y="164592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A cash-flow pattern that changes sign more than once (−, +, −) can satisfy NPV = 0 at more than one rate. There are as many candidate IRRs as sign changes.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Classic case: a mining or offshore project with a large end-of-life decommissioning outflow.</a:t>
            </a:r>
            <a:endParaRPr lang="en-US" sz="1100" dirty="0"/>
          </a:p>
        </p:txBody>
      </p:sp>
      <p:sp>
        <p:nvSpPr>
          <p:cNvPr id="14" name="Shape 12"/>
          <p:cNvSpPr/>
          <p:nvPr/>
        </p:nvSpPr>
        <p:spPr>
          <a:xfrm>
            <a:off x="3200400" y="1188720"/>
            <a:ext cx="2743200" cy="3063240"/>
          </a:xfrm>
          <a:prstGeom prst="rect">
            <a:avLst/>
          </a:prstGeom>
          <a:solidFill>
            <a:srgbClr val="F5F7FA"/>
          </a:solidFill>
          <a:ln/>
        </p:spPr>
      </p:sp>
      <p:sp>
        <p:nvSpPr>
          <p:cNvPr id="15" name="Shape 13"/>
          <p:cNvSpPr/>
          <p:nvPr/>
        </p:nvSpPr>
        <p:spPr>
          <a:xfrm>
            <a:off x="3200400" y="1188720"/>
            <a:ext cx="73152" cy="3063240"/>
          </a:xfrm>
          <a:prstGeom prst="rect">
            <a:avLst/>
          </a:prstGeom>
          <a:solidFill>
            <a:srgbClr val="B71C1C"/>
          </a:solidFill>
          <a:ln/>
        </p:spPr>
      </p:sp>
      <p:sp>
        <p:nvSpPr>
          <p:cNvPr id="16" name="Text 14"/>
          <p:cNvSpPr txBox="1"/>
          <p:nvPr/>
        </p:nvSpPr>
        <p:spPr>
          <a:xfrm>
            <a:off x="333756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FAILURE 2  ·  SCALE MISMATCH</a:t>
            </a:r>
            <a:endParaRPr lang="en-US" sz="1100" dirty="0"/>
          </a:p>
        </p:txBody>
      </p:sp>
      <p:sp>
        <p:nvSpPr>
          <p:cNvPr id="17" name="Text 15"/>
          <p:cNvSpPr txBox="1"/>
          <p:nvPr/>
        </p:nvSpPr>
        <p:spPr>
          <a:xfrm>
            <a:off x="3337560" y="164592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Project A: invest 100, receive 150 in one year — IRR 50%.</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Project B: invest 1,000, receive 1,300 — IRR 30%.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At a 10% cost of capital, NPV(A) = +36 and NPV(B) = +182. IRR prefers A; B creates five times the value. B wins.</a:t>
            </a:r>
            <a:endParaRPr lang="en-US" sz="1100" dirty="0"/>
          </a:p>
        </p:txBody>
      </p:sp>
      <p:sp>
        <p:nvSpPr>
          <p:cNvPr id="18" name="Shape 16"/>
          <p:cNvSpPr/>
          <p:nvPr/>
        </p:nvSpPr>
        <p:spPr>
          <a:xfrm>
            <a:off x="6080760" y="1188720"/>
            <a:ext cx="2743200" cy="3063240"/>
          </a:xfrm>
          <a:prstGeom prst="rect">
            <a:avLst/>
          </a:prstGeom>
          <a:solidFill>
            <a:srgbClr val="F5F7FA"/>
          </a:solidFill>
          <a:ln/>
        </p:spPr>
      </p:sp>
      <p:sp>
        <p:nvSpPr>
          <p:cNvPr id="19" name="Shape 17"/>
          <p:cNvSpPr/>
          <p:nvPr/>
        </p:nvSpPr>
        <p:spPr>
          <a:xfrm>
            <a:off x="6080760" y="1188720"/>
            <a:ext cx="73152" cy="3063240"/>
          </a:xfrm>
          <a:prstGeom prst="rect">
            <a:avLst/>
          </a:prstGeom>
          <a:solidFill>
            <a:srgbClr val="B71C1C"/>
          </a:solidFill>
          <a:ln/>
        </p:spPr>
      </p:sp>
      <p:sp>
        <p:nvSpPr>
          <p:cNvPr id="20" name="Text 18"/>
          <p:cNvSpPr txBox="1"/>
          <p:nvPr/>
        </p:nvSpPr>
        <p:spPr>
          <a:xfrm>
            <a:off x="621792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FAILURE 3  ·  TIMING MISMATCH</a:t>
            </a:r>
            <a:endParaRPr lang="en-US" sz="1100" dirty="0"/>
          </a:p>
        </p:txBody>
      </p:sp>
      <p:sp>
        <p:nvSpPr>
          <p:cNvPr id="21" name="Text 19"/>
          <p:cNvSpPr txBox="1"/>
          <p:nvPr/>
        </p:nvSpPr>
        <p:spPr>
          <a:xfrm>
            <a:off x="6217920" y="164592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Front-loaded projects flatter IRR, because IRR assumes early cash is reinvested at the IRR itself.</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Plot NPV against r for both projects: they cross at the crossover rate. On one side of it NPV and IRR agree, on the other they do not.</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level mortgage payment is the annuity formula solved for PMT — and the split between interest and principal reverses over the life of the loan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 2, §2 "Annuity Instruments", Eq. 8 and Example 5 (Mortgage Cash Flows), pp. 54–55.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outstanding balance at any date is simply the present value of the payments still to come.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  =  r × PV  /  [ 1 − (1 + r)^(−t) ]</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PV = loan principal; r = rate PER PERIOD; t = number of payments. For a monthly loan, r is the annual rate divided by 12 and t is months.</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2 EXAMPLE 5 — USD 800,000 MORTGAGE · 30 YEARS · 5.25% NOMINAL</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80% of a USD 1,000,000 property. Monthly rate = 5.25% / 12 = 0.4375%; t = 360 payments.</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Denominator: 1 − (1.004375)^(−360) = 1 − 0.20772 = 0.79228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 = 0.004375 × 800,000 / 0.79228 = 3,500 / 0.79228 = USD 4,417.63 per month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Month 1: interest 3,500.00, principal 917.63.   Month 360: interest 19.24, principal 4,398.39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Total paid = 4,417.63 × 360 = USD 1,590,347, of which USD 790,347 is interest</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USD 4,417.63 a month  ·  interest is 79% of the FIRST payment and 0.4% of the last</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Every TVM problem reduces to one question: where on the timeline is each cash flow, and at what rate do we move it?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Vol 1, Learning Modules 1–2, summaries; cash-flow additivity, LM 2 §4, p. 69.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These six archetypes cover every calculation in this deck. Identify the pattern first; reach for the formula second.</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560320"/>
                <a:gridCol w="3840480"/>
                <a:gridCol w="21031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Archetype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Formula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Where you meet it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Single CF — FV</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FV = PV × (1 + r)ⁿ</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Savings, accretion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Single CF — PV</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PV = FV / (1 + r)ⁿ</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Zero-coupon, strip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Ordinary annuity — PV</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PV = PMT × [1 − (1+r)^(−n)] / 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Mortgage, term loan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Ordinary annuity — FV</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FV = PMT × [(1+r)ⁿ − 1] / 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Pension, sinking fund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Perpetuity — PV</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PV = PMT / 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Perpetual, preferred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Growing perpetuity — PV</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PV = PMT / (r − 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Gordon DDM, terminal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383280"/>
            <a:ext cx="8503920" cy="1188720"/>
          </a:xfrm>
          <a:prstGeom prst="rect">
            <a:avLst/>
          </a:prstGeom>
          <a:solidFill>
            <a:srgbClr val="FEF0E7"/>
          </a:solidFill>
          <a:ln/>
        </p:spPr>
      </p:sp>
      <p:sp>
        <p:nvSpPr>
          <p:cNvPr id="11" name="Shape 8"/>
          <p:cNvSpPr/>
          <p:nvPr/>
        </p:nvSpPr>
        <p:spPr>
          <a:xfrm>
            <a:off x="320040" y="3383280"/>
            <a:ext cx="73152" cy="1188720"/>
          </a:xfrm>
          <a:prstGeom prst="rect">
            <a:avLst/>
          </a:prstGeom>
          <a:solidFill>
            <a:srgbClr val="E8600A"/>
          </a:solidFill>
          <a:ln/>
        </p:spPr>
      </p:sp>
      <p:sp>
        <p:nvSpPr>
          <p:cNvPr id="12" name="Text 9"/>
          <p:cNvSpPr txBox="1"/>
          <p:nvPr/>
        </p:nvSpPr>
        <p:spPr>
          <a:xfrm>
            <a:off x="457200" y="34290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FOUR-STEP DECISION RULE</a:t>
            </a:r>
            <a:endParaRPr lang="en-US" sz="1100" dirty="0"/>
          </a:p>
        </p:txBody>
      </p:sp>
      <p:sp>
        <p:nvSpPr>
          <p:cNvPr id="13" name="Text 10"/>
          <p:cNvSpPr txBox="1"/>
          <p:nvPr/>
        </p:nvSpPr>
        <p:spPr>
          <a:xfrm>
            <a:off x="457200" y="3703320"/>
            <a:ext cx="8275320" cy="822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Draw the timeline.   2. Identify the archetype — or decompose the stream into archetypes, which cash-flow additivity always allows.   3. Apply the matching formula.   4. Check units: does r cover exactly one period of 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Step 2 is the one that matters. Any cash-flow stream can be split into pieces you already know how to price, and the pieces can simply be added.</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 — Time Value of Money &amp; DCF Foundations</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 is a required return, a discount rate and an opportunity cost at once — and decomposes into real risk-free + inflation + default + liquidity + maturity.</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AM ≥ GM ≥ HM. Arithmetic for next period, geometric for what capital actually did, harmonic when a fixed sum buys a variable quantity.</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Time-weighted return grades the manager; money-weighted (an IRR) is what the investor experienced. USD 200/220/480 example: 10.76% vs 9.39%.</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Trimmed and winsorized means barely move when one observation goes to −40%; the arithmetic mean collapses from +3.00% to −0.80%.</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Annualize by compounding: R = (1+R_period)^c − 1. EAR = (1+r_s/m)^m − 1. Continuous is the limit, and continuous returns add across time.</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Know which of gross / net / after-tax / real / leveraged you are being shown: one 8% asset can be quoted anywhere from 2.44% to 12.00%.</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Bond price = PV of coupons + PV of principal. India 20y strip at 6.70% → INR 27.33. Greece 2% at 2.00% YTM → par; at 3.532% → EUR 93.09.</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DDM: Shipline is GBP 10.00 flat, 17.67 at 6% growth, 13.05 two-stage — 71% terminal. Invert it and the price hands you the market-implied r − g.</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 · Time Value of Money &amp; DCF Foundations</dc:title>
  <dc:subject>PptxGenJS Presentation</dc:subject>
  <dc:creator>Studio Tonton Gug</dc:creator>
  <cp:lastModifiedBy>Studio Tonton Gug</cp:lastModifiedBy>
  <cp:revision>1</cp:revision>
  <dcterms:created xsi:type="dcterms:W3CDTF">2026-08-30T20:53:25Z</dcterms:created>
  <dcterms:modified xsi:type="dcterms:W3CDTF">2026-08-30T20:53:25Z</dcterms:modified>
</cp:coreProperties>
</file>