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  —  AFTERNOON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Investments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valuation models &amp; fundamental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Markets &amp; Instruments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primary/secondary markets, IPO process, common vs preference shares, market indices.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Efficiency (EMH)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weak, semi-strong and strong form EMH and their implications for active management.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Dividend Discount Models (DDM)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single-stage and multi-stage DDM. Use Gordon Growth Model. Calculate implied return.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Multiples 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P/E, P/B, P/S, EV/EBITDA. Compare across peers and sectors.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— Ownership, Rights and Structure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represents ownership. Common shareholders are residual claimants — they receive what is left after all obligations are met.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Equity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rights at AGM. Residual income claim. Dividends at company discretion.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→ highest long-term expected return (~7-9% real historically).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 Shares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dividend, paid before common equity. Senior on liquidation.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more like debt than equity. Usually no voting rights. Lower risk/return.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share issuance. IPO (first listing) or SEO (follow-on offering).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raises capital directly. Bookbuilding process sets IPO price.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Market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shares trade between investors. Company receives nothing.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liquidity. Main exchanges: LSE, NYSE, Nasdaq, Euronext.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4572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18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IPO Process (simplified)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822960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selects investment bank (underwriter) → Due diligence &amp; registration → Roadshow (management meets institutional investors) → Book-building → Pricing → Listing day → Aftermarket stabilisation. Lock-up period typically 180 days for insiders.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Market Hypothesis (EMH)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markets are efficient, prices always reflect all available information — and consistent alpha is impossible.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9784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9784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Info: Past prices &amp; trading volumes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133502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adds no persistent edge. Price patterns are random. Past returns don't predict future returns.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0528" y="13350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random walk tests, filter rule tests.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850392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59152"/>
            <a:ext cx="91440" cy="9784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Semi-Strong 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Info: All public information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243230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analysis adds no persistent edge. Prices adjust instantly to news.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243230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event studies show rapid price adjustment to earnings announcements.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8503920" cy="978408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91440" cy="9784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858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Info: All information (incl. private)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35295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insiders cannot consistently earn abnormal returns.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52958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insider trading studies show insiders do outperform. Markets are NOT strong-form efficient.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498848"/>
            <a:ext cx="8503920" cy="5029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Behavioural Finance Challenges EMH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82896"/>
            <a:ext cx="8229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Anchoring, herding, overconfidence, loss aversion, mental accounting create persistent mispricings. Markets are mostly efficient, but anomalies exist (momentum, value premium, small-cap effect).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Dividend Discount Model (DDM) — Theory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P₀  =  Σ  Dₜ / (1+rₑ)ᵗ    →    Gordon Growth:  P₀ = D₁ / (rₑ − g)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stock's intrinsic value = PV of all future dividends. This is theoretically correct but requires strong assumptions about g and rₑ.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8503920" cy="11887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Gordon Growth (Unilever-style)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paid D₀ = £1.20. Dividends expected to grow at 4% pa forever. Required return = 9%.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 = 1.20 × 1.04 = £1.248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P₀ = 1.248 / (0.09 − 0.04) = 1.248 / 0.05 = £24.96 intrinsic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 price = £22.00 → stock is undervalued (11% upside)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Rearrange for implied return: rₑ = D₁/P₀ + g  (dividend yield + growth = total return)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3075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822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DDM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" y="418795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phase (g₁) for n years, then stable growth (g₂) forever.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PV all dividends during high-growth phase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PV terminal value using Gordon Growth at gₙ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373075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373075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822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DDM Limitations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28616" y="418795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companies don't pay dividends (Amazon, Berkshire)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sensitive to rₑ−g spread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 must be stable and less than rₑ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for mature, dividend-paying companies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 Valuation — Price Multiples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company's price to a fundamental metric. Simple, fast and widely used — but requires careful peer selection.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P/E  (Price/Earnings)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353312"/>
            <a:ext cx="2194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53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Price / 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307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cited. Forward P/E most relevant for valuation.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EPS makes it useless. Varies hugely by sector.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93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P/B  (Price/Book)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2084832"/>
            <a:ext cx="2194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Cap / Equity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financials (banks). Compares market to net assets.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Intangible-heavy firms (tech) naturally show high P/B.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249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2816352"/>
            <a:ext cx="2194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816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Value / EBITDA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Capital-structure neutral. Most used in M&amp;A and LBOs.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0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Market Cap + Net Debt. Use for levered comparisons.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564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EV/Sales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3547872"/>
            <a:ext cx="2194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Value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502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loss-making growth companies.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profitability — high EV/Sales only justified with path to margin.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18795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87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P/FCF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4279392"/>
            <a:ext cx="2194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Cap / FCF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4233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manipulate — preferred by value investors.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0" y="4553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can be lumpy due to capex timing. Use normalised FCF.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Analysis &amp; Competitive Moats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alone don't make a valuation. The quality of the business determines what multiple it deserves.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of Competitive Moat (Warren Buffett concept):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Effects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737360"/>
            <a:ext cx="2194560" cy="365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Visa, Mastercard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becomes more valuable as more people use it. Near-impossible to displace once established.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 Costs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2359152"/>
            <a:ext cx="2194560" cy="365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Salesforce, Bloomberg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cost/pain of switching to competitor. Sticky customer base. Recurring revenue with pricing power.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89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Advantages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2980944"/>
            <a:ext cx="2194560" cy="365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9809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IKEA, Ryanair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8895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structure than competitors. Scale, proprietary processes, preferential input pricing.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11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Intangible Assets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0" y="3602736"/>
            <a:ext cx="2194560" cy="365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6027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LVMH, Coca-Cola, Pfizer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511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patents, licences. Consumer willingness to pay premium. Regulatory barriers to generic entry.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33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Scale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23160" y="4224528"/>
            <a:ext cx="2194560" cy="365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4224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operators, pipelines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monopoly/oligopoly. Market not large enough to support new entrants profitably.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before turning the page.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0789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pays D₀=£1.50. Expected growth = 5% forever. Required return = 11%. (a) What is intrinsic value? (b) If current price = £30, is it over/undervalued?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£2.40, Share price = £36. Sector peers trade at 18x P/E. Is this stock cheap or expensive? What might explain the difference?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EV/EBITDA: Market cap=£500m, Gross debt=£200m, Cash=£50m, EBITDA=£90m. If sector trades at 8x, what valuation is implied?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32841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has no dividends, negative FCF, and high growth. Which valuation approach is most appropriate and why?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407822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stock with a strong moat (high ROIC, low capex, pricing power) justifies a premium P/E vs its sector.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Answers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PM  •  Session 8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 = 1.50×1.05 = £1.575. P₀ = 1.575/(0.11−0.05) = 1.575/0.06 = £26.25. Current price £30 &gt; £26.25 → OVERVALUED by 14%. Consider selling.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= 36/2.40 = 15.0×. Sector peers at 18×. Stock trades at a 17% discount to peers (15 vs 18). Could be: lower growth, higher risk, weaker moat, or genuinely cheap. Need to understand WHY before calling it a buy.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500+200−50 = £650m. EV/EBITDA = 650/90 = 7.2×. Sector at 8×: implied value = 8×90 = £720m EV. Subtract net debt (150m): implied equity = £570m vs current market cap £500m → 14% upside on this metric alone.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9125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EV/Sales or P/Sales multiple. High-growth companies with no profits/dividends are best valued on revenue multiples with a DCF scenario analysis showing path to profitability. Sum-of-the-parts or EV/users also used for platform businesses.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moat means ROIC &gt; WACC for a LONGER time. The terminal value in a DCF is much larger. High ROIC means less capital needed to grow → more FCF per unit of earnings. Lower reinvestment need → higher FCF yield → justifies paying up (premium P/E) for durable earnings.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8 — Equity Investments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equity = residual claim. Highest risk, highest long-run return.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Semi-strong EMH: public info priced in instantly. Fundamentals add no CONSISTENT edge.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Growth: P₀=D₁/(r−g). Very sensitive to r−g spread.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is most quoted; EV/EBITDA best for M&amp;A and cross-structure comparison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= durable competitive advantage = higher justified P/E multiple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combine valuation metric with qualitative moat assessment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2026-04-06T18:21:04Z</dcterms:created>
  <dcterms:modified xsi:type="dcterms:W3CDTF">2026-04-06T18:21:04Z</dcterms:modified>
</cp:coreProperties>
</file>