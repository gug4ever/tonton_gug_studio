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SESSION 4  —  AFTERNOON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481328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Equity Investments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907792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structure • Equity securities • Industry analysis • Equity valuation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46177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•  Finance Fundamentals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Session Roadmap — 2 Hours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 PM  •  Session 8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20040" y="777240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 investments are the most complex and rewarding part of the CFA curriculum. This session covers markets, securities and valuation — all from first principles.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207008"/>
            <a:ext cx="8503920" cy="539496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0040" y="1207008"/>
            <a:ext cx="594360" cy="539496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" y="1207008"/>
            <a:ext cx="59436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24128" y="12527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 Organisation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24128" y="1508760"/>
            <a:ext cx="7680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types • order types • market indices • index construction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20040" y="1828800"/>
            <a:ext cx="8503920" cy="539496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1828800"/>
            <a:ext cx="594360" cy="539496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0040" y="1828800"/>
            <a:ext cx="59436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24128" y="187452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 Efficiency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24128" y="2130552"/>
            <a:ext cx="7680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Weak/semi-strong/strong forms • EMH implications • anomalies • behavioural biases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20040" y="2450592"/>
            <a:ext cx="8503920" cy="539496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" y="2450592"/>
            <a:ext cx="594360" cy="539496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0040" y="2450592"/>
            <a:ext cx="59436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24128" y="249631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Equity Securities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24128" y="2752344"/>
            <a:ext cx="7680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vs preferred shares • ADRs • ROE and equity value linkage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20040" y="3072384"/>
            <a:ext cx="8503920" cy="539496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" y="3072384"/>
            <a:ext cx="594360" cy="539496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0040" y="3072384"/>
            <a:ext cx="59436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024128" y="311810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Industry &amp; Competitive Analysis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024128" y="3374136"/>
            <a:ext cx="7680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classification • Porter’s Five Forces • competitive positioning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20040" y="3694176"/>
            <a:ext cx="8503920" cy="539496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20040" y="3694176"/>
            <a:ext cx="594360" cy="539496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0040" y="3694176"/>
            <a:ext cx="59436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024128" y="3739896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Equity Valuation: DDM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024128" y="3995928"/>
            <a:ext cx="7680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Gordon Growth: D0=€5 g=4% r=8% → V=€130 (CFA LM8) • preferred stock: $4.75/7.5%=$63.33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20040" y="4315968"/>
            <a:ext cx="8503920" cy="539496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" y="4315968"/>
            <a:ext cx="594360" cy="539496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0040" y="4315968"/>
            <a:ext cx="59436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06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1024128" y="436168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Equity Valuation: Multiples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1024128" y="4617720"/>
            <a:ext cx="7680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P/E (justified, Canon trend), P/B, P/S, EV/EBITDA • Telefónica vs Deutsche Telekom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Objectives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 PM  •  Session 8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20040" y="1207008"/>
            <a:ext cx="85039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8912" y="1389888"/>
            <a:ext cx="182880" cy="182880"/>
          </a:xfrm>
          <a:prstGeom prst="ellipse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125272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 Organisation &amp; Index Types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49808" y="1517904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exchange-traded vs OTC markets. Classify order types. Distinguish price-weighted, market-cap-weighted and equal-weighted indices.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0040" y="1847088"/>
            <a:ext cx="8503920" cy="54864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8912" y="2029968"/>
            <a:ext cx="182880" cy="182880"/>
          </a:xfrm>
          <a:prstGeom prst="ellipse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189280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 Efficiency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49808" y="2157984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and apply weak, semi-strong and strong form EMH. Explain implications for technical/fundamental analysis and active management.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320040" y="2487168"/>
            <a:ext cx="85039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8912" y="2670048"/>
            <a:ext cx="182880" cy="182880"/>
          </a:xfrm>
          <a:prstGeom prst="ellipse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9808" y="253288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Equity Security Characteristics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49808" y="2798064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common from preferred shares. Explain ADRs/GDRs. Connect ROE to book value growth and intrinsic value.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320040" y="3127248"/>
            <a:ext cx="8503920" cy="54864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8912" y="3310128"/>
            <a:ext cx="182880" cy="182880"/>
          </a:xfrm>
          <a:prstGeom prst="ellipse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9808" y="317296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Industry &amp; Competitive Analysis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49808" y="3438144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Porter’s Five Forces. Assess industry lifecycle. Identify competitive advantages and moats.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20040" y="3767328"/>
            <a:ext cx="85039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8912" y="3950208"/>
            <a:ext cx="182880" cy="182880"/>
          </a:xfrm>
          <a:prstGeom prst="ellipse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49808" y="381304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Dividend Discount Models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49808" y="4078224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 Gordon Growth Model value (D0=€5, g=4%, r=8% → €130). Value preferred stock (Union Electric → $63.33). Apply two-stage DDM.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320040" y="4407408"/>
            <a:ext cx="8503920" cy="54864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38912" y="4590288"/>
            <a:ext cx="182880" cy="182880"/>
          </a:xfrm>
          <a:prstGeom prst="ellipse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49808" y="445312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 Multiples &amp; EV/EBITDA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49808" y="4718304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and interpret P/E, P/B, P/S, P/CF and EV/EBITDA. Apply CFA Canon and Telefónica/Deutsche Telekom examples.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60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01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200400" y="1901952"/>
            <a:ext cx="2743200" cy="502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993392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 Organisation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(CFA LM1)</a:t>
            </a:r>
            <a:endParaRPr lang="en-US" sz="3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 Organisation — Types and Functions (CFA LM1)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 PM  •  Session 8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20040" y="77724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markets connect buyers and sellers of financial assets. CFA LM1: markets serve three core functions — allocate savings, discover prices, enable risk transfer.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298448"/>
          <a:ext cx="850392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286000"/>
                <a:gridCol w="1828800"/>
                <a:gridCol w="3017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Market Type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Definition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Example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Key Feature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Exchange-traded market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Centralised venue with standardised contracts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NYSE, LSE, CME (futures)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Transparent prices, regulated, counterparty risk via clearing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Over-the-counter (OTC)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Bilateral trades between dealers, no central venue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FX market, bond markets, OTC derivatives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Customisable, less transparent, counterparty risk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Primary market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New securities issued to public for first time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IPO, SEO, bond offering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Proceeds go to issuer (capital raising)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Secondary market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Existing securities traded between investors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Stock exchange trading, OTC bond trading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Provides liquidity; proceeds go to seller, not issuer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Quote-driven (dealer) market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Dealers post bid/ask prices; investors trade against them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OTC bond market, FX interbank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Dealers provide liquidity; earn bid-ask spread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Order-driven market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Orders from all participants matched by exchange rules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Most equity exchanges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Transparent order book; competitive pricing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 Types — Execution, Validity and Size (CFA LM1)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 PM  •  Session 8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20040" y="777240"/>
            <a:ext cx="850392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77724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 order specifies: WHAT to buy/sell, HOW MUCH, at WHAT PRICE, for HOW LONG</a:t>
            </a:r>
            <a:endParaRPr lang="en-US" sz="1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536192"/>
          <a:ext cx="85039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011680"/>
                <a:gridCol w="1371600"/>
                <a:gridCol w="1371600"/>
                <a:gridCol w="28346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Order Type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Execution Rule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Guaranteed Fill?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Price Certainty?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Use When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Market order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Execute immediately at best available price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Yes (if liquidity exists)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No: price depends on market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Speed &gt; price certainty. Urgent.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Limit order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Execute only at specified price or better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No: may not fill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Yes: set maximum (buy) or minimum (sell)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Price matters. Patient investor.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Stop (stop-loss) order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Becomes market order when stop price is hit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No: triggered, then market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No: converts to market order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Protect gains or limit losses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Stop-limit order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Becomes limit order when stop price is hit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No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Partial: limits how far price goes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More control but risk of no fill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Market-on-close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Execute at closing auction price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Yes (at close)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Near-closing price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Index funds matching benchmark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Good-till-cancelled (GTC)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Stays active until filled or cancelled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If price is reached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Yes (limit)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Long-term tactical orders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Security Market Indices — Construction Methods (CFA LM2)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 PM  •  Session 8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20040" y="77724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market index tracks the performance of a defined set of securities. The construction method determines what the index actually measures.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298448"/>
          <a:ext cx="85039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011680"/>
                <a:gridCol w="1828800"/>
                <a:gridCol w="2011680"/>
                <a:gridCol w="15544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Weighting Method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Formula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Advantage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Limitation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Example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Price-weighted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Simple average of member prices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Easy to calculate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Higher-price stocks dominate. Stock splits distort.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Dow Jones Industrial Average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Market-cap-weighted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Weight = market cap / total market cap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Reflects economic importance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Largest companies dominate; momentum bias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S&amp;P 500, FTSE 100, MSCI World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Float-adjusted market cap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Use only freely tradable shares, not insider holdings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More realistic tradable exposure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Excludes government/founding family stakes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Most major indices today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Equal-weighted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Same weight to every constituent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Captures small-cap exposure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Requires frequent rebalancing; impractical at scale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SPDR Equal Weight S&amp;P 500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Factor-weighted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Weight by fundamental factors (value, quality, etc.)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Targets specific risk premiums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Potentially higher turnover, costs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Smart beta / factor ETFs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Short Selling &amp; Leveraged Positions (CFA LM1)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 PM  •  Session 8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20040" y="777240"/>
            <a:ext cx="850392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77724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Short position: borrow shares → sell → buy back later.  Profit if price FALLS. Loss unlimited if price rises.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20040" y="155448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CFA LM1: investors can take leveraged (margin) positions or short positions. Both amplify returns but also amplify risk.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0040" y="2029968"/>
            <a:ext cx="4187952" cy="24871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" y="2029968"/>
            <a:ext cx="91440" cy="2487168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1208" y="212140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Short Selling — Mechanism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21208" y="2487168"/>
            <a:ext cx="3840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Borrow shares from broker (pay borrow fee).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Sell immediately in market at current price.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Wait for price to fall.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Buy back at lower price.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Return shares to lender. Profit = Sale price − Repurchase price − Costs.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Risk: unlimited loss (price can rise indefinitely). Short squeeze: forced buying by many shorts simultaneously.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727448" y="2029968"/>
            <a:ext cx="4187952" cy="24871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727448" y="2029968"/>
            <a:ext cx="91440" cy="2487168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28616" y="212140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Leveraged (Margin) Positions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928616" y="2487168"/>
            <a:ext cx="3840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Borrow funds from broker to buy MORE shares than cash allows.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margin: minimum equity % required (e.g. 50%).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margin: minimum ongoing (e.g. 25%).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call: if equity &lt; maintenance, must deposit more or sell.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Leverage amplifies gains: 2x leverage on +10% move = +20%.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Leverage amplifies losses: 2x leverage on −10% = −20%.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20040" y="4645152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CFA LM1: leverage ratio = value of position / equity invested. A margin loan of $40,000 on $100,000 position = 2.5x leverage. Total loss possible exceeds initial investment if leverage used.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02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200400" y="1901952"/>
            <a:ext cx="2743200" cy="502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993392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 Efficiency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(CFA LM3)</a:t>
            </a:r>
            <a:endParaRPr lang="en-US" sz="3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Efficient Market Hypothesis — Three Forms (CFA LM3)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 PM  •  Session 8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20040" y="777240"/>
            <a:ext cx="850392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77724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EMH: prices fully and immediately reflect all available information. Active management cannot consistently earn excess risk-adjusted returns.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536192"/>
          <a:ext cx="85039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286000"/>
                <a:gridCol w="2286000"/>
                <a:gridCol w="21031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Form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Information Reflected in Prices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Implication for Analysis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Evidence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Weak form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All PAST trading prices and volume (historical)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Technical analysis does NOT work (patterns are random). Fundamental analysis may work.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Mixed: some short-term momentum anomalies found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Semi-strong form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All PUBLICLY available information (prices, reports, news, analyst forecasts)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Technical AND fundamental analysis do not work consistently. Only insider info would help.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Generally supported: markets adjust quickly to public news. Most active managers underperform.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Strong form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ALL information: public AND private (insider) information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Even insiders cannot earn excess returns consistently. Perfection.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Rejected: insider trading cases prove private info creates edge (but illegal)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320040" y="4041648"/>
            <a:ext cx="4187952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20040" y="4041648"/>
            <a:ext cx="91440" cy="109728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21208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Implications for Active Managers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21208" y="4498848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Semi-strong EMH implies active management (stock picking, fundamental research) cannot consistently beat the market after fees.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Response: either markets are not semi-strong, or there are persistent mispricings (anomalies, illiquid/neglected securities).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4727448" y="4041648"/>
            <a:ext cx="4187952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727448" y="4041648"/>
            <a:ext cx="91440" cy="109728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928616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EMH Caveats &amp; Anomalies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28616" y="4498848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premium: low P/B stocks historically outperformed.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premium: small-cap outperformed.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Momentum: past 12-month winners beat losers.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may be: (a) risk premia, (b) data mining, or (c) genuine inefficiency.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Behavioural Finance — Why Markets May Be Inefficient (CFA LM3)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 PM  •  Session 8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20040" y="77724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CFA LM3: behavioural finance challenges EMH by showing investors systematically deviate from rationality in predictable ways.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298448"/>
          <a:ext cx="85039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194560"/>
                <a:gridCol w="2011680"/>
                <a:gridCol w="3566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Bias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Description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Investment Impact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Example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Loss aversion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Pain of losses felt 2× more than pleasure of equivalent gains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Hold losers too long (avoid realising loss). Sell winners too early.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Disposition effect: investor won’t sell a stock down 30%.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Overconfidence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Investors overestimate their own skill and knowledge accuracy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Over-trade, under-diversify, concentrated bets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Active traders typically underperform passive after fees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Herding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Investors mimic crowd behaviour rather than independent analysis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Bubbles (all buy) and panics (all sell)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Tech bubble 1999–2000, Meme stocks 2021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Anchoring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Over-reliance on first piece of information (anchor) in decision making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Stick to initial price paid, ignoring new information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Won’t sell below purchase price even if fundamentals collapse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Representativeness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Judge probability based on similarity to known patterns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Chase recent performance; confuse good company with good stock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Buy fund after great 3-year run (always lagged)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Confirmation bias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Seek information that confirms existing view, ignore contradictory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Insufficient due diligence; underweighted red flags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Analyst bullish on stock ignores bearish analyst reports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Active vs Passive Investment — EMH Implications (CFA LM3)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 PM  •  Session 8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20040" y="77724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CFA LM3: if markets are semi-strong efficient, active management (stock picking) cannot consistently outperform after fees. This debate shapes the entire investment industry.</a:t>
            </a:r>
            <a:endParaRPr lang="en-US" sz="13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298448"/>
          <a:ext cx="85039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377440"/>
                <a:gridCol w="1828800"/>
                <a:gridCol w="2286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Approach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Premise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Typical Cost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Evidence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Passive (index) investing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Market is semi-strong efficient. Best return = market return minus fees.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0.03–0.20% TER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SPIVA data: 85%+ of active managers underperform over 10 years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Active fundamental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Semi-strong EMH wrong. Research uncovers mispricings.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0.5–1.5% TER + transaction costs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Some managers outperform but not persistently. Hard to distinguish skill from luck.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Active quantitative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Systematic factors can be exploited (value, momentum, quality)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0.2–0.8% TER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Factor premia documented academically. But may be eroded once widely known.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Private markets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Inefficient; illiquid; superior due diligence adds value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1–2% management + 20% carry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Illiquidity premium real but difficult to access; long lock-ups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4133088"/>
            <a:ext cx="8503920" cy="914400"/>
          </a:xfrm>
          <a:prstGeom prst="rect">
            <a:avLst/>
          </a:prstGeom>
          <a:solidFill>
            <a:srgbClr val="FEF0E7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Paradox of Active Management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57200" y="4517136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Markets BECOME efficient because active managers trade on mispricings and correct them. If everyone went passive, no-one would correct mispricings and markets would become inefficient.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Gross-of-fees: the average active manager must earn the index return (zero-sum game minus transactions).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Net-of-fees: the average active manager MUST underperform passive after fees. The question is whether the BEST managers consistently outperform by enough to justify their fees.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860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03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200400" y="1901952"/>
            <a:ext cx="2743200" cy="502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993392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Equity Securities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(CFA LM4)</a:t>
            </a:r>
            <a:endParaRPr lang="en-US" sz="3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Common vs Preferred Equity — CFA LM4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 PM  •  Session 8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20040" y="777240"/>
            <a:ext cx="850392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77724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Common = ordinary shares (residual). Preferred = priority claim, fixed dividend, usually no vote.</a:t>
            </a:r>
            <a:endParaRPr lang="en-US" sz="1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536192"/>
          <a:ext cx="85039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383280"/>
                <a:gridCol w="32918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Feature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Common Shares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Preferred Shares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Dividend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Variable: paid from residual profits, at board’s discretion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Fixed: stated rate on par value. Cumulative if missed.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Priority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Last in line: receives what’s left after all other claims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Before common, after debt. Priority in dividends and liquidation.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Voting rights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Vote on board elections, major corporate transactions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Usually non-voting (in exchange for priority)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Capital appreciation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Full upside: profits from growing earnings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Limited: priced like bond. Less upside but more stable.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Return characteristics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Equity risk premium. Higher expected return.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Hybrid: equity-like structure, bond-like return profile.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Typical investors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Equity investors: pension funds, mutual funds, individuals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Income investors, insurance companies, preferred ETFs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320040" y="4617720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CFA LM4: preferred shares may also be CONVERTIBLE (into common shares), CALLABLE (issuer can redeem), CUMULATIVE (unpaid dividends accumulate) or PARTICIPATING (share in excess earnings).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ROE and Equity Value — Why ROE Drives Intrinsic Value (CFA LM4)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 PM  •  Session 8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20040" y="77724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CFA LM4: equity investors receive the benefit of a company’s future earnings. ROE links accounting performance to the intrinsic value of equity.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261872"/>
            <a:ext cx="850392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1261872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Book Value per Shareₜ = Book Valueₜ₋₁ + EPS − DPS     (grows by retained earnings)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20040" y="2029968"/>
            <a:ext cx="8503920" cy="2029968"/>
          </a:xfrm>
          <a:prstGeom prst="rect">
            <a:avLst/>
          </a:prstGeom>
          <a:solidFill>
            <a:srgbClr val="FEF0E7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103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ROE and the SUSTAINABLE GROWTH RATE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2414016"/>
            <a:ext cx="8229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 (sustainable growth rate) = b × ROE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b = retention rate = 1 − payout ratio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ROE = 15%, payout ratio = 40%, retention rate b = 60%.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 = 0.60 × 15% = 9%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Intuition: the company retains 60% of earnings and earns 15% on that equity. So equity book value grows at 9% per year. If dividends also grow at 9%, this g can be used in the Gordon Growth Model.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CFA insight: a company can increase g by (1) improving ROE (better profitability/efficiency/leverage) or (2) retaining more earnings (reducing payout ratio). But reducing payout also reduces dividend, so these trade off in the DDM.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20040" y="4224528"/>
            <a:ext cx="4187952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20040" y="4224528"/>
            <a:ext cx="91440" cy="91440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1208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Cost of Equity vs ROE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21208" y="468172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ROE &gt; r_e (cost of equity): company earns above required return. Creates value. P/B &gt; 1.0.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ROE = r_e: earns exactly required return. P/B = 1.0.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ROE &lt; r_e: destroys value. P/B &lt; 1.0.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727448" y="4224528"/>
            <a:ext cx="4187952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27448" y="4224528"/>
            <a:ext cx="91440" cy="91440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28616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ADRs and GDRs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928616" y="468172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American/Global Depositary Receipts: foreign shares held by bank, USD/denominated certificates issued to US investors.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Eliminate FX settlement. Allow exposure to foreign companies on home exchange.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differ from local share price (arbitrage opportunity).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Equity Return &amp; Risk Characteristics (CFA LM4)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 PM  •  Session 8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20040" y="77724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CFA LM4: equity securities are the most volatile but historically highest-returning asset class. Understanding return components and risks is fundamental.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261872"/>
            <a:ext cx="850392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1261872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Total Return  =  Price Appreciation  +  Dividend Yield    (plus FX if non-domestic)</a:t>
            </a:r>
            <a:endParaRPr lang="en-US" sz="15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2029968"/>
          <a:ext cx="85039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560320"/>
                <a:gridCol w="2011680"/>
                <a:gridCol w="28346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Component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Description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Range (Long Run)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Influenced By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Dividend yield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Annual dividend / current price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1–5% for dividend payers; 0% for growth stocks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Payout policy, earnings stability, dividend growth expectations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Price appreciation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Capital gain from rising market price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4–8% historically in developed markets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EPS growth, P/E re-rating, macro conditions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Total equity return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Historical equity risk premium vs bonds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5–8% above risk-free rate (long-run average)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GDP growth, inflation, risk aversion, valuations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Currency effect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FX change on foreign holdings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+/−10%+ per year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Relative inflation, interest rates, trade flows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2" name="Shape 9"/>
          <p:cNvSpPr/>
          <p:nvPr/>
        </p:nvSpPr>
        <p:spPr>
          <a:xfrm>
            <a:off x="320040" y="4160520"/>
            <a:ext cx="8503920" cy="914400"/>
          </a:xfrm>
          <a:prstGeom prst="rect">
            <a:avLst/>
          </a:prstGeom>
          <a:solidFill>
            <a:srgbClr val="FEF0E7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57200" y="42336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Equity Risks vs Other Asset Classes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57200" y="4544568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Systematic risk (β): cannot be diversified away. Compensated by equity risk premium.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Unsystematic (specific) risk: can be eliminated via diversification across 20+ uncorrelated securities.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 subordination: in liquidation, equityholders are LAST. In distress, equity often worth zero.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Liquidity risk: small/mid-cap stocks can be hard to sell in quantity without moving price.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04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200400" y="1901952"/>
            <a:ext cx="2743200" cy="502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993392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Industry &amp; Competitive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Analysis (CFA LM6)</a:t>
            </a:r>
            <a:endParaRPr lang="en-US" sz="3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Industry Analysis — Why It Matters for Equity Analysts (CFA LM6)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 PM  •  Session 8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20040" y="77724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CFA LM6: industry characteristics dominate individual company performance. Companies in attractive industries have structural tailwinds; those in challenged industries fight headwinds.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298448"/>
            <a:ext cx="85039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8912" y="1517904"/>
            <a:ext cx="182880" cy="182880"/>
          </a:xfrm>
          <a:prstGeom prst="ellipse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13533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Improve earnings forecasts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49808" y="1645920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economics (pricing, cost structure, competitive intensity) determine sustainable margins. Analyse industry BEFORE company.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0040" y="2011680"/>
            <a:ext cx="8503920" cy="621792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8912" y="2231136"/>
            <a:ext cx="182880" cy="182880"/>
          </a:xfrm>
          <a:prstGeom prst="ellipse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" y="206654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Identify investment opportunities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49808" y="2359152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Top-down: find attractive industries first, then pick the best company within them. Sector rotation is a key active strategy.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20040" y="2724912"/>
            <a:ext cx="85039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8912" y="2944368"/>
            <a:ext cx="182880" cy="182880"/>
          </a:xfrm>
          <a:prstGeom prst="ellipse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9808" y="277977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Assess competitive position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49808" y="3072384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company can thrive or fail depending on industry structure. Industry is the sea; company positioning is the boat.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20040" y="3438144"/>
            <a:ext cx="8503920" cy="621792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8912" y="3657600"/>
            <a:ext cx="182880" cy="182880"/>
          </a:xfrm>
          <a:prstGeom prst="ellipse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9808" y="349300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Benchmark company performance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49808" y="3785616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 comparison only meaningful within the same industry. Compare margins, growth and capital allocation to industry average.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20040" y="4151376"/>
            <a:ext cx="85039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38912" y="4370832"/>
            <a:ext cx="182880" cy="182880"/>
          </a:xfrm>
          <a:prstGeom prst="ellipse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49808" y="420624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Understand macro-industry linkages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49808" y="4498848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industries respond differently to business cycles. Cyclical vs defensive vs growth vs interest-rate-sensitive.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Porter’s Five Forces — Industry Profitability Framework (CFA LM6)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 PM  •  Session 8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20040" y="77724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CFA LM6: Michael Porter’s Five Forces determine the long-run profitability potential of an industry. All five must be assessed together.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298448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0040" y="1298448"/>
            <a:ext cx="91440" cy="658368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33502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 Threat of New Entrants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926080" y="133502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6B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LOW → high barriers = high profit potential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02920" y="1664208"/>
            <a:ext cx="7936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Barriers: capital requirements, economies of scale, brand loyalty, patents, switching costs, regulatory licences. Example: commercial aircraft (HIGH barrier, Airbus/Boeing duopoly). Coffee shops (LOW barrier).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20040" y="2029968"/>
            <a:ext cx="8503920" cy="658368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2029968"/>
            <a:ext cx="91440" cy="658368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06654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 Bargaining Power of Suppliers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926080" y="20665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6B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LOW → many suppliers = high profit potential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02920" y="2395728"/>
            <a:ext cx="7936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if: few suppliers, differentiated inputs, high switching costs, suppliers can forward-integrate. Example: TSMC has high power over chip customers. Wheat farmers have low power.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20040" y="2761488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" y="2761488"/>
            <a:ext cx="91440" cy="658368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279806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 Bargaining Power of Buyers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926080" y="279806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6B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LOW → fragmented buyers = high profit potential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02920" y="3127248"/>
            <a:ext cx="7936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if: few large buyers, standardised product, low switching cost, buyers can backward-integrate. Example: Walmart has huge power over suppliers. Individual consumers have low power.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20040" y="3493008"/>
            <a:ext cx="8503920" cy="658368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" y="3493008"/>
            <a:ext cx="91440" cy="658368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2920" y="352958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4. Threat of Substitutes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2926080" y="352958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6B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LOW → few substitutes = high profit potential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502920" y="3858768"/>
            <a:ext cx="7936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Substitutes reduce pricing power. Electric vehicles substitute for petrol cars. Video calls substitute for business travel. The more substitutes, the lower the sustainable price premium.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20040" y="4224528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20040" y="4224528"/>
            <a:ext cx="91440" cy="658368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2920" y="42611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5. Competitive Rivalry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2926080" y="426110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6B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LOW rivalry = high profit potential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02920" y="4590288"/>
            <a:ext cx="7936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Intense if: many competitors, slow growth, high fixed costs, undifferentiated products, high exit barriers. Steel, airlines, retail banking = high rivalry. Pharmaceuticals (patented drugs) = low rivalry.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Industry Lifecycle — Growth, Margins &amp; Strategy (CFA LM6)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 PM  •  Session 8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20040" y="77724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Industries evolve through predictable stages. Understanding the lifecycle stage helps forecast revenue growth, margin trajectory and competitive dynamics.</a:t>
            </a:r>
            <a:endParaRPr lang="en-US" sz="13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298448"/>
          <a:ext cx="85039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463040"/>
                <a:gridCol w="1645920"/>
                <a:gridCol w="1828800"/>
                <a:gridCol w="28346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Stage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Revenue Growth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Profitability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Competition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Investment Approach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Embryonic (launch)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Very high (small base)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Negative/break-even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Few, innovative firms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VC: high risk, no earnings. Binary outcome.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Growth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Rapid (20%+)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Improving, reinvested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New entrants, market expands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P/S, EV/Sales: no earnings yet. Pay for optionality.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Shakeout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Decelerating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Competitive pressure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Consolidation. Weaker firms exit.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Select quality: survivors take share.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Mature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GDP-like (low single digits)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Stable, returns capital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Established oligopoly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P/E, dividends. EV/EBITDA multiples fair value.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Decline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Negative or flat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Contracting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Shrinkage. Survivors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Asset value, FCF yield. Value trap risk.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4160520"/>
            <a:ext cx="8503920" cy="914400"/>
          </a:xfrm>
          <a:prstGeom prst="rect">
            <a:avLst/>
          </a:prstGeom>
          <a:solidFill>
            <a:srgbClr val="FEF0E7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42336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Investment implications by stage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57200" y="4544568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stage companies: justify high multiples if growth rate is high enough. Pay for future earnings, not current.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Mature stage companies: value based on dividends and P/E. EV/EBITDA vs peers.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Declining stage: watch for disruption. Book value and asset liquidation relevant. Dividend sustainability key risk.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Competitive Positioning — Moats &amp; Pricing Power (CFA LM6)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 PM  •  Session 8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20040" y="77724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CFA LM6: beyond industry structure, individual company competitive positioning determines ability to earn above-normal returns within an industry.</a:t>
            </a:r>
            <a:endParaRPr lang="en-US" sz="13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298448"/>
          <a:ext cx="85039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194560"/>
                <a:gridCol w="2560320"/>
                <a:gridCol w="19202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Competitive Advantage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Description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Examples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Durability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Cost leadership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Lowest cost producer. Pricing power = can undercut and still profit.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Amazon logistics, TSMC fabs, Ryanair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High if structural. Eroded by innovation.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Differentiation / Brand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Premium pricing via unique product or brand loyalty.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Apple iPhone, LVMH, Hermès, Nike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High if brand is deeply embedded. Can erode.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Network effects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Product becomes more valuable as more users join. Winner-takes-most.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Visa/Mastercard, LinkedIn, WhatsApp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Very high once network established.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Switching costs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Customers face high cost to change suppliers.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SAP ERP, Bloomberg Terminal, Salesforce CRM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High. Customers sticky even with better alternatives.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Intangibles / IP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Patents, regulatory licences, proprietary data or processes.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Pharma patents, regulatory exclusivity, data assets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Medium-high. Patent cliff is a risk.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Scale advantages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Fixed costs spread over larger volume = lower unit cost.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Walmart, Google Search, Netflix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High. Hard to replicate without matching scale.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320040" y="4572000"/>
            <a:ext cx="8503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Morningstar Moat Ratings: Wide moat = competitive advantage likely to persist 20+ years. Narrow moat = 10+ years. No moat = unlikely to last. Moat strength directly predicts ability to sustain ROIC &gt; WACC.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860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05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200400" y="1901952"/>
            <a:ext cx="2743200" cy="502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993392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Equity Valuation: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DDM (CFA LM8)</a:t>
            </a:r>
            <a:endParaRPr lang="en-US" sz="3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Equity Valuation Framework — Three Approaches (CFA LM8)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 PM  •  Session 8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20040" y="77724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CFA LM8: analysts estimate INTRINSIC VALUE and compare to market price. Overvalued if V &lt; P; undervalued if V &gt; P.</a:t>
            </a:r>
            <a:endParaRPr lang="en-US" sz="13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298448"/>
          <a:ext cx="85039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103120"/>
                <a:gridCol w="2011680"/>
                <a:gridCol w="182880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Approach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Core Logic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Models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Best For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Limitation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Present Value (Intrinsic)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Discount future cash flows to PV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DDM, FCFE, FCFF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Dividend-paying, stable firms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Sensitive to growth rate and discount rate assumptions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Price Multiples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Compare price to a value driver using peers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P/E, P/B, P/S, EV/EBITDA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Screening, relative comparison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Requires comparable companies to be truly comparable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Asset-Based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Value underlying assets, net of liabilities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Net asset value, book value, liquidation value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Banks, real estate, holding companies, distressed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Historical cost may understate/overstate current value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493008"/>
            <a:ext cx="8503920" cy="1170432"/>
          </a:xfrm>
          <a:prstGeom prst="rect">
            <a:avLst/>
          </a:prstGeom>
          <a:solidFill>
            <a:srgbClr val="FEF0E7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3566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no single model is enough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57200" y="3877056"/>
            <a:ext cx="8229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CFA LM8: ‘Analysts must cope with uncertainties related to model appropriateness and the correct value of inputs.’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practice: triangulate across 2-3 models. If all methods point to undervaluation, conviction is higher.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 investors use DCF (anchor), EV multiples (quick benchmark), and NAV/asset-based (floor value in stress).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Preferred Stock Valuation — CFA LM8 (Union Electric Example)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 PM  •  Session 8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20040" y="777240"/>
            <a:ext cx="850392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77724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V₀ = D₀ / r     (perpetuity formula for non-callable, non-convertible preferred stock)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20040" y="155448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Preferred stock pays a fixed dividend indefinitely (if perpetual). It is valued exactly like a perpetuity in TVM notation.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0040" y="2029968"/>
            <a:ext cx="8503920" cy="2212848"/>
          </a:xfrm>
          <a:prstGeom prst="rect">
            <a:avLst/>
          </a:prstGeom>
          <a:solidFill>
            <a:srgbClr val="FEF0E7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103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CFA LM8 EXAMPLE 6 — UNION ELECTRIC CO. 4.75% PERPETUAL PREFERRED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2414016"/>
            <a:ext cx="8229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Data: Par value = USD 100. Annual dividend = USD 4.75 (4.75% × $100). Maturity = perpetual. No call, no conversion.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rate of return on Ba1/BB-rated preferred shares = 7.5%.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Intrinsic value = D/r = USD 4.75 / 0.075 = USD 63.33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Since market price &lt; $100 par value, the issue is trading at a large DISCOUNT to par.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Callability: if the issue were callable, the issuer would only call when market price &gt; call price. Since price ($63.33) &lt;&lt; par ($100), callability is irrelevant here and barely reduces value.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CFA LM8 Case 1 answer: USD 63.33. CFA LM8 adds: callable issues have lower intrinsic value (call option beneficial to issuer, not investor).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Gordon (Constant) Growth Model — CFA LM8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 PM  •  Session 8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20040" y="777240"/>
            <a:ext cx="850392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77724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V₀  =  D₁ / (r − g)  =  D₀(1+g) / (r − g)     [r = required return, g = constant growth rate]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20040" y="155448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Gordon Growth Model values a stock as a growing perpetuity of dividends. Requires: stable, perpetual business; r &gt; g always.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0040" y="2029968"/>
            <a:ext cx="8503920" cy="2212848"/>
          </a:xfrm>
          <a:prstGeom prst="rect">
            <a:avLst/>
          </a:prstGeom>
          <a:solidFill>
            <a:srgbClr val="FEF0E7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103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CFA LM8 — CORE EXAMPLE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2414016"/>
            <a:ext cx="8229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Data: Current annual dividend D₀ = €5.00. Constant growth rate g = 4%. Required return r = 8%.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D₁ = D₀ × (1+g) = €5.00 × 1.04 = €5.20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V₀ = D₁ / (r − g) = €5.20 / (0.08 − 0.04) = €5.20 / 0.04 = €130 per share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NOTE: Numerator is D₁ (next year’s dividend), NOT D₀. CFA: ‘Using the wrong numerator is a common error.’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Sensitivity: if g rises from 4% to 5%: V₀ = 5.25/0.03 = €175 (+35%). If r rises from 8% to 9%: V₀ = 5.20/0.05 = €104 (−20%). Growth rate changes are highly amplifying!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0040" y="4370832"/>
            <a:ext cx="8503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Appropriate when: company in mature, stable stage. Utility companies, consumer staples, established financial institutions. NOT for high-growth tech.</a:t>
            </a:r>
            <a:endParaRPr lang="en-US" sz="12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Sustainable Growth Rate &amp; Two-Stage DDM (CFA LM8)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 PM  •  Session 8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20040" y="777240"/>
            <a:ext cx="850392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77724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  =  b × ROE     where b = retention rate = 1 − dividend payout ratio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320040" y="155448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companies cannot maintain a single constant growth rate forever. The two-stage DDM handles a high-growth phase followed by mature steady-state growth.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0040" y="2029968"/>
            <a:ext cx="8503920" cy="2423160"/>
          </a:xfrm>
          <a:prstGeom prst="rect">
            <a:avLst/>
          </a:prstGeom>
          <a:solidFill>
            <a:srgbClr val="FEF0E7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103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TWO-STAGE DDM WORKED EXAMPLE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2414016"/>
            <a:ext cx="8229600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Company: ROE = 18%, payout = 40%, b = 60%. Current dividend D₀ = $2.00. Required return r = 12%.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High-growth phase g₁ = b × ROE = 60% × 18% = 10.8% for 5 years.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Mature phase g₂ = 4% thereafter.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1: D₁ = 2.00 × 1.108 = $2.216    Year 2: D₂ = 2.216 × 1.108 = $2.455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3: $2.720    Year 4: $3.014    Year 5: $3.339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 value at end of Year 5: TV₅ = D₆/(r−g₂) = (3.339×1.04)/(0.12−0.04) = 3.473/0.08 = $43.41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V₀ = PV of years 1–5 + PV(TV₅) at 12%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= 2.216/1.12 + 2.455/1.12² + 2.720/1.12³ + 3.014/1.12⁴ + (3.339+43.41)/1.12⁵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= 1.979 + 1.958 + 1.935 + 1.916 + 26.50 = $34.29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06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200400" y="1901952"/>
            <a:ext cx="2743200" cy="502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993392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Equity Valuation: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 Multiples (CFA LM8)</a:t>
            </a:r>
            <a:endParaRPr lang="en-US" sz="3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Price-to-Earnings Ratio — The Most Cited Multiple (CFA LM8)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 PM  •  Session 8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20040" y="777240"/>
            <a:ext cx="850392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77724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P/E  =  Price per Share / EPS     Justified P/E  =  p / (r − g)  =  payout ratio / (r − g)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20040" y="155448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P/E is the most widely cited valuation multiple. CFA LM8: P/E is positively related to growth and payout ratio, inversely to required return.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0040" y="2029968"/>
            <a:ext cx="8503920" cy="2395728"/>
          </a:xfrm>
          <a:prstGeom prst="rect">
            <a:avLst/>
          </a:prstGeom>
          <a:solidFill>
            <a:srgbClr val="FEF0E7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103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Justified P/E from Gordon Growth Model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2414016"/>
            <a:ext cx="8229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Gordon Growth: P₀ = D₁/(r−g). Divide both sides by E₁ (forward EPS): P₀/E₁ = (D₁/E₁)/(r−g) = p/(r−g)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p = payout ratio = D₁/E₁.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payout ratio p = 40%, r = 10%, g = 5%.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Justified forward P/E = 0.40 / (0.10 − 0.05) = 0.40 / 0.05 = 8.0x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payout rises to 60%: P/E = 0.60/0.05 = 12.0x (more generous dividend → higher P/E)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r rises to 12%: P/E = 0.40/0.07 = 5.7x (higher discount rate → lower P/E)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g rises to 7%: P/E = 0.40/0.03 = 13.3x (faster growth → much higher P/E)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CFA caution: P/E is meaningless when EPS is negative. Use P/S or EV/EBITDA instead.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P/E Trend Analysis — CFA LM8 Canon Inc. (Example 15)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 PM  •  Session 8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20040" y="77724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Directly from CFA Vol 5, LM8, Example 15. Canon P/E trend analysis over 5 years reveals valuation context.</a:t>
            </a:r>
            <a:endParaRPr lang="en-US" sz="125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298448"/>
          <a:ext cx="850392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828800"/>
                <a:gridCol w="1645920"/>
                <a:gridCol w="1371600"/>
                <a:gridCol w="34747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Year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Price (JPY)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EPS (JPY)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P/E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Analyst Signal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2013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¥3,330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¥200.8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16.6x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Historical low — floor of 5-year range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2014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¥3,840.5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¥229.0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16.8x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Consistent with 2013 level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2015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¥3,675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¥201.7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18.2x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Slight re-rating upward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2016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¥3,295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¥138.0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23.9x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PEAK — EPS collapsed, price held. P/E inflated.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2017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¥4,200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¥222.9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18.8x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Near historical average. EPS recovered. Fairly priced?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4041648"/>
            <a:ext cx="8503920" cy="1005840"/>
          </a:xfrm>
          <a:prstGeom prst="rect">
            <a:avLst/>
          </a:prstGeom>
          <a:solidFill>
            <a:srgbClr val="FEF0E7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4114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CFA LM8 Analysis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57200" y="4425696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analysis: 2016 peak P/E of 23.9x reflects EPS collapse, not re-rating. Price held while earnings fell.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year-end 2017 P/E of 18.8x: close to historical average of 16.6–18.2x. Appears fairly priced based on trend.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 case: P/E re-rating above 18.8x justified by EPS recovery. Bear case: P/E reverts to historical low of 16.6x → price = 16.6 × ¥222.9 = ¥3,700. Downside limited if EPS holds.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 Multiples Suite — P/B, P/S, P/CF and EV/EBITDA (CFA LM8)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 PM  •  Session 8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20040" y="77724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multiples highlight different value drivers. CFA LM8 tests all four. Use multiple together for a fuller picture.</a:t>
            </a:r>
            <a:endParaRPr lang="en-US" sz="13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298448"/>
          <a:ext cx="85039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103120"/>
                <a:gridCol w="164592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Multiple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Formula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Best For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Limitation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P/E (Price/Earnings)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Stock price / EPS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Profitable companies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Meaningless if EPS negative. Affected by leverage.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P/B (Price/Book)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Stock price / Book value per share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Banks, financials, asset-heavy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Book value may not reflect market value of assets. Intangibles excluded.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P/S (Price/Sales)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Stock price / Revenue per share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Loss-making companies, revenue visibility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No profitability info. High revenue ≠ high earnings.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P/CF (Price/Cash Flow)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Stock price / Operating cash flow per share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When earnings distorted by D&amp;A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Cash flow can still be manipulated via working capital.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EV/EBITDA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Enterprise value / EBITDA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Cross-border, cross-capital-structure comparison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EBITDA ignores capex. High D&amp;A companies look cheaper.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CFA LM8: Telefónica vs Deutsche Telekom — Multi-Multiple Comparison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 PM  •  Session 8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20040" y="77724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CFA Vol 5, LM8. Two European telecoms. Multiples analysis reveals mixed signals. Requires integration rather than reliance on a single metric.</a:t>
            </a:r>
            <a:endParaRPr lang="en-US" sz="125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298448"/>
          <a:ext cx="85039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828800"/>
                <a:gridCol w="1828800"/>
                <a:gridCol w="48463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Multiple (2017)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Telefónica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Deutsche Telekom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Interpretation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P/Revenue (P/S)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0.8x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0.8x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Equal. Both in line with revenue.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P/Cash Flow (P/CF)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2.9x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3.7x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Telefónica cheaper on cash flow. Better relative value.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P/Book (P/B)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2.4x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1.5x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Deutsche Telekom cheaper on book. More assets per € of market cap.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P/Earnings (P/E)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14.0x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18.2x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Telefónica cheaper on earnings. But 2016 P/E was 22x (more normalised).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EV/EBITDA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2.5x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3.1x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Telefónica cheaper by EV/EBITDA. This EBITDA difference cannot be explained by D&amp;A differences — DT appears to have higher earnings quality.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4224528"/>
            <a:ext cx="8503920" cy="896112"/>
          </a:xfrm>
          <a:prstGeom prst="rect">
            <a:avLst/>
          </a:prstGeom>
          <a:solidFill>
            <a:srgbClr val="FEF0E7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4297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CFA LM8 Conclusion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57200" y="4608576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Multiples broadly suggest Telefónica is attractively valued vs Deutsche Telekom on P/CF, P/E and EV/EBITDA. BUT: P/B suggests the opposite (DT cheaper). The analyst must investigate WHY — difference in asset base quality? Accounting differences? Higher DT leverage?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the P/E gap (14x vs 18x) cannot be explained by higher DT depreciation charges, higher interest, or taxes. Appears to reflect better UNDERLYING earnings quality at DT.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Enterprise Value — Capital-Structure-Neutral Valuation (CFA LM8)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 PM  •  Session 8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20040" y="777240"/>
            <a:ext cx="850392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77724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  =  Market Cap  +  Preferred  +  Total Debt  −  Cash &amp; Equivalents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20040" y="155448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 = the cost of a complete takeover: you assume the target’s debt but receive its cash. EV is capital-structure-neutral — it removes the effect of leverage.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0040" y="2029968"/>
            <a:ext cx="4187952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" y="2029968"/>
            <a:ext cx="91440" cy="242316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1208" y="212140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EV is Used in M&amp;A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21208" y="2487168"/>
            <a:ext cx="3840480" cy="1856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Acquiring company inherits ALL capital claims.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 captures the full acquisition cost: pay for equity, assume debt, receive cash.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Target market cap = £300m. Debt = £200m. Cash = £50m.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 = 300 + 200 − 50 = £450m (true cost to acquirer).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EV, a company with huge debt would look cheap on P/E but is actually expensive.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727448" y="2029968"/>
            <a:ext cx="4187952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727448" y="2029968"/>
            <a:ext cx="91440" cy="242316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28616" y="212140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EV/EBITDA in Practice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928616" y="2487168"/>
            <a:ext cx="3840480" cy="1856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EBITDA = proxy for pre-D&amp;A, pre-interest operating cash flow.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EV/EBITDA compares enterprise value to operating cash.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Advantage: not affected by D&amp;A method, leverage or tax rate → cross-border and cross-capital-structure comparable.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ranges: Utilities 8-12x. Consumer staples 12-18x. Tech 20-40x+.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CFA: ‘EV/EBITDA is arguably the most common EV multiple in Europe.’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20040" y="4572000"/>
            <a:ext cx="8503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 multiples most useful when P/E is distorted by: (a) different D&amp;A policies, (b) different tax rates, (c) different capital structures. Always check Net Debt / EBITDA alongside EV/EBITDA.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Asset-Based Valuation — When to Use NAV (CFA LM8)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 PM  •  Session 8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20040" y="777240"/>
            <a:ext cx="850392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77724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NAV  =  Fair Value of Assets − Fair Value of Liabilities     (net asset value per share = NAV / shares)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20040" y="155448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CFA LM8: asset-based models estimate value by marking assets to fair value. Particularly relevant for holding companies, financials and real estate.</a:t>
            </a:r>
            <a:endParaRPr lang="en-US" sz="13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2029968"/>
          <a:ext cx="85039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286000"/>
                <a:gridCol w="2194560"/>
                <a:gridCol w="2194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Situation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Why Asset-Based Preferred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Example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Note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Investment holding companies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Value = sum of portfolio holdings at market prices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Berkshire Hathaway: sum of listed + private stakes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Conglomerate discount: market values less than NAV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Real estate / REITs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Properties can be valued by independent appraisers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British Land, Unibail. NAV = property values − debt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P/NAV premium or discount vs peers is key signal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Banks / insurers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Financial assets mainly: loans, securities, derivatives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P/B is proxy for asset-based. Marks matter.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Loan quality (NPLs) and mark-to-model risk critical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Distressed companies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Liquidation value as floor, not going-concern value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Chapter 7 liquidation analysis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Enterprise value may be below book. Equity = zero if liabilities &gt; assets.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Natural resources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Reserves valued independently; asset value key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Oil company: PV10 of proved reserves × oil price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Reserve life index (RLI) = reserves/production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320040" y="4617720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CFA LM8: asset-based valuation is most reliable when assets are liquid, market values are observable and the business model primarily holds assets rather than creates them.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253A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2860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PRACTICE PROBLEMS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through each before checking answers.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987552"/>
            <a:ext cx="8321040" cy="694944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987552"/>
            <a:ext cx="594360" cy="694944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987552"/>
            <a:ext cx="594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52144" y="1051560"/>
            <a:ext cx="7452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Gordon Growth Model (CFA LM8): D₀ = €3.00, g = 5%, r = 9%. (a) Calculate D₁. (b) Calculate intrinsic value V₀. (c) If market price = €82, is the stock overvalued, undervalued or fairly valued?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1783080"/>
            <a:ext cx="8321040" cy="694944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1783080"/>
            <a:ext cx="594360" cy="694944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1783080"/>
            <a:ext cx="594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52144" y="1847088"/>
            <a:ext cx="7452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Preferred stock (CFA LM8, Union Electric): A non-callable perpetual preferred stock pays USD 4.75/year. Required return = 7.5%. What is the intrinsic value?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2578608"/>
            <a:ext cx="8321040" cy="694944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2578608"/>
            <a:ext cx="594360" cy="694944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2578608"/>
            <a:ext cx="594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52144" y="2642616"/>
            <a:ext cx="7452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Porter’s Five Forces: A pharmaceutical company has: (a) patent protection on its blockbuster drug; (b) no close substitutes; (c) buyers are governments with price negotiation power; (d) active patent expiry (generic entry). Assess which forces are strong vs weak.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3374136"/>
            <a:ext cx="8321040" cy="694944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3374136"/>
            <a:ext cx="594360" cy="694944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3374136"/>
            <a:ext cx="594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152144" y="3438144"/>
            <a:ext cx="7452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Justified P/E (CFA LM8): A company has payout ratio = 50%, required return r = 11%, sustainable growth rate g = 5%. Calculate the justified forward P/E. If current forward P/E = 14x, is the stock over/undervalued?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4169664"/>
            <a:ext cx="8321040" cy="694944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4169664"/>
            <a:ext cx="594360" cy="694944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" y="4169664"/>
            <a:ext cx="594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Q5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152144" y="4233672"/>
            <a:ext cx="7452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 calculation: Company A: market cap = $500m, total debt = $300m, cash = $80m, EBITDA = $120m. Company B: market cap = $400m, no debt, cash = $50m, EBITDA = $80m. Calculate EV and EV/EBITDA for each. Which is cheaper on EV/EBITDA?</a:t>
            </a:r>
            <a:endParaRPr lang="en-US" sz="11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Practice — Worked Solutions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 PM  •  Session 8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20040" y="777240"/>
            <a:ext cx="8503920" cy="731520"/>
          </a:xfrm>
          <a:prstGeom prst="rect">
            <a:avLst/>
          </a:prstGeom>
          <a:solidFill>
            <a:srgbClr val="E8F5E9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777240"/>
            <a:ext cx="594360" cy="731520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777240"/>
            <a:ext cx="594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05840" y="77724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D₁ = D₀ × (1+g) = 3.00 × 1.05 = €3.15. (b) V₀ = D₁/(r−g) = 3.15/(0.09−0.05) = 3.15/0.04 = €78.75. (c) Market price = €82 &gt; intrinsic value €78.75. Stock is slightly OVERVALUED (by 4%). Analyst would recommend hold or sell depending on conviction level in model inputs.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0040" y="1618488"/>
            <a:ext cx="85039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0040" y="1618488"/>
            <a:ext cx="594360" cy="731520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" y="1618488"/>
            <a:ext cx="594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05840" y="1618488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V₀ = D/r = USD 4.75 / 0.075 = USD 63.33 (CFA LM8 Example 6 Case 1). This is the present value of a perpetuity of $4.75/year discounted at 7.5%.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320040" y="2459736"/>
            <a:ext cx="8503920" cy="731520"/>
          </a:xfrm>
          <a:prstGeom prst="rect">
            <a:avLst/>
          </a:prstGeom>
          <a:solidFill>
            <a:srgbClr val="E8F5E9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" y="2459736"/>
            <a:ext cx="594360" cy="731520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" y="2459736"/>
            <a:ext cx="594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05840" y="2459736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Forces for pharma: (1) New entrants: WEAK (high barriers: patents, clinical trials, FDA approval). (2) Supplier power: WEAK (pharma firms are large buyers of API). (3) Buyer power: STRONG (government payers negotiate). (4) Substitutes: WEAK while patent exists, then STRONG when generic entry occurs. (5) Rivalry: WEAK (patent protection). Overall: HIGH profitability while patented. Cliff risk at patent expiry.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320040" y="3300984"/>
            <a:ext cx="85039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" y="3300984"/>
            <a:ext cx="594360" cy="731520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0040" y="3300984"/>
            <a:ext cx="594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05840" y="3300984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Justified P/E = p/(r−g) = 0.50/(0.11−0.05) = 0.50/0.06 = 8.33x. Current P/E = 14x &gt; justified 8.33x. Stock appears OVERVALUED based on these fundamentals. Market may be pricing in higher growth, lower required return, or higher payout than assumed.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20040" y="4142232"/>
            <a:ext cx="8503920" cy="731520"/>
          </a:xfrm>
          <a:prstGeom prst="rect">
            <a:avLst/>
          </a:prstGeom>
          <a:solidFill>
            <a:srgbClr val="E8F5E9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" y="4142232"/>
            <a:ext cx="594360" cy="731520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0040" y="4142232"/>
            <a:ext cx="594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005840" y="4142232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A: EV = 500+300−80 = $720m. EV/EBITDA = 720/120 = 6.0x. Company B: EV = 400+0−50 = $350m. EV/EBITDA = 350/80 = 4.4x. Company B is CHEAPER on EV/EBITDA (4.4x vs 6.0x) despite paying higher price-to-market-cap ratio. This shows why EV matters: Company A’s debt load makes it more expensive in true acquisition cost terms.</a:t>
            </a:r>
            <a:endParaRPr lang="en-US" sz="11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Formula Reference Card — Session 8 Equity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 PM  •  Session 8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20040" y="777240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equity valuation formulas from this session.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20040" y="1115568"/>
            <a:ext cx="8503920" cy="246888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115568"/>
            <a:ext cx="2286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Perpetual preferred stock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880360" y="1115568"/>
            <a:ext cx="5852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V₀ = D / 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0040" y="1399032"/>
            <a:ext cx="85039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1399032"/>
            <a:ext cx="2286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Gordon Growth Model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880360" y="1399032"/>
            <a:ext cx="5852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V₀ = D₁ / (r−g) = D₀(1+g) / (r−g)  [D₁ NOT D₀ in numerator]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20040" y="1682496"/>
            <a:ext cx="8503920" cy="246888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1682496"/>
            <a:ext cx="2286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Sustainable growth rate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880360" y="1682496"/>
            <a:ext cx="5852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 = b × ROE  where b = retention rate = 1 − payout ratio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20040" y="1965960"/>
            <a:ext cx="85039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1965960"/>
            <a:ext cx="2286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Justified forward P/E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880360" y="1965960"/>
            <a:ext cx="5852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P₀/E₁ = p / (r−g)  where p = payout ratio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0040" y="2249424"/>
            <a:ext cx="8503920" cy="246888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2249424"/>
            <a:ext cx="2286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CAPM (required return)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880360" y="2249424"/>
            <a:ext cx="5852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r_f + β × (r_m − r_f)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20040" y="2532888"/>
            <a:ext cx="85039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2532888"/>
            <a:ext cx="2286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Enterprise Value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880360" y="2532888"/>
            <a:ext cx="5852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 = Market Cap + Preferred + Total Debt − Cash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20040" y="2816352"/>
            <a:ext cx="8503920" cy="246888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2816352"/>
            <a:ext cx="2286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EV/EBITDA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2880360" y="2816352"/>
            <a:ext cx="5852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 / EBITDA  (capital-structure neutral; cross-country comparable)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20040" y="3099816"/>
            <a:ext cx="85039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7200" y="3099816"/>
            <a:ext cx="2286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P/E (trailing)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2880360" y="3099816"/>
            <a:ext cx="5852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price / Last 12 months EPS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20040" y="3383280"/>
            <a:ext cx="8503920" cy="246888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7200" y="3383280"/>
            <a:ext cx="2286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P/E (forward)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2880360" y="3383280"/>
            <a:ext cx="5852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price / Next 12 months forecast EPS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20040" y="3666744"/>
            <a:ext cx="85039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7200" y="3666744"/>
            <a:ext cx="2286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P/B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2880360" y="3666744"/>
            <a:ext cx="5852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per share / Book value per share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20040" y="3950208"/>
            <a:ext cx="8503920" cy="246888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7200" y="3950208"/>
            <a:ext cx="2286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P/S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2880360" y="3950208"/>
            <a:ext cx="5852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per share / Revenue per share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20040" y="4233672"/>
            <a:ext cx="85039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57200" y="4233672"/>
            <a:ext cx="2286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Two-stage DDM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2880360" y="4233672"/>
            <a:ext cx="5852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PV(dividends in high-growth phase) + PV(terminal value at end of phase 1)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20040" y="4517136"/>
            <a:ext cx="8503920" cy="246888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57200" y="4517136"/>
            <a:ext cx="2286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Terminal value in DDM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2880360" y="4517136"/>
            <a:ext cx="5852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TV = D_n+1 / (r−g_long-term)  then discount back to t=0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2860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TAKEAWAYS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64008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Session 8 — Equity Investments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1261872"/>
            <a:ext cx="4160520" cy="1078992"/>
          </a:xfrm>
          <a:prstGeom prst="rect">
            <a:avLst/>
          </a:prstGeom>
          <a:solidFill>
            <a:srgbClr val="253A5E"/>
          </a:solidFill>
          <a:ln w="12700">
            <a:solidFill>
              <a:srgbClr val="253A5E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03504" y="1682496"/>
            <a:ext cx="128016" cy="128016"/>
          </a:xfrm>
          <a:prstGeom prst="ellipse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1335024"/>
            <a:ext cx="363931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Gordon Growth (CFA LM8): D₀=€5, g=4%, r=8% → V=D₁/(r-g)=5.20/0.04=€130. Common error: using D₀ not D₁.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846320" y="1261872"/>
            <a:ext cx="4160520" cy="1078992"/>
          </a:xfrm>
          <a:prstGeom prst="rect">
            <a:avLst/>
          </a:prstGeom>
          <a:solidFill>
            <a:srgbClr val="253A5E"/>
          </a:solidFill>
          <a:ln w="12700">
            <a:solidFill>
              <a:srgbClr val="253A5E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992624" y="1682496"/>
            <a:ext cx="128016" cy="128016"/>
          </a:xfrm>
          <a:prstGeom prst="ellipse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30368" y="1335024"/>
            <a:ext cx="363931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 Electric preferred (CFA LM8): $4.75/0.075=$63.33. Callable issues worth less (call disadvantages investor).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432304"/>
            <a:ext cx="4160520" cy="1078992"/>
          </a:xfrm>
          <a:prstGeom prst="rect">
            <a:avLst/>
          </a:prstGeom>
          <a:solidFill>
            <a:srgbClr val="253A5E"/>
          </a:solidFill>
          <a:ln w="12700">
            <a:solidFill>
              <a:srgbClr val="253A5E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03504" y="2852928"/>
            <a:ext cx="128016" cy="128016"/>
          </a:xfrm>
          <a:prstGeom prst="ellipse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1248" y="2505456"/>
            <a:ext cx="363931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Sustainable growth: g=b×ROE. b=1-payout. Higher ROE or less payout → faster growth → higher intrinsic value.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846320" y="2432304"/>
            <a:ext cx="4160520" cy="1078992"/>
          </a:xfrm>
          <a:prstGeom prst="rect">
            <a:avLst/>
          </a:prstGeom>
          <a:solidFill>
            <a:srgbClr val="253A5E"/>
          </a:solidFill>
          <a:ln w="12700">
            <a:solidFill>
              <a:srgbClr val="253A5E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992624" y="2852928"/>
            <a:ext cx="128016" cy="128016"/>
          </a:xfrm>
          <a:prstGeom prst="ellipse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30368" y="2505456"/>
            <a:ext cx="363931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Justified P/E = p/(r-g). Rises with payout ratio and growth rate. Falls with higher required return.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3602736"/>
            <a:ext cx="4160520" cy="1078992"/>
          </a:xfrm>
          <a:prstGeom prst="rect">
            <a:avLst/>
          </a:prstGeom>
          <a:solidFill>
            <a:srgbClr val="253A5E"/>
          </a:solidFill>
          <a:ln w="12700">
            <a:solidFill>
              <a:srgbClr val="253A5E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03504" y="4023360"/>
            <a:ext cx="128016" cy="128016"/>
          </a:xfrm>
          <a:prstGeom prst="ellipse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1248" y="3675888"/>
            <a:ext cx="363931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Canon P/E (CFA LM8): 2013-2017 range 16.6-23.9x. Peak in 2016 due to EPS collapse. 2017 near fair value at 18.8x.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846320" y="3602736"/>
            <a:ext cx="4160520" cy="1078992"/>
          </a:xfrm>
          <a:prstGeom prst="rect">
            <a:avLst/>
          </a:prstGeom>
          <a:solidFill>
            <a:srgbClr val="253A5E"/>
          </a:solidFill>
          <a:ln w="12700">
            <a:solidFill>
              <a:srgbClr val="253A5E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992624" y="4023360"/>
            <a:ext cx="128016" cy="128016"/>
          </a:xfrm>
          <a:prstGeom prst="ellipse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30368" y="3675888"/>
            <a:ext cx="363931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Telefónica vs DT (CFA LM8): Telefónica cheaper on P/CF (2.9x vs 3.7x) and P/E (14x vs 18x). DT cheaper on P/B.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" y="4773168"/>
            <a:ext cx="4160520" cy="1078992"/>
          </a:xfrm>
          <a:prstGeom prst="rect">
            <a:avLst/>
          </a:prstGeom>
          <a:solidFill>
            <a:srgbClr val="253A5E"/>
          </a:solidFill>
          <a:ln w="12700">
            <a:solidFill>
              <a:srgbClr val="253A5E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3504" y="5193792"/>
            <a:ext cx="128016" cy="128016"/>
          </a:xfrm>
          <a:prstGeom prst="ellipse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41248" y="4846320"/>
            <a:ext cx="363931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EMH (CFA LM3): weak=past prices, semi-strong=all public info, strong=all info. Active mgmt tested by semi-strong.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846320" y="4773168"/>
            <a:ext cx="4160520" cy="1078992"/>
          </a:xfrm>
          <a:prstGeom prst="rect">
            <a:avLst/>
          </a:prstGeom>
          <a:solidFill>
            <a:srgbClr val="253A5E"/>
          </a:solidFill>
          <a:ln w="12700">
            <a:solidFill>
              <a:srgbClr val="253A5E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992624" y="5193792"/>
            <a:ext cx="128016" cy="128016"/>
          </a:xfrm>
          <a:prstGeom prst="ellipse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230368" y="4846320"/>
            <a:ext cx="363931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Porter’s 5 Forces: new entrants, supplier power, buyer power, substitutes, rivalry. ALL 5 determine industry profitability.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457200" y="46177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•  Finance Fundamentals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2026-04-11T21:25:19Z</dcterms:created>
  <dcterms:modified xsi:type="dcterms:W3CDTF">2026-04-11T21:25:19Z</dcterms:modified>
</cp:coreProperties>
</file>