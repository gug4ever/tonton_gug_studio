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E8600A"/>
          </a:solidFill>
          <a:ln/>
        </p:spPr>
      </p:sp>
      <p:sp>
        <p:nvSpPr>
          <p:cNvPr id="3" name="Shape 1"/>
          <p:cNvSpPr/>
          <p:nvPr/>
        </p:nvSpPr>
        <p:spPr>
          <a:xfrm>
            <a:off x="0" y="4914900"/>
            <a:ext cx="9144000" cy="228600"/>
          </a:xfrm>
          <a:prstGeom prst="rect">
            <a:avLst/>
          </a:prstGeom>
          <a:solidFill>
            <a:srgbClr val="E8600A"/>
          </a:solidFill>
          <a:ln/>
        </p:spPr>
      </p:sp>
      <p:sp>
        <p:nvSpPr>
          <p:cNvPr id="4" name="Text 2"/>
          <p:cNvSpPr txBox="1"/>
          <p:nvPr/>
        </p:nvSpPr>
        <p:spPr>
          <a:xfrm>
            <a:off x="457200" y="1005840"/>
            <a:ext cx="8229600" cy="384048"/>
          </a:xfrm>
          <a:prstGeom prst="rect">
            <a:avLst/>
          </a:prstGeom>
          <a:noFill/>
          <a:ln/>
        </p:spPr>
        <p:txBody>
          <a:bodyPr wrap="square" lIns="508" tIns="508" rIns="508" bIns="508" rtlCol="0" anchor="ctr">
            <a:normAutofit/>
            <a:spAutoFit/>
          </a:bodyPr>
          <a:lstStyle/>
          <a:p>
            <a:pPr algn="l" indent="0" marL="0">
              <a:buNone/>
            </a:pPr>
            <a:r>
              <a:rPr lang="en-US" sz="1100" b="1" spc="800" kern="0" dirty="0">
                <a:solidFill>
                  <a:srgbClr val="E8600A"/>
                </a:solidFill>
                <a:latin typeface="Trebuchet MS" pitchFamily="34" charset="0"/>
                <a:ea typeface="Trebuchet MS" pitchFamily="34" charset="-122"/>
                <a:cs typeface="Trebuchet MS" pitchFamily="34" charset="-120"/>
              </a:rPr>
              <a:t>DECK 04  ·  WEEK 2  ·  MORNING 2</a:t>
            </a:r>
            <a:endParaRPr lang="en-US" sz="1100" dirty="0"/>
          </a:p>
        </p:txBody>
      </p:sp>
      <p:sp>
        <p:nvSpPr>
          <p:cNvPr id="5" name="Text 3"/>
          <p:cNvSpPr txBox="1"/>
          <p:nvPr/>
        </p:nvSpPr>
        <p:spPr>
          <a:xfrm>
            <a:off x="457200" y="1463040"/>
            <a:ext cx="8229600" cy="1920240"/>
          </a:xfrm>
          <a:prstGeom prst="rect">
            <a:avLst/>
          </a:prstGeom>
          <a:noFill/>
          <a:ln/>
        </p:spPr>
        <p:txBody>
          <a:bodyPr wrap="square" lIns="508" tIns="508" rIns="508" bIns="508" rtlCol="0" anchor="t">
            <a:normAutofit/>
            <a:spAutoFit/>
          </a:bodyPr>
          <a:lstStyle/>
          <a:p>
            <a:pPr algn="l" indent="0" marL="0">
              <a:buNone/>
            </a:pPr>
            <a:r>
              <a:rPr lang="en-US" sz="4200" b="1" dirty="0">
                <a:solidFill>
                  <a:srgbClr val="1B2A4A"/>
                </a:solidFill>
                <a:latin typeface="Trebuchet MS" pitchFamily="34" charset="0"/>
                <a:ea typeface="Trebuchet MS" pitchFamily="34" charset="-122"/>
                <a:cs typeface="Trebuchet MS" pitchFamily="34" charset="-120"/>
              </a:rPr>
              <a:t>Microeconomics</a:t>
            </a:r>
            <a:endParaRPr lang="en-US" sz="4200" dirty="0"/>
          </a:p>
          <a:p>
            <a:pPr algn="l" indent="0" marL="0">
              <a:buNone/>
            </a:pPr>
            <a:r>
              <a:rPr lang="en-US" sz="4200" b="1" dirty="0">
                <a:solidFill>
                  <a:srgbClr val="1B2A4A"/>
                </a:solidFill>
                <a:latin typeface="Trebuchet MS" pitchFamily="34" charset="0"/>
                <a:ea typeface="Trebuchet MS" pitchFamily="34" charset="-122"/>
                <a:cs typeface="Trebuchet MS" pitchFamily="34" charset="-120"/>
              </a:rPr>
              <a:t>&amp; Business Cycles</a:t>
            </a:r>
            <a:endParaRPr lang="en-US" sz="4200" dirty="0"/>
          </a:p>
        </p:txBody>
      </p:sp>
      <p:sp>
        <p:nvSpPr>
          <p:cNvPr id="6" name="Text 4"/>
          <p:cNvSpPr txBox="1"/>
          <p:nvPr/>
        </p:nvSpPr>
        <p:spPr>
          <a:xfrm>
            <a:off x="457200" y="3493008"/>
            <a:ext cx="8229600" cy="457200"/>
          </a:xfrm>
          <a:prstGeom prst="rect">
            <a:avLst/>
          </a:prstGeom>
          <a:noFill/>
          <a:ln/>
        </p:spPr>
        <p:txBody>
          <a:bodyPr wrap="square" lIns="508" tIns="508" rIns="508" bIns="508" rtlCol="0" anchor="t">
            <a:normAutofit/>
            <a:spAutoFit/>
          </a:bodyPr>
          <a:lstStyle/>
          <a:p>
            <a:pPr algn="l" indent="0" marL="0">
              <a:buNone/>
            </a:pPr>
            <a:r>
              <a:rPr lang="en-US" sz="1500" i="1" dirty="0">
                <a:solidFill>
                  <a:srgbClr val="6B7A8D"/>
                </a:solidFill>
                <a:latin typeface="Trebuchet MS" pitchFamily="34" charset="0"/>
                <a:ea typeface="Trebuchet MS" pitchFamily="34" charset="-122"/>
                <a:cs typeface="Trebuchet MS" pitchFamily="34" charset="-120"/>
              </a:rPr>
              <a:t>How firms set price and output, and how the economy cycles around its potential path</a:t>
            </a:r>
            <a:endParaRPr lang="en-US" sz="1500" dirty="0"/>
          </a:p>
        </p:txBody>
      </p:sp>
      <p:sp>
        <p:nvSpPr>
          <p:cNvPr id="7" name="Text 5"/>
          <p:cNvSpPr txBox="1"/>
          <p:nvPr/>
        </p:nvSpPr>
        <p:spPr>
          <a:xfrm>
            <a:off x="457200" y="4069080"/>
            <a:ext cx="8229600" cy="274320"/>
          </a:xfrm>
          <a:prstGeom prst="rect">
            <a:avLst/>
          </a:prstGeom>
          <a:noFill/>
          <a:ln/>
        </p:spPr>
        <p:txBody>
          <a:bodyPr wrap="square" lIns="508" tIns="508" rIns="508" bIns="508" rtlCol="0" anchor="ctr">
            <a:normAutofit/>
            <a:spAutoFit/>
          </a:bodyPr>
          <a:lstStyle/>
          <a:p>
            <a:pPr algn="l" indent="0" marL="0">
              <a:buNone/>
            </a:pPr>
            <a:r>
              <a:rPr lang="en-US" sz="1100" dirty="0">
                <a:solidFill>
                  <a:srgbClr val="6B7A8D"/>
                </a:solidFill>
                <a:latin typeface="Calibri" pitchFamily="34" charset="0"/>
                <a:ea typeface="Calibri" pitchFamily="34" charset="-122"/>
                <a:cs typeface="Calibri" pitchFamily="34" charset="-120"/>
              </a:rPr>
              <a:t>CFA Level I · Vol 2 Learning Modules 1–2</a:t>
            </a:r>
            <a:endParaRPr lang="en-US" sz="1100" dirty="0"/>
          </a:p>
        </p:txBody>
      </p:sp>
      <p:sp>
        <p:nvSpPr>
          <p:cNvPr id="8" name="Text 6"/>
          <p:cNvSpPr txBox="1"/>
          <p:nvPr/>
        </p:nvSpPr>
        <p:spPr>
          <a:xfrm>
            <a:off x="457200" y="4617720"/>
            <a:ext cx="8229600" cy="256032"/>
          </a:xfrm>
          <a:prstGeom prst="rect">
            <a:avLst/>
          </a:prstGeom>
          <a:noFill/>
          <a:ln/>
        </p:spPr>
        <p:txBody>
          <a:bodyPr wrap="square" lIns="508" tIns="508" rIns="508" bIns="508" rtlCol="0" anchor="ctr">
            <a:normAutofit/>
            <a:spAutoFit/>
          </a:bodyPr>
          <a:lstStyle/>
          <a:p>
            <a:pPr algn="l" indent="0" marL="0">
              <a:buNone/>
            </a:pPr>
            <a:r>
              <a:rPr lang="en-US" sz="800" dirty="0">
                <a:solidFill>
                  <a:srgbClr val="6B7A8D"/>
                </a:solidFill>
                <a:latin typeface="Calibri" pitchFamily="34" charset="0"/>
                <a:ea typeface="Calibri" pitchFamily="34" charset="-122"/>
                <a:cs typeface="Calibri" pitchFamily="34" charset="-120"/>
              </a:rPr>
              <a:t>STUDIO TONTON GUG  ·  Finance Fundamentals</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B2A4A"/>
          </a:solidFill>
          <a:ln/>
        </p:spPr>
      </p:sp>
      <p:sp>
        <p:nvSpPr>
          <p:cNvPr id="3" name="Shape 1"/>
          <p:cNvSpPr/>
          <p:nvPr/>
        </p:nvSpPr>
        <p:spPr>
          <a:xfrm>
            <a:off x="0" y="0"/>
            <a:ext cx="109728" cy="621792"/>
          </a:xfrm>
          <a:prstGeom prst="rect">
            <a:avLst/>
          </a:prstGeom>
          <a:solidFill>
            <a:srgbClr val="E8600A"/>
          </a:solidFill>
          <a:ln/>
        </p:spPr>
      </p:sp>
      <p:sp>
        <p:nvSpPr>
          <p:cNvPr id="4" name="Text 2"/>
          <p:cNvSpPr txBox="1"/>
          <p:nvPr/>
        </p:nvSpPr>
        <p:spPr>
          <a:xfrm>
            <a:off x="256032" y="0"/>
            <a:ext cx="8686800" cy="621792"/>
          </a:xfrm>
          <a:prstGeom prst="rect">
            <a:avLst/>
          </a:prstGeom>
          <a:noFill/>
          <a:ln/>
        </p:spPr>
        <p:txBody>
          <a:bodyPr wrap="square" lIns="508" tIns="508" rIns="508" bIns="508" rtlCol="0" anchor="ctr">
            <a:normAutofit/>
            <a:spAutoFit/>
          </a:bodyPr>
          <a:lstStyle/>
          <a:p>
            <a:pPr algn="l" indent="0" marL="0">
              <a:buNone/>
            </a:pPr>
            <a:r>
              <a:rPr lang="en-US" sz="1900" b="1" dirty="0">
                <a:solidFill>
                  <a:srgbClr val="FFFFFF"/>
                </a:solidFill>
                <a:latin typeface="Trebuchet MS" pitchFamily="34" charset="0"/>
                <a:ea typeface="Trebuchet MS" pitchFamily="34" charset="-122"/>
                <a:cs typeface="Trebuchet MS" pitchFamily="34" charset="-120"/>
              </a:rPr>
              <a:t>Roadmap — Microeconomics &amp; Business Cycles</a:t>
            </a:r>
            <a:endParaRPr lang="en-US" sz="1900" dirty="0"/>
          </a:p>
        </p:txBody>
      </p:sp>
      <p:sp>
        <p:nvSpPr>
          <p:cNvPr id="5" name="Shape 3"/>
          <p:cNvSpPr/>
          <p:nvPr/>
        </p:nvSpPr>
        <p:spPr>
          <a:xfrm>
            <a:off x="0" y="4892040"/>
            <a:ext cx="9144000" cy="256032"/>
          </a:xfrm>
          <a:prstGeom prst="rect">
            <a:avLst/>
          </a:prstGeom>
          <a:solidFill>
            <a:srgbClr val="E8ECF0"/>
          </a:solidFill>
          <a:ln/>
        </p:spPr>
      </p:sp>
      <p:sp>
        <p:nvSpPr>
          <p:cNvPr id="6" name="Text 4"/>
          <p:cNvSpPr txBox="1"/>
          <p:nvPr/>
        </p:nvSpPr>
        <p:spPr>
          <a:xfrm>
            <a:off x="274320" y="4892040"/>
            <a:ext cx="5943600" cy="256032"/>
          </a:xfrm>
          <a:prstGeom prst="rect">
            <a:avLst/>
          </a:prstGeom>
          <a:noFill/>
          <a:ln/>
        </p:spPr>
        <p:txBody>
          <a:bodyPr wrap="square" lIns="508" tIns="508" rIns="508" bIns="508" rtlCol="0" anchor="ctr">
            <a:normAutofit/>
            <a:spAutoFit/>
          </a:bodyPr>
          <a:lstStyle/>
          <a:p>
            <a:pPr algn="l" indent="0" marL="0">
              <a:buNone/>
            </a:pPr>
            <a:r>
              <a:rPr lang="en-US" sz="750" dirty="0">
                <a:solidFill>
                  <a:srgbClr val="6B7A8D"/>
                </a:solidFill>
                <a:latin typeface="Calibri" pitchFamily="34" charset="0"/>
                <a:ea typeface="Calibri" pitchFamily="34" charset="-122"/>
                <a:cs typeface="Calibri" pitchFamily="34" charset="-120"/>
              </a:rPr>
              <a:t>STUDIO TONTON GUG  ·  Finance Fundamentals</a:t>
            </a:r>
            <a:endParaRPr lang="en-US" sz="750" dirty="0"/>
          </a:p>
        </p:txBody>
      </p:sp>
      <p:sp>
        <p:nvSpPr>
          <p:cNvPr id="7" name="Text 5"/>
          <p:cNvSpPr txBox="1"/>
          <p:nvPr/>
        </p:nvSpPr>
        <p:spPr>
          <a:xfrm>
            <a:off x="320040" y="777240"/>
            <a:ext cx="8503920" cy="347472"/>
          </a:xfrm>
          <a:prstGeom prst="rect">
            <a:avLst/>
          </a:prstGeom>
          <a:noFill/>
          <a:ln/>
        </p:spPr>
        <p:txBody>
          <a:bodyPr wrap="square" lIns="508" tIns="508" rIns="508" bIns="508" rtlCol="0" anchor="ctr">
            <a:normAutofit/>
            <a:spAutoFit/>
          </a:bodyPr>
          <a:lstStyle/>
          <a:p>
            <a:pPr algn="l" indent="0" marL="0">
              <a:buNone/>
            </a:pPr>
            <a:r>
              <a:rPr lang="en-US" sz="1300" i="1" dirty="0">
                <a:solidFill>
                  <a:srgbClr val="334155"/>
                </a:solidFill>
                <a:latin typeface="Calibri" pitchFamily="34" charset="0"/>
                <a:ea typeface="Calibri" pitchFamily="34" charset="-122"/>
                <a:cs typeface="Calibri" pitchFamily="34" charset="-120"/>
              </a:rPr>
              <a:t>6 sections · ~2 hours · Built bottom-up from CFA readings</a:t>
            </a:r>
            <a:endParaRPr lang="en-US" sz="1300" dirty="0"/>
          </a:p>
        </p:txBody>
      </p:sp>
      <p:sp>
        <p:nvSpPr>
          <p:cNvPr id="8" name="Shape 6"/>
          <p:cNvSpPr/>
          <p:nvPr/>
        </p:nvSpPr>
        <p:spPr>
          <a:xfrm>
            <a:off x="320040" y="1207008"/>
            <a:ext cx="8503920" cy="560832"/>
          </a:xfrm>
          <a:prstGeom prst="rect">
            <a:avLst/>
          </a:prstGeom>
          <a:solidFill>
            <a:srgbClr val="FFFFFF"/>
          </a:solidFill>
          <a:ln/>
        </p:spPr>
      </p:sp>
      <p:sp>
        <p:nvSpPr>
          <p:cNvPr id="9" name="Shape 7"/>
          <p:cNvSpPr/>
          <p:nvPr/>
        </p:nvSpPr>
        <p:spPr>
          <a:xfrm>
            <a:off x="320040" y="1207008"/>
            <a:ext cx="594360" cy="560832"/>
          </a:xfrm>
          <a:prstGeom prst="rect">
            <a:avLst/>
          </a:prstGeom>
          <a:solidFill>
            <a:srgbClr val="1B2A4A"/>
          </a:solidFill>
          <a:ln/>
        </p:spPr>
      </p:sp>
      <p:sp>
        <p:nvSpPr>
          <p:cNvPr id="10" name="Text 8"/>
          <p:cNvSpPr txBox="1"/>
          <p:nvPr/>
        </p:nvSpPr>
        <p:spPr>
          <a:xfrm>
            <a:off x="320040" y="1207008"/>
            <a:ext cx="594360" cy="560832"/>
          </a:xfrm>
          <a:prstGeom prst="rect">
            <a:avLst/>
          </a:prstGeom>
          <a:noFill/>
          <a:ln/>
        </p:spPr>
        <p:txBody>
          <a:bodyPr wrap="square" lIns="508" tIns="508" rIns="508" bIns="508" rtlCol="0" anchor="ctr">
            <a:normAutofit/>
            <a:spAutoFit/>
          </a:bodyPr>
          <a:lstStyle/>
          <a:p>
            <a:pPr algn="ctr" indent="0" marL="0">
              <a:buNone/>
            </a:pPr>
            <a:r>
              <a:rPr lang="en-US" sz="1300" b="1" dirty="0">
                <a:solidFill>
                  <a:srgbClr val="E8600A"/>
                </a:solidFill>
                <a:latin typeface="Trebuchet MS" pitchFamily="34" charset="0"/>
                <a:ea typeface="Trebuchet MS" pitchFamily="34" charset="-122"/>
                <a:cs typeface="Trebuchet MS" pitchFamily="34" charset="-120"/>
              </a:rPr>
              <a:t>01</a:t>
            </a:r>
            <a:endParaRPr lang="en-US" sz="1300" dirty="0"/>
          </a:p>
        </p:txBody>
      </p:sp>
      <p:sp>
        <p:nvSpPr>
          <p:cNvPr id="11" name="Text 9"/>
          <p:cNvSpPr txBox="1"/>
          <p:nvPr/>
        </p:nvSpPr>
        <p:spPr>
          <a:xfrm>
            <a:off x="1024128" y="1252728"/>
            <a:ext cx="7726680" cy="252374"/>
          </a:xfrm>
          <a:prstGeom prst="rect">
            <a:avLst/>
          </a:prstGeom>
          <a:noFill/>
          <a:ln/>
        </p:spPr>
        <p:txBody>
          <a:bodyPr wrap="square" lIns="508" tIns="508" rIns="508" bIns="508" rtlCol="0" anchor="ctr">
            <a:normAutofit/>
            <a:spAutoFit/>
          </a:bodyPr>
          <a:lstStyle/>
          <a:p>
            <a:pPr algn="l" indent="0" marL="0">
              <a:buNone/>
            </a:pPr>
            <a:r>
              <a:rPr lang="en-US" sz="1200" b="1" dirty="0">
                <a:solidFill>
                  <a:srgbClr val="1B2A4A"/>
                </a:solidFill>
                <a:latin typeface="Trebuchet MS" pitchFamily="34" charset="0"/>
                <a:ea typeface="Trebuchet MS" pitchFamily="34" charset="-122"/>
                <a:cs typeface="Trebuchet MS" pitchFamily="34" charset="-120"/>
              </a:rPr>
              <a:t>Demand, supply, elasticity</a:t>
            </a:r>
            <a:endParaRPr lang="en-US" sz="1200" dirty="0"/>
          </a:p>
        </p:txBody>
      </p:sp>
      <p:sp>
        <p:nvSpPr>
          <p:cNvPr id="12" name="Text 10"/>
          <p:cNvSpPr txBox="1"/>
          <p:nvPr/>
        </p:nvSpPr>
        <p:spPr>
          <a:xfrm>
            <a:off x="1024128" y="1459382"/>
            <a:ext cx="7726680" cy="308458"/>
          </a:xfrm>
          <a:prstGeom prst="rect">
            <a:avLst/>
          </a:prstGeom>
          <a:noFill/>
          <a:ln/>
        </p:spPr>
        <p:txBody>
          <a:bodyPr wrap="square" lIns="508" tIns="508" rIns="508" bIns="508" rtlCol="0" anchor="t">
            <a:normAutofit/>
            <a:spAutoFit/>
          </a:bodyPr>
          <a:lstStyle/>
          <a:p>
            <a:pPr algn="l" indent="0" marL="0">
              <a:buNone/>
            </a:pPr>
            <a:r>
              <a:rPr lang="en-US" sz="1100" dirty="0">
                <a:solidFill>
                  <a:srgbClr val="6B7A8D"/>
                </a:solidFill>
                <a:latin typeface="Calibri" pitchFamily="34" charset="0"/>
                <a:ea typeface="Calibri" pitchFamily="34" charset="-122"/>
                <a:cs typeface="Calibri" pitchFamily="34" charset="-120"/>
              </a:rPr>
              <a:t>Law of demand · own-price / cross-price / income elasticity · revenue reaction</a:t>
            </a:r>
            <a:endParaRPr lang="en-US" sz="1100" dirty="0"/>
          </a:p>
        </p:txBody>
      </p:sp>
      <p:sp>
        <p:nvSpPr>
          <p:cNvPr id="13" name="Shape 11"/>
          <p:cNvSpPr/>
          <p:nvPr/>
        </p:nvSpPr>
        <p:spPr>
          <a:xfrm>
            <a:off x="320040" y="1804416"/>
            <a:ext cx="8503920" cy="560832"/>
          </a:xfrm>
          <a:prstGeom prst="rect">
            <a:avLst/>
          </a:prstGeom>
          <a:solidFill>
            <a:srgbClr val="F5F7FA"/>
          </a:solidFill>
          <a:ln/>
        </p:spPr>
      </p:sp>
      <p:sp>
        <p:nvSpPr>
          <p:cNvPr id="14" name="Shape 12"/>
          <p:cNvSpPr/>
          <p:nvPr/>
        </p:nvSpPr>
        <p:spPr>
          <a:xfrm>
            <a:off x="320040" y="1804416"/>
            <a:ext cx="594360" cy="560832"/>
          </a:xfrm>
          <a:prstGeom prst="rect">
            <a:avLst/>
          </a:prstGeom>
          <a:solidFill>
            <a:srgbClr val="1B2A4A"/>
          </a:solidFill>
          <a:ln/>
        </p:spPr>
      </p:sp>
      <p:sp>
        <p:nvSpPr>
          <p:cNvPr id="15" name="Text 13"/>
          <p:cNvSpPr txBox="1"/>
          <p:nvPr/>
        </p:nvSpPr>
        <p:spPr>
          <a:xfrm>
            <a:off x="320040" y="1804416"/>
            <a:ext cx="594360" cy="560832"/>
          </a:xfrm>
          <a:prstGeom prst="rect">
            <a:avLst/>
          </a:prstGeom>
          <a:noFill/>
          <a:ln/>
        </p:spPr>
        <p:txBody>
          <a:bodyPr wrap="square" lIns="508" tIns="508" rIns="508" bIns="508" rtlCol="0" anchor="ctr">
            <a:normAutofit/>
            <a:spAutoFit/>
          </a:bodyPr>
          <a:lstStyle/>
          <a:p>
            <a:pPr algn="ctr" indent="0" marL="0">
              <a:buNone/>
            </a:pPr>
            <a:r>
              <a:rPr lang="en-US" sz="1300" b="1" dirty="0">
                <a:solidFill>
                  <a:srgbClr val="E8600A"/>
                </a:solidFill>
                <a:latin typeface="Trebuchet MS" pitchFamily="34" charset="0"/>
                <a:ea typeface="Trebuchet MS" pitchFamily="34" charset="-122"/>
                <a:cs typeface="Trebuchet MS" pitchFamily="34" charset="-120"/>
              </a:rPr>
              <a:t>02</a:t>
            </a:r>
            <a:endParaRPr lang="en-US" sz="1300" dirty="0"/>
          </a:p>
        </p:txBody>
      </p:sp>
      <p:sp>
        <p:nvSpPr>
          <p:cNvPr id="16" name="Text 14"/>
          <p:cNvSpPr txBox="1"/>
          <p:nvPr/>
        </p:nvSpPr>
        <p:spPr>
          <a:xfrm>
            <a:off x="1024128" y="1850136"/>
            <a:ext cx="7726680" cy="252374"/>
          </a:xfrm>
          <a:prstGeom prst="rect">
            <a:avLst/>
          </a:prstGeom>
          <a:noFill/>
          <a:ln/>
        </p:spPr>
        <p:txBody>
          <a:bodyPr wrap="square" lIns="508" tIns="508" rIns="508" bIns="508" rtlCol="0" anchor="ctr">
            <a:normAutofit/>
            <a:spAutoFit/>
          </a:bodyPr>
          <a:lstStyle/>
          <a:p>
            <a:pPr algn="l" indent="0" marL="0">
              <a:buNone/>
            </a:pPr>
            <a:r>
              <a:rPr lang="en-US" sz="1200" b="1" dirty="0">
                <a:solidFill>
                  <a:srgbClr val="1B2A4A"/>
                </a:solidFill>
                <a:latin typeface="Trebuchet MS" pitchFamily="34" charset="0"/>
                <a:ea typeface="Trebuchet MS" pitchFamily="34" charset="-122"/>
                <a:cs typeface="Trebuchet MS" pitchFamily="34" charset="-120"/>
              </a:rPr>
              <a:t>Firm costs &amp; profit maximization</a:t>
            </a:r>
            <a:endParaRPr lang="en-US" sz="1200" dirty="0"/>
          </a:p>
        </p:txBody>
      </p:sp>
      <p:sp>
        <p:nvSpPr>
          <p:cNvPr id="17" name="Text 15"/>
          <p:cNvSpPr txBox="1"/>
          <p:nvPr/>
        </p:nvSpPr>
        <p:spPr>
          <a:xfrm>
            <a:off x="1024128" y="2056790"/>
            <a:ext cx="7726680" cy="308458"/>
          </a:xfrm>
          <a:prstGeom prst="rect">
            <a:avLst/>
          </a:prstGeom>
          <a:noFill/>
          <a:ln/>
        </p:spPr>
        <p:txBody>
          <a:bodyPr wrap="square" lIns="508" tIns="508" rIns="508" bIns="508" rtlCol="0" anchor="t">
            <a:normAutofit/>
            <a:spAutoFit/>
          </a:bodyPr>
          <a:lstStyle/>
          <a:p>
            <a:pPr algn="l" indent="0" marL="0">
              <a:buNone/>
            </a:pPr>
            <a:r>
              <a:rPr lang="en-US" sz="1100" dirty="0">
                <a:solidFill>
                  <a:srgbClr val="6B7A8D"/>
                </a:solidFill>
                <a:latin typeface="Calibri" pitchFamily="34" charset="0"/>
                <a:ea typeface="Calibri" pitchFamily="34" charset="-122"/>
                <a:cs typeface="Calibri" pitchFamily="34" charset="-120"/>
              </a:rPr>
              <a:t>Economic vs accounting profit · MR = MC · breakeven / shutdown · economies of scale</a:t>
            </a:r>
            <a:endParaRPr lang="en-US" sz="1100" dirty="0"/>
          </a:p>
        </p:txBody>
      </p:sp>
      <p:sp>
        <p:nvSpPr>
          <p:cNvPr id="18" name="Shape 16"/>
          <p:cNvSpPr/>
          <p:nvPr/>
        </p:nvSpPr>
        <p:spPr>
          <a:xfrm>
            <a:off x="320040" y="2401824"/>
            <a:ext cx="8503920" cy="560832"/>
          </a:xfrm>
          <a:prstGeom prst="rect">
            <a:avLst/>
          </a:prstGeom>
          <a:solidFill>
            <a:srgbClr val="FFFFFF"/>
          </a:solidFill>
          <a:ln/>
        </p:spPr>
      </p:sp>
      <p:sp>
        <p:nvSpPr>
          <p:cNvPr id="19" name="Shape 17"/>
          <p:cNvSpPr/>
          <p:nvPr/>
        </p:nvSpPr>
        <p:spPr>
          <a:xfrm>
            <a:off x="320040" y="2401824"/>
            <a:ext cx="594360" cy="560832"/>
          </a:xfrm>
          <a:prstGeom prst="rect">
            <a:avLst/>
          </a:prstGeom>
          <a:solidFill>
            <a:srgbClr val="1B2A4A"/>
          </a:solidFill>
          <a:ln/>
        </p:spPr>
      </p:sp>
      <p:sp>
        <p:nvSpPr>
          <p:cNvPr id="20" name="Text 18"/>
          <p:cNvSpPr txBox="1"/>
          <p:nvPr/>
        </p:nvSpPr>
        <p:spPr>
          <a:xfrm>
            <a:off x="320040" y="2401824"/>
            <a:ext cx="594360" cy="560832"/>
          </a:xfrm>
          <a:prstGeom prst="rect">
            <a:avLst/>
          </a:prstGeom>
          <a:noFill/>
          <a:ln/>
        </p:spPr>
        <p:txBody>
          <a:bodyPr wrap="square" lIns="508" tIns="508" rIns="508" bIns="508" rtlCol="0" anchor="ctr">
            <a:normAutofit/>
            <a:spAutoFit/>
          </a:bodyPr>
          <a:lstStyle/>
          <a:p>
            <a:pPr algn="ctr" indent="0" marL="0">
              <a:buNone/>
            </a:pPr>
            <a:r>
              <a:rPr lang="en-US" sz="1300" b="1" dirty="0">
                <a:solidFill>
                  <a:srgbClr val="E8600A"/>
                </a:solidFill>
                <a:latin typeface="Trebuchet MS" pitchFamily="34" charset="0"/>
                <a:ea typeface="Trebuchet MS" pitchFamily="34" charset="-122"/>
                <a:cs typeface="Trebuchet MS" pitchFamily="34" charset="-120"/>
              </a:rPr>
              <a:t>03</a:t>
            </a:r>
            <a:endParaRPr lang="en-US" sz="1300" dirty="0"/>
          </a:p>
        </p:txBody>
      </p:sp>
      <p:sp>
        <p:nvSpPr>
          <p:cNvPr id="21" name="Text 19"/>
          <p:cNvSpPr txBox="1"/>
          <p:nvPr/>
        </p:nvSpPr>
        <p:spPr>
          <a:xfrm>
            <a:off x="1024128" y="2447544"/>
            <a:ext cx="7726680" cy="252374"/>
          </a:xfrm>
          <a:prstGeom prst="rect">
            <a:avLst/>
          </a:prstGeom>
          <a:noFill/>
          <a:ln/>
        </p:spPr>
        <p:txBody>
          <a:bodyPr wrap="square" lIns="508" tIns="508" rIns="508" bIns="508" rtlCol="0" anchor="ctr">
            <a:normAutofit/>
            <a:spAutoFit/>
          </a:bodyPr>
          <a:lstStyle/>
          <a:p>
            <a:pPr algn="l" indent="0" marL="0">
              <a:buNone/>
            </a:pPr>
            <a:r>
              <a:rPr lang="en-US" sz="1200" b="1" dirty="0">
                <a:solidFill>
                  <a:srgbClr val="1B2A4A"/>
                </a:solidFill>
                <a:latin typeface="Trebuchet MS" pitchFamily="34" charset="0"/>
                <a:ea typeface="Trebuchet MS" pitchFamily="34" charset="-122"/>
                <a:cs typeface="Trebuchet MS" pitchFamily="34" charset="-120"/>
              </a:rPr>
              <a:t>Four market structures</a:t>
            </a:r>
            <a:endParaRPr lang="en-US" sz="1200" dirty="0"/>
          </a:p>
        </p:txBody>
      </p:sp>
      <p:sp>
        <p:nvSpPr>
          <p:cNvPr id="22" name="Text 20"/>
          <p:cNvSpPr txBox="1"/>
          <p:nvPr/>
        </p:nvSpPr>
        <p:spPr>
          <a:xfrm>
            <a:off x="1024128" y="2654198"/>
            <a:ext cx="7726680" cy="308458"/>
          </a:xfrm>
          <a:prstGeom prst="rect">
            <a:avLst/>
          </a:prstGeom>
          <a:noFill/>
          <a:ln/>
        </p:spPr>
        <p:txBody>
          <a:bodyPr wrap="square" lIns="508" tIns="508" rIns="508" bIns="508" rtlCol="0" anchor="t">
            <a:normAutofit/>
            <a:spAutoFit/>
          </a:bodyPr>
          <a:lstStyle/>
          <a:p>
            <a:pPr algn="l" indent="0" marL="0">
              <a:buNone/>
            </a:pPr>
            <a:r>
              <a:rPr lang="en-US" sz="1100" dirty="0">
                <a:solidFill>
                  <a:srgbClr val="6B7A8D"/>
                </a:solidFill>
                <a:latin typeface="Calibri" pitchFamily="34" charset="0"/>
                <a:ea typeface="Calibri" pitchFamily="34" charset="-122"/>
                <a:cs typeface="Calibri" pitchFamily="34" charset="-120"/>
              </a:rPr>
              <a:t>Perfect / monopolistic / oligopoly / monopoly · Cournot duopoly · Nash · HHI</a:t>
            </a:r>
            <a:endParaRPr lang="en-US" sz="1100" dirty="0"/>
          </a:p>
        </p:txBody>
      </p:sp>
      <p:sp>
        <p:nvSpPr>
          <p:cNvPr id="23" name="Shape 21"/>
          <p:cNvSpPr/>
          <p:nvPr/>
        </p:nvSpPr>
        <p:spPr>
          <a:xfrm>
            <a:off x="320040" y="2999232"/>
            <a:ext cx="8503920" cy="560832"/>
          </a:xfrm>
          <a:prstGeom prst="rect">
            <a:avLst/>
          </a:prstGeom>
          <a:solidFill>
            <a:srgbClr val="F5F7FA"/>
          </a:solidFill>
          <a:ln/>
        </p:spPr>
      </p:sp>
      <p:sp>
        <p:nvSpPr>
          <p:cNvPr id="24" name="Shape 22"/>
          <p:cNvSpPr/>
          <p:nvPr/>
        </p:nvSpPr>
        <p:spPr>
          <a:xfrm>
            <a:off x="320040" y="2999232"/>
            <a:ext cx="594360" cy="560832"/>
          </a:xfrm>
          <a:prstGeom prst="rect">
            <a:avLst/>
          </a:prstGeom>
          <a:solidFill>
            <a:srgbClr val="1B2A4A"/>
          </a:solidFill>
          <a:ln/>
        </p:spPr>
      </p:sp>
      <p:sp>
        <p:nvSpPr>
          <p:cNvPr id="25" name="Text 23"/>
          <p:cNvSpPr txBox="1"/>
          <p:nvPr/>
        </p:nvSpPr>
        <p:spPr>
          <a:xfrm>
            <a:off x="320040" y="2999232"/>
            <a:ext cx="594360" cy="560832"/>
          </a:xfrm>
          <a:prstGeom prst="rect">
            <a:avLst/>
          </a:prstGeom>
          <a:noFill/>
          <a:ln/>
        </p:spPr>
        <p:txBody>
          <a:bodyPr wrap="square" lIns="508" tIns="508" rIns="508" bIns="508" rtlCol="0" anchor="ctr">
            <a:normAutofit/>
            <a:spAutoFit/>
          </a:bodyPr>
          <a:lstStyle/>
          <a:p>
            <a:pPr algn="ctr" indent="0" marL="0">
              <a:buNone/>
            </a:pPr>
            <a:r>
              <a:rPr lang="en-US" sz="1300" b="1" dirty="0">
                <a:solidFill>
                  <a:srgbClr val="E8600A"/>
                </a:solidFill>
                <a:latin typeface="Trebuchet MS" pitchFamily="34" charset="0"/>
                <a:ea typeface="Trebuchet MS" pitchFamily="34" charset="-122"/>
                <a:cs typeface="Trebuchet MS" pitchFamily="34" charset="-120"/>
              </a:rPr>
              <a:t>04</a:t>
            </a:r>
            <a:endParaRPr lang="en-US" sz="1300" dirty="0"/>
          </a:p>
        </p:txBody>
      </p:sp>
      <p:sp>
        <p:nvSpPr>
          <p:cNvPr id="26" name="Text 24"/>
          <p:cNvSpPr txBox="1"/>
          <p:nvPr/>
        </p:nvSpPr>
        <p:spPr>
          <a:xfrm>
            <a:off x="1024128" y="3044952"/>
            <a:ext cx="7726680" cy="252374"/>
          </a:xfrm>
          <a:prstGeom prst="rect">
            <a:avLst/>
          </a:prstGeom>
          <a:noFill/>
          <a:ln/>
        </p:spPr>
        <p:txBody>
          <a:bodyPr wrap="square" lIns="508" tIns="508" rIns="508" bIns="508" rtlCol="0" anchor="ctr">
            <a:normAutofit/>
            <a:spAutoFit/>
          </a:bodyPr>
          <a:lstStyle/>
          <a:p>
            <a:pPr algn="l" indent="0" marL="0">
              <a:buNone/>
            </a:pPr>
            <a:r>
              <a:rPr lang="en-US" sz="1200" b="1" dirty="0">
                <a:solidFill>
                  <a:srgbClr val="1B2A4A"/>
                </a:solidFill>
                <a:latin typeface="Trebuchet MS" pitchFamily="34" charset="0"/>
                <a:ea typeface="Trebuchet MS" pitchFamily="34" charset="-122"/>
                <a:cs typeface="Trebuchet MS" pitchFamily="34" charset="-120"/>
              </a:rPr>
              <a:t>Business cycle phases &amp; indicators</a:t>
            </a:r>
            <a:endParaRPr lang="en-US" sz="1200" dirty="0"/>
          </a:p>
        </p:txBody>
      </p:sp>
      <p:sp>
        <p:nvSpPr>
          <p:cNvPr id="27" name="Text 25"/>
          <p:cNvSpPr txBox="1"/>
          <p:nvPr/>
        </p:nvSpPr>
        <p:spPr>
          <a:xfrm>
            <a:off x="1024128" y="3251606"/>
            <a:ext cx="7726680" cy="308458"/>
          </a:xfrm>
          <a:prstGeom prst="rect">
            <a:avLst/>
          </a:prstGeom>
          <a:noFill/>
          <a:ln/>
        </p:spPr>
        <p:txBody>
          <a:bodyPr wrap="square" lIns="508" tIns="508" rIns="508" bIns="508" rtlCol="0" anchor="t">
            <a:normAutofit/>
            <a:spAutoFit/>
          </a:bodyPr>
          <a:lstStyle/>
          <a:p>
            <a:pPr algn="l" indent="0" marL="0">
              <a:buNone/>
            </a:pPr>
            <a:r>
              <a:rPr lang="en-US" sz="1100" dirty="0">
                <a:solidFill>
                  <a:srgbClr val="6B7A8D"/>
                </a:solidFill>
                <a:latin typeface="Calibri" pitchFamily="34" charset="0"/>
                <a:ea typeface="Calibri" pitchFamily="34" charset="-122"/>
                <a:cs typeface="Calibri" pitchFamily="34" charset="-120"/>
              </a:rPr>
              <a:t>Four phases · classical vs growth · credit cycles · LEI / coincident / lagging</a:t>
            </a:r>
            <a:endParaRPr lang="en-US" sz="1100" dirty="0"/>
          </a:p>
        </p:txBody>
      </p:sp>
      <p:sp>
        <p:nvSpPr>
          <p:cNvPr id="28" name="Shape 26"/>
          <p:cNvSpPr/>
          <p:nvPr/>
        </p:nvSpPr>
        <p:spPr>
          <a:xfrm>
            <a:off x="320040" y="3596640"/>
            <a:ext cx="8503920" cy="560832"/>
          </a:xfrm>
          <a:prstGeom prst="rect">
            <a:avLst/>
          </a:prstGeom>
          <a:solidFill>
            <a:srgbClr val="FFFFFF"/>
          </a:solidFill>
          <a:ln/>
        </p:spPr>
      </p:sp>
      <p:sp>
        <p:nvSpPr>
          <p:cNvPr id="29" name="Shape 27"/>
          <p:cNvSpPr/>
          <p:nvPr/>
        </p:nvSpPr>
        <p:spPr>
          <a:xfrm>
            <a:off x="320040" y="3596640"/>
            <a:ext cx="594360" cy="560832"/>
          </a:xfrm>
          <a:prstGeom prst="rect">
            <a:avLst/>
          </a:prstGeom>
          <a:solidFill>
            <a:srgbClr val="1B2A4A"/>
          </a:solidFill>
          <a:ln/>
        </p:spPr>
      </p:sp>
      <p:sp>
        <p:nvSpPr>
          <p:cNvPr id="30" name="Text 28"/>
          <p:cNvSpPr txBox="1"/>
          <p:nvPr/>
        </p:nvSpPr>
        <p:spPr>
          <a:xfrm>
            <a:off x="320040" y="3596640"/>
            <a:ext cx="594360" cy="560832"/>
          </a:xfrm>
          <a:prstGeom prst="rect">
            <a:avLst/>
          </a:prstGeom>
          <a:noFill/>
          <a:ln/>
        </p:spPr>
        <p:txBody>
          <a:bodyPr wrap="square" lIns="508" tIns="508" rIns="508" bIns="508" rtlCol="0" anchor="ctr">
            <a:normAutofit/>
            <a:spAutoFit/>
          </a:bodyPr>
          <a:lstStyle/>
          <a:p>
            <a:pPr algn="ctr" indent="0" marL="0">
              <a:buNone/>
            </a:pPr>
            <a:r>
              <a:rPr lang="en-US" sz="1300" b="1" dirty="0">
                <a:solidFill>
                  <a:srgbClr val="E8600A"/>
                </a:solidFill>
                <a:latin typeface="Trebuchet MS" pitchFamily="34" charset="0"/>
                <a:ea typeface="Trebuchet MS" pitchFamily="34" charset="-122"/>
                <a:cs typeface="Trebuchet MS" pitchFamily="34" charset="-120"/>
              </a:rPr>
              <a:t>05</a:t>
            </a:r>
            <a:endParaRPr lang="en-US" sz="1300" dirty="0"/>
          </a:p>
        </p:txBody>
      </p:sp>
      <p:sp>
        <p:nvSpPr>
          <p:cNvPr id="31" name="Text 29"/>
          <p:cNvSpPr txBox="1"/>
          <p:nvPr/>
        </p:nvSpPr>
        <p:spPr>
          <a:xfrm>
            <a:off x="1024128" y="3642360"/>
            <a:ext cx="7726680" cy="252374"/>
          </a:xfrm>
          <a:prstGeom prst="rect">
            <a:avLst/>
          </a:prstGeom>
          <a:noFill/>
          <a:ln/>
        </p:spPr>
        <p:txBody>
          <a:bodyPr wrap="square" lIns="508" tIns="508" rIns="508" bIns="508" rtlCol="0" anchor="ctr">
            <a:normAutofit/>
            <a:spAutoFit/>
          </a:bodyPr>
          <a:lstStyle/>
          <a:p>
            <a:pPr algn="l" indent="0" marL="0">
              <a:buNone/>
            </a:pPr>
            <a:r>
              <a:rPr lang="en-US" sz="1200" b="1" dirty="0">
                <a:solidFill>
                  <a:srgbClr val="1B2A4A"/>
                </a:solidFill>
                <a:latin typeface="Trebuchet MS" pitchFamily="34" charset="0"/>
                <a:ea typeface="Trebuchet MS" pitchFamily="34" charset="-122"/>
                <a:cs typeface="Trebuchet MS" pitchFamily="34" charset="-120"/>
              </a:rPr>
              <a:t>Unemployment &amp; inflation</a:t>
            </a:r>
            <a:endParaRPr lang="en-US" sz="1200" dirty="0"/>
          </a:p>
        </p:txBody>
      </p:sp>
      <p:sp>
        <p:nvSpPr>
          <p:cNvPr id="32" name="Text 30"/>
          <p:cNvSpPr txBox="1"/>
          <p:nvPr/>
        </p:nvSpPr>
        <p:spPr>
          <a:xfrm>
            <a:off x="1024128" y="3849014"/>
            <a:ext cx="7726680" cy="308458"/>
          </a:xfrm>
          <a:prstGeom prst="rect">
            <a:avLst/>
          </a:prstGeom>
          <a:noFill/>
          <a:ln/>
        </p:spPr>
        <p:txBody>
          <a:bodyPr wrap="square" lIns="508" tIns="508" rIns="508" bIns="508" rtlCol="0" anchor="t">
            <a:normAutofit/>
            <a:spAutoFit/>
          </a:bodyPr>
          <a:lstStyle/>
          <a:p>
            <a:pPr algn="l" indent="0" marL="0">
              <a:buNone/>
            </a:pPr>
            <a:r>
              <a:rPr lang="en-US" sz="1100" dirty="0">
                <a:solidFill>
                  <a:srgbClr val="6B7A8D"/>
                </a:solidFill>
                <a:latin typeface="Calibri" pitchFamily="34" charset="0"/>
                <a:ea typeface="Calibri" pitchFamily="34" charset="-122"/>
                <a:cs typeface="Calibri" pitchFamily="34" charset="-120"/>
              </a:rPr>
              <a:t>Labor-force measures · CPI · core · PPI · GDP deflator · Phillips curve · Okun's law</a:t>
            </a:r>
            <a:endParaRPr lang="en-US" sz="1100" dirty="0"/>
          </a:p>
        </p:txBody>
      </p:sp>
      <p:sp>
        <p:nvSpPr>
          <p:cNvPr id="33" name="Shape 31"/>
          <p:cNvSpPr/>
          <p:nvPr/>
        </p:nvSpPr>
        <p:spPr>
          <a:xfrm>
            <a:off x="320040" y="4194048"/>
            <a:ext cx="8503920" cy="560832"/>
          </a:xfrm>
          <a:prstGeom prst="rect">
            <a:avLst/>
          </a:prstGeom>
          <a:solidFill>
            <a:srgbClr val="F5F7FA"/>
          </a:solidFill>
          <a:ln/>
        </p:spPr>
      </p:sp>
      <p:sp>
        <p:nvSpPr>
          <p:cNvPr id="34" name="Shape 32"/>
          <p:cNvSpPr/>
          <p:nvPr/>
        </p:nvSpPr>
        <p:spPr>
          <a:xfrm>
            <a:off x="320040" y="4194048"/>
            <a:ext cx="594360" cy="560832"/>
          </a:xfrm>
          <a:prstGeom prst="rect">
            <a:avLst/>
          </a:prstGeom>
          <a:solidFill>
            <a:srgbClr val="1B2A4A"/>
          </a:solidFill>
          <a:ln/>
        </p:spPr>
      </p:sp>
      <p:sp>
        <p:nvSpPr>
          <p:cNvPr id="35" name="Text 33"/>
          <p:cNvSpPr txBox="1"/>
          <p:nvPr/>
        </p:nvSpPr>
        <p:spPr>
          <a:xfrm>
            <a:off x="320040" y="4194048"/>
            <a:ext cx="594360" cy="560832"/>
          </a:xfrm>
          <a:prstGeom prst="rect">
            <a:avLst/>
          </a:prstGeom>
          <a:noFill/>
          <a:ln/>
        </p:spPr>
        <p:txBody>
          <a:bodyPr wrap="square" lIns="508" tIns="508" rIns="508" bIns="508" rtlCol="0" anchor="ctr">
            <a:normAutofit/>
            <a:spAutoFit/>
          </a:bodyPr>
          <a:lstStyle/>
          <a:p>
            <a:pPr algn="ctr" indent="0" marL="0">
              <a:buNone/>
            </a:pPr>
            <a:r>
              <a:rPr lang="en-US" sz="1300" b="1" dirty="0">
                <a:solidFill>
                  <a:srgbClr val="E8600A"/>
                </a:solidFill>
                <a:latin typeface="Trebuchet MS" pitchFamily="34" charset="0"/>
                <a:ea typeface="Trebuchet MS" pitchFamily="34" charset="-122"/>
                <a:cs typeface="Trebuchet MS" pitchFamily="34" charset="-120"/>
              </a:rPr>
              <a:t>06</a:t>
            </a:r>
            <a:endParaRPr lang="en-US" sz="1300" dirty="0"/>
          </a:p>
        </p:txBody>
      </p:sp>
      <p:sp>
        <p:nvSpPr>
          <p:cNvPr id="36" name="Text 34"/>
          <p:cNvSpPr txBox="1"/>
          <p:nvPr/>
        </p:nvSpPr>
        <p:spPr>
          <a:xfrm>
            <a:off x="1024128" y="4239768"/>
            <a:ext cx="7726680" cy="252374"/>
          </a:xfrm>
          <a:prstGeom prst="rect">
            <a:avLst/>
          </a:prstGeom>
          <a:noFill/>
          <a:ln/>
        </p:spPr>
        <p:txBody>
          <a:bodyPr wrap="square" lIns="508" tIns="508" rIns="508" bIns="508" rtlCol="0" anchor="ctr">
            <a:normAutofit/>
            <a:spAutoFit/>
          </a:bodyPr>
          <a:lstStyle/>
          <a:p>
            <a:pPr algn="l" indent="0" marL="0">
              <a:buNone/>
            </a:pPr>
            <a:r>
              <a:rPr lang="en-US" sz="1200" b="1" dirty="0">
                <a:solidFill>
                  <a:srgbClr val="1B2A4A"/>
                </a:solidFill>
                <a:latin typeface="Trebuchet MS" pitchFamily="34" charset="0"/>
                <a:ea typeface="Trebuchet MS" pitchFamily="34" charset="-122"/>
                <a:cs typeface="Trebuchet MS" pitchFamily="34" charset="-120"/>
              </a:rPr>
              <a:t>Investment-relevant cycle dynamics</a:t>
            </a:r>
            <a:endParaRPr lang="en-US" sz="1200" dirty="0"/>
          </a:p>
        </p:txBody>
      </p:sp>
      <p:sp>
        <p:nvSpPr>
          <p:cNvPr id="37" name="Text 35"/>
          <p:cNvSpPr txBox="1"/>
          <p:nvPr/>
        </p:nvSpPr>
        <p:spPr>
          <a:xfrm>
            <a:off x="1024128" y="4446422"/>
            <a:ext cx="7726680" cy="308458"/>
          </a:xfrm>
          <a:prstGeom prst="rect">
            <a:avLst/>
          </a:prstGeom>
          <a:noFill/>
          <a:ln/>
        </p:spPr>
        <p:txBody>
          <a:bodyPr wrap="square" lIns="508" tIns="508" rIns="508" bIns="508" rtlCol="0" anchor="t">
            <a:normAutofit/>
            <a:spAutoFit/>
          </a:bodyPr>
          <a:lstStyle/>
          <a:p>
            <a:pPr algn="l" indent="0" marL="0">
              <a:buNone/>
            </a:pPr>
            <a:r>
              <a:rPr lang="en-US" sz="1100" dirty="0">
                <a:solidFill>
                  <a:srgbClr val="6B7A8D"/>
                </a:solidFill>
                <a:latin typeface="Calibri" pitchFamily="34" charset="0"/>
                <a:ea typeface="Calibri" pitchFamily="34" charset="-122"/>
                <a:cs typeface="Calibri" pitchFamily="34" charset="-120"/>
              </a:rPr>
              <a:t>Leading markets · inventory and capex cycles · sector rotation playbook</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B2A4A"/>
          </a:solidFill>
          <a:ln/>
        </p:spPr>
      </p:sp>
      <p:sp>
        <p:nvSpPr>
          <p:cNvPr id="3" name="Shape 1"/>
          <p:cNvSpPr/>
          <p:nvPr/>
        </p:nvSpPr>
        <p:spPr>
          <a:xfrm>
            <a:off x="0" y="0"/>
            <a:ext cx="109728" cy="621792"/>
          </a:xfrm>
          <a:prstGeom prst="rect">
            <a:avLst/>
          </a:prstGeom>
          <a:solidFill>
            <a:srgbClr val="E8600A"/>
          </a:solidFill>
          <a:ln/>
        </p:spPr>
      </p:sp>
      <p:sp>
        <p:nvSpPr>
          <p:cNvPr id="4" name="Text 2"/>
          <p:cNvSpPr txBox="1"/>
          <p:nvPr/>
        </p:nvSpPr>
        <p:spPr>
          <a:xfrm>
            <a:off x="256032" y="0"/>
            <a:ext cx="8686800" cy="621792"/>
          </a:xfrm>
          <a:prstGeom prst="rect">
            <a:avLst/>
          </a:prstGeom>
          <a:noFill/>
          <a:ln/>
        </p:spPr>
        <p:txBody>
          <a:bodyPr wrap="square" lIns="508" tIns="508" rIns="508" bIns="508" rtlCol="0" anchor="ctr">
            <a:normAutofit/>
            <a:spAutoFit/>
          </a:bodyPr>
          <a:lstStyle/>
          <a:p>
            <a:pPr algn="l" indent="0" marL="0">
              <a:buNone/>
            </a:pPr>
            <a:r>
              <a:rPr lang="en-US" sz="1900" b="1" dirty="0">
                <a:solidFill>
                  <a:srgbClr val="FFFFFF"/>
                </a:solidFill>
                <a:latin typeface="Trebuchet MS" pitchFamily="34" charset="0"/>
                <a:ea typeface="Trebuchet MS" pitchFamily="34" charset="-122"/>
                <a:cs typeface="Trebuchet MS" pitchFamily="34" charset="-120"/>
              </a:rPr>
              <a:t>Learning objectives</a:t>
            </a:r>
            <a:endParaRPr lang="en-US" sz="1900" dirty="0"/>
          </a:p>
        </p:txBody>
      </p:sp>
      <p:sp>
        <p:nvSpPr>
          <p:cNvPr id="5" name="Shape 3"/>
          <p:cNvSpPr/>
          <p:nvPr/>
        </p:nvSpPr>
        <p:spPr>
          <a:xfrm>
            <a:off x="0" y="4892040"/>
            <a:ext cx="9144000" cy="256032"/>
          </a:xfrm>
          <a:prstGeom prst="rect">
            <a:avLst/>
          </a:prstGeom>
          <a:solidFill>
            <a:srgbClr val="E8ECF0"/>
          </a:solidFill>
          <a:ln/>
        </p:spPr>
      </p:sp>
      <p:sp>
        <p:nvSpPr>
          <p:cNvPr id="6" name="Text 4"/>
          <p:cNvSpPr txBox="1"/>
          <p:nvPr/>
        </p:nvSpPr>
        <p:spPr>
          <a:xfrm>
            <a:off x="274320" y="4892040"/>
            <a:ext cx="5943600" cy="256032"/>
          </a:xfrm>
          <a:prstGeom prst="rect">
            <a:avLst/>
          </a:prstGeom>
          <a:noFill/>
          <a:ln/>
        </p:spPr>
        <p:txBody>
          <a:bodyPr wrap="square" lIns="508" tIns="508" rIns="508" bIns="508" rtlCol="0" anchor="ctr">
            <a:normAutofit/>
            <a:spAutoFit/>
          </a:bodyPr>
          <a:lstStyle/>
          <a:p>
            <a:pPr algn="l" indent="0" marL="0">
              <a:buNone/>
            </a:pPr>
            <a:r>
              <a:rPr lang="en-US" sz="750" dirty="0">
                <a:solidFill>
                  <a:srgbClr val="6B7A8D"/>
                </a:solidFill>
                <a:latin typeface="Calibri" pitchFamily="34" charset="0"/>
                <a:ea typeface="Calibri" pitchFamily="34" charset="-122"/>
                <a:cs typeface="Calibri" pitchFamily="34" charset="-120"/>
              </a:rPr>
              <a:t>STUDIO TONTON GUG  ·  Finance Fundamentals</a:t>
            </a:r>
            <a:endParaRPr lang="en-US" sz="750" dirty="0"/>
          </a:p>
        </p:txBody>
      </p:sp>
      <p:sp>
        <p:nvSpPr>
          <p:cNvPr id="7" name="Text 5"/>
          <p:cNvSpPr txBox="1"/>
          <p:nvPr/>
        </p:nvSpPr>
        <p:spPr>
          <a:xfrm>
            <a:off x="320040" y="822960"/>
            <a:ext cx="8503920" cy="274320"/>
          </a:xfrm>
          <a:prstGeom prst="rect">
            <a:avLst/>
          </a:prstGeom>
          <a:noFill/>
          <a:ln/>
        </p:spPr>
        <p:txBody>
          <a:bodyPr wrap="square" lIns="508" tIns="508" rIns="508" bIns="508" rtlCol="0" anchor="ctr">
            <a:normAutofit/>
            <a:spAutoFit/>
          </a:bodyPr>
          <a:lstStyle/>
          <a:p>
            <a:pPr algn="l" indent="0" marL="0">
              <a:buNone/>
            </a:pPr>
            <a:r>
              <a:rPr lang="en-US" sz="1300" i="1" dirty="0">
                <a:solidFill>
                  <a:srgbClr val="334155"/>
                </a:solidFill>
                <a:latin typeface="Calibri" pitchFamily="34" charset="0"/>
                <a:ea typeface="Calibri" pitchFamily="34" charset="-122"/>
                <a:cs typeface="Calibri" pitchFamily="34" charset="-120"/>
              </a:rPr>
              <a:t>By the end of this deck you should be able to:</a:t>
            </a:r>
            <a:endParaRPr lang="en-US" sz="1300" dirty="0"/>
          </a:p>
        </p:txBody>
      </p:sp>
      <p:sp>
        <p:nvSpPr>
          <p:cNvPr id="8" name="Text 6"/>
          <p:cNvSpPr txBox="1"/>
          <p:nvPr/>
        </p:nvSpPr>
        <p:spPr>
          <a:xfrm>
            <a:off x="320040" y="1188720"/>
            <a:ext cx="8503920" cy="3108960"/>
          </a:xfrm>
          <a:prstGeom prst="rect">
            <a:avLst/>
          </a:prstGeom>
          <a:noFill/>
          <a:ln/>
        </p:spPr>
        <p:txBody>
          <a:bodyPr wrap="square" rtlCol="0" anchor="t"/>
          <a:lstStyle/>
          <a:p>
            <a:pPr indent="0" marL="0">
              <a:buNone/>
            </a:pPr>
            <a:r>
              <a:rPr lang="en-US" sz="1200" b="1" dirty="0">
                <a:solidFill>
                  <a:srgbClr val="E8600A"/>
                </a:solidFill>
                <a:latin typeface="Trebuchet MS" pitchFamily="34" charset="0"/>
                <a:ea typeface="Trebuchet MS" pitchFamily="34" charset="-122"/>
                <a:cs typeface="Trebuchet MS" pitchFamily="34" charset="-120"/>
              </a:rPr>
              <a:t>1. </a:t>
            </a:r>
            <a:pPr indent="0" marL="0">
              <a:buNone/>
            </a:pPr>
            <a:r>
              <a:rPr lang="en-US" sz="1200" dirty="0">
                <a:solidFill>
                  <a:srgbClr val="334155"/>
                </a:solidFill>
                <a:latin typeface="Calibri" pitchFamily="34" charset="0"/>
                <a:ea typeface="Calibri" pitchFamily="34" charset="-122"/>
                <a:cs typeface="Calibri" pitchFamily="34" charset="-120"/>
              </a:rPr>
              <a:t>Compute and interpret own-price elasticity of demand, and predict how total revenue will move when a firm changes price given the elasticity regime.
</a:t>
            </a:r>
            <a:pPr indent="0" marL="0">
              <a:buNone/>
            </a:pPr>
            <a:r>
              <a:rPr lang="en-US" sz="1200" b="1" dirty="0">
                <a:solidFill>
                  <a:srgbClr val="E8600A"/>
                </a:solidFill>
                <a:latin typeface="Trebuchet MS" pitchFamily="34" charset="0"/>
                <a:ea typeface="Trebuchet MS" pitchFamily="34" charset="-122"/>
                <a:cs typeface="Trebuchet MS" pitchFamily="34" charset="-120"/>
              </a:rPr>
              <a:t>2. </a:t>
            </a:r>
            <a:pPr indent="0" marL="0">
              <a:buNone/>
            </a:pPr>
            <a:r>
              <a:rPr lang="en-US" sz="1200" dirty="0">
                <a:solidFill>
                  <a:srgbClr val="334155"/>
                </a:solidFill>
                <a:latin typeface="Calibri" pitchFamily="34" charset="0"/>
                <a:ea typeface="Calibri" pitchFamily="34" charset="-122"/>
                <a:cs typeface="Calibri" pitchFamily="34" charset="-120"/>
              </a:rPr>
              <a:t>Apply the MR = MC profit-maximization rule to any market structure, and distinguish the breakeven, shutdown, and long-run-exit thresholds.
</a:t>
            </a:r>
            <a:pPr indent="0" marL="0">
              <a:buNone/>
            </a:pPr>
            <a:r>
              <a:rPr lang="en-US" sz="1200" b="1" dirty="0">
                <a:solidFill>
                  <a:srgbClr val="E8600A"/>
                </a:solidFill>
                <a:latin typeface="Trebuchet MS" pitchFamily="34" charset="0"/>
                <a:ea typeface="Trebuchet MS" pitchFamily="34" charset="-122"/>
                <a:cs typeface="Trebuchet MS" pitchFamily="34" charset="-120"/>
              </a:rPr>
              <a:t>3. </a:t>
            </a:r>
            <a:pPr indent="0" marL="0">
              <a:buNone/>
            </a:pPr>
            <a:r>
              <a:rPr lang="en-US" sz="1200" dirty="0">
                <a:solidFill>
                  <a:srgbClr val="334155"/>
                </a:solidFill>
                <a:latin typeface="Calibri" pitchFamily="34" charset="0"/>
                <a:ea typeface="Calibri" pitchFamily="34" charset="-122"/>
                <a:cs typeface="Calibri" pitchFamily="34" charset="-120"/>
              </a:rPr>
              <a:t>Identify which of the four market structures a firm operates in using product differentiation, number of sellers, barriers to entry, and pricing power.
</a:t>
            </a:r>
            <a:pPr indent="0" marL="0">
              <a:buNone/>
            </a:pPr>
            <a:r>
              <a:rPr lang="en-US" sz="1200" b="1" dirty="0">
                <a:solidFill>
                  <a:srgbClr val="E8600A"/>
                </a:solidFill>
                <a:latin typeface="Trebuchet MS" pitchFamily="34" charset="0"/>
                <a:ea typeface="Trebuchet MS" pitchFamily="34" charset="-122"/>
                <a:cs typeface="Trebuchet MS" pitchFamily="34" charset="-120"/>
              </a:rPr>
              <a:t>4. </a:t>
            </a:r>
            <a:pPr indent="0" marL="0">
              <a:buNone/>
            </a:pPr>
            <a:r>
              <a:rPr lang="en-US" sz="1200" dirty="0">
                <a:solidFill>
                  <a:srgbClr val="334155"/>
                </a:solidFill>
                <a:latin typeface="Calibri" pitchFamily="34" charset="0"/>
                <a:ea typeface="Calibri" pitchFamily="34" charset="-122"/>
                <a:cs typeface="Calibri" pitchFamily="34" charset="-120"/>
              </a:rPr>
              <a:t>Describe the four business-cycle phases and translate inventory, capex, employment, and credit indicators into a phase call.
</a:t>
            </a:r>
            <a:pPr indent="0" marL="0">
              <a:buNone/>
            </a:pPr>
            <a:r>
              <a:rPr lang="en-US" sz="1200" b="1" dirty="0">
                <a:solidFill>
                  <a:srgbClr val="E8600A"/>
                </a:solidFill>
                <a:latin typeface="Trebuchet MS" pitchFamily="34" charset="0"/>
                <a:ea typeface="Trebuchet MS" pitchFamily="34" charset="-122"/>
                <a:cs typeface="Trebuchet MS" pitchFamily="34" charset="-120"/>
              </a:rPr>
              <a:t>5. </a:t>
            </a:r>
            <a:pPr indent="0" marL="0">
              <a:buNone/>
            </a:pPr>
            <a:r>
              <a:rPr lang="en-US" sz="1200" dirty="0">
                <a:solidFill>
                  <a:srgbClr val="334155"/>
                </a:solidFill>
                <a:latin typeface="Calibri" pitchFamily="34" charset="0"/>
                <a:ea typeface="Calibri" pitchFamily="34" charset="-122"/>
                <a:cs typeface="Calibri" pitchFamily="34" charset="-120"/>
              </a:rPr>
              <a:t>Link unemployment and inflation through the short-run Phillips curve and Okun's law, and translate an unemployment forecast into an inflation forecast.
</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B2A4A"/>
          </a:solidFill>
          <a:ln/>
        </p:spPr>
      </p:sp>
      <p:sp>
        <p:nvSpPr>
          <p:cNvPr id="3" name="Shape 1"/>
          <p:cNvSpPr/>
          <p:nvPr/>
        </p:nvSpPr>
        <p:spPr>
          <a:xfrm>
            <a:off x="0" y="0"/>
            <a:ext cx="201168" cy="5143500"/>
          </a:xfrm>
          <a:prstGeom prst="rect">
            <a:avLst/>
          </a:prstGeom>
          <a:solidFill>
            <a:srgbClr val="E8600A"/>
          </a:solidFill>
          <a:ln/>
        </p:spPr>
      </p:sp>
      <p:sp>
        <p:nvSpPr>
          <p:cNvPr id="4" name="Text 2"/>
          <p:cNvSpPr txBox="1"/>
          <p:nvPr/>
        </p:nvSpPr>
        <p:spPr>
          <a:xfrm>
            <a:off x="914400" y="1371600"/>
            <a:ext cx="7315200" cy="411480"/>
          </a:xfrm>
          <a:prstGeom prst="rect">
            <a:avLst/>
          </a:prstGeom>
          <a:noFill/>
          <a:ln/>
        </p:spPr>
        <p:txBody>
          <a:bodyPr wrap="square" lIns="508" tIns="508" rIns="508" bIns="508" rtlCol="0" anchor="ctr">
            <a:normAutofit/>
            <a:spAutoFit/>
          </a:bodyPr>
          <a:lstStyle/>
          <a:p>
            <a:pPr algn="l" indent="0" marL="0">
              <a:buNone/>
            </a:pPr>
            <a:r>
              <a:rPr lang="en-US" sz="1200" b="1" spc="600" kern="0" dirty="0">
                <a:solidFill>
                  <a:srgbClr val="FFFFFF"/>
                </a:solidFill>
                <a:latin typeface="Trebuchet MS" pitchFamily="34" charset="0"/>
                <a:ea typeface="Trebuchet MS" pitchFamily="34" charset="-122"/>
                <a:cs typeface="Trebuchet MS" pitchFamily="34" charset="-120"/>
              </a:rPr>
              <a:t>SECTION 01</a:t>
            </a:r>
            <a:endParaRPr lang="en-US" sz="1200" dirty="0"/>
          </a:p>
        </p:txBody>
      </p:sp>
      <p:sp>
        <p:nvSpPr>
          <p:cNvPr id="5" name="Shape 3"/>
          <p:cNvSpPr/>
          <p:nvPr/>
        </p:nvSpPr>
        <p:spPr>
          <a:xfrm>
            <a:off x="914400" y="1920240"/>
            <a:ext cx="2743200" cy="45720"/>
          </a:xfrm>
          <a:prstGeom prst="rect">
            <a:avLst/>
          </a:prstGeom>
          <a:solidFill>
            <a:srgbClr val="FFFFFF"/>
          </a:solidFill>
          <a:ln/>
        </p:spPr>
      </p:sp>
      <p:sp>
        <p:nvSpPr>
          <p:cNvPr id="6" name="Text 4"/>
          <p:cNvSpPr txBox="1"/>
          <p:nvPr/>
        </p:nvSpPr>
        <p:spPr>
          <a:xfrm>
            <a:off x="914400" y="2057400"/>
            <a:ext cx="7315200" cy="1645920"/>
          </a:xfrm>
          <a:prstGeom prst="rect">
            <a:avLst/>
          </a:prstGeom>
          <a:noFill/>
          <a:ln/>
        </p:spPr>
        <p:txBody>
          <a:bodyPr wrap="square" lIns="508" tIns="508" rIns="508" bIns="508" rtlCol="0" anchor="t">
            <a:normAutofit/>
            <a:spAutoFit/>
          </a:bodyPr>
          <a:lstStyle/>
          <a:p>
            <a:pPr algn="l" indent="0" marL="0">
              <a:buNone/>
            </a:pPr>
            <a:r>
              <a:rPr lang="en-US" sz="3200" b="1" dirty="0">
                <a:solidFill>
                  <a:srgbClr val="FFFFFF"/>
                </a:solidFill>
                <a:latin typeface="Trebuchet MS" pitchFamily="34" charset="0"/>
                <a:ea typeface="Trebuchet MS" pitchFamily="34" charset="-122"/>
                <a:cs typeface="Trebuchet MS" pitchFamily="34" charset="-120"/>
              </a:rPr>
              <a:t>Demand, supply,</a:t>
            </a:r>
            <a:endParaRPr lang="en-US" sz="3200" dirty="0"/>
          </a:p>
          <a:p>
            <a:pPr algn="l" indent="0" marL="0">
              <a:buNone/>
            </a:pPr>
            <a:r>
              <a:rPr lang="en-US" sz="3200" b="1" dirty="0">
                <a:solidFill>
                  <a:srgbClr val="FFFFFF"/>
                </a:solidFill>
                <a:latin typeface="Trebuchet MS" pitchFamily="34" charset="0"/>
                <a:ea typeface="Trebuchet MS" pitchFamily="34" charset="-122"/>
                <a:cs typeface="Trebuchet MS" pitchFamily="34" charset="-120"/>
              </a:rPr>
              <a:t>elasticity</a:t>
            </a:r>
            <a:endParaRPr lang="en-US" sz="3200" dirty="0"/>
          </a:p>
        </p:txBody>
      </p:sp>
      <p:sp>
        <p:nvSpPr>
          <p:cNvPr id="7" name="Text 5"/>
          <p:cNvSpPr txBox="1"/>
          <p:nvPr/>
        </p:nvSpPr>
        <p:spPr>
          <a:xfrm>
            <a:off x="914400" y="4640580"/>
            <a:ext cx="7315200" cy="274320"/>
          </a:xfrm>
          <a:prstGeom prst="rect">
            <a:avLst/>
          </a:prstGeom>
          <a:noFill/>
          <a:ln/>
        </p:spPr>
        <p:txBody>
          <a:bodyPr wrap="square" lIns="508" tIns="508" rIns="508" bIns="508" rtlCol="0" anchor="ctr">
            <a:normAutofit/>
            <a:spAutoFit/>
          </a:bodyPr>
          <a:lstStyle/>
          <a:p>
            <a:pPr algn="l" indent="0" marL="0">
              <a:buNone/>
            </a:pPr>
            <a:r>
              <a:rPr lang="en-US" sz="750" i="1" dirty="0">
                <a:solidFill>
                  <a:srgbClr val="E8ECF0"/>
                </a:solidFill>
                <a:latin typeface="Calibri" pitchFamily="34" charset="0"/>
                <a:ea typeface="Calibri" pitchFamily="34" charset="-122"/>
                <a:cs typeface="Calibri" pitchFamily="34" charset="-120"/>
              </a:rPr>
              <a:t>Section 1 of 6  ·  Deck 4 of 20  ·  Studio Tonton Gug</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B2A4A"/>
          </a:solidFill>
          <a:ln/>
        </p:spPr>
      </p:sp>
      <p:sp>
        <p:nvSpPr>
          <p:cNvPr id="3" name="Shape 1"/>
          <p:cNvSpPr/>
          <p:nvPr/>
        </p:nvSpPr>
        <p:spPr>
          <a:xfrm>
            <a:off x="0" y="0"/>
            <a:ext cx="109728" cy="621792"/>
          </a:xfrm>
          <a:prstGeom prst="rect">
            <a:avLst/>
          </a:prstGeom>
          <a:solidFill>
            <a:srgbClr val="E8600A"/>
          </a:solidFill>
          <a:ln/>
        </p:spPr>
      </p:sp>
      <p:sp>
        <p:nvSpPr>
          <p:cNvPr id="4" name="Text 2"/>
          <p:cNvSpPr txBox="1"/>
          <p:nvPr/>
        </p:nvSpPr>
        <p:spPr>
          <a:xfrm>
            <a:off x="256032" y="0"/>
            <a:ext cx="8686800" cy="621792"/>
          </a:xfrm>
          <a:prstGeom prst="rect">
            <a:avLst/>
          </a:prstGeom>
          <a:noFill/>
          <a:ln/>
        </p:spPr>
        <p:txBody>
          <a:bodyPr wrap="square" lIns="508" tIns="508" rIns="508" bIns="508" rtlCol="0" anchor="ctr">
            <a:normAutofit/>
            <a:spAutoFit/>
          </a:bodyPr>
          <a:lstStyle/>
          <a:p>
            <a:pPr algn="l" indent="0" marL="0">
              <a:buNone/>
            </a:pPr>
            <a:r>
              <a:rPr lang="en-US" sz="1700" b="1" dirty="0">
                <a:solidFill>
                  <a:srgbClr val="FFFFFF"/>
                </a:solidFill>
                <a:latin typeface="Trebuchet MS" pitchFamily="34" charset="0"/>
                <a:ea typeface="Trebuchet MS" pitchFamily="34" charset="-122"/>
                <a:cs typeface="Trebuchet MS" pitchFamily="34" charset="-120"/>
              </a:rPr>
              <a:t>Demand slopes down and supply slopes up because buyers face diminishing marginal utility while sellers face rising marginal cost</a:t>
            </a:r>
            <a:endParaRPr lang="en-US" sz="1700" dirty="0"/>
          </a:p>
        </p:txBody>
      </p:sp>
      <p:sp>
        <p:nvSpPr>
          <p:cNvPr id="5" name="Shape 3"/>
          <p:cNvSpPr/>
          <p:nvPr/>
        </p:nvSpPr>
        <p:spPr>
          <a:xfrm>
            <a:off x="0" y="4892040"/>
            <a:ext cx="9144000" cy="256032"/>
          </a:xfrm>
          <a:prstGeom prst="rect">
            <a:avLst/>
          </a:prstGeom>
          <a:solidFill>
            <a:srgbClr val="E8ECF0"/>
          </a:solidFill>
          <a:ln/>
        </p:spPr>
      </p:sp>
      <p:sp>
        <p:nvSpPr>
          <p:cNvPr id="6" name="Text 4"/>
          <p:cNvSpPr txBox="1"/>
          <p:nvPr/>
        </p:nvSpPr>
        <p:spPr>
          <a:xfrm>
            <a:off x="274320" y="4892040"/>
            <a:ext cx="5943600" cy="256032"/>
          </a:xfrm>
          <a:prstGeom prst="rect">
            <a:avLst/>
          </a:prstGeom>
          <a:noFill/>
          <a:ln/>
        </p:spPr>
        <p:txBody>
          <a:bodyPr wrap="square" lIns="508" tIns="508" rIns="508" bIns="508" rtlCol="0" anchor="ctr">
            <a:normAutofit/>
            <a:spAutoFit/>
          </a:bodyPr>
          <a:lstStyle/>
          <a:p>
            <a:pPr algn="l" indent="0" marL="0">
              <a:buNone/>
            </a:pPr>
            <a:r>
              <a:rPr lang="en-US" sz="750" dirty="0">
                <a:solidFill>
                  <a:srgbClr val="6B7A8D"/>
                </a:solidFill>
                <a:latin typeface="Calibri" pitchFamily="34" charset="0"/>
                <a:ea typeface="Calibri" pitchFamily="34" charset="-122"/>
                <a:cs typeface="Calibri" pitchFamily="34" charset="-120"/>
              </a:rPr>
              <a:t>STUDIO TONTON GUG  ·  Finance Fundamentals</a:t>
            </a:r>
            <a:endParaRPr lang="en-US" sz="750" dirty="0"/>
          </a:p>
        </p:txBody>
      </p:sp>
      <p:sp>
        <p:nvSpPr>
          <p:cNvPr id="7" name="Text 5"/>
          <p:cNvSpPr txBox="1"/>
          <p:nvPr/>
        </p:nvSpPr>
        <p:spPr>
          <a:xfrm>
            <a:off x="320040" y="4663440"/>
            <a:ext cx="8503920" cy="201168"/>
          </a:xfrm>
          <a:prstGeom prst="rect">
            <a:avLst/>
          </a:prstGeom>
          <a:noFill/>
          <a:ln/>
        </p:spPr>
        <p:txBody>
          <a:bodyPr wrap="square" lIns="508" tIns="508" rIns="508" bIns="508" rtlCol="0" anchor="t">
            <a:normAutofit/>
            <a:spAutoFit/>
          </a:bodyPr>
          <a:lstStyle/>
          <a:p>
            <a:pPr algn="l" indent="0" marL="0">
              <a:buNone/>
            </a:pPr>
            <a:r>
              <a:rPr lang="en-US" sz="750" i="1" dirty="0">
                <a:solidFill>
                  <a:srgbClr val="6B7A8D"/>
                </a:solidFill>
                <a:latin typeface="Calibri" pitchFamily="34" charset="0"/>
                <a:ea typeface="Calibri" pitchFamily="34" charset="-122"/>
                <a:cs typeface="Calibri" pitchFamily="34" charset="-120"/>
              </a:rPr>
              <a:t>Source: CFA Institute, Curriculum Vol 2, Learning Module 1, Introduction, pp. 3–7.</a:t>
            </a:r>
            <a:endParaRPr lang="en-US" sz="750" dirty="0"/>
          </a:p>
        </p:txBody>
      </p:sp>
      <p:sp>
        <p:nvSpPr>
          <p:cNvPr id="8" name="Text 6"/>
          <p:cNvSpPr txBox="1"/>
          <p:nvPr/>
        </p:nvSpPr>
        <p:spPr>
          <a:xfrm>
            <a:off x="320040" y="731520"/>
            <a:ext cx="8503920" cy="292608"/>
          </a:xfrm>
          <a:prstGeom prst="rect">
            <a:avLst/>
          </a:prstGeom>
          <a:noFill/>
          <a:ln/>
        </p:spPr>
        <p:txBody>
          <a:bodyPr wrap="square" lIns="508" tIns="508" rIns="508" bIns="508" rtlCol="0" anchor="ctr">
            <a:normAutofit/>
            <a:spAutoFit/>
          </a:bodyPr>
          <a:lstStyle/>
          <a:p>
            <a:pPr algn="l" indent="0" marL="0">
              <a:buNone/>
            </a:pPr>
            <a:r>
              <a:rPr lang="en-US" sz="1300" i="1" dirty="0">
                <a:solidFill>
                  <a:srgbClr val="334155"/>
                </a:solidFill>
                <a:latin typeface="Calibri" pitchFamily="34" charset="0"/>
                <a:ea typeface="Calibri" pitchFamily="34" charset="-122"/>
                <a:cs typeface="Calibri" pitchFamily="34" charset="-120"/>
              </a:rPr>
              <a:t>Market equilibrium is the (P*, Q*) pair at which the quantity buyers demand equals the quantity sellers supply — the starting point for every subsequent structure.</a:t>
            </a:r>
            <a:endParaRPr lang="en-US" sz="1300" dirty="0"/>
          </a:p>
        </p:txBody>
      </p:sp>
      <p:sp>
        <p:nvSpPr>
          <p:cNvPr id="9" name="Shape 7"/>
          <p:cNvSpPr/>
          <p:nvPr/>
        </p:nvSpPr>
        <p:spPr>
          <a:xfrm>
            <a:off x="320040" y="1234440"/>
            <a:ext cx="8503920" cy="658368"/>
          </a:xfrm>
          <a:prstGeom prst="rect">
            <a:avLst/>
          </a:prstGeom>
          <a:solidFill>
            <a:srgbClr val="1B2A4A"/>
          </a:solidFill>
          <a:ln/>
        </p:spPr>
      </p:sp>
      <p:sp>
        <p:nvSpPr>
          <p:cNvPr id="10" name="Text 8"/>
          <p:cNvSpPr txBox="1"/>
          <p:nvPr/>
        </p:nvSpPr>
        <p:spPr>
          <a:xfrm>
            <a:off x="411480" y="1234440"/>
            <a:ext cx="8321040" cy="658368"/>
          </a:xfrm>
          <a:prstGeom prst="rect">
            <a:avLst/>
          </a:prstGeom>
          <a:noFill/>
          <a:ln/>
        </p:spPr>
        <p:txBody>
          <a:bodyPr wrap="square" lIns="508" tIns="508" rIns="508" bIns="508" rtlCol="0" anchor="ctr">
            <a:normAutofit/>
            <a:spAutoFit/>
          </a:bodyPr>
          <a:lstStyle/>
          <a:p>
            <a:pPr algn="ctr" indent="0" marL="0">
              <a:buNone/>
            </a:pPr>
            <a:r>
              <a:rPr lang="en-US" sz="1800" b="1" dirty="0">
                <a:solidFill>
                  <a:srgbClr val="FFFFFF"/>
                </a:solidFill>
                <a:latin typeface="Consolas" pitchFamily="34" charset="0"/>
                <a:ea typeface="Consolas" pitchFamily="34" charset="-122"/>
                <a:cs typeface="Consolas" pitchFamily="34" charset="-120"/>
              </a:rPr>
              <a:t>At equilibrium:   Q_D(P*)  =  Q_S(P*)      →      no surplus, no shortage</a:t>
            </a:r>
            <a:endParaRPr lang="en-US" sz="1800" dirty="0"/>
          </a:p>
        </p:txBody>
      </p:sp>
      <p:sp>
        <p:nvSpPr>
          <p:cNvPr id="11" name="Text 9"/>
          <p:cNvSpPr txBox="1"/>
          <p:nvPr/>
        </p:nvSpPr>
        <p:spPr>
          <a:xfrm>
            <a:off x="320040" y="1920240"/>
            <a:ext cx="8503920" cy="256032"/>
          </a:xfrm>
          <a:prstGeom prst="rect">
            <a:avLst/>
          </a:prstGeom>
          <a:noFill/>
          <a:ln/>
        </p:spPr>
        <p:txBody>
          <a:bodyPr wrap="square" lIns="508" tIns="508" rIns="508" bIns="508" rtlCol="0" anchor="ctr">
            <a:normAutofit/>
            <a:spAutoFit/>
          </a:bodyPr>
          <a:lstStyle/>
          <a:p>
            <a:pPr algn="l" indent="0" marL="0">
              <a:buNone/>
            </a:pPr>
            <a:r>
              <a:rPr lang="en-US" sz="1100" i="1" dirty="0">
                <a:solidFill>
                  <a:srgbClr val="334155"/>
                </a:solidFill>
                <a:latin typeface="Calibri" pitchFamily="34" charset="0"/>
                <a:ea typeface="Calibri" pitchFamily="34" charset="-122"/>
                <a:cs typeface="Calibri" pitchFamily="34" charset="-120"/>
              </a:rPr>
              <a:t>where: Shifts in either curve move P* and Q* in predictable directions; elasticity determines which moves more.</a:t>
            </a:r>
            <a:endParaRPr lang="en-US" sz="1100" dirty="0"/>
          </a:p>
        </p:txBody>
      </p:sp>
      <p:sp>
        <p:nvSpPr>
          <p:cNvPr id="12" name="Shape 10"/>
          <p:cNvSpPr/>
          <p:nvPr/>
        </p:nvSpPr>
        <p:spPr>
          <a:xfrm>
            <a:off x="320040" y="2331720"/>
            <a:ext cx="2743200" cy="1920240"/>
          </a:xfrm>
          <a:prstGeom prst="rect">
            <a:avLst/>
          </a:prstGeom>
          <a:solidFill>
            <a:srgbClr val="FEF0E7"/>
          </a:solidFill>
          <a:ln/>
        </p:spPr>
      </p:sp>
      <p:sp>
        <p:nvSpPr>
          <p:cNvPr id="13" name="Shape 11"/>
          <p:cNvSpPr/>
          <p:nvPr/>
        </p:nvSpPr>
        <p:spPr>
          <a:xfrm>
            <a:off x="320040" y="2331720"/>
            <a:ext cx="73152" cy="1920240"/>
          </a:xfrm>
          <a:prstGeom prst="rect">
            <a:avLst/>
          </a:prstGeom>
          <a:solidFill>
            <a:srgbClr val="E8600A"/>
          </a:solidFill>
          <a:ln/>
        </p:spPr>
      </p:sp>
      <p:sp>
        <p:nvSpPr>
          <p:cNvPr id="14" name="Text 12"/>
          <p:cNvSpPr txBox="1"/>
          <p:nvPr/>
        </p:nvSpPr>
        <p:spPr>
          <a:xfrm>
            <a:off x="457200" y="2377440"/>
            <a:ext cx="2514600" cy="256032"/>
          </a:xfrm>
          <a:prstGeom prst="rect">
            <a:avLst/>
          </a:prstGeom>
          <a:noFill/>
          <a:ln/>
        </p:spPr>
        <p:txBody>
          <a:bodyPr wrap="square" lIns="508" tIns="508" rIns="508" bIns="508" rtlCol="0" anchor="ctr">
            <a:normAutofit/>
            <a:spAutoFit/>
          </a:bodyPr>
          <a:lstStyle/>
          <a:p>
            <a:pPr algn="l" indent="0" marL="0">
              <a:buNone/>
            </a:pPr>
            <a:r>
              <a:rPr lang="en-US" sz="1100" b="1" spc="400" kern="0" dirty="0">
                <a:solidFill>
                  <a:srgbClr val="E8600A"/>
                </a:solidFill>
                <a:latin typeface="Trebuchet MS" pitchFamily="34" charset="0"/>
                <a:ea typeface="Trebuchet MS" pitchFamily="34" charset="-122"/>
                <a:cs typeface="Trebuchet MS" pitchFamily="34" charset="-120"/>
              </a:rPr>
              <a:t>LAW OF DEMAND</a:t>
            </a:r>
            <a:endParaRPr lang="en-US" sz="1100" dirty="0"/>
          </a:p>
        </p:txBody>
      </p:sp>
      <p:sp>
        <p:nvSpPr>
          <p:cNvPr id="15" name="Text 13"/>
          <p:cNvSpPr txBox="1"/>
          <p:nvPr/>
        </p:nvSpPr>
        <p:spPr>
          <a:xfrm>
            <a:off x="457200" y="2651760"/>
            <a:ext cx="2514600" cy="1554480"/>
          </a:xfrm>
          <a:prstGeom prst="rect">
            <a:avLst/>
          </a:prstGeom>
          <a:noFill/>
          <a:ln/>
        </p:spPr>
        <p:txBody>
          <a:bodyPr wrap="square" lIns="508" tIns="508" rIns="508" bIns="508" rtlCol="0" anchor="t">
            <a:normAutofit/>
            <a:spAutoFit/>
          </a:bodyPr>
          <a:lstStyle/>
          <a:p>
            <a:pPr algn="l" indent="0" marL="0">
              <a:buNone/>
            </a:pPr>
            <a:r>
              <a:rPr lang="en-US" sz="1200" dirty="0">
                <a:solidFill>
                  <a:srgbClr val="334155"/>
                </a:solidFill>
                <a:latin typeface="Calibri" pitchFamily="34" charset="0"/>
                <a:ea typeface="Calibri" pitchFamily="34" charset="-122"/>
                <a:cs typeface="Calibri" pitchFamily="34" charset="-120"/>
              </a:rPr>
              <a:t>Holding income, prices of related goods, and preferences constant, higher P ⇒ lower Q_D. Two drivers: substitution effect (relative price up) and income effect (real purchasing power down).</a:t>
            </a:r>
            <a:endParaRPr lang="en-US" sz="1200" dirty="0"/>
          </a:p>
        </p:txBody>
      </p:sp>
      <p:sp>
        <p:nvSpPr>
          <p:cNvPr id="16" name="Shape 14"/>
          <p:cNvSpPr/>
          <p:nvPr/>
        </p:nvSpPr>
        <p:spPr>
          <a:xfrm>
            <a:off x="3200400" y="2331720"/>
            <a:ext cx="2743200" cy="1920240"/>
          </a:xfrm>
          <a:prstGeom prst="rect">
            <a:avLst/>
          </a:prstGeom>
          <a:solidFill>
            <a:srgbClr val="F5F7FA"/>
          </a:solidFill>
          <a:ln/>
        </p:spPr>
      </p:sp>
      <p:sp>
        <p:nvSpPr>
          <p:cNvPr id="17" name="Shape 15"/>
          <p:cNvSpPr/>
          <p:nvPr/>
        </p:nvSpPr>
        <p:spPr>
          <a:xfrm>
            <a:off x="3200400" y="2331720"/>
            <a:ext cx="73152" cy="1920240"/>
          </a:xfrm>
          <a:prstGeom prst="rect">
            <a:avLst/>
          </a:prstGeom>
          <a:solidFill>
            <a:srgbClr val="1B2A4A"/>
          </a:solidFill>
          <a:ln/>
        </p:spPr>
      </p:sp>
      <p:sp>
        <p:nvSpPr>
          <p:cNvPr id="18" name="Text 16"/>
          <p:cNvSpPr txBox="1"/>
          <p:nvPr/>
        </p:nvSpPr>
        <p:spPr>
          <a:xfrm>
            <a:off x="3337560" y="2377440"/>
            <a:ext cx="2514600" cy="256032"/>
          </a:xfrm>
          <a:prstGeom prst="rect">
            <a:avLst/>
          </a:prstGeom>
          <a:noFill/>
          <a:ln/>
        </p:spPr>
        <p:txBody>
          <a:bodyPr wrap="square" lIns="508" tIns="508" rIns="508" bIns="508" rtlCol="0" anchor="ctr">
            <a:normAutofit/>
            <a:spAutoFit/>
          </a:bodyPr>
          <a:lstStyle/>
          <a:p>
            <a:pPr algn="l" indent="0" marL="0">
              <a:buNone/>
            </a:pPr>
            <a:r>
              <a:rPr lang="en-US" sz="1100" b="1" spc="400" kern="0" dirty="0">
                <a:solidFill>
                  <a:srgbClr val="1B2A4A"/>
                </a:solidFill>
                <a:latin typeface="Trebuchet MS" pitchFamily="34" charset="0"/>
                <a:ea typeface="Trebuchet MS" pitchFamily="34" charset="-122"/>
                <a:cs typeface="Trebuchet MS" pitchFamily="34" charset="-120"/>
              </a:rPr>
              <a:t>LAW OF SUPPLY</a:t>
            </a:r>
            <a:endParaRPr lang="en-US" sz="1100" dirty="0"/>
          </a:p>
        </p:txBody>
      </p:sp>
      <p:sp>
        <p:nvSpPr>
          <p:cNvPr id="19" name="Text 17"/>
          <p:cNvSpPr txBox="1"/>
          <p:nvPr/>
        </p:nvSpPr>
        <p:spPr>
          <a:xfrm>
            <a:off x="3337560" y="2651760"/>
            <a:ext cx="2514600" cy="1554480"/>
          </a:xfrm>
          <a:prstGeom prst="rect">
            <a:avLst/>
          </a:prstGeom>
          <a:noFill/>
          <a:ln/>
        </p:spPr>
        <p:txBody>
          <a:bodyPr wrap="square" lIns="508" tIns="508" rIns="508" bIns="508" rtlCol="0" anchor="t">
            <a:normAutofit/>
            <a:spAutoFit/>
          </a:bodyPr>
          <a:lstStyle/>
          <a:p>
            <a:pPr algn="l" indent="0" marL="0">
              <a:buNone/>
            </a:pPr>
            <a:r>
              <a:rPr lang="en-US" sz="1200" dirty="0">
                <a:solidFill>
                  <a:srgbClr val="334155"/>
                </a:solidFill>
                <a:latin typeface="Calibri" pitchFamily="34" charset="0"/>
                <a:ea typeface="Calibri" pitchFamily="34" charset="-122"/>
                <a:cs typeface="Calibri" pitchFamily="34" charset="-120"/>
              </a:rPr>
              <a:t>Holding input prices and technology constant, higher P ⇒ higher Q_S. Driver: rising marginal cost beyond some threshold — producers need a higher price to cover MC on the next unit.</a:t>
            </a:r>
            <a:endParaRPr lang="en-US" sz="1200" dirty="0"/>
          </a:p>
        </p:txBody>
      </p:sp>
      <p:sp>
        <p:nvSpPr>
          <p:cNvPr id="20" name="Shape 18"/>
          <p:cNvSpPr/>
          <p:nvPr/>
        </p:nvSpPr>
        <p:spPr>
          <a:xfrm>
            <a:off x="6080760" y="2331720"/>
            <a:ext cx="2743200" cy="1920240"/>
          </a:xfrm>
          <a:prstGeom prst="rect">
            <a:avLst/>
          </a:prstGeom>
          <a:solidFill>
            <a:srgbClr val="FEF0E7"/>
          </a:solidFill>
          <a:ln/>
        </p:spPr>
      </p:sp>
      <p:sp>
        <p:nvSpPr>
          <p:cNvPr id="21" name="Shape 19"/>
          <p:cNvSpPr/>
          <p:nvPr/>
        </p:nvSpPr>
        <p:spPr>
          <a:xfrm>
            <a:off x="6080760" y="2331720"/>
            <a:ext cx="73152" cy="1920240"/>
          </a:xfrm>
          <a:prstGeom prst="rect">
            <a:avLst/>
          </a:prstGeom>
          <a:solidFill>
            <a:srgbClr val="E8600A"/>
          </a:solidFill>
          <a:ln/>
        </p:spPr>
      </p:sp>
      <p:sp>
        <p:nvSpPr>
          <p:cNvPr id="22" name="Text 20"/>
          <p:cNvSpPr txBox="1"/>
          <p:nvPr/>
        </p:nvSpPr>
        <p:spPr>
          <a:xfrm>
            <a:off x="6217920" y="2377440"/>
            <a:ext cx="2514600" cy="256032"/>
          </a:xfrm>
          <a:prstGeom prst="rect">
            <a:avLst/>
          </a:prstGeom>
          <a:noFill/>
          <a:ln/>
        </p:spPr>
        <p:txBody>
          <a:bodyPr wrap="square" lIns="508" tIns="508" rIns="508" bIns="508" rtlCol="0" anchor="ctr">
            <a:normAutofit/>
            <a:spAutoFit/>
          </a:bodyPr>
          <a:lstStyle/>
          <a:p>
            <a:pPr algn="l" indent="0" marL="0">
              <a:buNone/>
            </a:pPr>
            <a:r>
              <a:rPr lang="en-US" sz="1100" b="1" spc="400" kern="0" dirty="0">
                <a:solidFill>
                  <a:srgbClr val="E8600A"/>
                </a:solidFill>
                <a:latin typeface="Trebuchet MS" pitchFamily="34" charset="0"/>
                <a:ea typeface="Trebuchet MS" pitchFamily="34" charset="-122"/>
                <a:cs typeface="Trebuchet MS" pitchFamily="34" charset="-120"/>
              </a:rPr>
              <a:t>SHIFTS vs MOVEMENTS</a:t>
            </a:r>
            <a:endParaRPr lang="en-US" sz="1100" dirty="0"/>
          </a:p>
        </p:txBody>
      </p:sp>
      <p:sp>
        <p:nvSpPr>
          <p:cNvPr id="23" name="Text 21"/>
          <p:cNvSpPr txBox="1"/>
          <p:nvPr/>
        </p:nvSpPr>
        <p:spPr>
          <a:xfrm>
            <a:off x="6217920" y="2651760"/>
            <a:ext cx="2514600" cy="1554480"/>
          </a:xfrm>
          <a:prstGeom prst="rect">
            <a:avLst/>
          </a:prstGeom>
          <a:noFill/>
          <a:ln/>
        </p:spPr>
        <p:txBody>
          <a:bodyPr wrap="square" lIns="508" tIns="508" rIns="508" bIns="508" rtlCol="0" anchor="t">
            <a:normAutofit/>
            <a:spAutoFit/>
          </a:bodyPr>
          <a:lstStyle/>
          <a:p>
            <a:pPr algn="l" indent="0" marL="0">
              <a:buNone/>
            </a:pPr>
            <a:r>
              <a:rPr lang="en-US" sz="1200" dirty="0">
                <a:solidFill>
                  <a:srgbClr val="334155"/>
                </a:solidFill>
                <a:latin typeface="Calibri" pitchFamily="34" charset="0"/>
                <a:ea typeface="Calibri" pitchFamily="34" charset="-122"/>
                <a:cs typeface="Calibri" pitchFamily="34" charset="-120"/>
              </a:rPr>
              <a:t>A price change MOVES along the curve; a change in income, input prices, or technology SHIFTS the curve. Students confuse this on day one — do not.</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B2A4A"/>
          </a:solidFill>
          <a:ln/>
        </p:spPr>
      </p:sp>
      <p:sp>
        <p:nvSpPr>
          <p:cNvPr id="3" name="Shape 1"/>
          <p:cNvSpPr/>
          <p:nvPr/>
        </p:nvSpPr>
        <p:spPr>
          <a:xfrm>
            <a:off x="0" y="0"/>
            <a:ext cx="109728" cy="621792"/>
          </a:xfrm>
          <a:prstGeom prst="rect">
            <a:avLst/>
          </a:prstGeom>
          <a:solidFill>
            <a:srgbClr val="E8600A"/>
          </a:solidFill>
          <a:ln/>
        </p:spPr>
      </p:sp>
      <p:sp>
        <p:nvSpPr>
          <p:cNvPr id="4" name="Text 2"/>
          <p:cNvSpPr txBox="1"/>
          <p:nvPr/>
        </p:nvSpPr>
        <p:spPr>
          <a:xfrm>
            <a:off x="256032" y="0"/>
            <a:ext cx="8686800" cy="621792"/>
          </a:xfrm>
          <a:prstGeom prst="rect">
            <a:avLst/>
          </a:prstGeom>
          <a:noFill/>
          <a:ln/>
        </p:spPr>
        <p:txBody>
          <a:bodyPr wrap="square" lIns="508" tIns="508" rIns="508" bIns="508" rtlCol="0" anchor="ctr">
            <a:normAutofit/>
            <a:spAutoFit/>
          </a:bodyPr>
          <a:lstStyle/>
          <a:p>
            <a:pPr algn="l" indent="0" marL="0">
              <a:buNone/>
            </a:pPr>
            <a:r>
              <a:rPr lang="en-US" sz="1600" b="1" dirty="0">
                <a:solidFill>
                  <a:srgbClr val="FFFFFF"/>
                </a:solidFill>
                <a:latin typeface="Trebuchet MS" pitchFamily="34" charset="0"/>
                <a:ea typeface="Trebuchet MS" pitchFamily="34" charset="-122"/>
                <a:cs typeface="Trebuchet MS" pitchFamily="34" charset="-120"/>
              </a:rPr>
              <a:t>Own-price elasticity measures how responsive quantity demanded is to price — and it determines whether cutting price raises or lowers revenue</a:t>
            </a:r>
            <a:endParaRPr lang="en-US" sz="1600" dirty="0"/>
          </a:p>
        </p:txBody>
      </p:sp>
      <p:sp>
        <p:nvSpPr>
          <p:cNvPr id="5" name="Shape 3"/>
          <p:cNvSpPr/>
          <p:nvPr/>
        </p:nvSpPr>
        <p:spPr>
          <a:xfrm>
            <a:off x="0" y="4892040"/>
            <a:ext cx="9144000" cy="256032"/>
          </a:xfrm>
          <a:prstGeom prst="rect">
            <a:avLst/>
          </a:prstGeom>
          <a:solidFill>
            <a:srgbClr val="E8ECF0"/>
          </a:solidFill>
          <a:ln/>
        </p:spPr>
      </p:sp>
      <p:sp>
        <p:nvSpPr>
          <p:cNvPr id="6" name="Text 4"/>
          <p:cNvSpPr txBox="1"/>
          <p:nvPr/>
        </p:nvSpPr>
        <p:spPr>
          <a:xfrm>
            <a:off x="274320" y="4892040"/>
            <a:ext cx="5943600" cy="256032"/>
          </a:xfrm>
          <a:prstGeom prst="rect">
            <a:avLst/>
          </a:prstGeom>
          <a:noFill/>
          <a:ln/>
        </p:spPr>
        <p:txBody>
          <a:bodyPr wrap="square" lIns="508" tIns="508" rIns="508" bIns="508" rtlCol="0" anchor="ctr">
            <a:normAutofit/>
            <a:spAutoFit/>
          </a:bodyPr>
          <a:lstStyle/>
          <a:p>
            <a:pPr algn="l" indent="0" marL="0">
              <a:buNone/>
            </a:pPr>
            <a:r>
              <a:rPr lang="en-US" sz="750" dirty="0">
                <a:solidFill>
                  <a:srgbClr val="6B7A8D"/>
                </a:solidFill>
                <a:latin typeface="Calibri" pitchFamily="34" charset="0"/>
                <a:ea typeface="Calibri" pitchFamily="34" charset="-122"/>
                <a:cs typeface="Calibri" pitchFamily="34" charset="-120"/>
              </a:rPr>
              <a:t>STUDIO TONTON GUG  ·  Finance Fundamentals</a:t>
            </a:r>
            <a:endParaRPr lang="en-US" sz="750" dirty="0"/>
          </a:p>
        </p:txBody>
      </p:sp>
      <p:sp>
        <p:nvSpPr>
          <p:cNvPr id="7" name="Text 5"/>
          <p:cNvSpPr txBox="1"/>
          <p:nvPr/>
        </p:nvSpPr>
        <p:spPr>
          <a:xfrm>
            <a:off x="320040" y="4325112"/>
            <a:ext cx="8503920" cy="338328"/>
          </a:xfrm>
          <a:prstGeom prst="rect">
            <a:avLst/>
          </a:prstGeom>
          <a:noFill/>
          <a:ln/>
        </p:spPr>
        <p:txBody>
          <a:bodyPr wrap="square" lIns="254" tIns="254" rIns="254" bIns="254" rtlCol="0" anchor="t"/>
          <a:lstStyle/>
          <a:p>
            <a:pPr indent="0" marL="0">
              <a:buNone/>
            </a:pPr>
            <a:r>
              <a:rPr lang="en-US" sz="1000" dirty="0">
                <a:solidFill>
                  <a:srgbClr val="6B7A8D"/>
                </a:solidFill>
                <a:latin typeface="Calibri" pitchFamily="34" charset="0"/>
                <a:ea typeface="Calibri" pitchFamily="34" charset="-122"/>
                <a:cs typeface="Calibri" pitchFamily="34" charset="-120"/>
              </a:rPr>
              <a:t>¹ By convention, E_d is reported as an absolute value in CFA materials — remember the minus sign for algebraic work.
</a:t>
            </a:r>
            <a:pPr indent="0" marL="0">
              <a:buNone/>
            </a:pPr>
            <a:r>
              <a:rPr lang="en-US" sz="1000" dirty="0">
                <a:solidFill>
                  <a:srgbClr val="6B7A8D"/>
                </a:solidFill>
                <a:latin typeface="Calibri" pitchFamily="34" charset="0"/>
                <a:ea typeface="Calibri" pitchFamily="34" charset="-122"/>
                <a:cs typeface="Calibri" pitchFamily="34" charset="-120"/>
              </a:rPr>
              <a:t>² Elasticity is NOT the slope: slope is ΔQ/ΔP, elasticity is (ΔQ/Q)/(ΔP/P). A linear demand curve has constant slope but variable elasticity.
</a:t>
            </a:r>
            <a:endParaRPr lang="en-US" sz="1000" dirty="0"/>
          </a:p>
        </p:txBody>
      </p:sp>
      <p:sp>
        <p:nvSpPr>
          <p:cNvPr id="8" name="Text 6"/>
          <p:cNvSpPr txBox="1"/>
          <p:nvPr/>
        </p:nvSpPr>
        <p:spPr>
          <a:xfrm>
            <a:off x="320040" y="4663440"/>
            <a:ext cx="8503920" cy="201168"/>
          </a:xfrm>
          <a:prstGeom prst="rect">
            <a:avLst/>
          </a:prstGeom>
          <a:noFill/>
          <a:ln/>
        </p:spPr>
        <p:txBody>
          <a:bodyPr wrap="square" lIns="508" tIns="508" rIns="508" bIns="508" rtlCol="0" anchor="t">
            <a:normAutofit/>
            <a:spAutoFit/>
          </a:bodyPr>
          <a:lstStyle/>
          <a:p>
            <a:pPr algn="l" indent="0" marL="0">
              <a:buNone/>
            </a:pPr>
            <a:r>
              <a:rPr lang="en-US" sz="750" i="1" dirty="0">
                <a:solidFill>
                  <a:srgbClr val="6B7A8D"/>
                </a:solidFill>
                <a:latin typeface="Calibri" pitchFamily="34" charset="0"/>
                <a:ea typeface="Calibri" pitchFamily="34" charset="-122"/>
                <a:cs typeface="Calibri" pitchFamily="34" charset="-120"/>
              </a:rPr>
              <a:t>Source: CFA Institute, Curriculum Vol 2, Learning Module 1, demand/revenue discussion, p. 6.</a:t>
            </a:r>
            <a:endParaRPr lang="en-US" sz="750" dirty="0"/>
          </a:p>
        </p:txBody>
      </p:sp>
      <p:sp>
        <p:nvSpPr>
          <p:cNvPr id="9" name="Text 7"/>
          <p:cNvSpPr txBox="1"/>
          <p:nvPr/>
        </p:nvSpPr>
        <p:spPr>
          <a:xfrm>
            <a:off x="320040" y="731520"/>
            <a:ext cx="8503920" cy="292608"/>
          </a:xfrm>
          <a:prstGeom prst="rect">
            <a:avLst/>
          </a:prstGeom>
          <a:noFill/>
          <a:ln/>
        </p:spPr>
        <p:txBody>
          <a:bodyPr wrap="square" lIns="508" tIns="508" rIns="508" bIns="508" rtlCol="0" anchor="ctr">
            <a:normAutofit/>
            <a:spAutoFit/>
          </a:bodyPr>
          <a:lstStyle/>
          <a:p>
            <a:pPr algn="l" indent="0" marL="0">
              <a:buNone/>
            </a:pPr>
            <a:r>
              <a:rPr lang="en-US" sz="1300" i="1" dirty="0">
                <a:solidFill>
                  <a:srgbClr val="334155"/>
                </a:solidFill>
                <a:latin typeface="Calibri" pitchFamily="34" charset="0"/>
                <a:ea typeface="Calibri" pitchFamily="34" charset="-122"/>
                <a:cs typeface="Calibri" pitchFamily="34" charset="-120"/>
              </a:rPr>
              <a:t>Rule of thumb for revenue: cut price if demand is elastic, raise price if demand is inelastic, leave it alone if demand is unit-elastic.</a:t>
            </a:r>
            <a:endParaRPr lang="en-US" sz="1300" dirty="0"/>
          </a:p>
        </p:txBody>
      </p:sp>
      <p:sp>
        <p:nvSpPr>
          <p:cNvPr id="10" name="Shape 8"/>
          <p:cNvSpPr/>
          <p:nvPr/>
        </p:nvSpPr>
        <p:spPr>
          <a:xfrm>
            <a:off x="320040" y="1188720"/>
            <a:ext cx="8503920" cy="658368"/>
          </a:xfrm>
          <a:prstGeom prst="rect">
            <a:avLst/>
          </a:prstGeom>
          <a:solidFill>
            <a:srgbClr val="1B2A4A"/>
          </a:solidFill>
          <a:ln/>
        </p:spPr>
      </p:sp>
      <p:sp>
        <p:nvSpPr>
          <p:cNvPr id="11" name="Text 9"/>
          <p:cNvSpPr txBox="1"/>
          <p:nvPr/>
        </p:nvSpPr>
        <p:spPr>
          <a:xfrm>
            <a:off x="411480" y="1188720"/>
            <a:ext cx="8321040" cy="658368"/>
          </a:xfrm>
          <a:prstGeom prst="rect">
            <a:avLst/>
          </a:prstGeom>
          <a:noFill/>
          <a:ln/>
        </p:spPr>
        <p:txBody>
          <a:bodyPr wrap="square" lIns="508" tIns="508" rIns="508" bIns="508" rtlCol="0" anchor="ctr">
            <a:normAutofit/>
            <a:spAutoFit/>
          </a:bodyPr>
          <a:lstStyle/>
          <a:p>
            <a:pPr algn="ctr" indent="0" marL="0">
              <a:buNone/>
            </a:pPr>
            <a:r>
              <a:rPr lang="en-US" sz="1800" b="1" dirty="0">
                <a:solidFill>
                  <a:srgbClr val="FFFFFF"/>
                </a:solidFill>
                <a:latin typeface="Consolas" pitchFamily="34" charset="0"/>
                <a:ea typeface="Consolas" pitchFamily="34" charset="-122"/>
                <a:cs typeface="Consolas" pitchFamily="34" charset="-120"/>
              </a:rPr>
              <a:t>E_d  =  (% ΔQ_D)  /  (% ΔP)            TR-rule:  d(TR)/dP  has opposite sign to (|E_d| − 1)</a:t>
            </a:r>
            <a:endParaRPr lang="en-US" sz="1800" dirty="0"/>
          </a:p>
        </p:txBody>
      </p:sp>
      <p:sp>
        <p:nvSpPr>
          <p:cNvPr id="12" name="Text 10"/>
          <p:cNvSpPr txBox="1"/>
          <p:nvPr/>
        </p:nvSpPr>
        <p:spPr>
          <a:xfrm>
            <a:off x="320040" y="1874520"/>
            <a:ext cx="8503920" cy="256032"/>
          </a:xfrm>
          <a:prstGeom prst="rect">
            <a:avLst/>
          </a:prstGeom>
          <a:noFill/>
          <a:ln/>
        </p:spPr>
        <p:txBody>
          <a:bodyPr wrap="square" lIns="508" tIns="508" rIns="508" bIns="508" rtlCol="0" anchor="ctr">
            <a:normAutofit/>
            <a:spAutoFit/>
          </a:bodyPr>
          <a:lstStyle/>
          <a:p>
            <a:pPr algn="l" indent="0" marL="0">
              <a:buNone/>
            </a:pPr>
            <a:r>
              <a:rPr lang="en-US" sz="1100" i="1" dirty="0">
                <a:solidFill>
                  <a:srgbClr val="334155"/>
                </a:solidFill>
                <a:latin typeface="Calibri" pitchFamily="34" charset="0"/>
                <a:ea typeface="Calibri" pitchFamily="34" charset="-122"/>
                <a:cs typeface="Calibri" pitchFamily="34" charset="-120"/>
              </a:rPr>
              <a:t>where: |E_d| &gt; 1 elastic · |E_d| = 1 unit-elastic · |E_d| &lt; 1 inelastic. Absolute value drops the minus sign implied by the law of demand.</a:t>
            </a:r>
            <a:endParaRPr lang="en-US" sz="1100" dirty="0"/>
          </a:p>
        </p:txBody>
      </p:sp>
      <p:sp>
        <p:nvSpPr>
          <p:cNvPr id="13" name="Shape 11"/>
          <p:cNvSpPr/>
          <p:nvPr/>
        </p:nvSpPr>
        <p:spPr>
          <a:xfrm>
            <a:off x="320040" y="2331720"/>
            <a:ext cx="8503920" cy="1965960"/>
          </a:xfrm>
          <a:prstGeom prst="rect">
            <a:avLst/>
          </a:prstGeom>
          <a:solidFill>
            <a:srgbClr val="FEF0E7"/>
          </a:solidFill>
          <a:ln w="9525">
            <a:solidFill>
              <a:srgbClr val="E8600A"/>
            </a:solidFill>
            <a:prstDash val="solid"/>
          </a:ln>
        </p:spPr>
      </p:sp>
      <p:sp>
        <p:nvSpPr>
          <p:cNvPr id="14" name="Text 12"/>
          <p:cNvSpPr txBox="1"/>
          <p:nvPr/>
        </p:nvSpPr>
        <p:spPr>
          <a:xfrm>
            <a:off x="457200" y="2377440"/>
            <a:ext cx="8229600" cy="256032"/>
          </a:xfrm>
          <a:prstGeom prst="rect">
            <a:avLst/>
          </a:prstGeom>
          <a:noFill/>
          <a:ln/>
        </p:spPr>
        <p:txBody>
          <a:bodyPr wrap="square" lIns="508" tIns="508" rIns="508" bIns="508" rtlCol="0" anchor="ctr">
            <a:normAutofit/>
            <a:spAutoFit/>
          </a:bodyPr>
          <a:lstStyle/>
          <a:p>
            <a:pPr algn="l" indent="0" marL="0">
              <a:buNone/>
            </a:pPr>
            <a:r>
              <a:rPr lang="en-US" sz="1100" b="1" spc="400" kern="0" dirty="0">
                <a:solidFill>
                  <a:srgbClr val="E8600A"/>
                </a:solidFill>
                <a:latin typeface="Trebuchet MS" pitchFamily="34" charset="0"/>
                <a:ea typeface="Trebuchet MS" pitchFamily="34" charset="-122"/>
                <a:cs typeface="Trebuchet MS" pitchFamily="34" charset="-120"/>
              </a:rPr>
              <a:t>WORKED EXAMPLE — ELASTIC DEMAND</a:t>
            </a:r>
            <a:endParaRPr lang="en-US" sz="1100" dirty="0"/>
          </a:p>
        </p:txBody>
      </p:sp>
      <p:sp>
        <p:nvSpPr>
          <p:cNvPr id="15" name="Text 13"/>
          <p:cNvSpPr txBox="1"/>
          <p:nvPr/>
        </p:nvSpPr>
        <p:spPr>
          <a:xfrm>
            <a:off x="457200" y="2670048"/>
            <a:ext cx="8229600" cy="457200"/>
          </a:xfrm>
          <a:prstGeom prst="rect">
            <a:avLst/>
          </a:prstGeom>
          <a:noFill/>
          <a:ln/>
        </p:spPr>
        <p:txBody>
          <a:bodyPr wrap="square" lIns="508" tIns="508" rIns="508" bIns="508" rtlCol="0" anchor="t">
            <a:normAutofit/>
            <a:spAutoFit/>
          </a:bodyPr>
          <a:lstStyle/>
          <a:p>
            <a:pPr algn="l" indent="0" marL="0">
              <a:buNone/>
            </a:pPr>
            <a:r>
              <a:rPr lang="en-US" sz="1200" dirty="0">
                <a:solidFill>
                  <a:srgbClr val="334155"/>
                </a:solidFill>
                <a:latin typeface="Calibri" pitchFamily="34" charset="0"/>
                <a:ea typeface="Calibri" pitchFamily="34" charset="-122"/>
                <a:cs typeface="Calibri" pitchFamily="34" charset="-120"/>
              </a:rPr>
              <a:t>A firm cuts price from 10.00 to 9.00 (−10%) and observes quantity sold rise from 100 to 120 (+20%). What is E_d, and what happens to revenue?</a:t>
            </a:r>
            <a:endParaRPr lang="en-US" sz="1200" dirty="0"/>
          </a:p>
        </p:txBody>
      </p:sp>
      <p:sp>
        <p:nvSpPr>
          <p:cNvPr id="16" name="Text 14"/>
          <p:cNvSpPr txBox="1"/>
          <p:nvPr/>
        </p:nvSpPr>
        <p:spPr>
          <a:xfrm>
            <a:off x="457200" y="3182112"/>
            <a:ext cx="8229600" cy="603504"/>
          </a:xfrm>
          <a:prstGeom prst="rect">
            <a:avLst/>
          </a:prstGeom>
          <a:noFill/>
          <a:ln/>
        </p:spPr>
        <p:txBody>
          <a:bodyPr wrap="square" lIns="254" tIns="254" rIns="254" bIns="254" rtlCol="0" anchor="t">
            <a:normAutofit/>
            <a:spAutoFit/>
          </a:bodyPr>
          <a:lstStyle/>
          <a:p>
            <a:pPr indent="0" marL="0">
              <a:spcAft>
                <a:spcPts val="200"/>
              </a:spcAft>
              <a:buNone/>
            </a:pPr>
            <a:r>
              <a:rPr lang="en-US" sz="1050" b="1" dirty="0">
                <a:solidFill>
                  <a:srgbClr val="1B2A4A"/>
                </a:solidFill>
                <a:latin typeface="Calibri" pitchFamily="34" charset="0"/>
                <a:ea typeface="Calibri" pitchFamily="34" charset="-122"/>
                <a:cs typeface="Calibri" pitchFamily="34" charset="-120"/>
              </a:rPr>
              <a:t>1. </a:t>
            </a:r>
            <a:pPr indent="0" marL="0">
              <a:spcAft>
                <a:spcPts val="200"/>
              </a:spcAft>
              <a:buNone/>
            </a:pPr>
            <a:r>
              <a:rPr lang="en-US" sz="1050" dirty="0">
                <a:solidFill>
                  <a:srgbClr val="334155"/>
                </a:solidFill>
                <a:latin typeface="Calibri" pitchFamily="34" charset="0"/>
                <a:ea typeface="Calibri" pitchFamily="34" charset="-122"/>
                <a:cs typeface="Calibri" pitchFamily="34" charset="-120"/>
              </a:rPr>
              <a:t>E_d = (+20%) / (−10%) = −2.0   ⇒   |E_d| = 2 &gt; 1, demand is ELASTIC.
</a:t>
            </a:r>
            <a:pPr indent="0" marL="0">
              <a:spcAft>
                <a:spcPts val="200"/>
              </a:spcAft>
              <a:buNone/>
            </a:pPr>
            <a:r>
              <a:rPr lang="en-US" sz="1050" b="1" dirty="0">
                <a:solidFill>
                  <a:srgbClr val="1B2A4A"/>
                </a:solidFill>
                <a:latin typeface="Calibri" pitchFamily="34" charset="0"/>
                <a:ea typeface="Calibri" pitchFamily="34" charset="-122"/>
                <a:cs typeface="Calibri" pitchFamily="34" charset="-120"/>
              </a:rPr>
              <a:t>2. </a:t>
            </a:r>
            <a:pPr indent="0" marL="0">
              <a:spcAft>
                <a:spcPts val="200"/>
              </a:spcAft>
              <a:buNone/>
            </a:pPr>
            <a:r>
              <a:rPr lang="en-US" sz="1050" dirty="0">
                <a:solidFill>
                  <a:srgbClr val="334155"/>
                </a:solidFill>
                <a:latin typeface="Calibri" pitchFamily="34" charset="0"/>
                <a:ea typeface="Calibri" pitchFamily="34" charset="-122"/>
                <a:cs typeface="Calibri" pitchFamily="34" charset="-120"/>
              </a:rPr>
              <a:t>Old TR = 10 × 100 = 1,000; New TR = 9 × 120 = 1,080.
</a:t>
            </a:r>
            <a:pPr indent="0" marL="0">
              <a:spcAft>
                <a:spcPts val="200"/>
              </a:spcAft>
              <a:buNone/>
            </a:pPr>
            <a:r>
              <a:rPr lang="en-US" sz="1050" b="1" dirty="0">
                <a:solidFill>
                  <a:srgbClr val="1B2A4A"/>
                </a:solidFill>
                <a:latin typeface="Calibri" pitchFamily="34" charset="0"/>
                <a:ea typeface="Calibri" pitchFamily="34" charset="-122"/>
                <a:cs typeface="Calibri" pitchFamily="34" charset="-120"/>
              </a:rPr>
              <a:t>3. </a:t>
            </a:r>
            <a:pPr indent="0" marL="0">
              <a:spcAft>
                <a:spcPts val="200"/>
              </a:spcAft>
              <a:buNone/>
            </a:pPr>
            <a:r>
              <a:rPr lang="en-US" sz="1050" dirty="0">
                <a:solidFill>
                  <a:srgbClr val="334155"/>
                </a:solidFill>
                <a:latin typeface="Calibri" pitchFamily="34" charset="0"/>
                <a:ea typeface="Calibri" pitchFamily="34" charset="-122"/>
                <a:cs typeface="Calibri" pitchFamily="34" charset="-120"/>
              </a:rPr>
              <a:t>TR rose by 80 (+8%) because the quantity effect dominated the price effect.
</a:t>
            </a:r>
            <a:pPr indent="0" marL="0">
              <a:spcAft>
                <a:spcPts val="200"/>
              </a:spcAft>
              <a:buNone/>
            </a:pPr>
            <a:r>
              <a:rPr lang="en-US" sz="1050" b="1" dirty="0">
                <a:solidFill>
                  <a:srgbClr val="1B2A4A"/>
                </a:solidFill>
                <a:latin typeface="Calibri" pitchFamily="34" charset="0"/>
                <a:ea typeface="Calibri" pitchFamily="34" charset="-122"/>
                <a:cs typeface="Calibri" pitchFamily="34" charset="-120"/>
              </a:rPr>
              <a:t>4. </a:t>
            </a:r>
            <a:pPr indent="0" marL="0">
              <a:spcAft>
                <a:spcPts val="200"/>
              </a:spcAft>
              <a:buNone/>
            </a:pPr>
            <a:r>
              <a:rPr lang="en-US" sz="1050" dirty="0">
                <a:solidFill>
                  <a:srgbClr val="334155"/>
                </a:solidFill>
                <a:latin typeface="Calibri" pitchFamily="34" charset="0"/>
                <a:ea typeface="Calibri" pitchFamily="34" charset="-122"/>
                <a:cs typeface="Calibri" pitchFamily="34" charset="-120"/>
              </a:rPr>
              <a:t>If |E_d| had been 0.5 (inelastic), the same price cut would have LOWERED revenue.</a:t>
            </a:r>
            <a:endParaRPr lang="en-US" sz="1050" dirty="0"/>
          </a:p>
        </p:txBody>
      </p:sp>
      <p:sp>
        <p:nvSpPr>
          <p:cNvPr id="17" name="Shape 15"/>
          <p:cNvSpPr/>
          <p:nvPr/>
        </p:nvSpPr>
        <p:spPr>
          <a:xfrm>
            <a:off x="411480" y="3858768"/>
            <a:ext cx="8321040" cy="365760"/>
          </a:xfrm>
          <a:prstGeom prst="rect">
            <a:avLst/>
          </a:prstGeom>
          <a:solidFill>
            <a:srgbClr val="E8600A"/>
          </a:solidFill>
          <a:ln/>
        </p:spPr>
      </p:sp>
      <p:sp>
        <p:nvSpPr>
          <p:cNvPr id="18" name="Text 16"/>
          <p:cNvSpPr txBox="1"/>
          <p:nvPr/>
        </p:nvSpPr>
        <p:spPr>
          <a:xfrm>
            <a:off x="457200" y="3858768"/>
            <a:ext cx="8229600" cy="365760"/>
          </a:xfrm>
          <a:prstGeom prst="rect">
            <a:avLst/>
          </a:prstGeom>
          <a:noFill/>
          <a:ln/>
        </p:spPr>
        <p:txBody>
          <a:bodyPr wrap="square" lIns="508" tIns="508" rIns="508" bIns="508" rtlCol="0" anchor="ctr">
            <a:normAutofit/>
            <a:spAutoFit/>
          </a:bodyPr>
          <a:lstStyle/>
          <a:p>
            <a:pPr algn="l" indent="0" marL="0">
              <a:buNone/>
            </a:pPr>
            <a:r>
              <a:rPr lang="en-US" sz="1150" b="1" dirty="0">
                <a:solidFill>
                  <a:srgbClr val="FFFFFF"/>
                </a:solidFill>
                <a:latin typeface="Consolas" pitchFamily="34" charset="0"/>
                <a:ea typeface="Consolas" pitchFamily="34" charset="-122"/>
                <a:cs typeface="Consolas" pitchFamily="34" charset="-120"/>
              </a:rPr>
              <a:t>E_d = −2.0  →  elastic  →  cut price, revenue rises.</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B2A4A"/>
          </a:solidFill>
          <a:ln/>
        </p:spPr>
      </p:sp>
      <p:sp>
        <p:nvSpPr>
          <p:cNvPr id="3" name="Shape 1"/>
          <p:cNvSpPr/>
          <p:nvPr/>
        </p:nvSpPr>
        <p:spPr>
          <a:xfrm>
            <a:off x="0" y="0"/>
            <a:ext cx="109728" cy="621792"/>
          </a:xfrm>
          <a:prstGeom prst="rect">
            <a:avLst/>
          </a:prstGeom>
          <a:solidFill>
            <a:srgbClr val="E8600A"/>
          </a:solidFill>
          <a:ln/>
        </p:spPr>
      </p:sp>
      <p:sp>
        <p:nvSpPr>
          <p:cNvPr id="4" name="Text 2"/>
          <p:cNvSpPr txBox="1"/>
          <p:nvPr/>
        </p:nvSpPr>
        <p:spPr>
          <a:xfrm>
            <a:off x="256032" y="0"/>
            <a:ext cx="8686800" cy="621792"/>
          </a:xfrm>
          <a:prstGeom prst="rect">
            <a:avLst/>
          </a:prstGeom>
          <a:noFill/>
          <a:ln/>
        </p:spPr>
        <p:txBody>
          <a:bodyPr wrap="square" lIns="508" tIns="508" rIns="508" bIns="508" rtlCol="0" anchor="ctr">
            <a:normAutofit/>
            <a:spAutoFit/>
          </a:bodyPr>
          <a:lstStyle/>
          <a:p>
            <a:pPr algn="l" indent="0" marL="0">
              <a:buNone/>
            </a:pPr>
            <a:r>
              <a:rPr lang="en-US" sz="1600" b="1" dirty="0">
                <a:solidFill>
                  <a:srgbClr val="FFFFFF"/>
                </a:solidFill>
                <a:latin typeface="Trebuchet MS" pitchFamily="34" charset="0"/>
                <a:ea typeface="Trebuchet MS" pitchFamily="34" charset="-122"/>
                <a:cs typeface="Trebuchet MS" pitchFamily="34" charset="-120"/>
              </a:rPr>
              <a:t>Cross-price and income elasticities separate substitutes from complements and normal goods from inferior — the three-elasticity triad for any demand forecast</a:t>
            </a:r>
            <a:endParaRPr lang="en-US" sz="1600" dirty="0"/>
          </a:p>
        </p:txBody>
      </p:sp>
      <p:sp>
        <p:nvSpPr>
          <p:cNvPr id="5" name="Shape 3"/>
          <p:cNvSpPr/>
          <p:nvPr/>
        </p:nvSpPr>
        <p:spPr>
          <a:xfrm>
            <a:off x="0" y="4892040"/>
            <a:ext cx="9144000" cy="256032"/>
          </a:xfrm>
          <a:prstGeom prst="rect">
            <a:avLst/>
          </a:prstGeom>
          <a:solidFill>
            <a:srgbClr val="E8ECF0"/>
          </a:solidFill>
          <a:ln/>
        </p:spPr>
      </p:sp>
      <p:sp>
        <p:nvSpPr>
          <p:cNvPr id="6" name="Text 4"/>
          <p:cNvSpPr txBox="1"/>
          <p:nvPr/>
        </p:nvSpPr>
        <p:spPr>
          <a:xfrm>
            <a:off x="274320" y="4892040"/>
            <a:ext cx="5943600" cy="256032"/>
          </a:xfrm>
          <a:prstGeom prst="rect">
            <a:avLst/>
          </a:prstGeom>
          <a:noFill/>
          <a:ln/>
        </p:spPr>
        <p:txBody>
          <a:bodyPr wrap="square" lIns="508" tIns="508" rIns="508" bIns="508" rtlCol="0" anchor="ctr">
            <a:normAutofit/>
            <a:spAutoFit/>
          </a:bodyPr>
          <a:lstStyle/>
          <a:p>
            <a:pPr algn="l" indent="0" marL="0">
              <a:buNone/>
            </a:pPr>
            <a:r>
              <a:rPr lang="en-US" sz="750" dirty="0">
                <a:solidFill>
                  <a:srgbClr val="6B7A8D"/>
                </a:solidFill>
                <a:latin typeface="Calibri" pitchFamily="34" charset="0"/>
                <a:ea typeface="Calibri" pitchFamily="34" charset="-122"/>
                <a:cs typeface="Calibri" pitchFamily="34" charset="-120"/>
              </a:rPr>
              <a:t>STUDIO TONTON GUG  ·  Finance Fundamentals</a:t>
            </a:r>
            <a:endParaRPr lang="en-US" sz="750" dirty="0"/>
          </a:p>
        </p:txBody>
      </p:sp>
      <p:sp>
        <p:nvSpPr>
          <p:cNvPr id="7" name="Text 5"/>
          <p:cNvSpPr txBox="1"/>
          <p:nvPr/>
        </p:nvSpPr>
        <p:spPr>
          <a:xfrm>
            <a:off x="320040" y="4663440"/>
            <a:ext cx="8503920" cy="201168"/>
          </a:xfrm>
          <a:prstGeom prst="rect">
            <a:avLst/>
          </a:prstGeom>
          <a:noFill/>
          <a:ln/>
        </p:spPr>
        <p:txBody>
          <a:bodyPr wrap="square" lIns="508" tIns="508" rIns="508" bIns="508" rtlCol="0" anchor="t">
            <a:normAutofit/>
            <a:spAutoFit/>
          </a:bodyPr>
          <a:lstStyle/>
          <a:p>
            <a:pPr algn="l" indent="0" marL="0">
              <a:buNone/>
            </a:pPr>
            <a:r>
              <a:rPr lang="en-US" sz="750" i="1" dirty="0">
                <a:solidFill>
                  <a:srgbClr val="6B7A8D"/>
                </a:solidFill>
                <a:latin typeface="Calibri" pitchFamily="34" charset="0"/>
                <a:ea typeface="Calibri" pitchFamily="34" charset="-122"/>
                <a:cs typeface="Calibri" pitchFamily="34" charset="-120"/>
              </a:rPr>
              <a:t>Source: CFA Institute, Curriculum Vol 2, Learning Module 1, demand analysis, pp. 6–7.</a:t>
            </a:r>
            <a:endParaRPr lang="en-US" sz="750" dirty="0"/>
          </a:p>
        </p:txBody>
      </p:sp>
      <p:sp>
        <p:nvSpPr>
          <p:cNvPr id="8" name="Text 6"/>
          <p:cNvSpPr txBox="1"/>
          <p:nvPr/>
        </p:nvSpPr>
        <p:spPr>
          <a:xfrm>
            <a:off x="320040" y="731520"/>
            <a:ext cx="8503920" cy="292608"/>
          </a:xfrm>
          <a:prstGeom prst="rect">
            <a:avLst/>
          </a:prstGeom>
          <a:noFill/>
          <a:ln/>
        </p:spPr>
        <p:txBody>
          <a:bodyPr wrap="square" lIns="508" tIns="508" rIns="508" bIns="508" rtlCol="0" anchor="ctr">
            <a:normAutofit/>
            <a:spAutoFit/>
          </a:bodyPr>
          <a:lstStyle/>
          <a:p>
            <a:pPr algn="l" indent="0" marL="0">
              <a:buNone/>
            </a:pPr>
            <a:r>
              <a:rPr lang="en-US" sz="1300" i="1" dirty="0">
                <a:solidFill>
                  <a:srgbClr val="334155"/>
                </a:solidFill>
                <a:latin typeface="Calibri" pitchFamily="34" charset="0"/>
                <a:ea typeface="Calibri" pitchFamily="34" charset="-122"/>
                <a:cs typeface="Calibri" pitchFamily="34" charset="-120"/>
              </a:rPr>
              <a:t>A demand forecast that doesn't specify the three elasticities is not a forecast — it is an assertion with no stress-test.</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20040" y="1188720"/>
          <a:ext cx="8503920" cy="914400"/>
        </p:xfrm>
        <a:graphic>
          <a:graphicData uri="http://schemas.openxmlformats.org/drawingml/2006/table">
            <a:tbl>
              <a:tblPr/>
              <a:tblGrid>
                <a:gridCol w="2194560"/>
                <a:gridCol w="2377440"/>
                <a:gridCol w="1188720"/>
                <a:gridCol w="2743200"/>
              </a:tblGrid>
              <a:tr h="274320">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Elasticity</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Formula</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Sign</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Interpretation &amp; example</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Own-price (E_d)</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 ΔQ_x) / (% ΔP_x)</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Always &lt; 0</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Demand curve slopes down — gasoline E_d ≈ −0.3 (inelastic).</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Cross-price, substitutes</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 ΔQ_x) / (% ΔP_y)</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Positive</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P_y up ⇒ Q_x up — Pepsi demand vs Coca-Cola price.</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Cross-price, complements</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 ΔQ_x) / (% ΔP_y)</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Negative</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P_y up ⇒ Q_x down — printer demand vs ink cartridge price.</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Income, normal good</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 ΔQ_x) / (% ΔI)</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Positive</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Income up ⇒ Q_x up — restaurant meals, airline tickets.</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Income, luxury</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 ΔQ_x) / (% ΔI)</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&gt; 1</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Share of wallet rises with income — fine wine, designer apparel.</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Income, inferior good</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 ΔQ_x) / (% ΔI)</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Negative</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Income up ⇒ Q_x down — instant noodles, inter-city bus travel.</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r>
            </a:tbl>
          </a:graphicData>
        </a:graphic>
      </p:graphicFrame>
      <p:sp>
        <p:nvSpPr>
          <p:cNvPr id="10" name="Shape 7"/>
          <p:cNvSpPr/>
          <p:nvPr/>
        </p:nvSpPr>
        <p:spPr>
          <a:xfrm>
            <a:off x="320040" y="3749040"/>
            <a:ext cx="8503920" cy="640080"/>
          </a:xfrm>
          <a:prstGeom prst="rect">
            <a:avLst/>
          </a:prstGeom>
          <a:solidFill>
            <a:srgbClr val="FEF0E7"/>
          </a:solidFill>
          <a:ln/>
        </p:spPr>
      </p:sp>
      <p:sp>
        <p:nvSpPr>
          <p:cNvPr id="11" name="Shape 8"/>
          <p:cNvSpPr/>
          <p:nvPr/>
        </p:nvSpPr>
        <p:spPr>
          <a:xfrm>
            <a:off x="320040" y="3749040"/>
            <a:ext cx="73152" cy="640080"/>
          </a:xfrm>
          <a:prstGeom prst="rect">
            <a:avLst/>
          </a:prstGeom>
          <a:solidFill>
            <a:srgbClr val="E8600A"/>
          </a:solidFill>
          <a:ln/>
        </p:spPr>
      </p:sp>
      <p:sp>
        <p:nvSpPr>
          <p:cNvPr id="12" name="Text 9"/>
          <p:cNvSpPr txBox="1"/>
          <p:nvPr/>
        </p:nvSpPr>
        <p:spPr>
          <a:xfrm>
            <a:off x="457200" y="3794760"/>
            <a:ext cx="8275320" cy="256032"/>
          </a:xfrm>
          <a:prstGeom prst="rect">
            <a:avLst/>
          </a:prstGeom>
          <a:noFill/>
          <a:ln/>
        </p:spPr>
        <p:txBody>
          <a:bodyPr wrap="square" lIns="508" tIns="508" rIns="508" bIns="508" rtlCol="0" anchor="ctr">
            <a:normAutofit/>
            <a:spAutoFit/>
          </a:bodyPr>
          <a:lstStyle/>
          <a:p>
            <a:pPr algn="l" indent="0" marL="0">
              <a:buNone/>
            </a:pPr>
            <a:r>
              <a:rPr lang="en-US" sz="1100" b="1" spc="400" kern="0" dirty="0">
                <a:solidFill>
                  <a:srgbClr val="E8600A"/>
                </a:solidFill>
                <a:latin typeface="Trebuchet MS" pitchFamily="34" charset="0"/>
                <a:ea typeface="Trebuchet MS" pitchFamily="34" charset="-122"/>
                <a:cs typeface="Trebuchet MS" pitchFamily="34" charset="-120"/>
              </a:rPr>
              <a:t>WHAT SIGNALS A STRUCTURAL SHIFT</a:t>
            </a:r>
            <a:endParaRPr lang="en-US" sz="1100" dirty="0"/>
          </a:p>
        </p:txBody>
      </p:sp>
      <p:sp>
        <p:nvSpPr>
          <p:cNvPr id="13" name="Text 10"/>
          <p:cNvSpPr txBox="1"/>
          <p:nvPr/>
        </p:nvSpPr>
        <p:spPr>
          <a:xfrm>
            <a:off x="457200" y="4069080"/>
            <a:ext cx="8275320" cy="274320"/>
          </a:xfrm>
          <a:prstGeom prst="rect">
            <a:avLst/>
          </a:prstGeom>
          <a:noFill/>
          <a:ln/>
        </p:spPr>
        <p:txBody>
          <a:bodyPr wrap="square" lIns="508" tIns="508" rIns="508" bIns="508" rtlCol="0" anchor="t">
            <a:normAutofit/>
            <a:spAutoFit/>
          </a:bodyPr>
          <a:lstStyle/>
          <a:p>
            <a:pPr algn="l" indent="0" marL="0">
              <a:buNone/>
            </a:pPr>
            <a:r>
              <a:rPr lang="en-US" sz="1200" dirty="0">
                <a:solidFill>
                  <a:srgbClr val="334155"/>
                </a:solidFill>
                <a:latin typeface="Calibri" pitchFamily="34" charset="0"/>
                <a:ea typeface="Calibri" pitchFamily="34" charset="-122"/>
                <a:cs typeface="Calibri" pitchFamily="34" charset="-120"/>
              </a:rPr>
              <a:t>A rise in income elasticity for a staple (coffee becoming a "luxury" Nespresso SKU) or a sign-change in cross-elasticity (Netflix becoming a SUBSTITUTE for cinema) both signal that a category boundary is redrawing — and that incumbents need to re-price.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B2A4A"/>
          </a:solidFill>
          <a:ln/>
        </p:spPr>
      </p:sp>
      <p:sp>
        <p:nvSpPr>
          <p:cNvPr id="3" name="Shape 1"/>
          <p:cNvSpPr/>
          <p:nvPr/>
        </p:nvSpPr>
        <p:spPr>
          <a:xfrm>
            <a:off x="0" y="0"/>
            <a:ext cx="201168" cy="5143500"/>
          </a:xfrm>
          <a:prstGeom prst="rect">
            <a:avLst/>
          </a:prstGeom>
          <a:solidFill>
            <a:srgbClr val="E8600A"/>
          </a:solidFill>
          <a:ln/>
        </p:spPr>
      </p:sp>
      <p:sp>
        <p:nvSpPr>
          <p:cNvPr id="4" name="Text 2"/>
          <p:cNvSpPr txBox="1"/>
          <p:nvPr/>
        </p:nvSpPr>
        <p:spPr>
          <a:xfrm>
            <a:off x="914400" y="1371600"/>
            <a:ext cx="7315200" cy="411480"/>
          </a:xfrm>
          <a:prstGeom prst="rect">
            <a:avLst/>
          </a:prstGeom>
          <a:noFill/>
          <a:ln/>
        </p:spPr>
        <p:txBody>
          <a:bodyPr wrap="square" lIns="508" tIns="508" rIns="508" bIns="508" rtlCol="0" anchor="ctr">
            <a:normAutofit/>
            <a:spAutoFit/>
          </a:bodyPr>
          <a:lstStyle/>
          <a:p>
            <a:pPr algn="l" indent="0" marL="0">
              <a:buNone/>
            </a:pPr>
            <a:r>
              <a:rPr lang="en-US" sz="1200" b="1" spc="600" kern="0" dirty="0">
                <a:solidFill>
                  <a:srgbClr val="FFFFFF"/>
                </a:solidFill>
                <a:latin typeface="Trebuchet MS" pitchFamily="34" charset="0"/>
                <a:ea typeface="Trebuchet MS" pitchFamily="34" charset="-122"/>
                <a:cs typeface="Trebuchet MS" pitchFamily="34" charset="-120"/>
              </a:rPr>
              <a:t>SECTION 02</a:t>
            </a:r>
            <a:endParaRPr lang="en-US" sz="1200" dirty="0"/>
          </a:p>
        </p:txBody>
      </p:sp>
      <p:sp>
        <p:nvSpPr>
          <p:cNvPr id="5" name="Shape 3"/>
          <p:cNvSpPr/>
          <p:nvPr/>
        </p:nvSpPr>
        <p:spPr>
          <a:xfrm>
            <a:off x="914400" y="1920240"/>
            <a:ext cx="2743200" cy="45720"/>
          </a:xfrm>
          <a:prstGeom prst="rect">
            <a:avLst/>
          </a:prstGeom>
          <a:solidFill>
            <a:srgbClr val="FFFFFF"/>
          </a:solidFill>
          <a:ln/>
        </p:spPr>
      </p:sp>
      <p:sp>
        <p:nvSpPr>
          <p:cNvPr id="6" name="Text 4"/>
          <p:cNvSpPr txBox="1"/>
          <p:nvPr/>
        </p:nvSpPr>
        <p:spPr>
          <a:xfrm>
            <a:off x="914400" y="2057400"/>
            <a:ext cx="7315200" cy="1645920"/>
          </a:xfrm>
          <a:prstGeom prst="rect">
            <a:avLst/>
          </a:prstGeom>
          <a:noFill/>
          <a:ln/>
        </p:spPr>
        <p:txBody>
          <a:bodyPr wrap="square" lIns="508" tIns="508" rIns="508" bIns="508" rtlCol="0" anchor="t">
            <a:normAutofit/>
            <a:spAutoFit/>
          </a:bodyPr>
          <a:lstStyle/>
          <a:p>
            <a:pPr algn="l" indent="0" marL="0">
              <a:buNone/>
            </a:pPr>
            <a:r>
              <a:rPr lang="en-US" sz="3200" b="1" dirty="0">
                <a:solidFill>
                  <a:srgbClr val="FFFFFF"/>
                </a:solidFill>
                <a:latin typeface="Trebuchet MS" pitchFamily="34" charset="0"/>
                <a:ea typeface="Trebuchet MS" pitchFamily="34" charset="-122"/>
                <a:cs typeface="Trebuchet MS" pitchFamily="34" charset="-120"/>
              </a:rPr>
              <a:t>Firm costs &amp;</a:t>
            </a:r>
            <a:endParaRPr lang="en-US" sz="3200" dirty="0"/>
          </a:p>
          <a:p>
            <a:pPr algn="l" indent="0" marL="0">
              <a:buNone/>
            </a:pPr>
            <a:r>
              <a:rPr lang="en-US" sz="3200" b="1" dirty="0">
                <a:solidFill>
                  <a:srgbClr val="FFFFFF"/>
                </a:solidFill>
                <a:latin typeface="Trebuchet MS" pitchFamily="34" charset="0"/>
                <a:ea typeface="Trebuchet MS" pitchFamily="34" charset="-122"/>
                <a:cs typeface="Trebuchet MS" pitchFamily="34" charset="-120"/>
              </a:rPr>
              <a:t>profit maximization</a:t>
            </a:r>
            <a:endParaRPr lang="en-US" sz="3200" dirty="0"/>
          </a:p>
        </p:txBody>
      </p:sp>
      <p:sp>
        <p:nvSpPr>
          <p:cNvPr id="7" name="Text 5"/>
          <p:cNvSpPr txBox="1"/>
          <p:nvPr/>
        </p:nvSpPr>
        <p:spPr>
          <a:xfrm>
            <a:off x="914400" y="4640580"/>
            <a:ext cx="7315200" cy="274320"/>
          </a:xfrm>
          <a:prstGeom prst="rect">
            <a:avLst/>
          </a:prstGeom>
          <a:noFill/>
          <a:ln/>
        </p:spPr>
        <p:txBody>
          <a:bodyPr wrap="square" lIns="508" tIns="508" rIns="508" bIns="508" rtlCol="0" anchor="ctr">
            <a:normAutofit/>
            <a:spAutoFit/>
          </a:bodyPr>
          <a:lstStyle/>
          <a:p>
            <a:pPr algn="l" indent="0" marL="0">
              <a:buNone/>
            </a:pPr>
            <a:r>
              <a:rPr lang="en-US" sz="750" i="1" dirty="0">
                <a:solidFill>
                  <a:srgbClr val="E8ECF0"/>
                </a:solidFill>
                <a:latin typeface="Calibri" pitchFamily="34" charset="0"/>
                <a:ea typeface="Calibri" pitchFamily="34" charset="-122"/>
                <a:cs typeface="Calibri" pitchFamily="34" charset="-120"/>
              </a:rPr>
              <a:t>Section 2 of 6  ·  Deck 4 of 20  ·  Studio Tonton Gug</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B2A4A"/>
          </a:solidFill>
          <a:ln/>
        </p:spPr>
      </p:sp>
      <p:sp>
        <p:nvSpPr>
          <p:cNvPr id="3" name="Shape 1"/>
          <p:cNvSpPr/>
          <p:nvPr/>
        </p:nvSpPr>
        <p:spPr>
          <a:xfrm>
            <a:off x="0" y="0"/>
            <a:ext cx="109728" cy="621792"/>
          </a:xfrm>
          <a:prstGeom prst="rect">
            <a:avLst/>
          </a:prstGeom>
          <a:solidFill>
            <a:srgbClr val="E8600A"/>
          </a:solidFill>
          <a:ln/>
        </p:spPr>
      </p:sp>
      <p:sp>
        <p:nvSpPr>
          <p:cNvPr id="4" name="Text 2"/>
          <p:cNvSpPr txBox="1"/>
          <p:nvPr/>
        </p:nvSpPr>
        <p:spPr>
          <a:xfrm>
            <a:off x="256032" y="0"/>
            <a:ext cx="8686800" cy="621792"/>
          </a:xfrm>
          <a:prstGeom prst="rect">
            <a:avLst/>
          </a:prstGeom>
          <a:noFill/>
          <a:ln/>
        </p:spPr>
        <p:txBody>
          <a:bodyPr wrap="square" lIns="508" tIns="508" rIns="508" bIns="508" rtlCol="0" anchor="ctr">
            <a:normAutofit/>
            <a:spAutoFit/>
          </a:bodyPr>
          <a:lstStyle/>
          <a:p>
            <a:pPr algn="l" indent="0" marL="0">
              <a:buNone/>
            </a:pPr>
            <a:r>
              <a:rPr lang="en-US" sz="1600" b="1" dirty="0">
                <a:solidFill>
                  <a:srgbClr val="FFFFFF"/>
                </a:solidFill>
                <a:latin typeface="Trebuchet MS" pitchFamily="34" charset="0"/>
                <a:ea typeface="Trebuchet MS" pitchFamily="34" charset="-122"/>
                <a:cs typeface="Trebuchet MS" pitchFamily="34" charset="-120"/>
              </a:rPr>
              <a:t>Economic profit subtracts the opportunity cost of every factor — a firm with positive accounting profit can still be destroying economic value</a:t>
            </a:r>
            <a:endParaRPr lang="en-US" sz="1600" dirty="0"/>
          </a:p>
        </p:txBody>
      </p:sp>
      <p:sp>
        <p:nvSpPr>
          <p:cNvPr id="5" name="Shape 3"/>
          <p:cNvSpPr/>
          <p:nvPr/>
        </p:nvSpPr>
        <p:spPr>
          <a:xfrm>
            <a:off x="0" y="4892040"/>
            <a:ext cx="9144000" cy="256032"/>
          </a:xfrm>
          <a:prstGeom prst="rect">
            <a:avLst/>
          </a:prstGeom>
          <a:solidFill>
            <a:srgbClr val="E8ECF0"/>
          </a:solidFill>
          <a:ln/>
        </p:spPr>
      </p:sp>
      <p:sp>
        <p:nvSpPr>
          <p:cNvPr id="6" name="Text 4"/>
          <p:cNvSpPr txBox="1"/>
          <p:nvPr/>
        </p:nvSpPr>
        <p:spPr>
          <a:xfrm>
            <a:off x="274320" y="4892040"/>
            <a:ext cx="5943600" cy="256032"/>
          </a:xfrm>
          <a:prstGeom prst="rect">
            <a:avLst/>
          </a:prstGeom>
          <a:noFill/>
          <a:ln/>
        </p:spPr>
        <p:txBody>
          <a:bodyPr wrap="square" lIns="508" tIns="508" rIns="508" bIns="508" rtlCol="0" anchor="ctr">
            <a:normAutofit/>
            <a:spAutoFit/>
          </a:bodyPr>
          <a:lstStyle/>
          <a:p>
            <a:pPr algn="l" indent="0" marL="0">
              <a:buNone/>
            </a:pPr>
            <a:r>
              <a:rPr lang="en-US" sz="750" dirty="0">
                <a:solidFill>
                  <a:srgbClr val="6B7A8D"/>
                </a:solidFill>
                <a:latin typeface="Calibri" pitchFamily="34" charset="0"/>
                <a:ea typeface="Calibri" pitchFamily="34" charset="-122"/>
                <a:cs typeface="Calibri" pitchFamily="34" charset="-120"/>
              </a:rPr>
              <a:t>STUDIO TONTON GUG  ·  Finance Fundamentals</a:t>
            </a:r>
            <a:endParaRPr lang="en-US" sz="750" dirty="0"/>
          </a:p>
        </p:txBody>
      </p:sp>
      <p:sp>
        <p:nvSpPr>
          <p:cNvPr id="7" name="Text 5"/>
          <p:cNvSpPr txBox="1"/>
          <p:nvPr/>
        </p:nvSpPr>
        <p:spPr>
          <a:xfrm>
            <a:off x="320040" y="4663440"/>
            <a:ext cx="8503920" cy="201168"/>
          </a:xfrm>
          <a:prstGeom prst="rect">
            <a:avLst/>
          </a:prstGeom>
          <a:noFill/>
          <a:ln/>
        </p:spPr>
        <p:txBody>
          <a:bodyPr wrap="square" lIns="508" tIns="508" rIns="508" bIns="508" rtlCol="0" anchor="t">
            <a:normAutofit/>
            <a:spAutoFit/>
          </a:bodyPr>
          <a:lstStyle/>
          <a:p>
            <a:pPr algn="l" indent="0" marL="0">
              <a:buNone/>
            </a:pPr>
            <a:r>
              <a:rPr lang="en-US" sz="750" i="1" dirty="0">
                <a:solidFill>
                  <a:srgbClr val="6B7A8D"/>
                </a:solidFill>
                <a:latin typeface="Calibri" pitchFamily="34" charset="0"/>
                <a:ea typeface="Calibri" pitchFamily="34" charset="-122"/>
                <a:cs typeface="Calibri" pitchFamily="34" charset="-120"/>
              </a:rPr>
              <a:t>Source: CFA Institute, Curriculum Vol 2, Learning Module 1, Overview, pp. 3–6.</a:t>
            </a:r>
            <a:endParaRPr lang="en-US" sz="750" dirty="0"/>
          </a:p>
        </p:txBody>
      </p:sp>
      <p:sp>
        <p:nvSpPr>
          <p:cNvPr id="8" name="Text 6"/>
          <p:cNvSpPr txBox="1"/>
          <p:nvPr/>
        </p:nvSpPr>
        <p:spPr>
          <a:xfrm>
            <a:off x="320040" y="731520"/>
            <a:ext cx="8503920" cy="292608"/>
          </a:xfrm>
          <a:prstGeom prst="rect">
            <a:avLst/>
          </a:prstGeom>
          <a:noFill/>
          <a:ln/>
        </p:spPr>
        <p:txBody>
          <a:bodyPr wrap="square" lIns="508" tIns="508" rIns="508" bIns="508" rtlCol="0" anchor="ctr">
            <a:normAutofit/>
            <a:spAutoFit/>
          </a:bodyPr>
          <a:lstStyle/>
          <a:p>
            <a:pPr algn="l" indent="0" marL="0">
              <a:buNone/>
            </a:pPr>
            <a:r>
              <a:rPr lang="en-US" sz="1300" i="1" dirty="0">
                <a:solidFill>
                  <a:srgbClr val="334155"/>
                </a:solidFill>
                <a:latin typeface="Calibri" pitchFamily="34" charset="0"/>
                <a:ea typeface="Calibri" pitchFamily="34" charset="-122"/>
                <a:cs typeface="Calibri" pitchFamily="34" charset="-120"/>
              </a:rPr>
              <a:t>Normal profit = zero economic profit = accounting profit equal to what the capital would have earned in its next-best use. It is a reward for participation, not a reward for excellence.</a:t>
            </a:r>
            <a:endParaRPr lang="en-US" sz="1300" dirty="0"/>
          </a:p>
        </p:txBody>
      </p:sp>
      <p:sp>
        <p:nvSpPr>
          <p:cNvPr id="9" name="Shape 7"/>
          <p:cNvSpPr/>
          <p:nvPr/>
        </p:nvSpPr>
        <p:spPr>
          <a:xfrm>
            <a:off x="320040" y="1234440"/>
            <a:ext cx="8503920" cy="658368"/>
          </a:xfrm>
          <a:prstGeom prst="rect">
            <a:avLst/>
          </a:prstGeom>
          <a:solidFill>
            <a:srgbClr val="1B2A4A"/>
          </a:solidFill>
          <a:ln/>
        </p:spPr>
      </p:sp>
      <p:sp>
        <p:nvSpPr>
          <p:cNvPr id="10" name="Text 8"/>
          <p:cNvSpPr txBox="1"/>
          <p:nvPr/>
        </p:nvSpPr>
        <p:spPr>
          <a:xfrm>
            <a:off x="411480" y="1234440"/>
            <a:ext cx="8321040" cy="658368"/>
          </a:xfrm>
          <a:prstGeom prst="rect">
            <a:avLst/>
          </a:prstGeom>
          <a:noFill/>
          <a:ln/>
        </p:spPr>
        <p:txBody>
          <a:bodyPr wrap="square" lIns="508" tIns="508" rIns="508" bIns="508" rtlCol="0" anchor="ctr">
            <a:normAutofit/>
            <a:spAutoFit/>
          </a:bodyPr>
          <a:lstStyle/>
          <a:p>
            <a:pPr algn="ctr" indent="0" marL="0">
              <a:buNone/>
            </a:pPr>
            <a:r>
              <a:rPr lang="en-US" sz="1800" b="1" dirty="0">
                <a:solidFill>
                  <a:srgbClr val="FFFFFF"/>
                </a:solidFill>
                <a:latin typeface="Consolas" pitchFamily="34" charset="0"/>
                <a:ea typeface="Consolas" pitchFamily="34" charset="-122"/>
                <a:cs typeface="Consolas" pitchFamily="34" charset="-120"/>
              </a:rPr>
              <a:t>Economic profit  =  TR  −  [ Accounting costs  +  Opportunity costs ]</a:t>
            </a:r>
            <a:endParaRPr lang="en-US" sz="1800" dirty="0"/>
          </a:p>
        </p:txBody>
      </p:sp>
      <p:sp>
        <p:nvSpPr>
          <p:cNvPr id="11" name="Text 9"/>
          <p:cNvSpPr txBox="1"/>
          <p:nvPr/>
        </p:nvSpPr>
        <p:spPr>
          <a:xfrm>
            <a:off x="320040" y="1920240"/>
            <a:ext cx="8503920" cy="256032"/>
          </a:xfrm>
          <a:prstGeom prst="rect">
            <a:avLst/>
          </a:prstGeom>
          <a:noFill/>
          <a:ln/>
        </p:spPr>
        <p:txBody>
          <a:bodyPr wrap="square" lIns="508" tIns="508" rIns="508" bIns="508" rtlCol="0" anchor="ctr">
            <a:normAutofit/>
            <a:spAutoFit/>
          </a:bodyPr>
          <a:lstStyle/>
          <a:p>
            <a:pPr algn="l" indent="0" marL="0">
              <a:buNone/>
            </a:pPr>
            <a:r>
              <a:rPr lang="en-US" sz="1100" i="1" dirty="0">
                <a:solidFill>
                  <a:srgbClr val="334155"/>
                </a:solidFill>
                <a:latin typeface="Calibri" pitchFamily="34" charset="0"/>
                <a:ea typeface="Calibri" pitchFamily="34" charset="-122"/>
                <a:cs typeface="Calibri" pitchFamily="34" charset="-120"/>
              </a:rPr>
              <a:t>where: Accounting profit = TR − accounting costs. Economic profit = accounting profit − implicit opportunity costs.</a:t>
            </a:r>
            <a:endParaRPr lang="en-US" sz="1100" dirty="0"/>
          </a:p>
        </p:txBody>
      </p:sp>
      <p:sp>
        <p:nvSpPr>
          <p:cNvPr id="12" name="Shape 10"/>
          <p:cNvSpPr/>
          <p:nvPr/>
        </p:nvSpPr>
        <p:spPr>
          <a:xfrm>
            <a:off x="320040" y="2331720"/>
            <a:ext cx="4160520" cy="1920240"/>
          </a:xfrm>
          <a:prstGeom prst="rect">
            <a:avLst/>
          </a:prstGeom>
          <a:solidFill>
            <a:srgbClr val="FEF0E7"/>
          </a:solidFill>
          <a:ln/>
        </p:spPr>
      </p:sp>
      <p:sp>
        <p:nvSpPr>
          <p:cNvPr id="13" name="Shape 11"/>
          <p:cNvSpPr/>
          <p:nvPr/>
        </p:nvSpPr>
        <p:spPr>
          <a:xfrm>
            <a:off x="320040" y="2331720"/>
            <a:ext cx="73152" cy="1920240"/>
          </a:xfrm>
          <a:prstGeom prst="rect">
            <a:avLst/>
          </a:prstGeom>
          <a:solidFill>
            <a:srgbClr val="E8600A"/>
          </a:solidFill>
          <a:ln/>
        </p:spPr>
      </p:sp>
      <p:sp>
        <p:nvSpPr>
          <p:cNvPr id="14" name="Text 12"/>
          <p:cNvSpPr txBox="1"/>
          <p:nvPr/>
        </p:nvSpPr>
        <p:spPr>
          <a:xfrm>
            <a:off x="457200" y="2377440"/>
            <a:ext cx="3931920" cy="256032"/>
          </a:xfrm>
          <a:prstGeom prst="rect">
            <a:avLst/>
          </a:prstGeom>
          <a:noFill/>
          <a:ln/>
        </p:spPr>
        <p:txBody>
          <a:bodyPr wrap="square" lIns="508" tIns="508" rIns="508" bIns="508" rtlCol="0" anchor="ctr">
            <a:normAutofit/>
            <a:spAutoFit/>
          </a:bodyPr>
          <a:lstStyle/>
          <a:p>
            <a:pPr algn="l" indent="0" marL="0">
              <a:buNone/>
            </a:pPr>
            <a:r>
              <a:rPr lang="en-US" sz="1100" b="1" spc="400" kern="0" dirty="0">
                <a:solidFill>
                  <a:srgbClr val="E8600A"/>
                </a:solidFill>
                <a:latin typeface="Trebuchet MS" pitchFamily="34" charset="0"/>
                <a:ea typeface="Trebuchet MS" pitchFamily="34" charset="-122"/>
                <a:cs typeface="Trebuchet MS" pitchFamily="34" charset="-120"/>
              </a:rPr>
              <a:t>THE ENTREPRENEUR EXAMPLE</a:t>
            </a:r>
            <a:endParaRPr lang="en-US" sz="1100" dirty="0"/>
          </a:p>
        </p:txBody>
      </p:sp>
      <p:sp>
        <p:nvSpPr>
          <p:cNvPr id="15" name="Text 13"/>
          <p:cNvSpPr txBox="1"/>
          <p:nvPr/>
        </p:nvSpPr>
        <p:spPr>
          <a:xfrm>
            <a:off x="457200" y="2651760"/>
            <a:ext cx="3931920" cy="1554480"/>
          </a:xfrm>
          <a:prstGeom prst="rect">
            <a:avLst/>
          </a:prstGeom>
          <a:noFill/>
          <a:ln/>
        </p:spPr>
        <p:txBody>
          <a:bodyPr wrap="square" lIns="508" tIns="508" rIns="508" bIns="508" rtlCol="0" anchor="t">
            <a:normAutofit/>
            <a:spAutoFit/>
          </a:bodyPr>
          <a:lstStyle/>
          <a:p>
            <a:pPr algn="l" indent="0" marL="0">
              <a:buNone/>
            </a:pPr>
            <a:r>
              <a:rPr lang="en-US" sz="1200" dirty="0">
                <a:solidFill>
                  <a:srgbClr val="334155"/>
                </a:solidFill>
                <a:latin typeface="Calibri" pitchFamily="34" charset="0"/>
                <a:ea typeface="Calibri" pitchFamily="34" charset="-122"/>
                <a:cs typeface="Calibri" pitchFamily="34" charset="-120"/>
              </a:rPr>
              <a:t>Founder nets USD 120,000 in accounting profit from her consultancy. She had turned down a corporate role paying USD 150,000 to start the firm.</a:t>
            </a:r>
            <a:endParaRPr lang="en-US" sz="1200" dirty="0"/>
          </a:p>
          <a:p>
            <a:pPr algn="l" indent="0" marL="0">
              <a:buNone/>
            </a:pPr>
            <a:endParaRPr lang="en-US" sz="1200" dirty="0"/>
          </a:p>
          <a:p>
            <a:pPr algn="l" indent="0" marL="0">
              <a:buNone/>
            </a:pPr>
            <a:r>
              <a:rPr lang="en-US" sz="1200" dirty="0">
                <a:solidFill>
                  <a:srgbClr val="334155"/>
                </a:solidFill>
                <a:latin typeface="Calibri" pitchFamily="34" charset="0"/>
                <a:ea typeface="Calibri" pitchFamily="34" charset="-122"/>
                <a:cs typeface="Calibri" pitchFamily="34" charset="-120"/>
              </a:rPr>
              <a:t>Accounting profit = +120,000.</a:t>
            </a:r>
            <a:endParaRPr lang="en-US" sz="1200" dirty="0"/>
          </a:p>
          <a:p>
            <a:pPr algn="l" indent="0" marL="0">
              <a:buNone/>
            </a:pPr>
            <a:r>
              <a:rPr lang="en-US" sz="1200" dirty="0">
                <a:solidFill>
                  <a:srgbClr val="334155"/>
                </a:solidFill>
                <a:latin typeface="Calibri" pitchFamily="34" charset="0"/>
                <a:ea typeface="Calibri" pitchFamily="34" charset="-122"/>
                <a:cs typeface="Calibri" pitchFamily="34" charset="-120"/>
              </a:rPr>
              <a:t>Economic profit = 120,000 − 150,000 = −30,000.</a:t>
            </a:r>
            <a:endParaRPr lang="en-US" sz="1200" dirty="0"/>
          </a:p>
          <a:p>
            <a:pPr algn="l" indent="0" marL="0">
              <a:buNone/>
            </a:pPr>
            <a:endParaRPr lang="en-US" sz="1200" dirty="0"/>
          </a:p>
          <a:p>
            <a:pPr algn="l" indent="0" marL="0">
              <a:buNone/>
            </a:pPr>
            <a:r>
              <a:rPr lang="en-US" sz="1200" dirty="0">
                <a:solidFill>
                  <a:srgbClr val="334155"/>
                </a:solidFill>
                <a:latin typeface="Calibri" pitchFamily="34" charset="0"/>
                <a:ea typeface="Calibri" pitchFamily="34" charset="-122"/>
                <a:cs typeface="Calibri" pitchFamily="34" charset="-120"/>
              </a:rPr>
              <a:t>She is destroying value and should return to corporate.</a:t>
            </a:r>
            <a:endParaRPr lang="en-US" sz="1200" dirty="0"/>
          </a:p>
        </p:txBody>
      </p:sp>
      <p:sp>
        <p:nvSpPr>
          <p:cNvPr id="16" name="Shape 14"/>
          <p:cNvSpPr/>
          <p:nvPr/>
        </p:nvSpPr>
        <p:spPr>
          <a:xfrm>
            <a:off x="4663440" y="2331720"/>
            <a:ext cx="4160520" cy="1920240"/>
          </a:xfrm>
          <a:prstGeom prst="rect">
            <a:avLst/>
          </a:prstGeom>
          <a:solidFill>
            <a:srgbClr val="F5F7FA"/>
          </a:solidFill>
          <a:ln/>
        </p:spPr>
      </p:sp>
      <p:sp>
        <p:nvSpPr>
          <p:cNvPr id="17" name="Shape 15"/>
          <p:cNvSpPr/>
          <p:nvPr/>
        </p:nvSpPr>
        <p:spPr>
          <a:xfrm>
            <a:off x="4663440" y="2331720"/>
            <a:ext cx="73152" cy="1920240"/>
          </a:xfrm>
          <a:prstGeom prst="rect">
            <a:avLst/>
          </a:prstGeom>
          <a:solidFill>
            <a:srgbClr val="1B2A4A"/>
          </a:solidFill>
          <a:ln/>
        </p:spPr>
      </p:sp>
      <p:sp>
        <p:nvSpPr>
          <p:cNvPr id="18" name="Text 16"/>
          <p:cNvSpPr txBox="1"/>
          <p:nvPr/>
        </p:nvSpPr>
        <p:spPr>
          <a:xfrm>
            <a:off x="4800600" y="2377440"/>
            <a:ext cx="3931920" cy="256032"/>
          </a:xfrm>
          <a:prstGeom prst="rect">
            <a:avLst/>
          </a:prstGeom>
          <a:noFill/>
          <a:ln/>
        </p:spPr>
        <p:txBody>
          <a:bodyPr wrap="square" lIns="508" tIns="508" rIns="508" bIns="508" rtlCol="0" anchor="ctr">
            <a:normAutofit/>
            <a:spAutoFit/>
          </a:bodyPr>
          <a:lstStyle/>
          <a:p>
            <a:pPr algn="l" indent="0" marL="0">
              <a:buNone/>
            </a:pPr>
            <a:r>
              <a:rPr lang="en-US" sz="1100" b="1" spc="400" kern="0" dirty="0">
                <a:solidFill>
                  <a:srgbClr val="1B2A4A"/>
                </a:solidFill>
                <a:latin typeface="Trebuchet MS" pitchFamily="34" charset="0"/>
                <a:ea typeface="Trebuchet MS" pitchFamily="34" charset="-122"/>
                <a:cs typeface="Trebuchet MS" pitchFamily="34" charset="-120"/>
              </a:rPr>
              <a:t>WHY IT MATTERS FOR INVESTORS</a:t>
            </a:r>
            <a:endParaRPr lang="en-US" sz="1100" dirty="0"/>
          </a:p>
        </p:txBody>
      </p:sp>
      <p:sp>
        <p:nvSpPr>
          <p:cNvPr id="19" name="Text 17"/>
          <p:cNvSpPr txBox="1"/>
          <p:nvPr/>
        </p:nvSpPr>
        <p:spPr>
          <a:xfrm>
            <a:off x="4800600" y="2651760"/>
            <a:ext cx="3931920" cy="1554480"/>
          </a:xfrm>
          <a:prstGeom prst="rect">
            <a:avLst/>
          </a:prstGeom>
          <a:noFill/>
          <a:ln/>
        </p:spPr>
        <p:txBody>
          <a:bodyPr wrap="square" lIns="508" tIns="508" rIns="508" bIns="508" rtlCol="0" anchor="t">
            <a:normAutofit/>
            <a:spAutoFit/>
          </a:bodyPr>
          <a:lstStyle/>
          <a:p>
            <a:pPr algn="l" indent="0" marL="0">
              <a:buNone/>
            </a:pPr>
            <a:r>
              <a:rPr lang="en-US" sz="1200" dirty="0">
                <a:solidFill>
                  <a:srgbClr val="334155"/>
                </a:solidFill>
                <a:latin typeface="Calibri" pitchFamily="34" charset="0"/>
                <a:ea typeface="Calibri" pitchFamily="34" charset="-122"/>
                <a:cs typeface="Calibri" pitchFamily="34" charset="-120"/>
              </a:rPr>
              <a:t>In a competitive long-run equilibrium, firms earn ZERO economic profit — equity returns just compensate for risk. Positive economic profit is a signal of a moat: a barrier protecting rents. The analyst's job is to assess whether the moat will hold.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B2A4A"/>
          </a:solidFill>
          <a:ln/>
        </p:spPr>
      </p:sp>
      <p:sp>
        <p:nvSpPr>
          <p:cNvPr id="3" name="Shape 1"/>
          <p:cNvSpPr/>
          <p:nvPr/>
        </p:nvSpPr>
        <p:spPr>
          <a:xfrm>
            <a:off x="0" y="0"/>
            <a:ext cx="109728" cy="621792"/>
          </a:xfrm>
          <a:prstGeom prst="rect">
            <a:avLst/>
          </a:prstGeom>
          <a:solidFill>
            <a:srgbClr val="E8600A"/>
          </a:solidFill>
          <a:ln/>
        </p:spPr>
      </p:sp>
      <p:sp>
        <p:nvSpPr>
          <p:cNvPr id="4" name="Text 2"/>
          <p:cNvSpPr txBox="1"/>
          <p:nvPr/>
        </p:nvSpPr>
        <p:spPr>
          <a:xfrm>
            <a:off x="256032" y="0"/>
            <a:ext cx="8686800" cy="621792"/>
          </a:xfrm>
          <a:prstGeom prst="rect">
            <a:avLst/>
          </a:prstGeom>
          <a:noFill/>
          <a:ln/>
        </p:spPr>
        <p:txBody>
          <a:bodyPr wrap="square" lIns="508" tIns="508" rIns="508" bIns="508" rtlCol="0" anchor="ctr">
            <a:normAutofit/>
            <a:spAutoFit/>
          </a:bodyPr>
          <a:lstStyle/>
          <a:p>
            <a:pPr algn="l" indent="0" marL="0">
              <a:buNone/>
            </a:pPr>
            <a:r>
              <a:rPr lang="en-US" sz="1600" b="1" dirty="0">
                <a:solidFill>
                  <a:srgbClr val="FFFFFF"/>
                </a:solidFill>
                <a:latin typeface="Trebuchet MS" pitchFamily="34" charset="0"/>
                <a:ea typeface="Trebuchet MS" pitchFamily="34" charset="-122"/>
                <a:cs typeface="Trebuchet MS" pitchFamily="34" charset="-120"/>
              </a:rPr>
              <a:t>A firm maximizes profit where marginal revenue equals marginal cost and marginal cost is rising — the single rule that governs every market structure</a:t>
            </a:r>
            <a:endParaRPr lang="en-US" sz="1600" dirty="0"/>
          </a:p>
        </p:txBody>
      </p:sp>
      <p:sp>
        <p:nvSpPr>
          <p:cNvPr id="5" name="Shape 3"/>
          <p:cNvSpPr/>
          <p:nvPr/>
        </p:nvSpPr>
        <p:spPr>
          <a:xfrm>
            <a:off x="0" y="4892040"/>
            <a:ext cx="9144000" cy="256032"/>
          </a:xfrm>
          <a:prstGeom prst="rect">
            <a:avLst/>
          </a:prstGeom>
          <a:solidFill>
            <a:srgbClr val="E8ECF0"/>
          </a:solidFill>
          <a:ln/>
        </p:spPr>
      </p:sp>
      <p:sp>
        <p:nvSpPr>
          <p:cNvPr id="6" name="Text 4"/>
          <p:cNvSpPr txBox="1"/>
          <p:nvPr/>
        </p:nvSpPr>
        <p:spPr>
          <a:xfrm>
            <a:off x="274320" y="4892040"/>
            <a:ext cx="5943600" cy="256032"/>
          </a:xfrm>
          <a:prstGeom prst="rect">
            <a:avLst/>
          </a:prstGeom>
          <a:noFill/>
          <a:ln/>
        </p:spPr>
        <p:txBody>
          <a:bodyPr wrap="square" lIns="508" tIns="508" rIns="508" bIns="508" rtlCol="0" anchor="ctr">
            <a:normAutofit/>
            <a:spAutoFit/>
          </a:bodyPr>
          <a:lstStyle/>
          <a:p>
            <a:pPr algn="l" indent="0" marL="0">
              <a:buNone/>
            </a:pPr>
            <a:r>
              <a:rPr lang="en-US" sz="750" dirty="0">
                <a:solidFill>
                  <a:srgbClr val="6B7A8D"/>
                </a:solidFill>
                <a:latin typeface="Calibri" pitchFamily="34" charset="0"/>
                <a:ea typeface="Calibri" pitchFamily="34" charset="-122"/>
                <a:cs typeface="Calibri" pitchFamily="34" charset="-120"/>
              </a:rPr>
              <a:t>STUDIO TONTON GUG  ·  Finance Fundamentals</a:t>
            </a:r>
            <a:endParaRPr lang="en-US" sz="750" dirty="0"/>
          </a:p>
        </p:txBody>
      </p:sp>
      <p:sp>
        <p:nvSpPr>
          <p:cNvPr id="7" name="Text 5"/>
          <p:cNvSpPr txBox="1"/>
          <p:nvPr/>
        </p:nvSpPr>
        <p:spPr>
          <a:xfrm>
            <a:off x="320040" y="4663440"/>
            <a:ext cx="8503920" cy="201168"/>
          </a:xfrm>
          <a:prstGeom prst="rect">
            <a:avLst/>
          </a:prstGeom>
          <a:noFill/>
          <a:ln/>
        </p:spPr>
        <p:txBody>
          <a:bodyPr wrap="square" lIns="508" tIns="508" rIns="508" bIns="508" rtlCol="0" anchor="t">
            <a:normAutofit/>
            <a:spAutoFit/>
          </a:bodyPr>
          <a:lstStyle/>
          <a:p>
            <a:pPr algn="l" indent="0" marL="0">
              <a:buNone/>
            </a:pPr>
            <a:r>
              <a:rPr lang="en-US" sz="750" i="1" dirty="0">
                <a:solidFill>
                  <a:srgbClr val="6B7A8D"/>
                </a:solidFill>
                <a:latin typeface="Calibri" pitchFamily="34" charset="0"/>
                <a:ea typeface="Calibri" pitchFamily="34" charset="-122"/>
                <a:cs typeface="Calibri" pitchFamily="34" charset="-120"/>
              </a:rPr>
              <a:t>Source: CFA Institute, Curriculum Vol 2, Learning Module 1, Example 1 (WR International), pp. 11–12.</a:t>
            </a:r>
            <a:endParaRPr lang="en-US" sz="750" dirty="0"/>
          </a:p>
        </p:txBody>
      </p:sp>
      <p:sp>
        <p:nvSpPr>
          <p:cNvPr id="8" name="Text 6"/>
          <p:cNvSpPr txBox="1"/>
          <p:nvPr/>
        </p:nvSpPr>
        <p:spPr>
          <a:xfrm>
            <a:off x="320040" y="731520"/>
            <a:ext cx="8503920" cy="292608"/>
          </a:xfrm>
          <a:prstGeom prst="rect">
            <a:avLst/>
          </a:prstGeom>
          <a:noFill/>
          <a:ln/>
        </p:spPr>
        <p:txBody>
          <a:bodyPr wrap="square" lIns="508" tIns="508" rIns="508" bIns="508" rtlCol="0" anchor="ctr">
            <a:normAutofit/>
            <a:spAutoFit/>
          </a:bodyPr>
          <a:lstStyle/>
          <a:p>
            <a:pPr algn="l" indent="0" marL="0">
              <a:buNone/>
            </a:pPr>
            <a:r>
              <a:rPr lang="en-US" sz="1300" i="1" dirty="0">
                <a:solidFill>
                  <a:srgbClr val="334155"/>
                </a:solidFill>
                <a:latin typeface="Calibri" pitchFamily="34" charset="0"/>
                <a:ea typeface="Calibri" pitchFamily="34" charset="-122"/>
                <a:cs typeface="Calibri" pitchFamily="34" charset="-120"/>
              </a:rPr>
              <a:t>Under perfect competition, MR = P (horizontal demand). Under every imperfectly-competitive structure, MR &lt; P (sloped demand). Rule unchanged.</a:t>
            </a:r>
            <a:endParaRPr lang="en-US" sz="1300" dirty="0"/>
          </a:p>
        </p:txBody>
      </p:sp>
      <p:sp>
        <p:nvSpPr>
          <p:cNvPr id="9" name="Shape 7"/>
          <p:cNvSpPr/>
          <p:nvPr/>
        </p:nvSpPr>
        <p:spPr>
          <a:xfrm>
            <a:off x="320040" y="1188720"/>
            <a:ext cx="8503920" cy="658368"/>
          </a:xfrm>
          <a:prstGeom prst="rect">
            <a:avLst/>
          </a:prstGeom>
          <a:solidFill>
            <a:srgbClr val="1B2A4A"/>
          </a:solidFill>
          <a:ln/>
        </p:spPr>
      </p:sp>
      <p:sp>
        <p:nvSpPr>
          <p:cNvPr id="10" name="Text 8"/>
          <p:cNvSpPr txBox="1"/>
          <p:nvPr/>
        </p:nvSpPr>
        <p:spPr>
          <a:xfrm>
            <a:off x="411480" y="1188720"/>
            <a:ext cx="8321040" cy="658368"/>
          </a:xfrm>
          <a:prstGeom prst="rect">
            <a:avLst/>
          </a:prstGeom>
          <a:noFill/>
          <a:ln/>
        </p:spPr>
        <p:txBody>
          <a:bodyPr wrap="square" lIns="508" tIns="508" rIns="508" bIns="508" rtlCol="0" anchor="ctr">
            <a:normAutofit/>
            <a:spAutoFit/>
          </a:bodyPr>
          <a:lstStyle/>
          <a:p>
            <a:pPr algn="ctr" indent="0" marL="0">
              <a:buNone/>
            </a:pPr>
            <a:r>
              <a:rPr lang="en-US" sz="1800" b="1" dirty="0">
                <a:solidFill>
                  <a:srgbClr val="FFFFFF"/>
                </a:solidFill>
                <a:latin typeface="Consolas" pitchFamily="34" charset="0"/>
                <a:ea typeface="Consolas" pitchFamily="34" charset="-122"/>
                <a:cs typeface="Consolas" pitchFamily="34" charset="-120"/>
              </a:rPr>
              <a:t>Maximize profit  ⇔   MR  =  MC   AND   dMC/dQ  &gt;  0</a:t>
            </a:r>
            <a:endParaRPr lang="en-US" sz="1800" dirty="0"/>
          </a:p>
        </p:txBody>
      </p:sp>
      <p:sp>
        <p:nvSpPr>
          <p:cNvPr id="11" name="Text 9"/>
          <p:cNvSpPr txBox="1"/>
          <p:nvPr/>
        </p:nvSpPr>
        <p:spPr>
          <a:xfrm>
            <a:off x="320040" y="1874520"/>
            <a:ext cx="8503920" cy="256032"/>
          </a:xfrm>
          <a:prstGeom prst="rect">
            <a:avLst/>
          </a:prstGeom>
          <a:noFill/>
          <a:ln/>
        </p:spPr>
        <p:txBody>
          <a:bodyPr wrap="square" lIns="508" tIns="508" rIns="508" bIns="508" rtlCol="0" anchor="ctr">
            <a:normAutofit/>
            <a:spAutoFit/>
          </a:bodyPr>
          <a:lstStyle/>
          <a:p>
            <a:pPr algn="l" indent="0" marL="0">
              <a:buNone/>
            </a:pPr>
            <a:r>
              <a:rPr lang="en-US" sz="1100" i="1" dirty="0">
                <a:solidFill>
                  <a:srgbClr val="334155"/>
                </a:solidFill>
                <a:latin typeface="Calibri" pitchFamily="34" charset="0"/>
                <a:ea typeface="Calibri" pitchFamily="34" charset="-122"/>
                <a:cs typeface="Calibri" pitchFamily="34" charset="-120"/>
              </a:rPr>
              <a:t>where: First-order condition: slope of TR equals slope of TC. Second-order condition: MC must cut MR from below.</a:t>
            </a:r>
            <a:endParaRPr lang="en-US" sz="1100" dirty="0"/>
          </a:p>
        </p:txBody>
      </p:sp>
      <p:sp>
        <p:nvSpPr>
          <p:cNvPr id="12" name="Shape 10"/>
          <p:cNvSpPr/>
          <p:nvPr/>
        </p:nvSpPr>
        <p:spPr>
          <a:xfrm>
            <a:off x="320040" y="2331720"/>
            <a:ext cx="8503920" cy="1965960"/>
          </a:xfrm>
          <a:prstGeom prst="rect">
            <a:avLst/>
          </a:prstGeom>
          <a:solidFill>
            <a:srgbClr val="FEF0E7"/>
          </a:solidFill>
          <a:ln w="9525">
            <a:solidFill>
              <a:srgbClr val="E8600A"/>
            </a:solidFill>
            <a:prstDash val="solid"/>
          </a:ln>
        </p:spPr>
      </p:sp>
      <p:sp>
        <p:nvSpPr>
          <p:cNvPr id="13" name="Text 11"/>
          <p:cNvSpPr txBox="1"/>
          <p:nvPr/>
        </p:nvSpPr>
        <p:spPr>
          <a:xfrm>
            <a:off x="457200" y="2377440"/>
            <a:ext cx="8229600" cy="256032"/>
          </a:xfrm>
          <a:prstGeom prst="rect">
            <a:avLst/>
          </a:prstGeom>
          <a:noFill/>
          <a:ln/>
        </p:spPr>
        <p:txBody>
          <a:bodyPr wrap="square" lIns="508" tIns="508" rIns="508" bIns="508" rtlCol="0" anchor="ctr">
            <a:normAutofit/>
            <a:spAutoFit/>
          </a:bodyPr>
          <a:lstStyle/>
          <a:p>
            <a:pPr algn="l" indent="0" marL="0">
              <a:buNone/>
            </a:pPr>
            <a:r>
              <a:rPr lang="en-US" sz="1100" b="1" spc="400" kern="0" dirty="0">
                <a:solidFill>
                  <a:srgbClr val="E8600A"/>
                </a:solidFill>
                <a:latin typeface="Trebuchet MS" pitchFamily="34" charset="0"/>
                <a:ea typeface="Trebuchet MS" pitchFamily="34" charset="-122"/>
                <a:cs typeface="Trebuchet MS" pitchFamily="34" charset="-120"/>
              </a:rPr>
              <a:t>CFA LM 1 EXAMPLE 1 — WR INTERNATIONAL, IMPERFECT COMPETITION</a:t>
            </a:r>
            <a:endParaRPr lang="en-US" sz="1100" dirty="0"/>
          </a:p>
        </p:txBody>
      </p:sp>
      <p:sp>
        <p:nvSpPr>
          <p:cNvPr id="14" name="Text 12"/>
          <p:cNvSpPr txBox="1"/>
          <p:nvPr/>
        </p:nvSpPr>
        <p:spPr>
          <a:xfrm>
            <a:off x="457200" y="2670048"/>
            <a:ext cx="8229600" cy="457200"/>
          </a:xfrm>
          <a:prstGeom prst="rect">
            <a:avLst/>
          </a:prstGeom>
          <a:noFill/>
          <a:ln/>
        </p:spPr>
        <p:txBody>
          <a:bodyPr wrap="square" lIns="508" tIns="508" rIns="508" bIns="508" rtlCol="0" anchor="t">
            <a:normAutofit/>
            <a:spAutoFit/>
          </a:bodyPr>
          <a:lstStyle/>
          <a:p>
            <a:pPr algn="l" indent="0" marL="0">
              <a:buNone/>
            </a:pPr>
            <a:r>
              <a:rPr lang="en-US" sz="1200" dirty="0">
                <a:solidFill>
                  <a:srgbClr val="334155"/>
                </a:solidFill>
                <a:latin typeface="Calibri" pitchFamily="34" charset="0"/>
                <a:ea typeface="Calibri" pitchFamily="34" charset="-122"/>
                <a:cs typeface="Calibri" pitchFamily="34" charset="-120"/>
              </a:rPr>
              <a:t>Prefab-housing firm facing a downward-sloping demand curve. Quantity Q moves in blocks of 10, price P falls 250 per block. At which Q does the firm break even, where is the profit region, and where is profit maximized?</a:t>
            </a:r>
            <a:endParaRPr lang="en-US" sz="1200" dirty="0"/>
          </a:p>
        </p:txBody>
      </p:sp>
      <p:sp>
        <p:nvSpPr>
          <p:cNvPr id="15" name="Text 13"/>
          <p:cNvSpPr txBox="1"/>
          <p:nvPr/>
        </p:nvSpPr>
        <p:spPr>
          <a:xfrm>
            <a:off x="457200" y="3182112"/>
            <a:ext cx="8229600" cy="603504"/>
          </a:xfrm>
          <a:prstGeom prst="rect">
            <a:avLst/>
          </a:prstGeom>
          <a:noFill/>
          <a:ln/>
        </p:spPr>
        <p:txBody>
          <a:bodyPr wrap="square" lIns="254" tIns="254" rIns="254" bIns="254" rtlCol="0" anchor="t">
            <a:normAutofit/>
            <a:spAutoFit/>
          </a:bodyPr>
          <a:lstStyle/>
          <a:p>
            <a:pPr indent="0" marL="0">
              <a:spcAft>
                <a:spcPts val="200"/>
              </a:spcAft>
              <a:buNone/>
            </a:pPr>
            <a:r>
              <a:rPr lang="en-US" sz="1050" b="1" dirty="0">
                <a:solidFill>
                  <a:srgbClr val="1B2A4A"/>
                </a:solidFill>
                <a:latin typeface="Calibri" pitchFamily="34" charset="0"/>
                <a:ea typeface="Calibri" pitchFamily="34" charset="-122"/>
                <a:cs typeface="Calibri" pitchFamily="34" charset="-120"/>
              </a:rPr>
              <a:t>1. </a:t>
            </a:r>
            <a:pPr indent="0" marL="0">
              <a:spcAft>
                <a:spcPts val="200"/>
              </a:spcAft>
              <a:buNone/>
            </a:pPr>
            <a:r>
              <a:rPr lang="en-US" sz="1050" dirty="0">
                <a:solidFill>
                  <a:srgbClr val="334155"/>
                </a:solidFill>
                <a:latin typeface="Calibri" pitchFamily="34" charset="0"/>
                <a:ea typeface="Calibri" pitchFamily="34" charset="-122"/>
                <a:cs typeface="Calibri" pitchFamily="34" charset="-120"/>
              </a:rPr>
              <a:t>Breakeven (TR = TC): Q = 40 at P = 9,000 → TR = TC = 360,000.
</a:t>
            </a:r>
            <a:pPr indent="0" marL="0">
              <a:spcAft>
                <a:spcPts val="200"/>
              </a:spcAft>
              <a:buNone/>
            </a:pPr>
            <a:r>
              <a:rPr lang="en-US" sz="1050" b="1" dirty="0">
                <a:solidFill>
                  <a:srgbClr val="1B2A4A"/>
                </a:solidFill>
                <a:latin typeface="Calibri" pitchFamily="34" charset="0"/>
                <a:ea typeface="Calibri" pitchFamily="34" charset="-122"/>
                <a:cs typeface="Calibri" pitchFamily="34" charset="-120"/>
              </a:rPr>
              <a:t>2. </a:t>
            </a:r>
            <a:pPr indent="0" marL="0">
              <a:spcAft>
                <a:spcPts val="200"/>
              </a:spcAft>
              <a:buNone/>
            </a:pPr>
            <a:r>
              <a:rPr lang="en-US" sz="1050" dirty="0">
                <a:solidFill>
                  <a:srgbClr val="334155"/>
                </a:solidFill>
                <a:latin typeface="Calibri" pitchFamily="34" charset="0"/>
                <a:ea typeface="Calibri" pitchFamily="34" charset="-122"/>
                <a:cs typeface="Calibri" pitchFamily="34" charset="-120"/>
              </a:rPr>
              <a:t>Region of profitability: 40 &lt; Q &lt; 80. At Q = 80, TR = TC = 640,000 (upper breakeven).
</a:t>
            </a:r>
            <a:pPr indent="0" marL="0">
              <a:spcAft>
                <a:spcPts val="200"/>
              </a:spcAft>
              <a:buNone/>
            </a:pPr>
            <a:r>
              <a:rPr lang="en-US" sz="1050" b="1" dirty="0">
                <a:solidFill>
                  <a:srgbClr val="1B2A4A"/>
                </a:solidFill>
                <a:latin typeface="Calibri" pitchFamily="34" charset="0"/>
                <a:ea typeface="Calibri" pitchFamily="34" charset="-122"/>
                <a:cs typeface="Calibri" pitchFamily="34" charset="-120"/>
              </a:rPr>
              <a:t>3. </a:t>
            </a:r>
            <a:pPr indent="0" marL="0">
              <a:spcAft>
                <a:spcPts val="200"/>
              </a:spcAft>
              <a:buNone/>
            </a:pPr>
            <a:r>
              <a:rPr lang="en-US" sz="1050" dirty="0">
                <a:solidFill>
                  <a:srgbClr val="334155"/>
                </a:solidFill>
                <a:latin typeface="Calibri" pitchFamily="34" charset="0"/>
                <a:ea typeface="Calibri" pitchFamily="34" charset="-122"/>
                <a:cs typeface="Calibri" pitchFamily="34" charset="-120"/>
              </a:rPr>
              <a:t>Profit maximum: Q = 60, P = 8,500 → TR = 510,000, TC = 480,000 → profit = 30,000.
</a:t>
            </a:r>
            <a:pPr indent="0" marL="0">
              <a:spcAft>
                <a:spcPts val="200"/>
              </a:spcAft>
              <a:buNone/>
            </a:pPr>
            <a:r>
              <a:rPr lang="en-US" sz="1050" b="1" dirty="0">
                <a:solidFill>
                  <a:srgbClr val="1B2A4A"/>
                </a:solidFill>
                <a:latin typeface="Calibri" pitchFamily="34" charset="0"/>
                <a:ea typeface="Calibri" pitchFamily="34" charset="-122"/>
                <a:cs typeface="Calibri" pitchFamily="34" charset="-120"/>
              </a:rPr>
              <a:t>4. </a:t>
            </a:r>
            <a:pPr indent="0" marL="0">
              <a:spcAft>
                <a:spcPts val="200"/>
              </a:spcAft>
              <a:buNone/>
            </a:pPr>
            <a:r>
              <a:rPr lang="en-US" sz="1050" dirty="0">
                <a:solidFill>
                  <a:srgbClr val="334155"/>
                </a:solidFill>
                <a:latin typeface="Calibri" pitchFamily="34" charset="0"/>
                <a:ea typeface="Calibri" pitchFamily="34" charset="-122"/>
                <a:cs typeface="Calibri" pitchFamily="34" charset="-120"/>
              </a:rPr>
              <a:t>Anywhere else in the profit region yields less than 30,000 because MR ≠ MC.</a:t>
            </a:r>
            <a:endParaRPr lang="en-US" sz="1050" dirty="0"/>
          </a:p>
        </p:txBody>
      </p:sp>
      <p:sp>
        <p:nvSpPr>
          <p:cNvPr id="16" name="Shape 14"/>
          <p:cNvSpPr/>
          <p:nvPr/>
        </p:nvSpPr>
        <p:spPr>
          <a:xfrm>
            <a:off x="411480" y="3858768"/>
            <a:ext cx="8321040" cy="365760"/>
          </a:xfrm>
          <a:prstGeom prst="rect">
            <a:avLst/>
          </a:prstGeom>
          <a:solidFill>
            <a:srgbClr val="E8600A"/>
          </a:solidFill>
          <a:ln/>
        </p:spPr>
      </p:sp>
      <p:sp>
        <p:nvSpPr>
          <p:cNvPr id="17" name="Text 15"/>
          <p:cNvSpPr txBox="1"/>
          <p:nvPr/>
        </p:nvSpPr>
        <p:spPr>
          <a:xfrm>
            <a:off x="457200" y="3858768"/>
            <a:ext cx="8229600" cy="365760"/>
          </a:xfrm>
          <a:prstGeom prst="rect">
            <a:avLst/>
          </a:prstGeom>
          <a:noFill/>
          <a:ln/>
        </p:spPr>
        <p:txBody>
          <a:bodyPr wrap="square" lIns="508" tIns="508" rIns="508" bIns="508" rtlCol="0" anchor="ctr">
            <a:normAutofit/>
            <a:spAutoFit/>
          </a:bodyPr>
          <a:lstStyle/>
          <a:p>
            <a:pPr algn="l" indent="0" marL="0">
              <a:buNone/>
            </a:pPr>
            <a:r>
              <a:rPr lang="en-US" sz="1150" b="1" dirty="0">
                <a:solidFill>
                  <a:srgbClr val="FFFFFF"/>
                </a:solidFill>
                <a:latin typeface="Consolas" pitchFamily="34" charset="0"/>
                <a:ea typeface="Consolas" pitchFamily="34" charset="-122"/>
                <a:cs typeface="Consolas" pitchFamily="34" charset="-120"/>
              </a:rPr>
              <a:t>Q* = 60, P* = 8,500, max economic profit = 30,000.</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B2A4A"/>
          </a:solidFill>
          <a:ln/>
        </p:spPr>
      </p:sp>
      <p:sp>
        <p:nvSpPr>
          <p:cNvPr id="3" name="Shape 1"/>
          <p:cNvSpPr/>
          <p:nvPr/>
        </p:nvSpPr>
        <p:spPr>
          <a:xfrm>
            <a:off x="0" y="0"/>
            <a:ext cx="109728" cy="621792"/>
          </a:xfrm>
          <a:prstGeom prst="rect">
            <a:avLst/>
          </a:prstGeom>
          <a:solidFill>
            <a:srgbClr val="E8600A"/>
          </a:solidFill>
          <a:ln/>
        </p:spPr>
      </p:sp>
      <p:sp>
        <p:nvSpPr>
          <p:cNvPr id="4" name="Text 2"/>
          <p:cNvSpPr txBox="1"/>
          <p:nvPr/>
        </p:nvSpPr>
        <p:spPr>
          <a:xfrm>
            <a:off x="256032" y="0"/>
            <a:ext cx="8686800" cy="621792"/>
          </a:xfrm>
          <a:prstGeom prst="rect">
            <a:avLst/>
          </a:prstGeom>
          <a:noFill/>
          <a:ln/>
        </p:spPr>
        <p:txBody>
          <a:bodyPr wrap="square" lIns="508" tIns="508" rIns="508" bIns="508" rtlCol="0" anchor="ctr">
            <a:normAutofit/>
            <a:spAutoFit/>
          </a:bodyPr>
          <a:lstStyle/>
          <a:p>
            <a:pPr algn="l" indent="0" marL="0">
              <a:buNone/>
            </a:pPr>
            <a:r>
              <a:rPr lang="en-US" sz="1600" b="1" dirty="0">
                <a:solidFill>
                  <a:srgbClr val="FFFFFF"/>
                </a:solidFill>
                <a:latin typeface="Trebuchet MS" pitchFamily="34" charset="0"/>
                <a:ea typeface="Trebuchet MS" pitchFamily="34" charset="-122"/>
                <a:cs typeface="Trebuchet MS" pitchFamily="34" charset="-120"/>
              </a:rPr>
              <a:t>Breakeven, shutdown, and long-run exit are three distinct thresholds defined by whether price covers total cost, variable cost only, or nothing</a:t>
            </a:r>
            <a:endParaRPr lang="en-US" sz="1600" dirty="0"/>
          </a:p>
        </p:txBody>
      </p:sp>
      <p:sp>
        <p:nvSpPr>
          <p:cNvPr id="5" name="Shape 3"/>
          <p:cNvSpPr/>
          <p:nvPr/>
        </p:nvSpPr>
        <p:spPr>
          <a:xfrm>
            <a:off x="0" y="4892040"/>
            <a:ext cx="9144000" cy="256032"/>
          </a:xfrm>
          <a:prstGeom prst="rect">
            <a:avLst/>
          </a:prstGeom>
          <a:solidFill>
            <a:srgbClr val="E8ECF0"/>
          </a:solidFill>
          <a:ln/>
        </p:spPr>
      </p:sp>
      <p:sp>
        <p:nvSpPr>
          <p:cNvPr id="6" name="Text 4"/>
          <p:cNvSpPr txBox="1"/>
          <p:nvPr/>
        </p:nvSpPr>
        <p:spPr>
          <a:xfrm>
            <a:off x="274320" y="4892040"/>
            <a:ext cx="5943600" cy="256032"/>
          </a:xfrm>
          <a:prstGeom prst="rect">
            <a:avLst/>
          </a:prstGeom>
          <a:noFill/>
          <a:ln/>
        </p:spPr>
        <p:txBody>
          <a:bodyPr wrap="square" lIns="508" tIns="508" rIns="508" bIns="508" rtlCol="0" anchor="ctr">
            <a:normAutofit/>
            <a:spAutoFit/>
          </a:bodyPr>
          <a:lstStyle/>
          <a:p>
            <a:pPr algn="l" indent="0" marL="0">
              <a:buNone/>
            </a:pPr>
            <a:r>
              <a:rPr lang="en-US" sz="750" dirty="0">
                <a:solidFill>
                  <a:srgbClr val="6B7A8D"/>
                </a:solidFill>
                <a:latin typeface="Calibri" pitchFamily="34" charset="0"/>
                <a:ea typeface="Calibri" pitchFamily="34" charset="-122"/>
                <a:cs typeface="Calibri" pitchFamily="34" charset="-120"/>
              </a:rPr>
              <a:t>STUDIO TONTON GUG  ·  Finance Fundamentals</a:t>
            </a:r>
            <a:endParaRPr lang="en-US" sz="750" dirty="0"/>
          </a:p>
        </p:txBody>
      </p:sp>
      <p:sp>
        <p:nvSpPr>
          <p:cNvPr id="7" name="Text 5"/>
          <p:cNvSpPr txBox="1"/>
          <p:nvPr/>
        </p:nvSpPr>
        <p:spPr>
          <a:xfrm>
            <a:off x="320040" y="4471416"/>
            <a:ext cx="8503920" cy="192024"/>
          </a:xfrm>
          <a:prstGeom prst="rect">
            <a:avLst/>
          </a:prstGeom>
          <a:noFill/>
          <a:ln/>
        </p:spPr>
        <p:txBody>
          <a:bodyPr wrap="square" lIns="254" tIns="254" rIns="254" bIns="254" rtlCol="0" anchor="t"/>
          <a:lstStyle/>
          <a:p>
            <a:pPr indent="0" marL="0">
              <a:buNone/>
            </a:pPr>
            <a:r>
              <a:rPr lang="en-US" sz="1000" dirty="0">
                <a:solidFill>
                  <a:srgbClr val="6B7A8D"/>
                </a:solidFill>
                <a:latin typeface="Calibri" pitchFamily="34" charset="0"/>
                <a:ea typeface="Calibri" pitchFamily="34" charset="-122"/>
                <a:cs typeface="Calibri" pitchFamily="34" charset="-120"/>
              </a:rPr>
              <a:t>¹ Sunk fixed costs (non-avoidable) are ignored in the short-run decision — they will be paid whether the firm produces or not.
</a:t>
            </a:r>
            <a:endParaRPr lang="en-US" sz="1000" dirty="0"/>
          </a:p>
        </p:txBody>
      </p:sp>
      <p:sp>
        <p:nvSpPr>
          <p:cNvPr id="8" name="Text 6"/>
          <p:cNvSpPr txBox="1"/>
          <p:nvPr/>
        </p:nvSpPr>
        <p:spPr>
          <a:xfrm>
            <a:off x="320040" y="4663440"/>
            <a:ext cx="8503920" cy="201168"/>
          </a:xfrm>
          <a:prstGeom prst="rect">
            <a:avLst/>
          </a:prstGeom>
          <a:noFill/>
          <a:ln/>
        </p:spPr>
        <p:txBody>
          <a:bodyPr wrap="square" lIns="508" tIns="508" rIns="508" bIns="508" rtlCol="0" anchor="t">
            <a:normAutofit/>
            <a:spAutoFit/>
          </a:bodyPr>
          <a:lstStyle/>
          <a:p>
            <a:pPr algn="l" indent="0" marL="0">
              <a:buNone/>
            </a:pPr>
            <a:r>
              <a:rPr lang="en-US" sz="750" i="1" dirty="0">
                <a:solidFill>
                  <a:srgbClr val="6B7A8D"/>
                </a:solidFill>
                <a:latin typeface="Calibri" pitchFamily="34" charset="0"/>
                <a:ea typeface="Calibri" pitchFamily="34" charset="-122"/>
                <a:cs typeface="Calibri" pitchFamily="34" charset="-120"/>
              </a:rPr>
              <a:t>Source: CFA Institute, Curriculum Vol 2, Learning Module 1, "Breakeven Analysis and Shutdown", pp. 9–13.</a:t>
            </a:r>
            <a:endParaRPr lang="en-US" sz="750" dirty="0"/>
          </a:p>
        </p:txBody>
      </p:sp>
      <p:sp>
        <p:nvSpPr>
          <p:cNvPr id="9" name="Text 7"/>
          <p:cNvSpPr txBox="1"/>
          <p:nvPr/>
        </p:nvSpPr>
        <p:spPr>
          <a:xfrm>
            <a:off x="320040" y="731520"/>
            <a:ext cx="8503920" cy="292608"/>
          </a:xfrm>
          <a:prstGeom prst="rect">
            <a:avLst/>
          </a:prstGeom>
          <a:noFill/>
          <a:ln/>
        </p:spPr>
        <p:txBody>
          <a:bodyPr wrap="square" lIns="508" tIns="508" rIns="508" bIns="508" rtlCol="0" anchor="ctr">
            <a:normAutofit/>
            <a:spAutoFit/>
          </a:bodyPr>
          <a:lstStyle/>
          <a:p>
            <a:pPr algn="l" indent="0" marL="0">
              <a:buNone/>
            </a:pPr>
            <a:r>
              <a:rPr lang="en-US" sz="1300" i="1" dirty="0">
                <a:solidFill>
                  <a:srgbClr val="334155"/>
                </a:solidFill>
                <a:latin typeface="Calibri" pitchFamily="34" charset="0"/>
                <a:ea typeface="Calibri" pitchFamily="34" charset="-122"/>
                <a:cs typeface="Calibri" pitchFamily="34" charset="-120"/>
              </a:rPr>
              <a:t>In the short run, fixed costs are sunk and only variable costs matter. In the long run every cost is variable, so the firm must cover ATC to justify staying.</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20040" y="1188720"/>
          <a:ext cx="8503920" cy="914400"/>
        </p:xfrm>
        <a:graphic>
          <a:graphicData uri="http://schemas.openxmlformats.org/drawingml/2006/table">
            <a:tbl>
              <a:tblPr/>
              <a:tblGrid>
                <a:gridCol w="4206240"/>
                <a:gridCol w="2194560"/>
                <a:gridCol w="2103120"/>
              </a:tblGrid>
              <a:tr h="274320">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Revenue vs cost relationship</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Short-run decision</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Long-run decision</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TR  ≥  TC   (price ≥ ATC)</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Operate — earning ≥ normal profit</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Stay in market</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TR  =  TC   (price = min ATC)</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Break-even point</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Long-run equilibrium of perfect competition</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TVC  ≤  TR  &lt;  TC   (AVC ≤ P &lt; ATC)</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Operate — covers variable + part of fixed cost</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Exit market when contract allows</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TR  =  TVC   (price = min AVC)</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Shut-down point</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Exit market</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TR  &lt;  TVC   (price &lt; AVC)</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Shut down — minimize loss to TFC</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Exit market</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r>
            </a:tbl>
          </a:graphicData>
        </a:graphic>
      </p:graphicFrame>
      <p:sp>
        <p:nvSpPr>
          <p:cNvPr id="11" name="Shape 8"/>
          <p:cNvSpPr/>
          <p:nvPr/>
        </p:nvSpPr>
        <p:spPr>
          <a:xfrm>
            <a:off x="320040" y="3383280"/>
            <a:ext cx="8503920" cy="914400"/>
          </a:xfrm>
          <a:prstGeom prst="rect">
            <a:avLst/>
          </a:prstGeom>
          <a:solidFill>
            <a:srgbClr val="FEF0E7"/>
          </a:solidFill>
          <a:ln/>
        </p:spPr>
      </p:sp>
      <p:sp>
        <p:nvSpPr>
          <p:cNvPr id="12" name="Shape 9"/>
          <p:cNvSpPr/>
          <p:nvPr/>
        </p:nvSpPr>
        <p:spPr>
          <a:xfrm>
            <a:off x="320040" y="3383280"/>
            <a:ext cx="73152" cy="914400"/>
          </a:xfrm>
          <a:prstGeom prst="rect">
            <a:avLst/>
          </a:prstGeom>
          <a:solidFill>
            <a:srgbClr val="E8600A"/>
          </a:solidFill>
          <a:ln/>
        </p:spPr>
      </p:sp>
      <p:sp>
        <p:nvSpPr>
          <p:cNvPr id="13" name="Text 10"/>
          <p:cNvSpPr txBox="1"/>
          <p:nvPr/>
        </p:nvSpPr>
        <p:spPr>
          <a:xfrm>
            <a:off x="457200" y="3429000"/>
            <a:ext cx="8275320" cy="256032"/>
          </a:xfrm>
          <a:prstGeom prst="rect">
            <a:avLst/>
          </a:prstGeom>
          <a:noFill/>
          <a:ln/>
        </p:spPr>
        <p:txBody>
          <a:bodyPr wrap="square" lIns="508" tIns="508" rIns="508" bIns="508" rtlCol="0" anchor="ctr">
            <a:normAutofit/>
            <a:spAutoFit/>
          </a:bodyPr>
          <a:lstStyle/>
          <a:p>
            <a:pPr algn="l" indent="0" marL="0">
              <a:buNone/>
            </a:pPr>
            <a:r>
              <a:rPr lang="en-US" sz="1100" b="1" spc="400" kern="0" dirty="0">
                <a:solidFill>
                  <a:srgbClr val="E8600A"/>
                </a:solidFill>
                <a:latin typeface="Trebuchet MS" pitchFamily="34" charset="0"/>
                <a:ea typeface="Trebuchet MS" pitchFamily="34" charset="-122"/>
                <a:cs typeface="Trebuchet MS" pitchFamily="34" charset="-120"/>
              </a:rPr>
              <a:t>WHY ANALYSTS CHECK BREAKEVEN AND SHUTDOWN</a:t>
            </a:r>
            <a:endParaRPr lang="en-US" sz="1100" dirty="0"/>
          </a:p>
        </p:txBody>
      </p:sp>
      <p:sp>
        <p:nvSpPr>
          <p:cNvPr id="14" name="Text 11"/>
          <p:cNvSpPr txBox="1"/>
          <p:nvPr/>
        </p:nvSpPr>
        <p:spPr>
          <a:xfrm>
            <a:off x="457200" y="3703320"/>
            <a:ext cx="8275320" cy="548640"/>
          </a:xfrm>
          <a:prstGeom prst="rect">
            <a:avLst/>
          </a:prstGeom>
          <a:noFill/>
          <a:ln/>
        </p:spPr>
        <p:txBody>
          <a:bodyPr wrap="square" lIns="508" tIns="508" rIns="508" bIns="508" rtlCol="0" anchor="t">
            <a:normAutofit/>
            <a:spAutoFit/>
          </a:bodyPr>
          <a:lstStyle/>
          <a:p>
            <a:pPr algn="l" indent="0" marL="0">
              <a:buNone/>
            </a:pPr>
            <a:r>
              <a:rPr lang="en-US" sz="1200" dirty="0">
                <a:solidFill>
                  <a:srgbClr val="334155"/>
                </a:solidFill>
                <a:latin typeface="Calibri" pitchFamily="34" charset="0"/>
                <a:ea typeface="Calibri" pitchFamily="34" charset="-122"/>
                <a:cs typeface="Calibri" pitchFamily="34" charset="-120"/>
              </a:rPr>
              <a:t>For start-ups and turnarounds, knowing the unit-volume thresholds at which the firm (a) first stops losing money and (b) would rationally cease operations is more informative than a headline margin number. A firm operating just above its shutdown point is one demand-shock away from exit.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B2A4A"/>
          </a:solidFill>
          <a:ln/>
        </p:spPr>
      </p:sp>
      <p:sp>
        <p:nvSpPr>
          <p:cNvPr id="3" name="Shape 1"/>
          <p:cNvSpPr/>
          <p:nvPr/>
        </p:nvSpPr>
        <p:spPr>
          <a:xfrm>
            <a:off x="0" y="0"/>
            <a:ext cx="109728" cy="621792"/>
          </a:xfrm>
          <a:prstGeom prst="rect">
            <a:avLst/>
          </a:prstGeom>
          <a:solidFill>
            <a:srgbClr val="E8600A"/>
          </a:solidFill>
          <a:ln/>
        </p:spPr>
      </p:sp>
      <p:sp>
        <p:nvSpPr>
          <p:cNvPr id="4" name="Text 2"/>
          <p:cNvSpPr txBox="1"/>
          <p:nvPr/>
        </p:nvSpPr>
        <p:spPr>
          <a:xfrm>
            <a:off x="256032" y="0"/>
            <a:ext cx="8686800" cy="621792"/>
          </a:xfrm>
          <a:prstGeom prst="rect">
            <a:avLst/>
          </a:prstGeom>
          <a:noFill/>
          <a:ln/>
        </p:spPr>
        <p:txBody>
          <a:bodyPr wrap="square" lIns="508" tIns="508" rIns="508" bIns="508" rtlCol="0" anchor="ctr">
            <a:normAutofit/>
            <a:spAutoFit/>
          </a:bodyPr>
          <a:lstStyle/>
          <a:p>
            <a:pPr algn="l" indent="0" marL="0">
              <a:buNone/>
            </a:pPr>
            <a:r>
              <a:rPr lang="en-US" sz="1600" b="1" dirty="0">
                <a:solidFill>
                  <a:srgbClr val="FFFFFF"/>
                </a:solidFill>
                <a:latin typeface="Trebuchet MS" pitchFamily="34" charset="0"/>
                <a:ea typeface="Trebuchet MS" pitchFamily="34" charset="-122"/>
                <a:cs typeface="Trebuchet MS" pitchFamily="34" charset="-120"/>
              </a:rPr>
              <a:t>Economies of scale pull long-run average cost down until minimum efficient scale; diseconomies push it back up — the classic U-shape of LRAC</a:t>
            </a:r>
            <a:endParaRPr lang="en-US" sz="1600" dirty="0"/>
          </a:p>
        </p:txBody>
      </p:sp>
      <p:sp>
        <p:nvSpPr>
          <p:cNvPr id="5" name="Shape 3"/>
          <p:cNvSpPr/>
          <p:nvPr/>
        </p:nvSpPr>
        <p:spPr>
          <a:xfrm>
            <a:off x="0" y="4892040"/>
            <a:ext cx="9144000" cy="256032"/>
          </a:xfrm>
          <a:prstGeom prst="rect">
            <a:avLst/>
          </a:prstGeom>
          <a:solidFill>
            <a:srgbClr val="E8ECF0"/>
          </a:solidFill>
          <a:ln/>
        </p:spPr>
      </p:sp>
      <p:sp>
        <p:nvSpPr>
          <p:cNvPr id="6" name="Text 4"/>
          <p:cNvSpPr txBox="1"/>
          <p:nvPr/>
        </p:nvSpPr>
        <p:spPr>
          <a:xfrm>
            <a:off x="274320" y="4892040"/>
            <a:ext cx="5943600" cy="256032"/>
          </a:xfrm>
          <a:prstGeom prst="rect">
            <a:avLst/>
          </a:prstGeom>
          <a:noFill/>
          <a:ln/>
        </p:spPr>
        <p:txBody>
          <a:bodyPr wrap="square" lIns="508" tIns="508" rIns="508" bIns="508" rtlCol="0" anchor="ctr">
            <a:normAutofit/>
            <a:spAutoFit/>
          </a:bodyPr>
          <a:lstStyle/>
          <a:p>
            <a:pPr algn="l" indent="0" marL="0">
              <a:buNone/>
            </a:pPr>
            <a:r>
              <a:rPr lang="en-US" sz="750" dirty="0">
                <a:solidFill>
                  <a:srgbClr val="6B7A8D"/>
                </a:solidFill>
                <a:latin typeface="Calibri" pitchFamily="34" charset="0"/>
                <a:ea typeface="Calibri" pitchFamily="34" charset="-122"/>
                <a:cs typeface="Calibri" pitchFamily="34" charset="-120"/>
              </a:rPr>
              <a:t>STUDIO TONTON GUG  ·  Finance Fundamentals</a:t>
            </a:r>
            <a:endParaRPr lang="en-US" sz="750" dirty="0"/>
          </a:p>
        </p:txBody>
      </p:sp>
      <p:sp>
        <p:nvSpPr>
          <p:cNvPr id="7" name="Text 5"/>
          <p:cNvSpPr txBox="1"/>
          <p:nvPr/>
        </p:nvSpPr>
        <p:spPr>
          <a:xfrm>
            <a:off x="320040" y="4663440"/>
            <a:ext cx="8503920" cy="201168"/>
          </a:xfrm>
          <a:prstGeom prst="rect">
            <a:avLst/>
          </a:prstGeom>
          <a:noFill/>
          <a:ln/>
        </p:spPr>
        <p:txBody>
          <a:bodyPr wrap="square" lIns="508" tIns="508" rIns="508" bIns="508" rtlCol="0" anchor="t">
            <a:normAutofit/>
            <a:spAutoFit/>
          </a:bodyPr>
          <a:lstStyle/>
          <a:p>
            <a:pPr algn="l" indent="0" marL="0">
              <a:buNone/>
            </a:pPr>
            <a:r>
              <a:rPr lang="en-US" sz="750" i="1" dirty="0">
                <a:solidFill>
                  <a:srgbClr val="6B7A8D"/>
                </a:solidFill>
                <a:latin typeface="Calibri" pitchFamily="34" charset="0"/>
                <a:ea typeface="Calibri" pitchFamily="34" charset="-122"/>
                <a:cs typeface="Calibri" pitchFamily="34" charset="-120"/>
              </a:rPr>
              <a:t>Source: CFA Institute, Curriculum Vol 2, Learning Module 1, "Economies &amp; Diseconomies of Scale", pp. 14–19.</a:t>
            </a:r>
            <a:endParaRPr lang="en-US" sz="750" dirty="0"/>
          </a:p>
        </p:txBody>
      </p:sp>
      <p:sp>
        <p:nvSpPr>
          <p:cNvPr id="8" name="Text 6"/>
          <p:cNvSpPr txBox="1"/>
          <p:nvPr/>
        </p:nvSpPr>
        <p:spPr>
          <a:xfrm>
            <a:off x="320040" y="731520"/>
            <a:ext cx="8503920" cy="292608"/>
          </a:xfrm>
          <a:prstGeom prst="rect">
            <a:avLst/>
          </a:prstGeom>
          <a:noFill/>
          <a:ln/>
        </p:spPr>
        <p:txBody>
          <a:bodyPr wrap="square" lIns="508" tIns="508" rIns="508" bIns="508" rtlCol="0" anchor="ctr">
            <a:normAutofit/>
            <a:spAutoFit/>
          </a:bodyPr>
          <a:lstStyle/>
          <a:p>
            <a:pPr algn="l" indent="0" marL="0">
              <a:buNone/>
            </a:pPr>
            <a:r>
              <a:rPr lang="en-US" sz="1300" i="1" dirty="0">
                <a:solidFill>
                  <a:srgbClr val="334155"/>
                </a:solidFill>
                <a:latin typeface="Calibri" pitchFamily="34" charset="0"/>
                <a:ea typeface="Calibri" pitchFamily="34" charset="-122"/>
                <a:cs typeface="Calibri" pitchFamily="34" charset="-120"/>
              </a:rPr>
              <a:t>LRAC is the envelope of all possible short-run ATC curves. Its minimum defines minimum efficient scale — the smallest plant size at which a firm is long-run competitive.</a:t>
            </a:r>
            <a:endParaRPr lang="en-US" sz="1300" dirty="0"/>
          </a:p>
        </p:txBody>
      </p:sp>
      <p:sp>
        <p:nvSpPr>
          <p:cNvPr id="9" name="Shape 7"/>
          <p:cNvSpPr/>
          <p:nvPr/>
        </p:nvSpPr>
        <p:spPr>
          <a:xfrm>
            <a:off x="320040" y="1188720"/>
            <a:ext cx="4160520" cy="3108960"/>
          </a:xfrm>
          <a:prstGeom prst="rect">
            <a:avLst/>
          </a:prstGeom>
          <a:solidFill>
            <a:srgbClr val="F5F7FA"/>
          </a:solidFill>
          <a:ln/>
        </p:spPr>
      </p:sp>
      <p:sp>
        <p:nvSpPr>
          <p:cNvPr id="10" name="Shape 8"/>
          <p:cNvSpPr/>
          <p:nvPr/>
        </p:nvSpPr>
        <p:spPr>
          <a:xfrm>
            <a:off x="320040" y="1188720"/>
            <a:ext cx="73152" cy="3108960"/>
          </a:xfrm>
          <a:prstGeom prst="rect">
            <a:avLst/>
          </a:prstGeom>
          <a:solidFill>
            <a:srgbClr val="1B2A4A"/>
          </a:solidFill>
          <a:ln/>
        </p:spPr>
      </p:sp>
      <p:sp>
        <p:nvSpPr>
          <p:cNvPr id="11" name="Text 9"/>
          <p:cNvSpPr txBox="1"/>
          <p:nvPr/>
        </p:nvSpPr>
        <p:spPr>
          <a:xfrm>
            <a:off x="457200" y="1280160"/>
            <a:ext cx="3886200" cy="256032"/>
          </a:xfrm>
          <a:prstGeom prst="rect">
            <a:avLst/>
          </a:prstGeom>
          <a:noFill/>
          <a:ln/>
        </p:spPr>
        <p:txBody>
          <a:bodyPr wrap="square" lIns="508" tIns="508" rIns="508" bIns="508" rtlCol="0" anchor="ctr">
            <a:normAutofit/>
            <a:spAutoFit/>
          </a:bodyPr>
          <a:lstStyle/>
          <a:p>
            <a:pPr algn="l" indent="0" marL="0">
              <a:buNone/>
            </a:pPr>
            <a:r>
              <a:rPr lang="en-US" sz="1100" b="1" spc="400" kern="0" dirty="0">
                <a:solidFill>
                  <a:srgbClr val="1B2A4A"/>
                </a:solidFill>
                <a:latin typeface="Trebuchet MS" pitchFamily="34" charset="0"/>
                <a:ea typeface="Trebuchet MS" pitchFamily="34" charset="-122"/>
                <a:cs typeface="Trebuchet MS" pitchFamily="34" charset="-120"/>
              </a:rPr>
              <a:t>DRIVERS OF ECONOMIES OF SCALE</a:t>
            </a:r>
            <a:endParaRPr lang="en-US" sz="1100" dirty="0"/>
          </a:p>
        </p:txBody>
      </p:sp>
      <p:sp>
        <p:nvSpPr>
          <p:cNvPr id="12" name="Text 10"/>
          <p:cNvSpPr txBox="1"/>
          <p:nvPr/>
        </p:nvSpPr>
        <p:spPr>
          <a:xfrm>
            <a:off x="457200" y="1600200"/>
            <a:ext cx="3886200" cy="2606040"/>
          </a:xfrm>
          <a:prstGeom prst="rect">
            <a:avLst/>
          </a:prstGeom>
          <a:noFill/>
          <a:ln/>
        </p:spPr>
        <p:txBody>
          <a:bodyPr wrap="square" lIns="508" tIns="508" rIns="508" bIns="508" rtlCol="0" anchor="t">
            <a:normAutofit/>
            <a:spAutoFit/>
          </a:bodyPr>
          <a:lstStyle/>
          <a:p>
            <a:pPr algn="l" indent="0" marL="0">
              <a:buNone/>
            </a:pPr>
            <a:r>
              <a:rPr lang="en-US" sz="1100" dirty="0">
                <a:solidFill>
                  <a:srgbClr val="334155"/>
                </a:solidFill>
                <a:latin typeface="Calibri" pitchFamily="34" charset="0"/>
                <a:ea typeface="Calibri" pitchFamily="34" charset="-122"/>
                <a:cs typeface="Calibri" pitchFamily="34" charset="-120"/>
              </a:rPr>
              <a:t>• Increasing returns to scale — output rises faster than inputs.</a:t>
            </a:r>
            <a:endParaRPr lang="en-US" sz="1100" dirty="0"/>
          </a:p>
          <a:p>
            <a:pPr algn="l" indent="0" marL="0">
              <a:buNone/>
            </a:pPr>
            <a:endParaRPr lang="en-US" sz="1100" dirty="0"/>
          </a:p>
          <a:p>
            <a:pPr algn="l" indent="0" marL="0">
              <a:buNone/>
            </a:pPr>
            <a:r>
              <a:rPr lang="en-US" sz="1100" dirty="0">
                <a:solidFill>
                  <a:srgbClr val="334155"/>
                </a:solidFill>
                <a:latin typeface="Calibri" pitchFamily="34" charset="0"/>
                <a:ea typeface="Calibri" pitchFamily="34" charset="-122"/>
                <a:cs typeface="Calibri" pitchFamily="34" charset="-120"/>
              </a:rPr>
              <a:t>• Division of labor and specialization — each worker becomes proficient at a narrow task.</a:t>
            </a:r>
            <a:endParaRPr lang="en-US" sz="1100" dirty="0"/>
          </a:p>
          <a:p>
            <a:pPr algn="l" indent="0" marL="0">
              <a:buNone/>
            </a:pPr>
            <a:endParaRPr lang="en-US" sz="1100" dirty="0"/>
          </a:p>
          <a:p>
            <a:pPr algn="l" indent="0" marL="0">
              <a:buNone/>
            </a:pPr>
            <a:r>
              <a:rPr lang="en-US" sz="1100" dirty="0">
                <a:solidFill>
                  <a:srgbClr val="334155"/>
                </a:solidFill>
                <a:latin typeface="Calibri" pitchFamily="34" charset="0"/>
                <a:ea typeface="Calibri" pitchFamily="34" charset="-122"/>
                <a:cs typeface="Calibri" pitchFamily="34" charset="-120"/>
              </a:rPr>
              <a:t>• Spread of fixed costs — high-CAPEX equipment amortized over more units.</a:t>
            </a:r>
            <a:endParaRPr lang="en-US" sz="1100" dirty="0"/>
          </a:p>
          <a:p>
            <a:pPr algn="l" indent="0" marL="0">
              <a:buNone/>
            </a:pPr>
            <a:endParaRPr lang="en-US" sz="1100" dirty="0"/>
          </a:p>
          <a:p>
            <a:pPr algn="l" indent="0" marL="0">
              <a:buNone/>
            </a:pPr>
            <a:r>
              <a:rPr lang="en-US" sz="1100" dirty="0">
                <a:solidFill>
                  <a:srgbClr val="334155"/>
                </a:solidFill>
                <a:latin typeface="Calibri" pitchFamily="34" charset="0"/>
                <a:ea typeface="Calibri" pitchFamily="34" charset="-122"/>
                <a:cs typeface="Calibri" pitchFamily="34" charset="-120"/>
              </a:rPr>
              <a:t>• Bargaining power — bulk discounts on inputs.</a:t>
            </a:r>
            <a:endParaRPr lang="en-US" sz="1100" dirty="0"/>
          </a:p>
          <a:p>
            <a:pPr algn="l" indent="0" marL="0">
              <a:buNone/>
            </a:pPr>
            <a:endParaRPr lang="en-US" sz="1100" dirty="0"/>
          </a:p>
          <a:p>
            <a:pPr algn="l" indent="0" marL="0">
              <a:buNone/>
            </a:pPr>
            <a:r>
              <a:rPr lang="en-US" sz="1100" dirty="0">
                <a:solidFill>
                  <a:srgbClr val="334155"/>
                </a:solidFill>
                <a:latin typeface="Calibri" pitchFamily="34" charset="0"/>
                <a:ea typeface="Calibri" pitchFamily="34" charset="-122"/>
                <a:cs typeface="Calibri" pitchFamily="34" charset="-120"/>
              </a:rPr>
              <a:t>• Efficient technology and learning-curve effects.</a:t>
            </a:r>
            <a:endParaRPr lang="en-US" sz="1100" dirty="0"/>
          </a:p>
        </p:txBody>
      </p:sp>
      <p:sp>
        <p:nvSpPr>
          <p:cNvPr id="13" name="Shape 11"/>
          <p:cNvSpPr/>
          <p:nvPr/>
        </p:nvSpPr>
        <p:spPr>
          <a:xfrm>
            <a:off x="4663440" y="1188720"/>
            <a:ext cx="4160520" cy="3108960"/>
          </a:xfrm>
          <a:prstGeom prst="rect">
            <a:avLst/>
          </a:prstGeom>
          <a:solidFill>
            <a:srgbClr val="FEF0E7"/>
          </a:solidFill>
          <a:ln/>
        </p:spPr>
      </p:sp>
      <p:sp>
        <p:nvSpPr>
          <p:cNvPr id="14" name="Shape 12"/>
          <p:cNvSpPr/>
          <p:nvPr/>
        </p:nvSpPr>
        <p:spPr>
          <a:xfrm>
            <a:off x="4663440" y="1188720"/>
            <a:ext cx="73152" cy="3108960"/>
          </a:xfrm>
          <a:prstGeom prst="rect">
            <a:avLst/>
          </a:prstGeom>
          <a:solidFill>
            <a:srgbClr val="E8600A"/>
          </a:solidFill>
          <a:ln/>
        </p:spPr>
      </p:sp>
      <p:sp>
        <p:nvSpPr>
          <p:cNvPr id="15" name="Text 13"/>
          <p:cNvSpPr txBox="1"/>
          <p:nvPr/>
        </p:nvSpPr>
        <p:spPr>
          <a:xfrm>
            <a:off x="4800600" y="1280160"/>
            <a:ext cx="3886200" cy="256032"/>
          </a:xfrm>
          <a:prstGeom prst="rect">
            <a:avLst/>
          </a:prstGeom>
          <a:noFill/>
          <a:ln/>
        </p:spPr>
        <p:txBody>
          <a:bodyPr wrap="square" lIns="508" tIns="508" rIns="508" bIns="508" rtlCol="0" anchor="ctr">
            <a:normAutofit/>
            <a:spAutoFit/>
          </a:bodyPr>
          <a:lstStyle/>
          <a:p>
            <a:pPr algn="l" indent="0" marL="0">
              <a:buNone/>
            </a:pPr>
            <a:r>
              <a:rPr lang="en-US" sz="1100" b="1" spc="400" kern="0" dirty="0">
                <a:solidFill>
                  <a:srgbClr val="E8600A"/>
                </a:solidFill>
                <a:latin typeface="Trebuchet MS" pitchFamily="34" charset="0"/>
                <a:ea typeface="Trebuchet MS" pitchFamily="34" charset="-122"/>
                <a:cs typeface="Trebuchet MS" pitchFamily="34" charset="-120"/>
              </a:rPr>
              <a:t>DRIVERS OF DISECONOMIES OF SCALE</a:t>
            </a:r>
            <a:endParaRPr lang="en-US" sz="1100" dirty="0"/>
          </a:p>
        </p:txBody>
      </p:sp>
      <p:sp>
        <p:nvSpPr>
          <p:cNvPr id="16" name="Text 14"/>
          <p:cNvSpPr txBox="1"/>
          <p:nvPr/>
        </p:nvSpPr>
        <p:spPr>
          <a:xfrm>
            <a:off x="4800600" y="1600200"/>
            <a:ext cx="3886200" cy="2606040"/>
          </a:xfrm>
          <a:prstGeom prst="rect">
            <a:avLst/>
          </a:prstGeom>
          <a:noFill/>
          <a:ln/>
        </p:spPr>
        <p:txBody>
          <a:bodyPr wrap="square" lIns="508" tIns="508" rIns="508" bIns="508" rtlCol="0" anchor="t">
            <a:normAutofit/>
            <a:spAutoFit/>
          </a:bodyPr>
          <a:lstStyle/>
          <a:p>
            <a:pPr algn="l" indent="0" marL="0">
              <a:buNone/>
            </a:pPr>
            <a:r>
              <a:rPr lang="en-US" sz="1100" dirty="0">
                <a:solidFill>
                  <a:srgbClr val="334155"/>
                </a:solidFill>
                <a:latin typeface="Calibri" pitchFamily="34" charset="0"/>
                <a:ea typeface="Calibri" pitchFamily="34" charset="-122"/>
                <a:cs typeface="Calibri" pitchFamily="34" charset="-120"/>
              </a:rPr>
              <a:t>• Bureaucracy and communication bottlenecks — decisions slow as hierarchy grows.</a:t>
            </a:r>
            <a:endParaRPr lang="en-US" sz="1100" dirty="0"/>
          </a:p>
          <a:p>
            <a:pPr algn="l" indent="0" marL="0">
              <a:buNone/>
            </a:pPr>
            <a:endParaRPr lang="en-US" sz="1100" dirty="0"/>
          </a:p>
          <a:p>
            <a:pPr algn="l" indent="0" marL="0">
              <a:buNone/>
            </a:pPr>
            <a:r>
              <a:rPr lang="en-US" sz="1100" dirty="0">
                <a:solidFill>
                  <a:srgbClr val="334155"/>
                </a:solidFill>
                <a:latin typeface="Calibri" pitchFamily="34" charset="0"/>
                <a:ea typeface="Calibri" pitchFamily="34" charset="-122"/>
                <a:cs typeface="Calibri" pitchFamily="34" charset="-120"/>
              </a:rPr>
              <a:t>• Input-price pressure — bidding up wages, land, scarce talent.</a:t>
            </a:r>
            <a:endParaRPr lang="en-US" sz="1100" dirty="0"/>
          </a:p>
          <a:p>
            <a:pPr algn="l" indent="0" marL="0">
              <a:buNone/>
            </a:pPr>
            <a:endParaRPr lang="en-US" sz="1100" dirty="0"/>
          </a:p>
          <a:p>
            <a:pPr algn="l" indent="0" marL="0">
              <a:buNone/>
            </a:pPr>
            <a:r>
              <a:rPr lang="en-US" sz="1100" dirty="0">
                <a:solidFill>
                  <a:srgbClr val="334155"/>
                </a:solidFill>
                <a:latin typeface="Calibri" pitchFamily="34" charset="0"/>
                <a:ea typeface="Calibri" pitchFamily="34" charset="-122"/>
                <a:cs typeface="Calibri" pitchFamily="34" charset="-120"/>
              </a:rPr>
              <a:t>• Overlap and duplication of business functions across divisions.</a:t>
            </a:r>
            <a:endParaRPr lang="en-US" sz="1100" dirty="0"/>
          </a:p>
          <a:p>
            <a:pPr algn="l" indent="0" marL="0">
              <a:buNone/>
            </a:pPr>
            <a:endParaRPr lang="en-US" sz="1100" dirty="0"/>
          </a:p>
          <a:p>
            <a:pPr algn="l" indent="0" marL="0">
              <a:buNone/>
            </a:pPr>
            <a:r>
              <a:rPr lang="en-US" sz="1100" dirty="0">
                <a:solidFill>
                  <a:srgbClr val="334155"/>
                </a:solidFill>
                <a:latin typeface="Calibri" pitchFamily="34" charset="0"/>
                <a:ea typeface="Calibri" pitchFamily="34" charset="-122"/>
                <a:cs typeface="Calibri" pitchFamily="34" charset="-120"/>
              </a:rPr>
              <a:t>• Monitoring costs rise faster than output.</a:t>
            </a:r>
            <a:endParaRPr lang="en-US" sz="1100" dirty="0"/>
          </a:p>
          <a:p>
            <a:pPr algn="l" indent="0" marL="0">
              <a:buNone/>
            </a:pPr>
            <a:endParaRPr lang="en-US" sz="1100" dirty="0"/>
          </a:p>
          <a:p>
            <a:pPr algn="l" indent="0" marL="0">
              <a:buNone/>
            </a:pPr>
            <a:r>
              <a:rPr lang="en-US" sz="1100" dirty="0">
                <a:solidFill>
                  <a:srgbClr val="334155"/>
                </a:solidFill>
                <a:latin typeface="Calibri" pitchFamily="34" charset="0"/>
                <a:ea typeface="Calibri" pitchFamily="34" charset="-122"/>
                <a:cs typeface="Calibri" pitchFamily="34" charset="-120"/>
              </a:rPr>
              <a:t>• Loss of founder / entrepreneurial culture.</a:t>
            </a:r>
            <a:endParaRPr lang="en-US" sz="1100" dirty="0"/>
          </a:p>
        </p:txBody>
      </p:sp>
      <p:sp>
        <p:nvSpPr>
          <p:cNvPr id="17" name="Shape 15"/>
          <p:cNvSpPr/>
          <p:nvPr/>
        </p:nvSpPr>
        <p:spPr>
          <a:xfrm>
            <a:off x="320040" y="4343400"/>
            <a:ext cx="8503920" cy="365760"/>
          </a:xfrm>
          <a:prstGeom prst="rect">
            <a:avLst/>
          </a:prstGeom>
          <a:solidFill>
            <a:srgbClr val="FEF0E7"/>
          </a:solidFill>
          <a:ln/>
        </p:spPr>
      </p:sp>
      <p:sp>
        <p:nvSpPr>
          <p:cNvPr id="18" name="Shape 16"/>
          <p:cNvSpPr/>
          <p:nvPr/>
        </p:nvSpPr>
        <p:spPr>
          <a:xfrm>
            <a:off x="320040" y="4343400"/>
            <a:ext cx="73152" cy="365760"/>
          </a:xfrm>
          <a:prstGeom prst="rect">
            <a:avLst/>
          </a:prstGeom>
          <a:solidFill>
            <a:srgbClr val="E8600A"/>
          </a:solidFill>
          <a:ln/>
        </p:spPr>
      </p:sp>
      <p:sp>
        <p:nvSpPr>
          <p:cNvPr id="19" name="Text 17"/>
          <p:cNvSpPr txBox="1"/>
          <p:nvPr/>
        </p:nvSpPr>
        <p:spPr>
          <a:xfrm>
            <a:off x="457200" y="4416552"/>
            <a:ext cx="8275320" cy="256032"/>
          </a:xfrm>
          <a:prstGeom prst="rect">
            <a:avLst/>
          </a:prstGeom>
          <a:noFill/>
          <a:ln/>
        </p:spPr>
        <p:txBody>
          <a:bodyPr wrap="square" lIns="508" tIns="508" rIns="508" bIns="508" rtlCol="0" anchor="t">
            <a:normAutofit/>
            <a:spAutoFit/>
          </a:bodyPr>
          <a:lstStyle/>
          <a:p>
            <a:pPr algn="l" indent="0" marL="0">
              <a:buNone/>
            </a:pPr>
            <a:r>
              <a:rPr lang="en-US" sz="1200" dirty="0">
                <a:solidFill>
                  <a:srgbClr val="334155"/>
                </a:solidFill>
                <a:latin typeface="Calibri" pitchFamily="34" charset="0"/>
                <a:ea typeface="Calibri" pitchFamily="34" charset="-122"/>
                <a:cs typeface="Calibri" pitchFamily="34" charset="-120"/>
              </a:rPr>
              <a:t>Minimum efficient scale (MES) = output at which LRAC first reaches its minimum. Below MES a firm is sub-scale; far beyond it, diseconomies take over.</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B2A4A"/>
          </a:solidFill>
          <a:ln/>
        </p:spPr>
      </p:sp>
      <p:sp>
        <p:nvSpPr>
          <p:cNvPr id="3" name="Shape 1"/>
          <p:cNvSpPr/>
          <p:nvPr/>
        </p:nvSpPr>
        <p:spPr>
          <a:xfrm>
            <a:off x="0" y="0"/>
            <a:ext cx="201168" cy="5143500"/>
          </a:xfrm>
          <a:prstGeom prst="rect">
            <a:avLst/>
          </a:prstGeom>
          <a:solidFill>
            <a:srgbClr val="E8600A"/>
          </a:solidFill>
          <a:ln/>
        </p:spPr>
      </p:sp>
      <p:sp>
        <p:nvSpPr>
          <p:cNvPr id="4" name="Text 2"/>
          <p:cNvSpPr txBox="1"/>
          <p:nvPr/>
        </p:nvSpPr>
        <p:spPr>
          <a:xfrm>
            <a:off x="914400" y="1371600"/>
            <a:ext cx="7315200" cy="411480"/>
          </a:xfrm>
          <a:prstGeom prst="rect">
            <a:avLst/>
          </a:prstGeom>
          <a:noFill/>
          <a:ln/>
        </p:spPr>
        <p:txBody>
          <a:bodyPr wrap="square" lIns="508" tIns="508" rIns="508" bIns="508" rtlCol="0" anchor="ctr">
            <a:normAutofit/>
            <a:spAutoFit/>
          </a:bodyPr>
          <a:lstStyle/>
          <a:p>
            <a:pPr algn="l" indent="0" marL="0">
              <a:buNone/>
            </a:pPr>
            <a:r>
              <a:rPr lang="en-US" sz="1200" b="1" spc="600" kern="0" dirty="0">
                <a:solidFill>
                  <a:srgbClr val="FFFFFF"/>
                </a:solidFill>
                <a:latin typeface="Trebuchet MS" pitchFamily="34" charset="0"/>
                <a:ea typeface="Trebuchet MS" pitchFamily="34" charset="-122"/>
                <a:cs typeface="Trebuchet MS" pitchFamily="34" charset="-120"/>
              </a:rPr>
              <a:t>SECTION 03</a:t>
            </a:r>
            <a:endParaRPr lang="en-US" sz="1200" dirty="0"/>
          </a:p>
        </p:txBody>
      </p:sp>
      <p:sp>
        <p:nvSpPr>
          <p:cNvPr id="5" name="Shape 3"/>
          <p:cNvSpPr/>
          <p:nvPr/>
        </p:nvSpPr>
        <p:spPr>
          <a:xfrm>
            <a:off x="914400" y="1920240"/>
            <a:ext cx="2743200" cy="45720"/>
          </a:xfrm>
          <a:prstGeom prst="rect">
            <a:avLst/>
          </a:prstGeom>
          <a:solidFill>
            <a:srgbClr val="FFFFFF"/>
          </a:solidFill>
          <a:ln/>
        </p:spPr>
      </p:sp>
      <p:sp>
        <p:nvSpPr>
          <p:cNvPr id="6" name="Text 4"/>
          <p:cNvSpPr txBox="1"/>
          <p:nvPr/>
        </p:nvSpPr>
        <p:spPr>
          <a:xfrm>
            <a:off x="914400" y="2057400"/>
            <a:ext cx="7315200" cy="1645920"/>
          </a:xfrm>
          <a:prstGeom prst="rect">
            <a:avLst/>
          </a:prstGeom>
          <a:noFill/>
          <a:ln/>
        </p:spPr>
        <p:txBody>
          <a:bodyPr wrap="square" lIns="508" tIns="508" rIns="508" bIns="508" rtlCol="0" anchor="t">
            <a:normAutofit/>
            <a:spAutoFit/>
          </a:bodyPr>
          <a:lstStyle/>
          <a:p>
            <a:pPr algn="l" indent="0" marL="0">
              <a:buNone/>
            </a:pPr>
            <a:r>
              <a:rPr lang="en-US" sz="3200" b="1" dirty="0">
                <a:solidFill>
                  <a:srgbClr val="FFFFFF"/>
                </a:solidFill>
                <a:latin typeface="Trebuchet MS" pitchFamily="34" charset="0"/>
                <a:ea typeface="Trebuchet MS" pitchFamily="34" charset="-122"/>
                <a:cs typeface="Trebuchet MS" pitchFamily="34" charset="-120"/>
              </a:rPr>
              <a:t>Four market</a:t>
            </a:r>
            <a:endParaRPr lang="en-US" sz="3200" dirty="0"/>
          </a:p>
          <a:p>
            <a:pPr algn="l" indent="0" marL="0">
              <a:buNone/>
            </a:pPr>
            <a:r>
              <a:rPr lang="en-US" sz="3200" b="1" dirty="0">
                <a:solidFill>
                  <a:srgbClr val="FFFFFF"/>
                </a:solidFill>
                <a:latin typeface="Trebuchet MS" pitchFamily="34" charset="0"/>
                <a:ea typeface="Trebuchet MS" pitchFamily="34" charset="-122"/>
                <a:cs typeface="Trebuchet MS" pitchFamily="34" charset="-120"/>
              </a:rPr>
              <a:t>structures</a:t>
            </a:r>
            <a:endParaRPr lang="en-US" sz="3200" dirty="0"/>
          </a:p>
        </p:txBody>
      </p:sp>
      <p:sp>
        <p:nvSpPr>
          <p:cNvPr id="7" name="Text 5"/>
          <p:cNvSpPr txBox="1"/>
          <p:nvPr/>
        </p:nvSpPr>
        <p:spPr>
          <a:xfrm>
            <a:off x="914400" y="4640580"/>
            <a:ext cx="7315200" cy="274320"/>
          </a:xfrm>
          <a:prstGeom prst="rect">
            <a:avLst/>
          </a:prstGeom>
          <a:noFill/>
          <a:ln/>
        </p:spPr>
        <p:txBody>
          <a:bodyPr wrap="square" lIns="508" tIns="508" rIns="508" bIns="508" rtlCol="0" anchor="ctr">
            <a:normAutofit/>
            <a:spAutoFit/>
          </a:bodyPr>
          <a:lstStyle/>
          <a:p>
            <a:pPr algn="l" indent="0" marL="0">
              <a:buNone/>
            </a:pPr>
            <a:r>
              <a:rPr lang="en-US" sz="750" i="1" dirty="0">
                <a:solidFill>
                  <a:srgbClr val="E8ECF0"/>
                </a:solidFill>
                <a:latin typeface="Calibri" pitchFamily="34" charset="0"/>
                <a:ea typeface="Calibri" pitchFamily="34" charset="-122"/>
                <a:cs typeface="Calibri" pitchFamily="34" charset="-120"/>
              </a:rPr>
              <a:t>Section 3 of 6  ·  Deck 4 of 20  ·  Studio Tonton Gug</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B2A4A"/>
          </a:solidFill>
          <a:ln/>
        </p:spPr>
      </p:sp>
      <p:sp>
        <p:nvSpPr>
          <p:cNvPr id="3" name="Shape 1"/>
          <p:cNvSpPr/>
          <p:nvPr/>
        </p:nvSpPr>
        <p:spPr>
          <a:xfrm>
            <a:off x="0" y="0"/>
            <a:ext cx="109728" cy="621792"/>
          </a:xfrm>
          <a:prstGeom prst="rect">
            <a:avLst/>
          </a:prstGeom>
          <a:solidFill>
            <a:srgbClr val="E8600A"/>
          </a:solidFill>
          <a:ln/>
        </p:spPr>
      </p:sp>
      <p:sp>
        <p:nvSpPr>
          <p:cNvPr id="4" name="Text 2"/>
          <p:cNvSpPr txBox="1"/>
          <p:nvPr/>
        </p:nvSpPr>
        <p:spPr>
          <a:xfrm>
            <a:off x="256032" y="0"/>
            <a:ext cx="8686800" cy="621792"/>
          </a:xfrm>
          <a:prstGeom prst="rect">
            <a:avLst/>
          </a:prstGeom>
          <a:noFill/>
          <a:ln/>
        </p:spPr>
        <p:txBody>
          <a:bodyPr wrap="square" lIns="508" tIns="508" rIns="508" bIns="508" rtlCol="0" anchor="ctr">
            <a:normAutofit/>
            <a:spAutoFit/>
          </a:bodyPr>
          <a:lstStyle/>
          <a:p>
            <a:pPr algn="l" indent="0" marL="0">
              <a:buNone/>
            </a:pPr>
            <a:r>
              <a:rPr lang="en-US" sz="1600" b="1" dirty="0">
                <a:solidFill>
                  <a:srgbClr val="FFFFFF"/>
                </a:solidFill>
                <a:latin typeface="Trebuchet MS" pitchFamily="34" charset="0"/>
                <a:ea typeface="Trebuchet MS" pitchFamily="34" charset="-122"/>
                <a:cs typeface="Trebuchet MS" pitchFamily="34" charset="-120"/>
              </a:rPr>
              <a:t>The four market structures differ on number of sellers, product differentiation, barriers to entry, and pricing power — one grid summarizes all four</a:t>
            </a:r>
            <a:endParaRPr lang="en-US" sz="1600" dirty="0"/>
          </a:p>
        </p:txBody>
      </p:sp>
      <p:sp>
        <p:nvSpPr>
          <p:cNvPr id="5" name="Shape 3"/>
          <p:cNvSpPr/>
          <p:nvPr/>
        </p:nvSpPr>
        <p:spPr>
          <a:xfrm>
            <a:off x="0" y="4892040"/>
            <a:ext cx="9144000" cy="256032"/>
          </a:xfrm>
          <a:prstGeom prst="rect">
            <a:avLst/>
          </a:prstGeom>
          <a:solidFill>
            <a:srgbClr val="E8ECF0"/>
          </a:solidFill>
          <a:ln/>
        </p:spPr>
      </p:sp>
      <p:sp>
        <p:nvSpPr>
          <p:cNvPr id="6" name="Text 4"/>
          <p:cNvSpPr txBox="1"/>
          <p:nvPr/>
        </p:nvSpPr>
        <p:spPr>
          <a:xfrm>
            <a:off x="274320" y="4892040"/>
            <a:ext cx="5943600" cy="256032"/>
          </a:xfrm>
          <a:prstGeom prst="rect">
            <a:avLst/>
          </a:prstGeom>
          <a:noFill/>
          <a:ln/>
        </p:spPr>
        <p:txBody>
          <a:bodyPr wrap="square" lIns="508" tIns="508" rIns="508" bIns="508" rtlCol="0" anchor="ctr">
            <a:normAutofit/>
            <a:spAutoFit/>
          </a:bodyPr>
          <a:lstStyle/>
          <a:p>
            <a:pPr algn="l" indent="0" marL="0">
              <a:buNone/>
            </a:pPr>
            <a:r>
              <a:rPr lang="en-US" sz="750" dirty="0">
                <a:solidFill>
                  <a:srgbClr val="6B7A8D"/>
                </a:solidFill>
                <a:latin typeface="Calibri" pitchFamily="34" charset="0"/>
                <a:ea typeface="Calibri" pitchFamily="34" charset="-122"/>
                <a:cs typeface="Calibri" pitchFamily="34" charset="-120"/>
              </a:rPr>
              <a:t>STUDIO TONTON GUG  ·  Finance Fundamentals</a:t>
            </a:r>
            <a:endParaRPr lang="en-US" sz="750" dirty="0"/>
          </a:p>
        </p:txBody>
      </p:sp>
      <p:sp>
        <p:nvSpPr>
          <p:cNvPr id="7" name="Text 5"/>
          <p:cNvSpPr txBox="1"/>
          <p:nvPr/>
        </p:nvSpPr>
        <p:spPr>
          <a:xfrm>
            <a:off x="320040" y="4663440"/>
            <a:ext cx="8503920" cy="201168"/>
          </a:xfrm>
          <a:prstGeom prst="rect">
            <a:avLst/>
          </a:prstGeom>
          <a:noFill/>
          <a:ln/>
        </p:spPr>
        <p:txBody>
          <a:bodyPr wrap="square" lIns="508" tIns="508" rIns="508" bIns="508" rtlCol="0" anchor="t">
            <a:normAutofit/>
            <a:spAutoFit/>
          </a:bodyPr>
          <a:lstStyle/>
          <a:p>
            <a:pPr algn="l" indent="0" marL="0">
              <a:buNone/>
            </a:pPr>
            <a:r>
              <a:rPr lang="en-US" sz="750" i="1" dirty="0">
                <a:solidFill>
                  <a:srgbClr val="6B7A8D"/>
                </a:solidFill>
                <a:latin typeface="Calibri" pitchFamily="34" charset="0"/>
                <a:ea typeface="Calibri" pitchFamily="34" charset="-122"/>
                <a:cs typeface="Calibri" pitchFamily="34" charset="-120"/>
              </a:rPr>
              <a:t>Source: CFA Institute, Curriculum Vol 2, Learning Module 1, Exhibit 13, pp. 23–24.</a:t>
            </a:r>
            <a:endParaRPr lang="en-US" sz="750" dirty="0"/>
          </a:p>
        </p:txBody>
      </p:sp>
      <p:sp>
        <p:nvSpPr>
          <p:cNvPr id="8" name="Text 6"/>
          <p:cNvSpPr txBox="1"/>
          <p:nvPr/>
        </p:nvSpPr>
        <p:spPr>
          <a:xfrm>
            <a:off x="320040" y="731520"/>
            <a:ext cx="8503920" cy="292608"/>
          </a:xfrm>
          <a:prstGeom prst="rect">
            <a:avLst/>
          </a:prstGeom>
          <a:noFill/>
          <a:ln/>
        </p:spPr>
        <p:txBody>
          <a:bodyPr wrap="square" lIns="508" tIns="508" rIns="508" bIns="508" rtlCol="0" anchor="ctr">
            <a:normAutofit/>
            <a:spAutoFit/>
          </a:bodyPr>
          <a:lstStyle/>
          <a:p>
            <a:pPr algn="l" indent="0" marL="0">
              <a:buNone/>
            </a:pPr>
            <a:r>
              <a:rPr lang="en-US" sz="1300" i="1" dirty="0">
                <a:solidFill>
                  <a:srgbClr val="334155"/>
                </a:solidFill>
                <a:latin typeface="Calibri" pitchFamily="34" charset="0"/>
                <a:ea typeface="Calibri" pitchFamily="34" charset="-122"/>
                <a:cs typeface="Calibri" pitchFamily="34" charset="-120"/>
              </a:rPr>
              <a:t>Pricing power rises, quantity supplied falls, and consumer welfare falls as you move from perfect competition toward monopoly. Economic profit in the long run is zero on the left and positive on the right.</a:t>
            </a:r>
            <a:endParaRPr lang="en-US" sz="13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20040" y="1188720"/>
          <a:ext cx="8503920" cy="914400"/>
        </p:xfrm>
        <a:graphic>
          <a:graphicData uri="http://schemas.openxmlformats.org/drawingml/2006/table">
            <a:tbl>
              <a:tblPr/>
              <a:tblGrid>
                <a:gridCol w="1874520"/>
                <a:gridCol w="914400"/>
                <a:gridCol w="1920240"/>
                <a:gridCol w="1417320"/>
                <a:gridCol w="1371600"/>
                <a:gridCol w="1005840"/>
              </a:tblGrid>
              <a:tr h="274320">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Structure</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Sellers</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Product</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Barriers to entry</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Pricing power</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Long-run econ. profit</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Perfect competition</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Many</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Homogeneous</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Very low</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None</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34155"/>
                          </a:solidFill>
                          <a:latin typeface="Consolas" pitchFamily="34" charset="0"/>
                          <a:ea typeface="Consolas" pitchFamily="34" charset="-122"/>
                          <a:cs typeface="Consolas" pitchFamily="34" charset="-120"/>
                        </a:rPr>
                        <a:t>0</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Monopolistic competition</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Many</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Differentiated</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Low</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Some</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r" indent="0" marL="0">
                        <a:buNone/>
                      </a:pPr>
                      <a:r>
                        <a:rPr lang="en-US" sz="1100" dirty="0">
                          <a:solidFill>
                            <a:srgbClr val="334155"/>
                          </a:solidFill>
                          <a:latin typeface="Consolas" pitchFamily="34" charset="0"/>
                          <a:ea typeface="Consolas" pitchFamily="34" charset="-122"/>
                          <a:cs typeface="Consolas" pitchFamily="34" charset="-120"/>
                        </a:rPr>
                        <a:t>0</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Oligopoly</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Few</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Homogeneous or diff.</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High</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Some / considerable</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&gt; 0 possible</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Monopoly</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One</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Unique</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Very high</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Considerable</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&gt; 0</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r>
            </a:tbl>
          </a:graphicData>
        </a:graphic>
      </p:graphicFrame>
      <p:sp>
        <p:nvSpPr>
          <p:cNvPr id="10" name="Shape 7"/>
          <p:cNvSpPr/>
          <p:nvPr/>
        </p:nvSpPr>
        <p:spPr>
          <a:xfrm>
            <a:off x="320040" y="2926080"/>
            <a:ext cx="8503920" cy="1371600"/>
          </a:xfrm>
          <a:prstGeom prst="rect">
            <a:avLst/>
          </a:prstGeom>
          <a:solidFill>
            <a:srgbClr val="FEF0E7"/>
          </a:solidFill>
          <a:ln/>
        </p:spPr>
      </p:sp>
      <p:sp>
        <p:nvSpPr>
          <p:cNvPr id="11" name="Shape 8"/>
          <p:cNvSpPr/>
          <p:nvPr/>
        </p:nvSpPr>
        <p:spPr>
          <a:xfrm>
            <a:off x="320040" y="2926080"/>
            <a:ext cx="73152" cy="1371600"/>
          </a:xfrm>
          <a:prstGeom prst="rect">
            <a:avLst/>
          </a:prstGeom>
          <a:solidFill>
            <a:srgbClr val="E8600A"/>
          </a:solidFill>
          <a:ln/>
        </p:spPr>
      </p:sp>
      <p:sp>
        <p:nvSpPr>
          <p:cNvPr id="12" name="Text 9"/>
          <p:cNvSpPr txBox="1"/>
          <p:nvPr/>
        </p:nvSpPr>
        <p:spPr>
          <a:xfrm>
            <a:off x="457200" y="2971800"/>
            <a:ext cx="8275320" cy="256032"/>
          </a:xfrm>
          <a:prstGeom prst="rect">
            <a:avLst/>
          </a:prstGeom>
          <a:noFill/>
          <a:ln/>
        </p:spPr>
        <p:txBody>
          <a:bodyPr wrap="square" lIns="508" tIns="508" rIns="508" bIns="508" rtlCol="0" anchor="ctr">
            <a:normAutofit/>
            <a:spAutoFit/>
          </a:bodyPr>
          <a:lstStyle/>
          <a:p>
            <a:pPr algn="l" indent="0" marL="0">
              <a:buNone/>
            </a:pPr>
            <a:r>
              <a:rPr lang="en-US" sz="1100" b="1" spc="400" kern="0" dirty="0">
                <a:solidFill>
                  <a:srgbClr val="E8600A"/>
                </a:solidFill>
                <a:latin typeface="Trebuchet MS" pitchFamily="34" charset="0"/>
                <a:ea typeface="Trebuchet MS" pitchFamily="34" charset="-122"/>
                <a:cs typeface="Trebuchet MS" pitchFamily="34" charset="-120"/>
              </a:rPr>
              <a:t>PORTER'S FIVE FORCES — THE PRACTITIONER'S OVERLAY</a:t>
            </a:r>
            <a:endParaRPr lang="en-US" sz="1100" dirty="0"/>
          </a:p>
        </p:txBody>
      </p:sp>
      <p:sp>
        <p:nvSpPr>
          <p:cNvPr id="13" name="Text 10"/>
          <p:cNvSpPr txBox="1"/>
          <p:nvPr/>
        </p:nvSpPr>
        <p:spPr>
          <a:xfrm>
            <a:off x="457200" y="3246120"/>
            <a:ext cx="8275320" cy="1005840"/>
          </a:xfrm>
          <a:prstGeom prst="rect">
            <a:avLst/>
          </a:prstGeom>
          <a:noFill/>
          <a:ln/>
        </p:spPr>
        <p:txBody>
          <a:bodyPr wrap="square" lIns="508" tIns="508" rIns="508" bIns="508" rtlCol="0" anchor="t">
            <a:normAutofit/>
            <a:spAutoFit/>
          </a:bodyPr>
          <a:lstStyle/>
          <a:p>
            <a:pPr algn="l" indent="0" marL="0">
              <a:buNone/>
            </a:pPr>
            <a:r>
              <a:rPr lang="en-US" sz="1200" dirty="0">
                <a:solidFill>
                  <a:srgbClr val="334155"/>
                </a:solidFill>
                <a:latin typeface="Calibri" pitchFamily="34" charset="0"/>
                <a:ea typeface="Calibri" pitchFamily="34" charset="-122"/>
                <a:cs typeface="Calibri" pitchFamily="34" charset="-120"/>
              </a:rPr>
              <a:t>Academic theory asks "how many sellers?"; Porter asks five practical questions: threat of entry, power of suppliers, power of buyers, threat of substitutes, and rivalry among incumbents. Four of the five map directly onto the market-structure grid. The fifth — power of suppliers — is the one academic economics under-weights and that practitioners use to identify durable moats ("economic moats").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B2A4A"/>
          </a:solidFill>
          <a:ln/>
        </p:spPr>
      </p:sp>
      <p:sp>
        <p:nvSpPr>
          <p:cNvPr id="3" name="Shape 1"/>
          <p:cNvSpPr/>
          <p:nvPr/>
        </p:nvSpPr>
        <p:spPr>
          <a:xfrm>
            <a:off x="0" y="0"/>
            <a:ext cx="109728" cy="621792"/>
          </a:xfrm>
          <a:prstGeom prst="rect">
            <a:avLst/>
          </a:prstGeom>
          <a:solidFill>
            <a:srgbClr val="E8600A"/>
          </a:solidFill>
          <a:ln/>
        </p:spPr>
      </p:sp>
      <p:sp>
        <p:nvSpPr>
          <p:cNvPr id="4" name="Text 2"/>
          <p:cNvSpPr txBox="1"/>
          <p:nvPr/>
        </p:nvSpPr>
        <p:spPr>
          <a:xfrm>
            <a:off x="256032" y="0"/>
            <a:ext cx="8686800" cy="621792"/>
          </a:xfrm>
          <a:prstGeom prst="rect">
            <a:avLst/>
          </a:prstGeom>
          <a:noFill/>
          <a:ln/>
        </p:spPr>
        <p:txBody>
          <a:bodyPr wrap="square" lIns="508" tIns="508" rIns="508" bIns="508" rtlCol="0" anchor="ctr">
            <a:normAutofit/>
            <a:spAutoFit/>
          </a:bodyPr>
          <a:lstStyle/>
          <a:p>
            <a:pPr algn="l" indent="0" marL="0">
              <a:buNone/>
            </a:pPr>
            <a:r>
              <a:rPr lang="en-US" sz="1600" b="1" dirty="0">
                <a:solidFill>
                  <a:srgbClr val="FFFFFF"/>
                </a:solidFill>
                <a:latin typeface="Trebuchet MS" pitchFamily="34" charset="0"/>
                <a:ea typeface="Trebuchet MS" pitchFamily="34" charset="-122"/>
                <a:cs typeface="Trebuchet MS" pitchFamily="34" charset="-120"/>
              </a:rPr>
              <a:t>In perfect competition price equals marginal cost and economic profit is zero in the long run — the benchmark every other structure is measured against</a:t>
            </a:r>
            <a:endParaRPr lang="en-US" sz="1600" dirty="0"/>
          </a:p>
        </p:txBody>
      </p:sp>
      <p:sp>
        <p:nvSpPr>
          <p:cNvPr id="5" name="Shape 3"/>
          <p:cNvSpPr/>
          <p:nvPr/>
        </p:nvSpPr>
        <p:spPr>
          <a:xfrm>
            <a:off x="0" y="4892040"/>
            <a:ext cx="9144000" cy="256032"/>
          </a:xfrm>
          <a:prstGeom prst="rect">
            <a:avLst/>
          </a:prstGeom>
          <a:solidFill>
            <a:srgbClr val="E8ECF0"/>
          </a:solidFill>
          <a:ln/>
        </p:spPr>
      </p:sp>
      <p:sp>
        <p:nvSpPr>
          <p:cNvPr id="6" name="Text 4"/>
          <p:cNvSpPr txBox="1"/>
          <p:nvPr/>
        </p:nvSpPr>
        <p:spPr>
          <a:xfrm>
            <a:off x="274320" y="4892040"/>
            <a:ext cx="5943600" cy="256032"/>
          </a:xfrm>
          <a:prstGeom prst="rect">
            <a:avLst/>
          </a:prstGeom>
          <a:noFill/>
          <a:ln/>
        </p:spPr>
        <p:txBody>
          <a:bodyPr wrap="square" lIns="508" tIns="508" rIns="508" bIns="508" rtlCol="0" anchor="ctr">
            <a:normAutofit/>
            <a:spAutoFit/>
          </a:bodyPr>
          <a:lstStyle/>
          <a:p>
            <a:pPr algn="l" indent="0" marL="0">
              <a:buNone/>
            </a:pPr>
            <a:r>
              <a:rPr lang="en-US" sz="750" dirty="0">
                <a:solidFill>
                  <a:srgbClr val="6B7A8D"/>
                </a:solidFill>
                <a:latin typeface="Calibri" pitchFamily="34" charset="0"/>
                <a:ea typeface="Calibri" pitchFamily="34" charset="-122"/>
                <a:cs typeface="Calibri" pitchFamily="34" charset="-120"/>
              </a:rPr>
              <a:t>STUDIO TONTON GUG  ·  Finance Fundamentals</a:t>
            </a:r>
            <a:endParaRPr lang="en-US" sz="750" dirty="0"/>
          </a:p>
        </p:txBody>
      </p:sp>
      <p:sp>
        <p:nvSpPr>
          <p:cNvPr id="7" name="Text 5"/>
          <p:cNvSpPr txBox="1"/>
          <p:nvPr/>
        </p:nvSpPr>
        <p:spPr>
          <a:xfrm>
            <a:off x="320040" y="4663440"/>
            <a:ext cx="8503920" cy="201168"/>
          </a:xfrm>
          <a:prstGeom prst="rect">
            <a:avLst/>
          </a:prstGeom>
          <a:noFill/>
          <a:ln/>
        </p:spPr>
        <p:txBody>
          <a:bodyPr wrap="square" lIns="508" tIns="508" rIns="508" bIns="508" rtlCol="0" anchor="t">
            <a:normAutofit/>
            <a:spAutoFit/>
          </a:bodyPr>
          <a:lstStyle/>
          <a:p>
            <a:pPr algn="l" indent="0" marL="0">
              <a:buNone/>
            </a:pPr>
            <a:r>
              <a:rPr lang="en-US" sz="750" i="1" dirty="0">
                <a:solidFill>
                  <a:srgbClr val="6B7A8D"/>
                </a:solidFill>
                <a:latin typeface="Calibri" pitchFamily="34" charset="0"/>
                <a:ea typeface="Calibri" pitchFamily="34" charset="-122"/>
                <a:cs typeface="Calibri" pitchFamily="34" charset="-120"/>
              </a:rPr>
              <a:t>Source: CFA Institute, Curriculum Vol 2, Learning Module 1, Perfect Competition, pp. 7–9.</a:t>
            </a:r>
            <a:endParaRPr lang="en-US" sz="750" dirty="0"/>
          </a:p>
        </p:txBody>
      </p:sp>
      <p:sp>
        <p:nvSpPr>
          <p:cNvPr id="8" name="Text 6"/>
          <p:cNvSpPr txBox="1"/>
          <p:nvPr/>
        </p:nvSpPr>
        <p:spPr>
          <a:xfrm>
            <a:off x="320040" y="731520"/>
            <a:ext cx="8503920" cy="292608"/>
          </a:xfrm>
          <a:prstGeom prst="rect">
            <a:avLst/>
          </a:prstGeom>
          <a:noFill/>
          <a:ln/>
        </p:spPr>
        <p:txBody>
          <a:bodyPr wrap="square" lIns="508" tIns="508" rIns="508" bIns="508" rtlCol="0" anchor="ctr">
            <a:normAutofit/>
            <a:spAutoFit/>
          </a:bodyPr>
          <a:lstStyle/>
          <a:p>
            <a:pPr algn="l" indent="0" marL="0">
              <a:buNone/>
            </a:pPr>
            <a:r>
              <a:rPr lang="en-US" sz="1300" i="1" dirty="0">
                <a:solidFill>
                  <a:srgbClr val="334155"/>
                </a:solidFill>
                <a:latin typeface="Calibri" pitchFamily="34" charset="0"/>
                <a:ea typeface="Calibri" pitchFamily="34" charset="-122"/>
                <a:cs typeface="Calibri" pitchFamily="34" charset="-120"/>
              </a:rPr>
              <a:t>No firm has pricing power, so the demand curve each firm faces is perfectly elastic (horizontal) at the market price — P = MR = AR.</a:t>
            </a:r>
            <a:endParaRPr lang="en-US" sz="1300" dirty="0"/>
          </a:p>
        </p:txBody>
      </p:sp>
      <p:sp>
        <p:nvSpPr>
          <p:cNvPr id="9" name="Shape 7"/>
          <p:cNvSpPr/>
          <p:nvPr/>
        </p:nvSpPr>
        <p:spPr>
          <a:xfrm>
            <a:off x="320040" y="1188720"/>
            <a:ext cx="8503920" cy="658368"/>
          </a:xfrm>
          <a:prstGeom prst="rect">
            <a:avLst/>
          </a:prstGeom>
          <a:solidFill>
            <a:srgbClr val="1B2A4A"/>
          </a:solidFill>
          <a:ln/>
        </p:spPr>
      </p:sp>
      <p:sp>
        <p:nvSpPr>
          <p:cNvPr id="10" name="Text 8"/>
          <p:cNvSpPr txBox="1"/>
          <p:nvPr/>
        </p:nvSpPr>
        <p:spPr>
          <a:xfrm>
            <a:off x="411480" y="1188720"/>
            <a:ext cx="8321040" cy="658368"/>
          </a:xfrm>
          <a:prstGeom prst="rect">
            <a:avLst/>
          </a:prstGeom>
          <a:noFill/>
          <a:ln/>
        </p:spPr>
        <p:txBody>
          <a:bodyPr wrap="square" lIns="508" tIns="508" rIns="508" bIns="508" rtlCol="0" anchor="ctr">
            <a:normAutofit/>
            <a:spAutoFit/>
          </a:bodyPr>
          <a:lstStyle/>
          <a:p>
            <a:pPr algn="ctr" indent="0" marL="0">
              <a:buNone/>
            </a:pPr>
            <a:r>
              <a:rPr lang="en-US" sz="1800" b="1" dirty="0">
                <a:solidFill>
                  <a:srgbClr val="FFFFFF"/>
                </a:solidFill>
                <a:latin typeface="Consolas" pitchFamily="34" charset="0"/>
                <a:ea typeface="Consolas" pitchFamily="34" charset="-122"/>
                <a:cs typeface="Consolas" pitchFamily="34" charset="-120"/>
              </a:rPr>
              <a:t>Short run:   P  =  MR  =  MC       Long run:   P  =  MR  =  MC  =  min(ATC)</a:t>
            </a:r>
            <a:endParaRPr lang="en-US" sz="1800" dirty="0"/>
          </a:p>
        </p:txBody>
      </p:sp>
      <p:sp>
        <p:nvSpPr>
          <p:cNvPr id="11" name="Text 9"/>
          <p:cNvSpPr txBox="1"/>
          <p:nvPr/>
        </p:nvSpPr>
        <p:spPr>
          <a:xfrm>
            <a:off x="320040" y="1874520"/>
            <a:ext cx="8503920" cy="256032"/>
          </a:xfrm>
          <a:prstGeom prst="rect">
            <a:avLst/>
          </a:prstGeom>
          <a:noFill/>
          <a:ln/>
        </p:spPr>
        <p:txBody>
          <a:bodyPr wrap="square" lIns="508" tIns="508" rIns="508" bIns="508" rtlCol="0" anchor="ctr">
            <a:normAutofit/>
            <a:spAutoFit/>
          </a:bodyPr>
          <a:lstStyle/>
          <a:p>
            <a:pPr algn="l" indent="0" marL="0">
              <a:buNone/>
            </a:pPr>
            <a:r>
              <a:rPr lang="en-US" sz="1100" i="1" dirty="0">
                <a:solidFill>
                  <a:srgbClr val="334155"/>
                </a:solidFill>
                <a:latin typeface="Calibri" pitchFamily="34" charset="0"/>
                <a:ea typeface="Calibri" pitchFamily="34" charset="-122"/>
                <a:cs typeface="Calibri" pitchFamily="34" charset="-120"/>
              </a:rPr>
              <a:t>where: Free entry drives long-run price down to minimum ATC, at which point economic profit is zero (firms earn only normal profit).</a:t>
            </a:r>
            <a:endParaRPr lang="en-US" sz="1100" dirty="0"/>
          </a:p>
        </p:txBody>
      </p:sp>
      <p:sp>
        <p:nvSpPr>
          <p:cNvPr id="12" name="Shape 10"/>
          <p:cNvSpPr/>
          <p:nvPr/>
        </p:nvSpPr>
        <p:spPr>
          <a:xfrm>
            <a:off x="320040" y="2331720"/>
            <a:ext cx="2743200" cy="1920240"/>
          </a:xfrm>
          <a:prstGeom prst="rect">
            <a:avLst/>
          </a:prstGeom>
          <a:solidFill>
            <a:srgbClr val="F5F7FA"/>
          </a:solidFill>
          <a:ln/>
        </p:spPr>
      </p:sp>
      <p:sp>
        <p:nvSpPr>
          <p:cNvPr id="13" name="Shape 11"/>
          <p:cNvSpPr/>
          <p:nvPr/>
        </p:nvSpPr>
        <p:spPr>
          <a:xfrm>
            <a:off x="320040" y="2331720"/>
            <a:ext cx="73152" cy="1920240"/>
          </a:xfrm>
          <a:prstGeom prst="rect">
            <a:avLst/>
          </a:prstGeom>
          <a:solidFill>
            <a:srgbClr val="1B2A4A"/>
          </a:solidFill>
          <a:ln/>
        </p:spPr>
      </p:sp>
      <p:sp>
        <p:nvSpPr>
          <p:cNvPr id="14" name="Text 12"/>
          <p:cNvSpPr txBox="1"/>
          <p:nvPr/>
        </p:nvSpPr>
        <p:spPr>
          <a:xfrm>
            <a:off x="457200" y="2377440"/>
            <a:ext cx="2514600" cy="256032"/>
          </a:xfrm>
          <a:prstGeom prst="rect">
            <a:avLst/>
          </a:prstGeom>
          <a:noFill/>
          <a:ln/>
        </p:spPr>
        <p:txBody>
          <a:bodyPr wrap="square" lIns="508" tIns="508" rIns="508" bIns="508" rtlCol="0" anchor="ctr">
            <a:normAutofit/>
            <a:spAutoFit/>
          </a:bodyPr>
          <a:lstStyle/>
          <a:p>
            <a:pPr algn="l" indent="0" marL="0">
              <a:buNone/>
            </a:pPr>
            <a:r>
              <a:rPr lang="en-US" sz="1100" b="1" spc="400" kern="0" dirty="0">
                <a:solidFill>
                  <a:srgbClr val="1B2A4A"/>
                </a:solidFill>
                <a:latin typeface="Trebuchet MS" pitchFamily="34" charset="0"/>
                <a:ea typeface="Trebuchet MS" pitchFamily="34" charset="-122"/>
                <a:cs typeface="Trebuchet MS" pitchFamily="34" charset="-120"/>
              </a:rPr>
              <a:t>INDUSTRY FEATURES</a:t>
            </a:r>
            <a:endParaRPr lang="en-US" sz="1100" dirty="0"/>
          </a:p>
        </p:txBody>
      </p:sp>
      <p:sp>
        <p:nvSpPr>
          <p:cNvPr id="15" name="Text 13"/>
          <p:cNvSpPr txBox="1"/>
          <p:nvPr/>
        </p:nvSpPr>
        <p:spPr>
          <a:xfrm>
            <a:off x="457200" y="2651760"/>
            <a:ext cx="2514600" cy="1554480"/>
          </a:xfrm>
          <a:prstGeom prst="rect">
            <a:avLst/>
          </a:prstGeom>
          <a:noFill/>
          <a:ln/>
        </p:spPr>
        <p:txBody>
          <a:bodyPr wrap="square" lIns="508" tIns="508" rIns="508" bIns="508" rtlCol="0" anchor="t">
            <a:normAutofit/>
            <a:spAutoFit/>
          </a:bodyPr>
          <a:lstStyle/>
          <a:p>
            <a:pPr algn="l" indent="0" marL="0">
              <a:buNone/>
            </a:pPr>
            <a:r>
              <a:rPr lang="en-US" sz="1200" dirty="0">
                <a:solidFill>
                  <a:srgbClr val="334155"/>
                </a:solidFill>
                <a:latin typeface="Calibri" pitchFamily="34" charset="0"/>
                <a:ea typeface="Calibri" pitchFamily="34" charset="-122"/>
                <a:cs typeface="Calibri" pitchFamily="34" charset="-120"/>
              </a:rPr>
              <a:t>• Many small sellers, each a price taker.</a:t>
            </a:r>
            <a:endParaRPr lang="en-US" sz="1200" dirty="0"/>
          </a:p>
          <a:p>
            <a:pPr algn="l" indent="0" marL="0">
              <a:buNone/>
            </a:pPr>
            <a:r>
              <a:rPr lang="en-US" sz="1200" dirty="0">
                <a:solidFill>
                  <a:srgbClr val="334155"/>
                </a:solidFill>
                <a:latin typeface="Calibri" pitchFamily="34" charset="0"/>
                <a:ea typeface="Calibri" pitchFamily="34" charset="-122"/>
                <a:cs typeface="Calibri" pitchFamily="34" charset="-120"/>
              </a:rPr>
              <a:t>• Identical, undifferentiated output.</a:t>
            </a:r>
            <a:endParaRPr lang="en-US" sz="1200" dirty="0"/>
          </a:p>
          <a:p>
            <a:pPr algn="l" indent="0" marL="0">
              <a:buNone/>
            </a:pPr>
            <a:r>
              <a:rPr lang="en-US" sz="1200" dirty="0">
                <a:solidFill>
                  <a:srgbClr val="334155"/>
                </a:solidFill>
                <a:latin typeface="Calibri" pitchFamily="34" charset="0"/>
                <a:ea typeface="Calibri" pitchFamily="34" charset="-122"/>
                <a:cs typeface="Calibri" pitchFamily="34" charset="-120"/>
              </a:rPr>
              <a:t>• Perfect information.</a:t>
            </a:r>
            <a:endParaRPr lang="en-US" sz="1200" dirty="0"/>
          </a:p>
          <a:p>
            <a:pPr algn="l" indent="0" marL="0">
              <a:buNone/>
            </a:pPr>
            <a:r>
              <a:rPr lang="en-US" sz="1200" dirty="0">
                <a:solidFill>
                  <a:srgbClr val="334155"/>
                </a:solidFill>
                <a:latin typeface="Calibri" pitchFamily="34" charset="0"/>
                <a:ea typeface="Calibri" pitchFamily="34" charset="-122"/>
                <a:cs typeface="Calibri" pitchFamily="34" charset="-120"/>
              </a:rPr>
              <a:t>• No entry or exit costs.</a:t>
            </a:r>
            <a:endParaRPr lang="en-US" sz="1200" dirty="0"/>
          </a:p>
        </p:txBody>
      </p:sp>
      <p:sp>
        <p:nvSpPr>
          <p:cNvPr id="16" name="Shape 14"/>
          <p:cNvSpPr/>
          <p:nvPr/>
        </p:nvSpPr>
        <p:spPr>
          <a:xfrm>
            <a:off x="3200400" y="2331720"/>
            <a:ext cx="2743200" cy="1920240"/>
          </a:xfrm>
          <a:prstGeom prst="rect">
            <a:avLst/>
          </a:prstGeom>
          <a:solidFill>
            <a:srgbClr val="FEF0E7"/>
          </a:solidFill>
          <a:ln/>
        </p:spPr>
      </p:sp>
      <p:sp>
        <p:nvSpPr>
          <p:cNvPr id="17" name="Shape 15"/>
          <p:cNvSpPr/>
          <p:nvPr/>
        </p:nvSpPr>
        <p:spPr>
          <a:xfrm>
            <a:off x="3200400" y="2331720"/>
            <a:ext cx="73152" cy="1920240"/>
          </a:xfrm>
          <a:prstGeom prst="rect">
            <a:avLst/>
          </a:prstGeom>
          <a:solidFill>
            <a:srgbClr val="E8600A"/>
          </a:solidFill>
          <a:ln/>
        </p:spPr>
      </p:sp>
      <p:sp>
        <p:nvSpPr>
          <p:cNvPr id="18" name="Text 16"/>
          <p:cNvSpPr txBox="1"/>
          <p:nvPr/>
        </p:nvSpPr>
        <p:spPr>
          <a:xfrm>
            <a:off x="3337560" y="2377440"/>
            <a:ext cx="2514600" cy="256032"/>
          </a:xfrm>
          <a:prstGeom prst="rect">
            <a:avLst/>
          </a:prstGeom>
          <a:noFill/>
          <a:ln/>
        </p:spPr>
        <p:txBody>
          <a:bodyPr wrap="square" lIns="508" tIns="508" rIns="508" bIns="508" rtlCol="0" anchor="ctr">
            <a:normAutofit/>
            <a:spAutoFit/>
          </a:bodyPr>
          <a:lstStyle/>
          <a:p>
            <a:pPr algn="l" indent="0" marL="0">
              <a:buNone/>
            </a:pPr>
            <a:r>
              <a:rPr lang="en-US" sz="1100" b="1" spc="400" kern="0" dirty="0">
                <a:solidFill>
                  <a:srgbClr val="E8600A"/>
                </a:solidFill>
                <a:latin typeface="Trebuchet MS" pitchFamily="34" charset="0"/>
                <a:ea typeface="Trebuchet MS" pitchFamily="34" charset="-122"/>
                <a:cs typeface="Trebuchet MS" pitchFamily="34" charset="-120"/>
              </a:rPr>
              <a:t>SHORT-RUN ECON. PROFIT</a:t>
            </a:r>
            <a:endParaRPr lang="en-US" sz="1100" dirty="0"/>
          </a:p>
        </p:txBody>
      </p:sp>
      <p:sp>
        <p:nvSpPr>
          <p:cNvPr id="19" name="Text 17"/>
          <p:cNvSpPr txBox="1"/>
          <p:nvPr/>
        </p:nvSpPr>
        <p:spPr>
          <a:xfrm>
            <a:off x="3337560" y="2651760"/>
            <a:ext cx="2514600" cy="1554480"/>
          </a:xfrm>
          <a:prstGeom prst="rect">
            <a:avLst/>
          </a:prstGeom>
          <a:noFill/>
          <a:ln/>
        </p:spPr>
        <p:txBody>
          <a:bodyPr wrap="square" lIns="508" tIns="508" rIns="508" bIns="508" rtlCol="0" anchor="t">
            <a:normAutofit/>
            <a:spAutoFit/>
          </a:bodyPr>
          <a:lstStyle/>
          <a:p>
            <a:pPr algn="l" indent="0" marL="0">
              <a:buNone/>
            </a:pPr>
            <a:r>
              <a:rPr lang="en-US" sz="1200" dirty="0">
                <a:solidFill>
                  <a:srgbClr val="334155"/>
                </a:solidFill>
                <a:latin typeface="Calibri" pitchFamily="34" charset="0"/>
                <a:ea typeface="Calibri" pitchFamily="34" charset="-122"/>
                <a:cs typeface="Calibri" pitchFamily="34" charset="-120"/>
              </a:rPr>
              <a:t>Possible if the firm's ATC is below the market price. But the excess attracts entrants, and over time they drive market price down to every firm's min ATC.</a:t>
            </a:r>
            <a:endParaRPr lang="en-US" sz="1200" dirty="0"/>
          </a:p>
        </p:txBody>
      </p:sp>
      <p:sp>
        <p:nvSpPr>
          <p:cNvPr id="20" name="Shape 18"/>
          <p:cNvSpPr/>
          <p:nvPr/>
        </p:nvSpPr>
        <p:spPr>
          <a:xfrm>
            <a:off x="6080760" y="2331720"/>
            <a:ext cx="2743200" cy="1920240"/>
          </a:xfrm>
          <a:prstGeom prst="rect">
            <a:avLst/>
          </a:prstGeom>
          <a:solidFill>
            <a:srgbClr val="F5F7FA"/>
          </a:solidFill>
          <a:ln/>
        </p:spPr>
      </p:sp>
      <p:sp>
        <p:nvSpPr>
          <p:cNvPr id="21" name="Shape 19"/>
          <p:cNvSpPr/>
          <p:nvPr/>
        </p:nvSpPr>
        <p:spPr>
          <a:xfrm>
            <a:off x="6080760" y="2331720"/>
            <a:ext cx="73152" cy="1920240"/>
          </a:xfrm>
          <a:prstGeom prst="rect">
            <a:avLst/>
          </a:prstGeom>
          <a:solidFill>
            <a:srgbClr val="1B2A4A"/>
          </a:solidFill>
          <a:ln/>
        </p:spPr>
      </p:sp>
      <p:sp>
        <p:nvSpPr>
          <p:cNvPr id="22" name="Text 20"/>
          <p:cNvSpPr txBox="1"/>
          <p:nvPr/>
        </p:nvSpPr>
        <p:spPr>
          <a:xfrm>
            <a:off x="6217920" y="2377440"/>
            <a:ext cx="2514600" cy="256032"/>
          </a:xfrm>
          <a:prstGeom prst="rect">
            <a:avLst/>
          </a:prstGeom>
          <a:noFill/>
          <a:ln/>
        </p:spPr>
        <p:txBody>
          <a:bodyPr wrap="square" lIns="508" tIns="508" rIns="508" bIns="508" rtlCol="0" anchor="ctr">
            <a:normAutofit/>
            <a:spAutoFit/>
          </a:bodyPr>
          <a:lstStyle/>
          <a:p>
            <a:pPr algn="l" indent="0" marL="0">
              <a:buNone/>
            </a:pPr>
            <a:r>
              <a:rPr lang="en-US" sz="1100" b="1" spc="400" kern="0" dirty="0">
                <a:solidFill>
                  <a:srgbClr val="1B2A4A"/>
                </a:solidFill>
                <a:latin typeface="Trebuchet MS" pitchFamily="34" charset="0"/>
                <a:ea typeface="Trebuchet MS" pitchFamily="34" charset="-122"/>
                <a:cs typeface="Trebuchet MS" pitchFamily="34" charset="-120"/>
              </a:rPr>
              <a:t>REAL-WORLD PROXIES</a:t>
            </a:r>
            <a:endParaRPr lang="en-US" sz="1100" dirty="0"/>
          </a:p>
        </p:txBody>
      </p:sp>
      <p:sp>
        <p:nvSpPr>
          <p:cNvPr id="23" name="Text 21"/>
          <p:cNvSpPr txBox="1"/>
          <p:nvPr/>
        </p:nvSpPr>
        <p:spPr>
          <a:xfrm>
            <a:off x="6217920" y="2651760"/>
            <a:ext cx="2514600" cy="1554480"/>
          </a:xfrm>
          <a:prstGeom prst="rect">
            <a:avLst/>
          </a:prstGeom>
          <a:noFill/>
          <a:ln/>
        </p:spPr>
        <p:txBody>
          <a:bodyPr wrap="square" lIns="508" tIns="508" rIns="508" bIns="508" rtlCol="0" anchor="t">
            <a:normAutofit/>
            <a:spAutoFit/>
          </a:bodyPr>
          <a:lstStyle/>
          <a:p>
            <a:pPr algn="l" indent="0" marL="0">
              <a:buNone/>
            </a:pPr>
            <a:r>
              <a:rPr lang="en-US" sz="1200" dirty="0">
                <a:solidFill>
                  <a:srgbClr val="334155"/>
                </a:solidFill>
                <a:latin typeface="Calibri" pitchFamily="34" charset="0"/>
                <a:ea typeface="Calibri" pitchFamily="34" charset="-122"/>
                <a:cs typeface="Calibri" pitchFamily="34" charset="-120"/>
              </a:rPr>
              <a:t>Commodity agriculture (corn, wheat), spot FX between major pairs, electronically-traded large-cap equities. Few pure examples — but a useful idealization.</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B2A4A"/>
          </a:solidFill>
          <a:ln/>
        </p:spPr>
      </p:sp>
      <p:sp>
        <p:nvSpPr>
          <p:cNvPr id="3" name="Shape 1"/>
          <p:cNvSpPr/>
          <p:nvPr/>
        </p:nvSpPr>
        <p:spPr>
          <a:xfrm>
            <a:off x="0" y="0"/>
            <a:ext cx="109728" cy="621792"/>
          </a:xfrm>
          <a:prstGeom prst="rect">
            <a:avLst/>
          </a:prstGeom>
          <a:solidFill>
            <a:srgbClr val="E8600A"/>
          </a:solidFill>
          <a:ln/>
        </p:spPr>
      </p:sp>
      <p:sp>
        <p:nvSpPr>
          <p:cNvPr id="4" name="Text 2"/>
          <p:cNvSpPr txBox="1"/>
          <p:nvPr/>
        </p:nvSpPr>
        <p:spPr>
          <a:xfrm>
            <a:off x="256032" y="0"/>
            <a:ext cx="8686800" cy="621792"/>
          </a:xfrm>
          <a:prstGeom prst="rect">
            <a:avLst/>
          </a:prstGeom>
          <a:noFill/>
          <a:ln/>
        </p:spPr>
        <p:txBody>
          <a:bodyPr wrap="square" lIns="508" tIns="508" rIns="508" bIns="508" rtlCol="0" anchor="ctr">
            <a:normAutofit/>
            <a:spAutoFit/>
          </a:bodyPr>
          <a:lstStyle/>
          <a:p>
            <a:pPr algn="l" indent="0" marL="0">
              <a:buNone/>
            </a:pPr>
            <a:r>
              <a:rPr lang="en-US" sz="1600" b="1" dirty="0">
                <a:solidFill>
                  <a:srgbClr val="FFFFFF"/>
                </a:solidFill>
                <a:latin typeface="Trebuchet MS" pitchFamily="34" charset="0"/>
                <a:ea typeface="Trebuchet MS" pitchFamily="34" charset="-122"/>
                <a:cs typeface="Trebuchet MS" pitchFamily="34" charset="-120"/>
              </a:rPr>
              <a:t>Monopolistic competition combines many sellers with product differentiation — firms face downward-sloping demand but still earn zero long-run economic profit</a:t>
            </a:r>
            <a:endParaRPr lang="en-US" sz="1600" dirty="0"/>
          </a:p>
        </p:txBody>
      </p:sp>
      <p:sp>
        <p:nvSpPr>
          <p:cNvPr id="5" name="Shape 3"/>
          <p:cNvSpPr/>
          <p:nvPr/>
        </p:nvSpPr>
        <p:spPr>
          <a:xfrm>
            <a:off x="0" y="4892040"/>
            <a:ext cx="9144000" cy="256032"/>
          </a:xfrm>
          <a:prstGeom prst="rect">
            <a:avLst/>
          </a:prstGeom>
          <a:solidFill>
            <a:srgbClr val="E8ECF0"/>
          </a:solidFill>
          <a:ln/>
        </p:spPr>
      </p:sp>
      <p:sp>
        <p:nvSpPr>
          <p:cNvPr id="6" name="Text 4"/>
          <p:cNvSpPr txBox="1"/>
          <p:nvPr/>
        </p:nvSpPr>
        <p:spPr>
          <a:xfrm>
            <a:off x="274320" y="4892040"/>
            <a:ext cx="5943600" cy="256032"/>
          </a:xfrm>
          <a:prstGeom prst="rect">
            <a:avLst/>
          </a:prstGeom>
          <a:noFill/>
          <a:ln/>
        </p:spPr>
        <p:txBody>
          <a:bodyPr wrap="square" lIns="508" tIns="508" rIns="508" bIns="508" rtlCol="0" anchor="ctr">
            <a:normAutofit/>
            <a:spAutoFit/>
          </a:bodyPr>
          <a:lstStyle/>
          <a:p>
            <a:pPr algn="l" indent="0" marL="0">
              <a:buNone/>
            </a:pPr>
            <a:r>
              <a:rPr lang="en-US" sz="750" dirty="0">
                <a:solidFill>
                  <a:srgbClr val="6B7A8D"/>
                </a:solidFill>
                <a:latin typeface="Calibri" pitchFamily="34" charset="0"/>
                <a:ea typeface="Calibri" pitchFamily="34" charset="-122"/>
                <a:cs typeface="Calibri" pitchFamily="34" charset="-120"/>
              </a:rPr>
              <a:t>STUDIO TONTON GUG  ·  Finance Fundamentals</a:t>
            </a:r>
            <a:endParaRPr lang="en-US" sz="750" dirty="0"/>
          </a:p>
        </p:txBody>
      </p:sp>
      <p:sp>
        <p:nvSpPr>
          <p:cNvPr id="7" name="Text 5"/>
          <p:cNvSpPr txBox="1"/>
          <p:nvPr/>
        </p:nvSpPr>
        <p:spPr>
          <a:xfrm>
            <a:off x="320040" y="4663440"/>
            <a:ext cx="8503920" cy="201168"/>
          </a:xfrm>
          <a:prstGeom prst="rect">
            <a:avLst/>
          </a:prstGeom>
          <a:noFill/>
          <a:ln/>
        </p:spPr>
        <p:txBody>
          <a:bodyPr wrap="square" lIns="508" tIns="508" rIns="508" bIns="508" rtlCol="0" anchor="t">
            <a:normAutofit/>
            <a:spAutoFit/>
          </a:bodyPr>
          <a:lstStyle/>
          <a:p>
            <a:pPr algn="l" indent="0" marL="0">
              <a:buNone/>
            </a:pPr>
            <a:r>
              <a:rPr lang="en-US" sz="750" i="1" dirty="0">
                <a:solidFill>
                  <a:srgbClr val="6B7A8D"/>
                </a:solidFill>
                <a:latin typeface="Calibri" pitchFamily="34" charset="0"/>
                <a:ea typeface="Calibri" pitchFamily="34" charset="-122"/>
                <a:cs typeface="Calibri" pitchFamily="34" charset="-120"/>
              </a:rPr>
              <a:t>Source: CFA Institute, Curriculum Vol 2, Learning Module 1, Monopolistic Competition, pp. 25–28.</a:t>
            </a:r>
            <a:endParaRPr lang="en-US" sz="750" dirty="0"/>
          </a:p>
        </p:txBody>
      </p:sp>
      <p:sp>
        <p:nvSpPr>
          <p:cNvPr id="8" name="Text 6"/>
          <p:cNvSpPr txBox="1"/>
          <p:nvPr/>
        </p:nvSpPr>
        <p:spPr>
          <a:xfrm>
            <a:off x="320040" y="731520"/>
            <a:ext cx="8503920" cy="292608"/>
          </a:xfrm>
          <a:prstGeom prst="rect">
            <a:avLst/>
          </a:prstGeom>
          <a:noFill/>
          <a:ln/>
        </p:spPr>
        <p:txBody>
          <a:bodyPr wrap="square" lIns="508" tIns="508" rIns="508" bIns="508" rtlCol="0" anchor="ctr">
            <a:normAutofit/>
            <a:spAutoFit/>
          </a:bodyPr>
          <a:lstStyle/>
          <a:p>
            <a:pPr algn="l" indent="0" marL="0">
              <a:buNone/>
            </a:pPr>
            <a:r>
              <a:rPr lang="en-US" sz="1300" i="1" dirty="0">
                <a:solidFill>
                  <a:srgbClr val="334155"/>
                </a:solidFill>
                <a:latin typeface="Calibri" pitchFamily="34" charset="0"/>
                <a:ea typeface="Calibri" pitchFamily="34" charset="-122"/>
                <a:cs typeface="Calibri" pitchFamily="34" charset="-120"/>
              </a:rPr>
              <a:t>Differentiation gives short-run pricing power; low barriers to entry eventually erode the margin — the hybrid structure between competition and monopoly.</a:t>
            </a:r>
            <a:endParaRPr lang="en-US" sz="1300" dirty="0"/>
          </a:p>
        </p:txBody>
      </p:sp>
      <p:sp>
        <p:nvSpPr>
          <p:cNvPr id="9" name="Shape 7"/>
          <p:cNvSpPr/>
          <p:nvPr/>
        </p:nvSpPr>
        <p:spPr>
          <a:xfrm>
            <a:off x="320040" y="1188720"/>
            <a:ext cx="8503920" cy="658368"/>
          </a:xfrm>
          <a:prstGeom prst="rect">
            <a:avLst/>
          </a:prstGeom>
          <a:solidFill>
            <a:srgbClr val="1B2A4A"/>
          </a:solidFill>
          <a:ln/>
        </p:spPr>
      </p:sp>
      <p:sp>
        <p:nvSpPr>
          <p:cNvPr id="10" name="Text 8"/>
          <p:cNvSpPr txBox="1"/>
          <p:nvPr/>
        </p:nvSpPr>
        <p:spPr>
          <a:xfrm>
            <a:off x="411480" y="1188720"/>
            <a:ext cx="8321040" cy="658368"/>
          </a:xfrm>
          <a:prstGeom prst="rect">
            <a:avLst/>
          </a:prstGeom>
          <a:noFill/>
          <a:ln/>
        </p:spPr>
        <p:txBody>
          <a:bodyPr wrap="square" lIns="508" tIns="508" rIns="508" bIns="508" rtlCol="0" anchor="ctr">
            <a:normAutofit/>
            <a:spAutoFit/>
          </a:bodyPr>
          <a:lstStyle/>
          <a:p>
            <a:pPr algn="ctr" indent="0" marL="0">
              <a:buNone/>
            </a:pPr>
            <a:r>
              <a:rPr lang="en-US" sz="1800" b="1" dirty="0">
                <a:solidFill>
                  <a:srgbClr val="FFFFFF"/>
                </a:solidFill>
                <a:latin typeface="Consolas" pitchFamily="34" charset="0"/>
                <a:ea typeface="Consolas" pitchFamily="34" charset="-122"/>
                <a:cs typeface="Consolas" pitchFamily="34" charset="-120"/>
              </a:rPr>
              <a:t>Short run:   choose Q so MR = MC, charge P from demand curve   ⇒   profit  =  (P − ATC) × Q</a:t>
            </a:r>
            <a:endParaRPr lang="en-US" sz="1800" dirty="0"/>
          </a:p>
        </p:txBody>
      </p:sp>
      <p:sp>
        <p:nvSpPr>
          <p:cNvPr id="11" name="Text 9"/>
          <p:cNvSpPr txBox="1"/>
          <p:nvPr/>
        </p:nvSpPr>
        <p:spPr>
          <a:xfrm>
            <a:off x="320040" y="1874520"/>
            <a:ext cx="8503920" cy="256032"/>
          </a:xfrm>
          <a:prstGeom prst="rect">
            <a:avLst/>
          </a:prstGeom>
          <a:noFill/>
          <a:ln/>
        </p:spPr>
        <p:txBody>
          <a:bodyPr wrap="square" lIns="508" tIns="508" rIns="508" bIns="508" rtlCol="0" anchor="ctr">
            <a:normAutofit/>
            <a:spAutoFit/>
          </a:bodyPr>
          <a:lstStyle/>
          <a:p>
            <a:pPr algn="l" indent="0" marL="0">
              <a:buNone/>
            </a:pPr>
            <a:r>
              <a:rPr lang="en-US" sz="1100" i="1" dirty="0">
                <a:solidFill>
                  <a:srgbClr val="334155"/>
                </a:solidFill>
                <a:latin typeface="Calibri" pitchFamily="34" charset="0"/>
                <a:ea typeface="Calibri" pitchFamily="34" charset="-122"/>
                <a:cs typeface="Calibri" pitchFamily="34" charset="-120"/>
              </a:rPr>
              <a:t>where: In long-run equilibrium, entry drives demand curve down until it is tangent to ATC — profit = 0 but output still below MES.</a:t>
            </a:r>
            <a:endParaRPr lang="en-US" sz="1100" dirty="0"/>
          </a:p>
        </p:txBody>
      </p:sp>
      <p:sp>
        <p:nvSpPr>
          <p:cNvPr id="12" name="Shape 10"/>
          <p:cNvSpPr/>
          <p:nvPr/>
        </p:nvSpPr>
        <p:spPr>
          <a:xfrm>
            <a:off x="320040" y="2331720"/>
            <a:ext cx="4160520" cy="1920240"/>
          </a:xfrm>
          <a:prstGeom prst="rect">
            <a:avLst/>
          </a:prstGeom>
          <a:solidFill>
            <a:srgbClr val="FEF0E7"/>
          </a:solidFill>
          <a:ln/>
        </p:spPr>
      </p:sp>
      <p:sp>
        <p:nvSpPr>
          <p:cNvPr id="13" name="Shape 11"/>
          <p:cNvSpPr/>
          <p:nvPr/>
        </p:nvSpPr>
        <p:spPr>
          <a:xfrm>
            <a:off x="320040" y="2331720"/>
            <a:ext cx="73152" cy="1920240"/>
          </a:xfrm>
          <a:prstGeom prst="rect">
            <a:avLst/>
          </a:prstGeom>
          <a:solidFill>
            <a:srgbClr val="E8600A"/>
          </a:solidFill>
          <a:ln/>
        </p:spPr>
      </p:sp>
      <p:sp>
        <p:nvSpPr>
          <p:cNvPr id="14" name="Text 12"/>
          <p:cNvSpPr txBox="1"/>
          <p:nvPr/>
        </p:nvSpPr>
        <p:spPr>
          <a:xfrm>
            <a:off x="457200" y="2377440"/>
            <a:ext cx="3931920" cy="256032"/>
          </a:xfrm>
          <a:prstGeom prst="rect">
            <a:avLst/>
          </a:prstGeom>
          <a:noFill/>
          <a:ln/>
        </p:spPr>
        <p:txBody>
          <a:bodyPr wrap="square" lIns="508" tIns="508" rIns="508" bIns="508" rtlCol="0" anchor="ctr">
            <a:normAutofit/>
            <a:spAutoFit/>
          </a:bodyPr>
          <a:lstStyle/>
          <a:p>
            <a:pPr algn="l" indent="0" marL="0">
              <a:buNone/>
            </a:pPr>
            <a:r>
              <a:rPr lang="en-US" sz="1100" b="1" spc="400" kern="0" dirty="0">
                <a:solidFill>
                  <a:srgbClr val="E8600A"/>
                </a:solidFill>
                <a:latin typeface="Trebuchet MS" pitchFamily="34" charset="0"/>
                <a:ea typeface="Trebuchet MS" pitchFamily="34" charset="-122"/>
                <a:cs typeface="Trebuchet MS" pitchFamily="34" charset="-120"/>
              </a:rPr>
              <a:t>WHY IT DOMINATES REAL MARKETS</a:t>
            </a:r>
            <a:endParaRPr lang="en-US" sz="1100" dirty="0"/>
          </a:p>
        </p:txBody>
      </p:sp>
      <p:sp>
        <p:nvSpPr>
          <p:cNvPr id="15" name="Text 13"/>
          <p:cNvSpPr txBox="1"/>
          <p:nvPr/>
        </p:nvSpPr>
        <p:spPr>
          <a:xfrm>
            <a:off x="457200" y="2651760"/>
            <a:ext cx="3931920" cy="1554480"/>
          </a:xfrm>
          <a:prstGeom prst="rect">
            <a:avLst/>
          </a:prstGeom>
          <a:noFill/>
          <a:ln/>
        </p:spPr>
        <p:txBody>
          <a:bodyPr wrap="square" lIns="508" tIns="508" rIns="508" bIns="508" rtlCol="0" anchor="t">
            <a:normAutofit/>
            <a:spAutoFit/>
          </a:bodyPr>
          <a:lstStyle/>
          <a:p>
            <a:pPr algn="l" indent="0" marL="0">
              <a:buNone/>
            </a:pPr>
            <a:r>
              <a:rPr lang="en-US" sz="1200" dirty="0">
                <a:solidFill>
                  <a:srgbClr val="334155"/>
                </a:solidFill>
                <a:latin typeface="Calibri" pitchFamily="34" charset="0"/>
                <a:ea typeface="Calibri" pitchFamily="34" charset="-122"/>
                <a:cs typeface="Calibri" pitchFamily="34" charset="-120"/>
              </a:rPr>
              <a:t>Most consumer markets are monopolistically competitive: soft drinks, cosmetics, apparel, cafés. Differentiation supports margin; variety pays for the slight inefficiency. Schumpeter: differentiation is the profit incentive to innovate.</a:t>
            </a:r>
            <a:endParaRPr lang="en-US" sz="1200" dirty="0"/>
          </a:p>
        </p:txBody>
      </p:sp>
      <p:sp>
        <p:nvSpPr>
          <p:cNvPr id="16" name="Shape 14"/>
          <p:cNvSpPr/>
          <p:nvPr/>
        </p:nvSpPr>
        <p:spPr>
          <a:xfrm>
            <a:off x="4663440" y="2331720"/>
            <a:ext cx="4160520" cy="1920240"/>
          </a:xfrm>
          <a:prstGeom prst="rect">
            <a:avLst/>
          </a:prstGeom>
          <a:solidFill>
            <a:srgbClr val="F5F7FA"/>
          </a:solidFill>
          <a:ln/>
        </p:spPr>
      </p:sp>
      <p:sp>
        <p:nvSpPr>
          <p:cNvPr id="17" name="Shape 15"/>
          <p:cNvSpPr/>
          <p:nvPr/>
        </p:nvSpPr>
        <p:spPr>
          <a:xfrm>
            <a:off x="4663440" y="2331720"/>
            <a:ext cx="73152" cy="1920240"/>
          </a:xfrm>
          <a:prstGeom prst="rect">
            <a:avLst/>
          </a:prstGeom>
          <a:solidFill>
            <a:srgbClr val="1B2A4A"/>
          </a:solidFill>
          <a:ln/>
        </p:spPr>
      </p:sp>
      <p:sp>
        <p:nvSpPr>
          <p:cNvPr id="18" name="Text 16"/>
          <p:cNvSpPr txBox="1"/>
          <p:nvPr/>
        </p:nvSpPr>
        <p:spPr>
          <a:xfrm>
            <a:off x="4800600" y="2377440"/>
            <a:ext cx="3931920" cy="256032"/>
          </a:xfrm>
          <a:prstGeom prst="rect">
            <a:avLst/>
          </a:prstGeom>
          <a:noFill/>
          <a:ln/>
        </p:spPr>
        <p:txBody>
          <a:bodyPr wrap="square" lIns="508" tIns="508" rIns="508" bIns="508" rtlCol="0" anchor="ctr">
            <a:normAutofit/>
            <a:spAutoFit/>
          </a:bodyPr>
          <a:lstStyle/>
          <a:p>
            <a:pPr algn="l" indent="0" marL="0">
              <a:buNone/>
            </a:pPr>
            <a:r>
              <a:rPr lang="en-US" sz="1100" b="1" spc="400" kern="0" dirty="0">
                <a:solidFill>
                  <a:srgbClr val="1B2A4A"/>
                </a:solidFill>
                <a:latin typeface="Trebuchet MS" pitchFamily="34" charset="0"/>
                <a:ea typeface="Trebuchet MS" pitchFamily="34" charset="-122"/>
                <a:cs typeface="Trebuchet MS" pitchFamily="34" charset="-120"/>
              </a:rPr>
              <a:t>THE BRAND MOAT</a:t>
            </a:r>
            <a:endParaRPr lang="en-US" sz="1100" dirty="0"/>
          </a:p>
        </p:txBody>
      </p:sp>
      <p:sp>
        <p:nvSpPr>
          <p:cNvPr id="19" name="Text 17"/>
          <p:cNvSpPr txBox="1"/>
          <p:nvPr/>
        </p:nvSpPr>
        <p:spPr>
          <a:xfrm>
            <a:off x="4800600" y="2651760"/>
            <a:ext cx="3931920" cy="1554480"/>
          </a:xfrm>
          <a:prstGeom prst="rect">
            <a:avLst/>
          </a:prstGeom>
          <a:noFill/>
          <a:ln/>
        </p:spPr>
        <p:txBody>
          <a:bodyPr wrap="square" lIns="508" tIns="508" rIns="508" bIns="508" rtlCol="0" anchor="t">
            <a:normAutofit/>
            <a:spAutoFit/>
          </a:bodyPr>
          <a:lstStyle/>
          <a:p>
            <a:pPr algn="l" indent="0" marL="0">
              <a:buNone/>
            </a:pPr>
            <a:r>
              <a:rPr lang="en-US" sz="1200" dirty="0">
                <a:solidFill>
                  <a:srgbClr val="334155"/>
                </a:solidFill>
                <a:latin typeface="Calibri" pitchFamily="34" charset="0"/>
                <a:ea typeface="Calibri" pitchFamily="34" charset="-122"/>
                <a:cs typeface="Calibri" pitchFamily="34" charset="-120"/>
              </a:rPr>
              <a:t>Successful differentiation — Coca-Cola, Harley-Davidson — makes the firm look more monopoly-like, sustaining margins longer. Analysts should track brand health surveys and advertising ROIs, not just price elasticity.</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B2A4A"/>
          </a:solidFill>
          <a:ln/>
        </p:spPr>
      </p:sp>
      <p:sp>
        <p:nvSpPr>
          <p:cNvPr id="3" name="Shape 1"/>
          <p:cNvSpPr/>
          <p:nvPr/>
        </p:nvSpPr>
        <p:spPr>
          <a:xfrm>
            <a:off x="0" y="0"/>
            <a:ext cx="109728" cy="621792"/>
          </a:xfrm>
          <a:prstGeom prst="rect">
            <a:avLst/>
          </a:prstGeom>
          <a:solidFill>
            <a:srgbClr val="E8600A"/>
          </a:solidFill>
          <a:ln/>
        </p:spPr>
      </p:sp>
      <p:sp>
        <p:nvSpPr>
          <p:cNvPr id="4" name="Text 2"/>
          <p:cNvSpPr txBox="1"/>
          <p:nvPr/>
        </p:nvSpPr>
        <p:spPr>
          <a:xfrm>
            <a:off x="256032" y="0"/>
            <a:ext cx="8686800" cy="621792"/>
          </a:xfrm>
          <a:prstGeom prst="rect">
            <a:avLst/>
          </a:prstGeom>
          <a:noFill/>
          <a:ln/>
        </p:spPr>
        <p:txBody>
          <a:bodyPr wrap="square" lIns="508" tIns="508" rIns="508" bIns="508" rtlCol="0" anchor="ctr">
            <a:normAutofit/>
            <a:spAutoFit/>
          </a:bodyPr>
          <a:lstStyle/>
          <a:p>
            <a:pPr algn="l" indent="0" marL="0">
              <a:buNone/>
            </a:pPr>
            <a:r>
              <a:rPr lang="en-US" sz="1600" b="1" dirty="0">
                <a:solidFill>
                  <a:srgbClr val="FFFFFF"/>
                </a:solidFill>
                <a:latin typeface="Trebuchet MS" pitchFamily="34" charset="0"/>
                <a:ea typeface="Trebuchet MS" pitchFamily="34" charset="-122"/>
                <a:cs typeface="Trebuchet MS" pitchFamily="34" charset="-120"/>
              </a:rPr>
              <a:t>The Cournot duopoly assumes each firm treats its rival's output as fixed — solving the two reaction curves gives a price between competition and monopoly</a:t>
            </a:r>
            <a:endParaRPr lang="en-US" sz="1600" dirty="0"/>
          </a:p>
        </p:txBody>
      </p:sp>
      <p:sp>
        <p:nvSpPr>
          <p:cNvPr id="5" name="Shape 3"/>
          <p:cNvSpPr/>
          <p:nvPr/>
        </p:nvSpPr>
        <p:spPr>
          <a:xfrm>
            <a:off x="0" y="4892040"/>
            <a:ext cx="9144000" cy="256032"/>
          </a:xfrm>
          <a:prstGeom prst="rect">
            <a:avLst/>
          </a:prstGeom>
          <a:solidFill>
            <a:srgbClr val="E8ECF0"/>
          </a:solidFill>
          <a:ln/>
        </p:spPr>
      </p:sp>
      <p:sp>
        <p:nvSpPr>
          <p:cNvPr id="6" name="Text 4"/>
          <p:cNvSpPr txBox="1"/>
          <p:nvPr/>
        </p:nvSpPr>
        <p:spPr>
          <a:xfrm>
            <a:off x="274320" y="4892040"/>
            <a:ext cx="5943600" cy="256032"/>
          </a:xfrm>
          <a:prstGeom prst="rect">
            <a:avLst/>
          </a:prstGeom>
          <a:noFill/>
          <a:ln/>
        </p:spPr>
        <p:txBody>
          <a:bodyPr wrap="square" lIns="508" tIns="508" rIns="508" bIns="508" rtlCol="0" anchor="ctr">
            <a:normAutofit/>
            <a:spAutoFit/>
          </a:bodyPr>
          <a:lstStyle/>
          <a:p>
            <a:pPr algn="l" indent="0" marL="0">
              <a:buNone/>
            </a:pPr>
            <a:r>
              <a:rPr lang="en-US" sz="750" dirty="0">
                <a:solidFill>
                  <a:srgbClr val="6B7A8D"/>
                </a:solidFill>
                <a:latin typeface="Calibri" pitchFamily="34" charset="0"/>
                <a:ea typeface="Calibri" pitchFamily="34" charset="-122"/>
                <a:cs typeface="Calibri" pitchFamily="34" charset="-120"/>
              </a:rPr>
              <a:t>STUDIO TONTON GUG  ·  Finance Fundamentals</a:t>
            </a:r>
            <a:endParaRPr lang="en-US" sz="750" dirty="0"/>
          </a:p>
        </p:txBody>
      </p:sp>
      <p:sp>
        <p:nvSpPr>
          <p:cNvPr id="7" name="Text 5"/>
          <p:cNvSpPr txBox="1"/>
          <p:nvPr/>
        </p:nvSpPr>
        <p:spPr>
          <a:xfrm>
            <a:off x="320040" y="4663440"/>
            <a:ext cx="8503920" cy="201168"/>
          </a:xfrm>
          <a:prstGeom prst="rect">
            <a:avLst/>
          </a:prstGeom>
          <a:noFill/>
          <a:ln/>
        </p:spPr>
        <p:txBody>
          <a:bodyPr wrap="square" lIns="508" tIns="508" rIns="508" bIns="508" rtlCol="0" anchor="t">
            <a:normAutofit/>
            <a:spAutoFit/>
          </a:bodyPr>
          <a:lstStyle/>
          <a:p>
            <a:pPr algn="l" indent="0" marL="0">
              <a:buNone/>
            </a:pPr>
            <a:r>
              <a:rPr lang="en-US" sz="750" i="1" dirty="0">
                <a:solidFill>
                  <a:srgbClr val="6B7A8D"/>
                </a:solidFill>
                <a:latin typeface="Calibri" pitchFamily="34" charset="0"/>
                <a:ea typeface="Calibri" pitchFamily="34" charset="-122"/>
                <a:cs typeface="Calibri" pitchFamily="34" charset="-120"/>
              </a:rPr>
              <a:t>Source: CFA Institute, Curriculum Vol 2, Learning Module 1, "The Cournot Assumption", pp. 32–33.</a:t>
            </a:r>
            <a:endParaRPr lang="en-US" sz="750" dirty="0"/>
          </a:p>
        </p:txBody>
      </p:sp>
      <p:sp>
        <p:nvSpPr>
          <p:cNvPr id="8" name="Text 6"/>
          <p:cNvSpPr txBox="1"/>
          <p:nvPr/>
        </p:nvSpPr>
        <p:spPr>
          <a:xfrm>
            <a:off x="320040" y="731520"/>
            <a:ext cx="8503920" cy="292608"/>
          </a:xfrm>
          <a:prstGeom prst="rect">
            <a:avLst/>
          </a:prstGeom>
          <a:noFill/>
          <a:ln/>
        </p:spPr>
        <p:txBody>
          <a:bodyPr wrap="square" lIns="508" tIns="508" rIns="508" bIns="508" rtlCol="0" anchor="ctr">
            <a:normAutofit/>
            <a:spAutoFit/>
          </a:bodyPr>
          <a:lstStyle/>
          <a:p>
            <a:pPr algn="l" indent="0" marL="0">
              <a:buNone/>
            </a:pPr>
            <a:r>
              <a:rPr lang="en-US" sz="1300" i="1" dirty="0">
                <a:solidFill>
                  <a:srgbClr val="334155"/>
                </a:solidFill>
                <a:latin typeface="Calibri" pitchFamily="34" charset="0"/>
                <a:ea typeface="Calibri" pitchFamily="34" charset="-122"/>
                <a:cs typeface="Calibri" pitchFamily="34" charset="-120"/>
              </a:rPr>
              <a:t>Cournot (1838) predates game theory but gives the same answer as the Nash equilibrium of the output-choice game — each firm best-responds to the rival's quantity.</a:t>
            </a:r>
            <a:endParaRPr lang="en-US" sz="1300" dirty="0"/>
          </a:p>
        </p:txBody>
      </p:sp>
      <p:sp>
        <p:nvSpPr>
          <p:cNvPr id="9" name="Shape 7"/>
          <p:cNvSpPr/>
          <p:nvPr/>
        </p:nvSpPr>
        <p:spPr>
          <a:xfrm>
            <a:off x="320040" y="1188720"/>
            <a:ext cx="8503920" cy="658368"/>
          </a:xfrm>
          <a:prstGeom prst="rect">
            <a:avLst/>
          </a:prstGeom>
          <a:solidFill>
            <a:srgbClr val="1B2A4A"/>
          </a:solidFill>
          <a:ln/>
        </p:spPr>
      </p:sp>
      <p:sp>
        <p:nvSpPr>
          <p:cNvPr id="10" name="Text 8"/>
          <p:cNvSpPr txBox="1"/>
          <p:nvPr/>
        </p:nvSpPr>
        <p:spPr>
          <a:xfrm>
            <a:off x="411480" y="1188720"/>
            <a:ext cx="8321040" cy="658368"/>
          </a:xfrm>
          <a:prstGeom prst="rect">
            <a:avLst/>
          </a:prstGeom>
          <a:noFill/>
          <a:ln/>
        </p:spPr>
        <p:txBody>
          <a:bodyPr wrap="square" lIns="508" tIns="508" rIns="508" bIns="508" rtlCol="0" anchor="ctr">
            <a:normAutofit/>
            <a:spAutoFit/>
          </a:bodyPr>
          <a:lstStyle/>
          <a:p>
            <a:pPr algn="ctr" indent="0" marL="0">
              <a:buNone/>
            </a:pPr>
            <a:r>
              <a:rPr lang="en-US" sz="1800" b="1" dirty="0">
                <a:solidFill>
                  <a:srgbClr val="FFFFFF"/>
                </a:solidFill>
                <a:latin typeface="Consolas" pitchFamily="34" charset="0"/>
                <a:ea typeface="Consolas" pitchFamily="34" charset="-122"/>
                <a:cs typeface="Consolas" pitchFamily="34" charset="-120"/>
              </a:rPr>
              <a:t>Setup:   Q_D  =  450  −  P ,   MC  =  30 ,   Q_D  =  q₁  +  q₂</a:t>
            </a:r>
            <a:endParaRPr lang="en-US" sz="1800" dirty="0"/>
          </a:p>
        </p:txBody>
      </p:sp>
      <p:sp>
        <p:nvSpPr>
          <p:cNvPr id="11" name="Text 9"/>
          <p:cNvSpPr txBox="1"/>
          <p:nvPr/>
        </p:nvSpPr>
        <p:spPr>
          <a:xfrm>
            <a:off x="320040" y="1874520"/>
            <a:ext cx="8503920" cy="256032"/>
          </a:xfrm>
          <a:prstGeom prst="rect">
            <a:avLst/>
          </a:prstGeom>
          <a:noFill/>
          <a:ln/>
        </p:spPr>
        <p:txBody>
          <a:bodyPr wrap="square" lIns="508" tIns="508" rIns="508" bIns="508" rtlCol="0" anchor="ctr">
            <a:normAutofit/>
            <a:spAutoFit/>
          </a:bodyPr>
          <a:lstStyle/>
          <a:p>
            <a:pPr algn="l" indent="0" marL="0">
              <a:buNone/>
            </a:pPr>
            <a:r>
              <a:rPr lang="en-US" sz="1100" i="1" dirty="0">
                <a:solidFill>
                  <a:srgbClr val="334155"/>
                </a:solidFill>
                <a:latin typeface="Calibri" pitchFamily="34" charset="0"/>
                <a:ea typeface="Calibri" pitchFamily="34" charset="-122"/>
                <a:cs typeface="Calibri" pitchFamily="34" charset="-120"/>
              </a:rPr>
              <a:t>where: Each firm maximizes its profit assuming the rival's quantity is fixed. Solve simultaneously.</a:t>
            </a:r>
            <a:endParaRPr lang="en-US" sz="1100" dirty="0"/>
          </a:p>
        </p:txBody>
      </p:sp>
      <p:sp>
        <p:nvSpPr>
          <p:cNvPr id="12" name="Shape 10"/>
          <p:cNvSpPr/>
          <p:nvPr/>
        </p:nvSpPr>
        <p:spPr>
          <a:xfrm>
            <a:off x="320040" y="2331720"/>
            <a:ext cx="8503920" cy="1965960"/>
          </a:xfrm>
          <a:prstGeom prst="rect">
            <a:avLst/>
          </a:prstGeom>
          <a:solidFill>
            <a:srgbClr val="FEF0E7"/>
          </a:solidFill>
          <a:ln w="9525">
            <a:solidFill>
              <a:srgbClr val="E8600A"/>
            </a:solidFill>
            <a:prstDash val="solid"/>
          </a:ln>
        </p:spPr>
      </p:sp>
      <p:sp>
        <p:nvSpPr>
          <p:cNvPr id="13" name="Text 11"/>
          <p:cNvSpPr txBox="1"/>
          <p:nvPr/>
        </p:nvSpPr>
        <p:spPr>
          <a:xfrm>
            <a:off x="457200" y="2377440"/>
            <a:ext cx="8229600" cy="256032"/>
          </a:xfrm>
          <a:prstGeom prst="rect">
            <a:avLst/>
          </a:prstGeom>
          <a:noFill/>
          <a:ln/>
        </p:spPr>
        <p:txBody>
          <a:bodyPr wrap="square" lIns="508" tIns="508" rIns="508" bIns="508" rtlCol="0" anchor="ctr">
            <a:normAutofit/>
            <a:spAutoFit/>
          </a:bodyPr>
          <a:lstStyle/>
          <a:p>
            <a:pPr algn="l" indent="0" marL="0">
              <a:buNone/>
            </a:pPr>
            <a:r>
              <a:rPr lang="en-US" sz="1100" b="1" spc="400" kern="0" dirty="0">
                <a:solidFill>
                  <a:srgbClr val="E8600A"/>
                </a:solidFill>
                <a:latin typeface="Trebuchet MS" pitchFamily="34" charset="0"/>
                <a:ea typeface="Trebuchet MS" pitchFamily="34" charset="-122"/>
                <a:cs typeface="Trebuchet MS" pitchFamily="34" charset="-120"/>
              </a:rPr>
              <a:t>CFA LM 1 — DUOPOLY WITH LINEAR DEMAND</a:t>
            </a:r>
            <a:endParaRPr lang="en-US" sz="1100" dirty="0"/>
          </a:p>
        </p:txBody>
      </p:sp>
      <p:sp>
        <p:nvSpPr>
          <p:cNvPr id="14" name="Text 12"/>
          <p:cNvSpPr txBox="1"/>
          <p:nvPr/>
        </p:nvSpPr>
        <p:spPr>
          <a:xfrm>
            <a:off x="457200" y="2670048"/>
            <a:ext cx="8229600" cy="457200"/>
          </a:xfrm>
          <a:prstGeom prst="rect">
            <a:avLst/>
          </a:prstGeom>
          <a:noFill/>
          <a:ln/>
        </p:spPr>
        <p:txBody>
          <a:bodyPr wrap="square" lIns="508" tIns="508" rIns="508" bIns="508" rtlCol="0" anchor="t">
            <a:normAutofit/>
            <a:spAutoFit/>
          </a:bodyPr>
          <a:lstStyle/>
          <a:p>
            <a:pPr algn="l" indent="0" marL="0">
              <a:buNone/>
            </a:pPr>
            <a:r>
              <a:rPr lang="en-US" sz="1200" dirty="0">
                <a:solidFill>
                  <a:srgbClr val="334155"/>
                </a:solidFill>
                <a:latin typeface="Calibri" pitchFamily="34" charset="0"/>
                <a:ea typeface="Calibri" pitchFamily="34" charset="-122"/>
                <a:cs typeface="Calibri" pitchFamily="34" charset="-120"/>
              </a:rPr>
              <a:t>Two firms choose quantities q₁ and q₂. P = 450 − (q₁+q₂). Each sets MR = MC = 30 taking the other's q as given.</a:t>
            </a:r>
            <a:endParaRPr lang="en-US" sz="1200" dirty="0"/>
          </a:p>
        </p:txBody>
      </p:sp>
      <p:sp>
        <p:nvSpPr>
          <p:cNvPr id="15" name="Text 13"/>
          <p:cNvSpPr txBox="1"/>
          <p:nvPr/>
        </p:nvSpPr>
        <p:spPr>
          <a:xfrm>
            <a:off x="457200" y="3182112"/>
            <a:ext cx="8229600" cy="603504"/>
          </a:xfrm>
          <a:prstGeom prst="rect">
            <a:avLst/>
          </a:prstGeom>
          <a:noFill/>
          <a:ln/>
        </p:spPr>
        <p:txBody>
          <a:bodyPr wrap="square" lIns="254" tIns="254" rIns="254" bIns="254" rtlCol="0" anchor="t">
            <a:normAutofit/>
            <a:spAutoFit/>
          </a:bodyPr>
          <a:lstStyle/>
          <a:p>
            <a:pPr indent="0" marL="0">
              <a:spcAft>
                <a:spcPts val="200"/>
              </a:spcAft>
              <a:buNone/>
            </a:pPr>
            <a:r>
              <a:rPr lang="en-US" sz="1050" b="1" dirty="0">
                <a:solidFill>
                  <a:srgbClr val="1B2A4A"/>
                </a:solidFill>
                <a:latin typeface="Calibri" pitchFamily="34" charset="0"/>
                <a:ea typeface="Calibri" pitchFamily="34" charset="-122"/>
                <a:cs typeface="Calibri" pitchFamily="34" charset="-120"/>
              </a:rPr>
              <a:t>1. </a:t>
            </a:r>
            <a:pPr indent="0" marL="0">
              <a:spcAft>
                <a:spcPts val="200"/>
              </a:spcAft>
              <a:buNone/>
            </a:pPr>
            <a:r>
              <a:rPr lang="en-US" sz="1050" dirty="0">
                <a:solidFill>
                  <a:srgbClr val="334155"/>
                </a:solidFill>
                <a:latin typeface="Calibri" pitchFamily="34" charset="0"/>
                <a:ea typeface="Calibri" pitchFamily="34" charset="-122"/>
                <a:cs typeface="Calibri" pitchFamily="34" charset="-120"/>
              </a:rPr>
              <a:t>Firm 1: TR₁ = (450 − q₁ − q₂)·q₁ → MR₁ = 450 − 2q₁ − q₂ = 30.
</a:t>
            </a:r>
            <a:pPr indent="0" marL="0">
              <a:spcAft>
                <a:spcPts val="200"/>
              </a:spcAft>
              <a:buNone/>
            </a:pPr>
            <a:r>
              <a:rPr lang="en-US" sz="1050" b="1" dirty="0">
                <a:solidFill>
                  <a:srgbClr val="1B2A4A"/>
                </a:solidFill>
                <a:latin typeface="Calibri" pitchFamily="34" charset="0"/>
                <a:ea typeface="Calibri" pitchFamily="34" charset="-122"/>
                <a:cs typeface="Calibri" pitchFamily="34" charset="-120"/>
              </a:rPr>
              <a:t>2. </a:t>
            </a:r>
            <a:pPr indent="0" marL="0">
              <a:spcAft>
                <a:spcPts val="200"/>
              </a:spcAft>
              <a:buNone/>
            </a:pPr>
            <a:r>
              <a:rPr lang="en-US" sz="1050" dirty="0">
                <a:solidFill>
                  <a:srgbClr val="334155"/>
                </a:solidFill>
                <a:latin typeface="Calibri" pitchFamily="34" charset="0"/>
                <a:ea typeface="Calibri" pitchFamily="34" charset="-122"/>
                <a:cs typeface="Calibri" pitchFamily="34" charset="-120"/>
              </a:rPr>
              <a:t>By symmetry: 450 − q₁ − 2q₂ = 30. Solve the system: q₁ = q₂ = 140, Q = 280.
</a:t>
            </a:r>
            <a:pPr indent="0" marL="0">
              <a:spcAft>
                <a:spcPts val="200"/>
              </a:spcAft>
              <a:buNone/>
            </a:pPr>
            <a:r>
              <a:rPr lang="en-US" sz="1050" b="1" dirty="0">
                <a:solidFill>
                  <a:srgbClr val="1B2A4A"/>
                </a:solidFill>
                <a:latin typeface="Calibri" pitchFamily="34" charset="0"/>
                <a:ea typeface="Calibri" pitchFamily="34" charset="-122"/>
                <a:cs typeface="Calibri" pitchFamily="34" charset="-120"/>
              </a:rPr>
              <a:t>3. </a:t>
            </a:r>
            <a:pPr indent="0" marL="0">
              <a:spcAft>
                <a:spcPts val="200"/>
              </a:spcAft>
              <a:buNone/>
            </a:pPr>
            <a:r>
              <a:rPr lang="en-US" sz="1050" dirty="0">
                <a:solidFill>
                  <a:srgbClr val="334155"/>
                </a:solidFill>
                <a:latin typeface="Calibri" pitchFamily="34" charset="0"/>
                <a:ea typeface="Calibri" pitchFamily="34" charset="-122"/>
                <a:cs typeface="Calibri" pitchFamily="34" charset="-120"/>
              </a:rPr>
              <a:t>Price: P_Cournot = 450 − 280 = 170.
</a:t>
            </a:r>
            <a:pPr indent="0" marL="0">
              <a:spcAft>
                <a:spcPts val="200"/>
              </a:spcAft>
              <a:buNone/>
            </a:pPr>
            <a:r>
              <a:rPr lang="en-US" sz="1050" b="1" dirty="0">
                <a:solidFill>
                  <a:srgbClr val="1B2A4A"/>
                </a:solidFill>
                <a:latin typeface="Calibri" pitchFamily="34" charset="0"/>
                <a:ea typeface="Calibri" pitchFamily="34" charset="-122"/>
                <a:cs typeface="Calibri" pitchFamily="34" charset="-120"/>
              </a:rPr>
              <a:t>4. </a:t>
            </a:r>
            <a:pPr indent="0" marL="0">
              <a:spcAft>
                <a:spcPts val="200"/>
              </a:spcAft>
              <a:buNone/>
            </a:pPr>
            <a:r>
              <a:rPr lang="en-US" sz="1050" dirty="0">
                <a:solidFill>
                  <a:srgbClr val="334155"/>
                </a:solidFill>
                <a:latin typeface="Calibri" pitchFamily="34" charset="0"/>
                <a:ea typeface="Calibri" pitchFamily="34" charset="-122"/>
                <a:cs typeface="Calibri" pitchFamily="34" charset="-120"/>
              </a:rPr>
              <a:t>Benchmarks: perfect competition (P = MC) → Q = 420, P = 30. Monopoly (MR = MC on market demand) → Q = 210, P = 240.</a:t>
            </a:r>
            <a:endParaRPr lang="en-US" sz="1050" dirty="0"/>
          </a:p>
        </p:txBody>
      </p:sp>
      <p:sp>
        <p:nvSpPr>
          <p:cNvPr id="16" name="Shape 14"/>
          <p:cNvSpPr/>
          <p:nvPr/>
        </p:nvSpPr>
        <p:spPr>
          <a:xfrm>
            <a:off x="411480" y="3858768"/>
            <a:ext cx="8321040" cy="365760"/>
          </a:xfrm>
          <a:prstGeom prst="rect">
            <a:avLst/>
          </a:prstGeom>
          <a:solidFill>
            <a:srgbClr val="E8600A"/>
          </a:solidFill>
          <a:ln/>
        </p:spPr>
      </p:sp>
      <p:sp>
        <p:nvSpPr>
          <p:cNvPr id="17" name="Text 15"/>
          <p:cNvSpPr txBox="1"/>
          <p:nvPr/>
        </p:nvSpPr>
        <p:spPr>
          <a:xfrm>
            <a:off x="457200" y="3858768"/>
            <a:ext cx="8229600" cy="365760"/>
          </a:xfrm>
          <a:prstGeom prst="rect">
            <a:avLst/>
          </a:prstGeom>
          <a:noFill/>
          <a:ln/>
        </p:spPr>
        <p:txBody>
          <a:bodyPr wrap="square" lIns="508" tIns="508" rIns="508" bIns="508" rtlCol="0" anchor="ctr">
            <a:normAutofit/>
            <a:spAutoFit/>
          </a:bodyPr>
          <a:lstStyle/>
          <a:p>
            <a:pPr algn="l" indent="0" marL="0">
              <a:buNone/>
            </a:pPr>
            <a:r>
              <a:rPr lang="en-US" sz="1150" b="1" dirty="0">
                <a:solidFill>
                  <a:srgbClr val="FFFFFF"/>
                </a:solidFill>
                <a:latin typeface="Consolas" pitchFamily="34" charset="0"/>
                <a:ea typeface="Consolas" pitchFamily="34" charset="-122"/>
                <a:cs typeface="Consolas" pitchFamily="34" charset="-120"/>
              </a:rPr>
              <a:t>Cournot: Q = 280, P = 170 — squarely between competition (30) and monopoly (240).</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B2A4A"/>
          </a:solidFill>
          <a:ln/>
        </p:spPr>
      </p:sp>
      <p:sp>
        <p:nvSpPr>
          <p:cNvPr id="3" name="Shape 1"/>
          <p:cNvSpPr/>
          <p:nvPr/>
        </p:nvSpPr>
        <p:spPr>
          <a:xfrm>
            <a:off x="0" y="0"/>
            <a:ext cx="109728" cy="621792"/>
          </a:xfrm>
          <a:prstGeom prst="rect">
            <a:avLst/>
          </a:prstGeom>
          <a:solidFill>
            <a:srgbClr val="E8600A"/>
          </a:solidFill>
          <a:ln/>
        </p:spPr>
      </p:sp>
      <p:sp>
        <p:nvSpPr>
          <p:cNvPr id="4" name="Text 2"/>
          <p:cNvSpPr txBox="1"/>
          <p:nvPr/>
        </p:nvSpPr>
        <p:spPr>
          <a:xfrm>
            <a:off x="256032" y="0"/>
            <a:ext cx="8686800" cy="621792"/>
          </a:xfrm>
          <a:prstGeom prst="rect">
            <a:avLst/>
          </a:prstGeom>
          <a:noFill/>
          <a:ln/>
        </p:spPr>
        <p:txBody>
          <a:bodyPr wrap="square" lIns="508" tIns="508" rIns="508" bIns="508" rtlCol="0" anchor="ctr">
            <a:normAutofit/>
            <a:spAutoFit/>
          </a:bodyPr>
          <a:lstStyle/>
          <a:p>
            <a:pPr algn="l" indent="0" marL="0">
              <a:buNone/>
            </a:pPr>
            <a:r>
              <a:rPr lang="en-US" sz="1600" b="1" dirty="0">
                <a:solidFill>
                  <a:srgbClr val="FFFFFF"/>
                </a:solidFill>
                <a:latin typeface="Trebuchet MS" pitchFamily="34" charset="0"/>
                <a:ea typeface="Trebuchet MS" pitchFamily="34" charset="-122"/>
                <a:cs typeface="Trebuchet MS" pitchFamily="34" charset="-120"/>
              </a:rPr>
              <a:t>In a Nash equilibrium no firm can profitably deviate given rivals' strategies — but the collective best outcome often needs collusion each player is tempted to break</a:t>
            </a:r>
            <a:endParaRPr lang="en-US" sz="1600" dirty="0"/>
          </a:p>
        </p:txBody>
      </p:sp>
      <p:sp>
        <p:nvSpPr>
          <p:cNvPr id="5" name="Shape 3"/>
          <p:cNvSpPr/>
          <p:nvPr/>
        </p:nvSpPr>
        <p:spPr>
          <a:xfrm>
            <a:off x="0" y="4892040"/>
            <a:ext cx="9144000" cy="256032"/>
          </a:xfrm>
          <a:prstGeom prst="rect">
            <a:avLst/>
          </a:prstGeom>
          <a:solidFill>
            <a:srgbClr val="E8ECF0"/>
          </a:solidFill>
          <a:ln/>
        </p:spPr>
      </p:sp>
      <p:sp>
        <p:nvSpPr>
          <p:cNvPr id="6" name="Text 4"/>
          <p:cNvSpPr txBox="1"/>
          <p:nvPr/>
        </p:nvSpPr>
        <p:spPr>
          <a:xfrm>
            <a:off x="274320" y="4892040"/>
            <a:ext cx="5943600" cy="256032"/>
          </a:xfrm>
          <a:prstGeom prst="rect">
            <a:avLst/>
          </a:prstGeom>
          <a:noFill/>
          <a:ln/>
        </p:spPr>
        <p:txBody>
          <a:bodyPr wrap="square" lIns="508" tIns="508" rIns="508" bIns="508" rtlCol="0" anchor="ctr">
            <a:normAutofit/>
            <a:spAutoFit/>
          </a:bodyPr>
          <a:lstStyle/>
          <a:p>
            <a:pPr algn="l" indent="0" marL="0">
              <a:buNone/>
            </a:pPr>
            <a:r>
              <a:rPr lang="en-US" sz="750" dirty="0">
                <a:solidFill>
                  <a:srgbClr val="6B7A8D"/>
                </a:solidFill>
                <a:latin typeface="Calibri" pitchFamily="34" charset="0"/>
                <a:ea typeface="Calibri" pitchFamily="34" charset="-122"/>
                <a:cs typeface="Calibri" pitchFamily="34" charset="-120"/>
              </a:rPr>
              <a:t>STUDIO TONTON GUG  ·  Finance Fundamentals</a:t>
            </a:r>
            <a:endParaRPr lang="en-US" sz="750" dirty="0"/>
          </a:p>
        </p:txBody>
      </p:sp>
      <p:sp>
        <p:nvSpPr>
          <p:cNvPr id="7" name="Text 5"/>
          <p:cNvSpPr txBox="1"/>
          <p:nvPr/>
        </p:nvSpPr>
        <p:spPr>
          <a:xfrm>
            <a:off x="320040" y="4471416"/>
            <a:ext cx="8503920" cy="192024"/>
          </a:xfrm>
          <a:prstGeom prst="rect">
            <a:avLst/>
          </a:prstGeom>
          <a:noFill/>
          <a:ln/>
        </p:spPr>
        <p:txBody>
          <a:bodyPr wrap="square" lIns="254" tIns="254" rIns="254" bIns="254" rtlCol="0" anchor="t"/>
          <a:lstStyle/>
          <a:p>
            <a:pPr indent="0" marL="0">
              <a:buNone/>
            </a:pPr>
            <a:r>
              <a:rPr lang="en-US" sz="1000" dirty="0">
                <a:solidFill>
                  <a:srgbClr val="6B7A8D"/>
                </a:solidFill>
                <a:latin typeface="Calibri" pitchFamily="34" charset="0"/>
                <a:ea typeface="Calibri" pitchFamily="34" charset="-122"/>
                <a:cs typeface="Calibri" pitchFamily="34" charset="-120"/>
              </a:rPr>
              <a:t>¹ Formal collusion is illegal in most jurisdictions (antitrust law). Implicit collusion via signals is harder to detect but still attracts regulatory attention.
</a:t>
            </a:r>
            <a:endParaRPr lang="en-US" sz="1000" dirty="0"/>
          </a:p>
        </p:txBody>
      </p:sp>
      <p:sp>
        <p:nvSpPr>
          <p:cNvPr id="8" name="Text 6"/>
          <p:cNvSpPr txBox="1"/>
          <p:nvPr/>
        </p:nvSpPr>
        <p:spPr>
          <a:xfrm>
            <a:off x="320040" y="4663440"/>
            <a:ext cx="8503920" cy="201168"/>
          </a:xfrm>
          <a:prstGeom prst="rect">
            <a:avLst/>
          </a:prstGeom>
          <a:noFill/>
          <a:ln/>
        </p:spPr>
        <p:txBody>
          <a:bodyPr wrap="square" lIns="508" tIns="508" rIns="508" bIns="508" rtlCol="0" anchor="t">
            <a:normAutofit/>
            <a:spAutoFit/>
          </a:bodyPr>
          <a:lstStyle/>
          <a:p>
            <a:pPr algn="l" indent="0" marL="0">
              <a:buNone/>
            </a:pPr>
            <a:r>
              <a:rPr lang="en-US" sz="750" i="1" dirty="0">
                <a:solidFill>
                  <a:srgbClr val="6B7A8D"/>
                </a:solidFill>
                <a:latin typeface="Calibri" pitchFamily="34" charset="0"/>
                <a:ea typeface="Calibri" pitchFamily="34" charset="-122"/>
                <a:cs typeface="Calibri" pitchFamily="34" charset="-120"/>
              </a:rPr>
              <a:t>Source: CFA Institute, Curriculum Vol 2, Learning Module 1, "The Nash Equilibrium" (ArcCo / BatCo), pp. 34–36.</a:t>
            </a:r>
            <a:endParaRPr lang="en-US" sz="750" dirty="0"/>
          </a:p>
        </p:txBody>
      </p:sp>
      <p:sp>
        <p:nvSpPr>
          <p:cNvPr id="9" name="Text 7"/>
          <p:cNvSpPr txBox="1"/>
          <p:nvPr/>
        </p:nvSpPr>
        <p:spPr>
          <a:xfrm>
            <a:off x="320040" y="731520"/>
            <a:ext cx="8503920" cy="292608"/>
          </a:xfrm>
          <a:prstGeom prst="rect">
            <a:avLst/>
          </a:prstGeom>
          <a:noFill/>
          <a:ln/>
        </p:spPr>
        <p:txBody>
          <a:bodyPr wrap="square" lIns="508" tIns="508" rIns="508" bIns="508" rtlCol="0" anchor="ctr">
            <a:normAutofit/>
            <a:spAutoFit/>
          </a:bodyPr>
          <a:lstStyle/>
          <a:p>
            <a:pPr algn="l" indent="0" marL="0">
              <a:buNone/>
            </a:pPr>
            <a:r>
              <a:rPr lang="en-US" sz="1300" i="1" dirty="0">
                <a:solidFill>
                  <a:srgbClr val="334155"/>
                </a:solidFill>
                <a:latin typeface="Calibri" pitchFamily="34" charset="0"/>
                <a:ea typeface="Calibri" pitchFamily="34" charset="-122"/>
                <a:cs typeface="Calibri" pitchFamily="34" charset="-120"/>
              </a:rPr>
              <a:t>The Nash outcome maximizes each player's own profit given rivals' best responses. The collusive outcome maximizes joint profit — but requires trust and enforcement.</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20040" y="1188720"/>
          <a:ext cx="8503920" cy="914400"/>
        </p:xfrm>
        <a:graphic>
          <a:graphicData uri="http://schemas.openxmlformats.org/drawingml/2006/table">
            <a:tbl>
              <a:tblPr/>
              <a:tblGrid>
                <a:gridCol w="3383280"/>
                <a:gridCol w="2560320"/>
                <a:gridCol w="2560320"/>
              </a:tblGrid>
              <a:tr h="274320">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ArcCo strategy  \  BatCo strategy</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BatCo — LOW price</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BatCo — HIGH price</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ArcCo — LOW price</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ArcCo 50   ·   BatCo 70</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ArcCo 80   ·   BatCo 0</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ArcCo — HIGH price</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ArcCo 300  ·   BatCo 350</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ArcCo 500  ·   BatCo 300</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r>
            </a:tbl>
          </a:graphicData>
        </a:graphic>
      </p:graphicFrame>
      <p:sp>
        <p:nvSpPr>
          <p:cNvPr id="11" name="Shape 8"/>
          <p:cNvSpPr/>
          <p:nvPr/>
        </p:nvSpPr>
        <p:spPr>
          <a:xfrm>
            <a:off x="320040" y="2377440"/>
            <a:ext cx="8503920" cy="1965960"/>
          </a:xfrm>
          <a:prstGeom prst="rect">
            <a:avLst/>
          </a:prstGeom>
          <a:solidFill>
            <a:srgbClr val="FEF0E7"/>
          </a:solidFill>
          <a:ln w="9525">
            <a:solidFill>
              <a:srgbClr val="E8600A"/>
            </a:solidFill>
            <a:prstDash val="solid"/>
          </a:ln>
        </p:spPr>
      </p:sp>
      <p:sp>
        <p:nvSpPr>
          <p:cNvPr id="12" name="Text 9"/>
          <p:cNvSpPr txBox="1"/>
          <p:nvPr/>
        </p:nvSpPr>
        <p:spPr>
          <a:xfrm>
            <a:off x="457200" y="2423160"/>
            <a:ext cx="8229600" cy="256032"/>
          </a:xfrm>
          <a:prstGeom prst="rect">
            <a:avLst/>
          </a:prstGeom>
          <a:noFill/>
          <a:ln/>
        </p:spPr>
        <p:txBody>
          <a:bodyPr wrap="square" lIns="508" tIns="508" rIns="508" bIns="508" rtlCol="0" anchor="ctr">
            <a:normAutofit/>
            <a:spAutoFit/>
          </a:bodyPr>
          <a:lstStyle/>
          <a:p>
            <a:pPr algn="l" indent="0" marL="0">
              <a:buNone/>
            </a:pPr>
            <a:r>
              <a:rPr lang="en-US" sz="1100" b="1" spc="400" kern="0" dirty="0">
                <a:solidFill>
                  <a:srgbClr val="E8600A"/>
                </a:solidFill>
                <a:latin typeface="Trebuchet MS" pitchFamily="34" charset="0"/>
                <a:ea typeface="Trebuchet MS" pitchFamily="34" charset="-122"/>
                <a:cs typeface="Trebuchet MS" pitchFamily="34" charset="-120"/>
              </a:rPr>
              <a:t>READING THE PAYOFF MATRIX</a:t>
            </a:r>
            <a:endParaRPr lang="en-US" sz="1100" dirty="0"/>
          </a:p>
        </p:txBody>
      </p:sp>
      <p:sp>
        <p:nvSpPr>
          <p:cNvPr id="13" name="Text 10"/>
          <p:cNvSpPr txBox="1"/>
          <p:nvPr/>
        </p:nvSpPr>
        <p:spPr>
          <a:xfrm>
            <a:off x="457200" y="2715768"/>
            <a:ext cx="8229600" cy="457200"/>
          </a:xfrm>
          <a:prstGeom prst="rect">
            <a:avLst/>
          </a:prstGeom>
          <a:noFill/>
          <a:ln/>
        </p:spPr>
        <p:txBody>
          <a:bodyPr wrap="square" lIns="508" tIns="508" rIns="508" bIns="508" rtlCol="0" anchor="t">
            <a:normAutofit/>
            <a:spAutoFit/>
          </a:bodyPr>
          <a:lstStyle/>
          <a:p>
            <a:pPr algn="l" indent="0" marL="0">
              <a:buNone/>
            </a:pPr>
            <a:r>
              <a:rPr lang="en-US" sz="1200" dirty="0">
                <a:solidFill>
                  <a:srgbClr val="334155"/>
                </a:solidFill>
                <a:latin typeface="Calibri" pitchFamily="34" charset="0"/>
                <a:ea typeface="Calibri" pitchFamily="34" charset="-122"/>
                <a:cs typeface="Calibri" pitchFamily="34" charset="-120"/>
              </a:rPr>
              <a:t>Each firm picks Low or High simultaneously. Payoffs are (ArcCo, BatCo). Find the Nash equilibrium and the cooperative equilibrium.</a:t>
            </a:r>
            <a:endParaRPr lang="en-US" sz="1200" dirty="0"/>
          </a:p>
        </p:txBody>
      </p:sp>
      <p:sp>
        <p:nvSpPr>
          <p:cNvPr id="14" name="Text 11"/>
          <p:cNvSpPr txBox="1"/>
          <p:nvPr/>
        </p:nvSpPr>
        <p:spPr>
          <a:xfrm>
            <a:off x="457200" y="3227832"/>
            <a:ext cx="8229600" cy="603504"/>
          </a:xfrm>
          <a:prstGeom prst="rect">
            <a:avLst/>
          </a:prstGeom>
          <a:noFill/>
          <a:ln/>
        </p:spPr>
        <p:txBody>
          <a:bodyPr wrap="square" lIns="254" tIns="254" rIns="254" bIns="254" rtlCol="0" anchor="t">
            <a:normAutofit/>
            <a:spAutoFit/>
          </a:bodyPr>
          <a:lstStyle/>
          <a:p>
            <a:pPr indent="0" marL="0">
              <a:spcAft>
                <a:spcPts val="200"/>
              </a:spcAft>
              <a:buNone/>
            </a:pPr>
            <a:r>
              <a:rPr lang="en-US" sz="1050" b="1" dirty="0">
                <a:solidFill>
                  <a:srgbClr val="1B2A4A"/>
                </a:solidFill>
                <a:latin typeface="Calibri" pitchFamily="34" charset="0"/>
                <a:ea typeface="Calibri" pitchFamily="34" charset="-122"/>
                <a:cs typeface="Calibri" pitchFamily="34" charset="-120"/>
              </a:rPr>
              <a:t>1. </a:t>
            </a:r>
            <a:pPr indent="0" marL="0">
              <a:spcAft>
                <a:spcPts val="200"/>
              </a:spcAft>
              <a:buNone/>
            </a:pPr>
            <a:r>
              <a:rPr lang="en-US" sz="1050" dirty="0">
                <a:solidFill>
                  <a:srgbClr val="334155"/>
                </a:solidFill>
                <a:latin typeface="Calibri" pitchFamily="34" charset="0"/>
                <a:ea typeface="Calibri" pitchFamily="34" charset="-122"/>
                <a:cs typeface="Calibri" pitchFamily="34" charset="-120"/>
              </a:rPr>
              <a:t>Given ArcCo HIGH: BatCo prefers LOW (350 &gt; 300). So (High, High) is NOT a Nash equilibrium.
</a:t>
            </a:r>
            <a:pPr indent="0" marL="0">
              <a:spcAft>
                <a:spcPts val="200"/>
              </a:spcAft>
              <a:buNone/>
            </a:pPr>
            <a:r>
              <a:rPr lang="en-US" sz="1050" b="1" dirty="0">
                <a:solidFill>
                  <a:srgbClr val="1B2A4A"/>
                </a:solidFill>
                <a:latin typeface="Calibri" pitchFamily="34" charset="0"/>
                <a:ea typeface="Calibri" pitchFamily="34" charset="-122"/>
                <a:cs typeface="Calibri" pitchFamily="34" charset="-120"/>
              </a:rPr>
              <a:t>2. </a:t>
            </a:r>
            <a:pPr indent="0" marL="0">
              <a:spcAft>
                <a:spcPts val="200"/>
              </a:spcAft>
              <a:buNone/>
            </a:pPr>
            <a:r>
              <a:rPr lang="en-US" sz="1050" dirty="0">
                <a:solidFill>
                  <a:srgbClr val="334155"/>
                </a:solidFill>
                <a:latin typeface="Calibri" pitchFamily="34" charset="0"/>
                <a:ea typeface="Calibri" pitchFamily="34" charset="-122"/>
                <a:cs typeface="Calibri" pitchFamily="34" charset="-120"/>
              </a:rPr>
              <a:t>Given ArcCo LOW: BatCo prefers LOW (70 &gt; 0). Given BatCo LOW: ArcCo prefers LOW (50 &gt; —, ArcCo weakly prefers Low given BatCo Low).
</a:t>
            </a:r>
            <a:pPr indent="0" marL="0">
              <a:spcAft>
                <a:spcPts val="200"/>
              </a:spcAft>
              <a:buNone/>
            </a:pPr>
            <a:r>
              <a:rPr lang="en-US" sz="1050" b="1" dirty="0">
                <a:solidFill>
                  <a:srgbClr val="1B2A4A"/>
                </a:solidFill>
                <a:latin typeface="Calibri" pitchFamily="34" charset="0"/>
                <a:ea typeface="Calibri" pitchFamily="34" charset="-122"/>
                <a:cs typeface="Calibri" pitchFamily="34" charset="-120"/>
              </a:rPr>
              <a:t>3. </a:t>
            </a:r>
            <a:pPr indent="0" marL="0">
              <a:spcAft>
                <a:spcPts val="200"/>
              </a:spcAft>
              <a:buNone/>
            </a:pPr>
            <a:r>
              <a:rPr lang="en-US" sz="1050" dirty="0">
                <a:solidFill>
                  <a:srgbClr val="334155"/>
                </a:solidFill>
                <a:latin typeface="Calibri" pitchFamily="34" charset="0"/>
                <a:ea typeface="Calibri" pitchFamily="34" charset="-122"/>
                <a:cs typeface="Calibri" pitchFamily="34" charset="-120"/>
              </a:rPr>
              <a:t>Nash equilibrium: (Low, Low) with payoffs 50 + 70 = 120 — a prisoners'-dilemma outcome.
</a:t>
            </a:r>
            <a:pPr indent="0" marL="0">
              <a:spcAft>
                <a:spcPts val="200"/>
              </a:spcAft>
              <a:buNone/>
            </a:pPr>
            <a:r>
              <a:rPr lang="en-US" sz="1050" b="1" dirty="0">
                <a:solidFill>
                  <a:srgbClr val="1B2A4A"/>
                </a:solidFill>
                <a:latin typeface="Calibri" pitchFamily="34" charset="0"/>
                <a:ea typeface="Calibri" pitchFamily="34" charset="-122"/>
                <a:cs typeface="Calibri" pitchFamily="34" charset="-120"/>
              </a:rPr>
              <a:t>4. </a:t>
            </a:r>
            <a:pPr indent="0" marL="0">
              <a:spcAft>
                <a:spcPts val="200"/>
              </a:spcAft>
              <a:buNone/>
            </a:pPr>
            <a:r>
              <a:rPr lang="en-US" sz="1050" dirty="0">
                <a:solidFill>
                  <a:srgbClr val="334155"/>
                </a:solidFill>
                <a:latin typeface="Calibri" pitchFamily="34" charset="0"/>
                <a:ea typeface="Calibri" pitchFamily="34" charset="-122"/>
                <a:cs typeface="Calibri" pitchFamily="34" charset="-120"/>
              </a:rPr>
              <a:t>Cooperative outcome (High, High) pays 500 + 300 = 800 in total but requires ArcCo to share some of its 500 with BatCo to keep BatCo from defecting.</a:t>
            </a:r>
            <a:endParaRPr lang="en-US" sz="1050" dirty="0"/>
          </a:p>
        </p:txBody>
      </p:sp>
      <p:sp>
        <p:nvSpPr>
          <p:cNvPr id="15" name="Shape 12"/>
          <p:cNvSpPr/>
          <p:nvPr/>
        </p:nvSpPr>
        <p:spPr>
          <a:xfrm>
            <a:off x="411480" y="3904488"/>
            <a:ext cx="8321040" cy="365760"/>
          </a:xfrm>
          <a:prstGeom prst="rect">
            <a:avLst/>
          </a:prstGeom>
          <a:solidFill>
            <a:srgbClr val="E8600A"/>
          </a:solidFill>
          <a:ln/>
        </p:spPr>
      </p:sp>
      <p:sp>
        <p:nvSpPr>
          <p:cNvPr id="16" name="Text 13"/>
          <p:cNvSpPr txBox="1"/>
          <p:nvPr/>
        </p:nvSpPr>
        <p:spPr>
          <a:xfrm>
            <a:off x="457200" y="3904488"/>
            <a:ext cx="8229600" cy="365760"/>
          </a:xfrm>
          <a:prstGeom prst="rect">
            <a:avLst/>
          </a:prstGeom>
          <a:noFill/>
          <a:ln/>
        </p:spPr>
        <p:txBody>
          <a:bodyPr wrap="square" lIns="508" tIns="508" rIns="508" bIns="508" rtlCol="0" anchor="ctr">
            <a:normAutofit/>
            <a:spAutoFit/>
          </a:bodyPr>
          <a:lstStyle/>
          <a:p>
            <a:pPr algn="l" indent="0" marL="0">
              <a:buNone/>
            </a:pPr>
            <a:r>
              <a:rPr lang="en-US" sz="1150" b="1" dirty="0">
                <a:solidFill>
                  <a:srgbClr val="FFFFFF"/>
                </a:solidFill>
                <a:latin typeface="Consolas" pitchFamily="34" charset="0"/>
                <a:ea typeface="Consolas" pitchFamily="34" charset="-122"/>
                <a:cs typeface="Consolas" pitchFamily="34" charset="-120"/>
              </a:rPr>
              <a:t>Nash = (Low, Low). Cooperative = (High, High). Gap = 800 − 120 = 680 in foregone joint profit.</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B2A4A"/>
          </a:solidFill>
          <a:ln/>
        </p:spPr>
      </p:sp>
      <p:sp>
        <p:nvSpPr>
          <p:cNvPr id="3" name="Shape 1"/>
          <p:cNvSpPr/>
          <p:nvPr/>
        </p:nvSpPr>
        <p:spPr>
          <a:xfrm>
            <a:off x="0" y="0"/>
            <a:ext cx="109728" cy="621792"/>
          </a:xfrm>
          <a:prstGeom prst="rect">
            <a:avLst/>
          </a:prstGeom>
          <a:solidFill>
            <a:srgbClr val="E8600A"/>
          </a:solidFill>
          <a:ln/>
        </p:spPr>
      </p:sp>
      <p:sp>
        <p:nvSpPr>
          <p:cNvPr id="4" name="Text 2"/>
          <p:cNvSpPr txBox="1"/>
          <p:nvPr/>
        </p:nvSpPr>
        <p:spPr>
          <a:xfrm>
            <a:off x="256032" y="0"/>
            <a:ext cx="8686800" cy="621792"/>
          </a:xfrm>
          <a:prstGeom prst="rect">
            <a:avLst/>
          </a:prstGeom>
          <a:noFill/>
          <a:ln/>
        </p:spPr>
        <p:txBody>
          <a:bodyPr wrap="square" lIns="508" tIns="508" rIns="508" bIns="508" rtlCol="0" anchor="ctr">
            <a:normAutofit/>
            <a:spAutoFit/>
          </a:bodyPr>
          <a:lstStyle/>
          <a:p>
            <a:pPr algn="l" indent="0" marL="0">
              <a:buNone/>
            </a:pPr>
            <a:r>
              <a:rPr lang="en-US" sz="1600" b="1" dirty="0">
                <a:solidFill>
                  <a:srgbClr val="FFFFFF"/>
                </a:solidFill>
                <a:latin typeface="Trebuchet MS" pitchFamily="34" charset="0"/>
                <a:ea typeface="Trebuchet MS" pitchFamily="34" charset="-122"/>
                <a:cs typeface="Trebuchet MS" pitchFamily="34" charset="-120"/>
              </a:rPr>
              <a:t>A single-price monopolist sets MR equal to MC on the whole market demand curve — producing less and pricing higher than competition</a:t>
            </a:r>
            <a:endParaRPr lang="en-US" sz="1600" dirty="0"/>
          </a:p>
        </p:txBody>
      </p:sp>
      <p:sp>
        <p:nvSpPr>
          <p:cNvPr id="5" name="Shape 3"/>
          <p:cNvSpPr/>
          <p:nvPr/>
        </p:nvSpPr>
        <p:spPr>
          <a:xfrm>
            <a:off x="0" y="4892040"/>
            <a:ext cx="9144000" cy="256032"/>
          </a:xfrm>
          <a:prstGeom prst="rect">
            <a:avLst/>
          </a:prstGeom>
          <a:solidFill>
            <a:srgbClr val="E8ECF0"/>
          </a:solidFill>
          <a:ln/>
        </p:spPr>
      </p:sp>
      <p:sp>
        <p:nvSpPr>
          <p:cNvPr id="6" name="Text 4"/>
          <p:cNvSpPr txBox="1"/>
          <p:nvPr/>
        </p:nvSpPr>
        <p:spPr>
          <a:xfrm>
            <a:off x="274320" y="4892040"/>
            <a:ext cx="5943600" cy="256032"/>
          </a:xfrm>
          <a:prstGeom prst="rect">
            <a:avLst/>
          </a:prstGeom>
          <a:noFill/>
          <a:ln/>
        </p:spPr>
        <p:txBody>
          <a:bodyPr wrap="square" lIns="508" tIns="508" rIns="508" bIns="508" rtlCol="0" anchor="ctr">
            <a:normAutofit/>
            <a:spAutoFit/>
          </a:bodyPr>
          <a:lstStyle/>
          <a:p>
            <a:pPr algn="l" indent="0" marL="0">
              <a:buNone/>
            </a:pPr>
            <a:r>
              <a:rPr lang="en-US" sz="750" dirty="0">
                <a:solidFill>
                  <a:srgbClr val="6B7A8D"/>
                </a:solidFill>
                <a:latin typeface="Calibri" pitchFamily="34" charset="0"/>
                <a:ea typeface="Calibri" pitchFamily="34" charset="-122"/>
                <a:cs typeface="Calibri" pitchFamily="34" charset="-120"/>
              </a:rPr>
              <a:t>STUDIO TONTON GUG  ·  Finance Fundamentals</a:t>
            </a:r>
            <a:endParaRPr lang="en-US" sz="750" dirty="0"/>
          </a:p>
        </p:txBody>
      </p:sp>
      <p:sp>
        <p:nvSpPr>
          <p:cNvPr id="7" name="Text 5"/>
          <p:cNvSpPr txBox="1"/>
          <p:nvPr/>
        </p:nvSpPr>
        <p:spPr>
          <a:xfrm>
            <a:off x="320040" y="4663440"/>
            <a:ext cx="8503920" cy="201168"/>
          </a:xfrm>
          <a:prstGeom prst="rect">
            <a:avLst/>
          </a:prstGeom>
          <a:noFill/>
          <a:ln/>
        </p:spPr>
        <p:txBody>
          <a:bodyPr wrap="square" lIns="508" tIns="508" rIns="508" bIns="508" rtlCol="0" anchor="t">
            <a:normAutofit/>
            <a:spAutoFit/>
          </a:bodyPr>
          <a:lstStyle/>
          <a:p>
            <a:pPr algn="l" indent="0" marL="0">
              <a:buNone/>
            </a:pPr>
            <a:r>
              <a:rPr lang="en-US" sz="750" i="1" dirty="0">
                <a:solidFill>
                  <a:srgbClr val="6B7A8D"/>
                </a:solidFill>
                <a:latin typeface="Calibri" pitchFamily="34" charset="0"/>
                <a:ea typeface="Calibri" pitchFamily="34" charset="-122"/>
                <a:cs typeface="Calibri" pitchFamily="34" charset="-120"/>
              </a:rPr>
              <a:t>Source: CFA Institute, Curriculum Vol 2, Learning Module 1, monopoly vs competition comparison, pp. 32–33.</a:t>
            </a:r>
            <a:endParaRPr lang="en-US" sz="750" dirty="0"/>
          </a:p>
        </p:txBody>
      </p:sp>
      <p:sp>
        <p:nvSpPr>
          <p:cNvPr id="8" name="Text 6"/>
          <p:cNvSpPr txBox="1"/>
          <p:nvPr/>
        </p:nvSpPr>
        <p:spPr>
          <a:xfrm>
            <a:off x="320040" y="731520"/>
            <a:ext cx="8503920" cy="292608"/>
          </a:xfrm>
          <a:prstGeom prst="rect">
            <a:avLst/>
          </a:prstGeom>
          <a:noFill/>
          <a:ln/>
        </p:spPr>
        <p:txBody>
          <a:bodyPr wrap="square" lIns="508" tIns="508" rIns="508" bIns="508" rtlCol="0" anchor="ctr">
            <a:normAutofit/>
            <a:spAutoFit/>
          </a:bodyPr>
          <a:lstStyle/>
          <a:p>
            <a:pPr algn="l" indent="0" marL="0">
              <a:buNone/>
            </a:pPr>
            <a:r>
              <a:rPr lang="en-US" sz="1300" i="1" dirty="0">
                <a:solidFill>
                  <a:srgbClr val="334155"/>
                </a:solidFill>
                <a:latin typeface="Calibri" pitchFamily="34" charset="0"/>
                <a:ea typeface="Calibri" pitchFamily="34" charset="-122"/>
                <a:cs typeface="Calibri" pitchFamily="34" charset="-120"/>
              </a:rPr>
              <a:t>The monopoly price is the one the demand curve supports at MR = MC. The gap between competitive and monopoly price is the deadweight loss society pays for the monopolist's rent.</a:t>
            </a:r>
            <a:endParaRPr lang="en-US" sz="1300" dirty="0"/>
          </a:p>
        </p:txBody>
      </p:sp>
      <p:sp>
        <p:nvSpPr>
          <p:cNvPr id="9" name="Shape 7"/>
          <p:cNvSpPr/>
          <p:nvPr/>
        </p:nvSpPr>
        <p:spPr>
          <a:xfrm>
            <a:off x="320040" y="1188720"/>
            <a:ext cx="8503920" cy="658368"/>
          </a:xfrm>
          <a:prstGeom prst="rect">
            <a:avLst/>
          </a:prstGeom>
          <a:solidFill>
            <a:srgbClr val="1B2A4A"/>
          </a:solidFill>
          <a:ln/>
        </p:spPr>
      </p:sp>
      <p:sp>
        <p:nvSpPr>
          <p:cNvPr id="10" name="Text 8"/>
          <p:cNvSpPr txBox="1"/>
          <p:nvPr/>
        </p:nvSpPr>
        <p:spPr>
          <a:xfrm>
            <a:off x="411480" y="1188720"/>
            <a:ext cx="8321040" cy="658368"/>
          </a:xfrm>
          <a:prstGeom prst="rect">
            <a:avLst/>
          </a:prstGeom>
          <a:noFill/>
          <a:ln/>
        </p:spPr>
        <p:txBody>
          <a:bodyPr wrap="square" lIns="508" tIns="508" rIns="508" bIns="508" rtlCol="0" anchor="ctr">
            <a:normAutofit/>
            <a:spAutoFit/>
          </a:bodyPr>
          <a:lstStyle/>
          <a:p>
            <a:pPr algn="ctr" indent="0" marL="0">
              <a:buNone/>
            </a:pPr>
            <a:r>
              <a:rPr lang="en-US" sz="1800" b="1" dirty="0">
                <a:solidFill>
                  <a:srgbClr val="FFFFFF"/>
                </a:solidFill>
                <a:latin typeface="Consolas" pitchFamily="34" charset="0"/>
                <a:ea typeface="Consolas" pitchFamily="34" charset="-122"/>
                <a:cs typeface="Consolas" pitchFamily="34" charset="-120"/>
              </a:rPr>
              <a:t>Same setup:   P = 450 − Q ,   MC = 30 .   Monopolist solves MR = MC on the full market demand.</a:t>
            </a:r>
            <a:endParaRPr lang="en-US" sz="1800" dirty="0"/>
          </a:p>
        </p:txBody>
      </p:sp>
      <p:sp>
        <p:nvSpPr>
          <p:cNvPr id="11" name="Text 9"/>
          <p:cNvSpPr txBox="1"/>
          <p:nvPr/>
        </p:nvSpPr>
        <p:spPr>
          <a:xfrm>
            <a:off x="320040" y="1874520"/>
            <a:ext cx="8503920" cy="256032"/>
          </a:xfrm>
          <a:prstGeom prst="rect">
            <a:avLst/>
          </a:prstGeom>
          <a:noFill/>
          <a:ln/>
        </p:spPr>
        <p:txBody>
          <a:bodyPr wrap="square" lIns="508" tIns="508" rIns="508" bIns="508" rtlCol="0" anchor="ctr">
            <a:normAutofit/>
            <a:spAutoFit/>
          </a:bodyPr>
          <a:lstStyle/>
          <a:p>
            <a:pPr algn="l" indent="0" marL="0">
              <a:buNone/>
            </a:pPr>
            <a:r>
              <a:rPr lang="en-US" sz="1100" i="1" dirty="0">
                <a:solidFill>
                  <a:srgbClr val="334155"/>
                </a:solidFill>
                <a:latin typeface="Calibri" pitchFamily="34" charset="0"/>
                <a:ea typeface="Calibri" pitchFamily="34" charset="-122"/>
                <a:cs typeface="Calibri" pitchFamily="34" charset="-120"/>
              </a:rPr>
              <a:t>where: TR = P·Q = (450 − Q)·Q → MR = 450 − 2Q. Set MR = MC: 450 − 2Q = 30 → Q = 210; then P = 450 − 210 = 240.</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20040" y="2331720"/>
          <a:ext cx="8503920" cy="914400"/>
        </p:xfrm>
        <a:graphic>
          <a:graphicData uri="http://schemas.openxmlformats.org/drawingml/2006/table">
            <a:tbl>
              <a:tblPr/>
              <a:tblGrid>
                <a:gridCol w="3200400"/>
                <a:gridCol w="1371600"/>
                <a:gridCol w="1371600"/>
                <a:gridCol w="1371600"/>
                <a:gridCol w="1188720"/>
              </a:tblGrid>
              <a:tr h="274320">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Market structure</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Quantity</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Price</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Consumer gain</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Producer surplus</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Perfect competition (P = MC)</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34155"/>
                          </a:solidFill>
                          <a:latin typeface="Consolas" pitchFamily="34" charset="0"/>
                          <a:ea typeface="Consolas" pitchFamily="34" charset="-122"/>
                          <a:cs typeface="Consolas" pitchFamily="34" charset="-120"/>
                        </a:rPr>
                        <a:t>420</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34155"/>
                          </a:solidFill>
                          <a:latin typeface="Consolas" pitchFamily="34" charset="0"/>
                          <a:ea typeface="Consolas" pitchFamily="34" charset="-122"/>
                          <a:cs typeface="Consolas" pitchFamily="34" charset="-120"/>
                        </a:rPr>
                        <a:t>30</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Maximum</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Zero econ. profit</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Cournot duopoly (two firms)</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r" indent="0" marL="0">
                        <a:buNone/>
                      </a:pPr>
                      <a:r>
                        <a:rPr lang="en-US" sz="1100" dirty="0">
                          <a:solidFill>
                            <a:srgbClr val="334155"/>
                          </a:solidFill>
                          <a:latin typeface="Consolas" pitchFamily="34" charset="0"/>
                          <a:ea typeface="Consolas" pitchFamily="34" charset="-122"/>
                          <a:cs typeface="Consolas" pitchFamily="34" charset="-120"/>
                        </a:rPr>
                        <a:t>280</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r" indent="0" marL="0">
                        <a:buNone/>
                      </a:pPr>
                      <a:r>
                        <a:rPr lang="en-US" sz="1100" dirty="0">
                          <a:solidFill>
                            <a:srgbClr val="334155"/>
                          </a:solidFill>
                          <a:latin typeface="Consolas" pitchFamily="34" charset="0"/>
                          <a:ea typeface="Consolas" pitchFamily="34" charset="-122"/>
                          <a:cs typeface="Consolas" pitchFamily="34" charset="-120"/>
                        </a:rPr>
                        <a:t>170</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Intermediate</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Positive</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Monopoly (MR = MC)</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34155"/>
                          </a:solidFill>
                          <a:latin typeface="Consolas" pitchFamily="34" charset="0"/>
                          <a:ea typeface="Consolas" pitchFamily="34" charset="-122"/>
                          <a:cs typeface="Consolas" pitchFamily="34" charset="-120"/>
                        </a:rPr>
                        <a:t>210</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34155"/>
                          </a:solidFill>
                          <a:latin typeface="Consolas" pitchFamily="34" charset="0"/>
                          <a:ea typeface="Consolas" pitchFamily="34" charset="-122"/>
                          <a:cs typeface="Consolas" pitchFamily="34" charset="-120"/>
                        </a:rPr>
                        <a:t>240</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Minimum</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Maximum, deadweight loss</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r>
            </a:tbl>
          </a:graphicData>
        </a:graphic>
      </p:graphicFrame>
      <p:sp>
        <p:nvSpPr>
          <p:cNvPr id="13" name="Shape 10"/>
          <p:cNvSpPr/>
          <p:nvPr/>
        </p:nvSpPr>
        <p:spPr>
          <a:xfrm>
            <a:off x="320040" y="3474720"/>
            <a:ext cx="8503920" cy="822960"/>
          </a:xfrm>
          <a:prstGeom prst="rect">
            <a:avLst/>
          </a:prstGeom>
          <a:solidFill>
            <a:srgbClr val="FEF0E7"/>
          </a:solidFill>
          <a:ln/>
        </p:spPr>
      </p:sp>
      <p:sp>
        <p:nvSpPr>
          <p:cNvPr id="14" name="Shape 11"/>
          <p:cNvSpPr/>
          <p:nvPr/>
        </p:nvSpPr>
        <p:spPr>
          <a:xfrm>
            <a:off x="320040" y="3474720"/>
            <a:ext cx="73152" cy="822960"/>
          </a:xfrm>
          <a:prstGeom prst="rect">
            <a:avLst/>
          </a:prstGeom>
          <a:solidFill>
            <a:srgbClr val="E8600A"/>
          </a:solidFill>
          <a:ln/>
        </p:spPr>
      </p:sp>
      <p:sp>
        <p:nvSpPr>
          <p:cNvPr id="15" name="Text 12"/>
          <p:cNvSpPr txBox="1"/>
          <p:nvPr/>
        </p:nvSpPr>
        <p:spPr>
          <a:xfrm>
            <a:off x="457200" y="3520440"/>
            <a:ext cx="8275320" cy="256032"/>
          </a:xfrm>
          <a:prstGeom prst="rect">
            <a:avLst/>
          </a:prstGeom>
          <a:noFill/>
          <a:ln/>
        </p:spPr>
        <p:txBody>
          <a:bodyPr wrap="square" lIns="508" tIns="508" rIns="508" bIns="508" rtlCol="0" anchor="ctr">
            <a:normAutofit/>
            <a:spAutoFit/>
          </a:bodyPr>
          <a:lstStyle/>
          <a:p>
            <a:pPr algn="l" indent="0" marL="0">
              <a:buNone/>
            </a:pPr>
            <a:r>
              <a:rPr lang="en-US" sz="1100" b="1" spc="400" kern="0" dirty="0">
                <a:solidFill>
                  <a:srgbClr val="E8600A"/>
                </a:solidFill>
                <a:latin typeface="Trebuchet MS" pitchFamily="34" charset="0"/>
                <a:ea typeface="Trebuchet MS" pitchFamily="34" charset="-122"/>
                <a:cs typeface="Trebuchet MS" pitchFamily="34" charset="-120"/>
              </a:rPr>
              <a:t>PRICE DISCRIMINATION — THE MONOPOLIST'S UPGRADE</a:t>
            </a:r>
            <a:endParaRPr lang="en-US" sz="1100" dirty="0"/>
          </a:p>
        </p:txBody>
      </p:sp>
      <p:sp>
        <p:nvSpPr>
          <p:cNvPr id="16" name="Text 13"/>
          <p:cNvSpPr txBox="1"/>
          <p:nvPr/>
        </p:nvSpPr>
        <p:spPr>
          <a:xfrm>
            <a:off x="457200" y="3794760"/>
            <a:ext cx="8275320" cy="457200"/>
          </a:xfrm>
          <a:prstGeom prst="rect">
            <a:avLst/>
          </a:prstGeom>
          <a:noFill/>
          <a:ln/>
        </p:spPr>
        <p:txBody>
          <a:bodyPr wrap="square" lIns="508" tIns="508" rIns="508" bIns="508" rtlCol="0" anchor="t">
            <a:normAutofit/>
            <a:spAutoFit/>
          </a:bodyPr>
          <a:lstStyle/>
          <a:p>
            <a:pPr algn="l" indent="0" marL="0">
              <a:buNone/>
            </a:pPr>
            <a:r>
              <a:rPr lang="en-US" sz="1200" dirty="0">
                <a:solidFill>
                  <a:srgbClr val="334155"/>
                </a:solidFill>
                <a:latin typeface="Calibri" pitchFamily="34" charset="0"/>
                <a:ea typeface="Calibri" pitchFamily="34" charset="-122"/>
                <a:cs typeface="Calibri" pitchFamily="34" charset="-120"/>
              </a:rPr>
              <a:t>If the monopolist can charge different prices to different buyers (airlines, software licensing) it captures more of the consumer surplus as profit. First-degree (perfect) discrimination eliminates deadweight loss but requires perfect information — rare. Third-degree (segment-based) is common: student pricing, geographic pricing, volume tiers.</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B2A4A"/>
          </a:solidFill>
          <a:ln/>
        </p:spPr>
      </p:sp>
      <p:sp>
        <p:nvSpPr>
          <p:cNvPr id="3" name="Shape 1"/>
          <p:cNvSpPr/>
          <p:nvPr/>
        </p:nvSpPr>
        <p:spPr>
          <a:xfrm>
            <a:off x="0" y="0"/>
            <a:ext cx="109728" cy="621792"/>
          </a:xfrm>
          <a:prstGeom prst="rect">
            <a:avLst/>
          </a:prstGeom>
          <a:solidFill>
            <a:srgbClr val="E8600A"/>
          </a:solidFill>
          <a:ln/>
        </p:spPr>
      </p:sp>
      <p:sp>
        <p:nvSpPr>
          <p:cNvPr id="4" name="Text 2"/>
          <p:cNvSpPr txBox="1"/>
          <p:nvPr/>
        </p:nvSpPr>
        <p:spPr>
          <a:xfrm>
            <a:off x="256032" y="0"/>
            <a:ext cx="8686800" cy="621792"/>
          </a:xfrm>
          <a:prstGeom prst="rect">
            <a:avLst/>
          </a:prstGeom>
          <a:noFill/>
          <a:ln/>
        </p:spPr>
        <p:txBody>
          <a:bodyPr wrap="square" lIns="508" tIns="508" rIns="508" bIns="508" rtlCol="0" anchor="ctr">
            <a:normAutofit/>
            <a:spAutoFit/>
          </a:bodyPr>
          <a:lstStyle/>
          <a:p>
            <a:pPr algn="l" indent="0" marL="0">
              <a:buNone/>
            </a:pPr>
            <a:r>
              <a:rPr lang="en-US" sz="1600" b="1" dirty="0">
                <a:solidFill>
                  <a:srgbClr val="FFFFFF"/>
                </a:solidFill>
                <a:latin typeface="Trebuchet MS" pitchFamily="34" charset="0"/>
                <a:ea typeface="Trebuchet MS" pitchFamily="34" charset="-122"/>
                <a:cs typeface="Trebuchet MS" pitchFamily="34" charset="-120"/>
              </a:rPr>
              <a:t>Concentration ratios and the Herfindahl-Hirschman Index measure how concentrated a market is — and the HHI catches mergers the CR ignores</a:t>
            </a:r>
            <a:endParaRPr lang="en-US" sz="1600" dirty="0"/>
          </a:p>
        </p:txBody>
      </p:sp>
      <p:sp>
        <p:nvSpPr>
          <p:cNvPr id="5" name="Shape 3"/>
          <p:cNvSpPr/>
          <p:nvPr/>
        </p:nvSpPr>
        <p:spPr>
          <a:xfrm>
            <a:off x="0" y="4892040"/>
            <a:ext cx="9144000" cy="256032"/>
          </a:xfrm>
          <a:prstGeom prst="rect">
            <a:avLst/>
          </a:prstGeom>
          <a:solidFill>
            <a:srgbClr val="E8ECF0"/>
          </a:solidFill>
          <a:ln/>
        </p:spPr>
      </p:sp>
      <p:sp>
        <p:nvSpPr>
          <p:cNvPr id="6" name="Text 4"/>
          <p:cNvSpPr txBox="1"/>
          <p:nvPr/>
        </p:nvSpPr>
        <p:spPr>
          <a:xfrm>
            <a:off x="274320" y="4892040"/>
            <a:ext cx="5943600" cy="256032"/>
          </a:xfrm>
          <a:prstGeom prst="rect">
            <a:avLst/>
          </a:prstGeom>
          <a:noFill/>
          <a:ln/>
        </p:spPr>
        <p:txBody>
          <a:bodyPr wrap="square" lIns="508" tIns="508" rIns="508" bIns="508" rtlCol="0" anchor="ctr">
            <a:normAutofit/>
            <a:spAutoFit/>
          </a:bodyPr>
          <a:lstStyle/>
          <a:p>
            <a:pPr algn="l" indent="0" marL="0">
              <a:buNone/>
            </a:pPr>
            <a:r>
              <a:rPr lang="en-US" sz="750" dirty="0">
                <a:solidFill>
                  <a:srgbClr val="6B7A8D"/>
                </a:solidFill>
                <a:latin typeface="Calibri" pitchFamily="34" charset="0"/>
                <a:ea typeface="Calibri" pitchFamily="34" charset="-122"/>
                <a:cs typeface="Calibri" pitchFamily="34" charset="-120"/>
              </a:rPr>
              <a:t>STUDIO TONTON GUG  ·  Finance Fundamentals</a:t>
            </a:r>
            <a:endParaRPr lang="en-US" sz="750" dirty="0"/>
          </a:p>
        </p:txBody>
      </p:sp>
      <p:sp>
        <p:nvSpPr>
          <p:cNvPr id="7" name="Text 5"/>
          <p:cNvSpPr txBox="1"/>
          <p:nvPr/>
        </p:nvSpPr>
        <p:spPr>
          <a:xfrm>
            <a:off x="320040" y="4471416"/>
            <a:ext cx="8503920" cy="192024"/>
          </a:xfrm>
          <a:prstGeom prst="rect">
            <a:avLst/>
          </a:prstGeom>
          <a:noFill/>
          <a:ln/>
        </p:spPr>
        <p:txBody>
          <a:bodyPr wrap="square" lIns="254" tIns="254" rIns="254" bIns="254" rtlCol="0" anchor="t"/>
          <a:lstStyle/>
          <a:p>
            <a:pPr indent="0" marL="0">
              <a:buNone/>
            </a:pPr>
            <a:r>
              <a:rPr lang="en-US" sz="1000" dirty="0">
                <a:solidFill>
                  <a:srgbClr val="6B7A8D"/>
                </a:solidFill>
                <a:latin typeface="Calibri" pitchFamily="34" charset="0"/>
                <a:ea typeface="Calibri" pitchFamily="34" charset="-122"/>
                <a:cs typeface="Calibri" pitchFamily="34" charset="-120"/>
              </a:rPr>
              <a:t>¹ US DOJ/FTC Horizontal Merger Guidelines classify HHI &lt; 0.15 as unconcentrated; 0.15–0.25 moderately concentrated; &gt; 0.25 highly concentrated.
</a:t>
            </a:r>
            <a:endParaRPr lang="en-US" sz="1000" dirty="0"/>
          </a:p>
        </p:txBody>
      </p:sp>
      <p:sp>
        <p:nvSpPr>
          <p:cNvPr id="8" name="Text 6"/>
          <p:cNvSpPr txBox="1"/>
          <p:nvPr/>
        </p:nvSpPr>
        <p:spPr>
          <a:xfrm>
            <a:off x="320040" y="4663440"/>
            <a:ext cx="8503920" cy="201168"/>
          </a:xfrm>
          <a:prstGeom prst="rect">
            <a:avLst/>
          </a:prstGeom>
          <a:noFill/>
          <a:ln/>
        </p:spPr>
        <p:txBody>
          <a:bodyPr wrap="square" lIns="508" tIns="508" rIns="508" bIns="508" rtlCol="0" anchor="t">
            <a:normAutofit/>
            <a:spAutoFit/>
          </a:bodyPr>
          <a:lstStyle/>
          <a:p>
            <a:pPr algn="l" indent="0" marL="0">
              <a:buNone/>
            </a:pPr>
            <a:r>
              <a:rPr lang="en-US" sz="750" i="1" dirty="0">
                <a:solidFill>
                  <a:srgbClr val="6B7A8D"/>
                </a:solidFill>
                <a:latin typeface="Calibri" pitchFamily="34" charset="0"/>
                <a:ea typeface="Calibri" pitchFamily="34" charset="-122"/>
                <a:cs typeface="Calibri" pitchFamily="34" charset="-120"/>
              </a:rPr>
              <a:t>Source: CFA Institute, Curriculum Vol 2, Learning Module 1, "Determining Market Structure", pp. 41–43.</a:t>
            </a:r>
            <a:endParaRPr lang="en-US" sz="750" dirty="0"/>
          </a:p>
        </p:txBody>
      </p:sp>
      <p:sp>
        <p:nvSpPr>
          <p:cNvPr id="9" name="Text 7"/>
          <p:cNvSpPr txBox="1"/>
          <p:nvPr/>
        </p:nvSpPr>
        <p:spPr>
          <a:xfrm>
            <a:off x="320040" y="731520"/>
            <a:ext cx="8503920" cy="292608"/>
          </a:xfrm>
          <a:prstGeom prst="rect">
            <a:avLst/>
          </a:prstGeom>
          <a:noFill/>
          <a:ln/>
        </p:spPr>
        <p:txBody>
          <a:bodyPr wrap="square" lIns="508" tIns="508" rIns="508" bIns="508" rtlCol="0" anchor="ctr">
            <a:normAutofit/>
            <a:spAutoFit/>
          </a:bodyPr>
          <a:lstStyle/>
          <a:p>
            <a:pPr algn="l" indent="0" marL="0">
              <a:buNone/>
            </a:pPr>
            <a:r>
              <a:rPr lang="en-US" sz="1300" i="1" dirty="0">
                <a:solidFill>
                  <a:srgbClr val="334155"/>
                </a:solidFill>
                <a:latin typeface="Calibri" pitchFamily="34" charset="0"/>
                <a:ea typeface="Calibri" pitchFamily="34" charset="-122"/>
                <a:cs typeface="Calibri" pitchFamily="34" charset="-120"/>
              </a:rPr>
              <a:t>HHI squares market shares before summing — a market of five equal firms has HHI = 0.20; a monopolist has HHI = 1.00.</a:t>
            </a:r>
            <a:endParaRPr lang="en-US" sz="1300" dirty="0"/>
          </a:p>
        </p:txBody>
      </p:sp>
      <p:sp>
        <p:nvSpPr>
          <p:cNvPr id="10" name="Shape 8"/>
          <p:cNvSpPr/>
          <p:nvPr/>
        </p:nvSpPr>
        <p:spPr>
          <a:xfrm>
            <a:off x="320040" y="1188720"/>
            <a:ext cx="8503920" cy="658368"/>
          </a:xfrm>
          <a:prstGeom prst="rect">
            <a:avLst/>
          </a:prstGeom>
          <a:solidFill>
            <a:srgbClr val="1B2A4A"/>
          </a:solidFill>
          <a:ln/>
        </p:spPr>
      </p:sp>
      <p:sp>
        <p:nvSpPr>
          <p:cNvPr id="11" name="Text 9"/>
          <p:cNvSpPr txBox="1"/>
          <p:nvPr/>
        </p:nvSpPr>
        <p:spPr>
          <a:xfrm>
            <a:off x="411480" y="1188720"/>
            <a:ext cx="8321040" cy="658368"/>
          </a:xfrm>
          <a:prstGeom prst="rect">
            <a:avLst/>
          </a:prstGeom>
          <a:noFill/>
          <a:ln/>
        </p:spPr>
        <p:txBody>
          <a:bodyPr wrap="square" lIns="508" tIns="508" rIns="508" bIns="508" rtlCol="0" anchor="ctr">
            <a:normAutofit/>
            <a:spAutoFit/>
          </a:bodyPr>
          <a:lstStyle/>
          <a:p>
            <a:pPr algn="ctr" indent="0" marL="0">
              <a:buNone/>
            </a:pPr>
            <a:r>
              <a:rPr lang="en-US" sz="1800" b="1" dirty="0">
                <a:solidFill>
                  <a:srgbClr val="FFFFFF"/>
                </a:solidFill>
                <a:latin typeface="Consolas" pitchFamily="34" charset="0"/>
                <a:ea typeface="Consolas" pitchFamily="34" charset="-122"/>
                <a:cs typeface="Consolas" pitchFamily="34" charset="-120"/>
              </a:rPr>
              <a:t>CR_N  =  Σᵢ=1..N  sᵢ              HHI  =  Σᵢ  sᵢ²</a:t>
            </a:r>
            <a:endParaRPr lang="en-US" sz="1800" dirty="0"/>
          </a:p>
        </p:txBody>
      </p:sp>
      <p:sp>
        <p:nvSpPr>
          <p:cNvPr id="12" name="Text 10"/>
          <p:cNvSpPr txBox="1"/>
          <p:nvPr/>
        </p:nvSpPr>
        <p:spPr>
          <a:xfrm>
            <a:off x="320040" y="1874520"/>
            <a:ext cx="8503920" cy="256032"/>
          </a:xfrm>
          <a:prstGeom prst="rect">
            <a:avLst/>
          </a:prstGeom>
          <a:noFill/>
          <a:ln/>
        </p:spPr>
        <p:txBody>
          <a:bodyPr wrap="square" lIns="508" tIns="508" rIns="508" bIns="508" rtlCol="0" anchor="ctr">
            <a:normAutofit/>
            <a:spAutoFit/>
          </a:bodyPr>
          <a:lstStyle/>
          <a:p>
            <a:pPr algn="l" indent="0" marL="0">
              <a:buNone/>
            </a:pPr>
            <a:r>
              <a:rPr lang="en-US" sz="1100" i="1" dirty="0">
                <a:solidFill>
                  <a:srgbClr val="334155"/>
                </a:solidFill>
                <a:latin typeface="Calibri" pitchFamily="34" charset="0"/>
                <a:ea typeface="Calibri" pitchFamily="34" charset="-122"/>
                <a:cs typeface="Calibri" pitchFamily="34" charset="-120"/>
              </a:rPr>
              <a:t>where: s_i = market share of firm i (as a decimal). CR_N uses the top N firms; HHI typically uses all or top 50.</a:t>
            </a:r>
            <a:endParaRPr lang="en-US" sz="1100" dirty="0"/>
          </a:p>
        </p:txBody>
      </p:sp>
      <p:sp>
        <p:nvSpPr>
          <p:cNvPr id="13" name="Shape 11"/>
          <p:cNvSpPr/>
          <p:nvPr/>
        </p:nvSpPr>
        <p:spPr>
          <a:xfrm>
            <a:off x="320040" y="2331720"/>
            <a:ext cx="8503920" cy="1965960"/>
          </a:xfrm>
          <a:prstGeom prst="rect">
            <a:avLst/>
          </a:prstGeom>
          <a:solidFill>
            <a:srgbClr val="FEF0E7"/>
          </a:solidFill>
          <a:ln w="9525">
            <a:solidFill>
              <a:srgbClr val="E8600A"/>
            </a:solidFill>
            <a:prstDash val="solid"/>
          </a:ln>
        </p:spPr>
      </p:sp>
      <p:sp>
        <p:nvSpPr>
          <p:cNvPr id="14" name="Text 12"/>
          <p:cNvSpPr txBox="1"/>
          <p:nvPr/>
        </p:nvSpPr>
        <p:spPr>
          <a:xfrm>
            <a:off x="457200" y="2377440"/>
            <a:ext cx="8229600" cy="256032"/>
          </a:xfrm>
          <a:prstGeom prst="rect">
            <a:avLst/>
          </a:prstGeom>
          <a:noFill/>
          <a:ln/>
        </p:spPr>
        <p:txBody>
          <a:bodyPr wrap="square" lIns="508" tIns="508" rIns="508" bIns="508" rtlCol="0" anchor="ctr">
            <a:normAutofit/>
            <a:spAutoFit/>
          </a:bodyPr>
          <a:lstStyle/>
          <a:p>
            <a:pPr algn="l" indent="0" marL="0">
              <a:buNone/>
            </a:pPr>
            <a:r>
              <a:rPr lang="en-US" sz="1100" b="1" spc="400" kern="0" dirty="0">
                <a:solidFill>
                  <a:srgbClr val="E8600A"/>
                </a:solidFill>
                <a:latin typeface="Trebuchet MS" pitchFamily="34" charset="0"/>
                <a:ea typeface="Trebuchet MS" pitchFamily="34" charset="-122"/>
                <a:cs typeface="Trebuchet MS" pitchFamily="34" charset="-120"/>
              </a:rPr>
              <a:t>CFA LM 1 — FIVE-FIRM MARKET</a:t>
            </a:r>
            <a:endParaRPr lang="en-US" sz="1100" dirty="0"/>
          </a:p>
        </p:txBody>
      </p:sp>
      <p:sp>
        <p:nvSpPr>
          <p:cNvPr id="15" name="Text 13"/>
          <p:cNvSpPr txBox="1"/>
          <p:nvPr/>
        </p:nvSpPr>
        <p:spPr>
          <a:xfrm>
            <a:off x="457200" y="2670048"/>
            <a:ext cx="8229600" cy="457200"/>
          </a:xfrm>
          <a:prstGeom prst="rect">
            <a:avLst/>
          </a:prstGeom>
          <a:noFill/>
          <a:ln/>
        </p:spPr>
        <p:txBody>
          <a:bodyPr wrap="square" lIns="508" tIns="508" rIns="508" bIns="508" rtlCol="0" anchor="t">
            <a:normAutofit/>
            <a:spAutoFit/>
          </a:bodyPr>
          <a:lstStyle/>
          <a:p>
            <a:pPr algn="l" indent="0" marL="0">
              <a:buNone/>
            </a:pPr>
            <a:r>
              <a:rPr lang="en-US" sz="1200" dirty="0">
                <a:solidFill>
                  <a:srgbClr val="334155"/>
                </a:solidFill>
                <a:latin typeface="Calibri" pitchFamily="34" charset="0"/>
                <a:ea typeface="Calibri" pitchFamily="34" charset="-122"/>
                <a:cs typeface="Calibri" pitchFamily="34" charset="-120"/>
              </a:rPr>
              <a:t>Five firms with shares: Zeta 35%, Yusef 25%, Xenon 20%, Waters 10%, Vlastos 10%. Compute CR₃ and HHI₃.</a:t>
            </a:r>
            <a:endParaRPr lang="en-US" sz="1200" dirty="0"/>
          </a:p>
        </p:txBody>
      </p:sp>
      <p:sp>
        <p:nvSpPr>
          <p:cNvPr id="16" name="Text 14"/>
          <p:cNvSpPr txBox="1"/>
          <p:nvPr/>
        </p:nvSpPr>
        <p:spPr>
          <a:xfrm>
            <a:off x="457200" y="3182112"/>
            <a:ext cx="8229600" cy="603504"/>
          </a:xfrm>
          <a:prstGeom prst="rect">
            <a:avLst/>
          </a:prstGeom>
          <a:noFill/>
          <a:ln/>
        </p:spPr>
        <p:txBody>
          <a:bodyPr wrap="square" lIns="254" tIns="254" rIns="254" bIns="254" rtlCol="0" anchor="t">
            <a:normAutofit/>
            <a:spAutoFit/>
          </a:bodyPr>
          <a:lstStyle/>
          <a:p>
            <a:pPr indent="0" marL="0">
              <a:spcAft>
                <a:spcPts val="200"/>
              </a:spcAft>
              <a:buNone/>
            </a:pPr>
            <a:r>
              <a:rPr lang="en-US" sz="1050" b="1" dirty="0">
                <a:solidFill>
                  <a:srgbClr val="1B2A4A"/>
                </a:solidFill>
                <a:latin typeface="Calibri" pitchFamily="34" charset="0"/>
                <a:ea typeface="Calibri" pitchFamily="34" charset="-122"/>
                <a:cs typeface="Calibri" pitchFamily="34" charset="-120"/>
              </a:rPr>
              <a:t>1. </a:t>
            </a:r>
            <a:pPr indent="0" marL="0">
              <a:spcAft>
                <a:spcPts val="200"/>
              </a:spcAft>
              <a:buNone/>
            </a:pPr>
            <a:r>
              <a:rPr lang="en-US" sz="1050" dirty="0">
                <a:solidFill>
                  <a:srgbClr val="334155"/>
                </a:solidFill>
                <a:latin typeface="Calibri" pitchFamily="34" charset="0"/>
                <a:ea typeface="Calibri" pitchFamily="34" charset="-122"/>
                <a:cs typeface="Calibri" pitchFamily="34" charset="-120"/>
              </a:rPr>
              <a:t>CR₃ = 35% + 25% + 20% = 80% — top three control 80% of the market.
</a:t>
            </a:r>
            <a:pPr indent="0" marL="0">
              <a:spcAft>
                <a:spcPts val="200"/>
              </a:spcAft>
              <a:buNone/>
            </a:pPr>
            <a:r>
              <a:rPr lang="en-US" sz="1050" b="1" dirty="0">
                <a:solidFill>
                  <a:srgbClr val="1B2A4A"/>
                </a:solidFill>
                <a:latin typeface="Calibri" pitchFamily="34" charset="0"/>
                <a:ea typeface="Calibri" pitchFamily="34" charset="-122"/>
                <a:cs typeface="Calibri" pitchFamily="34" charset="-120"/>
              </a:rPr>
              <a:t>2. </a:t>
            </a:r>
            <a:pPr indent="0" marL="0">
              <a:spcAft>
                <a:spcPts val="200"/>
              </a:spcAft>
              <a:buNone/>
            </a:pPr>
            <a:r>
              <a:rPr lang="en-US" sz="1050" dirty="0">
                <a:solidFill>
                  <a:srgbClr val="334155"/>
                </a:solidFill>
                <a:latin typeface="Calibri" pitchFamily="34" charset="0"/>
                <a:ea typeface="Calibri" pitchFamily="34" charset="-122"/>
                <a:cs typeface="Calibri" pitchFamily="34" charset="-120"/>
              </a:rPr>
              <a:t>HHI₃ = 0.35² + 0.25² + 0.20² = 0.1225 + 0.0625 + 0.0400 = 0.2250.
</a:t>
            </a:r>
            <a:pPr indent="0" marL="0">
              <a:spcAft>
                <a:spcPts val="200"/>
              </a:spcAft>
              <a:buNone/>
            </a:pPr>
            <a:r>
              <a:rPr lang="en-US" sz="1050" b="1" dirty="0">
                <a:solidFill>
                  <a:srgbClr val="1B2A4A"/>
                </a:solidFill>
                <a:latin typeface="Calibri" pitchFamily="34" charset="0"/>
                <a:ea typeface="Calibri" pitchFamily="34" charset="-122"/>
                <a:cs typeface="Calibri" pitchFamily="34" charset="-120"/>
              </a:rPr>
              <a:t>3. </a:t>
            </a:r>
            <a:pPr indent="0" marL="0">
              <a:spcAft>
                <a:spcPts val="200"/>
              </a:spcAft>
              <a:buNone/>
            </a:pPr>
            <a:r>
              <a:rPr lang="en-US" sz="1050" dirty="0">
                <a:solidFill>
                  <a:srgbClr val="334155"/>
                </a:solidFill>
                <a:latin typeface="Calibri" pitchFamily="34" charset="0"/>
                <a:ea typeface="Calibri" pitchFamily="34" charset="-122"/>
                <a:cs typeface="Calibri" pitchFamily="34" charset="-120"/>
              </a:rPr>
              <a:t>Merger scenario: Zeta + Yusef merge to 60%. CR₃ only rises to 0.60 + 0.20 + 0.10 = 90% (+10 pp).
</a:t>
            </a:r>
            <a:pPr indent="0" marL="0">
              <a:spcAft>
                <a:spcPts val="200"/>
              </a:spcAft>
              <a:buNone/>
            </a:pPr>
            <a:r>
              <a:rPr lang="en-US" sz="1050" b="1" dirty="0">
                <a:solidFill>
                  <a:srgbClr val="1B2A4A"/>
                </a:solidFill>
                <a:latin typeface="Calibri" pitchFamily="34" charset="0"/>
                <a:ea typeface="Calibri" pitchFamily="34" charset="-122"/>
                <a:cs typeface="Calibri" pitchFamily="34" charset="-120"/>
              </a:rPr>
              <a:t>4. </a:t>
            </a:r>
            <a:pPr indent="0" marL="0">
              <a:spcAft>
                <a:spcPts val="200"/>
              </a:spcAft>
              <a:buNone/>
            </a:pPr>
            <a:r>
              <a:rPr lang="en-US" sz="1050" dirty="0">
                <a:solidFill>
                  <a:srgbClr val="334155"/>
                </a:solidFill>
                <a:latin typeface="Calibri" pitchFamily="34" charset="0"/>
                <a:ea typeface="Calibri" pitchFamily="34" charset="-122"/>
                <a:cs typeface="Calibri" pitchFamily="34" charset="-120"/>
              </a:rPr>
              <a:t>HHI₃ jumps to 0.60² + 0.20² + 0.10² = 0.36 + 0.04 + 0.01 = 0.41 — the merger DOUBLES HHI but barely moves CR.</a:t>
            </a:r>
            <a:endParaRPr lang="en-US" sz="1050" dirty="0"/>
          </a:p>
        </p:txBody>
      </p:sp>
      <p:sp>
        <p:nvSpPr>
          <p:cNvPr id="17" name="Shape 15"/>
          <p:cNvSpPr/>
          <p:nvPr/>
        </p:nvSpPr>
        <p:spPr>
          <a:xfrm>
            <a:off x="411480" y="3858768"/>
            <a:ext cx="8321040" cy="365760"/>
          </a:xfrm>
          <a:prstGeom prst="rect">
            <a:avLst/>
          </a:prstGeom>
          <a:solidFill>
            <a:srgbClr val="E8600A"/>
          </a:solidFill>
          <a:ln/>
        </p:spPr>
      </p:sp>
      <p:sp>
        <p:nvSpPr>
          <p:cNvPr id="18" name="Text 16"/>
          <p:cNvSpPr txBox="1"/>
          <p:nvPr/>
        </p:nvSpPr>
        <p:spPr>
          <a:xfrm>
            <a:off x="457200" y="3858768"/>
            <a:ext cx="8229600" cy="365760"/>
          </a:xfrm>
          <a:prstGeom prst="rect">
            <a:avLst/>
          </a:prstGeom>
          <a:noFill/>
          <a:ln/>
        </p:spPr>
        <p:txBody>
          <a:bodyPr wrap="square" lIns="508" tIns="508" rIns="508" bIns="508" rtlCol="0" anchor="ctr">
            <a:normAutofit/>
            <a:spAutoFit/>
          </a:bodyPr>
          <a:lstStyle/>
          <a:p>
            <a:pPr algn="l" indent="0" marL="0">
              <a:buNone/>
            </a:pPr>
            <a:r>
              <a:rPr lang="en-US" sz="1150" b="1" dirty="0">
                <a:solidFill>
                  <a:srgbClr val="FFFFFF"/>
                </a:solidFill>
                <a:latin typeface="Consolas" pitchFamily="34" charset="0"/>
                <a:ea typeface="Consolas" pitchFamily="34" charset="-122"/>
                <a:cs typeface="Consolas" pitchFamily="34" charset="-120"/>
              </a:rPr>
              <a:t>Pre-merger HHI₃ = 0.225. Post-merger HHI₃ = 0.41 — HHI is the more merger-sensitive gauge.</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B2A4A"/>
          </a:solidFill>
          <a:ln/>
        </p:spPr>
      </p:sp>
      <p:sp>
        <p:nvSpPr>
          <p:cNvPr id="3" name="Shape 1"/>
          <p:cNvSpPr/>
          <p:nvPr/>
        </p:nvSpPr>
        <p:spPr>
          <a:xfrm>
            <a:off x="0" y="0"/>
            <a:ext cx="201168" cy="5143500"/>
          </a:xfrm>
          <a:prstGeom prst="rect">
            <a:avLst/>
          </a:prstGeom>
          <a:solidFill>
            <a:srgbClr val="E8600A"/>
          </a:solidFill>
          <a:ln/>
        </p:spPr>
      </p:sp>
      <p:sp>
        <p:nvSpPr>
          <p:cNvPr id="4" name="Text 2"/>
          <p:cNvSpPr txBox="1"/>
          <p:nvPr/>
        </p:nvSpPr>
        <p:spPr>
          <a:xfrm>
            <a:off x="914400" y="1371600"/>
            <a:ext cx="7315200" cy="411480"/>
          </a:xfrm>
          <a:prstGeom prst="rect">
            <a:avLst/>
          </a:prstGeom>
          <a:noFill/>
          <a:ln/>
        </p:spPr>
        <p:txBody>
          <a:bodyPr wrap="square" lIns="508" tIns="508" rIns="508" bIns="508" rtlCol="0" anchor="ctr">
            <a:normAutofit/>
            <a:spAutoFit/>
          </a:bodyPr>
          <a:lstStyle/>
          <a:p>
            <a:pPr algn="l" indent="0" marL="0">
              <a:buNone/>
            </a:pPr>
            <a:r>
              <a:rPr lang="en-US" sz="1200" b="1" spc="600" kern="0" dirty="0">
                <a:solidFill>
                  <a:srgbClr val="FFFFFF"/>
                </a:solidFill>
                <a:latin typeface="Trebuchet MS" pitchFamily="34" charset="0"/>
                <a:ea typeface="Trebuchet MS" pitchFamily="34" charset="-122"/>
                <a:cs typeface="Trebuchet MS" pitchFamily="34" charset="-120"/>
              </a:rPr>
              <a:t>SECTION 04</a:t>
            </a:r>
            <a:endParaRPr lang="en-US" sz="1200" dirty="0"/>
          </a:p>
        </p:txBody>
      </p:sp>
      <p:sp>
        <p:nvSpPr>
          <p:cNvPr id="5" name="Shape 3"/>
          <p:cNvSpPr/>
          <p:nvPr/>
        </p:nvSpPr>
        <p:spPr>
          <a:xfrm>
            <a:off x="914400" y="1920240"/>
            <a:ext cx="2743200" cy="45720"/>
          </a:xfrm>
          <a:prstGeom prst="rect">
            <a:avLst/>
          </a:prstGeom>
          <a:solidFill>
            <a:srgbClr val="FFFFFF"/>
          </a:solidFill>
          <a:ln/>
        </p:spPr>
      </p:sp>
      <p:sp>
        <p:nvSpPr>
          <p:cNvPr id="6" name="Text 4"/>
          <p:cNvSpPr txBox="1"/>
          <p:nvPr/>
        </p:nvSpPr>
        <p:spPr>
          <a:xfrm>
            <a:off x="914400" y="2057400"/>
            <a:ext cx="7315200" cy="1645920"/>
          </a:xfrm>
          <a:prstGeom prst="rect">
            <a:avLst/>
          </a:prstGeom>
          <a:noFill/>
          <a:ln/>
        </p:spPr>
        <p:txBody>
          <a:bodyPr wrap="square" lIns="508" tIns="508" rIns="508" bIns="508" rtlCol="0" anchor="t">
            <a:normAutofit/>
            <a:spAutoFit/>
          </a:bodyPr>
          <a:lstStyle/>
          <a:p>
            <a:pPr algn="l" indent="0" marL="0">
              <a:buNone/>
            </a:pPr>
            <a:r>
              <a:rPr lang="en-US" sz="3200" b="1" dirty="0">
                <a:solidFill>
                  <a:srgbClr val="FFFFFF"/>
                </a:solidFill>
                <a:latin typeface="Trebuchet MS" pitchFamily="34" charset="0"/>
                <a:ea typeface="Trebuchet MS" pitchFamily="34" charset="-122"/>
                <a:cs typeface="Trebuchet MS" pitchFamily="34" charset="-120"/>
              </a:rPr>
              <a:t>Business cycle</a:t>
            </a:r>
            <a:endParaRPr lang="en-US" sz="3200" dirty="0"/>
          </a:p>
          <a:p>
            <a:pPr algn="l" indent="0" marL="0">
              <a:buNone/>
            </a:pPr>
            <a:r>
              <a:rPr lang="en-US" sz="3200" b="1" dirty="0">
                <a:solidFill>
                  <a:srgbClr val="FFFFFF"/>
                </a:solidFill>
                <a:latin typeface="Trebuchet MS" pitchFamily="34" charset="0"/>
                <a:ea typeface="Trebuchet MS" pitchFamily="34" charset="-122"/>
                <a:cs typeface="Trebuchet MS" pitchFamily="34" charset="-120"/>
              </a:rPr>
              <a:t>phases &amp; indicators</a:t>
            </a:r>
            <a:endParaRPr lang="en-US" sz="3200" dirty="0"/>
          </a:p>
        </p:txBody>
      </p:sp>
      <p:sp>
        <p:nvSpPr>
          <p:cNvPr id="7" name="Text 5"/>
          <p:cNvSpPr txBox="1"/>
          <p:nvPr/>
        </p:nvSpPr>
        <p:spPr>
          <a:xfrm>
            <a:off x="914400" y="4640580"/>
            <a:ext cx="7315200" cy="274320"/>
          </a:xfrm>
          <a:prstGeom prst="rect">
            <a:avLst/>
          </a:prstGeom>
          <a:noFill/>
          <a:ln/>
        </p:spPr>
        <p:txBody>
          <a:bodyPr wrap="square" lIns="508" tIns="508" rIns="508" bIns="508" rtlCol="0" anchor="ctr">
            <a:normAutofit/>
            <a:spAutoFit/>
          </a:bodyPr>
          <a:lstStyle/>
          <a:p>
            <a:pPr algn="l" indent="0" marL="0">
              <a:buNone/>
            </a:pPr>
            <a:r>
              <a:rPr lang="en-US" sz="750" i="1" dirty="0">
                <a:solidFill>
                  <a:srgbClr val="E8ECF0"/>
                </a:solidFill>
                <a:latin typeface="Calibri" pitchFamily="34" charset="0"/>
                <a:ea typeface="Calibri" pitchFamily="34" charset="-122"/>
                <a:cs typeface="Calibri" pitchFamily="34" charset="-120"/>
              </a:rPr>
              <a:t>Section 4 of 6  ·  Deck 4 of 20  ·  Studio Tonton Gug</a:t>
            </a:r>
            <a:endParaRPr lang="en-US" sz="7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B2A4A"/>
          </a:solidFill>
          <a:ln/>
        </p:spPr>
      </p:sp>
      <p:sp>
        <p:nvSpPr>
          <p:cNvPr id="3" name="Shape 1"/>
          <p:cNvSpPr/>
          <p:nvPr/>
        </p:nvSpPr>
        <p:spPr>
          <a:xfrm>
            <a:off x="0" y="0"/>
            <a:ext cx="109728" cy="621792"/>
          </a:xfrm>
          <a:prstGeom prst="rect">
            <a:avLst/>
          </a:prstGeom>
          <a:solidFill>
            <a:srgbClr val="E8600A"/>
          </a:solidFill>
          <a:ln/>
        </p:spPr>
      </p:sp>
      <p:sp>
        <p:nvSpPr>
          <p:cNvPr id="4" name="Text 2"/>
          <p:cNvSpPr txBox="1"/>
          <p:nvPr/>
        </p:nvSpPr>
        <p:spPr>
          <a:xfrm>
            <a:off x="256032" y="0"/>
            <a:ext cx="8686800" cy="621792"/>
          </a:xfrm>
          <a:prstGeom prst="rect">
            <a:avLst/>
          </a:prstGeom>
          <a:noFill/>
          <a:ln/>
        </p:spPr>
        <p:txBody>
          <a:bodyPr wrap="square" lIns="508" tIns="508" rIns="508" bIns="508" rtlCol="0" anchor="ctr">
            <a:normAutofit/>
            <a:spAutoFit/>
          </a:bodyPr>
          <a:lstStyle/>
          <a:p>
            <a:pPr algn="l" indent="0" marL="0">
              <a:buNone/>
            </a:pPr>
            <a:r>
              <a:rPr lang="en-US" sz="1600" b="1" dirty="0">
                <a:solidFill>
                  <a:srgbClr val="FFFFFF"/>
                </a:solidFill>
                <a:latin typeface="Trebuchet MS" pitchFamily="34" charset="0"/>
                <a:ea typeface="Trebuchet MS" pitchFamily="34" charset="-122"/>
                <a:cs typeface="Trebuchet MS" pitchFamily="34" charset="-120"/>
              </a:rPr>
              <a:t>The business cycle has four phases — recovery, expansion, slowdown, contraction — distinguished by the output gap relative to potential GDP</a:t>
            </a:r>
            <a:endParaRPr lang="en-US" sz="1600" dirty="0"/>
          </a:p>
        </p:txBody>
      </p:sp>
      <p:sp>
        <p:nvSpPr>
          <p:cNvPr id="5" name="Shape 3"/>
          <p:cNvSpPr/>
          <p:nvPr/>
        </p:nvSpPr>
        <p:spPr>
          <a:xfrm>
            <a:off x="0" y="4892040"/>
            <a:ext cx="9144000" cy="256032"/>
          </a:xfrm>
          <a:prstGeom prst="rect">
            <a:avLst/>
          </a:prstGeom>
          <a:solidFill>
            <a:srgbClr val="E8ECF0"/>
          </a:solidFill>
          <a:ln/>
        </p:spPr>
      </p:sp>
      <p:sp>
        <p:nvSpPr>
          <p:cNvPr id="6" name="Text 4"/>
          <p:cNvSpPr txBox="1"/>
          <p:nvPr/>
        </p:nvSpPr>
        <p:spPr>
          <a:xfrm>
            <a:off x="274320" y="4892040"/>
            <a:ext cx="5943600" cy="256032"/>
          </a:xfrm>
          <a:prstGeom prst="rect">
            <a:avLst/>
          </a:prstGeom>
          <a:noFill/>
          <a:ln/>
        </p:spPr>
        <p:txBody>
          <a:bodyPr wrap="square" lIns="508" tIns="508" rIns="508" bIns="508" rtlCol="0" anchor="ctr">
            <a:normAutofit/>
            <a:spAutoFit/>
          </a:bodyPr>
          <a:lstStyle/>
          <a:p>
            <a:pPr algn="l" indent="0" marL="0">
              <a:buNone/>
            </a:pPr>
            <a:r>
              <a:rPr lang="en-US" sz="750" dirty="0">
                <a:solidFill>
                  <a:srgbClr val="6B7A8D"/>
                </a:solidFill>
                <a:latin typeface="Calibri" pitchFamily="34" charset="0"/>
                <a:ea typeface="Calibri" pitchFamily="34" charset="-122"/>
                <a:cs typeface="Calibri" pitchFamily="34" charset="-120"/>
              </a:rPr>
              <a:t>STUDIO TONTON GUG  ·  Finance Fundamentals</a:t>
            </a:r>
            <a:endParaRPr lang="en-US" sz="750" dirty="0"/>
          </a:p>
        </p:txBody>
      </p:sp>
      <p:sp>
        <p:nvSpPr>
          <p:cNvPr id="7" name="Text 5"/>
          <p:cNvSpPr txBox="1"/>
          <p:nvPr/>
        </p:nvSpPr>
        <p:spPr>
          <a:xfrm>
            <a:off x="320040" y="4663440"/>
            <a:ext cx="8503920" cy="201168"/>
          </a:xfrm>
          <a:prstGeom prst="rect">
            <a:avLst/>
          </a:prstGeom>
          <a:noFill/>
          <a:ln/>
        </p:spPr>
        <p:txBody>
          <a:bodyPr wrap="square" lIns="508" tIns="508" rIns="508" bIns="508" rtlCol="0" anchor="t">
            <a:normAutofit/>
            <a:spAutoFit/>
          </a:bodyPr>
          <a:lstStyle/>
          <a:p>
            <a:pPr algn="l" indent="0" marL="0">
              <a:buNone/>
            </a:pPr>
            <a:r>
              <a:rPr lang="en-US" sz="750" i="1" dirty="0">
                <a:solidFill>
                  <a:srgbClr val="6B7A8D"/>
                </a:solidFill>
                <a:latin typeface="Calibri" pitchFamily="34" charset="0"/>
                <a:ea typeface="Calibri" pitchFamily="34" charset="-122"/>
                <a:cs typeface="Calibri" pitchFamily="34" charset="-120"/>
              </a:rPr>
              <a:t>Source: CFA Institute, Curriculum Vol 2, Learning Module 2, "Phases of the Business Cycle", pp. 52–55.</a:t>
            </a:r>
            <a:endParaRPr lang="en-US" sz="750" dirty="0"/>
          </a:p>
        </p:txBody>
      </p:sp>
      <p:sp>
        <p:nvSpPr>
          <p:cNvPr id="8" name="Text 6"/>
          <p:cNvSpPr txBox="1"/>
          <p:nvPr/>
        </p:nvSpPr>
        <p:spPr>
          <a:xfrm>
            <a:off x="320040" y="731520"/>
            <a:ext cx="8503920" cy="292608"/>
          </a:xfrm>
          <a:prstGeom prst="rect">
            <a:avLst/>
          </a:prstGeom>
          <a:noFill/>
          <a:ln/>
        </p:spPr>
        <p:txBody>
          <a:bodyPr wrap="square" lIns="508" tIns="508" rIns="508" bIns="508" rtlCol="0" anchor="ctr">
            <a:normAutofit/>
            <a:spAutoFit/>
          </a:bodyPr>
          <a:lstStyle/>
          <a:p>
            <a:pPr algn="l" indent="0" marL="0">
              <a:buNone/>
            </a:pPr>
            <a:r>
              <a:rPr lang="en-US" sz="1300" i="1" dirty="0">
                <a:solidFill>
                  <a:srgbClr val="334155"/>
                </a:solidFill>
                <a:latin typeface="Calibri" pitchFamily="34" charset="0"/>
                <a:ea typeface="Calibri" pitchFamily="34" charset="-122"/>
                <a:cs typeface="Calibri" pitchFamily="34" charset="-120"/>
              </a:rPr>
              <a:t>The output gap = actual GDP minus potential GDP. Negative in recovery and contraction; positive in expansion and slowdown. Rate-of-change of the gap defines the phase.</a:t>
            </a:r>
            <a:endParaRPr lang="en-US" sz="13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20040" y="1188720"/>
          <a:ext cx="8503920" cy="914400"/>
        </p:xfrm>
        <a:graphic>
          <a:graphicData uri="http://schemas.openxmlformats.org/drawingml/2006/table">
            <a:tbl>
              <a:tblPr/>
              <a:tblGrid>
                <a:gridCol w="1645920"/>
                <a:gridCol w="2468880"/>
                <a:gridCol w="2377440"/>
                <a:gridCol w="2011680"/>
              </a:tblGrid>
              <a:tr h="274320">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Phase</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Output gap</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Employment</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Inflation</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Recovery</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Negative, narrowing</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Layoffs slow, hiring resumes</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Moderate</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Expansion</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Negative → positive</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Hiring accelerates, U falls</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Picks up modestly</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Slowdown</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Positive, narrowing</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Hiring continues but decelerates</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Accelerates further</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Contraction</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Positive → negative</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Hours cut, then layoffs</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Decelerates with a lag</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r>
            </a:tbl>
          </a:graphicData>
        </a:graphic>
      </p:graphicFrame>
      <p:sp>
        <p:nvSpPr>
          <p:cNvPr id="10" name="Shape 7"/>
          <p:cNvSpPr/>
          <p:nvPr/>
        </p:nvSpPr>
        <p:spPr>
          <a:xfrm>
            <a:off x="320040" y="3017520"/>
            <a:ext cx="8503920" cy="1280160"/>
          </a:xfrm>
          <a:prstGeom prst="rect">
            <a:avLst/>
          </a:prstGeom>
          <a:solidFill>
            <a:srgbClr val="FEF0E7"/>
          </a:solidFill>
          <a:ln/>
        </p:spPr>
      </p:sp>
      <p:sp>
        <p:nvSpPr>
          <p:cNvPr id="11" name="Shape 8"/>
          <p:cNvSpPr/>
          <p:nvPr/>
        </p:nvSpPr>
        <p:spPr>
          <a:xfrm>
            <a:off x="320040" y="3017520"/>
            <a:ext cx="73152" cy="1280160"/>
          </a:xfrm>
          <a:prstGeom prst="rect">
            <a:avLst/>
          </a:prstGeom>
          <a:solidFill>
            <a:srgbClr val="E8600A"/>
          </a:solidFill>
          <a:ln/>
        </p:spPr>
      </p:sp>
      <p:sp>
        <p:nvSpPr>
          <p:cNvPr id="12" name="Text 9"/>
          <p:cNvSpPr txBox="1"/>
          <p:nvPr/>
        </p:nvSpPr>
        <p:spPr>
          <a:xfrm>
            <a:off x="457200" y="3063240"/>
            <a:ext cx="8275320" cy="256032"/>
          </a:xfrm>
          <a:prstGeom prst="rect">
            <a:avLst/>
          </a:prstGeom>
          <a:noFill/>
          <a:ln/>
        </p:spPr>
        <p:txBody>
          <a:bodyPr wrap="square" lIns="508" tIns="508" rIns="508" bIns="508" rtlCol="0" anchor="ctr">
            <a:normAutofit/>
            <a:spAutoFit/>
          </a:bodyPr>
          <a:lstStyle/>
          <a:p>
            <a:pPr algn="l" indent="0" marL="0">
              <a:buNone/>
            </a:pPr>
            <a:r>
              <a:rPr lang="en-US" sz="1100" b="1" spc="400" kern="0" dirty="0">
                <a:solidFill>
                  <a:srgbClr val="E8600A"/>
                </a:solidFill>
                <a:latin typeface="Trebuchet MS" pitchFamily="34" charset="0"/>
                <a:ea typeface="Trebuchet MS" pitchFamily="34" charset="-122"/>
                <a:cs typeface="Trebuchet MS" pitchFamily="34" charset="-120"/>
              </a:rPr>
              <a:t>RULE OF THUMB VS NBER METHOD</a:t>
            </a:r>
            <a:endParaRPr lang="en-US" sz="1100" dirty="0"/>
          </a:p>
        </p:txBody>
      </p:sp>
      <p:sp>
        <p:nvSpPr>
          <p:cNvPr id="13" name="Text 10"/>
          <p:cNvSpPr txBox="1"/>
          <p:nvPr/>
        </p:nvSpPr>
        <p:spPr>
          <a:xfrm>
            <a:off x="457200" y="3337560"/>
            <a:ext cx="8275320" cy="914400"/>
          </a:xfrm>
          <a:prstGeom prst="rect">
            <a:avLst/>
          </a:prstGeom>
          <a:noFill/>
          <a:ln/>
        </p:spPr>
        <p:txBody>
          <a:bodyPr wrap="square" lIns="508" tIns="508" rIns="508" bIns="508" rtlCol="0" anchor="t">
            <a:normAutofit/>
            <a:spAutoFit/>
          </a:bodyPr>
          <a:lstStyle/>
          <a:p>
            <a:pPr algn="l" indent="0" marL="0">
              <a:buNone/>
            </a:pPr>
            <a:r>
              <a:rPr lang="en-US" sz="1200" dirty="0">
                <a:solidFill>
                  <a:srgbClr val="334155"/>
                </a:solidFill>
                <a:latin typeface="Calibri" pitchFamily="34" charset="0"/>
                <a:ea typeface="Calibri" pitchFamily="34" charset="-122"/>
                <a:cs typeface="Calibri" pitchFamily="34" charset="-120"/>
              </a:rPr>
              <a:t>The informal rule: two consecutive quarters of negative real GDP growth = recession. The NBER method looks at a broader basket — employment, industrial production, real personal income, manufacturing and trade sales — and dates business cycles with a lag of months or years. The simple rule can mislead (a slightly-positive middle quarter between two negatives wouldn't count) but is operationally useful for real-time calls.</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B2A4A"/>
          </a:solidFill>
          <a:ln/>
        </p:spPr>
      </p:sp>
      <p:sp>
        <p:nvSpPr>
          <p:cNvPr id="3" name="Shape 1"/>
          <p:cNvSpPr/>
          <p:nvPr/>
        </p:nvSpPr>
        <p:spPr>
          <a:xfrm>
            <a:off x="0" y="0"/>
            <a:ext cx="109728" cy="621792"/>
          </a:xfrm>
          <a:prstGeom prst="rect">
            <a:avLst/>
          </a:prstGeom>
          <a:solidFill>
            <a:srgbClr val="E8600A"/>
          </a:solidFill>
          <a:ln/>
        </p:spPr>
      </p:sp>
      <p:sp>
        <p:nvSpPr>
          <p:cNvPr id="4" name="Text 2"/>
          <p:cNvSpPr txBox="1"/>
          <p:nvPr/>
        </p:nvSpPr>
        <p:spPr>
          <a:xfrm>
            <a:off x="256032" y="0"/>
            <a:ext cx="8686800" cy="621792"/>
          </a:xfrm>
          <a:prstGeom prst="rect">
            <a:avLst/>
          </a:prstGeom>
          <a:noFill/>
          <a:ln/>
        </p:spPr>
        <p:txBody>
          <a:bodyPr wrap="square" lIns="508" tIns="508" rIns="508" bIns="508" rtlCol="0" anchor="ctr">
            <a:normAutofit/>
            <a:spAutoFit/>
          </a:bodyPr>
          <a:lstStyle/>
          <a:p>
            <a:pPr algn="l" indent="0" marL="0">
              <a:buNone/>
            </a:pPr>
            <a:r>
              <a:rPr lang="en-US" sz="1600" b="1" dirty="0">
                <a:solidFill>
                  <a:srgbClr val="FFFFFF"/>
                </a:solidFill>
                <a:latin typeface="Trebuchet MS" pitchFamily="34" charset="0"/>
                <a:ea typeface="Trebuchet MS" pitchFamily="34" charset="-122"/>
                <a:cs typeface="Trebuchet MS" pitchFamily="34" charset="-120"/>
              </a:rPr>
              <a:t>Classical, growth, and growth-rate cycles are three different measuring sticks — most modern analysts use the growth cycle around trend GDP</a:t>
            </a:r>
            <a:endParaRPr lang="en-US" sz="1600" dirty="0"/>
          </a:p>
        </p:txBody>
      </p:sp>
      <p:sp>
        <p:nvSpPr>
          <p:cNvPr id="5" name="Shape 3"/>
          <p:cNvSpPr/>
          <p:nvPr/>
        </p:nvSpPr>
        <p:spPr>
          <a:xfrm>
            <a:off x="0" y="4892040"/>
            <a:ext cx="9144000" cy="256032"/>
          </a:xfrm>
          <a:prstGeom prst="rect">
            <a:avLst/>
          </a:prstGeom>
          <a:solidFill>
            <a:srgbClr val="E8ECF0"/>
          </a:solidFill>
          <a:ln/>
        </p:spPr>
      </p:sp>
      <p:sp>
        <p:nvSpPr>
          <p:cNvPr id="6" name="Text 4"/>
          <p:cNvSpPr txBox="1"/>
          <p:nvPr/>
        </p:nvSpPr>
        <p:spPr>
          <a:xfrm>
            <a:off x="274320" y="4892040"/>
            <a:ext cx="5943600" cy="256032"/>
          </a:xfrm>
          <a:prstGeom prst="rect">
            <a:avLst/>
          </a:prstGeom>
          <a:noFill/>
          <a:ln/>
        </p:spPr>
        <p:txBody>
          <a:bodyPr wrap="square" lIns="508" tIns="508" rIns="508" bIns="508" rtlCol="0" anchor="ctr">
            <a:normAutofit/>
            <a:spAutoFit/>
          </a:bodyPr>
          <a:lstStyle/>
          <a:p>
            <a:pPr algn="l" indent="0" marL="0">
              <a:buNone/>
            </a:pPr>
            <a:r>
              <a:rPr lang="en-US" sz="750" dirty="0">
                <a:solidFill>
                  <a:srgbClr val="6B7A8D"/>
                </a:solidFill>
                <a:latin typeface="Calibri" pitchFamily="34" charset="0"/>
                <a:ea typeface="Calibri" pitchFamily="34" charset="-122"/>
                <a:cs typeface="Calibri" pitchFamily="34" charset="-120"/>
              </a:rPr>
              <a:t>STUDIO TONTON GUG  ·  Finance Fundamentals</a:t>
            </a:r>
            <a:endParaRPr lang="en-US" sz="750" dirty="0"/>
          </a:p>
        </p:txBody>
      </p:sp>
      <p:sp>
        <p:nvSpPr>
          <p:cNvPr id="7" name="Text 5"/>
          <p:cNvSpPr txBox="1"/>
          <p:nvPr/>
        </p:nvSpPr>
        <p:spPr>
          <a:xfrm>
            <a:off x="320040" y="4663440"/>
            <a:ext cx="8503920" cy="201168"/>
          </a:xfrm>
          <a:prstGeom prst="rect">
            <a:avLst/>
          </a:prstGeom>
          <a:noFill/>
          <a:ln/>
        </p:spPr>
        <p:txBody>
          <a:bodyPr wrap="square" lIns="508" tIns="508" rIns="508" bIns="508" rtlCol="0" anchor="t">
            <a:normAutofit/>
            <a:spAutoFit/>
          </a:bodyPr>
          <a:lstStyle/>
          <a:p>
            <a:pPr algn="l" indent="0" marL="0">
              <a:buNone/>
            </a:pPr>
            <a:r>
              <a:rPr lang="en-US" sz="750" i="1" dirty="0">
                <a:solidFill>
                  <a:srgbClr val="6B7A8D"/>
                </a:solidFill>
                <a:latin typeface="Calibri" pitchFamily="34" charset="0"/>
                <a:ea typeface="Calibri" pitchFamily="34" charset="-122"/>
                <a:cs typeface="Calibri" pitchFamily="34" charset="-120"/>
              </a:rPr>
              <a:t>Source: CFA Institute, Curriculum Vol 2, Learning Module 2, "Types of Cycles", pp. 52–54.</a:t>
            </a:r>
            <a:endParaRPr lang="en-US" sz="750" dirty="0"/>
          </a:p>
        </p:txBody>
      </p:sp>
      <p:sp>
        <p:nvSpPr>
          <p:cNvPr id="8" name="Text 6"/>
          <p:cNvSpPr txBox="1"/>
          <p:nvPr/>
        </p:nvSpPr>
        <p:spPr>
          <a:xfrm>
            <a:off x="320040" y="731520"/>
            <a:ext cx="8503920" cy="292608"/>
          </a:xfrm>
          <a:prstGeom prst="rect">
            <a:avLst/>
          </a:prstGeom>
          <a:noFill/>
          <a:ln/>
        </p:spPr>
        <p:txBody>
          <a:bodyPr wrap="square" lIns="508" tIns="508" rIns="508" bIns="508" rtlCol="0" anchor="ctr">
            <a:normAutofit/>
            <a:spAutoFit/>
          </a:bodyPr>
          <a:lstStyle/>
          <a:p>
            <a:pPr algn="l" indent="0" marL="0">
              <a:buNone/>
            </a:pPr>
            <a:r>
              <a:rPr lang="en-US" sz="1300" i="1" dirty="0">
                <a:solidFill>
                  <a:srgbClr val="334155"/>
                </a:solidFill>
                <a:latin typeface="Calibri" pitchFamily="34" charset="0"/>
                <a:ea typeface="Calibri" pitchFamily="34" charset="-122"/>
                <a:cs typeface="Calibri" pitchFamily="34" charset="-120"/>
              </a:rPr>
              <a:t>The classical cycle is rarely useful today because true level-declines in GDP are uncommon. The growth cycle speaks the language of most modern macro.</a:t>
            </a:r>
            <a:endParaRPr lang="en-US" sz="1300" dirty="0"/>
          </a:p>
        </p:txBody>
      </p:sp>
      <p:sp>
        <p:nvSpPr>
          <p:cNvPr id="9" name="Shape 7"/>
          <p:cNvSpPr/>
          <p:nvPr/>
        </p:nvSpPr>
        <p:spPr>
          <a:xfrm>
            <a:off x="320040" y="1188720"/>
            <a:ext cx="2743200" cy="3108960"/>
          </a:xfrm>
          <a:prstGeom prst="rect">
            <a:avLst/>
          </a:prstGeom>
          <a:solidFill>
            <a:srgbClr val="F5F7FA"/>
          </a:solidFill>
          <a:ln/>
        </p:spPr>
      </p:sp>
      <p:sp>
        <p:nvSpPr>
          <p:cNvPr id="10" name="Shape 8"/>
          <p:cNvSpPr/>
          <p:nvPr/>
        </p:nvSpPr>
        <p:spPr>
          <a:xfrm>
            <a:off x="320040" y="1188720"/>
            <a:ext cx="73152" cy="3108960"/>
          </a:xfrm>
          <a:prstGeom prst="rect">
            <a:avLst/>
          </a:prstGeom>
          <a:solidFill>
            <a:srgbClr val="1B2A4A"/>
          </a:solidFill>
          <a:ln/>
        </p:spPr>
      </p:sp>
      <p:sp>
        <p:nvSpPr>
          <p:cNvPr id="11" name="Text 9"/>
          <p:cNvSpPr txBox="1"/>
          <p:nvPr/>
        </p:nvSpPr>
        <p:spPr>
          <a:xfrm>
            <a:off x="457200" y="1234440"/>
            <a:ext cx="2514600" cy="256032"/>
          </a:xfrm>
          <a:prstGeom prst="rect">
            <a:avLst/>
          </a:prstGeom>
          <a:noFill/>
          <a:ln/>
        </p:spPr>
        <p:txBody>
          <a:bodyPr wrap="square" lIns="508" tIns="508" rIns="508" bIns="508" rtlCol="0" anchor="ctr">
            <a:normAutofit/>
            <a:spAutoFit/>
          </a:bodyPr>
          <a:lstStyle/>
          <a:p>
            <a:pPr algn="l" indent="0" marL="0">
              <a:buNone/>
            </a:pPr>
            <a:r>
              <a:rPr lang="en-US" sz="1100" b="1" spc="400" kern="0" dirty="0">
                <a:solidFill>
                  <a:srgbClr val="1B2A4A"/>
                </a:solidFill>
                <a:latin typeface="Trebuchet MS" pitchFamily="34" charset="0"/>
                <a:ea typeface="Trebuchet MS" pitchFamily="34" charset="-122"/>
                <a:cs typeface="Trebuchet MS" pitchFamily="34" charset="-120"/>
              </a:rPr>
              <a:t>CLASSICAL CYCLE</a:t>
            </a:r>
            <a:endParaRPr lang="en-US" sz="1100" dirty="0"/>
          </a:p>
        </p:txBody>
      </p:sp>
      <p:sp>
        <p:nvSpPr>
          <p:cNvPr id="12" name="Text 10"/>
          <p:cNvSpPr txBox="1"/>
          <p:nvPr/>
        </p:nvSpPr>
        <p:spPr>
          <a:xfrm>
            <a:off x="457200" y="1508760"/>
            <a:ext cx="2514600" cy="2743200"/>
          </a:xfrm>
          <a:prstGeom prst="rect">
            <a:avLst/>
          </a:prstGeom>
          <a:noFill/>
          <a:ln/>
        </p:spPr>
        <p:txBody>
          <a:bodyPr wrap="square" lIns="508" tIns="508" rIns="508" bIns="508" rtlCol="0" anchor="t">
            <a:normAutofit/>
            <a:spAutoFit/>
          </a:bodyPr>
          <a:lstStyle/>
          <a:p>
            <a:pPr algn="l" indent="0" marL="0">
              <a:buNone/>
            </a:pPr>
            <a:r>
              <a:rPr lang="en-US" sz="1200" dirty="0">
                <a:solidFill>
                  <a:srgbClr val="334155"/>
                </a:solidFill>
                <a:latin typeface="Calibri" pitchFamily="34" charset="0"/>
                <a:ea typeface="Calibri" pitchFamily="34" charset="-122"/>
                <a:cs typeface="Calibri" pitchFamily="34" charset="-120"/>
              </a:rPr>
              <a:t>Fluctuations in the LEVEL of economic activity (volume GDP).</a:t>
            </a:r>
            <a:endParaRPr lang="en-US" sz="1200" dirty="0"/>
          </a:p>
          <a:p>
            <a:pPr algn="l" indent="0" marL="0">
              <a:buNone/>
            </a:pPr>
            <a:endParaRPr lang="en-US" sz="1200" dirty="0"/>
          </a:p>
          <a:p>
            <a:pPr algn="l" indent="0" marL="0">
              <a:buNone/>
            </a:pPr>
            <a:r>
              <a:rPr lang="en-US" sz="1200" dirty="0">
                <a:solidFill>
                  <a:srgbClr val="334155"/>
                </a:solidFill>
                <a:latin typeface="Calibri" pitchFamily="34" charset="0"/>
                <a:ea typeface="Calibri" pitchFamily="34" charset="-122"/>
                <a:cs typeface="Calibri" pitchFamily="34" charset="-120"/>
              </a:rPr>
              <a:t>Expansions are long; contractions short. Peaks = local maxima, troughs = local minima of the level.</a:t>
            </a:r>
            <a:endParaRPr lang="en-US" sz="1200" dirty="0"/>
          </a:p>
          <a:p>
            <a:pPr algn="l" indent="0" marL="0">
              <a:buNone/>
            </a:pPr>
            <a:endParaRPr lang="en-US" sz="1200" dirty="0"/>
          </a:p>
          <a:p>
            <a:pPr algn="l" indent="0" marL="0">
              <a:buNone/>
            </a:pPr>
            <a:r>
              <a:rPr lang="en-US" sz="1200" dirty="0">
                <a:solidFill>
                  <a:srgbClr val="334155"/>
                </a:solidFill>
                <a:latin typeface="Calibri" pitchFamily="34" charset="0"/>
                <a:ea typeface="Calibri" pitchFamily="34" charset="-122"/>
                <a:cs typeface="Calibri" pitchFamily="34" charset="-120"/>
              </a:rPr>
              <a:t>Rarely used in practice — GDP falls in absolute terms less than once a decade in most developed economies.</a:t>
            </a:r>
            <a:endParaRPr lang="en-US" sz="1200" dirty="0"/>
          </a:p>
        </p:txBody>
      </p:sp>
      <p:sp>
        <p:nvSpPr>
          <p:cNvPr id="13" name="Shape 11"/>
          <p:cNvSpPr/>
          <p:nvPr/>
        </p:nvSpPr>
        <p:spPr>
          <a:xfrm>
            <a:off x="3200400" y="1188720"/>
            <a:ext cx="2743200" cy="3108960"/>
          </a:xfrm>
          <a:prstGeom prst="rect">
            <a:avLst/>
          </a:prstGeom>
          <a:solidFill>
            <a:srgbClr val="FEF0E7"/>
          </a:solidFill>
          <a:ln/>
        </p:spPr>
      </p:sp>
      <p:sp>
        <p:nvSpPr>
          <p:cNvPr id="14" name="Shape 12"/>
          <p:cNvSpPr/>
          <p:nvPr/>
        </p:nvSpPr>
        <p:spPr>
          <a:xfrm>
            <a:off x="3200400" y="1188720"/>
            <a:ext cx="73152" cy="3108960"/>
          </a:xfrm>
          <a:prstGeom prst="rect">
            <a:avLst/>
          </a:prstGeom>
          <a:solidFill>
            <a:srgbClr val="E8600A"/>
          </a:solidFill>
          <a:ln/>
        </p:spPr>
      </p:sp>
      <p:sp>
        <p:nvSpPr>
          <p:cNvPr id="15" name="Text 13"/>
          <p:cNvSpPr txBox="1"/>
          <p:nvPr/>
        </p:nvSpPr>
        <p:spPr>
          <a:xfrm>
            <a:off x="3337560" y="1234440"/>
            <a:ext cx="2514600" cy="256032"/>
          </a:xfrm>
          <a:prstGeom prst="rect">
            <a:avLst/>
          </a:prstGeom>
          <a:noFill/>
          <a:ln/>
        </p:spPr>
        <p:txBody>
          <a:bodyPr wrap="square" lIns="508" tIns="508" rIns="508" bIns="508" rtlCol="0" anchor="ctr">
            <a:normAutofit/>
            <a:spAutoFit/>
          </a:bodyPr>
          <a:lstStyle/>
          <a:p>
            <a:pPr algn="l" indent="0" marL="0">
              <a:buNone/>
            </a:pPr>
            <a:r>
              <a:rPr lang="en-US" sz="1100" b="1" spc="400" kern="0" dirty="0">
                <a:solidFill>
                  <a:srgbClr val="E8600A"/>
                </a:solidFill>
                <a:latin typeface="Trebuchet MS" pitchFamily="34" charset="0"/>
                <a:ea typeface="Trebuchet MS" pitchFamily="34" charset="-122"/>
                <a:cs typeface="Trebuchet MS" pitchFamily="34" charset="-120"/>
              </a:rPr>
              <a:t>GROWTH CYCLE</a:t>
            </a:r>
            <a:endParaRPr lang="en-US" sz="1100" dirty="0"/>
          </a:p>
        </p:txBody>
      </p:sp>
      <p:sp>
        <p:nvSpPr>
          <p:cNvPr id="16" name="Text 14"/>
          <p:cNvSpPr txBox="1"/>
          <p:nvPr/>
        </p:nvSpPr>
        <p:spPr>
          <a:xfrm>
            <a:off x="3337560" y="1508760"/>
            <a:ext cx="2514600" cy="2743200"/>
          </a:xfrm>
          <a:prstGeom prst="rect">
            <a:avLst/>
          </a:prstGeom>
          <a:noFill/>
          <a:ln/>
        </p:spPr>
        <p:txBody>
          <a:bodyPr wrap="square" lIns="508" tIns="508" rIns="508" bIns="508" rtlCol="0" anchor="t">
            <a:normAutofit/>
            <a:spAutoFit/>
          </a:bodyPr>
          <a:lstStyle/>
          <a:p>
            <a:pPr algn="l" indent="0" marL="0">
              <a:buNone/>
            </a:pPr>
            <a:r>
              <a:rPr lang="en-US" sz="1200" dirty="0">
                <a:solidFill>
                  <a:srgbClr val="334155"/>
                </a:solidFill>
                <a:latin typeface="Calibri" pitchFamily="34" charset="0"/>
                <a:ea typeface="Calibri" pitchFamily="34" charset="-122"/>
                <a:cs typeface="Calibri" pitchFamily="34" charset="-120"/>
              </a:rPr>
              <a:t>Fluctuations AROUND the trend / potential growth path — the output gap.</a:t>
            </a:r>
            <a:endParaRPr lang="en-US" sz="1200" dirty="0"/>
          </a:p>
          <a:p>
            <a:pPr algn="l" indent="0" marL="0">
              <a:buNone/>
            </a:pPr>
            <a:endParaRPr lang="en-US" sz="1200" dirty="0"/>
          </a:p>
          <a:p>
            <a:pPr algn="l" indent="0" marL="0">
              <a:buNone/>
            </a:pPr>
            <a:r>
              <a:rPr lang="en-US" sz="1200" dirty="0">
                <a:solidFill>
                  <a:srgbClr val="334155"/>
                </a:solidFill>
                <a:latin typeface="Calibri" pitchFamily="34" charset="0"/>
                <a:ea typeface="Calibri" pitchFamily="34" charset="-122"/>
                <a:cs typeface="Calibri" pitchFamily="34" charset="-120"/>
              </a:rPr>
              <a:t>Peaks reached earlier, troughs later than in the classical cycle.</a:t>
            </a:r>
            <a:endParaRPr lang="en-US" sz="1200" dirty="0"/>
          </a:p>
          <a:p>
            <a:pPr algn="l" indent="0" marL="0">
              <a:buNone/>
            </a:pPr>
            <a:endParaRPr lang="en-US" sz="1200" dirty="0"/>
          </a:p>
          <a:p>
            <a:pPr algn="l" indent="0" marL="0">
              <a:buNone/>
            </a:pPr>
            <a:r>
              <a:rPr lang="en-US" sz="1200" dirty="0">
                <a:solidFill>
                  <a:srgbClr val="334155"/>
                </a:solidFill>
                <a:latin typeface="Calibri" pitchFamily="34" charset="0"/>
                <a:ea typeface="Calibri" pitchFamily="34" charset="-122"/>
                <a:cs typeface="Calibri" pitchFamily="34" charset="-120"/>
              </a:rPr>
              <a:t>Most common framework today. Used by OECD, IMF, Fed — and by this deck.</a:t>
            </a:r>
            <a:endParaRPr lang="en-US" sz="1200" dirty="0"/>
          </a:p>
        </p:txBody>
      </p:sp>
      <p:sp>
        <p:nvSpPr>
          <p:cNvPr id="17" name="Shape 15"/>
          <p:cNvSpPr/>
          <p:nvPr/>
        </p:nvSpPr>
        <p:spPr>
          <a:xfrm>
            <a:off x="6080760" y="1188720"/>
            <a:ext cx="2743200" cy="3108960"/>
          </a:xfrm>
          <a:prstGeom prst="rect">
            <a:avLst/>
          </a:prstGeom>
          <a:solidFill>
            <a:srgbClr val="F5F7FA"/>
          </a:solidFill>
          <a:ln/>
        </p:spPr>
      </p:sp>
      <p:sp>
        <p:nvSpPr>
          <p:cNvPr id="18" name="Shape 16"/>
          <p:cNvSpPr/>
          <p:nvPr/>
        </p:nvSpPr>
        <p:spPr>
          <a:xfrm>
            <a:off x="6080760" y="1188720"/>
            <a:ext cx="73152" cy="3108960"/>
          </a:xfrm>
          <a:prstGeom prst="rect">
            <a:avLst/>
          </a:prstGeom>
          <a:solidFill>
            <a:srgbClr val="1B2A4A"/>
          </a:solidFill>
          <a:ln/>
        </p:spPr>
      </p:sp>
      <p:sp>
        <p:nvSpPr>
          <p:cNvPr id="19" name="Text 17"/>
          <p:cNvSpPr txBox="1"/>
          <p:nvPr/>
        </p:nvSpPr>
        <p:spPr>
          <a:xfrm>
            <a:off x="6217920" y="1234440"/>
            <a:ext cx="2514600" cy="256032"/>
          </a:xfrm>
          <a:prstGeom prst="rect">
            <a:avLst/>
          </a:prstGeom>
          <a:noFill/>
          <a:ln/>
        </p:spPr>
        <p:txBody>
          <a:bodyPr wrap="square" lIns="508" tIns="508" rIns="508" bIns="508" rtlCol="0" anchor="ctr">
            <a:normAutofit/>
            <a:spAutoFit/>
          </a:bodyPr>
          <a:lstStyle/>
          <a:p>
            <a:pPr algn="l" indent="0" marL="0">
              <a:buNone/>
            </a:pPr>
            <a:r>
              <a:rPr lang="en-US" sz="1100" b="1" spc="400" kern="0" dirty="0">
                <a:solidFill>
                  <a:srgbClr val="1B2A4A"/>
                </a:solidFill>
                <a:latin typeface="Trebuchet MS" pitchFamily="34" charset="0"/>
                <a:ea typeface="Trebuchet MS" pitchFamily="34" charset="-122"/>
                <a:cs typeface="Trebuchet MS" pitchFamily="34" charset="-120"/>
              </a:rPr>
              <a:t>GROWTH-RATE CYCLE</a:t>
            </a:r>
            <a:endParaRPr lang="en-US" sz="1100" dirty="0"/>
          </a:p>
        </p:txBody>
      </p:sp>
      <p:sp>
        <p:nvSpPr>
          <p:cNvPr id="20" name="Text 18"/>
          <p:cNvSpPr txBox="1"/>
          <p:nvPr/>
        </p:nvSpPr>
        <p:spPr>
          <a:xfrm>
            <a:off x="6217920" y="1508760"/>
            <a:ext cx="2514600" cy="2743200"/>
          </a:xfrm>
          <a:prstGeom prst="rect">
            <a:avLst/>
          </a:prstGeom>
          <a:noFill/>
          <a:ln/>
        </p:spPr>
        <p:txBody>
          <a:bodyPr wrap="square" lIns="508" tIns="508" rIns="508" bIns="508" rtlCol="0" anchor="t">
            <a:normAutofit/>
            <a:spAutoFit/>
          </a:bodyPr>
          <a:lstStyle/>
          <a:p>
            <a:pPr algn="l" indent="0" marL="0">
              <a:buNone/>
            </a:pPr>
            <a:r>
              <a:rPr lang="en-US" sz="1200" dirty="0">
                <a:solidFill>
                  <a:srgbClr val="334155"/>
                </a:solidFill>
                <a:latin typeface="Calibri" pitchFamily="34" charset="0"/>
                <a:ea typeface="Calibri" pitchFamily="34" charset="-122"/>
                <a:cs typeface="Calibri" pitchFamily="34" charset="-120"/>
              </a:rPr>
              <a:t>Fluctuations in the GROWTH RATE itself (e.g., YoY GDP growth).</a:t>
            </a:r>
            <a:endParaRPr lang="en-US" sz="1200" dirty="0"/>
          </a:p>
          <a:p>
            <a:pPr algn="l" indent="0" marL="0">
              <a:buNone/>
            </a:pPr>
            <a:endParaRPr lang="en-US" sz="1200" dirty="0"/>
          </a:p>
          <a:p>
            <a:pPr algn="l" indent="0" marL="0">
              <a:buNone/>
            </a:pPr>
            <a:r>
              <a:rPr lang="en-US" sz="1200" dirty="0">
                <a:solidFill>
                  <a:srgbClr val="334155"/>
                </a:solidFill>
                <a:latin typeface="Calibri" pitchFamily="34" charset="0"/>
                <a:ea typeface="Calibri" pitchFamily="34" charset="-122"/>
                <a:cs typeface="Calibri" pitchFamily="34" charset="-120"/>
              </a:rPr>
              <a:t>No need to estimate trend. Peaks and troughs identified earliest of the three.</a:t>
            </a:r>
            <a:endParaRPr lang="en-US" sz="1200" dirty="0"/>
          </a:p>
          <a:p>
            <a:pPr algn="l" indent="0" marL="0">
              <a:buNone/>
            </a:pPr>
            <a:endParaRPr lang="en-US" sz="1200" dirty="0"/>
          </a:p>
          <a:p>
            <a:pPr algn="l" indent="0" marL="0">
              <a:buNone/>
            </a:pPr>
            <a:r>
              <a:rPr lang="en-US" sz="1200" dirty="0">
                <a:solidFill>
                  <a:srgbClr val="334155"/>
                </a:solidFill>
                <a:latin typeface="Calibri" pitchFamily="34" charset="0"/>
                <a:ea typeface="Calibri" pitchFamily="34" charset="-122"/>
                <a:cs typeface="Calibri" pitchFamily="34" charset="-120"/>
              </a:rPr>
              <a:t>Matches how central-bank watchers phrase calls: "growth has peaked."</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B2A4A"/>
          </a:solidFill>
          <a:ln/>
        </p:spPr>
      </p:sp>
      <p:sp>
        <p:nvSpPr>
          <p:cNvPr id="3" name="Shape 1"/>
          <p:cNvSpPr/>
          <p:nvPr/>
        </p:nvSpPr>
        <p:spPr>
          <a:xfrm>
            <a:off x="0" y="0"/>
            <a:ext cx="109728" cy="621792"/>
          </a:xfrm>
          <a:prstGeom prst="rect">
            <a:avLst/>
          </a:prstGeom>
          <a:solidFill>
            <a:srgbClr val="E8600A"/>
          </a:solidFill>
          <a:ln/>
        </p:spPr>
      </p:sp>
      <p:sp>
        <p:nvSpPr>
          <p:cNvPr id="4" name="Text 2"/>
          <p:cNvSpPr txBox="1"/>
          <p:nvPr/>
        </p:nvSpPr>
        <p:spPr>
          <a:xfrm>
            <a:off x="256032" y="0"/>
            <a:ext cx="8686800" cy="621792"/>
          </a:xfrm>
          <a:prstGeom prst="rect">
            <a:avLst/>
          </a:prstGeom>
          <a:noFill/>
          <a:ln/>
        </p:spPr>
        <p:txBody>
          <a:bodyPr wrap="square" lIns="508" tIns="508" rIns="508" bIns="508" rtlCol="0" anchor="ctr">
            <a:normAutofit/>
            <a:spAutoFit/>
          </a:bodyPr>
          <a:lstStyle/>
          <a:p>
            <a:pPr algn="l" indent="0" marL="0">
              <a:buNone/>
            </a:pPr>
            <a:r>
              <a:rPr lang="en-US" sz="1600" b="1" dirty="0">
                <a:solidFill>
                  <a:srgbClr val="FFFFFF"/>
                </a:solidFill>
                <a:latin typeface="Trebuchet MS" pitchFamily="34" charset="0"/>
                <a:ea typeface="Trebuchet MS" pitchFamily="34" charset="-122"/>
                <a:cs typeface="Trebuchet MS" pitchFamily="34" charset="-120"/>
              </a:rPr>
              <a:t>Credit cycles lead business cycles and amplify them — loose credit seeds the next recession by funding the excesses that later unwind</a:t>
            </a:r>
            <a:endParaRPr lang="en-US" sz="1600" dirty="0"/>
          </a:p>
        </p:txBody>
      </p:sp>
      <p:sp>
        <p:nvSpPr>
          <p:cNvPr id="5" name="Shape 3"/>
          <p:cNvSpPr/>
          <p:nvPr/>
        </p:nvSpPr>
        <p:spPr>
          <a:xfrm>
            <a:off x="0" y="4892040"/>
            <a:ext cx="9144000" cy="256032"/>
          </a:xfrm>
          <a:prstGeom prst="rect">
            <a:avLst/>
          </a:prstGeom>
          <a:solidFill>
            <a:srgbClr val="E8ECF0"/>
          </a:solidFill>
          <a:ln/>
        </p:spPr>
      </p:sp>
      <p:sp>
        <p:nvSpPr>
          <p:cNvPr id="6" name="Text 4"/>
          <p:cNvSpPr txBox="1"/>
          <p:nvPr/>
        </p:nvSpPr>
        <p:spPr>
          <a:xfrm>
            <a:off x="274320" y="4892040"/>
            <a:ext cx="5943600" cy="256032"/>
          </a:xfrm>
          <a:prstGeom prst="rect">
            <a:avLst/>
          </a:prstGeom>
          <a:noFill/>
          <a:ln/>
        </p:spPr>
        <p:txBody>
          <a:bodyPr wrap="square" lIns="508" tIns="508" rIns="508" bIns="508" rtlCol="0" anchor="ctr">
            <a:normAutofit/>
            <a:spAutoFit/>
          </a:bodyPr>
          <a:lstStyle/>
          <a:p>
            <a:pPr algn="l" indent="0" marL="0">
              <a:buNone/>
            </a:pPr>
            <a:r>
              <a:rPr lang="en-US" sz="750" dirty="0">
                <a:solidFill>
                  <a:srgbClr val="6B7A8D"/>
                </a:solidFill>
                <a:latin typeface="Calibri" pitchFamily="34" charset="0"/>
                <a:ea typeface="Calibri" pitchFamily="34" charset="-122"/>
                <a:cs typeface="Calibri" pitchFamily="34" charset="-120"/>
              </a:rPr>
              <a:t>STUDIO TONTON GUG  ·  Finance Fundamentals</a:t>
            </a:r>
            <a:endParaRPr lang="en-US" sz="750" dirty="0"/>
          </a:p>
        </p:txBody>
      </p:sp>
      <p:sp>
        <p:nvSpPr>
          <p:cNvPr id="7" name="Text 5"/>
          <p:cNvSpPr txBox="1"/>
          <p:nvPr/>
        </p:nvSpPr>
        <p:spPr>
          <a:xfrm>
            <a:off x="320040" y="4663440"/>
            <a:ext cx="8503920" cy="201168"/>
          </a:xfrm>
          <a:prstGeom prst="rect">
            <a:avLst/>
          </a:prstGeom>
          <a:noFill/>
          <a:ln/>
        </p:spPr>
        <p:txBody>
          <a:bodyPr wrap="square" lIns="508" tIns="508" rIns="508" bIns="508" rtlCol="0" anchor="t">
            <a:normAutofit/>
            <a:spAutoFit/>
          </a:bodyPr>
          <a:lstStyle/>
          <a:p>
            <a:pPr algn="l" indent="0" marL="0">
              <a:buNone/>
            </a:pPr>
            <a:r>
              <a:rPr lang="en-US" sz="750" i="1" dirty="0">
                <a:solidFill>
                  <a:srgbClr val="6B7A8D"/>
                </a:solidFill>
                <a:latin typeface="Calibri" pitchFamily="34" charset="0"/>
                <a:ea typeface="Calibri" pitchFamily="34" charset="-122"/>
                <a:cs typeface="Calibri" pitchFamily="34" charset="-120"/>
              </a:rPr>
              <a:t>Source: CFA Institute, Curriculum Vol 2, Learning Module 2, "Credit Cycles" and BIS visualization, pp. 57–60.</a:t>
            </a:r>
            <a:endParaRPr lang="en-US" sz="750" dirty="0"/>
          </a:p>
        </p:txBody>
      </p:sp>
      <p:sp>
        <p:nvSpPr>
          <p:cNvPr id="8" name="Text 6"/>
          <p:cNvSpPr txBox="1"/>
          <p:nvPr/>
        </p:nvSpPr>
        <p:spPr>
          <a:xfrm>
            <a:off x="320040" y="731520"/>
            <a:ext cx="8503920" cy="292608"/>
          </a:xfrm>
          <a:prstGeom prst="rect">
            <a:avLst/>
          </a:prstGeom>
          <a:noFill/>
          <a:ln/>
        </p:spPr>
        <p:txBody>
          <a:bodyPr wrap="square" lIns="508" tIns="508" rIns="508" bIns="508" rtlCol="0" anchor="ctr">
            <a:normAutofit/>
            <a:spAutoFit/>
          </a:bodyPr>
          <a:lstStyle/>
          <a:p>
            <a:pPr algn="l" indent="0" marL="0">
              <a:buNone/>
            </a:pPr>
            <a:r>
              <a:rPr lang="en-US" sz="1300" i="1" dirty="0">
                <a:solidFill>
                  <a:srgbClr val="334155"/>
                </a:solidFill>
                <a:latin typeface="Calibri" pitchFamily="34" charset="0"/>
                <a:ea typeface="Calibri" pitchFamily="34" charset="-122"/>
                <a:cs typeface="Calibri" pitchFamily="34" charset="-120"/>
              </a:rPr>
              <a:t>Average credit cycle is longer than average business cycle. Recessions paired with a credit bust (housing, leverage) are deeper and longer than those without.</a:t>
            </a:r>
            <a:endParaRPr lang="en-US" sz="1300" dirty="0"/>
          </a:p>
        </p:txBody>
      </p:sp>
      <p:sp>
        <p:nvSpPr>
          <p:cNvPr id="9" name="Shape 7"/>
          <p:cNvSpPr/>
          <p:nvPr/>
        </p:nvSpPr>
        <p:spPr>
          <a:xfrm>
            <a:off x="320040" y="1188720"/>
            <a:ext cx="4160520" cy="1920240"/>
          </a:xfrm>
          <a:prstGeom prst="rect">
            <a:avLst/>
          </a:prstGeom>
          <a:solidFill>
            <a:srgbClr val="FEF0E7"/>
          </a:solidFill>
          <a:ln/>
        </p:spPr>
      </p:sp>
      <p:sp>
        <p:nvSpPr>
          <p:cNvPr id="10" name="Shape 8"/>
          <p:cNvSpPr/>
          <p:nvPr/>
        </p:nvSpPr>
        <p:spPr>
          <a:xfrm>
            <a:off x="320040" y="1188720"/>
            <a:ext cx="73152" cy="1920240"/>
          </a:xfrm>
          <a:prstGeom prst="rect">
            <a:avLst/>
          </a:prstGeom>
          <a:solidFill>
            <a:srgbClr val="E8600A"/>
          </a:solidFill>
          <a:ln/>
        </p:spPr>
      </p:sp>
      <p:sp>
        <p:nvSpPr>
          <p:cNvPr id="11" name="Text 9"/>
          <p:cNvSpPr txBox="1"/>
          <p:nvPr/>
        </p:nvSpPr>
        <p:spPr>
          <a:xfrm>
            <a:off x="457200" y="1234440"/>
            <a:ext cx="3931920" cy="256032"/>
          </a:xfrm>
          <a:prstGeom prst="rect">
            <a:avLst/>
          </a:prstGeom>
          <a:noFill/>
          <a:ln/>
        </p:spPr>
        <p:txBody>
          <a:bodyPr wrap="square" lIns="508" tIns="508" rIns="508" bIns="508" rtlCol="0" anchor="ctr">
            <a:normAutofit/>
            <a:spAutoFit/>
          </a:bodyPr>
          <a:lstStyle/>
          <a:p>
            <a:pPr algn="l" indent="0" marL="0">
              <a:buNone/>
            </a:pPr>
            <a:r>
              <a:rPr lang="en-US" sz="1100" b="1" spc="400" kern="0" dirty="0">
                <a:solidFill>
                  <a:srgbClr val="E8600A"/>
                </a:solidFill>
                <a:latin typeface="Trebuchet MS" pitchFamily="34" charset="0"/>
                <a:ea typeface="Trebuchet MS" pitchFamily="34" charset="-122"/>
                <a:cs typeface="Trebuchet MS" pitchFamily="34" charset="-120"/>
              </a:rPr>
              <a:t>WHAT CREDIT CYCLES MEASURE</a:t>
            </a:r>
            <a:endParaRPr lang="en-US" sz="1100" dirty="0"/>
          </a:p>
        </p:txBody>
      </p:sp>
      <p:sp>
        <p:nvSpPr>
          <p:cNvPr id="12" name="Text 10"/>
          <p:cNvSpPr txBox="1"/>
          <p:nvPr/>
        </p:nvSpPr>
        <p:spPr>
          <a:xfrm>
            <a:off x="457200" y="1508760"/>
            <a:ext cx="3931920" cy="1554480"/>
          </a:xfrm>
          <a:prstGeom prst="rect">
            <a:avLst/>
          </a:prstGeom>
          <a:noFill/>
          <a:ln/>
        </p:spPr>
        <p:txBody>
          <a:bodyPr wrap="square" lIns="508" tIns="508" rIns="508" bIns="508" rtlCol="0" anchor="t">
            <a:normAutofit/>
            <a:spAutoFit/>
          </a:bodyPr>
          <a:lstStyle/>
          <a:p>
            <a:pPr algn="l" indent="0" marL="0">
              <a:buNone/>
            </a:pPr>
            <a:r>
              <a:rPr lang="en-US" sz="1200" dirty="0">
                <a:solidFill>
                  <a:srgbClr val="334155"/>
                </a:solidFill>
                <a:latin typeface="Calibri" pitchFamily="34" charset="0"/>
                <a:ea typeface="Calibri" pitchFamily="34" charset="-122"/>
                <a:cs typeface="Calibri" pitchFamily="34" charset="-120"/>
              </a:rPr>
              <a:t>The changing AVAILABILITY and PRICING of credit. Proxies: private credit / GDP, real house prices, commercial bank lending standards, high-yield spread, LTV ratios on new mortgages.</a:t>
            </a:r>
            <a:endParaRPr lang="en-US" sz="1200" dirty="0"/>
          </a:p>
        </p:txBody>
      </p:sp>
      <p:sp>
        <p:nvSpPr>
          <p:cNvPr id="13" name="Shape 11"/>
          <p:cNvSpPr/>
          <p:nvPr/>
        </p:nvSpPr>
        <p:spPr>
          <a:xfrm>
            <a:off x="4663440" y="1188720"/>
            <a:ext cx="4160520" cy="1920240"/>
          </a:xfrm>
          <a:prstGeom prst="rect">
            <a:avLst/>
          </a:prstGeom>
          <a:solidFill>
            <a:srgbClr val="F5F7FA"/>
          </a:solidFill>
          <a:ln/>
        </p:spPr>
      </p:sp>
      <p:sp>
        <p:nvSpPr>
          <p:cNvPr id="14" name="Shape 12"/>
          <p:cNvSpPr/>
          <p:nvPr/>
        </p:nvSpPr>
        <p:spPr>
          <a:xfrm>
            <a:off x="4663440" y="1188720"/>
            <a:ext cx="73152" cy="1920240"/>
          </a:xfrm>
          <a:prstGeom prst="rect">
            <a:avLst/>
          </a:prstGeom>
          <a:solidFill>
            <a:srgbClr val="1B2A4A"/>
          </a:solidFill>
          <a:ln/>
        </p:spPr>
      </p:sp>
      <p:sp>
        <p:nvSpPr>
          <p:cNvPr id="15" name="Text 13"/>
          <p:cNvSpPr txBox="1"/>
          <p:nvPr/>
        </p:nvSpPr>
        <p:spPr>
          <a:xfrm>
            <a:off x="4800600" y="1234440"/>
            <a:ext cx="3931920" cy="256032"/>
          </a:xfrm>
          <a:prstGeom prst="rect">
            <a:avLst/>
          </a:prstGeom>
          <a:noFill/>
          <a:ln/>
        </p:spPr>
        <p:txBody>
          <a:bodyPr wrap="square" lIns="508" tIns="508" rIns="508" bIns="508" rtlCol="0" anchor="ctr">
            <a:normAutofit/>
            <a:spAutoFit/>
          </a:bodyPr>
          <a:lstStyle/>
          <a:p>
            <a:pPr algn="l" indent="0" marL="0">
              <a:buNone/>
            </a:pPr>
            <a:r>
              <a:rPr lang="en-US" sz="1100" b="1" spc="400" kern="0" dirty="0">
                <a:solidFill>
                  <a:srgbClr val="1B2A4A"/>
                </a:solidFill>
                <a:latin typeface="Trebuchet MS" pitchFamily="34" charset="0"/>
                <a:ea typeface="Trebuchet MS" pitchFamily="34" charset="-122"/>
                <a:cs typeface="Trebuchet MS" pitchFamily="34" charset="-120"/>
              </a:rPr>
              <a:t>WHY THEY AMPLIFY</a:t>
            </a:r>
            <a:endParaRPr lang="en-US" sz="1100" dirty="0"/>
          </a:p>
        </p:txBody>
      </p:sp>
      <p:sp>
        <p:nvSpPr>
          <p:cNvPr id="16" name="Text 14"/>
          <p:cNvSpPr txBox="1"/>
          <p:nvPr/>
        </p:nvSpPr>
        <p:spPr>
          <a:xfrm>
            <a:off x="4800600" y="1508760"/>
            <a:ext cx="3931920" cy="1554480"/>
          </a:xfrm>
          <a:prstGeom prst="rect">
            <a:avLst/>
          </a:prstGeom>
          <a:noFill/>
          <a:ln/>
        </p:spPr>
        <p:txBody>
          <a:bodyPr wrap="square" lIns="508" tIns="508" rIns="508" bIns="508" rtlCol="0" anchor="t">
            <a:normAutofit/>
            <a:spAutoFit/>
          </a:bodyPr>
          <a:lstStyle/>
          <a:p>
            <a:pPr algn="l" indent="0" marL="0">
              <a:buNone/>
            </a:pPr>
            <a:r>
              <a:rPr lang="en-US" sz="1200" dirty="0">
                <a:solidFill>
                  <a:srgbClr val="334155"/>
                </a:solidFill>
                <a:latin typeface="Calibri" pitchFamily="34" charset="0"/>
                <a:ea typeface="Calibri" pitchFamily="34" charset="-122"/>
                <a:cs typeface="Calibri" pitchFamily="34" charset="-120"/>
              </a:rPr>
              <a:t>Loose credit funds construction and real-estate purchases. Bubbles in asset prices feed back into household wealth and collateral values, inflating the boom. When credit tightens, the unwind is self-reinforcing — defaults → bank losses → further tightening.</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20040" y="3246120"/>
          <a:ext cx="8503920" cy="914400"/>
        </p:xfrm>
        <a:graphic>
          <a:graphicData uri="http://schemas.openxmlformats.org/drawingml/2006/table">
            <a:tbl>
              <a:tblPr/>
              <a:tblGrid>
                <a:gridCol w="3657600"/>
                <a:gridCol w="2011680"/>
                <a:gridCol w="2834640"/>
              </a:tblGrid>
              <a:tr h="274320">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Crisis</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Region</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Credit-cycle precursor</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Latin America debt crisis, 1980s</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Latam</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Sovereign dollar borrowing boom + commodity bust</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Asian financial crisis, 1997–1998</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East Asia</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Property and corporate USD-lending boom</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Global Financial Crisis, 2008–2009</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Global</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US subprime mortgage leverage + securitization</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Euro-area sovereign crisis, 2010–2012</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Eurozone</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Periphery bank-sovereign doom loop</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B2A4A"/>
          </a:solidFill>
          <a:ln/>
        </p:spPr>
      </p:sp>
      <p:sp>
        <p:nvSpPr>
          <p:cNvPr id="3" name="Shape 1"/>
          <p:cNvSpPr/>
          <p:nvPr/>
        </p:nvSpPr>
        <p:spPr>
          <a:xfrm>
            <a:off x="0" y="0"/>
            <a:ext cx="109728" cy="621792"/>
          </a:xfrm>
          <a:prstGeom prst="rect">
            <a:avLst/>
          </a:prstGeom>
          <a:solidFill>
            <a:srgbClr val="E8600A"/>
          </a:solidFill>
          <a:ln/>
        </p:spPr>
      </p:sp>
      <p:sp>
        <p:nvSpPr>
          <p:cNvPr id="4" name="Text 2"/>
          <p:cNvSpPr txBox="1"/>
          <p:nvPr/>
        </p:nvSpPr>
        <p:spPr>
          <a:xfrm>
            <a:off x="256032" y="0"/>
            <a:ext cx="8686800" cy="621792"/>
          </a:xfrm>
          <a:prstGeom prst="rect">
            <a:avLst/>
          </a:prstGeom>
          <a:noFill/>
          <a:ln/>
        </p:spPr>
        <p:txBody>
          <a:bodyPr wrap="square" lIns="508" tIns="508" rIns="508" bIns="508" rtlCol="0" anchor="ctr">
            <a:normAutofit/>
            <a:spAutoFit/>
          </a:bodyPr>
          <a:lstStyle/>
          <a:p>
            <a:pPr algn="l" indent="0" marL="0">
              <a:buNone/>
            </a:pPr>
            <a:r>
              <a:rPr lang="en-US" sz="1600" b="1" dirty="0">
                <a:solidFill>
                  <a:srgbClr val="FFFFFF"/>
                </a:solidFill>
                <a:latin typeface="Trebuchet MS" pitchFamily="34" charset="0"/>
                <a:ea typeface="Trebuchet MS" pitchFamily="34" charset="-122"/>
                <a:cs typeface="Trebuchet MS" pitchFamily="34" charset="-120"/>
              </a:rPr>
              <a:t>Leading, coincident, and lagging indicators each answer a different question — what will happen, what is happening, what just happened</a:t>
            </a:r>
            <a:endParaRPr lang="en-US" sz="1600" dirty="0"/>
          </a:p>
        </p:txBody>
      </p:sp>
      <p:sp>
        <p:nvSpPr>
          <p:cNvPr id="5" name="Shape 3"/>
          <p:cNvSpPr/>
          <p:nvPr/>
        </p:nvSpPr>
        <p:spPr>
          <a:xfrm>
            <a:off x="0" y="4892040"/>
            <a:ext cx="9144000" cy="256032"/>
          </a:xfrm>
          <a:prstGeom prst="rect">
            <a:avLst/>
          </a:prstGeom>
          <a:solidFill>
            <a:srgbClr val="E8ECF0"/>
          </a:solidFill>
          <a:ln/>
        </p:spPr>
      </p:sp>
      <p:sp>
        <p:nvSpPr>
          <p:cNvPr id="6" name="Text 4"/>
          <p:cNvSpPr txBox="1"/>
          <p:nvPr/>
        </p:nvSpPr>
        <p:spPr>
          <a:xfrm>
            <a:off x="274320" y="4892040"/>
            <a:ext cx="5943600" cy="256032"/>
          </a:xfrm>
          <a:prstGeom prst="rect">
            <a:avLst/>
          </a:prstGeom>
          <a:noFill/>
          <a:ln/>
        </p:spPr>
        <p:txBody>
          <a:bodyPr wrap="square" lIns="508" tIns="508" rIns="508" bIns="508" rtlCol="0" anchor="ctr">
            <a:normAutofit/>
            <a:spAutoFit/>
          </a:bodyPr>
          <a:lstStyle/>
          <a:p>
            <a:pPr algn="l" indent="0" marL="0">
              <a:buNone/>
            </a:pPr>
            <a:r>
              <a:rPr lang="en-US" sz="750" dirty="0">
                <a:solidFill>
                  <a:srgbClr val="6B7A8D"/>
                </a:solidFill>
                <a:latin typeface="Calibri" pitchFamily="34" charset="0"/>
                <a:ea typeface="Calibri" pitchFamily="34" charset="-122"/>
                <a:cs typeface="Calibri" pitchFamily="34" charset="-120"/>
              </a:rPr>
              <a:t>STUDIO TONTON GUG  ·  Finance Fundamentals</a:t>
            </a:r>
            <a:endParaRPr lang="en-US" sz="750" dirty="0"/>
          </a:p>
        </p:txBody>
      </p:sp>
      <p:sp>
        <p:nvSpPr>
          <p:cNvPr id="7" name="Text 5"/>
          <p:cNvSpPr txBox="1"/>
          <p:nvPr/>
        </p:nvSpPr>
        <p:spPr>
          <a:xfrm>
            <a:off x="320040" y="4663440"/>
            <a:ext cx="8503920" cy="201168"/>
          </a:xfrm>
          <a:prstGeom prst="rect">
            <a:avLst/>
          </a:prstGeom>
          <a:noFill/>
          <a:ln/>
        </p:spPr>
        <p:txBody>
          <a:bodyPr wrap="square" lIns="508" tIns="508" rIns="508" bIns="508" rtlCol="0" anchor="t">
            <a:normAutofit/>
            <a:spAutoFit/>
          </a:bodyPr>
          <a:lstStyle/>
          <a:p>
            <a:pPr algn="l" indent="0" marL="0">
              <a:buNone/>
            </a:pPr>
            <a:r>
              <a:rPr lang="en-US" sz="750" i="1" dirty="0">
                <a:solidFill>
                  <a:srgbClr val="6B7A8D"/>
                </a:solidFill>
                <a:latin typeface="Calibri" pitchFamily="34" charset="0"/>
                <a:ea typeface="Calibri" pitchFamily="34" charset="-122"/>
                <a:cs typeface="Calibri" pitchFamily="34" charset="-120"/>
              </a:rPr>
              <a:t>Source: CFA Institute, Curriculum Vol 2, Learning Module 2, "Economic Indicators", Exhibit 10–11, pp. 66–67.</a:t>
            </a:r>
            <a:endParaRPr lang="en-US" sz="750" dirty="0"/>
          </a:p>
        </p:txBody>
      </p:sp>
      <p:sp>
        <p:nvSpPr>
          <p:cNvPr id="8" name="Text 6"/>
          <p:cNvSpPr txBox="1"/>
          <p:nvPr/>
        </p:nvSpPr>
        <p:spPr>
          <a:xfrm>
            <a:off x="320040" y="731520"/>
            <a:ext cx="8503920" cy="292608"/>
          </a:xfrm>
          <a:prstGeom prst="rect">
            <a:avLst/>
          </a:prstGeom>
          <a:noFill/>
          <a:ln/>
        </p:spPr>
        <p:txBody>
          <a:bodyPr wrap="square" lIns="508" tIns="508" rIns="508" bIns="508" rtlCol="0" anchor="ctr">
            <a:normAutofit/>
            <a:spAutoFit/>
          </a:bodyPr>
          <a:lstStyle/>
          <a:p>
            <a:pPr algn="l" indent="0" marL="0">
              <a:buNone/>
            </a:pPr>
            <a:r>
              <a:rPr lang="en-US" sz="1300" i="1" dirty="0">
                <a:solidFill>
                  <a:srgbClr val="334155"/>
                </a:solidFill>
                <a:latin typeface="Calibri" pitchFamily="34" charset="0"/>
                <a:ea typeface="Calibri" pitchFamily="34" charset="-122"/>
                <a:cs typeface="Calibri" pitchFamily="34" charset="-120"/>
              </a:rPr>
              <a:t>A good phase call uses all three together: a coincident indicator to anchor the present, a leading one to extrapolate, and a lagging one to confirm the last turn.</a:t>
            </a:r>
            <a:endParaRPr lang="en-US" sz="13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20040" y="1188720"/>
          <a:ext cx="8503920" cy="914400"/>
        </p:xfrm>
        <a:graphic>
          <a:graphicData uri="http://schemas.openxmlformats.org/drawingml/2006/table">
            <a:tbl>
              <a:tblPr/>
              <a:tblGrid>
                <a:gridCol w="2011680"/>
                <a:gridCol w="4754880"/>
                <a:gridCol w="1737360"/>
              </a:tblGrid>
              <a:tr h="274320">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Category</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Example indicators (US)</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Use</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Leading</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Weekly hours (mfg), initial jobless claims, mfg new orders, building permits, S&amp;P 500, yield-curve slope, consumer expectations</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Predict the next turn</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Coincident</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Industrial production index, real personal income, manufacturing and trade sales, non-farm payrolls</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Identify the current phase</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Lagging</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Average duration of unemployment, inventory-to-sales ratio, unit labor cost, average prime rate, consumer instalment debt / income</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Confirm the previous turn</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r>
            </a:tbl>
          </a:graphicData>
        </a:graphic>
      </p:graphicFrame>
      <p:sp>
        <p:nvSpPr>
          <p:cNvPr id="10" name="Shape 7"/>
          <p:cNvSpPr/>
          <p:nvPr/>
        </p:nvSpPr>
        <p:spPr>
          <a:xfrm>
            <a:off x="320040" y="3291840"/>
            <a:ext cx="8503920" cy="1005840"/>
          </a:xfrm>
          <a:prstGeom prst="rect">
            <a:avLst/>
          </a:prstGeom>
          <a:solidFill>
            <a:srgbClr val="FEF0E7"/>
          </a:solidFill>
          <a:ln/>
        </p:spPr>
      </p:sp>
      <p:sp>
        <p:nvSpPr>
          <p:cNvPr id="11" name="Shape 8"/>
          <p:cNvSpPr/>
          <p:nvPr/>
        </p:nvSpPr>
        <p:spPr>
          <a:xfrm>
            <a:off x="320040" y="3291840"/>
            <a:ext cx="73152" cy="1005840"/>
          </a:xfrm>
          <a:prstGeom prst="rect">
            <a:avLst/>
          </a:prstGeom>
          <a:solidFill>
            <a:srgbClr val="E8600A"/>
          </a:solidFill>
          <a:ln/>
        </p:spPr>
      </p:sp>
      <p:sp>
        <p:nvSpPr>
          <p:cNvPr id="12" name="Text 9"/>
          <p:cNvSpPr txBox="1"/>
          <p:nvPr/>
        </p:nvSpPr>
        <p:spPr>
          <a:xfrm>
            <a:off x="457200" y="3337560"/>
            <a:ext cx="8275320" cy="256032"/>
          </a:xfrm>
          <a:prstGeom prst="rect">
            <a:avLst/>
          </a:prstGeom>
          <a:noFill/>
          <a:ln/>
        </p:spPr>
        <p:txBody>
          <a:bodyPr wrap="square" lIns="508" tIns="508" rIns="508" bIns="508" rtlCol="0" anchor="ctr">
            <a:normAutofit/>
            <a:spAutoFit/>
          </a:bodyPr>
          <a:lstStyle/>
          <a:p>
            <a:pPr algn="l" indent="0" marL="0">
              <a:buNone/>
            </a:pPr>
            <a:r>
              <a:rPr lang="en-US" sz="1100" b="1" spc="400" kern="0" dirty="0">
                <a:solidFill>
                  <a:srgbClr val="E8600A"/>
                </a:solidFill>
                <a:latin typeface="Trebuchet MS" pitchFamily="34" charset="0"/>
                <a:ea typeface="Trebuchet MS" pitchFamily="34" charset="-122"/>
                <a:cs typeface="Trebuchet MS" pitchFamily="34" charset="-120"/>
              </a:rPr>
              <a:t>DIFFUSION INDEX — READING BREADTH, NOT JUST LEVEL</a:t>
            </a:r>
            <a:endParaRPr lang="en-US" sz="1100" dirty="0"/>
          </a:p>
        </p:txBody>
      </p:sp>
      <p:sp>
        <p:nvSpPr>
          <p:cNvPr id="13" name="Text 10"/>
          <p:cNvSpPr txBox="1"/>
          <p:nvPr/>
        </p:nvSpPr>
        <p:spPr>
          <a:xfrm>
            <a:off x="457200" y="3611880"/>
            <a:ext cx="8275320" cy="640080"/>
          </a:xfrm>
          <a:prstGeom prst="rect">
            <a:avLst/>
          </a:prstGeom>
          <a:noFill/>
          <a:ln/>
        </p:spPr>
        <p:txBody>
          <a:bodyPr wrap="square" lIns="508" tIns="508" rIns="508" bIns="508" rtlCol="0" anchor="t">
            <a:normAutofit/>
            <a:spAutoFit/>
          </a:bodyPr>
          <a:lstStyle/>
          <a:p>
            <a:pPr algn="l" indent="0" marL="0">
              <a:buNone/>
            </a:pPr>
            <a:r>
              <a:rPr lang="en-US" sz="1200" dirty="0">
                <a:solidFill>
                  <a:srgbClr val="334155"/>
                </a:solidFill>
                <a:latin typeface="Calibri" pitchFamily="34" charset="0"/>
                <a:ea typeface="Calibri" pitchFamily="34" charset="-122"/>
                <a:cs typeface="Calibri" pitchFamily="34" charset="-120"/>
              </a:rPr>
              <a:t>A diffusion index assigns +1 / 0.5 / 0 to each constituent of a composite based on whether it rose, stayed flat, or fell — then averages and scales to 100. Breadth matters: a composite rising because 8 of 10 components are up is a stronger signal than one dragged up by two outliers.</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B2A4A"/>
          </a:solidFill>
          <a:ln/>
        </p:spPr>
      </p:sp>
      <p:sp>
        <p:nvSpPr>
          <p:cNvPr id="3" name="Shape 1"/>
          <p:cNvSpPr/>
          <p:nvPr/>
        </p:nvSpPr>
        <p:spPr>
          <a:xfrm>
            <a:off x="0" y="0"/>
            <a:ext cx="201168" cy="5143500"/>
          </a:xfrm>
          <a:prstGeom prst="rect">
            <a:avLst/>
          </a:prstGeom>
          <a:solidFill>
            <a:srgbClr val="E8600A"/>
          </a:solidFill>
          <a:ln/>
        </p:spPr>
      </p:sp>
      <p:sp>
        <p:nvSpPr>
          <p:cNvPr id="4" name="Text 2"/>
          <p:cNvSpPr txBox="1"/>
          <p:nvPr/>
        </p:nvSpPr>
        <p:spPr>
          <a:xfrm>
            <a:off x="914400" y="1371600"/>
            <a:ext cx="7315200" cy="411480"/>
          </a:xfrm>
          <a:prstGeom prst="rect">
            <a:avLst/>
          </a:prstGeom>
          <a:noFill/>
          <a:ln/>
        </p:spPr>
        <p:txBody>
          <a:bodyPr wrap="square" lIns="508" tIns="508" rIns="508" bIns="508" rtlCol="0" anchor="ctr">
            <a:normAutofit/>
            <a:spAutoFit/>
          </a:bodyPr>
          <a:lstStyle/>
          <a:p>
            <a:pPr algn="l" indent="0" marL="0">
              <a:buNone/>
            </a:pPr>
            <a:r>
              <a:rPr lang="en-US" sz="1200" b="1" spc="600" kern="0" dirty="0">
                <a:solidFill>
                  <a:srgbClr val="FFFFFF"/>
                </a:solidFill>
                <a:latin typeface="Trebuchet MS" pitchFamily="34" charset="0"/>
                <a:ea typeface="Trebuchet MS" pitchFamily="34" charset="-122"/>
                <a:cs typeface="Trebuchet MS" pitchFamily="34" charset="-120"/>
              </a:rPr>
              <a:t>SECTION 05</a:t>
            </a:r>
            <a:endParaRPr lang="en-US" sz="1200" dirty="0"/>
          </a:p>
        </p:txBody>
      </p:sp>
      <p:sp>
        <p:nvSpPr>
          <p:cNvPr id="5" name="Shape 3"/>
          <p:cNvSpPr/>
          <p:nvPr/>
        </p:nvSpPr>
        <p:spPr>
          <a:xfrm>
            <a:off x="914400" y="1920240"/>
            <a:ext cx="2743200" cy="45720"/>
          </a:xfrm>
          <a:prstGeom prst="rect">
            <a:avLst/>
          </a:prstGeom>
          <a:solidFill>
            <a:srgbClr val="FFFFFF"/>
          </a:solidFill>
          <a:ln/>
        </p:spPr>
      </p:sp>
      <p:sp>
        <p:nvSpPr>
          <p:cNvPr id="6" name="Text 4"/>
          <p:cNvSpPr txBox="1"/>
          <p:nvPr/>
        </p:nvSpPr>
        <p:spPr>
          <a:xfrm>
            <a:off x="914400" y="2057400"/>
            <a:ext cx="7315200" cy="1645920"/>
          </a:xfrm>
          <a:prstGeom prst="rect">
            <a:avLst/>
          </a:prstGeom>
          <a:noFill/>
          <a:ln/>
        </p:spPr>
        <p:txBody>
          <a:bodyPr wrap="square" lIns="508" tIns="508" rIns="508" bIns="508" rtlCol="0" anchor="t">
            <a:normAutofit/>
            <a:spAutoFit/>
          </a:bodyPr>
          <a:lstStyle/>
          <a:p>
            <a:pPr algn="l" indent="0" marL="0">
              <a:buNone/>
            </a:pPr>
            <a:r>
              <a:rPr lang="en-US" sz="3200" b="1" dirty="0">
                <a:solidFill>
                  <a:srgbClr val="FFFFFF"/>
                </a:solidFill>
                <a:latin typeface="Trebuchet MS" pitchFamily="34" charset="0"/>
                <a:ea typeface="Trebuchet MS" pitchFamily="34" charset="-122"/>
                <a:cs typeface="Trebuchet MS" pitchFamily="34" charset="-120"/>
              </a:rPr>
              <a:t>Unemployment</a:t>
            </a:r>
            <a:endParaRPr lang="en-US" sz="3200" dirty="0"/>
          </a:p>
          <a:p>
            <a:pPr algn="l" indent="0" marL="0">
              <a:buNone/>
            </a:pPr>
            <a:r>
              <a:rPr lang="en-US" sz="3200" b="1" dirty="0">
                <a:solidFill>
                  <a:srgbClr val="FFFFFF"/>
                </a:solidFill>
                <a:latin typeface="Trebuchet MS" pitchFamily="34" charset="0"/>
                <a:ea typeface="Trebuchet MS" pitchFamily="34" charset="-122"/>
                <a:cs typeface="Trebuchet MS" pitchFamily="34" charset="-120"/>
              </a:rPr>
              <a:t>&amp; inflation</a:t>
            </a:r>
            <a:endParaRPr lang="en-US" sz="3200" dirty="0"/>
          </a:p>
        </p:txBody>
      </p:sp>
      <p:sp>
        <p:nvSpPr>
          <p:cNvPr id="7" name="Text 5"/>
          <p:cNvSpPr txBox="1"/>
          <p:nvPr/>
        </p:nvSpPr>
        <p:spPr>
          <a:xfrm>
            <a:off x="914400" y="4640580"/>
            <a:ext cx="7315200" cy="274320"/>
          </a:xfrm>
          <a:prstGeom prst="rect">
            <a:avLst/>
          </a:prstGeom>
          <a:noFill/>
          <a:ln/>
        </p:spPr>
        <p:txBody>
          <a:bodyPr wrap="square" lIns="508" tIns="508" rIns="508" bIns="508" rtlCol="0" anchor="ctr">
            <a:normAutofit/>
            <a:spAutoFit/>
          </a:bodyPr>
          <a:lstStyle/>
          <a:p>
            <a:pPr algn="l" indent="0" marL="0">
              <a:buNone/>
            </a:pPr>
            <a:r>
              <a:rPr lang="en-US" sz="750" i="1" dirty="0">
                <a:solidFill>
                  <a:srgbClr val="E8ECF0"/>
                </a:solidFill>
                <a:latin typeface="Calibri" pitchFamily="34" charset="0"/>
                <a:ea typeface="Calibri" pitchFamily="34" charset="-122"/>
                <a:cs typeface="Calibri" pitchFamily="34" charset="-120"/>
              </a:rPr>
              <a:t>Section 5 of 6  ·  Deck 4 of 20  ·  Studio Tonton Gug</a:t>
            </a:r>
            <a:endParaRPr lang="en-US" sz="7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B2A4A"/>
          </a:solidFill>
          <a:ln/>
        </p:spPr>
      </p:sp>
      <p:sp>
        <p:nvSpPr>
          <p:cNvPr id="3" name="Shape 1"/>
          <p:cNvSpPr/>
          <p:nvPr/>
        </p:nvSpPr>
        <p:spPr>
          <a:xfrm>
            <a:off x="0" y="0"/>
            <a:ext cx="109728" cy="621792"/>
          </a:xfrm>
          <a:prstGeom prst="rect">
            <a:avLst/>
          </a:prstGeom>
          <a:solidFill>
            <a:srgbClr val="E8600A"/>
          </a:solidFill>
          <a:ln/>
        </p:spPr>
      </p:sp>
      <p:sp>
        <p:nvSpPr>
          <p:cNvPr id="4" name="Text 2"/>
          <p:cNvSpPr txBox="1"/>
          <p:nvPr/>
        </p:nvSpPr>
        <p:spPr>
          <a:xfrm>
            <a:off x="256032" y="0"/>
            <a:ext cx="8686800" cy="621792"/>
          </a:xfrm>
          <a:prstGeom prst="rect">
            <a:avLst/>
          </a:prstGeom>
          <a:noFill/>
          <a:ln/>
        </p:spPr>
        <p:txBody>
          <a:bodyPr wrap="square" lIns="508" tIns="508" rIns="508" bIns="508" rtlCol="0" anchor="ctr">
            <a:normAutofit/>
            <a:spAutoFit/>
          </a:bodyPr>
          <a:lstStyle/>
          <a:p>
            <a:pPr algn="l" indent="0" marL="0">
              <a:buNone/>
            </a:pPr>
            <a:r>
              <a:rPr lang="en-US" sz="1600" b="1" dirty="0">
                <a:solidFill>
                  <a:srgbClr val="FFFFFF"/>
                </a:solidFill>
                <a:latin typeface="Trebuchet MS" pitchFamily="34" charset="0"/>
                <a:ea typeface="Trebuchet MS" pitchFamily="34" charset="-122"/>
                <a:cs typeface="Trebuchet MS" pitchFamily="34" charset="-120"/>
              </a:rPr>
              <a:t>The unemployment rate counts the jobless who are actively looking for work — on a labor-force base that itself shrinks in downturns</a:t>
            </a:r>
            <a:endParaRPr lang="en-US" sz="1600" dirty="0"/>
          </a:p>
        </p:txBody>
      </p:sp>
      <p:sp>
        <p:nvSpPr>
          <p:cNvPr id="5" name="Shape 3"/>
          <p:cNvSpPr/>
          <p:nvPr/>
        </p:nvSpPr>
        <p:spPr>
          <a:xfrm>
            <a:off x="0" y="4892040"/>
            <a:ext cx="9144000" cy="256032"/>
          </a:xfrm>
          <a:prstGeom prst="rect">
            <a:avLst/>
          </a:prstGeom>
          <a:solidFill>
            <a:srgbClr val="E8ECF0"/>
          </a:solidFill>
          <a:ln/>
        </p:spPr>
      </p:sp>
      <p:sp>
        <p:nvSpPr>
          <p:cNvPr id="6" name="Text 4"/>
          <p:cNvSpPr txBox="1"/>
          <p:nvPr/>
        </p:nvSpPr>
        <p:spPr>
          <a:xfrm>
            <a:off x="274320" y="4892040"/>
            <a:ext cx="5943600" cy="256032"/>
          </a:xfrm>
          <a:prstGeom prst="rect">
            <a:avLst/>
          </a:prstGeom>
          <a:noFill/>
          <a:ln/>
        </p:spPr>
        <p:txBody>
          <a:bodyPr wrap="square" lIns="508" tIns="508" rIns="508" bIns="508" rtlCol="0" anchor="ctr">
            <a:normAutofit/>
            <a:spAutoFit/>
          </a:bodyPr>
          <a:lstStyle/>
          <a:p>
            <a:pPr algn="l" indent="0" marL="0">
              <a:buNone/>
            </a:pPr>
            <a:r>
              <a:rPr lang="en-US" sz="750" dirty="0">
                <a:solidFill>
                  <a:srgbClr val="6B7A8D"/>
                </a:solidFill>
                <a:latin typeface="Calibri" pitchFamily="34" charset="0"/>
                <a:ea typeface="Calibri" pitchFamily="34" charset="-122"/>
                <a:cs typeface="Calibri" pitchFamily="34" charset="-120"/>
              </a:rPr>
              <a:t>STUDIO TONTON GUG  ·  Finance Fundamentals</a:t>
            </a:r>
            <a:endParaRPr lang="en-US" sz="750" dirty="0"/>
          </a:p>
        </p:txBody>
      </p:sp>
      <p:sp>
        <p:nvSpPr>
          <p:cNvPr id="7" name="Text 5"/>
          <p:cNvSpPr txBox="1"/>
          <p:nvPr/>
        </p:nvSpPr>
        <p:spPr>
          <a:xfrm>
            <a:off x="320040" y="4663440"/>
            <a:ext cx="8503920" cy="201168"/>
          </a:xfrm>
          <a:prstGeom prst="rect">
            <a:avLst/>
          </a:prstGeom>
          <a:noFill/>
          <a:ln/>
        </p:spPr>
        <p:txBody>
          <a:bodyPr wrap="square" lIns="508" tIns="508" rIns="508" bIns="508" rtlCol="0" anchor="t">
            <a:normAutofit/>
            <a:spAutoFit/>
          </a:bodyPr>
          <a:lstStyle/>
          <a:p>
            <a:pPr algn="l" indent="0" marL="0">
              <a:buNone/>
            </a:pPr>
            <a:r>
              <a:rPr lang="en-US" sz="750" i="1" dirty="0">
                <a:solidFill>
                  <a:srgbClr val="6B7A8D"/>
                </a:solidFill>
                <a:latin typeface="Calibri" pitchFamily="34" charset="0"/>
                <a:ea typeface="Calibri" pitchFamily="34" charset="-122"/>
                <a:cs typeface="Calibri" pitchFamily="34" charset="-120"/>
              </a:rPr>
              <a:t>Source: Illustrative — standard Level I macroeconomics framework; consistent with CFA Vol 2, LM 2 cycle commentary.</a:t>
            </a:r>
            <a:endParaRPr lang="en-US" sz="750" dirty="0"/>
          </a:p>
        </p:txBody>
      </p:sp>
      <p:sp>
        <p:nvSpPr>
          <p:cNvPr id="8" name="Text 6"/>
          <p:cNvSpPr txBox="1"/>
          <p:nvPr/>
        </p:nvSpPr>
        <p:spPr>
          <a:xfrm>
            <a:off x="320040" y="731520"/>
            <a:ext cx="8503920" cy="292608"/>
          </a:xfrm>
          <a:prstGeom prst="rect">
            <a:avLst/>
          </a:prstGeom>
          <a:noFill/>
          <a:ln/>
        </p:spPr>
        <p:txBody>
          <a:bodyPr wrap="square" lIns="508" tIns="508" rIns="508" bIns="508" rtlCol="0" anchor="ctr">
            <a:normAutofit/>
            <a:spAutoFit/>
          </a:bodyPr>
          <a:lstStyle/>
          <a:p>
            <a:pPr algn="l" indent="0" marL="0">
              <a:buNone/>
            </a:pPr>
            <a:r>
              <a:rPr lang="en-US" sz="1300" i="1" dirty="0">
                <a:solidFill>
                  <a:srgbClr val="334155"/>
                </a:solidFill>
                <a:latin typeface="Calibri" pitchFamily="34" charset="0"/>
                <a:ea typeface="Calibri" pitchFamily="34" charset="-122"/>
                <a:cs typeface="Calibri" pitchFamily="34" charset="-120"/>
              </a:rPr>
              <a:t>Unemployment is a lagging indicator because businesses delay both hiring (until recovery is confirmed) and firing (because training costs are sunk). This is why recoveries often feel "jobless" at first.</a:t>
            </a:r>
            <a:endParaRPr lang="en-US" sz="1300" dirty="0"/>
          </a:p>
        </p:txBody>
      </p:sp>
      <p:sp>
        <p:nvSpPr>
          <p:cNvPr id="9" name="Shape 7"/>
          <p:cNvSpPr/>
          <p:nvPr/>
        </p:nvSpPr>
        <p:spPr>
          <a:xfrm>
            <a:off x="320040" y="1188720"/>
            <a:ext cx="8503920" cy="658368"/>
          </a:xfrm>
          <a:prstGeom prst="rect">
            <a:avLst/>
          </a:prstGeom>
          <a:solidFill>
            <a:srgbClr val="1B2A4A"/>
          </a:solidFill>
          <a:ln/>
        </p:spPr>
      </p:sp>
      <p:sp>
        <p:nvSpPr>
          <p:cNvPr id="10" name="Text 8"/>
          <p:cNvSpPr txBox="1"/>
          <p:nvPr/>
        </p:nvSpPr>
        <p:spPr>
          <a:xfrm>
            <a:off x="411480" y="1188720"/>
            <a:ext cx="8321040" cy="658368"/>
          </a:xfrm>
          <a:prstGeom prst="rect">
            <a:avLst/>
          </a:prstGeom>
          <a:noFill/>
          <a:ln/>
        </p:spPr>
        <p:txBody>
          <a:bodyPr wrap="square" lIns="508" tIns="508" rIns="508" bIns="508" rtlCol="0" anchor="ctr">
            <a:normAutofit/>
            <a:spAutoFit/>
          </a:bodyPr>
          <a:lstStyle/>
          <a:p>
            <a:pPr algn="ctr" indent="0" marL="0">
              <a:buNone/>
            </a:pPr>
            <a:r>
              <a:rPr lang="en-US" sz="1800" b="1" dirty="0">
                <a:solidFill>
                  <a:srgbClr val="FFFFFF"/>
                </a:solidFill>
                <a:latin typeface="Consolas" pitchFamily="34" charset="0"/>
                <a:ea typeface="Consolas" pitchFamily="34" charset="-122"/>
                <a:cs typeface="Consolas" pitchFamily="34" charset="-120"/>
              </a:rPr>
              <a:t>U  =  (Unemployed  /  Labor force)          LFPR  =  Labor force / Working-age population</a:t>
            </a:r>
            <a:endParaRPr lang="en-US" sz="1800" dirty="0"/>
          </a:p>
        </p:txBody>
      </p:sp>
      <p:sp>
        <p:nvSpPr>
          <p:cNvPr id="11" name="Text 9"/>
          <p:cNvSpPr txBox="1"/>
          <p:nvPr/>
        </p:nvSpPr>
        <p:spPr>
          <a:xfrm>
            <a:off x="320040" y="1874520"/>
            <a:ext cx="8503920" cy="256032"/>
          </a:xfrm>
          <a:prstGeom prst="rect">
            <a:avLst/>
          </a:prstGeom>
          <a:noFill/>
          <a:ln/>
        </p:spPr>
        <p:txBody>
          <a:bodyPr wrap="square" lIns="508" tIns="508" rIns="508" bIns="508" rtlCol="0" anchor="ctr">
            <a:normAutofit/>
            <a:spAutoFit/>
          </a:bodyPr>
          <a:lstStyle/>
          <a:p>
            <a:pPr algn="l" indent="0" marL="0">
              <a:buNone/>
            </a:pPr>
            <a:r>
              <a:rPr lang="en-US" sz="1100" i="1" dirty="0">
                <a:solidFill>
                  <a:srgbClr val="334155"/>
                </a:solidFill>
                <a:latin typeface="Calibri" pitchFamily="34" charset="0"/>
                <a:ea typeface="Calibri" pitchFamily="34" charset="-122"/>
                <a:cs typeface="Calibri" pitchFamily="34" charset="-120"/>
              </a:rPr>
              <a:t>where: Labor force = employed + unemployed (actively seeking). Excludes discouraged workers and the institutionalized population.</a:t>
            </a:r>
            <a:endParaRPr lang="en-US" sz="11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20040" y="2331720"/>
          <a:ext cx="8503920" cy="914400"/>
        </p:xfrm>
        <a:graphic>
          <a:graphicData uri="http://schemas.openxmlformats.org/drawingml/2006/table">
            <a:tbl>
              <a:tblPr/>
              <a:tblGrid>
                <a:gridCol w="2103120"/>
                <a:gridCol w="4754880"/>
                <a:gridCol w="1645920"/>
              </a:tblGrid>
              <a:tr h="274320">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Component</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Definition</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Cycle behavior</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Frictional</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Short-term job transitions, search friction between positions</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Roughly stable</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Structural</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Skill / geographic mismatch between vacancies and the workforce</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Slow-moving</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Cyclical</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Driven by aggregate demand — rises in recession, falls in expansion</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Highly cyclical</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Natural rate (NAIRU)</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Frictional + structural; the unemployment rate consistent with stable inflation</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Slow-moving</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r>
            </a:tbl>
          </a:graphicData>
        </a:graphic>
      </p:graphicFrame>
      <p:sp>
        <p:nvSpPr>
          <p:cNvPr id="13" name="Shape 10"/>
          <p:cNvSpPr/>
          <p:nvPr/>
        </p:nvSpPr>
        <p:spPr>
          <a:xfrm>
            <a:off x="320040" y="3794760"/>
            <a:ext cx="8503920" cy="502920"/>
          </a:xfrm>
          <a:prstGeom prst="rect">
            <a:avLst/>
          </a:prstGeom>
          <a:solidFill>
            <a:srgbClr val="FEF0E7"/>
          </a:solidFill>
          <a:ln/>
        </p:spPr>
      </p:sp>
      <p:sp>
        <p:nvSpPr>
          <p:cNvPr id="14" name="Shape 11"/>
          <p:cNvSpPr/>
          <p:nvPr/>
        </p:nvSpPr>
        <p:spPr>
          <a:xfrm>
            <a:off x="320040" y="3794760"/>
            <a:ext cx="73152" cy="502920"/>
          </a:xfrm>
          <a:prstGeom prst="rect">
            <a:avLst/>
          </a:prstGeom>
          <a:solidFill>
            <a:srgbClr val="E8600A"/>
          </a:solidFill>
          <a:ln/>
        </p:spPr>
      </p:sp>
      <p:sp>
        <p:nvSpPr>
          <p:cNvPr id="15" name="Text 12"/>
          <p:cNvSpPr txBox="1"/>
          <p:nvPr/>
        </p:nvSpPr>
        <p:spPr>
          <a:xfrm>
            <a:off x="457200" y="3867912"/>
            <a:ext cx="8275320" cy="393192"/>
          </a:xfrm>
          <a:prstGeom prst="rect">
            <a:avLst/>
          </a:prstGeom>
          <a:noFill/>
          <a:ln/>
        </p:spPr>
        <p:txBody>
          <a:bodyPr wrap="square" lIns="508" tIns="508" rIns="508" bIns="508" rtlCol="0" anchor="t">
            <a:normAutofit/>
            <a:spAutoFit/>
          </a:bodyPr>
          <a:lstStyle/>
          <a:p>
            <a:pPr algn="l" indent="0" marL="0">
              <a:buNone/>
            </a:pPr>
            <a:r>
              <a:rPr lang="en-US" sz="1200" dirty="0">
                <a:solidFill>
                  <a:srgbClr val="334155"/>
                </a:solidFill>
                <a:latin typeface="Calibri" pitchFamily="34" charset="0"/>
                <a:ea typeface="Calibri" pitchFamily="34" charset="-122"/>
                <a:cs typeface="Calibri" pitchFamily="34" charset="-120"/>
              </a:rPr>
              <a:t>Subtle point: the headline U-rate can FALL early in a recession because discouraged workers drop out of the labor force — check LFPR alongside U.</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B2A4A"/>
          </a:solidFill>
          <a:ln/>
        </p:spPr>
      </p:sp>
      <p:sp>
        <p:nvSpPr>
          <p:cNvPr id="3" name="Shape 1"/>
          <p:cNvSpPr/>
          <p:nvPr/>
        </p:nvSpPr>
        <p:spPr>
          <a:xfrm>
            <a:off x="0" y="0"/>
            <a:ext cx="109728" cy="621792"/>
          </a:xfrm>
          <a:prstGeom prst="rect">
            <a:avLst/>
          </a:prstGeom>
          <a:solidFill>
            <a:srgbClr val="E8600A"/>
          </a:solidFill>
          <a:ln/>
        </p:spPr>
      </p:sp>
      <p:sp>
        <p:nvSpPr>
          <p:cNvPr id="4" name="Text 2"/>
          <p:cNvSpPr txBox="1"/>
          <p:nvPr/>
        </p:nvSpPr>
        <p:spPr>
          <a:xfrm>
            <a:off x="256032" y="0"/>
            <a:ext cx="8686800" cy="621792"/>
          </a:xfrm>
          <a:prstGeom prst="rect">
            <a:avLst/>
          </a:prstGeom>
          <a:noFill/>
          <a:ln/>
        </p:spPr>
        <p:txBody>
          <a:bodyPr wrap="square" lIns="508" tIns="508" rIns="508" bIns="508" rtlCol="0" anchor="ctr">
            <a:normAutofit/>
            <a:spAutoFit/>
          </a:bodyPr>
          <a:lstStyle/>
          <a:p>
            <a:pPr algn="l" indent="0" marL="0">
              <a:buNone/>
            </a:pPr>
            <a:r>
              <a:rPr lang="en-US" sz="1700" b="1" dirty="0">
                <a:solidFill>
                  <a:srgbClr val="FFFFFF"/>
                </a:solidFill>
                <a:latin typeface="Trebuchet MS" pitchFamily="34" charset="0"/>
                <a:ea typeface="Trebuchet MS" pitchFamily="34" charset="-122"/>
                <a:cs typeface="Trebuchet MS" pitchFamily="34" charset="-120"/>
              </a:rPr>
              <a:t>CPI, core CPI, PPI, and the GDP deflator measure inflation differently — and they can disagree by meaningful margins</a:t>
            </a:r>
            <a:endParaRPr lang="en-US" sz="1700" dirty="0"/>
          </a:p>
        </p:txBody>
      </p:sp>
      <p:sp>
        <p:nvSpPr>
          <p:cNvPr id="5" name="Shape 3"/>
          <p:cNvSpPr/>
          <p:nvPr/>
        </p:nvSpPr>
        <p:spPr>
          <a:xfrm>
            <a:off x="0" y="4892040"/>
            <a:ext cx="9144000" cy="256032"/>
          </a:xfrm>
          <a:prstGeom prst="rect">
            <a:avLst/>
          </a:prstGeom>
          <a:solidFill>
            <a:srgbClr val="E8ECF0"/>
          </a:solidFill>
          <a:ln/>
        </p:spPr>
      </p:sp>
      <p:sp>
        <p:nvSpPr>
          <p:cNvPr id="6" name="Text 4"/>
          <p:cNvSpPr txBox="1"/>
          <p:nvPr/>
        </p:nvSpPr>
        <p:spPr>
          <a:xfrm>
            <a:off x="274320" y="4892040"/>
            <a:ext cx="5943600" cy="256032"/>
          </a:xfrm>
          <a:prstGeom prst="rect">
            <a:avLst/>
          </a:prstGeom>
          <a:noFill/>
          <a:ln/>
        </p:spPr>
        <p:txBody>
          <a:bodyPr wrap="square" lIns="508" tIns="508" rIns="508" bIns="508" rtlCol="0" anchor="ctr">
            <a:normAutofit/>
            <a:spAutoFit/>
          </a:bodyPr>
          <a:lstStyle/>
          <a:p>
            <a:pPr algn="l" indent="0" marL="0">
              <a:buNone/>
            </a:pPr>
            <a:r>
              <a:rPr lang="en-US" sz="750" dirty="0">
                <a:solidFill>
                  <a:srgbClr val="6B7A8D"/>
                </a:solidFill>
                <a:latin typeface="Calibri" pitchFamily="34" charset="0"/>
                <a:ea typeface="Calibri" pitchFamily="34" charset="-122"/>
                <a:cs typeface="Calibri" pitchFamily="34" charset="-120"/>
              </a:rPr>
              <a:t>STUDIO TONTON GUG  ·  Finance Fundamentals</a:t>
            </a:r>
            <a:endParaRPr lang="en-US" sz="750" dirty="0"/>
          </a:p>
        </p:txBody>
      </p:sp>
      <p:sp>
        <p:nvSpPr>
          <p:cNvPr id="7" name="Text 5"/>
          <p:cNvSpPr txBox="1"/>
          <p:nvPr/>
        </p:nvSpPr>
        <p:spPr>
          <a:xfrm>
            <a:off x="320040" y="4663440"/>
            <a:ext cx="8503920" cy="201168"/>
          </a:xfrm>
          <a:prstGeom prst="rect">
            <a:avLst/>
          </a:prstGeom>
          <a:noFill/>
          <a:ln/>
        </p:spPr>
        <p:txBody>
          <a:bodyPr wrap="square" lIns="508" tIns="508" rIns="508" bIns="508" rtlCol="0" anchor="t">
            <a:normAutofit/>
            <a:spAutoFit/>
          </a:bodyPr>
          <a:lstStyle/>
          <a:p>
            <a:pPr algn="l" indent="0" marL="0">
              <a:buNone/>
            </a:pPr>
            <a:r>
              <a:rPr lang="en-US" sz="750" i="1" dirty="0">
                <a:solidFill>
                  <a:srgbClr val="6B7A8D"/>
                </a:solidFill>
                <a:latin typeface="Calibri" pitchFamily="34" charset="0"/>
                <a:ea typeface="Calibri" pitchFamily="34" charset="-122"/>
                <a:cs typeface="Calibri" pitchFamily="34" charset="-120"/>
              </a:rPr>
              <a:t>Source: Illustrative — standard Level I macroeconomics framework; consistent with central-bank practice per CFA Vol 2, LM 4.</a:t>
            </a:r>
            <a:endParaRPr lang="en-US" sz="750" dirty="0"/>
          </a:p>
        </p:txBody>
      </p:sp>
      <p:sp>
        <p:nvSpPr>
          <p:cNvPr id="8" name="Text 6"/>
          <p:cNvSpPr txBox="1"/>
          <p:nvPr/>
        </p:nvSpPr>
        <p:spPr>
          <a:xfrm>
            <a:off x="320040" y="731520"/>
            <a:ext cx="8503920" cy="292608"/>
          </a:xfrm>
          <a:prstGeom prst="rect">
            <a:avLst/>
          </a:prstGeom>
          <a:noFill/>
          <a:ln/>
        </p:spPr>
        <p:txBody>
          <a:bodyPr wrap="square" lIns="508" tIns="508" rIns="508" bIns="508" rtlCol="0" anchor="ctr">
            <a:normAutofit/>
            <a:spAutoFit/>
          </a:bodyPr>
          <a:lstStyle/>
          <a:p>
            <a:pPr algn="l" indent="0" marL="0">
              <a:buNone/>
            </a:pPr>
            <a:r>
              <a:rPr lang="en-US" sz="1300" i="1" dirty="0">
                <a:solidFill>
                  <a:srgbClr val="334155"/>
                </a:solidFill>
                <a:latin typeface="Calibri" pitchFamily="34" charset="0"/>
                <a:ea typeface="Calibri" pitchFamily="34" charset="-122"/>
                <a:cs typeface="Calibri" pitchFamily="34" charset="-120"/>
              </a:rPr>
              <a:t>Central banks target core CPI or core PCE because food and energy are volatile supply-driven components that monetary policy cannot address without wrecking employment.</a:t>
            </a:r>
            <a:endParaRPr lang="en-US" sz="13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20040" y="1188720"/>
          <a:ext cx="8503920" cy="914400"/>
        </p:xfrm>
        <a:graphic>
          <a:graphicData uri="http://schemas.openxmlformats.org/drawingml/2006/table">
            <a:tbl>
              <a:tblPr/>
              <a:tblGrid>
                <a:gridCol w="1645920"/>
                <a:gridCol w="3291840"/>
                <a:gridCol w="1737360"/>
                <a:gridCol w="1828800"/>
              </a:tblGrid>
              <a:tr h="274320">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Measure</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Basket / scope</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Weights</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Typical use</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Headline CPI</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Urban household consumption basket</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Fixed-weight (Laspeyres)</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Cost-of-living indexation</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Core CPI</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CPI excluding food and energy</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Same as CPI ex-volatiles</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Central-bank target</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PPI</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Producer selling prices at wholesale</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Industry output-weighted</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Early-stage inflation signal</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GDP deflator</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All domestically produced goods and services</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Current-period weights (Paasche)</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Whole-economy price measure</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PCE deflator (US)</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Personal consumption expenditure basket</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Chained, current-period weights</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US Fed's preferred gauge</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r>
            </a:tbl>
          </a:graphicData>
        </a:graphic>
      </p:graphicFrame>
      <p:sp>
        <p:nvSpPr>
          <p:cNvPr id="10" name="Shape 7"/>
          <p:cNvSpPr/>
          <p:nvPr/>
        </p:nvSpPr>
        <p:spPr>
          <a:xfrm>
            <a:off x="320040" y="3246120"/>
            <a:ext cx="8503920" cy="1051560"/>
          </a:xfrm>
          <a:prstGeom prst="rect">
            <a:avLst/>
          </a:prstGeom>
          <a:solidFill>
            <a:srgbClr val="FEF0E7"/>
          </a:solidFill>
          <a:ln/>
        </p:spPr>
      </p:sp>
      <p:sp>
        <p:nvSpPr>
          <p:cNvPr id="11" name="Shape 8"/>
          <p:cNvSpPr/>
          <p:nvPr/>
        </p:nvSpPr>
        <p:spPr>
          <a:xfrm>
            <a:off x="320040" y="3246120"/>
            <a:ext cx="73152" cy="1051560"/>
          </a:xfrm>
          <a:prstGeom prst="rect">
            <a:avLst/>
          </a:prstGeom>
          <a:solidFill>
            <a:srgbClr val="E8600A"/>
          </a:solidFill>
          <a:ln/>
        </p:spPr>
      </p:sp>
      <p:sp>
        <p:nvSpPr>
          <p:cNvPr id="12" name="Text 9"/>
          <p:cNvSpPr txBox="1"/>
          <p:nvPr/>
        </p:nvSpPr>
        <p:spPr>
          <a:xfrm>
            <a:off x="457200" y="3291840"/>
            <a:ext cx="8275320" cy="256032"/>
          </a:xfrm>
          <a:prstGeom prst="rect">
            <a:avLst/>
          </a:prstGeom>
          <a:noFill/>
          <a:ln/>
        </p:spPr>
        <p:txBody>
          <a:bodyPr wrap="square" lIns="508" tIns="508" rIns="508" bIns="508" rtlCol="0" anchor="ctr">
            <a:normAutofit/>
            <a:spAutoFit/>
          </a:bodyPr>
          <a:lstStyle/>
          <a:p>
            <a:pPr algn="l" indent="0" marL="0">
              <a:buNone/>
            </a:pPr>
            <a:r>
              <a:rPr lang="en-US" sz="1100" b="1" spc="400" kern="0" dirty="0">
                <a:solidFill>
                  <a:srgbClr val="E8600A"/>
                </a:solidFill>
                <a:latin typeface="Trebuchet MS" pitchFamily="34" charset="0"/>
                <a:ea typeface="Trebuchet MS" pitchFamily="34" charset="-122"/>
                <a:cs typeface="Trebuchet MS" pitchFamily="34" charset="-120"/>
              </a:rPr>
              <a:t>WHY HEADLINE AND CORE CAN DIVERGE</a:t>
            </a:r>
            <a:endParaRPr lang="en-US" sz="1100" dirty="0"/>
          </a:p>
        </p:txBody>
      </p:sp>
      <p:sp>
        <p:nvSpPr>
          <p:cNvPr id="13" name="Text 10"/>
          <p:cNvSpPr txBox="1"/>
          <p:nvPr/>
        </p:nvSpPr>
        <p:spPr>
          <a:xfrm>
            <a:off x="457200" y="3566160"/>
            <a:ext cx="8275320" cy="685800"/>
          </a:xfrm>
          <a:prstGeom prst="rect">
            <a:avLst/>
          </a:prstGeom>
          <a:noFill/>
          <a:ln/>
        </p:spPr>
        <p:txBody>
          <a:bodyPr wrap="square" lIns="508" tIns="508" rIns="508" bIns="508" rtlCol="0" anchor="t">
            <a:normAutofit/>
            <a:spAutoFit/>
          </a:bodyPr>
          <a:lstStyle/>
          <a:p>
            <a:pPr algn="l" indent="0" marL="0">
              <a:buNone/>
            </a:pPr>
            <a:r>
              <a:rPr lang="en-US" sz="1200" dirty="0">
                <a:solidFill>
                  <a:srgbClr val="334155"/>
                </a:solidFill>
                <a:latin typeface="Calibri" pitchFamily="34" charset="0"/>
                <a:ea typeface="Calibri" pitchFamily="34" charset="-122"/>
                <a:cs typeface="Calibri" pitchFamily="34" charset="-120"/>
              </a:rPr>
              <a:t>An oil-price spike lifts headline CPI immediately but raises core CPI only to the extent it leaks into transport, heating, and input costs of non-energy goods. The Fed sees through the first effect and reacts only to the second — the "look-through" principle. This is why stories like "CPI print high, Fed unmoved" are not contradictions.</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B2A4A"/>
          </a:solidFill>
          <a:ln/>
        </p:spPr>
      </p:sp>
      <p:sp>
        <p:nvSpPr>
          <p:cNvPr id="3" name="Shape 1"/>
          <p:cNvSpPr/>
          <p:nvPr/>
        </p:nvSpPr>
        <p:spPr>
          <a:xfrm>
            <a:off x="0" y="0"/>
            <a:ext cx="109728" cy="621792"/>
          </a:xfrm>
          <a:prstGeom prst="rect">
            <a:avLst/>
          </a:prstGeom>
          <a:solidFill>
            <a:srgbClr val="E8600A"/>
          </a:solidFill>
          <a:ln/>
        </p:spPr>
      </p:sp>
      <p:sp>
        <p:nvSpPr>
          <p:cNvPr id="4" name="Text 2"/>
          <p:cNvSpPr txBox="1"/>
          <p:nvPr/>
        </p:nvSpPr>
        <p:spPr>
          <a:xfrm>
            <a:off x="256032" y="0"/>
            <a:ext cx="8686800" cy="621792"/>
          </a:xfrm>
          <a:prstGeom prst="rect">
            <a:avLst/>
          </a:prstGeom>
          <a:noFill/>
          <a:ln/>
        </p:spPr>
        <p:txBody>
          <a:bodyPr wrap="square" lIns="508" tIns="508" rIns="508" bIns="508" rtlCol="0" anchor="ctr">
            <a:normAutofit/>
            <a:spAutoFit/>
          </a:bodyPr>
          <a:lstStyle/>
          <a:p>
            <a:pPr algn="l" indent="0" marL="0">
              <a:buNone/>
            </a:pPr>
            <a:r>
              <a:rPr lang="en-US" sz="1600" b="1" dirty="0">
                <a:solidFill>
                  <a:srgbClr val="FFFFFF"/>
                </a:solidFill>
                <a:latin typeface="Trebuchet MS" pitchFamily="34" charset="0"/>
                <a:ea typeface="Trebuchet MS" pitchFamily="34" charset="-122"/>
                <a:cs typeface="Trebuchet MS" pitchFamily="34" charset="-120"/>
              </a:rPr>
              <a:t>The Phillips curve maps the short-run trade-off between inflation and unemployment — but the long-run curve is vertical at the natural rate</a:t>
            </a:r>
            <a:endParaRPr lang="en-US" sz="1600" dirty="0"/>
          </a:p>
        </p:txBody>
      </p:sp>
      <p:sp>
        <p:nvSpPr>
          <p:cNvPr id="5" name="Shape 3"/>
          <p:cNvSpPr/>
          <p:nvPr/>
        </p:nvSpPr>
        <p:spPr>
          <a:xfrm>
            <a:off x="0" y="4892040"/>
            <a:ext cx="9144000" cy="256032"/>
          </a:xfrm>
          <a:prstGeom prst="rect">
            <a:avLst/>
          </a:prstGeom>
          <a:solidFill>
            <a:srgbClr val="E8ECF0"/>
          </a:solidFill>
          <a:ln/>
        </p:spPr>
      </p:sp>
      <p:sp>
        <p:nvSpPr>
          <p:cNvPr id="6" name="Text 4"/>
          <p:cNvSpPr txBox="1"/>
          <p:nvPr/>
        </p:nvSpPr>
        <p:spPr>
          <a:xfrm>
            <a:off x="274320" y="4892040"/>
            <a:ext cx="5943600" cy="256032"/>
          </a:xfrm>
          <a:prstGeom prst="rect">
            <a:avLst/>
          </a:prstGeom>
          <a:noFill/>
          <a:ln/>
        </p:spPr>
        <p:txBody>
          <a:bodyPr wrap="square" lIns="508" tIns="508" rIns="508" bIns="508" rtlCol="0" anchor="ctr">
            <a:normAutofit/>
            <a:spAutoFit/>
          </a:bodyPr>
          <a:lstStyle/>
          <a:p>
            <a:pPr algn="l" indent="0" marL="0">
              <a:buNone/>
            </a:pPr>
            <a:r>
              <a:rPr lang="en-US" sz="750" dirty="0">
                <a:solidFill>
                  <a:srgbClr val="6B7A8D"/>
                </a:solidFill>
                <a:latin typeface="Calibri" pitchFamily="34" charset="0"/>
                <a:ea typeface="Calibri" pitchFamily="34" charset="-122"/>
                <a:cs typeface="Calibri" pitchFamily="34" charset="-120"/>
              </a:rPr>
              <a:t>STUDIO TONTON GUG  ·  Finance Fundamentals</a:t>
            </a:r>
            <a:endParaRPr lang="en-US" sz="750" dirty="0"/>
          </a:p>
        </p:txBody>
      </p:sp>
      <p:sp>
        <p:nvSpPr>
          <p:cNvPr id="7" name="Text 5"/>
          <p:cNvSpPr txBox="1"/>
          <p:nvPr/>
        </p:nvSpPr>
        <p:spPr>
          <a:xfrm>
            <a:off x="320040" y="4663440"/>
            <a:ext cx="8503920" cy="201168"/>
          </a:xfrm>
          <a:prstGeom prst="rect">
            <a:avLst/>
          </a:prstGeom>
          <a:noFill/>
          <a:ln/>
        </p:spPr>
        <p:txBody>
          <a:bodyPr wrap="square" lIns="508" tIns="508" rIns="508" bIns="508" rtlCol="0" anchor="t">
            <a:normAutofit/>
            <a:spAutoFit/>
          </a:bodyPr>
          <a:lstStyle/>
          <a:p>
            <a:pPr algn="l" indent="0" marL="0">
              <a:buNone/>
            </a:pPr>
            <a:r>
              <a:rPr lang="en-US" sz="750" i="1" dirty="0">
                <a:solidFill>
                  <a:srgbClr val="6B7A8D"/>
                </a:solidFill>
                <a:latin typeface="Calibri" pitchFamily="34" charset="0"/>
                <a:ea typeface="Calibri" pitchFamily="34" charset="-122"/>
                <a:cs typeface="Calibri" pitchFamily="34" charset="-120"/>
              </a:rPr>
              <a:t>Source: Illustrative — standard Level I macroeconomics; Phillips (1958), Friedman–Phelps expectations-augmented extension.</a:t>
            </a:r>
            <a:endParaRPr lang="en-US" sz="750" dirty="0"/>
          </a:p>
        </p:txBody>
      </p:sp>
      <p:sp>
        <p:nvSpPr>
          <p:cNvPr id="8" name="Text 6"/>
          <p:cNvSpPr txBox="1"/>
          <p:nvPr/>
        </p:nvSpPr>
        <p:spPr>
          <a:xfrm>
            <a:off x="320040" y="731520"/>
            <a:ext cx="8503920" cy="292608"/>
          </a:xfrm>
          <a:prstGeom prst="rect">
            <a:avLst/>
          </a:prstGeom>
          <a:noFill/>
          <a:ln/>
        </p:spPr>
        <p:txBody>
          <a:bodyPr wrap="square" lIns="508" tIns="508" rIns="508" bIns="508" rtlCol="0" anchor="ctr">
            <a:normAutofit/>
            <a:spAutoFit/>
          </a:bodyPr>
          <a:lstStyle/>
          <a:p>
            <a:pPr algn="l" indent="0" marL="0">
              <a:buNone/>
            </a:pPr>
            <a:r>
              <a:rPr lang="en-US" sz="1300" i="1" dirty="0">
                <a:solidFill>
                  <a:srgbClr val="334155"/>
                </a:solidFill>
                <a:latin typeface="Calibri" pitchFamily="34" charset="0"/>
                <a:ea typeface="Calibri" pitchFamily="34" charset="-122"/>
                <a:cs typeface="Calibri" pitchFamily="34" charset="-120"/>
              </a:rPr>
              <a:t>Short-run Phillips curve: the central bank can buy less unemployment by accepting more inflation. Long-run: it cannot — inflation rises with no gain in employment.</a:t>
            </a:r>
            <a:endParaRPr lang="en-US" sz="1300" dirty="0"/>
          </a:p>
        </p:txBody>
      </p:sp>
      <p:sp>
        <p:nvSpPr>
          <p:cNvPr id="9" name="Shape 7"/>
          <p:cNvSpPr/>
          <p:nvPr/>
        </p:nvSpPr>
        <p:spPr>
          <a:xfrm>
            <a:off x="320040" y="1188720"/>
            <a:ext cx="8503920" cy="658368"/>
          </a:xfrm>
          <a:prstGeom prst="rect">
            <a:avLst/>
          </a:prstGeom>
          <a:solidFill>
            <a:srgbClr val="1B2A4A"/>
          </a:solidFill>
          <a:ln/>
        </p:spPr>
      </p:sp>
      <p:sp>
        <p:nvSpPr>
          <p:cNvPr id="10" name="Text 8"/>
          <p:cNvSpPr txBox="1"/>
          <p:nvPr/>
        </p:nvSpPr>
        <p:spPr>
          <a:xfrm>
            <a:off x="411480" y="1188720"/>
            <a:ext cx="8321040" cy="658368"/>
          </a:xfrm>
          <a:prstGeom prst="rect">
            <a:avLst/>
          </a:prstGeom>
          <a:noFill/>
          <a:ln/>
        </p:spPr>
        <p:txBody>
          <a:bodyPr wrap="square" lIns="508" tIns="508" rIns="508" bIns="508" rtlCol="0" anchor="ctr">
            <a:normAutofit/>
            <a:spAutoFit/>
          </a:bodyPr>
          <a:lstStyle/>
          <a:p>
            <a:pPr algn="ctr" indent="0" marL="0">
              <a:buNone/>
            </a:pPr>
            <a:r>
              <a:rPr lang="en-US" sz="1800" b="1" dirty="0">
                <a:solidFill>
                  <a:srgbClr val="FFFFFF"/>
                </a:solidFill>
                <a:latin typeface="Consolas" pitchFamily="34" charset="0"/>
                <a:ea typeface="Consolas" pitchFamily="34" charset="-122"/>
                <a:cs typeface="Consolas" pitchFamily="34" charset="-120"/>
              </a:rPr>
              <a:t>Short-run:   π  =  E[π]  −  β (U − U_natural)      Long-run:   U  =  U_natural   (vertical)</a:t>
            </a:r>
            <a:endParaRPr lang="en-US" sz="1800" dirty="0"/>
          </a:p>
        </p:txBody>
      </p:sp>
      <p:sp>
        <p:nvSpPr>
          <p:cNvPr id="11" name="Text 9"/>
          <p:cNvSpPr txBox="1"/>
          <p:nvPr/>
        </p:nvSpPr>
        <p:spPr>
          <a:xfrm>
            <a:off x="320040" y="1874520"/>
            <a:ext cx="8503920" cy="256032"/>
          </a:xfrm>
          <a:prstGeom prst="rect">
            <a:avLst/>
          </a:prstGeom>
          <a:noFill/>
          <a:ln/>
        </p:spPr>
        <p:txBody>
          <a:bodyPr wrap="square" lIns="508" tIns="508" rIns="508" bIns="508" rtlCol="0" anchor="ctr">
            <a:normAutofit/>
            <a:spAutoFit/>
          </a:bodyPr>
          <a:lstStyle/>
          <a:p>
            <a:pPr algn="l" indent="0" marL="0">
              <a:buNone/>
            </a:pPr>
            <a:r>
              <a:rPr lang="en-US" sz="1100" i="1" dirty="0">
                <a:solidFill>
                  <a:srgbClr val="334155"/>
                </a:solidFill>
                <a:latin typeface="Calibri" pitchFamily="34" charset="0"/>
                <a:ea typeface="Calibri" pitchFamily="34" charset="-122"/>
                <a:cs typeface="Calibri" pitchFamily="34" charset="-120"/>
              </a:rPr>
              <a:t>where: π = inflation; E[π] = expected inflation; U = unemployment rate; U_natural = NAIRU; β &gt; 0 is the short-run slope.</a:t>
            </a:r>
            <a:endParaRPr lang="en-US" sz="1100" dirty="0"/>
          </a:p>
        </p:txBody>
      </p:sp>
      <p:sp>
        <p:nvSpPr>
          <p:cNvPr id="12" name="Shape 10"/>
          <p:cNvSpPr/>
          <p:nvPr/>
        </p:nvSpPr>
        <p:spPr>
          <a:xfrm>
            <a:off x="320040" y="2331720"/>
            <a:ext cx="4160520" cy="1965960"/>
          </a:xfrm>
          <a:prstGeom prst="rect">
            <a:avLst/>
          </a:prstGeom>
          <a:solidFill>
            <a:srgbClr val="FEF0E7"/>
          </a:solidFill>
          <a:ln/>
        </p:spPr>
      </p:sp>
      <p:sp>
        <p:nvSpPr>
          <p:cNvPr id="13" name="Shape 11"/>
          <p:cNvSpPr/>
          <p:nvPr/>
        </p:nvSpPr>
        <p:spPr>
          <a:xfrm>
            <a:off x="320040" y="2331720"/>
            <a:ext cx="73152" cy="1965960"/>
          </a:xfrm>
          <a:prstGeom prst="rect">
            <a:avLst/>
          </a:prstGeom>
          <a:solidFill>
            <a:srgbClr val="E8600A"/>
          </a:solidFill>
          <a:ln/>
        </p:spPr>
      </p:sp>
      <p:sp>
        <p:nvSpPr>
          <p:cNvPr id="14" name="Text 12"/>
          <p:cNvSpPr txBox="1"/>
          <p:nvPr/>
        </p:nvSpPr>
        <p:spPr>
          <a:xfrm>
            <a:off x="457200" y="2377440"/>
            <a:ext cx="3931920" cy="256032"/>
          </a:xfrm>
          <a:prstGeom prst="rect">
            <a:avLst/>
          </a:prstGeom>
          <a:noFill/>
          <a:ln/>
        </p:spPr>
        <p:txBody>
          <a:bodyPr wrap="square" lIns="508" tIns="508" rIns="508" bIns="508" rtlCol="0" anchor="ctr">
            <a:normAutofit/>
            <a:spAutoFit/>
          </a:bodyPr>
          <a:lstStyle/>
          <a:p>
            <a:pPr algn="l" indent="0" marL="0">
              <a:buNone/>
            </a:pPr>
            <a:r>
              <a:rPr lang="en-US" sz="1100" b="1" spc="400" kern="0" dirty="0">
                <a:solidFill>
                  <a:srgbClr val="E8600A"/>
                </a:solidFill>
                <a:latin typeface="Trebuchet MS" pitchFamily="34" charset="0"/>
                <a:ea typeface="Trebuchet MS" pitchFamily="34" charset="-122"/>
                <a:cs typeface="Trebuchet MS" pitchFamily="34" charset="-120"/>
              </a:rPr>
              <a:t>SHORT RUN</a:t>
            </a:r>
            <a:endParaRPr lang="en-US" sz="1100" dirty="0"/>
          </a:p>
        </p:txBody>
      </p:sp>
      <p:sp>
        <p:nvSpPr>
          <p:cNvPr id="15" name="Text 13"/>
          <p:cNvSpPr txBox="1"/>
          <p:nvPr/>
        </p:nvSpPr>
        <p:spPr>
          <a:xfrm>
            <a:off x="457200" y="2651760"/>
            <a:ext cx="3931920" cy="1600200"/>
          </a:xfrm>
          <a:prstGeom prst="rect">
            <a:avLst/>
          </a:prstGeom>
          <a:noFill/>
          <a:ln/>
        </p:spPr>
        <p:txBody>
          <a:bodyPr wrap="square" lIns="508" tIns="508" rIns="508" bIns="508" rtlCol="0" anchor="t">
            <a:normAutofit/>
            <a:spAutoFit/>
          </a:bodyPr>
          <a:lstStyle/>
          <a:p>
            <a:pPr algn="l" indent="0" marL="0">
              <a:buNone/>
            </a:pPr>
            <a:r>
              <a:rPr lang="en-US" sz="1200" dirty="0">
                <a:solidFill>
                  <a:srgbClr val="334155"/>
                </a:solidFill>
                <a:latin typeface="Calibri" pitchFamily="34" charset="0"/>
                <a:ea typeface="Calibri" pitchFamily="34" charset="-122"/>
                <a:cs typeface="Calibri" pitchFamily="34" charset="-120"/>
              </a:rPr>
              <a:t>Given fixed expectations, U and π trade off. A demand surprise that pushes U below NAIRU raises π above E[π]. Central banks exploit this briefly to "run the economy hot."</a:t>
            </a:r>
            <a:endParaRPr lang="en-US" sz="1200" dirty="0"/>
          </a:p>
        </p:txBody>
      </p:sp>
      <p:sp>
        <p:nvSpPr>
          <p:cNvPr id="16" name="Shape 14"/>
          <p:cNvSpPr/>
          <p:nvPr/>
        </p:nvSpPr>
        <p:spPr>
          <a:xfrm>
            <a:off x="4663440" y="2331720"/>
            <a:ext cx="4160520" cy="1965960"/>
          </a:xfrm>
          <a:prstGeom prst="rect">
            <a:avLst/>
          </a:prstGeom>
          <a:solidFill>
            <a:srgbClr val="F5F7FA"/>
          </a:solidFill>
          <a:ln/>
        </p:spPr>
      </p:sp>
      <p:sp>
        <p:nvSpPr>
          <p:cNvPr id="17" name="Shape 15"/>
          <p:cNvSpPr/>
          <p:nvPr/>
        </p:nvSpPr>
        <p:spPr>
          <a:xfrm>
            <a:off x="4663440" y="2331720"/>
            <a:ext cx="73152" cy="1965960"/>
          </a:xfrm>
          <a:prstGeom prst="rect">
            <a:avLst/>
          </a:prstGeom>
          <a:solidFill>
            <a:srgbClr val="1B2A4A"/>
          </a:solidFill>
          <a:ln/>
        </p:spPr>
      </p:sp>
      <p:sp>
        <p:nvSpPr>
          <p:cNvPr id="18" name="Text 16"/>
          <p:cNvSpPr txBox="1"/>
          <p:nvPr/>
        </p:nvSpPr>
        <p:spPr>
          <a:xfrm>
            <a:off x="4800600" y="2377440"/>
            <a:ext cx="3931920" cy="256032"/>
          </a:xfrm>
          <a:prstGeom prst="rect">
            <a:avLst/>
          </a:prstGeom>
          <a:noFill/>
          <a:ln/>
        </p:spPr>
        <p:txBody>
          <a:bodyPr wrap="square" lIns="508" tIns="508" rIns="508" bIns="508" rtlCol="0" anchor="ctr">
            <a:normAutofit/>
            <a:spAutoFit/>
          </a:bodyPr>
          <a:lstStyle/>
          <a:p>
            <a:pPr algn="l" indent="0" marL="0">
              <a:buNone/>
            </a:pPr>
            <a:r>
              <a:rPr lang="en-US" sz="1100" b="1" spc="400" kern="0" dirty="0">
                <a:solidFill>
                  <a:srgbClr val="1B2A4A"/>
                </a:solidFill>
                <a:latin typeface="Trebuchet MS" pitchFamily="34" charset="0"/>
                <a:ea typeface="Trebuchet MS" pitchFamily="34" charset="-122"/>
                <a:cs typeface="Trebuchet MS" pitchFamily="34" charset="-120"/>
              </a:rPr>
              <a:t>LONG RUN</a:t>
            </a:r>
            <a:endParaRPr lang="en-US" sz="1100" dirty="0"/>
          </a:p>
        </p:txBody>
      </p:sp>
      <p:sp>
        <p:nvSpPr>
          <p:cNvPr id="19" name="Text 17"/>
          <p:cNvSpPr txBox="1"/>
          <p:nvPr/>
        </p:nvSpPr>
        <p:spPr>
          <a:xfrm>
            <a:off x="4800600" y="2651760"/>
            <a:ext cx="3931920" cy="1600200"/>
          </a:xfrm>
          <a:prstGeom prst="rect">
            <a:avLst/>
          </a:prstGeom>
          <a:noFill/>
          <a:ln/>
        </p:spPr>
        <p:txBody>
          <a:bodyPr wrap="square" lIns="508" tIns="508" rIns="508" bIns="508" rtlCol="0" anchor="t">
            <a:normAutofit/>
            <a:spAutoFit/>
          </a:bodyPr>
          <a:lstStyle/>
          <a:p>
            <a:pPr algn="l" indent="0" marL="0">
              <a:buNone/>
            </a:pPr>
            <a:r>
              <a:rPr lang="en-US" sz="1200" dirty="0">
                <a:solidFill>
                  <a:srgbClr val="334155"/>
                </a:solidFill>
                <a:latin typeface="Calibri" pitchFamily="34" charset="0"/>
                <a:ea typeface="Calibri" pitchFamily="34" charset="-122"/>
                <a:cs typeface="Calibri" pitchFamily="34" charset="-120"/>
              </a:rPr>
              <a:t>Agents update expectations. If actual π &gt; expected π every period, E[π] rises and the short-run curve shifts up — same U, higher π. At U = NAIRU the long-run curve is vertical.</a:t>
            </a:r>
            <a:endParaRPr lang="en-US" sz="1200" dirty="0"/>
          </a:p>
          <a:p>
            <a:pPr algn="l" indent="0" marL="0">
              <a:buNone/>
            </a:pPr>
            <a:endParaRPr lang="en-US" sz="1200" dirty="0"/>
          </a:p>
          <a:p>
            <a:pPr algn="l" indent="0" marL="0">
              <a:buNone/>
            </a:pPr>
            <a:r>
              <a:rPr lang="en-US" sz="1200" dirty="0">
                <a:solidFill>
                  <a:srgbClr val="334155"/>
                </a:solidFill>
                <a:latin typeface="Calibri" pitchFamily="34" charset="0"/>
                <a:ea typeface="Calibri" pitchFamily="34" charset="-122"/>
                <a:cs typeface="Calibri" pitchFamily="34" charset="-120"/>
              </a:rPr>
              <a:t>This is the Friedman-Phelps result.</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B2A4A"/>
          </a:solidFill>
          <a:ln/>
        </p:spPr>
      </p:sp>
      <p:sp>
        <p:nvSpPr>
          <p:cNvPr id="3" name="Shape 1"/>
          <p:cNvSpPr/>
          <p:nvPr/>
        </p:nvSpPr>
        <p:spPr>
          <a:xfrm>
            <a:off x="0" y="0"/>
            <a:ext cx="109728" cy="621792"/>
          </a:xfrm>
          <a:prstGeom prst="rect">
            <a:avLst/>
          </a:prstGeom>
          <a:solidFill>
            <a:srgbClr val="E8600A"/>
          </a:solidFill>
          <a:ln/>
        </p:spPr>
      </p:sp>
      <p:sp>
        <p:nvSpPr>
          <p:cNvPr id="4" name="Text 2"/>
          <p:cNvSpPr txBox="1"/>
          <p:nvPr/>
        </p:nvSpPr>
        <p:spPr>
          <a:xfrm>
            <a:off x="256032" y="0"/>
            <a:ext cx="8686800" cy="621792"/>
          </a:xfrm>
          <a:prstGeom prst="rect">
            <a:avLst/>
          </a:prstGeom>
          <a:noFill/>
          <a:ln/>
        </p:spPr>
        <p:txBody>
          <a:bodyPr wrap="square" lIns="508" tIns="508" rIns="508" bIns="508" rtlCol="0" anchor="ctr">
            <a:normAutofit/>
            <a:spAutoFit/>
          </a:bodyPr>
          <a:lstStyle/>
          <a:p>
            <a:pPr algn="l" indent="0" marL="0">
              <a:buNone/>
            </a:pPr>
            <a:r>
              <a:rPr lang="en-US" sz="1600" b="1" dirty="0">
                <a:solidFill>
                  <a:srgbClr val="FFFFFF"/>
                </a:solidFill>
                <a:latin typeface="Trebuchet MS" pitchFamily="34" charset="0"/>
                <a:ea typeface="Trebuchet MS" pitchFamily="34" charset="-122"/>
                <a:cs typeface="Trebuchet MS" pitchFamily="34" charset="-120"/>
              </a:rPr>
              <a:t>Okun's law ties the output gap to the unemployment gap at roughly 2-to-1 — a rule of thumb that holds across most developed economies</a:t>
            </a:r>
            <a:endParaRPr lang="en-US" sz="1600" dirty="0"/>
          </a:p>
        </p:txBody>
      </p:sp>
      <p:sp>
        <p:nvSpPr>
          <p:cNvPr id="5" name="Shape 3"/>
          <p:cNvSpPr/>
          <p:nvPr/>
        </p:nvSpPr>
        <p:spPr>
          <a:xfrm>
            <a:off x="0" y="4892040"/>
            <a:ext cx="9144000" cy="256032"/>
          </a:xfrm>
          <a:prstGeom prst="rect">
            <a:avLst/>
          </a:prstGeom>
          <a:solidFill>
            <a:srgbClr val="E8ECF0"/>
          </a:solidFill>
          <a:ln/>
        </p:spPr>
      </p:sp>
      <p:sp>
        <p:nvSpPr>
          <p:cNvPr id="6" name="Text 4"/>
          <p:cNvSpPr txBox="1"/>
          <p:nvPr/>
        </p:nvSpPr>
        <p:spPr>
          <a:xfrm>
            <a:off x="274320" y="4892040"/>
            <a:ext cx="5943600" cy="256032"/>
          </a:xfrm>
          <a:prstGeom prst="rect">
            <a:avLst/>
          </a:prstGeom>
          <a:noFill/>
          <a:ln/>
        </p:spPr>
        <p:txBody>
          <a:bodyPr wrap="square" lIns="508" tIns="508" rIns="508" bIns="508" rtlCol="0" anchor="ctr">
            <a:normAutofit/>
            <a:spAutoFit/>
          </a:bodyPr>
          <a:lstStyle/>
          <a:p>
            <a:pPr algn="l" indent="0" marL="0">
              <a:buNone/>
            </a:pPr>
            <a:r>
              <a:rPr lang="en-US" sz="750" dirty="0">
                <a:solidFill>
                  <a:srgbClr val="6B7A8D"/>
                </a:solidFill>
                <a:latin typeface="Calibri" pitchFamily="34" charset="0"/>
                <a:ea typeface="Calibri" pitchFamily="34" charset="-122"/>
                <a:cs typeface="Calibri" pitchFamily="34" charset="-120"/>
              </a:rPr>
              <a:t>STUDIO TONTON GUG  ·  Finance Fundamentals</a:t>
            </a:r>
            <a:endParaRPr lang="en-US" sz="750" dirty="0"/>
          </a:p>
        </p:txBody>
      </p:sp>
      <p:sp>
        <p:nvSpPr>
          <p:cNvPr id="7" name="Text 5"/>
          <p:cNvSpPr txBox="1"/>
          <p:nvPr/>
        </p:nvSpPr>
        <p:spPr>
          <a:xfrm>
            <a:off x="320040" y="4471416"/>
            <a:ext cx="8503920" cy="192024"/>
          </a:xfrm>
          <a:prstGeom prst="rect">
            <a:avLst/>
          </a:prstGeom>
          <a:noFill/>
          <a:ln/>
        </p:spPr>
        <p:txBody>
          <a:bodyPr wrap="square" lIns="254" tIns="254" rIns="254" bIns="254" rtlCol="0" anchor="t"/>
          <a:lstStyle/>
          <a:p>
            <a:pPr indent="0" marL="0">
              <a:buNone/>
            </a:pPr>
            <a:r>
              <a:rPr lang="en-US" sz="1000" dirty="0">
                <a:solidFill>
                  <a:srgbClr val="6B7A8D"/>
                </a:solidFill>
                <a:latin typeface="Calibri" pitchFamily="34" charset="0"/>
                <a:ea typeface="Calibri" pitchFamily="34" charset="-122"/>
                <a:cs typeface="Calibri" pitchFamily="34" charset="-120"/>
              </a:rPr>
              <a:t>¹ The coefficient varies by country and era. Post-1990 US: closer to 2.0. Japan: closer to 4–6 (lifetime employment damps the relationship).
</a:t>
            </a:r>
            <a:endParaRPr lang="en-US" sz="1000" dirty="0"/>
          </a:p>
        </p:txBody>
      </p:sp>
      <p:sp>
        <p:nvSpPr>
          <p:cNvPr id="8" name="Text 6"/>
          <p:cNvSpPr txBox="1"/>
          <p:nvPr/>
        </p:nvSpPr>
        <p:spPr>
          <a:xfrm>
            <a:off x="320040" y="4663440"/>
            <a:ext cx="8503920" cy="201168"/>
          </a:xfrm>
          <a:prstGeom prst="rect">
            <a:avLst/>
          </a:prstGeom>
          <a:noFill/>
          <a:ln/>
        </p:spPr>
        <p:txBody>
          <a:bodyPr wrap="square" lIns="508" tIns="508" rIns="508" bIns="508" rtlCol="0" anchor="t">
            <a:normAutofit/>
            <a:spAutoFit/>
          </a:bodyPr>
          <a:lstStyle/>
          <a:p>
            <a:pPr algn="l" indent="0" marL="0">
              <a:buNone/>
            </a:pPr>
            <a:r>
              <a:rPr lang="en-US" sz="750" i="1" dirty="0">
                <a:solidFill>
                  <a:srgbClr val="6B7A8D"/>
                </a:solidFill>
                <a:latin typeface="Calibri" pitchFamily="34" charset="0"/>
                <a:ea typeface="Calibri" pitchFamily="34" charset="-122"/>
                <a:cs typeface="Calibri" pitchFamily="34" charset="-120"/>
              </a:rPr>
              <a:t>Source: Illustrative — Okun (1962) original coefficient ≈ 2.0 for the US; 1.5–2.5 range across developed markets.</a:t>
            </a:r>
            <a:endParaRPr lang="en-US" sz="750" dirty="0"/>
          </a:p>
        </p:txBody>
      </p:sp>
      <p:sp>
        <p:nvSpPr>
          <p:cNvPr id="9" name="Text 7"/>
          <p:cNvSpPr txBox="1"/>
          <p:nvPr/>
        </p:nvSpPr>
        <p:spPr>
          <a:xfrm>
            <a:off x="320040" y="731520"/>
            <a:ext cx="8503920" cy="292608"/>
          </a:xfrm>
          <a:prstGeom prst="rect">
            <a:avLst/>
          </a:prstGeom>
          <a:noFill/>
          <a:ln/>
        </p:spPr>
        <p:txBody>
          <a:bodyPr wrap="square" lIns="508" tIns="508" rIns="508" bIns="508" rtlCol="0" anchor="ctr">
            <a:normAutofit/>
            <a:spAutoFit/>
          </a:bodyPr>
          <a:lstStyle/>
          <a:p>
            <a:pPr algn="l" indent="0" marL="0">
              <a:buNone/>
            </a:pPr>
            <a:r>
              <a:rPr lang="en-US" sz="1300" i="1" dirty="0">
                <a:solidFill>
                  <a:srgbClr val="334155"/>
                </a:solidFill>
                <a:latin typeface="Calibri" pitchFamily="34" charset="0"/>
                <a:ea typeface="Calibri" pitchFamily="34" charset="-122"/>
                <a:cs typeface="Calibri" pitchFamily="34" charset="-120"/>
              </a:rPr>
              <a:t>Okun's law is the bridge from GDP growth forecasts to unemployment forecasts — and, combined with Phillips, to inflation forecasts.</a:t>
            </a:r>
            <a:endParaRPr lang="en-US" sz="1300" dirty="0"/>
          </a:p>
        </p:txBody>
      </p:sp>
      <p:sp>
        <p:nvSpPr>
          <p:cNvPr id="10" name="Shape 8"/>
          <p:cNvSpPr/>
          <p:nvPr/>
        </p:nvSpPr>
        <p:spPr>
          <a:xfrm>
            <a:off x="320040" y="1188720"/>
            <a:ext cx="8503920" cy="658368"/>
          </a:xfrm>
          <a:prstGeom prst="rect">
            <a:avLst/>
          </a:prstGeom>
          <a:solidFill>
            <a:srgbClr val="1B2A4A"/>
          </a:solidFill>
          <a:ln/>
        </p:spPr>
      </p:sp>
      <p:sp>
        <p:nvSpPr>
          <p:cNvPr id="11" name="Text 9"/>
          <p:cNvSpPr txBox="1"/>
          <p:nvPr/>
        </p:nvSpPr>
        <p:spPr>
          <a:xfrm>
            <a:off x="411480" y="1188720"/>
            <a:ext cx="8321040" cy="658368"/>
          </a:xfrm>
          <a:prstGeom prst="rect">
            <a:avLst/>
          </a:prstGeom>
          <a:noFill/>
          <a:ln/>
        </p:spPr>
        <p:txBody>
          <a:bodyPr wrap="square" lIns="508" tIns="508" rIns="508" bIns="508" rtlCol="0" anchor="ctr">
            <a:normAutofit/>
            <a:spAutoFit/>
          </a:bodyPr>
          <a:lstStyle/>
          <a:p>
            <a:pPr algn="ctr" indent="0" marL="0">
              <a:buNone/>
            </a:pPr>
            <a:r>
              <a:rPr lang="en-US" sz="1800" b="1" dirty="0">
                <a:solidFill>
                  <a:srgbClr val="FFFFFF"/>
                </a:solidFill>
                <a:latin typeface="Consolas" pitchFamily="34" charset="0"/>
                <a:ea typeface="Consolas" pitchFamily="34" charset="-122"/>
                <a:cs typeface="Consolas" pitchFamily="34" charset="-120"/>
              </a:rPr>
              <a:t>(Y − Y*) / Y*   ≈   − α × (U − U_natural)          α  ≈  2.0   (developed markets)</a:t>
            </a:r>
            <a:endParaRPr lang="en-US" sz="1800" dirty="0"/>
          </a:p>
        </p:txBody>
      </p:sp>
      <p:sp>
        <p:nvSpPr>
          <p:cNvPr id="12" name="Text 10"/>
          <p:cNvSpPr txBox="1"/>
          <p:nvPr/>
        </p:nvSpPr>
        <p:spPr>
          <a:xfrm>
            <a:off x="320040" y="1874520"/>
            <a:ext cx="8503920" cy="256032"/>
          </a:xfrm>
          <a:prstGeom prst="rect">
            <a:avLst/>
          </a:prstGeom>
          <a:noFill/>
          <a:ln/>
        </p:spPr>
        <p:txBody>
          <a:bodyPr wrap="square" lIns="508" tIns="508" rIns="508" bIns="508" rtlCol="0" anchor="ctr">
            <a:normAutofit/>
            <a:spAutoFit/>
          </a:bodyPr>
          <a:lstStyle/>
          <a:p>
            <a:pPr algn="l" indent="0" marL="0">
              <a:buNone/>
            </a:pPr>
            <a:r>
              <a:rPr lang="en-US" sz="1100" i="1" dirty="0">
                <a:solidFill>
                  <a:srgbClr val="334155"/>
                </a:solidFill>
                <a:latin typeface="Calibri" pitchFamily="34" charset="0"/>
                <a:ea typeface="Calibri" pitchFamily="34" charset="-122"/>
                <a:cs typeface="Calibri" pitchFamily="34" charset="-120"/>
              </a:rPr>
              <a:t>where: A 1 pp rise in the unemployment rate above NAIRU corresponds to a ~2% output gap below potential.</a:t>
            </a:r>
            <a:endParaRPr lang="en-US" sz="1100" dirty="0"/>
          </a:p>
        </p:txBody>
      </p:sp>
      <p:sp>
        <p:nvSpPr>
          <p:cNvPr id="13" name="Shape 11"/>
          <p:cNvSpPr/>
          <p:nvPr/>
        </p:nvSpPr>
        <p:spPr>
          <a:xfrm>
            <a:off x="320040" y="2331720"/>
            <a:ext cx="8503920" cy="1965960"/>
          </a:xfrm>
          <a:prstGeom prst="rect">
            <a:avLst/>
          </a:prstGeom>
          <a:solidFill>
            <a:srgbClr val="FEF0E7"/>
          </a:solidFill>
          <a:ln w="9525">
            <a:solidFill>
              <a:srgbClr val="E8600A"/>
            </a:solidFill>
            <a:prstDash val="solid"/>
          </a:ln>
        </p:spPr>
      </p:sp>
      <p:sp>
        <p:nvSpPr>
          <p:cNvPr id="14" name="Text 12"/>
          <p:cNvSpPr txBox="1"/>
          <p:nvPr/>
        </p:nvSpPr>
        <p:spPr>
          <a:xfrm>
            <a:off x="457200" y="2377440"/>
            <a:ext cx="8229600" cy="256032"/>
          </a:xfrm>
          <a:prstGeom prst="rect">
            <a:avLst/>
          </a:prstGeom>
          <a:noFill/>
          <a:ln/>
        </p:spPr>
        <p:txBody>
          <a:bodyPr wrap="square" lIns="508" tIns="508" rIns="508" bIns="508" rtlCol="0" anchor="ctr">
            <a:normAutofit/>
            <a:spAutoFit/>
          </a:bodyPr>
          <a:lstStyle/>
          <a:p>
            <a:pPr algn="l" indent="0" marL="0">
              <a:buNone/>
            </a:pPr>
            <a:r>
              <a:rPr lang="en-US" sz="1100" b="1" spc="400" kern="0" dirty="0">
                <a:solidFill>
                  <a:srgbClr val="E8600A"/>
                </a:solidFill>
                <a:latin typeface="Trebuchet MS" pitchFamily="34" charset="0"/>
                <a:ea typeface="Trebuchet MS" pitchFamily="34" charset="-122"/>
                <a:cs typeface="Trebuchet MS" pitchFamily="34" charset="-120"/>
              </a:rPr>
              <a:t>ILLUSTRATIVE — MAPPING U-GAP TO OUTPUT GAP</a:t>
            </a:r>
            <a:endParaRPr lang="en-US" sz="1100" dirty="0"/>
          </a:p>
        </p:txBody>
      </p:sp>
      <p:sp>
        <p:nvSpPr>
          <p:cNvPr id="15" name="Text 13"/>
          <p:cNvSpPr txBox="1"/>
          <p:nvPr/>
        </p:nvSpPr>
        <p:spPr>
          <a:xfrm>
            <a:off x="457200" y="2670048"/>
            <a:ext cx="8229600" cy="457200"/>
          </a:xfrm>
          <a:prstGeom prst="rect">
            <a:avLst/>
          </a:prstGeom>
          <a:noFill/>
          <a:ln/>
        </p:spPr>
        <p:txBody>
          <a:bodyPr wrap="square" lIns="508" tIns="508" rIns="508" bIns="508" rtlCol="0" anchor="t">
            <a:normAutofit/>
            <a:spAutoFit/>
          </a:bodyPr>
          <a:lstStyle/>
          <a:p>
            <a:pPr algn="l" indent="0" marL="0">
              <a:buNone/>
            </a:pPr>
            <a:r>
              <a:rPr lang="en-US" sz="1200" dirty="0">
                <a:solidFill>
                  <a:srgbClr val="334155"/>
                </a:solidFill>
                <a:latin typeface="Calibri" pitchFamily="34" charset="0"/>
                <a:ea typeface="Calibri" pitchFamily="34" charset="-122"/>
                <a:cs typeface="Calibri" pitchFamily="34" charset="-120"/>
              </a:rPr>
              <a:t>Economy with potential growth 2% p.a. NAIRU = 4%. Observed unemployment rises from 4% to 6% over the year. Estimate the output gap.</a:t>
            </a:r>
            <a:endParaRPr lang="en-US" sz="1200" dirty="0"/>
          </a:p>
        </p:txBody>
      </p:sp>
      <p:sp>
        <p:nvSpPr>
          <p:cNvPr id="16" name="Text 14"/>
          <p:cNvSpPr txBox="1"/>
          <p:nvPr/>
        </p:nvSpPr>
        <p:spPr>
          <a:xfrm>
            <a:off x="457200" y="3182112"/>
            <a:ext cx="8229600" cy="603504"/>
          </a:xfrm>
          <a:prstGeom prst="rect">
            <a:avLst/>
          </a:prstGeom>
          <a:noFill/>
          <a:ln/>
        </p:spPr>
        <p:txBody>
          <a:bodyPr wrap="square" lIns="254" tIns="254" rIns="254" bIns="254" rtlCol="0" anchor="t">
            <a:normAutofit/>
            <a:spAutoFit/>
          </a:bodyPr>
          <a:lstStyle/>
          <a:p>
            <a:pPr indent="0" marL="0">
              <a:spcAft>
                <a:spcPts val="200"/>
              </a:spcAft>
              <a:buNone/>
            </a:pPr>
            <a:r>
              <a:rPr lang="en-US" sz="1050" b="1" dirty="0">
                <a:solidFill>
                  <a:srgbClr val="1B2A4A"/>
                </a:solidFill>
                <a:latin typeface="Calibri" pitchFamily="34" charset="0"/>
                <a:ea typeface="Calibri" pitchFamily="34" charset="-122"/>
                <a:cs typeface="Calibri" pitchFamily="34" charset="-120"/>
              </a:rPr>
              <a:t>1. </a:t>
            </a:r>
            <a:pPr indent="0" marL="0">
              <a:spcAft>
                <a:spcPts val="200"/>
              </a:spcAft>
              <a:buNone/>
            </a:pPr>
            <a:r>
              <a:rPr lang="en-US" sz="1050" dirty="0">
                <a:solidFill>
                  <a:srgbClr val="334155"/>
                </a:solidFill>
                <a:latin typeface="Calibri" pitchFamily="34" charset="0"/>
                <a:ea typeface="Calibri" pitchFamily="34" charset="-122"/>
                <a:cs typeface="Calibri" pitchFamily="34" charset="-120"/>
              </a:rPr>
              <a:t>Unemployment gap: U − U_natural = 6% − 4% = +2 pp.
</a:t>
            </a:r>
            <a:pPr indent="0" marL="0">
              <a:spcAft>
                <a:spcPts val="200"/>
              </a:spcAft>
              <a:buNone/>
            </a:pPr>
            <a:r>
              <a:rPr lang="en-US" sz="1050" b="1" dirty="0">
                <a:solidFill>
                  <a:srgbClr val="1B2A4A"/>
                </a:solidFill>
                <a:latin typeface="Calibri" pitchFamily="34" charset="0"/>
                <a:ea typeface="Calibri" pitchFamily="34" charset="-122"/>
                <a:cs typeface="Calibri" pitchFamily="34" charset="-120"/>
              </a:rPr>
              <a:t>2. </a:t>
            </a:r>
            <a:pPr indent="0" marL="0">
              <a:spcAft>
                <a:spcPts val="200"/>
              </a:spcAft>
              <a:buNone/>
            </a:pPr>
            <a:r>
              <a:rPr lang="en-US" sz="1050" dirty="0">
                <a:solidFill>
                  <a:srgbClr val="334155"/>
                </a:solidFill>
                <a:latin typeface="Calibri" pitchFamily="34" charset="0"/>
                <a:ea typeface="Calibri" pitchFamily="34" charset="-122"/>
                <a:cs typeface="Calibri" pitchFamily="34" charset="-120"/>
              </a:rPr>
              <a:t>Okun with α = 2.0:   output gap ≈ −2.0 × 2 pp = −4%.
</a:t>
            </a:r>
            <a:pPr indent="0" marL="0">
              <a:spcAft>
                <a:spcPts val="200"/>
              </a:spcAft>
              <a:buNone/>
            </a:pPr>
            <a:r>
              <a:rPr lang="en-US" sz="1050" b="1" dirty="0">
                <a:solidFill>
                  <a:srgbClr val="1B2A4A"/>
                </a:solidFill>
                <a:latin typeface="Calibri" pitchFamily="34" charset="0"/>
                <a:ea typeface="Calibri" pitchFamily="34" charset="-122"/>
                <a:cs typeface="Calibri" pitchFamily="34" charset="-120"/>
              </a:rPr>
              <a:t>3. </a:t>
            </a:r>
            <a:pPr indent="0" marL="0">
              <a:spcAft>
                <a:spcPts val="200"/>
              </a:spcAft>
              <a:buNone/>
            </a:pPr>
            <a:r>
              <a:rPr lang="en-US" sz="1050" dirty="0">
                <a:solidFill>
                  <a:srgbClr val="334155"/>
                </a:solidFill>
                <a:latin typeface="Calibri" pitchFamily="34" charset="0"/>
                <a:ea typeface="Calibri" pitchFamily="34" charset="-122"/>
                <a:cs typeface="Calibri" pitchFamily="34" charset="-120"/>
              </a:rPr>
              <a:t>Interpretation: actual GDP is running ~4% below potential — consistent with a recession.
</a:t>
            </a:r>
            <a:pPr indent="0" marL="0">
              <a:spcAft>
                <a:spcPts val="200"/>
              </a:spcAft>
              <a:buNone/>
            </a:pPr>
            <a:r>
              <a:rPr lang="en-US" sz="1050" b="1" dirty="0">
                <a:solidFill>
                  <a:srgbClr val="1B2A4A"/>
                </a:solidFill>
                <a:latin typeface="Calibri" pitchFamily="34" charset="0"/>
                <a:ea typeface="Calibri" pitchFamily="34" charset="-122"/>
                <a:cs typeface="Calibri" pitchFamily="34" charset="-120"/>
              </a:rPr>
              <a:t>4. </a:t>
            </a:r>
            <a:pPr indent="0" marL="0">
              <a:spcAft>
                <a:spcPts val="200"/>
              </a:spcAft>
              <a:buNone/>
            </a:pPr>
            <a:r>
              <a:rPr lang="en-US" sz="1050" dirty="0">
                <a:solidFill>
                  <a:srgbClr val="334155"/>
                </a:solidFill>
                <a:latin typeface="Calibri" pitchFamily="34" charset="0"/>
                <a:ea typeface="Calibri" pitchFamily="34" charset="-122"/>
                <a:cs typeface="Calibri" pitchFamily="34" charset="-120"/>
              </a:rPr>
              <a:t>Reverse use: a 3% recovery in output closes about 1.5 pp of the unemployment gap.</a:t>
            </a:r>
            <a:endParaRPr lang="en-US" sz="1050" dirty="0"/>
          </a:p>
        </p:txBody>
      </p:sp>
      <p:sp>
        <p:nvSpPr>
          <p:cNvPr id="17" name="Shape 15"/>
          <p:cNvSpPr/>
          <p:nvPr/>
        </p:nvSpPr>
        <p:spPr>
          <a:xfrm>
            <a:off x="411480" y="3858768"/>
            <a:ext cx="8321040" cy="365760"/>
          </a:xfrm>
          <a:prstGeom prst="rect">
            <a:avLst/>
          </a:prstGeom>
          <a:solidFill>
            <a:srgbClr val="E8600A"/>
          </a:solidFill>
          <a:ln/>
        </p:spPr>
      </p:sp>
      <p:sp>
        <p:nvSpPr>
          <p:cNvPr id="18" name="Text 16"/>
          <p:cNvSpPr txBox="1"/>
          <p:nvPr/>
        </p:nvSpPr>
        <p:spPr>
          <a:xfrm>
            <a:off x="457200" y="3858768"/>
            <a:ext cx="8229600" cy="365760"/>
          </a:xfrm>
          <a:prstGeom prst="rect">
            <a:avLst/>
          </a:prstGeom>
          <a:noFill/>
          <a:ln/>
        </p:spPr>
        <p:txBody>
          <a:bodyPr wrap="square" lIns="508" tIns="508" rIns="508" bIns="508" rtlCol="0" anchor="ctr">
            <a:normAutofit/>
            <a:spAutoFit/>
          </a:bodyPr>
          <a:lstStyle/>
          <a:p>
            <a:pPr algn="l" indent="0" marL="0">
              <a:buNone/>
            </a:pPr>
            <a:r>
              <a:rPr lang="en-US" sz="1150" b="1" dirty="0">
                <a:solidFill>
                  <a:srgbClr val="FFFFFF"/>
                </a:solidFill>
                <a:latin typeface="Consolas" pitchFamily="34" charset="0"/>
                <a:ea typeface="Consolas" pitchFamily="34" charset="-122"/>
                <a:cs typeface="Consolas" pitchFamily="34" charset="-120"/>
              </a:rPr>
              <a:t>U-gap +2 pp  →  output gap ≈ −4% (Okun coefficient 2.0).</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B2A4A"/>
          </a:solidFill>
          <a:ln/>
        </p:spPr>
      </p:sp>
      <p:sp>
        <p:nvSpPr>
          <p:cNvPr id="3" name="Shape 1"/>
          <p:cNvSpPr/>
          <p:nvPr/>
        </p:nvSpPr>
        <p:spPr>
          <a:xfrm>
            <a:off x="0" y="0"/>
            <a:ext cx="109728" cy="621792"/>
          </a:xfrm>
          <a:prstGeom prst="rect">
            <a:avLst/>
          </a:prstGeom>
          <a:solidFill>
            <a:srgbClr val="E8600A"/>
          </a:solidFill>
          <a:ln/>
        </p:spPr>
      </p:sp>
      <p:sp>
        <p:nvSpPr>
          <p:cNvPr id="4" name="Text 2"/>
          <p:cNvSpPr txBox="1"/>
          <p:nvPr/>
        </p:nvSpPr>
        <p:spPr>
          <a:xfrm>
            <a:off x="256032" y="0"/>
            <a:ext cx="8686800" cy="621792"/>
          </a:xfrm>
          <a:prstGeom prst="rect">
            <a:avLst/>
          </a:prstGeom>
          <a:noFill/>
          <a:ln/>
        </p:spPr>
        <p:txBody>
          <a:bodyPr wrap="square" lIns="508" tIns="508" rIns="508" bIns="508" rtlCol="0" anchor="ctr">
            <a:normAutofit/>
            <a:spAutoFit/>
          </a:bodyPr>
          <a:lstStyle/>
          <a:p>
            <a:pPr algn="l" indent="0" marL="0">
              <a:buNone/>
            </a:pPr>
            <a:r>
              <a:rPr lang="en-US" sz="1600" b="1" dirty="0">
                <a:solidFill>
                  <a:srgbClr val="FFFFFF"/>
                </a:solidFill>
                <a:latin typeface="Trebuchet MS" pitchFamily="34" charset="0"/>
                <a:ea typeface="Trebuchet MS" pitchFamily="34" charset="-122"/>
                <a:cs typeface="Trebuchet MS" pitchFamily="34" charset="-120"/>
              </a:rPr>
              <a:t>Combining Phillips and Okun lets an analyst translate an unemployment forecast into an inflation forecast — a core input for rate-call narratives</a:t>
            </a:r>
            <a:endParaRPr lang="en-US" sz="1600" dirty="0"/>
          </a:p>
        </p:txBody>
      </p:sp>
      <p:sp>
        <p:nvSpPr>
          <p:cNvPr id="5" name="Shape 3"/>
          <p:cNvSpPr/>
          <p:nvPr/>
        </p:nvSpPr>
        <p:spPr>
          <a:xfrm>
            <a:off x="0" y="4892040"/>
            <a:ext cx="9144000" cy="256032"/>
          </a:xfrm>
          <a:prstGeom prst="rect">
            <a:avLst/>
          </a:prstGeom>
          <a:solidFill>
            <a:srgbClr val="E8ECF0"/>
          </a:solidFill>
          <a:ln/>
        </p:spPr>
      </p:sp>
      <p:sp>
        <p:nvSpPr>
          <p:cNvPr id="6" name="Text 4"/>
          <p:cNvSpPr txBox="1"/>
          <p:nvPr/>
        </p:nvSpPr>
        <p:spPr>
          <a:xfrm>
            <a:off x="274320" y="4892040"/>
            <a:ext cx="5943600" cy="256032"/>
          </a:xfrm>
          <a:prstGeom prst="rect">
            <a:avLst/>
          </a:prstGeom>
          <a:noFill/>
          <a:ln/>
        </p:spPr>
        <p:txBody>
          <a:bodyPr wrap="square" lIns="508" tIns="508" rIns="508" bIns="508" rtlCol="0" anchor="ctr">
            <a:normAutofit/>
            <a:spAutoFit/>
          </a:bodyPr>
          <a:lstStyle/>
          <a:p>
            <a:pPr algn="l" indent="0" marL="0">
              <a:buNone/>
            </a:pPr>
            <a:r>
              <a:rPr lang="en-US" sz="750" dirty="0">
                <a:solidFill>
                  <a:srgbClr val="6B7A8D"/>
                </a:solidFill>
                <a:latin typeface="Calibri" pitchFamily="34" charset="0"/>
                <a:ea typeface="Calibri" pitchFamily="34" charset="-122"/>
                <a:cs typeface="Calibri" pitchFamily="34" charset="-120"/>
              </a:rPr>
              <a:t>STUDIO TONTON GUG  ·  Finance Fundamentals</a:t>
            </a:r>
            <a:endParaRPr lang="en-US" sz="750" dirty="0"/>
          </a:p>
        </p:txBody>
      </p:sp>
      <p:sp>
        <p:nvSpPr>
          <p:cNvPr id="7" name="Text 5"/>
          <p:cNvSpPr txBox="1"/>
          <p:nvPr/>
        </p:nvSpPr>
        <p:spPr>
          <a:xfrm>
            <a:off x="320040" y="4663440"/>
            <a:ext cx="8503920" cy="201168"/>
          </a:xfrm>
          <a:prstGeom prst="rect">
            <a:avLst/>
          </a:prstGeom>
          <a:noFill/>
          <a:ln/>
        </p:spPr>
        <p:txBody>
          <a:bodyPr wrap="square" lIns="508" tIns="508" rIns="508" bIns="508" rtlCol="0" anchor="t">
            <a:normAutofit/>
            <a:spAutoFit/>
          </a:bodyPr>
          <a:lstStyle/>
          <a:p>
            <a:pPr algn="l" indent="0" marL="0">
              <a:buNone/>
            </a:pPr>
            <a:r>
              <a:rPr lang="en-US" sz="750" i="1" dirty="0">
                <a:solidFill>
                  <a:srgbClr val="6B7A8D"/>
                </a:solidFill>
                <a:latin typeface="Calibri" pitchFamily="34" charset="0"/>
                <a:ea typeface="Calibri" pitchFamily="34" charset="-122"/>
                <a:cs typeface="Calibri" pitchFamily="34" charset="-120"/>
              </a:rPr>
              <a:t>Source: Illustrative — applies the relationships from slides 29–30 to a stylized scenario.</a:t>
            </a:r>
            <a:endParaRPr lang="en-US" sz="750" dirty="0"/>
          </a:p>
        </p:txBody>
      </p:sp>
      <p:sp>
        <p:nvSpPr>
          <p:cNvPr id="8" name="Text 6"/>
          <p:cNvSpPr txBox="1"/>
          <p:nvPr/>
        </p:nvSpPr>
        <p:spPr>
          <a:xfrm>
            <a:off x="320040" y="731520"/>
            <a:ext cx="8503920" cy="292608"/>
          </a:xfrm>
          <a:prstGeom prst="rect">
            <a:avLst/>
          </a:prstGeom>
          <a:noFill/>
          <a:ln/>
        </p:spPr>
        <p:txBody>
          <a:bodyPr wrap="square" lIns="508" tIns="508" rIns="508" bIns="508" rtlCol="0" anchor="ctr">
            <a:normAutofit/>
            <a:spAutoFit/>
          </a:bodyPr>
          <a:lstStyle/>
          <a:p>
            <a:pPr algn="l" indent="0" marL="0">
              <a:buNone/>
            </a:pPr>
            <a:r>
              <a:rPr lang="en-US" sz="1300" i="1" dirty="0">
                <a:solidFill>
                  <a:srgbClr val="334155"/>
                </a:solidFill>
                <a:latin typeface="Calibri" pitchFamily="34" charset="0"/>
                <a:ea typeface="Calibri" pitchFamily="34" charset="-122"/>
                <a:cs typeface="Calibri" pitchFamily="34" charset="-120"/>
              </a:rPr>
              <a:t>This is the quick-and-dirty model central-bank watchers run in their heads: output gap ⇒ unemployment gap ⇒ inflation gap.</a:t>
            </a:r>
            <a:endParaRPr lang="en-US" sz="1300" dirty="0"/>
          </a:p>
        </p:txBody>
      </p:sp>
      <p:sp>
        <p:nvSpPr>
          <p:cNvPr id="9" name="Shape 7"/>
          <p:cNvSpPr/>
          <p:nvPr/>
        </p:nvSpPr>
        <p:spPr>
          <a:xfrm>
            <a:off x="320040" y="1188720"/>
            <a:ext cx="8503920" cy="2011680"/>
          </a:xfrm>
          <a:prstGeom prst="rect">
            <a:avLst/>
          </a:prstGeom>
          <a:solidFill>
            <a:srgbClr val="FEF0E7"/>
          </a:solidFill>
          <a:ln w="9525">
            <a:solidFill>
              <a:srgbClr val="E8600A"/>
            </a:solidFill>
            <a:prstDash val="solid"/>
          </a:ln>
        </p:spPr>
      </p:sp>
      <p:sp>
        <p:nvSpPr>
          <p:cNvPr id="10" name="Text 8"/>
          <p:cNvSpPr txBox="1"/>
          <p:nvPr/>
        </p:nvSpPr>
        <p:spPr>
          <a:xfrm>
            <a:off x="457200" y="1234440"/>
            <a:ext cx="8229600" cy="256032"/>
          </a:xfrm>
          <a:prstGeom prst="rect">
            <a:avLst/>
          </a:prstGeom>
          <a:noFill/>
          <a:ln/>
        </p:spPr>
        <p:txBody>
          <a:bodyPr wrap="square" lIns="508" tIns="508" rIns="508" bIns="508" rtlCol="0" anchor="ctr">
            <a:normAutofit/>
            <a:spAutoFit/>
          </a:bodyPr>
          <a:lstStyle/>
          <a:p>
            <a:pPr algn="l" indent="0" marL="0">
              <a:buNone/>
            </a:pPr>
            <a:r>
              <a:rPr lang="en-US" sz="1100" b="1" spc="400" kern="0" dirty="0">
                <a:solidFill>
                  <a:srgbClr val="E8600A"/>
                </a:solidFill>
                <a:latin typeface="Trebuchet MS" pitchFamily="34" charset="0"/>
                <a:ea typeface="Trebuchet MS" pitchFamily="34" charset="-122"/>
                <a:cs typeface="Trebuchet MS" pitchFamily="34" charset="-120"/>
              </a:rPr>
              <a:t>ILLUSTRATIVE — RECESSION SCENARIO</a:t>
            </a:r>
            <a:endParaRPr lang="en-US" sz="1100" dirty="0"/>
          </a:p>
        </p:txBody>
      </p:sp>
      <p:sp>
        <p:nvSpPr>
          <p:cNvPr id="11" name="Text 9"/>
          <p:cNvSpPr txBox="1"/>
          <p:nvPr/>
        </p:nvSpPr>
        <p:spPr>
          <a:xfrm>
            <a:off x="457200" y="1527048"/>
            <a:ext cx="8229600" cy="457200"/>
          </a:xfrm>
          <a:prstGeom prst="rect">
            <a:avLst/>
          </a:prstGeom>
          <a:noFill/>
          <a:ln/>
        </p:spPr>
        <p:txBody>
          <a:bodyPr wrap="square" lIns="508" tIns="508" rIns="508" bIns="508" rtlCol="0" anchor="t">
            <a:normAutofit/>
            <a:spAutoFit/>
          </a:bodyPr>
          <a:lstStyle/>
          <a:p>
            <a:pPr algn="l" indent="0" marL="0">
              <a:buNone/>
            </a:pPr>
            <a:r>
              <a:rPr lang="en-US" sz="1200" dirty="0">
                <a:solidFill>
                  <a:srgbClr val="334155"/>
                </a:solidFill>
                <a:latin typeface="Calibri" pitchFamily="34" charset="0"/>
                <a:ea typeface="Calibri" pitchFamily="34" charset="-122"/>
                <a:cs typeface="Calibri" pitchFamily="34" charset="-120"/>
              </a:rPr>
              <a:t>Starting state: U = U_natural = 4%, π = E[π] = 2%. Shock: demand-driven recession pushes U to 6%. Okun α = 2.0, Phillips β = 0.5. Work through the implications.</a:t>
            </a:r>
            <a:endParaRPr lang="en-US" sz="1200" dirty="0"/>
          </a:p>
        </p:txBody>
      </p:sp>
      <p:sp>
        <p:nvSpPr>
          <p:cNvPr id="12" name="Text 10"/>
          <p:cNvSpPr txBox="1"/>
          <p:nvPr/>
        </p:nvSpPr>
        <p:spPr>
          <a:xfrm>
            <a:off x="457200" y="2039112"/>
            <a:ext cx="8229600" cy="649224"/>
          </a:xfrm>
          <a:prstGeom prst="rect">
            <a:avLst/>
          </a:prstGeom>
          <a:noFill/>
          <a:ln/>
        </p:spPr>
        <p:txBody>
          <a:bodyPr wrap="square" lIns="254" tIns="254" rIns="254" bIns="254" rtlCol="0" anchor="t">
            <a:normAutofit/>
            <a:spAutoFit/>
          </a:bodyPr>
          <a:lstStyle/>
          <a:p>
            <a:pPr indent="0" marL="0">
              <a:spcAft>
                <a:spcPts val="200"/>
              </a:spcAft>
              <a:buNone/>
            </a:pPr>
            <a:r>
              <a:rPr lang="en-US" sz="1050" b="1" dirty="0">
                <a:solidFill>
                  <a:srgbClr val="1B2A4A"/>
                </a:solidFill>
                <a:latin typeface="Calibri" pitchFamily="34" charset="0"/>
                <a:ea typeface="Calibri" pitchFamily="34" charset="-122"/>
                <a:cs typeface="Calibri" pitchFamily="34" charset="-120"/>
              </a:rPr>
              <a:t>1. </a:t>
            </a:r>
            <a:pPr indent="0" marL="0">
              <a:spcAft>
                <a:spcPts val="200"/>
              </a:spcAft>
              <a:buNone/>
            </a:pPr>
            <a:r>
              <a:rPr lang="en-US" sz="1050" dirty="0">
                <a:solidFill>
                  <a:srgbClr val="334155"/>
                </a:solidFill>
                <a:latin typeface="Calibri" pitchFamily="34" charset="0"/>
                <a:ea typeface="Calibri" pitchFamily="34" charset="-122"/>
                <a:cs typeface="Calibri" pitchFamily="34" charset="-120"/>
              </a:rPr>
              <a:t>Step 1 — Unemployment gap: U − U_natural = +2 pp.
</a:t>
            </a:r>
            <a:pPr indent="0" marL="0">
              <a:spcAft>
                <a:spcPts val="200"/>
              </a:spcAft>
              <a:buNone/>
            </a:pPr>
            <a:r>
              <a:rPr lang="en-US" sz="1050" b="1" dirty="0">
                <a:solidFill>
                  <a:srgbClr val="1B2A4A"/>
                </a:solidFill>
                <a:latin typeface="Calibri" pitchFamily="34" charset="0"/>
                <a:ea typeface="Calibri" pitchFamily="34" charset="-122"/>
                <a:cs typeface="Calibri" pitchFamily="34" charset="-120"/>
              </a:rPr>
              <a:t>2. </a:t>
            </a:r>
            <a:pPr indent="0" marL="0">
              <a:spcAft>
                <a:spcPts val="200"/>
              </a:spcAft>
              <a:buNone/>
            </a:pPr>
            <a:r>
              <a:rPr lang="en-US" sz="1050" dirty="0">
                <a:solidFill>
                  <a:srgbClr val="334155"/>
                </a:solidFill>
                <a:latin typeface="Calibri" pitchFamily="34" charset="0"/>
                <a:ea typeface="Calibri" pitchFamily="34" charset="-122"/>
                <a:cs typeface="Calibri" pitchFamily="34" charset="-120"/>
              </a:rPr>
              <a:t>Step 2 — Okun output gap: −2.0 × 2 pp = −4% (actual GDP 4% below potential).
</a:t>
            </a:r>
            <a:pPr indent="0" marL="0">
              <a:spcAft>
                <a:spcPts val="200"/>
              </a:spcAft>
              <a:buNone/>
            </a:pPr>
            <a:r>
              <a:rPr lang="en-US" sz="1050" b="1" dirty="0">
                <a:solidFill>
                  <a:srgbClr val="1B2A4A"/>
                </a:solidFill>
                <a:latin typeface="Calibri" pitchFamily="34" charset="0"/>
                <a:ea typeface="Calibri" pitchFamily="34" charset="-122"/>
                <a:cs typeface="Calibri" pitchFamily="34" charset="-120"/>
              </a:rPr>
              <a:t>3. </a:t>
            </a:r>
            <a:pPr indent="0" marL="0">
              <a:spcAft>
                <a:spcPts val="200"/>
              </a:spcAft>
              <a:buNone/>
            </a:pPr>
            <a:r>
              <a:rPr lang="en-US" sz="1050" dirty="0">
                <a:solidFill>
                  <a:srgbClr val="334155"/>
                </a:solidFill>
                <a:latin typeface="Calibri" pitchFamily="34" charset="0"/>
                <a:ea typeface="Calibri" pitchFamily="34" charset="-122"/>
                <a:cs typeface="Calibri" pitchFamily="34" charset="-120"/>
              </a:rPr>
              <a:t>Step 3 — Phillips:   π = E[π] − β × (U − U_natural)  =  2% − 0.5 × 2  =  1%.
</a:t>
            </a:r>
            <a:pPr indent="0" marL="0">
              <a:spcAft>
                <a:spcPts val="200"/>
              </a:spcAft>
              <a:buNone/>
            </a:pPr>
            <a:r>
              <a:rPr lang="en-US" sz="1050" b="1" dirty="0">
                <a:solidFill>
                  <a:srgbClr val="1B2A4A"/>
                </a:solidFill>
                <a:latin typeface="Calibri" pitchFamily="34" charset="0"/>
                <a:ea typeface="Calibri" pitchFamily="34" charset="-122"/>
                <a:cs typeface="Calibri" pitchFamily="34" charset="-120"/>
              </a:rPr>
              <a:t>4. </a:t>
            </a:r>
            <a:pPr indent="0" marL="0">
              <a:spcAft>
                <a:spcPts val="200"/>
              </a:spcAft>
              <a:buNone/>
            </a:pPr>
            <a:r>
              <a:rPr lang="en-US" sz="1050" dirty="0">
                <a:solidFill>
                  <a:srgbClr val="334155"/>
                </a:solidFill>
                <a:latin typeface="Calibri" pitchFamily="34" charset="0"/>
                <a:ea typeface="Calibri" pitchFamily="34" charset="-122"/>
                <a:cs typeface="Calibri" pitchFamily="34" charset="-120"/>
              </a:rPr>
              <a:t>Step 4 — Central-bank reading: 100 bp of inflation undershoot  +  4% output gap  =  case for expansionary policy.</a:t>
            </a:r>
            <a:endParaRPr lang="en-US" sz="1050" dirty="0"/>
          </a:p>
        </p:txBody>
      </p:sp>
      <p:sp>
        <p:nvSpPr>
          <p:cNvPr id="13" name="Shape 11"/>
          <p:cNvSpPr/>
          <p:nvPr/>
        </p:nvSpPr>
        <p:spPr>
          <a:xfrm>
            <a:off x="411480" y="2761488"/>
            <a:ext cx="8321040" cy="365760"/>
          </a:xfrm>
          <a:prstGeom prst="rect">
            <a:avLst/>
          </a:prstGeom>
          <a:solidFill>
            <a:srgbClr val="E8600A"/>
          </a:solidFill>
          <a:ln/>
        </p:spPr>
      </p:sp>
      <p:sp>
        <p:nvSpPr>
          <p:cNvPr id="14" name="Text 12"/>
          <p:cNvSpPr txBox="1"/>
          <p:nvPr/>
        </p:nvSpPr>
        <p:spPr>
          <a:xfrm>
            <a:off x="457200" y="2761488"/>
            <a:ext cx="8229600" cy="365760"/>
          </a:xfrm>
          <a:prstGeom prst="rect">
            <a:avLst/>
          </a:prstGeom>
          <a:noFill/>
          <a:ln/>
        </p:spPr>
        <p:txBody>
          <a:bodyPr wrap="square" lIns="508" tIns="508" rIns="508" bIns="508" rtlCol="0" anchor="ctr">
            <a:normAutofit/>
            <a:spAutoFit/>
          </a:bodyPr>
          <a:lstStyle/>
          <a:p>
            <a:pPr algn="l" indent="0" marL="0">
              <a:buNone/>
            </a:pPr>
            <a:r>
              <a:rPr lang="en-US" sz="1150" b="1" dirty="0">
                <a:solidFill>
                  <a:srgbClr val="FFFFFF"/>
                </a:solidFill>
                <a:latin typeface="Consolas" pitchFamily="34" charset="0"/>
                <a:ea typeface="Consolas" pitchFamily="34" charset="-122"/>
                <a:cs typeface="Consolas" pitchFamily="34" charset="-120"/>
              </a:rPr>
              <a:t>π falls from 2% to 1% via the short-run Phillips trade-off; output gap = −4%.</a:t>
            </a:r>
            <a:endParaRPr lang="en-US" sz="1150" dirty="0"/>
          </a:p>
        </p:txBody>
      </p:sp>
      <p:sp>
        <p:nvSpPr>
          <p:cNvPr id="15" name="Shape 13"/>
          <p:cNvSpPr/>
          <p:nvPr/>
        </p:nvSpPr>
        <p:spPr>
          <a:xfrm>
            <a:off x="320040" y="3337560"/>
            <a:ext cx="8503920" cy="960120"/>
          </a:xfrm>
          <a:prstGeom prst="rect">
            <a:avLst/>
          </a:prstGeom>
          <a:solidFill>
            <a:srgbClr val="FEF0E7"/>
          </a:solidFill>
          <a:ln/>
        </p:spPr>
      </p:sp>
      <p:sp>
        <p:nvSpPr>
          <p:cNvPr id="16" name="Shape 14"/>
          <p:cNvSpPr/>
          <p:nvPr/>
        </p:nvSpPr>
        <p:spPr>
          <a:xfrm>
            <a:off x="320040" y="3337560"/>
            <a:ext cx="73152" cy="960120"/>
          </a:xfrm>
          <a:prstGeom prst="rect">
            <a:avLst/>
          </a:prstGeom>
          <a:solidFill>
            <a:srgbClr val="E8600A"/>
          </a:solidFill>
          <a:ln/>
        </p:spPr>
      </p:sp>
      <p:sp>
        <p:nvSpPr>
          <p:cNvPr id="17" name="Text 15"/>
          <p:cNvSpPr txBox="1"/>
          <p:nvPr/>
        </p:nvSpPr>
        <p:spPr>
          <a:xfrm>
            <a:off x="457200" y="3383280"/>
            <a:ext cx="8275320" cy="256032"/>
          </a:xfrm>
          <a:prstGeom prst="rect">
            <a:avLst/>
          </a:prstGeom>
          <a:noFill/>
          <a:ln/>
        </p:spPr>
        <p:txBody>
          <a:bodyPr wrap="square" lIns="508" tIns="508" rIns="508" bIns="508" rtlCol="0" anchor="ctr">
            <a:normAutofit/>
            <a:spAutoFit/>
          </a:bodyPr>
          <a:lstStyle/>
          <a:p>
            <a:pPr algn="l" indent="0" marL="0">
              <a:buNone/>
            </a:pPr>
            <a:r>
              <a:rPr lang="en-US" sz="1100" b="1" spc="400" kern="0" dirty="0">
                <a:solidFill>
                  <a:srgbClr val="E8600A"/>
                </a:solidFill>
                <a:latin typeface="Trebuchet MS" pitchFamily="34" charset="0"/>
                <a:ea typeface="Trebuchet MS" pitchFamily="34" charset="-122"/>
                <a:cs typeface="Trebuchet MS" pitchFamily="34" charset="-120"/>
              </a:rPr>
              <a:t>WHERE THIS MODEL BREAKS</a:t>
            </a:r>
            <a:endParaRPr lang="en-US" sz="1100" dirty="0"/>
          </a:p>
        </p:txBody>
      </p:sp>
      <p:sp>
        <p:nvSpPr>
          <p:cNvPr id="18" name="Text 16"/>
          <p:cNvSpPr txBox="1"/>
          <p:nvPr/>
        </p:nvSpPr>
        <p:spPr>
          <a:xfrm>
            <a:off x="457200" y="3657600"/>
            <a:ext cx="8275320" cy="594360"/>
          </a:xfrm>
          <a:prstGeom prst="rect">
            <a:avLst/>
          </a:prstGeom>
          <a:noFill/>
          <a:ln/>
        </p:spPr>
        <p:txBody>
          <a:bodyPr wrap="square" lIns="508" tIns="508" rIns="508" bIns="508" rtlCol="0" anchor="t">
            <a:normAutofit/>
            <a:spAutoFit/>
          </a:bodyPr>
          <a:lstStyle/>
          <a:p>
            <a:pPr algn="l" indent="0" marL="0">
              <a:buNone/>
            </a:pPr>
            <a:r>
              <a:rPr lang="en-US" sz="1200" dirty="0">
                <a:solidFill>
                  <a:srgbClr val="334155"/>
                </a:solidFill>
                <a:latin typeface="Calibri" pitchFamily="34" charset="0"/>
                <a:ea typeface="Calibri" pitchFamily="34" charset="-122"/>
                <a:cs typeface="Calibri" pitchFamily="34" charset="-120"/>
              </a:rPr>
              <a:t>The short-run Phillips slope β has flattened materially post-1990s (well-anchored inflation expectations), so inflation responds less to U-gap changes than older textbooks imply. Supply shocks (energy, pandemic) move π and U in the SAME direction and break the trade-off entirely — which is why 2021–2023 stagflation confounded the simple model.</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B2A4A"/>
          </a:solidFill>
          <a:ln/>
        </p:spPr>
      </p:sp>
      <p:sp>
        <p:nvSpPr>
          <p:cNvPr id="3" name="Shape 1"/>
          <p:cNvSpPr/>
          <p:nvPr/>
        </p:nvSpPr>
        <p:spPr>
          <a:xfrm>
            <a:off x="0" y="0"/>
            <a:ext cx="201168" cy="5143500"/>
          </a:xfrm>
          <a:prstGeom prst="rect">
            <a:avLst/>
          </a:prstGeom>
          <a:solidFill>
            <a:srgbClr val="E8600A"/>
          </a:solidFill>
          <a:ln/>
        </p:spPr>
      </p:sp>
      <p:sp>
        <p:nvSpPr>
          <p:cNvPr id="4" name="Text 2"/>
          <p:cNvSpPr txBox="1"/>
          <p:nvPr/>
        </p:nvSpPr>
        <p:spPr>
          <a:xfrm>
            <a:off x="914400" y="1371600"/>
            <a:ext cx="7315200" cy="411480"/>
          </a:xfrm>
          <a:prstGeom prst="rect">
            <a:avLst/>
          </a:prstGeom>
          <a:noFill/>
          <a:ln/>
        </p:spPr>
        <p:txBody>
          <a:bodyPr wrap="square" lIns="508" tIns="508" rIns="508" bIns="508" rtlCol="0" anchor="ctr">
            <a:normAutofit/>
            <a:spAutoFit/>
          </a:bodyPr>
          <a:lstStyle/>
          <a:p>
            <a:pPr algn="l" indent="0" marL="0">
              <a:buNone/>
            </a:pPr>
            <a:r>
              <a:rPr lang="en-US" sz="1200" b="1" spc="600" kern="0" dirty="0">
                <a:solidFill>
                  <a:srgbClr val="FFFFFF"/>
                </a:solidFill>
                <a:latin typeface="Trebuchet MS" pitchFamily="34" charset="0"/>
                <a:ea typeface="Trebuchet MS" pitchFamily="34" charset="-122"/>
                <a:cs typeface="Trebuchet MS" pitchFamily="34" charset="-120"/>
              </a:rPr>
              <a:t>SECTION 06</a:t>
            </a:r>
            <a:endParaRPr lang="en-US" sz="1200" dirty="0"/>
          </a:p>
        </p:txBody>
      </p:sp>
      <p:sp>
        <p:nvSpPr>
          <p:cNvPr id="5" name="Shape 3"/>
          <p:cNvSpPr/>
          <p:nvPr/>
        </p:nvSpPr>
        <p:spPr>
          <a:xfrm>
            <a:off x="914400" y="1920240"/>
            <a:ext cx="2743200" cy="45720"/>
          </a:xfrm>
          <a:prstGeom prst="rect">
            <a:avLst/>
          </a:prstGeom>
          <a:solidFill>
            <a:srgbClr val="FFFFFF"/>
          </a:solidFill>
          <a:ln/>
        </p:spPr>
      </p:sp>
      <p:sp>
        <p:nvSpPr>
          <p:cNvPr id="6" name="Text 4"/>
          <p:cNvSpPr txBox="1"/>
          <p:nvPr/>
        </p:nvSpPr>
        <p:spPr>
          <a:xfrm>
            <a:off x="914400" y="2057400"/>
            <a:ext cx="7315200" cy="1645920"/>
          </a:xfrm>
          <a:prstGeom prst="rect">
            <a:avLst/>
          </a:prstGeom>
          <a:noFill/>
          <a:ln/>
        </p:spPr>
        <p:txBody>
          <a:bodyPr wrap="square" lIns="508" tIns="508" rIns="508" bIns="508" rtlCol="0" anchor="t">
            <a:normAutofit/>
            <a:spAutoFit/>
          </a:bodyPr>
          <a:lstStyle/>
          <a:p>
            <a:pPr algn="l" indent="0" marL="0">
              <a:buNone/>
            </a:pPr>
            <a:r>
              <a:rPr lang="en-US" sz="3200" b="1" dirty="0">
                <a:solidFill>
                  <a:srgbClr val="FFFFFF"/>
                </a:solidFill>
                <a:latin typeface="Trebuchet MS" pitchFamily="34" charset="0"/>
                <a:ea typeface="Trebuchet MS" pitchFamily="34" charset="-122"/>
                <a:cs typeface="Trebuchet MS" pitchFamily="34" charset="-120"/>
              </a:rPr>
              <a:t>Investment-relevant</a:t>
            </a:r>
            <a:endParaRPr lang="en-US" sz="3200" dirty="0"/>
          </a:p>
          <a:p>
            <a:pPr algn="l" indent="0" marL="0">
              <a:buNone/>
            </a:pPr>
            <a:r>
              <a:rPr lang="en-US" sz="3200" b="1" dirty="0">
                <a:solidFill>
                  <a:srgbClr val="FFFFFF"/>
                </a:solidFill>
                <a:latin typeface="Trebuchet MS" pitchFamily="34" charset="0"/>
                <a:ea typeface="Trebuchet MS" pitchFamily="34" charset="-122"/>
                <a:cs typeface="Trebuchet MS" pitchFamily="34" charset="-120"/>
              </a:rPr>
              <a:t>cycle dynamics</a:t>
            </a:r>
            <a:endParaRPr lang="en-US" sz="3200" dirty="0"/>
          </a:p>
        </p:txBody>
      </p:sp>
      <p:sp>
        <p:nvSpPr>
          <p:cNvPr id="7" name="Text 5"/>
          <p:cNvSpPr txBox="1"/>
          <p:nvPr/>
        </p:nvSpPr>
        <p:spPr>
          <a:xfrm>
            <a:off x="914400" y="4640580"/>
            <a:ext cx="7315200" cy="274320"/>
          </a:xfrm>
          <a:prstGeom prst="rect">
            <a:avLst/>
          </a:prstGeom>
          <a:noFill/>
          <a:ln/>
        </p:spPr>
        <p:txBody>
          <a:bodyPr wrap="square" lIns="508" tIns="508" rIns="508" bIns="508" rtlCol="0" anchor="ctr">
            <a:normAutofit/>
            <a:spAutoFit/>
          </a:bodyPr>
          <a:lstStyle/>
          <a:p>
            <a:pPr algn="l" indent="0" marL="0">
              <a:buNone/>
            </a:pPr>
            <a:r>
              <a:rPr lang="en-US" sz="750" i="1" dirty="0">
                <a:solidFill>
                  <a:srgbClr val="E8ECF0"/>
                </a:solidFill>
                <a:latin typeface="Calibri" pitchFamily="34" charset="0"/>
                <a:ea typeface="Calibri" pitchFamily="34" charset="-122"/>
                <a:cs typeface="Calibri" pitchFamily="34" charset="-120"/>
              </a:rPr>
              <a:t>Section 6 of 6  ·  Deck 4 of 20  ·  Studio Tonton Gug</a:t>
            </a:r>
            <a:endParaRPr lang="en-US" sz="7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B2A4A"/>
          </a:solidFill>
          <a:ln/>
        </p:spPr>
      </p:sp>
      <p:sp>
        <p:nvSpPr>
          <p:cNvPr id="3" name="Shape 1"/>
          <p:cNvSpPr/>
          <p:nvPr/>
        </p:nvSpPr>
        <p:spPr>
          <a:xfrm>
            <a:off x="0" y="0"/>
            <a:ext cx="109728" cy="621792"/>
          </a:xfrm>
          <a:prstGeom prst="rect">
            <a:avLst/>
          </a:prstGeom>
          <a:solidFill>
            <a:srgbClr val="E8600A"/>
          </a:solidFill>
          <a:ln/>
        </p:spPr>
      </p:sp>
      <p:sp>
        <p:nvSpPr>
          <p:cNvPr id="4" name="Text 2"/>
          <p:cNvSpPr txBox="1"/>
          <p:nvPr/>
        </p:nvSpPr>
        <p:spPr>
          <a:xfrm>
            <a:off x="256032" y="0"/>
            <a:ext cx="8686800" cy="621792"/>
          </a:xfrm>
          <a:prstGeom prst="rect">
            <a:avLst/>
          </a:prstGeom>
          <a:noFill/>
          <a:ln/>
        </p:spPr>
        <p:txBody>
          <a:bodyPr wrap="square" lIns="508" tIns="508" rIns="508" bIns="508" rtlCol="0" anchor="ctr">
            <a:normAutofit/>
            <a:spAutoFit/>
          </a:bodyPr>
          <a:lstStyle/>
          <a:p>
            <a:pPr algn="l" indent="0" marL="0">
              <a:buNone/>
            </a:pPr>
            <a:r>
              <a:rPr lang="en-US" sz="1600" b="1" dirty="0">
                <a:solidFill>
                  <a:srgbClr val="FFFFFF"/>
                </a:solidFill>
                <a:latin typeface="Trebuchet MS" pitchFamily="34" charset="0"/>
                <a:ea typeface="Trebuchet MS" pitchFamily="34" charset="-122"/>
                <a:cs typeface="Trebuchet MS" pitchFamily="34" charset="-120"/>
              </a:rPr>
              <a:t>Equity markets lead the real economy by three-to-six months while credit spreads and the yield-curve slope lead further still — both live in the LEI</a:t>
            </a:r>
            <a:endParaRPr lang="en-US" sz="1600" dirty="0"/>
          </a:p>
        </p:txBody>
      </p:sp>
      <p:sp>
        <p:nvSpPr>
          <p:cNvPr id="5" name="Shape 3"/>
          <p:cNvSpPr/>
          <p:nvPr/>
        </p:nvSpPr>
        <p:spPr>
          <a:xfrm>
            <a:off x="0" y="4892040"/>
            <a:ext cx="9144000" cy="256032"/>
          </a:xfrm>
          <a:prstGeom prst="rect">
            <a:avLst/>
          </a:prstGeom>
          <a:solidFill>
            <a:srgbClr val="E8ECF0"/>
          </a:solidFill>
          <a:ln/>
        </p:spPr>
      </p:sp>
      <p:sp>
        <p:nvSpPr>
          <p:cNvPr id="6" name="Text 4"/>
          <p:cNvSpPr txBox="1"/>
          <p:nvPr/>
        </p:nvSpPr>
        <p:spPr>
          <a:xfrm>
            <a:off x="274320" y="4892040"/>
            <a:ext cx="5943600" cy="256032"/>
          </a:xfrm>
          <a:prstGeom prst="rect">
            <a:avLst/>
          </a:prstGeom>
          <a:noFill/>
          <a:ln/>
        </p:spPr>
        <p:txBody>
          <a:bodyPr wrap="square" lIns="508" tIns="508" rIns="508" bIns="508" rtlCol="0" anchor="ctr">
            <a:normAutofit/>
            <a:spAutoFit/>
          </a:bodyPr>
          <a:lstStyle/>
          <a:p>
            <a:pPr algn="l" indent="0" marL="0">
              <a:buNone/>
            </a:pPr>
            <a:r>
              <a:rPr lang="en-US" sz="750" dirty="0">
                <a:solidFill>
                  <a:srgbClr val="6B7A8D"/>
                </a:solidFill>
                <a:latin typeface="Calibri" pitchFamily="34" charset="0"/>
                <a:ea typeface="Calibri" pitchFamily="34" charset="-122"/>
                <a:cs typeface="Calibri" pitchFamily="34" charset="-120"/>
              </a:rPr>
              <a:t>STUDIO TONTON GUG  ·  Finance Fundamentals</a:t>
            </a:r>
            <a:endParaRPr lang="en-US" sz="750" dirty="0"/>
          </a:p>
        </p:txBody>
      </p:sp>
      <p:sp>
        <p:nvSpPr>
          <p:cNvPr id="7" name="Text 5"/>
          <p:cNvSpPr txBox="1"/>
          <p:nvPr/>
        </p:nvSpPr>
        <p:spPr>
          <a:xfrm>
            <a:off x="320040" y="4663440"/>
            <a:ext cx="8503920" cy="201168"/>
          </a:xfrm>
          <a:prstGeom prst="rect">
            <a:avLst/>
          </a:prstGeom>
          <a:noFill/>
          <a:ln/>
        </p:spPr>
        <p:txBody>
          <a:bodyPr wrap="square" lIns="508" tIns="508" rIns="508" bIns="508" rtlCol="0" anchor="t">
            <a:normAutofit/>
            <a:spAutoFit/>
          </a:bodyPr>
          <a:lstStyle/>
          <a:p>
            <a:pPr algn="l" indent="0" marL="0">
              <a:buNone/>
            </a:pPr>
            <a:r>
              <a:rPr lang="en-US" sz="750" i="1" dirty="0">
                <a:solidFill>
                  <a:srgbClr val="6B7A8D"/>
                </a:solidFill>
                <a:latin typeface="Calibri" pitchFamily="34" charset="0"/>
                <a:ea typeface="Calibri" pitchFamily="34" charset="-122"/>
                <a:cs typeface="Calibri" pitchFamily="34" charset="-120"/>
              </a:rPr>
              <a:t>Source: CFA Institute, Curriculum Vol 2, Learning Module 2, "Market Conditions and Investor Behavior" + LEI, pp. 55–67.</a:t>
            </a:r>
            <a:endParaRPr lang="en-US" sz="750" dirty="0"/>
          </a:p>
        </p:txBody>
      </p:sp>
      <p:sp>
        <p:nvSpPr>
          <p:cNvPr id="8" name="Text 6"/>
          <p:cNvSpPr txBox="1"/>
          <p:nvPr/>
        </p:nvSpPr>
        <p:spPr>
          <a:xfrm>
            <a:off x="320040" y="731520"/>
            <a:ext cx="8503920" cy="292608"/>
          </a:xfrm>
          <a:prstGeom prst="rect">
            <a:avLst/>
          </a:prstGeom>
          <a:noFill/>
          <a:ln/>
        </p:spPr>
        <p:txBody>
          <a:bodyPr wrap="square" lIns="508" tIns="508" rIns="508" bIns="508" rtlCol="0" anchor="ctr">
            <a:normAutofit/>
            <a:spAutoFit/>
          </a:bodyPr>
          <a:lstStyle/>
          <a:p>
            <a:pPr algn="l" indent="0" marL="0">
              <a:buNone/>
            </a:pPr>
            <a:r>
              <a:rPr lang="en-US" sz="1300" i="1" dirty="0">
                <a:solidFill>
                  <a:srgbClr val="334155"/>
                </a:solidFill>
                <a:latin typeface="Calibri" pitchFamily="34" charset="0"/>
                <a:ea typeface="Calibri" pitchFamily="34" charset="-122"/>
                <a:cs typeface="Calibri" pitchFamily="34" charset="-120"/>
              </a:rPr>
              <a:t>The equity market's job is to discount future cash flows — so it turns before reported earnings. Credit markets discount future default probability — they turn first.</a:t>
            </a:r>
            <a:endParaRPr lang="en-US" sz="1300" dirty="0"/>
          </a:p>
        </p:txBody>
      </p:sp>
      <p:sp>
        <p:nvSpPr>
          <p:cNvPr id="9" name="Shape 7"/>
          <p:cNvSpPr/>
          <p:nvPr/>
        </p:nvSpPr>
        <p:spPr>
          <a:xfrm>
            <a:off x="320040" y="1188720"/>
            <a:ext cx="2743200" cy="3108960"/>
          </a:xfrm>
          <a:prstGeom prst="rect">
            <a:avLst/>
          </a:prstGeom>
          <a:solidFill>
            <a:srgbClr val="F5F7FA"/>
          </a:solidFill>
          <a:ln/>
        </p:spPr>
      </p:sp>
      <p:sp>
        <p:nvSpPr>
          <p:cNvPr id="10" name="Shape 8"/>
          <p:cNvSpPr/>
          <p:nvPr/>
        </p:nvSpPr>
        <p:spPr>
          <a:xfrm>
            <a:off x="320040" y="1188720"/>
            <a:ext cx="73152" cy="3108960"/>
          </a:xfrm>
          <a:prstGeom prst="rect">
            <a:avLst/>
          </a:prstGeom>
          <a:solidFill>
            <a:srgbClr val="1B2A4A"/>
          </a:solidFill>
          <a:ln/>
        </p:spPr>
      </p:sp>
      <p:sp>
        <p:nvSpPr>
          <p:cNvPr id="11" name="Text 9"/>
          <p:cNvSpPr txBox="1"/>
          <p:nvPr/>
        </p:nvSpPr>
        <p:spPr>
          <a:xfrm>
            <a:off x="457200" y="1234440"/>
            <a:ext cx="2514600" cy="256032"/>
          </a:xfrm>
          <a:prstGeom prst="rect">
            <a:avLst/>
          </a:prstGeom>
          <a:noFill/>
          <a:ln/>
        </p:spPr>
        <p:txBody>
          <a:bodyPr wrap="square" lIns="508" tIns="508" rIns="508" bIns="508" rtlCol="0" anchor="ctr">
            <a:normAutofit/>
            <a:spAutoFit/>
          </a:bodyPr>
          <a:lstStyle/>
          <a:p>
            <a:pPr algn="l" indent="0" marL="0">
              <a:buNone/>
            </a:pPr>
            <a:r>
              <a:rPr lang="en-US" sz="1100" b="1" spc="400" kern="0" dirty="0">
                <a:solidFill>
                  <a:srgbClr val="1B2A4A"/>
                </a:solidFill>
                <a:latin typeface="Trebuchet MS" pitchFamily="34" charset="0"/>
                <a:ea typeface="Trebuchet MS" pitchFamily="34" charset="-122"/>
                <a:cs typeface="Trebuchet MS" pitchFamily="34" charset="-120"/>
              </a:rPr>
              <a:t>EQUITY MARKETS</a:t>
            </a:r>
            <a:endParaRPr lang="en-US" sz="1100" dirty="0"/>
          </a:p>
        </p:txBody>
      </p:sp>
      <p:sp>
        <p:nvSpPr>
          <p:cNvPr id="12" name="Text 10"/>
          <p:cNvSpPr txBox="1"/>
          <p:nvPr/>
        </p:nvSpPr>
        <p:spPr>
          <a:xfrm>
            <a:off x="457200" y="1508760"/>
            <a:ext cx="2514600" cy="2743200"/>
          </a:xfrm>
          <a:prstGeom prst="rect">
            <a:avLst/>
          </a:prstGeom>
          <a:noFill/>
          <a:ln/>
        </p:spPr>
        <p:txBody>
          <a:bodyPr wrap="square" lIns="508" tIns="508" rIns="508" bIns="508" rtlCol="0" anchor="t">
            <a:normAutofit/>
            <a:spAutoFit/>
          </a:bodyPr>
          <a:lstStyle/>
          <a:p>
            <a:pPr algn="l" indent="0" marL="0">
              <a:buNone/>
            </a:pPr>
            <a:r>
              <a:rPr lang="en-US" sz="1200" dirty="0">
                <a:solidFill>
                  <a:srgbClr val="334155"/>
                </a:solidFill>
                <a:latin typeface="Calibri" pitchFamily="34" charset="0"/>
                <a:ea typeface="Calibri" pitchFamily="34" charset="-122"/>
                <a:cs typeface="Calibri" pitchFamily="34" charset="-120"/>
              </a:rPr>
              <a:t>Typically bottom 3–6 months before the real economy troughs. Top 3–6 months before the peak.</a:t>
            </a:r>
            <a:endParaRPr lang="en-US" sz="1200" dirty="0"/>
          </a:p>
          <a:p>
            <a:pPr algn="l" indent="0" marL="0">
              <a:buNone/>
            </a:pPr>
            <a:endParaRPr lang="en-US" sz="1200" dirty="0"/>
          </a:p>
          <a:p>
            <a:pPr algn="l" indent="0" marL="0">
              <a:buNone/>
            </a:pPr>
            <a:r>
              <a:rPr lang="en-US" sz="1200" dirty="0">
                <a:solidFill>
                  <a:srgbClr val="334155"/>
                </a:solidFill>
                <a:latin typeface="Calibri" pitchFamily="34" charset="0"/>
                <a:ea typeface="Calibri" pitchFamily="34" charset="-122"/>
                <a:cs typeface="Calibri" pitchFamily="34" charset="-120"/>
              </a:rPr>
              <a:t>S&amp;P 500 is one of the 10 Conference Board LEI components for this reason.</a:t>
            </a:r>
            <a:endParaRPr lang="en-US" sz="1200" dirty="0"/>
          </a:p>
          <a:p>
            <a:pPr algn="l" indent="0" marL="0">
              <a:buNone/>
            </a:pPr>
            <a:endParaRPr lang="en-US" sz="1200" dirty="0"/>
          </a:p>
          <a:p>
            <a:pPr algn="l" indent="0" marL="0">
              <a:buNone/>
            </a:pPr>
            <a:r>
              <a:rPr lang="en-US" sz="1200" dirty="0">
                <a:solidFill>
                  <a:srgbClr val="334155"/>
                </a:solidFill>
                <a:latin typeface="Calibri" pitchFamily="34" charset="0"/>
                <a:ea typeface="Calibri" pitchFamily="34" charset="-122"/>
                <a:cs typeface="Calibri" pitchFamily="34" charset="-120"/>
              </a:rPr>
              <a:t>Take-away: by the time GDP confirms a turn, equities have already priced it.</a:t>
            </a:r>
            <a:endParaRPr lang="en-US" sz="1200" dirty="0"/>
          </a:p>
        </p:txBody>
      </p:sp>
      <p:sp>
        <p:nvSpPr>
          <p:cNvPr id="13" name="Shape 11"/>
          <p:cNvSpPr/>
          <p:nvPr/>
        </p:nvSpPr>
        <p:spPr>
          <a:xfrm>
            <a:off x="3200400" y="1188720"/>
            <a:ext cx="2743200" cy="3108960"/>
          </a:xfrm>
          <a:prstGeom prst="rect">
            <a:avLst/>
          </a:prstGeom>
          <a:solidFill>
            <a:srgbClr val="FEF0E7"/>
          </a:solidFill>
          <a:ln/>
        </p:spPr>
      </p:sp>
      <p:sp>
        <p:nvSpPr>
          <p:cNvPr id="14" name="Shape 12"/>
          <p:cNvSpPr/>
          <p:nvPr/>
        </p:nvSpPr>
        <p:spPr>
          <a:xfrm>
            <a:off x="3200400" y="1188720"/>
            <a:ext cx="73152" cy="3108960"/>
          </a:xfrm>
          <a:prstGeom prst="rect">
            <a:avLst/>
          </a:prstGeom>
          <a:solidFill>
            <a:srgbClr val="E8600A"/>
          </a:solidFill>
          <a:ln/>
        </p:spPr>
      </p:sp>
      <p:sp>
        <p:nvSpPr>
          <p:cNvPr id="15" name="Text 13"/>
          <p:cNvSpPr txBox="1"/>
          <p:nvPr/>
        </p:nvSpPr>
        <p:spPr>
          <a:xfrm>
            <a:off x="3337560" y="1234440"/>
            <a:ext cx="2514600" cy="256032"/>
          </a:xfrm>
          <a:prstGeom prst="rect">
            <a:avLst/>
          </a:prstGeom>
          <a:noFill/>
          <a:ln/>
        </p:spPr>
        <p:txBody>
          <a:bodyPr wrap="square" lIns="508" tIns="508" rIns="508" bIns="508" rtlCol="0" anchor="ctr">
            <a:normAutofit/>
            <a:spAutoFit/>
          </a:bodyPr>
          <a:lstStyle/>
          <a:p>
            <a:pPr algn="l" indent="0" marL="0">
              <a:buNone/>
            </a:pPr>
            <a:r>
              <a:rPr lang="en-US" sz="1100" b="1" spc="400" kern="0" dirty="0">
                <a:solidFill>
                  <a:srgbClr val="E8600A"/>
                </a:solidFill>
                <a:latin typeface="Trebuchet MS" pitchFamily="34" charset="0"/>
                <a:ea typeface="Trebuchet MS" pitchFamily="34" charset="-122"/>
                <a:cs typeface="Trebuchet MS" pitchFamily="34" charset="-120"/>
              </a:rPr>
              <a:t>YIELD CURVE</a:t>
            </a:r>
            <a:endParaRPr lang="en-US" sz="1100" dirty="0"/>
          </a:p>
        </p:txBody>
      </p:sp>
      <p:sp>
        <p:nvSpPr>
          <p:cNvPr id="16" name="Text 14"/>
          <p:cNvSpPr txBox="1"/>
          <p:nvPr/>
        </p:nvSpPr>
        <p:spPr>
          <a:xfrm>
            <a:off x="3337560" y="1508760"/>
            <a:ext cx="2514600" cy="2743200"/>
          </a:xfrm>
          <a:prstGeom prst="rect">
            <a:avLst/>
          </a:prstGeom>
          <a:noFill/>
          <a:ln/>
        </p:spPr>
        <p:txBody>
          <a:bodyPr wrap="square" lIns="508" tIns="508" rIns="508" bIns="508" rtlCol="0" anchor="t">
            <a:normAutofit/>
            <a:spAutoFit/>
          </a:bodyPr>
          <a:lstStyle/>
          <a:p>
            <a:pPr algn="l" indent="0" marL="0">
              <a:buNone/>
            </a:pPr>
            <a:r>
              <a:rPr lang="en-US" sz="1200" dirty="0">
                <a:solidFill>
                  <a:srgbClr val="334155"/>
                </a:solidFill>
                <a:latin typeface="Calibri" pitchFamily="34" charset="0"/>
                <a:ea typeface="Calibri" pitchFamily="34" charset="-122"/>
                <a:cs typeface="Calibri" pitchFamily="34" charset="-120"/>
              </a:rPr>
              <a:t>10y–2y or 10y–fed-funds spread.</a:t>
            </a:r>
            <a:endParaRPr lang="en-US" sz="1200" dirty="0"/>
          </a:p>
          <a:p>
            <a:pPr algn="l" indent="0" marL="0">
              <a:buNone/>
            </a:pPr>
            <a:endParaRPr lang="en-US" sz="1200" dirty="0"/>
          </a:p>
          <a:p>
            <a:pPr algn="l" indent="0" marL="0">
              <a:buNone/>
            </a:pPr>
            <a:r>
              <a:rPr lang="en-US" sz="1200" dirty="0">
                <a:solidFill>
                  <a:srgbClr val="334155"/>
                </a:solidFill>
                <a:latin typeface="Calibri" pitchFamily="34" charset="0"/>
                <a:ea typeface="Calibri" pitchFamily="34" charset="-122"/>
                <a:cs typeface="Calibri" pitchFamily="34" charset="-120"/>
              </a:rPr>
              <a:t>Inversion has preceded each US recession since 1970 by 12–24 months (one false signal in the mid-1960s).</a:t>
            </a:r>
            <a:endParaRPr lang="en-US" sz="1200" dirty="0"/>
          </a:p>
          <a:p>
            <a:pPr algn="l" indent="0" marL="0">
              <a:buNone/>
            </a:pPr>
            <a:endParaRPr lang="en-US" sz="1200" dirty="0"/>
          </a:p>
          <a:p>
            <a:pPr algn="l" indent="0" marL="0">
              <a:buNone/>
            </a:pPr>
            <a:r>
              <a:rPr lang="en-US" sz="1200" dirty="0">
                <a:solidFill>
                  <a:srgbClr val="334155"/>
                </a:solidFill>
                <a:latin typeface="Calibri" pitchFamily="34" charset="0"/>
                <a:ea typeface="Calibri" pitchFamily="34" charset="-122"/>
                <a:cs typeface="Calibri" pitchFamily="34" charset="-120"/>
              </a:rPr>
              <a:t>Mechanism: short rates expected to fall below long rates when the market expects a rate-cut cycle to defend against recession.</a:t>
            </a:r>
            <a:endParaRPr lang="en-US" sz="1200" dirty="0"/>
          </a:p>
        </p:txBody>
      </p:sp>
      <p:sp>
        <p:nvSpPr>
          <p:cNvPr id="17" name="Shape 15"/>
          <p:cNvSpPr/>
          <p:nvPr/>
        </p:nvSpPr>
        <p:spPr>
          <a:xfrm>
            <a:off x="6080760" y="1188720"/>
            <a:ext cx="2743200" cy="3108960"/>
          </a:xfrm>
          <a:prstGeom prst="rect">
            <a:avLst/>
          </a:prstGeom>
          <a:solidFill>
            <a:srgbClr val="F5F7FA"/>
          </a:solidFill>
          <a:ln/>
        </p:spPr>
      </p:sp>
      <p:sp>
        <p:nvSpPr>
          <p:cNvPr id="18" name="Shape 16"/>
          <p:cNvSpPr/>
          <p:nvPr/>
        </p:nvSpPr>
        <p:spPr>
          <a:xfrm>
            <a:off x="6080760" y="1188720"/>
            <a:ext cx="73152" cy="3108960"/>
          </a:xfrm>
          <a:prstGeom prst="rect">
            <a:avLst/>
          </a:prstGeom>
          <a:solidFill>
            <a:srgbClr val="1B2A4A"/>
          </a:solidFill>
          <a:ln/>
        </p:spPr>
      </p:sp>
      <p:sp>
        <p:nvSpPr>
          <p:cNvPr id="19" name="Text 17"/>
          <p:cNvSpPr txBox="1"/>
          <p:nvPr/>
        </p:nvSpPr>
        <p:spPr>
          <a:xfrm>
            <a:off x="6217920" y="1234440"/>
            <a:ext cx="2514600" cy="256032"/>
          </a:xfrm>
          <a:prstGeom prst="rect">
            <a:avLst/>
          </a:prstGeom>
          <a:noFill/>
          <a:ln/>
        </p:spPr>
        <p:txBody>
          <a:bodyPr wrap="square" lIns="508" tIns="508" rIns="508" bIns="508" rtlCol="0" anchor="ctr">
            <a:normAutofit/>
            <a:spAutoFit/>
          </a:bodyPr>
          <a:lstStyle/>
          <a:p>
            <a:pPr algn="l" indent="0" marL="0">
              <a:buNone/>
            </a:pPr>
            <a:r>
              <a:rPr lang="en-US" sz="1100" b="1" spc="400" kern="0" dirty="0">
                <a:solidFill>
                  <a:srgbClr val="1B2A4A"/>
                </a:solidFill>
                <a:latin typeface="Trebuchet MS" pitchFamily="34" charset="0"/>
                <a:ea typeface="Trebuchet MS" pitchFamily="34" charset="-122"/>
                <a:cs typeface="Trebuchet MS" pitchFamily="34" charset="-120"/>
              </a:rPr>
              <a:t>CREDIT SPREADS</a:t>
            </a:r>
            <a:endParaRPr lang="en-US" sz="1100" dirty="0"/>
          </a:p>
        </p:txBody>
      </p:sp>
      <p:sp>
        <p:nvSpPr>
          <p:cNvPr id="20" name="Text 18"/>
          <p:cNvSpPr txBox="1"/>
          <p:nvPr/>
        </p:nvSpPr>
        <p:spPr>
          <a:xfrm>
            <a:off x="6217920" y="1508760"/>
            <a:ext cx="2514600" cy="2743200"/>
          </a:xfrm>
          <a:prstGeom prst="rect">
            <a:avLst/>
          </a:prstGeom>
          <a:noFill/>
          <a:ln/>
        </p:spPr>
        <p:txBody>
          <a:bodyPr wrap="square" lIns="508" tIns="508" rIns="508" bIns="508" rtlCol="0" anchor="t">
            <a:normAutofit/>
            <a:spAutoFit/>
          </a:bodyPr>
          <a:lstStyle/>
          <a:p>
            <a:pPr algn="l" indent="0" marL="0">
              <a:buNone/>
            </a:pPr>
            <a:r>
              <a:rPr lang="en-US" sz="1200" dirty="0">
                <a:solidFill>
                  <a:srgbClr val="334155"/>
                </a:solidFill>
                <a:latin typeface="Calibri" pitchFamily="34" charset="0"/>
                <a:ea typeface="Calibri" pitchFamily="34" charset="-122"/>
                <a:cs typeface="Calibri" pitchFamily="34" charset="-120"/>
              </a:rPr>
              <a:t>High-yield spread over Treasuries widens before default cycles.</a:t>
            </a:r>
            <a:endParaRPr lang="en-US" sz="1200" dirty="0"/>
          </a:p>
          <a:p>
            <a:pPr algn="l" indent="0" marL="0">
              <a:buNone/>
            </a:pPr>
            <a:endParaRPr lang="en-US" sz="1200" dirty="0"/>
          </a:p>
          <a:p>
            <a:pPr algn="l" indent="0" marL="0">
              <a:buNone/>
            </a:pPr>
            <a:r>
              <a:rPr lang="en-US" sz="1200" dirty="0">
                <a:solidFill>
                  <a:srgbClr val="334155"/>
                </a:solidFill>
                <a:latin typeface="Calibri" pitchFamily="34" charset="0"/>
                <a:ea typeface="Calibri" pitchFamily="34" charset="-122"/>
                <a:cs typeface="Calibri" pitchFamily="34" charset="-120"/>
              </a:rPr>
              <a:t>Spreads tend to trough mid-cycle and rise through the late cycle as underwriting deteriorates.</a:t>
            </a:r>
            <a:endParaRPr lang="en-US" sz="1200" dirty="0"/>
          </a:p>
          <a:p>
            <a:pPr algn="l" indent="0" marL="0">
              <a:buNone/>
            </a:pPr>
            <a:endParaRPr lang="en-US" sz="1200" dirty="0"/>
          </a:p>
          <a:p>
            <a:pPr algn="l" indent="0" marL="0">
              <a:buNone/>
            </a:pPr>
            <a:r>
              <a:rPr lang="en-US" sz="1200" dirty="0">
                <a:solidFill>
                  <a:srgbClr val="334155"/>
                </a:solidFill>
                <a:latin typeface="Calibri" pitchFamily="34" charset="0"/>
                <a:ea typeface="Calibri" pitchFamily="34" charset="-122"/>
                <a:cs typeface="Calibri" pitchFamily="34" charset="-120"/>
              </a:rPr>
              <a:t>Leading Credit Index sits in the LEI.</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B2A4A"/>
          </a:solidFill>
          <a:ln/>
        </p:spPr>
      </p:sp>
      <p:sp>
        <p:nvSpPr>
          <p:cNvPr id="3" name="Shape 1"/>
          <p:cNvSpPr/>
          <p:nvPr/>
        </p:nvSpPr>
        <p:spPr>
          <a:xfrm>
            <a:off x="0" y="0"/>
            <a:ext cx="109728" cy="621792"/>
          </a:xfrm>
          <a:prstGeom prst="rect">
            <a:avLst/>
          </a:prstGeom>
          <a:solidFill>
            <a:srgbClr val="E8600A"/>
          </a:solidFill>
          <a:ln/>
        </p:spPr>
      </p:sp>
      <p:sp>
        <p:nvSpPr>
          <p:cNvPr id="4" name="Text 2"/>
          <p:cNvSpPr txBox="1"/>
          <p:nvPr/>
        </p:nvSpPr>
        <p:spPr>
          <a:xfrm>
            <a:off x="256032" y="0"/>
            <a:ext cx="8686800" cy="621792"/>
          </a:xfrm>
          <a:prstGeom prst="rect">
            <a:avLst/>
          </a:prstGeom>
          <a:noFill/>
          <a:ln/>
        </p:spPr>
        <p:txBody>
          <a:bodyPr wrap="square" lIns="508" tIns="508" rIns="508" bIns="508" rtlCol="0" anchor="ctr">
            <a:normAutofit/>
            <a:spAutoFit/>
          </a:bodyPr>
          <a:lstStyle/>
          <a:p>
            <a:pPr algn="l" indent="0" marL="0">
              <a:buNone/>
            </a:pPr>
            <a:r>
              <a:rPr lang="en-US" sz="1700" b="1" dirty="0">
                <a:solidFill>
                  <a:srgbClr val="FFFFFF"/>
                </a:solidFill>
                <a:latin typeface="Trebuchet MS" pitchFamily="34" charset="0"/>
                <a:ea typeface="Trebuchet MS" pitchFamily="34" charset="-122"/>
                <a:cs typeface="Trebuchet MS" pitchFamily="34" charset="-120"/>
              </a:rPr>
              <a:t>Inventory and capital-spending cycles amplify the real economy — orders for light equipment move first, heavy capex last</a:t>
            </a:r>
            <a:endParaRPr lang="en-US" sz="1700" dirty="0"/>
          </a:p>
        </p:txBody>
      </p:sp>
      <p:sp>
        <p:nvSpPr>
          <p:cNvPr id="5" name="Shape 3"/>
          <p:cNvSpPr/>
          <p:nvPr/>
        </p:nvSpPr>
        <p:spPr>
          <a:xfrm>
            <a:off x="0" y="4892040"/>
            <a:ext cx="9144000" cy="256032"/>
          </a:xfrm>
          <a:prstGeom prst="rect">
            <a:avLst/>
          </a:prstGeom>
          <a:solidFill>
            <a:srgbClr val="E8ECF0"/>
          </a:solidFill>
          <a:ln/>
        </p:spPr>
      </p:sp>
      <p:sp>
        <p:nvSpPr>
          <p:cNvPr id="6" name="Text 4"/>
          <p:cNvSpPr txBox="1"/>
          <p:nvPr/>
        </p:nvSpPr>
        <p:spPr>
          <a:xfrm>
            <a:off x="274320" y="4892040"/>
            <a:ext cx="5943600" cy="256032"/>
          </a:xfrm>
          <a:prstGeom prst="rect">
            <a:avLst/>
          </a:prstGeom>
          <a:noFill/>
          <a:ln/>
        </p:spPr>
        <p:txBody>
          <a:bodyPr wrap="square" lIns="508" tIns="508" rIns="508" bIns="508" rtlCol="0" anchor="ctr">
            <a:normAutofit/>
            <a:spAutoFit/>
          </a:bodyPr>
          <a:lstStyle/>
          <a:p>
            <a:pPr algn="l" indent="0" marL="0">
              <a:buNone/>
            </a:pPr>
            <a:r>
              <a:rPr lang="en-US" sz="750" dirty="0">
                <a:solidFill>
                  <a:srgbClr val="6B7A8D"/>
                </a:solidFill>
                <a:latin typeface="Calibri" pitchFamily="34" charset="0"/>
                <a:ea typeface="Calibri" pitchFamily="34" charset="-122"/>
                <a:cs typeface="Calibri" pitchFamily="34" charset="-120"/>
              </a:rPr>
              <a:t>STUDIO TONTON GUG  ·  Finance Fundamentals</a:t>
            </a:r>
            <a:endParaRPr lang="en-US" sz="750" dirty="0"/>
          </a:p>
        </p:txBody>
      </p:sp>
      <p:sp>
        <p:nvSpPr>
          <p:cNvPr id="7" name="Text 5"/>
          <p:cNvSpPr txBox="1"/>
          <p:nvPr/>
        </p:nvSpPr>
        <p:spPr>
          <a:xfrm>
            <a:off x="320040" y="4663440"/>
            <a:ext cx="8503920" cy="201168"/>
          </a:xfrm>
          <a:prstGeom prst="rect">
            <a:avLst/>
          </a:prstGeom>
          <a:noFill/>
          <a:ln/>
        </p:spPr>
        <p:txBody>
          <a:bodyPr wrap="square" lIns="508" tIns="508" rIns="508" bIns="508" rtlCol="0" anchor="t">
            <a:normAutofit/>
            <a:spAutoFit/>
          </a:bodyPr>
          <a:lstStyle/>
          <a:p>
            <a:pPr algn="l" indent="0" marL="0">
              <a:buNone/>
            </a:pPr>
            <a:r>
              <a:rPr lang="en-US" sz="750" i="1" dirty="0">
                <a:solidFill>
                  <a:srgbClr val="6B7A8D"/>
                </a:solidFill>
                <a:latin typeface="Calibri" pitchFamily="34" charset="0"/>
                <a:ea typeface="Calibri" pitchFamily="34" charset="-122"/>
                <a:cs typeface="Calibri" pitchFamily="34" charset="-120"/>
              </a:rPr>
              <a:t>Source: CFA Institute, Curriculum Vol 2, Learning Module 2, Exhibits 8–9, pp. 61–64.</a:t>
            </a:r>
            <a:endParaRPr lang="en-US" sz="750" dirty="0"/>
          </a:p>
        </p:txBody>
      </p:sp>
      <p:sp>
        <p:nvSpPr>
          <p:cNvPr id="8" name="Text 6"/>
          <p:cNvSpPr txBox="1"/>
          <p:nvPr/>
        </p:nvSpPr>
        <p:spPr>
          <a:xfrm>
            <a:off x="320040" y="731520"/>
            <a:ext cx="8503920" cy="292608"/>
          </a:xfrm>
          <a:prstGeom prst="rect">
            <a:avLst/>
          </a:prstGeom>
          <a:noFill/>
          <a:ln/>
        </p:spPr>
        <p:txBody>
          <a:bodyPr wrap="square" lIns="508" tIns="508" rIns="508" bIns="508" rtlCol="0" anchor="ctr">
            <a:normAutofit/>
            <a:spAutoFit/>
          </a:bodyPr>
          <a:lstStyle/>
          <a:p>
            <a:pPr algn="l" indent="0" marL="0">
              <a:buNone/>
            </a:pPr>
            <a:r>
              <a:rPr lang="en-US" sz="1300" i="1" dirty="0">
                <a:solidFill>
                  <a:srgbClr val="334155"/>
                </a:solidFill>
                <a:latin typeface="Calibri" pitchFamily="34" charset="0"/>
                <a:ea typeface="Calibri" pitchFamily="34" charset="-122"/>
                <a:cs typeface="Calibri" pitchFamily="34" charset="-120"/>
              </a:rPr>
              <a:t>Inventories are small as a share of GDP but swing violently. Capex is the single most pro-cyclical component of GDP — it's what makes cycles big.</a:t>
            </a:r>
            <a:endParaRPr lang="en-US" sz="13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20040" y="1188720"/>
          <a:ext cx="8503920" cy="914400"/>
        </p:xfrm>
        <a:graphic>
          <a:graphicData uri="http://schemas.openxmlformats.org/drawingml/2006/table">
            <a:tbl>
              <a:tblPr/>
              <a:tblGrid>
                <a:gridCol w="1463040"/>
                <a:gridCol w="2743200"/>
                <a:gridCol w="2834640"/>
                <a:gridCol w="1463040"/>
              </a:tblGrid>
              <a:tr h="274320">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Phase</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Inventory behavior</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Capex behavior</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Typical orders</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Recovery</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I/S ratio stable as sales recover</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Low but rising; focus on efficiency, not capacity</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Software, IT hardware</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Expansion</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Inventory rebuild; rising I/S briefly</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Capacity expansion; strong cash flow supports capex</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Heavy equipment, factories</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Slowdown</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I/S stable-to-rising as sales decelerate</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New-order growth slows; late-cycle capacity still being added</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Construction, infrastructure</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Contraction</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I/S spikes as production overshoots sales</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New orders halted; some in-flight orders canceled</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Maintenance scaled back</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r>
            </a:tbl>
          </a:graphicData>
        </a:graphic>
      </p:graphicFrame>
      <p:sp>
        <p:nvSpPr>
          <p:cNvPr id="10" name="Shape 7"/>
          <p:cNvSpPr/>
          <p:nvPr/>
        </p:nvSpPr>
        <p:spPr>
          <a:xfrm>
            <a:off x="320040" y="3246120"/>
            <a:ext cx="8503920" cy="1051560"/>
          </a:xfrm>
          <a:prstGeom prst="rect">
            <a:avLst/>
          </a:prstGeom>
          <a:solidFill>
            <a:srgbClr val="FEF0E7"/>
          </a:solidFill>
          <a:ln/>
        </p:spPr>
      </p:sp>
      <p:sp>
        <p:nvSpPr>
          <p:cNvPr id="11" name="Shape 8"/>
          <p:cNvSpPr/>
          <p:nvPr/>
        </p:nvSpPr>
        <p:spPr>
          <a:xfrm>
            <a:off x="320040" y="3246120"/>
            <a:ext cx="73152" cy="1051560"/>
          </a:xfrm>
          <a:prstGeom prst="rect">
            <a:avLst/>
          </a:prstGeom>
          <a:solidFill>
            <a:srgbClr val="E8600A"/>
          </a:solidFill>
          <a:ln/>
        </p:spPr>
      </p:sp>
      <p:sp>
        <p:nvSpPr>
          <p:cNvPr id="12" name="Text 9"/>
          <p:cNvSpPr txBox="1"/>
          <p:nvPr/>
        </p:nvSpPr>
        <p:spPr>
          <a:xfrm>
            <a:off x="457200" y="3291840"/>
            <a:ext cx="8275320" cy="256032"/>
          </a:xfrm>
          <a:prstGeom prst="rect">
            <a:avLst/>
          </a:prstGeom>
          <a:noFill/>
          <a:ln/>
        </p:spPr>
        <p:txBody>
          <a:bodyPr wrap="square" lIns="508" tIns="508" rIns="508" bIns="508" rtlCol="0" anchor="ctr">
            <a:normAutofit/>
            <a:spAutoFit/>
          </a:bodyPr>
          <a:lstStyle/>
          <a:p>
            <a:pPr algn="l" indent="0" marL="0">
              <a:buNone/>
            </a:pPr>
            <a:r>
              <a:rPr lang="en-US" sz="1100" b="1" spc="400" kern="0" dirty="0">
                <a:solidFill>
                  <a:srgbClr val="E8600A"/>
                </a:solidFill>
                <a:latin typeface="Trebuchet MS" pitchFamily="34" charset="0"/>
                <a:ea typeface="Trebuchet MS" pitchFamily="34" charset="-122"/>
                <a:cs typeface="Trebuchet MS" pitchFamily="34" charset="-120"/>
              </a:rPr>
              <a:t>WHY THIS MATTERS FOR SECTOR SELECTION</a:t>
            </a:r>
            <a:endParaRPr lang="en-US" sz="1100" dirty="0"/>
          </a:p>
        </p:txBody>
      </p:sp>
      <p:sp>
        <p:nvSpPr>
          <p:cNvPr id="13" name="Text 10"/>
          <p:cNvSpPr txBox="1"/>
          <p:nvPr/>
        </p:nvSpPr>
        <p:spPr>
          <a:xfrm>
            <a:off x="457200" y="3566160"/>
            <a:ext cx="8275320" cy="685800"/>
          </a:xfrm>
          <a:prstGeom prst="rect">
            <a:avLst/>
          </a:prstGeom>
          <a:noFill/>
          <a:ln/>
        </p:spPr>
        <p:txBody>
          <a:bodyPr wrap="square" lIns="508" tIns="508" rIns="508" bIns="508" rtlCol="0" anchor="t">
            <a:normAutofit/>
            <a:spAutoFit/>
          </a:bodyPr>
          <a:lstStyle/>
          <a:p>
            <a:pPr algn="l" indent="0" marL="0">
              <a:buNone/>
            </a:pPr>
            <a:r>
              <a:rPr lang="en-US" sz="1200" dirty="0">
                <a:solidFill>
                  <a:srgbClr val="334155"/>
                </a:solidFill>
                <a:latin typeface="Calibri" pitchFamily="34" charset="0"/>
                <a:ea typeface="Calibri" pitchFamily="34" charset="-122"/>
                <a:cs typeface="Calibri" pitchFamily="34" charset="-120"/>
              </a:rPr>
              <a:t>Industrials and semiconductors often lead early-cycle because their customers restart equipment orders first. Construction and aerospace lead late-cycle because long-planning projects carry on even as the broader economy rolls over. Any sector view should ask: "where does this sit on the order-book lead-lag curve?"</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B2A4A"/>
          </a:solidFill>
          <a:ln/>
        </p:spPr>
      </p:sp>
      <p:sp>
        <p:nvSpPr>
          <p:cNvPr id="3" name="Shape 1"/>
          <p:cNvSpPr/>
          <p:nvPr/>
        </p:nvSpPr>
        <p:spPr>
          <a:xfrm>
            <a:off x="0" y="0"/>
            <a:ext cx="109728" cy="621792"/>
          </a:xfrm>
          <a:prstGeom prst="rect">
            <a:avLst/>
          </a:prstGeom>
          <a:solidFill>
            <a:srgbClr val="E8600A"/>
          </a:solidFill>
          <a:ln/>
        </p:spPr>
      </p:sp>
      <p:sp>
        <p:nvSpPr>
          <p:cNvPr id="4" name="Text 2"/>
          <p:cNvSpPr txBox="1"/>
          <p:nvPr/>
        </p:nvSpPr>
        <p:spPr>
          <a:xfrm>
            <a:off x="256032" y="0"/>
            <a:ext cx="8686800" cy="621792"/>
          </a:xfrm>
          <a:prstGeom prst="rect">
            <a:avLst/>
          </a:prstGeom>
          <a:noFill/>
          <a:ln/>
        </p:spPr>
        <p:txBody>
          <a:bodyPr wrap="square" lIns="508" tIns="508" rIns="508" bIns="508" rtlCol="0" anchor="ctr">
            <a:normAutofit/>
            <a:spAutoFit/>
          </a:bodyPr>
          <a:lstStyle/>
          <a:p>
            <a:pPr algn="l" indent="0" marL="0">
              <a:buNone/>
            </a:pPr>
            <a:r>
              <a:rPr lang="en-US" sz="1600" b="1" dirty="0">
                <a:solidFill>
                  <a:srgbClr val="FFFFFF"/>
                </a:solidFill>
                <a:latin typeface="Trebuchet MS" pitchFamily="34" charset="0"/>
                <a:ea typeface="Trebuchet MS" pitchFamily="34" charset="-122"/>
                <a:cs typeface="Trebuchet MS" pitchFamily="34" charset="-120"/>
              </a:rPr>
              <a:t>Sector rotation maps cycle phases to portfolio tilts — early-cycle favors consumer discretionary, mid-cycle industrials, late-cycle energy, and recessions staples and utilities</a:t>
            </a:r>
            <a:endParaRPr lang="en-US" sz="1600" dirty="0"/>
          </a:p>
        </p:txBody>
      </p:sp>
      <p:sp>
        <p:nvSpPr>
          <p:cNvPr id="5" name="Shape 3"/>
          <p:cNvSpPr/>
          <p:nvPr/>
        </p:nvSpPr>
        <p:spPr>
          <a:xfrm>
            <a:off x="0" y="4892040"/>
            <a:ext cx="9144000" cy="256032"/>
          </a:xfrm>
          <a:prstGeom prst="rect">
            <a:avLst/>
          </a:prstGeom>
          <a:solidFill>
            <a:srgbClr val="E8ECF0"/>
          </a:solidFill>
          <a:ln/>
        </p:spPr>
      </p:sp>
      <p:sp>
        <p:nvSpPr>
          <p:cNvPr id="6" name="Text 4"/>
          <p:cNvSpPr txBox="1"/>
          <p:nvPr/>
        </p:nvSpPr>
        <p:spPr>
          <a:xfrm>
            <a:off x="274320" y="4892040"/>
            <a:ext cx="5943600" cy="256032"/>
          </a:xfrm>
          <a:prstGeom prst="rect">
            <a:avLst/>
          </a:prstGeom>
          <a:noFill/>
          <a:ln/>
        </p:spPr>
        <p:txBody>
          <a:bodyPr wrap="square" lIns="508" tIns="508" rIns="508" bIns="508" rtlCol="0" anchor="ctr">
            <a:normAutofit/>
            <a:spAutoFit/>
          </a:bodyPr>
          <a:lstStyle/>
          <a:p>
            <a:pPr algn="l" indent="0" marL="0">
              <a:buNone/>
            </a:pPr>
            <a:r>
              <a:rPr lang="en-US" sz="750" dirty="0">
                <a:solidFill>
                  <a:srgbClr val="6B7A8D"/>
                </a:solidFill>
                <a:latin typeface="Calibri" pitchFamily="34" charset="0"/>
                <a:ea typeface="Calibri" pitchFamily="34" charset="-122"/>
                <a:cs typeface="Calibri" pitchFamily="34" charset="-120"/>
              </a:rPr>
              <a:t>STUDIO TONTON GUG  ·  Finance Fundamentals</a:t>
            </a:r>
            <a:endParaRPr lang="en-US" sz="750" dirty="0"/>
          </a:p>
        </p:txBody>
      </p:sp>
      <p:sp>
        <p:nvSpPr>
          <p:cNvPr id="7" name="Text 5"/>
          <p:cNvSpPr txBox="1"/>
          <p:nvPr/>
        </p:nvSpPr>
        <p:spPr>
          <a:xfrm>
            <a:off x="320040" y="4471416"/>
            <a:ext cx="8503920" cy="192024"/>
          </a:xfrm>
          <a:prstGeom prst="rect">
            <a:avLst/>
          </a:prstGeom>
          <a:noFill/>
          <a:ln/>
        </p:spPr>
        <p:txBody>
          <a:bodyPr wrap="square" lIns="254" tIns="254" rIns="254" bIns="254" rtlCol="0" anchor="t"/>
          <a:lstStyle/>
          <a:p>
            <a:pPr indent="0" marL="0">
              <a:buNone/>
            </a:pPr>
            <a:r>
              <a:rPr lang="en-US" sz="1000" dirty="0">
                <a:solidFill>
                  <a:srgbClr val="6B7A8D"/>
                </a:solidFill>
                <a:latin typeface="Calibri" pitchFamily="34" charset="0"/>
                <a:ea typeface="Calibri" pitchFamily="34" charset="-122"/>
                <a:cs typeface="Calibri" pitchFamily="34" charset="-120"/>
              </a:rPr>
              <a:t>¹ Sector playbooks are empirical averages over many cycles, not forecasts. Use them as a prior — then overlay the specific drivers of the current cycle.
</a:t>
            </a:r>
            <a:endParaRPr lang="en-US" sz="1000" dirty="0"/>
          </a:p>
        </p:txBody>
      </p:sp>
      <p:sp>
        <p:nvSpPr>
          <p:cNvPr id="8" name="Text 6"/>
          <p:cNvSpPr txBox="1"/>
          <p:nvPr/>
        </p:nvSpPr>
        <p:spPr>
          <a:xfrm>
            <a:off x="320040" y="4663440"/>
            <a:ext cx="8503920" cy="201168"/>
          </a:xfrm>
          <a:prstGeom prst="rect">
            <a:avLst/>
          </a:prstGeom>
          <a:noFill/>
          <a:ln/>
        </p:spPr>
        <p:txBody>
          <a:bodyPr wrap="square" lIns="508" tIns="508" rIns="508" bIns="508" rtlCol="0" anchor="t">
            <a:normAutofit/>
            <a:spAutoFit/>
          </a:bodyPr>
          <a:lstStyle/>
          <a:p>
            <a:pPr algn="l" indent="0" marL="0">
              <a:buNone/>
            </a:pPr>
            <a:r>
              <a:rPr lang="en-US" sz="750" i="1" dirty="0">
                <a:solidFill>
                  <a:srgbClr val="6B7A8D"/>
                </a:solidFill>
                <a:latin typeface="Calibri" pitchFamily="34" charset="0"/>
                <a:ea typeface="Calibri" pitchFamily="34" charset="-122"/>
                <a:cs typeface="Calibri" pitchFamily="34" charset="-120"/>
              </a:rPr>
              <a:t>Source: CFA Institute, Curriculum Vol 2, Learning Module 2, "Market Conditions and Investor Behavior", pp. 55–57.</a:t>
            </a:r>
            <a:endParaRPr lang="en-US" sz="750" dirty="0"/>
          </a:p>
        </p:txBody>
      </p:sp>
      <p:sp>
        <p:nvSpPr>
          <p:cNvPr id="9" name="Text 7"/>
          <p:cNvSpPr txBox="1"/>
          <p:nvPr/>
        </p:nvSpPr>
        <p:spPr>
          <a:xfrm>
            <a:off x="320040" y="731520"/>
            <a:ext cx="8503920" cy="292608"/>
          </a:xfrm>
          <a:prstGeom prst="rect">
            <a:avLst/>
          </a:prstGeom>
          <a:noFill/>
          <a:ln/>
        </p:spPr>
        <p:txBody>
          <a:bodyPr wrap="square" lIns="508" tIns="508" rIns="508" bIns="508" rtlCol="0" anchor="ctr">
            <a:normAutofit/>
            <a:spAutoFit/>
          </a:bodyPr>
          <a:lstStyle/>
          <a:p>
            <a:pPr algn="l" indent="0" marL="0">
              <a:buNone/>
            </a:pPr>
            <a:r>
              <a:rPr lang="en-US" sz="1300" i="1" dirty="0">
                <a:solidFill>
                  <a:srgbClr val="334155"/>
                </a:solidFill>
                <a:latin typeface="Calibri" pitchFamily="34" charset="0"/>
                <a:ea typeface="Calibri" pitchFamily="34" charset="-122"/>
                <a:cs typeface="Calibri" pitchFamily="34" charset="-120"/>
              </a:rPr>
              <a:t>The playbook: risk-on assets (small caps, cyclicals, HY credit) lead early; defensives (staples, utilities, long duration) lead late and in contraction.</a:t>
            </a:r>
            <a:endParaRPr lang="en-US" sz="13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20040" y="1188720"/>
          <a:ext cx="8503920" cy="914400"/>
        </p:xfrm>
        <a:graphic>
          <a:graphicData uri="http://schemas.openxmlformats.org/drawingml/2006/table">
            <a:tbl>
              <a:tblPr/>
              <a:tblGrid>
                <a:gridCol w="1463040"/>
                <a:gridCol w="2377440"/>
                <a:gridCol w="3383280"/>
                <a:gridCol w="1280160"/>
              </a:tblGrid>
              <a:tr h="274320">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Phase</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Equity style / size</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Favored sectors</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c>
                  <a:txBody>
                    <a:bodyP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Fixed income</a:t>
                      </a:r>
                      <a:endParaRPr lang="en-US" sz="1100" dirty="0">
                        <a:latin typeface="Trebuchet MS" charset="0"/>
                        <a:ea typeface="Trebuchet MS" charset="0"/>
                        <a:cs typeface="Trebuchet MS" charset="0"/>
                      </a:endParaRPr>
                    </a:p>
                  </a:txBody>
                  <a:tcPr marL="91440" marR="91440" marT="45720" marB="45720" anchor="ctr">
                    <a:lnL w="0" cap="flat" cmpd="sng" algn="ctr">
                      <a:noFill/>
                    </a:lnL>
                    <a:lnR w="0" cap="flat" cmpd="sng" algn="ctr">
                      <a:noFill/>
                    </a:lnR>
                    <a:lnT w="6350" cap="flat" cmpd="sng" algn="ctr">
                      <a:solidFill>
                        <a:srgbClr val="1B2A4A"/>
                      </a:solidFill>
                      <a:prstDash val="solid"/>
                      <a:round/>
                      <a:headEnd type="none" w="med" len="med"/>
                      <a:tailEnd type="none" w="med" len="med"/>
                    </a:lnT>
                    <a:lnB w="0" cap="flat" cmpd="sng" algn="ctr">
                      <a:noFill/>
                    </a:lnB>
                    <a:solidFill>
                      <a:srgbClr val="1B2A4A"/>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Recovery</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Small caps, value, cyclicals</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Consumer discretionary, financials, homebuilders</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HY credit rally</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Expansion</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Mid-cap quality, growth</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Industrials, technology, materials</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IG credit tight</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Slowdown</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Large-cap quality, low volatility</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Energy, late-cycle industrials, commodities</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Duration extends</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FFFFF"/>
                    </a:solidFill>
                  </a:tcPr>
                </a:tc>
              </a:tr>
              <a:tr h="274320">
                <a:tc>
                  <a:txBody>
                    <a:bodyPr/>
                    <a:lstStyle/>
                    <a:p>
                      <a:pPr algn="l" indent="0" marL="0">
                        <a:buNone/>
                      </a:pPr>
                      <a:r>
                        <a:rPr lang="en-US" sz="1100" dirty="0">
                          <a:solidFill>
                            <a:srgbClr val="334155"/>
                          </a:solidFill>
                          <a:latin typeface="Calibri" pitchFamily="34" charset="0"/>
                          <a:ea typeface="Calibri" pitchFamily="34" charset="-122"/>
                          <a:cs typeface="Calibri" pitchFamily="34" charset="-120"/>
                        </a:rPr>
                        <a:t>Contraction</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Defensives, long duration bonds</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Consumer staples, utilities, healthcare</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c>
                  <a:txBody>
                    <a:bodyPr/>
                    <a:lstStyle/>
                    <a:p>
                      <a:pPr algn="ctr" indent="0" marL="0">
                        <a:buNone/>
                      </a:pPr>
                      <a:r>
                        <a:rPr lang="en-US" sz="1100" dirty="0">
                          <a:solidFill>
                            <a:srgbClr val="334155"/>
                          </a:solidFill>
                          <a:latin typeface="Consolas" pitchFamily="34" charset="0"/>
                          <a:ea typeface="Consolas" pitchFamily="34" charset="-122"/>
                          <a:cs typeface="Consolas" pitchFamily="34" charset="-120"/>
                        </a:rPr>
                        <a:t>Government bonds</a:t>
                      </a:r>
                      <a:endParaRPr lang="en-US" sz="1100" dirty="0">
                        <a:latin typeface="Consolas" charset="0"/>
                        <a:ea typeface="Consolas" charset="0"/>
                        <a:cs typeface="Consolas" charset="0"/>
                      </a:endParaRPr>
                    </a:p>
                  </a:txBody>
                  <a:tcPr marL="91440" marR="91440" marT="45720" marB="45720" anchor="ctr">
                    <a:lnL w="0" cap="flat" cmpd="sng" algn="ctr">
                      <a:noFill/>
                    </a:lnL>
                    <a:lnR w="0" cap="flat" cmpd="sng" algn="ctr">
                      <a:noFill/>
                    </a:lnR>
                    <a:lnT w="0" cap="flat" cmpd="sng" algn="ctr">
                      <a:noFill/>
                    </a:lnT>
                    <a:lnB w="3175" cap="flat" cmpd="sng" algn="ctr">
                      <a:solidFill>
                        <a:srgbClr val="D0D8E8"/>
                      </a:solidFill>
                      <a:prstDash val="solid"/>
                      <a:round/>
                      <a:headEnd type="none" w="med" len="med"/>
                      <a:tailEnd type="none" w="med" len="med"/>
                    </a:lnB>
                    <a:solidFill>
                      <a:srgbClr val="F5F7FA"/>
                    </a:solidFill>
                  </a:tcPr>
                </a:tc>
              </a:tr>
            </a:tbl>
          </a:graphicData>
        </a:graphic>
      </p:graphicFrame>
      <p:sp>
        <p:nvSpPr>
          <p:cNvPr id="11" name="Shape 8"/>
          <p:cNvSpPr/>
          <p:nvPr/>
        </p:nvSpPr>
        <p:spPr>
          <a:xfrm>
            <a:off x="320040" y="3291840"/>
            <a:ext cx="8503920" cy="1005840"/>
          </a:xfrm>
          <a:prstGeom prst="rect">
            <a:avLst/>
          </a:prstGeom>
          <a:solidFill>
            <a:srgbClr val="FEF0E7"/>
          </a:solidFill>
          <a:ln/>
        </p:spPr>
      </p:sp>
      <p:sp>
        <p:nvSpPr>
          <p:cNvPr id="12" name="Shape 9"/>
          <p:cNvSpPr/>
          <p:nvPr/>
        </p:nvSpPr>
        <p:spPr>
          <a:xfrm>
            <a:off x="320040" y="3291840"/>
            <a:ext cx="73152" cy="1005840"/>
          </a:xfrm>
          <a:prstGeom prst="rect">
            <a:avLst/>
          </a:prstGeom>
          <a:solidFill>
            <a:srgbClr val="E8600A"/>
          </a:solidFill>
          <a:ln/>
        </p:spPr>
      </p:sp>
      <p:sp>
        <p:nvSpPr>
          <p:cNvPr id="13" name="Text 10"/>
          <p:cNvSpPr txBox="1"/>
          <p:nvPr/>
        </p:nvSpPr>
        <p:spPr>
          <a:xfrm>
            <a:off x="457200" y="3337560"/>
            <a:ext cx="8275320" cy="256032"/>
          </a:xfrm>
          <a:prstGeom prst="rect">
            <a:avLst/>
          </a:prstGeom>
          <a:noFill/>
          <a:ln/>
        </p:spPr>
        <p:txBody>
          <a:bodyPr wrap="square" lIns="508" tIns="508" rIns="508" bIns="508" rtlCol="0" anchor="ctr">
            <a:normAutofit/>
            <a:spAutoFit/>
          </a:bodyPr>
          <a:lstStyle/>
          <a:p>
            <a:pPr algn="l" indent="0" marL="0">
              <a:buNone/>
            </a:pPr>
            <a:r>
              <a:rPr lang="en-US" sz="1100" b="1" spc="400" kern="0" dirty="0">
                <a:solidFill>
                  <a:srgbClr val="E8600A"/>
                </a:solidFill>
                <a:latin typeface="Trebuchet MS" pitchFamily="34" charset="0"/>
                <a:ea typeface="Trebuchet MS" pitchFamily="34" charset="-122"/>
                <a:cs typeface="Trebuchet MS" pitchFamily="34" charset="-120"/>
              </a:rPr>
              <a:t>LIMITATIONS — DO NOT MISTAKE THIS FOR A FORECAST</a:t>
            </a:r>
            <a:endParaRPr lang="en-US" sz="1100" dirty="0"/>
          </a:p>
        </p:txBody>
      </p:sp>
      <p:sp>
        <p:nvSpPr>
          <p:cNvPr id="14" name="Text 11"/>
          <p:cNvSpPr txBox="1"/>
          <p:nvPr/>
        </p:nvSpPr>
        <p:spPr>
          <a:xfrm>
            <a:off x="457200" y="3611880"/>
            <a:ext cx="8275320" cy="640080"/>
          </a:xfrm>
          <a:prstGeom prst="rect">
            <a:avLst/>
          </a:prstGeom>
          <a:noFill/>
          <a:ln/>
        </p:spPr>
        <p:txBody>
          <a:bodyPr wrap="square" lIns="508" tIns="508" rIns="508" bIns="508" rtlCol="0" anchor="t">
            <a:normAutofit/>
            <a:spAutoFit/>
          </a:bodyPr>
          <a:lstStyle/>
          <a:p>
            <a:pPr algn="l" indent="0" marL="0">
              <a:buNone/>
            </a:pPr>
            <a:r>
              <a:rPr lang="en-US" sz="1200" dirty="0">
                <a:solidFill>
                  <a:srgbClr val="334155"/>
                </a:solidFill>
                <a:latin typeface="Calibri" pitchFamily="34" charset="0"/>
                <a:ea typeface="Calibri" pitchFamily="34" charset="-122"/>
                <a:cs typeface="Calibri" pitchFamily="34" charset="-120"/>
              </a:rPr>
              <a:t>Sector rotation works on average and in hindsight. Every cycle has its own character — technology led both the late-1990s expansion and the 2020–2021 recovery; energy led the 2022 slowdown but underperformed most previous ones. Use the playbook as a prior, anchor it to the current cycle's specific drivers, and size bets with humility.</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E8600A"/>
          </a:solidFill>
          <a:ln/>
        </p:spPr>
      </p:sp>
      <p:sp>
        <p:nvSpPr>
          <p:cNvPr id="3" name="Shape 1"/>
          <p:cNvSpPr/>
          <p:nvPr/>
        </p:nvSpPr>
        <p:spPr>
          <a:xfrm>
            <a:off x="0" y="4914900"/>
            <a:ext cx="9144000" cy="228600"/>
          </a:xfrm>
          <a:prstGeom prst="rect">
            <a:avLst/>
          </a:prstGeom>
          <a:solidFill>
            <a:srgbClr val="E8600A"/>
          </a:solidFill>
          <a:ln/>
        </p:spPr>
      </p:sp>
      <p:sp>
        <p:nvSpPr>
          <p:cNvPr id="4" name="Text 2"/>
          <p:cNvSpPr txBox="1"/>
          <p:nvPr/>
        </p:nvSpPr>
        <p:spPr>
          <a:xfrm>
            <a:off x="457200" y="228600"/>
            <a:ext cx="8229600" cy="384048"/>
          </a:xfrm>
          <a:prstGeom prst="rect">
            <a:avLst/>
          </a:prstGeom>
          <a:noFill/>
          <a:ln/>
        </p:spPr>
        <p:txBody>
          <a:bodyPr wrap="square" lIns="508" tIns="508" rIns="508" bIns="508" rtlCol="0" anchor="ctr">
            <a:normAutofit/>
            <a:spAutoFit/>
          </a:bodyPr>
          <a:lstStyle/>
          <a:p>
            <a:pPr algn="l" indent="0" marL="0">
              <a:buNone/>
            </a:pPr>
            <a:r>
              <a:rPr lang="en-US" sz="1100" b="1" spc="800" kern="0" dirty="0">
                <a:solidFill>
                  <a:srgbClr val="E8600A"/>
                </a:solidFill>
                <a:latin typeface="Trebuchet MS" pitchFamily="34" charset="0"/>
                <a:ea typeface="Trebuchet MS" pitchFamily="34" charset="-122"/>
                <a:cs typeface="Trebuchet MS" pitchFamily="34" charset="-120"/>
              </a:rPr>
              <a:t>KEY TAKEAWAYS</a:t>
            </a:r>
            <a:endParaRPr lang="en-US" sz="1100" dirty="0"/>
          </a:p>
        </p:txBody>
      </p:sp>
      <p:sp>
        <p:nvSpPr>
          <p:cNvPr id="5" name="Text 3"/>
          <p:cNvSpPr txBox="1"/>
          <p:nvPr/>
        </p:nvSpPr>
        <p:spPr>
          <a:xfrm>
            <a:off x="457200" y="640080"/>
            <a:ext cx="8229600" cy="475488"/>
          </a:xfrm>
          <a:prstGeom prst="rect">
            <a:avLst/>
          </a:prstGeom>
          <a:noFill/>
          <a:ln/>
        </p:spPr>
        <p:txBody>
          <a:bodyPr wrap="square" lIns="508" tIns="508" rIns="508" bIns="508" rtlCol="0" anchor="t">
            <a:normAutofit/>
            <a:spAutoFit/>
          </a:bodyPr>
          <a:lstStyle/>
          <a:p>
            <a:pPr algn="l" indent="0" marL="0">
              <a:buNone/>
            </a:pPr>
            <a:r>
              <a:rPr lang="en-US" sz="1700" b="1" dirty="0">
                <a:solidFill>
                  <a:srgbClr val="1B2A4A"/>
                </a:solidFill>
                <a:latin typeface="Trebuchet MS" pitchFamily="34" charset="0"/>
                <a:ea typeface="Trebuchet MS" pitchFamily="34" charset="-122"/>
                <a:cs typeface="Trebuchet MS" pitchFamily="34" charset="-120"/>
              </a:rPr>
              <a:t>Deck 4 — Microeconomics &amp; Business Cycles</a:t>
            </a:r>
            <a:endParaRPr lang="en-US" sz="1700" dirty="0"/>
          </a:p>
        </p:txBody>
      </p:sp>
      <p:sp>
        <p:nvSpPr>
          <p:cNvPr id="6" name="Shape 4"/>
          <p:cNvSpPr/>
          <p:nvPr/>
        </p:nvSpPr>
        <p:spPr>
          <a:xfrm>
            <a:off x="457200" y="1261872"/>
            <a:ext cx="4046220" cy="749808"/>
          </a:xfrm>
          <a:prstGeom prst="rect">
            <a:avLst/>
          </a:prstGeom>
          <a:solidFill>
            <a:srgbClr val="253A5E"/>
          </a:solidFill>
          <a:ln/>
        </p:spPr>
      </p:sp>
      <p:sp>
        <p:nvSpPr>
          <p:cNvPr id="7" name="Shape 5"/>
          <p:cNvSpPr/>
          <p:nvPr/>
        </p:nvSpPr>
        <p:spPr>
          <a:xfrm>
            <a:off x="621792" y="1389888"/>
            <a:ext cx="128016" cy="128016"/>
          </a:xfrm>
          <a:prstGeom prst="rect">
            <a:avLst/>
          </a:prstGeom>
          <a:solidFill>
            <a:srgbClr val="E8600A"/>
          </a:solidFill>
          <a:ln/>
        </p:spPr>
      </p:sp>
      <p:sp>
        <p:nvSpPr>
          <p:cNvPr id="8" name="Text 6"/>
          <p:cNvSpPr txBox="1"/>
          <p:nvPr/>
        </p:nvSpPr>
        <p:spPr>
          <a:xfrm>
            <a:off x="822960" y="1335024"/>
            <a:ext cx="3589020" cy="603504"/>
          </a:xfrm>
          <a:prstGeom prst="rect">
            <a:avLst/>
          </a:prstGeom>
          <a:noFill/>
          <a:ln/>
        </p:spPr>
        <p:txBody>
          <a:bodyPr wrap="square" lIns="508" tIns="508" rIns="508" bIns="508" rtlCol="0" anchor="t">
            <a:normAutofit/>
            <a:spAutoFit/>
          </a:bodyPr>
          <a:lstStyle/>
          <a:p>
            <a:pPr algn="l" indent="0" marL="0">
              <a:buNone/>
            </a:pPr>
            <a:r>
              <a:rPr lang="en-US" sz="1150" dirty="0">
                <a:solidFill>
                  <a:srgbClr val="FFFFFF"/>
                </a:solidFill>
                <a:latin typeface="Calibri" pitchFamily="34" charset="0"/>
                <a:ea typeface="Calibri" pitchFamily="34" charset="-122"/>
                <a:cs typeface="Calibri" pitchFamily="34" charset="-120"/>
              </a:rPr>
              <a:t>Own-price elasticity E_d = (%ΔQ)/(%ΔP); |E_d| &gt; 1 elastic, &lt; 1 inelastic. Cut price when elastic to raise revenue; raise price when inelastic.</a:t>
            </a:r>
            <a:endParaRPr lang="en-US" sz="1150" dirty="0"/>
          </a:p>
        </p:txBody>
      </p:sp>
      <p:sp>
        <p:nvSpPr>
          <p:cNvPr id="9" name="Shape 7"/>
          <p:cNvSpPr/>
          <p:nvPr/>
        </p:nvSpPr>
        <p:spPr>
          <a:xfrm>
            <a:off x="4640580" y="1261872"/>
            <a:ext cx="4046220" cy="749808"/>
          </a:xfrm>
          <a:prstGeom prst="rect">
            <a:avLst/>
          </a:prstGeom>
          <a:solidFill>
            <a:srgbClr val="253A5E"/>
          </a:solidFill>
          <a:ln/>
        </p:spPr>
      </p:sp>
      <p:sp>
        <p:nvSpPr>
          <p:cNvPr id="10" name="Shape 8"/>
          <p:cNvSpPr/>
          <p:nvPr/>
        </p:nvSpPr>
        <p:spPr>
          <a:xfrm>
            <a:off x="4805172" y="1389888"/>
            <a:ext cx="128016" cy="128016"/>
          </a:xfrm>
          <a:prstGeom prst="rect">
            <a:avLst/>
          </a:prstGeom>
          <a:solidFill>
            <a:srgbClr val="E8600A"/>
          </a:solidFill>
          <a:ln/>
        </p:spPr>
      </p:sp>
      <p:sp>
        <p:nvSpPr>
          <p:cNvPr id="11" name="Text 9"/>
          <p:cNvSpPr txBox="1"/>
          <p:nvPr/>
        </p:nvSpPr>
        <p:spPr>
          <a:xfrm>
            <a:off x="5006340" y="1335024"/>
            <a:ext cx="3589020" cy="603504"/>
          </a:xfrm>
          <a:prstGeom prst="rect">
            <a:avLst/>
          </a:prstGeom>
          <a:noFill/>
          <a:ln/>
        </p:spPr>
        <p:txBody>
          <a:bodyPr wrap="square" lIns="508" tIns="508" rIns="508" bIns="508" rtlCol="0" anchor="t">
            <a:normAutofit/>
            <a:spAutoFit/>
          </a:bodyPr>
          <a:lstStyle/>
          <a:p>
            <a:pPr algn="l" indent="0" marL="0">
              <a:buNone/>
            </a:pPr>
            <a:r>
              <a:rPr lang="en-US" sz="1150" dirty="0">
                <a:solidFill>
                  <a:srgbClr val="FFFFFF"/>
                </a:solidFill>
                <a:latin typeface="Calibri" pitchFamily="34" charset="0"/>
                <a:ea typeface="Calibri" pitchFamily="34" charset="-122"/>
                <a:cs typeface="Calibri" pitchFamily="34" charset="-120"/>
              </a:rPr>
              <a:t>Every market structure maximizes profit at MR = MC with MC rising. Under perfect competition P = MR; under imperfect competition MR &lt; P.</a:t>
            </a:r>
            <a:endParaRPr lang="en-US" sz="1150" dirty="0"/>
          </a:p>
        </p:txBody>
      </p:sp>
      <p:sp>
        <p:nvSpPr>
          <p:cNvPr id="12" name="Shape 10"/>
          <p:cNvSpPr/>
          <p:nvPr/>
        </p:nvSpPr>
        <p:spPr>
          <a:xfrm>
            <a:off x="457200" y="2084832"/>
            <a:ext cx="4046220" cy="749808"/>
          </a:xfrm>
          <a:prstGeom prst="rect">
            <a:avLst/>
          </a:prstGeom>
          <a:solidFill>
            <a:srgbClr val="253A5E"/>
          </a:solidFill>
          <a:ln/>
        </p:spPr>
      </p:sp>
      <p:sp>
        <p:nvSpPr>
          <p:cNvPr id="13" name="Shape 11"/>
          <p:cNvSpPr/>
          <p:nvPr/>
        </p:nvSpPr>
        <p:spPr>
          <a:xfrm>
            <a:off x="621792" y="2212848"/>
            <a:ext cx="128016" cy="128016"/>
          </a:xfrm>
          <a:prstGeom prst="rect">
            <a:avLst/>
          </a:prstGeom>
          <a:solidFill>
            <a:srgbClr val="E8600A"/>
          </a:solidFill>
          <a:ln/>
        </p:spPr>
      </p:sp>
      <p:sp>
        <p:nvSpPr>
          <p:cNvPr id="14" name="Text 12"/>
          <p:cNvSpPr txBox="1"/>
          <p:nvPr/>
        </p:nvSpPr>
        <p:spPr>
          <a:xfrm>
            <a:off x="822960" y="2157984"/>
            <a:ext cx="3589020" cy="603504"/>
          </a:xfrm>
          <a:prstGeom prst="rect">
            <a:avLst/>
          </a:prstGeom>
          <a:noFill/>
          <a:ln/>
        </p:spPr>
        <p:txBody>
          <a:bodyPr wrap="square" lIns="508" tIns="508" rIns="508" bIns="508" rtlCol="0" anchor="t">
            <a:normAutofit/>
            <a:spAutoFit/>
          </a:bodyPr>
          <a:lstStyle/>
          <a:p>
            <a:pPr algn="l" indent="0" marL="0">
              <a:buNone/>
            </a:pPr>
            <a:r>
              <a:rPr lang="en-US" sz="1150" dirty="0">
                <a:solidFill>
                  <a:srgbClr val="FFFFFF"/>
                </a:solidFill>
                <a:latin typeface="Calibri" pitchFamily="34" charset="0"/>
                <a:ea typeface="Calibri" pitchFamily="34" charset="-122"/>
                <a:cs typeface="Calibri" pitchFamily="34" charset="-120"/>
              </a:rPr>
              <a:t>Breakeven at P = min(ATC); short-run shutdown at P &lt; min(AVC); long-run exit when P &lt; min(ATC). Sunk fixed costs are irrelevant to the short-run choice.</a:t>
            </a:r>
            <a:endParaRPr lang="en-US" sz="1150" dirty="0"/>
          </a:p>
        </p:txBody>
      </p:sp>
      <p:sp>
        <p:nvSpPr>
          <p:cNvPr id="15" name="Shape 13"/>
          <p:cNvSpPr/>
          <p:nvPr/>
        </p:nvSpPr>
        <p:spPr>
          <a:xfrm>
            <a:off x="4640580" y="2084832"/>
            <a:ext cx="4046220" cy="749808"/>
          </a:xfrm>
          <a:prstGeom prst="rect">
            <a:avLst/>
          </a:prstGeom>
          <a:solidFill>
            <a:srgbClr val="253A5E"/>
          </a:solidFill>
          <a:ln/>
        </p:spPr>
      </p:sp>
      <p:sp>
        <p:nvSpPr>
          <p:cNvPr id="16" name="Shape 14"/>
          <p:cNvSpPr/>
          <p:nvPr/>
        </p:nvSpPr>
        <p:spPr>
          <a:xfrm>
            <a:off x="4805172" y="2212848"/>
            <a:ext cx="128016" cy="128016"/>
          </a:xfrm>
          <a:prstGeom prst="rect">
            <a:avLst/>
          </a:prstGeom>
          <a:solidFill>
            <a:srgbClr val="E8600A"/>
          </a:solidFill>
          <a:ln/>
        </p:spPr>
      </p:sp>
      <p:sp>
        <p:nvSpPr>
          <p:cNvPr id="17" name="Text 15"/>
          <p:cNvSpPr txBox="1"/>
          <p:nvPr/>
        </p:nvSpPr>
        <p:spPr>
          <a:xfrm>
            <a:off x="5006340" y="2157984"/>
            <a:ext cx="3589020" cy="603504"/>
          </a:xfrm>
          <a:prstGeom prst="rect">
            <a:avLst/>
          </a:prstGeom>
          <a:noFill/>
          <a:ln/>
        </p:spPr>
        <p:txBody>
          <a:bodyPr wrap="square" lIns="508" tIns="508" rIns="508" bIns="508" rtlCol="0" anchor="t">
            <a:normAutofit/>
            <a:spAutoFit/>
          </a:bodyPr>
          <a:lstStyle/>
          <a:p>
            <a:pPr algn="l" indent="0" marL="0">
              <a:buNone/>
            </a:pPr>
            <a:r>
              <a:rPr lang="en-US" sz="1150" dirty="0">
                <a:solidFill>
                  <a:srgbClr val="FFFFFF"/>
                </a:solidFill>
                <a:latin typeface="Calibri" pitchFamily="34" charset="0"/>
                <a:ea typeface="Calibri" pitchFamily="34" charset="-122"/>
                <a:cs typeface="Calibri" pitchFamily="34" charset="-120"/>
              </a:rPr>
              <a:t>Four structures — perfect, monopolistic, oligopoly, monopoly — differ on sellers, differentiation, barriers, pricing power. HHI detects concentration better than the concentration ratio.</a:t>
            </a:r>
            <a:endParaRPr lang="en-US" sz="1150" dirty="0"/>
          </a:p>
        </p:txBody>
      </p:sp>
      <p:sp>
        <p:nvSpPr>
          <p:cNvPr id="18" name="Shape 16"/>
          <p:cNvSpPr/>
          <p:nvPr/>
        </p:nvSpPr>
        <p:spPr>
          <a:xfrm>
            <a:off x="457200" y="2907792"/>
            <a:ext cx="4046220" cy="749808"/>
          </a:xfrm>
          <a:prstGeom prst="rect">
            <a:avLst/>
          </a:prstGeom>
          <a:solidFill>
            <a:srgbClr val="253A5E"/>
          </a:solidFill>
          <a:ln/>
        </p:spPr>
      </p:sp>
      <p:sp>
        <p:nvSpPr>
          <p:cNvPr id="19" name="Shape 17"/>
          <p:cNvSpPr/>
          <p:nvPr/>
        </p:nvSpPr>
        <p:spPr>
          <a:xfrm>
            <a:off x="621792" y="3035808"/>
            <a:ext cx="128016" cy="128016"/>
          </a:xfrm>
          <a:prstGeom prst="rect">
            <a:avLst/>
          </a:prstGeom>
          <a:solidFill>
            <a:srgbClr val="E8600A"/>
          </a:solidFill>
          <a:ln/>
        </p:spPr>
      </p:sp>
      <p:sp>
        <p:nvSpPr>
          <p:cNvPr id="20" name="Text 18"/>
          <p:cNvSpPr txBox="1"/>
          <p:nvPr/>
        </p:nvSpPr>
        <p:spPr>
          <a:xfrm>
            <a:off x="822960" y="2980944"/>
            <a:ext cx="3589020" cy="603504"/>
          </a:xfrm>
          <a:prstGeom prst="rect">
            <a:avLst/>
          </a:prstGeom>
          <a:noFill/>
          <a:ln/>
        </p:spPr>
        <p:txBody>
          <a:bodyPr wrap="square" lIns="508" tIns="508" rIns="508" bIns="508" rtlCol="0" anchor="t">
            <a:normAutofit/>
            <a:spAutoFit/>
          </a:bodyPr>
          <a:lstStyle/>
          <a:p>
            <a:pPr algn="l" indent="0" marL="0">
              <a:buNone/>
            </a:pPr>
            <a:r>
              <a:rPr lang="en-US" sz="1150" dirty="0">
                <a:solidFill>
                  <a:srgbClr val="FFFFFF"/>
                </a:solidFill>
                <a:latin typeface="Calibri" pitchFamily="34" charset="0"/>
                <a:ea typeface="Calibri" pitchFamily="34" charset="-122"/>
                <a:cs typeface="Calibri" pitchFamily="34" charset="-120"/>
              </a:rPr>
              <a:t>CFA Cournot duopoly (Q = 450 − P, MC = 30): P_competition = 30, P_Cournot = 170, P_monopoly = 240. Nash (ArcCo/BatCo) landed at Low/Low, foregoing 680 of joint profit.</a:t>
            </a:r>
            <a:endParaRPr lang="en-US" sz="1150" dirty="0"/>
          </a:p>
        </p:txBody>
      </p:sp>
      <p:sp>
        <p:nvSpPr>
          <p:cNvPr id="21" name="Shape 19"/>
          <p:cNvSpPr/>
          <p:nvPr/>
        </p:nvSpPr>
        <p:spPr>
          <a:xfrm>
            <a:off x="4640580" y="2907792"/>
            <a:ext cx="4046220" cy="749808"/>
          </a:xfrm>
          <a:prstGeom prst="rect">
            <a:avLst/>
          </a:prstGeom>
          <a:solidFill>
            <a:srgbClr val="253A5E"/>
          </a:solidFill>
          <a:ln/>
        </p:spPr>
      </p:sp>
      <p:sp>
        <p:nvSpPr>
          <p:cNvPr id="22" name="Shape 20"/>
          <p:cNvSpPr/>
          <p:nvPr/>
        </p:nvSpPr>
        <p:spPr>
          <a:xfrm>
            <a:off x="4805172" y="3035808"/>
            <a:ext cx="128016" cy="128016"/>
          </a:xfrm>
          <a:prstGeom prst="rect">
            <a:avLst/>
          </a:prstGeom>
          <a:solidFill>
            <a:srgbClr val="E8600A"/>
          </a:solidFill>
          <a:ln/>
        </p:spPr>
      </p:sp>
      <p:sp>
        <p:nvSpPr>
          <p:cNvPr id="23" name="Text 21"/>
          <p:cNvSpPr txBox="1"/>
          <p:nvPr/>
        </p:nvSpPr>
        <p:spPr>
          <a:xfrm>
            <a:off x="5006340" y="2980944"/>
            <a:ext cx="3589020" cy="603504"/>
          </a:xfrm>
          <a:prstGeom prst="rect">
            <a:avLst/>
          </a:prstGeom>
          <a:noFill/>
          <a:ln/>
        </p:spPr>
        <p:txBody>
          <a:bodyPr wrap="square" lIns="508" tIns="508" rIns="508" bIns="508" rtlCol="0" anchor="t">
            <a:normAutofit/>
            <a:spAutoFit/>
          </a:bodyPr>
          <a:lstStyle/>
          <a:p>
            <a:pPr algn="l" indent="0" marL="0">
              <a:buNone/>
            </a:pPr>
            <a:r>
              <a:rPr lang="en-US" sz="1150" dirty="0">
                <a:solidFill>
                  <a:srgbClr val="FFFFFF"/>
                </a:solidFill>
                <a:latin typeface="Calibri" pitchFamily="34" charset="0"/>
                <a:ea typeface="Calibri" pitchFamily="34" charset="-122"/>
                <a:cs typeface="Calibri" pitchFamily="34" charset="-120"/>
              </a:rPr>
              <a:t>Four business-cycle phases (recovery, expansion, slowdown, contraction) defined by the output gap. Credit cycles lead and amplify business cycles.</a:t>
            </a:r>
            <a:endParaRPr lang="en-US" sz="1150" dirty="0"/>
          </a:p>
        </p:txBody>
      </p:sp>
      <p:sp>
        <p:nvSpPr>
          <p:cNvPr id="24" name="Shape 22"/>
          <p:cNvSpPr/>
          <p:nvPr/>
        </p:nvSpPr>
        <p:spPr>
          <a:xfrm>
            <a:off x="457200" y="3730752"/>
            <a:ext cx="4046220" cy="749808"/>
          </a:xfrm>
          <a:prstGeom prst="rect">
            <a:avLst/>
          </a:prstGeom>
          <a:solidFill>
            <a:srgbClr val="253A5E"/>
          </a:solidFill>
          <a:ln/>
        </p:spPr>
      </p:sp>
      <p:sp>
        <p:nvSpPr>
          <p:cNvPr id="25" name="Shape 23"/>
          <p:cNvSpPr/>
          <p:nvPr/>
        </p:nvSpPr>
        <p:spPr>
          <a:xfrm>
            <a:off x="621792" y="3858768"/>
            <a:ext cx="128016" cy="128016"/>
          </a:xfrm>
          <a:prstGeom prst="rect">
            <a:avLst/>
          </a:prstGeom>
          <a:solidFill>
            <a:srgbClr val="E8600A"/>
          </a:solidFill>
          <a:ln/>
        </p:spPr>
      </p:sp>
      <p:sp>
        <p:nvSpPr>
          <p:cNvPr id="26" name="Text 24"/>
          <p:cNvSpPr txBox="1"/>
          <p:nvPr/>
        </p:nvSpPr>
        <p:spPr>
          <a:xfrm>
            <a:off x="822960" y="3803904"/>
            <a:ext cx="3589020" cy="603504"/>
          </a:xfrm>
          <a:prstGeom prst="rect">
            <a:avLst/>
          </a:prstGeom>
          <a:noFill/>
          <a:ln/>
        </p:spPr>
        <p:txBody>
          <a:bodyPr wrap="square" lIns="508" tIns="508" rIns="508" bIns="508" rtlCol="0" anchor="t">
            <a:normAutofit/>
            <a:spAutoFit/>
          </a:bodyPr>
          <a:lstStyle/>
          <a:p>
            <a:pPr algn="l" indent="0" marL="0">
              <a:buNone/>
            </a:pPr>
            <a:r>
              <a:rPr lang="en-US" sz="1150" dirty="0">
                <a:solidFill>
                  <a:srgbClr val="FFFFFF"/>
                </a:solidFill>
                <a:latin typeface="Calibri" pitchFamily="34" charset="0"/>
                <a:ea typeface="Calibri" pitchFamily="34" charset="-122"/>
                <a:cs typeface="Calibri" pitchFamily="34" charset="-120"/>
              </a:rPr>
              <a:t>Leading indicators predict, coincident ones describe, lagging ones confirm. Equity and yield-curve live in the LEI; unemployment and inventory-sales live in the lagging set.</a:t>
            </a:r>
            <a:endParaRPr lang="en-US" sz="1150" dirty="0"/>
          </a:p>
        </p:txBody>
      </p:sp>
      <p:sp>
        <p:nvSpPr>
          <p:cNvPr id="27" name="Shape 25"/>
          <p:cNvSpPr/>
          <p:nvPr/>
        </p:nvSpPr>
        <p:spPr>
          <a:xfrm>
            <a:off x="4640580" y="3730752"/>
            <a:ext cx="4046220" cy="749808"/>
          </a:xfrm>
          <a:prstGeom prst="rect">
            <a:avLst/>
          </a:prstGeom>
          <a:solidFill>
            <a:srgbClr val="253A5E"/>
          </a:solidFill>
          <a:ln/>
        </p:spPr>
      </p:sp>
      <p:sp>
        <p:nvSpPr>
          <p:cNvPr id="28" name="Shape 26"/>
          <p:cNvSpPr/>
          <p:nvPr/>
        </p:nvSpPr>
        <p:spPr>
          <a:xfrm>
            <a:off x="4805172" y="3858768"/>
            <a:ext cx="128016" cy="128016"/>
          </a:xfrm>
          <a:prstGeom prst="rect">
            <a:avLst/>
          </a:prstGeom>
          <a:solidFill>
            <a:srgbClr val="E8600A"/>
          </a:solidFill>
          <a:ln/>
        </p:spPr>
      </p:sp>
      <p:sp>
        <p:nvSpPr>
          <p:cNvPr id="29" name="Text 27"/>
          <p:cNvSpPr txBox="1"/>
          <p:nvPr/>
        </p:nvSpPr>
        <p:spPr>
          <a:xfrm>
            <a:off x="5006340" y="3803904"/>
            <a:ext cx="3589020" cy="603504"/>
          </a:xfrm>
          <a:prstGeom prst="rect">
            <a:avLst/>
          </a:prstGeom>
          <a:noFill/>
          <a:ln/>
        </p:spPr>
        <p:txBody>
          <a:bodyPr wrap="square" lIns="508" tIns="508" rIns="508" bIns="508" rtlCol="0" anchor="t">
            <a:normAutofit/>
            <a:spAutoFit/>
          </a:bodyPr>
          <a:lstStyle/>
          <a:p>
            <a:pPr algn="l" indent="0" marL="0">
              <a:buNone/>
            </a:pPr>
            <a:r>
              <a:rPr lang="en-US" sz="1150" dirty="0">
                <a:solidFill>
                  <a:srgbClr val="FFFFFF"/>
                </a:solidFill>
                <a:latin typeface="Calibri" pitchFamily="34" charset="0"/>
                <a:ea typeface="Calibri" pitchFamily="34" charset="-122"/>
                <a:cs typeface="Calibri" pitchFamily="34" charset="-120"/>
              </a:rPr>
              <a:t>Phillips (short-run π = E[π] − β(U − U*)) combined with Okun (output gap ≈ −2 × U-gap) maps an unemployment forecast to an inflation forecast — core input for any rate call.</a:t>
            </a:r>
            <a:endParaRPr lang="en-US" sz="1150" dirty="0"/>
          </a:p>
        </p:txBody>
      </p:sp>
      <p:sp>
        <p:nvSpPr>
          <p:cNvPr id="30" name="Text 28"/>
          <p:cNvSpPr txBox="1"/>
          <p:nvPr/>
        </p:nvSpPr>
        <p:spPr>
          <a:xfrm>
            <a:off x="457200" y="4617720"/>
            <a:ext cx="8229600" cy="256032"/>
          </a:xfrm>
          <a:prstGeom prst="rect">
            <a:avLst/>
          </a:prstGeom>
          <a:noFill/>
          <a:ln/>
        </p:spPr>
        <p:txBody>
          <a:bodyPr wrap="square" lIns="508" tIns="508" rIns="508" bIns="508" rtlCol="0" anchor="ctr">
            <a:normAutofit/>
            <a:spAutoFit/>
          </a:bodyPr>
          <a:lstStyle/>
          <a:p>
            <a:pPr algn="l" indent="0" marL="0">
              <a:buNone/>
            </a:pPr>
            <a:r>
              <a:rPr lang="en-US" sz="800" dirty="0">
                <a:solidFill>
                  <a:srgbClr val="6B7A8D"/>
                </a:solidFill>
                <a:latin typeface="Calibri" pitchFamily="34" charset="0"/>
                <a:ea typeface="Calibri" pitchFamily="34" charset="-122"/>
                <a:cs typeface="Calibri" pitchFamily="34" charset="-120"/>
              </a:rPr>
              <a:t>STUDIO TONTON GUG  ·  Finance Fundamentals</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Studio Tonton Gug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FF v2 · Deck 4 · Microeconomics &amp; Business Cycles</dc:title>
  <dc:subject>PptxGenJS Presentation</dc:subject>
  <dc:creator>Studio Tonton Gug</dc:creator>
  <cp:lastModifiedBy>Studio Tonton Gug</cp:lastModifiedBy>
  <cp:revision>1</cp:revision>
  <dcterms:created xsi:type="dcterms:W3CDTF">2026-04-23T09:30:41Z</dcterms:created>
  <dcterms:modified xsi:type="dcterms:W3CDTF">2026-04-23T09:30:41Z</dcterms:modified>
</cp:coreProperties>
</file>