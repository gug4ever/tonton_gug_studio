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halves, one question: what determines the price a firm can charge, and what determines whether anyone is buying.
•  Two hours. Six sections. Half micro (the firm), half macro (the cycle).
•  Flag up front: only 5 numbers matter today — they all come from the CFA text.
•  Tell them the deal: I will not read slides; interrupt me.
•  Energy: this is the deck students think is "easy theory". It is the one that shows up in every interview.
NEXT — Roadmap first — then we start where every microeconomics course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Sections 1–3 build the firm from the inside. Sections 4–6 put that firm inside an economy that moves.
•  Timing: ~20 min per section, break after §3.
•  Flag that §5 (unemployment / inflation) is background, not in the 2025 LM 1–2 body — say so honestly.
•  Point at §3 — that is the exam-heavy block and the longest.
•  Point at §6 — that is the one they will actually use on a desk.
NEXT — Objectives — what you should be able to DO, not what you should have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 objective is a verb. If they can only recite definitions at the end, we failed.
•  Read #2 aloud — MR = MC is the single rule the whole micro half hangs on.
•  #3: five determinants, not four — sellers, differentiation, pricing power, barriers, non-price competition.
•  #5 is the only one where I will say "illustrative" — flag it now so nobody quotes it as CFA.
•  Keep this slide to 60 seconds. Nobody remembers objectives; they remember the worked examples.
NEXT — Section 1 — the two curves everything else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Fast section — 15 minutes. This is assumed knowledge that the CFA text does not re-teach, but every later slide leans on it.
•  Say it out loud: LM 1 names the three elasticities in its overview and then assumes you know them.
•  Do not linger on curves — linger on the revenue rule.
•  Target: they leave with one reflex — "elastic ⇒ cut price, inelastic ⇒ raise price".
NEXT — Why does demand slope down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Ninety seconds of housekeeping. The only thing that must land is shift versus movement.
•  Draw the cross on the whiteboard, do not describe it.
•  Demand down: substitution effect + income effect. Two words, do not over-explain.
•  Supply up: rising MC. Plant this — MC is the character that runs the whole micro half.
•  Shift vs movement: price moves you ALONG; anything else moves the CURVE.
•  Equilibrium = no surplus, no shortage. Everything after this is "what if one seller can move the price".
ASK THE ROOM — Oil price doubles. Airline ticket demand: movement or shift?
NEXT — Direction is easy. The money question is magnitude — that is elasticity.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number tells a management team whether a price cut is a growth strategy or an act of self-harm.
•  Put the 10→9 / 100→120 trade on the board and make them compute BEFORE revealing −2.
•  Insist on the ratio-of-percentages definition. Slope ≠ elasticity — that is the classic trap.
•  Land the MR chain: TR rises while MR &gt; 0 (elastic), peaks at MR = 0, falls when MR &lt; 0 (inelastic). Straight from the CFA text.
•  Corollary worth saying twice: a profit-maximising firm never operates on the inelastic part of its demand curve.
•  Run the counterfactual on the slide — |E_d| = 0.5 turns the same cut into a loss.
FROM THE DESK — In a rating or credit committee, "pricing power" is really a claim about elasticity. An issuer that passed through 8% price increases through 2022 without volume loss is telling you |E_d| &lt; 1 — and that is worth more to the leverage forecast than any margin bridge in the model.
ASK THE ROOM — Your client wants a 10% price cut to "win share". What is the one number you ask for before answering?
NEXT — Own price is one axis. Rivals' prices and customer income are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elasticities, three different questions: how do I respond to me, to my rival, to my customer getting richer.
•  Signs first, formulas second. Own-price negative, substitutes positive, complements negative.
•  Income elasticity: normal &gt; 0, luxury &gt; 1, inferior &lt; 0. Luxury is a SUBSET of normal — say that explicitly.
•  Best test question: "is this good a substitute or a complement?" is answered by a SIGN, not an opinion.
•  Structural-shift point: watch for a cross-elasticity that changes sign. That is a category being redrawn.
FROM THE DESK — Cross-elasticity is how a competition authority defines "the relevant market", and the relevant market decides whether a deal clears. Get that boundary wrong in a pitch and your HHI, your synergy case and your remedy discussion are all wrong together.
NEXT — That is demand. Now cross the table and look at the seller's cost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section that pays for the whole deck: one decision rule, three thresholds, one cost curve.
•  ~25 minutes. Two CFA worked examples live here.
•  Warn them: "profit" is about to mean something different from what their accounting course said.
•  Everything in §3 is this section applied four times.
NEXT — Start with the word that gets misused most: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Zero economic profit is not failure — it is the competitive equilibrium. Students find that counter-intuitive and it is the whole point.
•  Definition first: economic cost = accounting cost + implicit opportunity cost.
•  Run the consultancy numbers live: +120k accounting, −30k economic. Let it sting.
•  Normal profit = zero economic profit = the return an equally risky alternative pays.
•  Bridge to finance: economic profit is EVA / residual income wearing an economics hat.
•  Key inference: sustained positive economic profit ⇒ something is blocking entry. Name the barrier or do not believe the forecast.
FROM THE DESK — This is exactly the WACC conversation. A business earning 9% ROIC on an 11% cost of capital reports profit and prints a positive EPS while shrinking equity value — which is why LBO sponsors and rating analysts look at returns above cost of capital rather than at margin.
ASK THE ROOM — Your company earned 4% ROIC last year. Was it profitable?
NEXT — If profit is the objective, what quantity maximises it? One rule, four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rule to memorise for the whole of §3. Everything else is which demand curve you plug into it.
•  State the rule, then the second-order condition — MC must not be falling. Half the exam trick questions live there.
•  Perfect competition: MR = P. Imperfect: MR &lt; P. Say WHY — you must cut price on every unit, not just the marginal one.
•  Walk the WR International table: 40 breakeven, 80 upper breakeven, 60 optimum, profit 30,000.
•  Do the MR/MC check on the slide out loud — 7,250 &gt; 6,000, then 6,750 &lt; 7,000. That is the crossing.
•  Footnote is a favourite exam trap: MR = MC ≠ minimum ATC.
FROM THE DESK — Every "should we take this incremental order at a discount" argument in a live process is an MR = MC argument in disguise. The discipline that separates good operators from bad is refusing to price off average cost when the decision is marginal.
NEXT — MR = MC tells you the best quantity. It does not tell you whether to be in business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thresholds, one question each: am I making money, am I losing less by operating, am I still here next year.
•  Anchor the two named points: min ATC = breakeven, min AVC = shutdown.
•  Sunk fixed cost is IRRELEVANT to the short-run call. Say it, then say it again.
•  Walk the London example in the callout — 500k loss operating vs 1m loss shutting = keep operating.
•  Then flip it: revenue 1.3m ⇒ loss 1.2m &gt; TFC 1m ⇒ shut down, save 200k.
•  Long-run column is brutally simple: cover ATC or leave.
FROM THE DESK — This is the entire logic of an amend-and-extend. A borrower generating positive contribution margin but not covering fixed charges is worth more alive than liquidated — which is why lenders waive rather than accelerate. When revenue stops covering cash variable cost, the same lenders stop waiving.
ASK THE ROOM — A refinery is losing money every month. Do you shut it? What is the one number you need?
NEXT — Those are short-run thresholds at a given plant size. Now let the firm choose its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Scale is not automatically good. The LRAC curve has a bottom, and past it more volume destroys value.
•  Define LRAC as the ENVELOPE of short-run ATC curves — one per plant size.
•  Economies list: increasing returns, specialisation, better equipment, bulk buying, less waste.
•  Diseconomies list: decreasing returns, unmanageable size, duplicated functions, bidding up input prices.
•  GM is the CFA's own example — brand overlap, coordination failure, labour cost. Saturn/Pontiac/Hummer killed in 2009, Opel sold 2017.
•  MES: below it, grow. Above it, shrink. Exam answers both ways.
FROM THE DESK — Synergy cases in merger models are always built on the left half of this curve and almost never test the right half. Ask any integration lead about the first year after a large cross-border deal and you will hear the diseconomies list read back to you verbatim.
NEXT — Costs are internal. Now add the competitors — four ways a market can be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longest and most examinable section. Same rule (MR = MC) applied to four different demand curves.
•  ~40 minutes, eight slides, three worked examples.
•  Spine: grid → perfect → monopolistic → oligopoly (kinked, Cournot, Nash) → monopoly → measurement.
•  The Cournot / monopoly / competition numbers all come from ONE demand curve. Keep it on the board.
•  Break after this section.
NEXT — One grid first, so everything after has a place to hang.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If they photograph one slide today, it is this one. Five determinants, four structures, one grid.
•  Read the columns as questions, not labels: how many? how different? how hard to enter? how much price control? how do they compete without price?
•  Non-price competition is the column that used to be missing everywhere — it is one of the CFA's five determinants.
•  Footnote 1: oligopoly products can be branded (cereal) or unbranded (cement). Exhibit 13 files them as homogeneous.
•  Footnote 2 is the exam answer: long-run economic profit = 0 on the left, &gt; 0 possible on the right. Barriers are the reason.
•  Nuance worth 30 seconds: perfect competition is not automatically best — clinical trials would bankrupt a perfectly competitive pharma.
FROM THE DESK — A credit committee reads this grid without knowing it. Structure sets the through-cycle margin floor an issuer can defend, which sets how much leverage the rating will tolerate. Two issuers at 4.0x net leverage get different ratings when one sits in a four-player oligopoly with regulated entry and the other in a fragmented commodity market.
NEXT — Start on the left edge — the benchmark case where no one has any power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Perfect competition is not a fantasy — it is the pressure most businesses actually live under, and the yardstick for everything else.
•  Horizontal demand curve for the FIRM, downward-sloping for the MARKET. Draw both; this confuses everyone once.
•  P = AR = MR is the whole difference from the other three structures.
•  Long-run chain: profit → entry → price falls → P = min ATC → zero economic profit.
•  Footnote is a favourite CFA question: only here does a supply function exist (= the MC schedule).
•  CFA is explicit that this is real, not an idealisation — use the hog farmer / milk producer line.
NEXT — Now let sellers make their product look different. Same many-sellers world, very different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structure almost every company they will ever cover actually operates in.
•  Two facts fight each other: downward-sloping demand (pricing power) + free entry (no long-run profit).
•  Long-run picture: demand curve slides down until TANGENT to ATC. P = ATC, π = 0.
•  Excess capacity: equilibrium output Q₁ is BELOW the minimum-ATC output Q₂. That is the price of variety.
•  Advertising is a real economic cost here and zero under perfect competition — that is part of why ATC is higher.
•  Names to drop, both CFA's own: Coca-Cola and Harley-Davidson.
FROM THE DESK — Brand is the only moat on this slide that a rating agency will actually give you credit for, and only when it shows up as pricing power through a downturn. "Strong brand" in a management presentation with flat realised prices is not a moat; it is a marketing budget.
ASK THE ROOM — Zero long-run economic profit — so why does anyone bother differentiating?
NEXT — Cut the number of sellers to a handful and behaviour changes completely: now they watch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strategies, and the first one is the answer to the exam question "oligopoly pricing produces a demand curve that is ___".
•  Name all three before explaining any: interdependence (kinked), Cournot, Nash. Map of the next three slides.
•  The asymmetry is the whole idea: rivals match cuts, ignore rises.
•  So demand is elastic above the prevailing price, inelastic below. Draw the kink.
•  Kinked demand ⇒ MR has a vertical GAP. Any MC passing through the gap leaves P and Q unchanged.
•  That is the payoff: it explains observed price stickiness in concentrated industries.
•  Then the honest criticism — it cannot tell you what set the prevailing price. Incomplete, not wrong.
FROM THE DESK — This is the everyday reality of concentrated markets: list prices barely move while input costs swing, because nobody wants to be the one who starts the war. The adjustment happens in discounts, rebates and terms instead — which is why realised price, not list price, is the number worth modelling.
ASK THE ROOM — Your costs just rose 8%. Two rivals. Do you raise price?
NEXT — Strategy 2 — and this one gives us actual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demand curve, three market structures, three prices. This is the slide that makes market structure quantitative.
•  Write Q_D = 450 − P and MC = 30 on the board and leave it there — the Cournot and monopoly slides both use it.
•  Derive MR₁ = 450 − 2q₁ − q₂ slowly. The "2" appears because firm 1's own output moves the price.
•  Symmetry shortcut: q₁ = q₂ ⇒ 450 − 3q = 30 ⇒ q = 140 each, Q = 280, P = 170.
•  Three prices on one line: 30 / 170 / 240. Competition, duopoly, monopoly.
•  Footnote 1 is the punchline: more firms ⇒ Cournot slides toward 30. That IS the antitrust argument.
FROM THE DESK — This is why a merger from four players to three moves pricing more than anyone models. The intuition antitrust regulators are working from is exactly this curve — each firm removed pushes the equilibrium up the ladder toward the monopoly price.
NEXT — Cournot assumes rivals hold output fixed. Nash asks the harder question: what if they are reacting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Nash is not "both players do the bad thing". It is "neither player can improve alone" — and here that means asymmetric strategies.
•  Make them solve it, do not narrate it. Column by column: BatCo first, then ArcCo.
•  BatCo's dominant strategy is LOW (70 &gt; 0 and 350 &gt; 300). ArcCo's is HIGH (300 &gt; 50 and 500 &gt; 80).
•  Nash = (High, Low) = 650. Explicitly correct the instinct that Nash must be the worst cell.
•  Cooperative = (High, High) = 800. The gap is 150, not the whole matrix.
•  The 51: BatCo gives up 350 to take 300, so it needs 51 to prefer cooperating. That number is in the CFA text.
•  Then read the footnote — six conditions that make collusion stick. OPEC scores well on cost similarity.
FROM THE DESK — Explicit collusion is illegal; the interesting version is tacit. Watch capacity announcements and published price lists in concentrated industries — firms signal to each other in public because they cannot talk in private. Regulators read the same signals.
ASK THE ROOM — Nobody chose the joint-best cell. What exactly is stopping them?
NEXT — Take the rival away entirely and you get the other end of the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demand curve as the Cournot slide. Only the number of decision-makers changed, and the price nearly went up eightfold.
•  Derive MR = 450 − 2Q on the board. Make the point: MR falls twice as fast as demand.
•  Q = 210, P = 240. Then put the three-row table up: 420/30, 280/170, 210/240.
•  Say the comparison in CFA language: monopolists sell a smaller quantity at a higher price.
•  Deadweight loss = the trades that would have happened between Q = 210 and Q = 420 and did not.
•  Callout: you will meet dominant firms (~40% share, price leaders) far more often than true monopolists.
•  Price discrimination is flagged as beyond LM 1 — say so, then use it anyway.
FROM THE DESK — From an equity holder's seat, the monopolist is the attractive one — large margins and substantial positive cash flow, in the CFA's own words. From a credit seat, regulated monopolies are the best borrowers on the board: near-zero volume risk and a regulator setting an allowed return. Same structure, two very different reasons to like it.
NEXT — Four structures identified qualitatively. Now measure concentration with numbers a regulator would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numbers, one of which is nearly useless for the question people actually ask it: does this merger change anything?
•  CR is a sum, HHI is a sum of squares. That single difference is the whole slide.
•  Make them compute HHI₃ = 0.225 before you show it.
•  Then the merger: CR 80 → 90 (shrug). HHI 0.225 → 0.410 (+82%). That is the point.
•  Sanity check to teach: M equal firms ⇒ HHI = 1/M. HHI 0.20 "feels like" five equal players.
•  Footnote 1 is the CFA exam answer on limitations — no barriers to entry, no elasticity.
•  Footnote 2: 2023 US guidelines are tougher than the 2010 ones people still quote. 1,800 and +100.
FROM THE DESK — On any concentrated-sector M&amp;A pitch, the HHI delta is computed before the synergy case, because the antitrust answer sets whether there is a deal to model. Divestment remedies are usually priced into the plan from day one, not bolted on after a Phase 2.
ASK THE ROOM — Two firms in a fragmented market merge and CR₄ barely moves. Is the regulator relaxed?
NEXT — That closes the firm. Now zoom out — the same firm inside an economy that will not sit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Switch of gear: from one firm optimising to an entire economy oscillating around its potential path.
•  ~20 minutes. Four slides. Back from the break — restart the energy.
•  One line to open with: Burns &amp; Mitchell 1946 — cycles are recurrent, NOT periodic.
•  Everything here is about naming where we are, and how confident you are allowed to be about it.
NEXT — Four phases, defined by one variable: the output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phases, and the only thing you need to place yourself in one is the sign and direction of the output gap.
•  Draw the wave around trend once. Mark peak and trough, then name the four quarters of it.
•  Employment column is the memorable one: overtime moves before headcount, in both directions.
•  Inflation lags: still accelerating in slowdown, still decelerating into contraction. That is the CFA answer.
•  Peak of the cycle = accelerating inflation + peak capex. Trough = lean production, highest productivity.
•  Callout: two-negative-quarters is a rule of thumb, not a definition. NBER dates late and on purpose.
FROM THE DESK — The reason NBER dating is late matters commercially: financing windows open and close on expectations, not on confirmed data. By the time a recession is officially dated, high-yield spreads have already retraced most of the move.
ASK THE ROOM — GDP falls, then rises 0.1%, then falls again. Recession or not?
NEXT — Careful though — "the cycle" means three different things depending on who is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definitions, three different turning-point dates for the same economy. Most macro arguments in a meeting are people using different ones.
•  Classical = level. Growth = deviation from trend. Growth-rate = rate of change.
•  Timing order is examinable: growth-rate turns first, then growth cycle, then classical.
•  Two reasons classical is out of favour: no trend/cycle split, and absolute declines are rare.
•  The Conference Board LEI is built on the CLASSICAL concept; the OECD CLI on the growth cycle. Worth naming.
•  Land it: state which cycle you mean before you argue about whether we are past the peak.
NEXT — One cycle amplifies all the others and turns before them —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credit cycle is not a footnote to the business cycle — it is longer, deeper, and it turns first.
•  Definition in one line: the changing availability AND pricing of credit.
•  BIS proxy trio: real credit, credit-to-GDP, real house prices. Say all three.
•  Amplification loop out loud: collateral up → credit up → asset prices up → repeat, then reverse.
•  Both directions: credit busts deepen recessions; credit booms strengthen recoveries. Do not teach only the downside.
•  Run the four crises fast — they are all the same story with different currencies.
•  Policy consequence: macroprudential tools exist to dampen THIS cycle, not the business cycle.
FROM THE DESK — Credit position is the single best predictor of whether a financing window is open. When lending standards tighten, primary issuance dries up for exactly the borrowers who most need it — the ones that would still be investment grade on trailing numbers. Cycle position is why deals get pulled, not credit quality.
NEXT — So how do you tell where you are, in real time, before the data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buckets, three tenses. Future, present, past. Most bad macro calls are someone reading a lagging indicator as if it were leading.
•  Give the tense trick: leading = will, coincident = is, lagging = was.
•  Force the surprising ones: the unemployment RATE is lagging; inflation is lagging; the prime rate is lagging.
•  Leading list to memorise if nothing else: weekly hours, jobless claims, new orders, building permits, equities, yield spread.
•  Method: anchor with coincident, extrapolate with leading, confirm with lagging. Exhibit 12 does exactly that in three steps.
•  Diffusion index = breadth. 8 of 10 rising beats 2 outliers dragging the index up.
•  Name nowcasting in one line — it is what the desk actually watches now.
FROM THE DESK — Everyone quotes the LEI level; the useful information is in the breadth and in which components are driving it. An LEI held up by the equity component alone is a market signal, not an economic one — and that distinction is the difference between calling a slowdown and calling a drawdown.
ASK THE ROOM — Unemployment just fell. Is the recovery underway, or already half over?
NEXT — Two of those indicators — unemployment and inflation — deserve their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Honesty slide: the 2025 LM 1–2 body does not develop this material. It is standard Level I background and it is assumed everywhere else.
•  Say the caveat out loud once, here, and then teach it properly.
•  ~20 minutes, five slides, ending in one combined worked example.
•  This is the section that turns "the economy is weak" into an interest-rate view.
NEXT — Start with the number everyone quotes and few define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unemployment rate is a ratio, and both halves of it move. Students only ever watch the numerator.
•  Definition discipline: "actively seeking" is doing all the work in that sentence.
•  Three components + NAIRU. Only cyclical is a policy problem; frictional and structural are structural furniture.
•  Why it lags: search and training costs are real, so firms delay hiring AND firing.
•  The trap, both directions — U can fall in a downturn (discouraged workers exit) and rise in a recovery (job seekers return).
•  So: never quote U without LFPR next to it.
FROM THE DESK — For a covenant forecast, the labour line that matters is not the national rate but sector wage inflation and turnover in the specific skill base — that is what actually shows up in an issuer's margin bridge. National U is context, not an input.
NEXT — Same discipline needed on the other side of the mandate: which inflation number are you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measures of the same word. Which one you quote decides whether you sound informed or careless.
•  CPI = what households buy. PPI = what producers charge. Deflator = what the country produces.
•  Weights matter: CPI is fixed-basket (Laspeyres), deflator is current-period (Paasche). Substitution bias lives in that gap.
•  The deflator excludes imports and includes everything domestic — that is a real divergence, not noise.
•  Core = ex food and energy. Not because they do not matter, but because policy cannot move them.
•  Fed watches core PCE, chained weights, target around 2%.
FROM THE DESK — Which index a contract is indexed to is a negotiated term with real value — inflation-linked bonds, long-dated supply agreements, regulated tariff resets. The difference between headline and core over a decade is not a rounding error, and the party that picked the index usually knew that.
ASK THE ROOM — Petrol is up 30%. Should the central bank hike?
NEXT — Now link the two: unemployment on one axis, inflation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trade-off is real but temporary, and the reason it disappears is expectations — not economics being unfair.
•  Write the equation and interrogate the sign: U above NAIRU ⇒ π below expected. Check it with them.
•  Short run: one curve, fixed E[π], genuine trade-off.
•  Long run: E[π] catches up, the curve shifts up, U returns to NAIRU. Repeat ⇒ vertical line.
•  Consequence worth stating: permanently lower unemployment cannot be bought with inflation.
•  Anchored expectations = the curve stops shifting. That is why credibility is treated as an asset.
NEXT — Phillips connects U to inflation. Okun connects U to output. Together they are a forecasting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coefficient, and it converts between the two numbers every macro conversation actually uses.
•  Say what α means physically: labour is not the only input, so output moves more than employment does.
•  Do the arithmetic live — +2 pp U-gap ⇒ −4% output gap. It is one multiplication; make them do it.
•  Run it in reverse too. Forecasters use it both ways.
•  Footnote: Japan's coefficient is far higher because employment is sticky by design — the shock lands on hours and output.
•  Health warning: rule of thumb. Not a structural model.
FROM THE DESK — Okun is what turns a "mild recession" headline into a number you can put through a revenue model. A −4% output gap is not an abstraction — for a cyclical industrial it is roughly a full turn of leverage once operating gearing does its work.
NEXT — Chain them together and you have a rate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steps from a labour-market number to a policy view. Then immediately show them where it fails.
•  Do the four steps on the board, not on the slide. Ask for each number before revealing it.
•  +2 pp gap → −4% output → π 2% falls to 1% → case for easing. Clean chain.
•  Stress the assumption that does the work: β = 0.5 is a choice, not a fact.
•  Then the callout: β has flattened; supply shocks break the sign relationship entirely.
•  Point to 2021–2023 — inflation and unemployment both misbehaved together. Honest models say when they fail.
FROM THE DESK — Two banks with the same GDP forecast and different Phillips slopes will publish opposite rate calls. If you ever have to reconcile two research pieces, find the β before you argue about the conclusion.
ASK THE ROOM — Inflation up AND unemployment up. Which part of this model just broke?
NEXT — Last section — what any of this actually does to a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payoff section. Everything so far was diagnosis; this is what you do about it.
•  ~15 minutes, three slides then takeaways. Keep the pace up — this is the part they remember.
•  Theme: markets move BEFORE the data, so a strategy built on confirmed data is always late.
•  End on humility: playbooks are priors, not forecasts.
NEXT — Start with the fact that undermines every data-driven strategy: prices move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If you wait for the data, you are trading against people who already priced it three to six months ago.
•  Give the CFA number precisely: equity TROUGH leads the economic trough by 3–6 months.
•  Explain the mechanism, do not just assert the lead — equities discount cash flows, credit discounts defaults.
•  Yield curve: the LEI uses 10y minus FED FUNDS, not 10y–2y. Small point, examinable.
•  Inversion = market expects cuts = market expects weakness. Long, variable lead. Not a trade signal.
•  Leading Credit Index is in the LEI for a structural reason: a fragile system amplifies shocks.
FROM THE DESK — Look at issuance calendars rather than spread levels. Borrowers and their banks feel the window closing weeks before the index prints it, and the pipeline thins first. That is a genuine real-time leading indicator that never shows up in the LEI.
NEXT — Financial markets lead. Two real-economy flows amplify — inventories and capex.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small line items that decide how big the cycle gets — and one ratio that most people read backwards.
•  Fix the inventory ratio sequence: falls, stable, RISES, falls back. The rise is a SLOWDOWN signal, not a contraction one.
•  Explain the mechanics — the ratio rises when sales decelerate before production does. That is a peak tell.
•  Capex sequence: efficiency kit in recovery, capacity in expansion, still ordering in slowdown, halted in contraction.
•  Counter-intuitive point worth landing: firms are STILL placing capacity orders at the top. That is the late-cycle signal.
•  Cancellation asymmetry: light and tech orders die first, construction dies last. Lead times, not conviction.
•  The CFA's own late-cycle example: fibre-optic overinvestment into the TMT bubble.
FROM THE DESK — Capital-goods order books are one of the most honest datasets in the market — they are contracted, dated and hard to spin. When a capital-goods issuer's book-to-bill rolls over while management guidance holds, believe the book.
ASK THE ROOM — Inventory-to-sales just jumped. Which phase are we in?
NEXT — Put the phases and the flows together and you get the rotation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slide everyone screenshots and the one most likely to lose them money if they take it literally.
•  Separate the two layers explicitly: the CFA gives risk-on-early / defensive-late; the sector grid is convention.
•  The structural logic is real — early cycle rewards operating and financial leverage, late cycle rewards cash-flow stability.
•  Fixed income column is the cleanest signal: HY early, IG mid, duration late, governments in contraction.
•  Then break it deliberately: tech led both the late-90s expansion and the 2020–21 recovery.
•  The hard truth: you only know the phase with a lag, so the playbook is a prior, never a trigger.
FROM THE DESK — The version of this that a credit committee actually uses is simpler and more useful: cyclical issuers should be financed at the START of a cycle, not the middle. A 2019-vintage capital structure and a 2021-vintage one on the same asset produce completely different outcomes, and neither reflects the quality of the business.
NEXT — Eight things to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three things that survive the exam: MR = MC, the market-structure grid, and the output gap.
•  Do not read all eight. Pick three and say why they matter.
•  Correct the classic misconception one last time: Nash is NOT automatically the mutually worst cell.
•  Repeat the HHI number — 0.225 to 0.410 on a merger CR barely notices.
•  Repeat the inventory sequence — the RISE is the slowdown tell.
•  Point forward: Deck 05 takes the policy side — fiscal, monetary, FX.
•  Leave 5 minutes for questions. The Nash matrix and the inventory ratio are the two people come back to.
ASK THE ROOM — One thing from today you would actually use in an interview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04  ·  WEEK 2  ·  MORNING 2</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Microeconomics</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&amp; Business Cycles</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How firms set price and output, and how the economy cycles around its potential path</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2 Learning Modules 1–2</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Microeconomics &amp; Business Cycles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Demand, supply, elasticity</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Law of demand · own-price / cross-price / income elasticity · revenue reaction</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Firm costs &amp; profit maximization</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Economic vs accounting profit · MR = MC · breakeven / shutdown · economies of scale</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Four market structures</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Perfect / monopolistic / oligopoly / monopoly · kinked demand · Cournot · Nash · HHI</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Business cycle phases &amp; indicators</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Four phases · classical vs growth · credit cycles · LEI / coincident / lagging</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Unemployment &amp; inflation</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Labor-force measures · CPI · core · PPI · GDP deflator · Phillips curve · Okun's law</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Investment-relevant cycle dynamics</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Leading markets · inventory and capex cycles · sector rotation playbook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Compute and interpret own-price elasticity of demand, and predict how total revenue will move when a firm changes price given the elasticity regime.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Apply the MR = MC profit-maximization rule to any market structure, and distinguish the breakeven, shutdown, and long-run-exit thresholds.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Identify which of the four market structures a firm operates in using the five determinants, and compute CR_N and HHI.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Describe the four business-cycle phases and translate inventory, capex, employment, and credit indicators into a phase call.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Link unemployment and inflation through the short-run Phillips curve and Okun's law, and translate an unemployment forecast into an inflation forecast.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Demand, supply,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elasticity</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4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Demand slopes down and supply slopes up because buyers face diminishing marginal utility while sellers face rising marginal cost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Prerequisite microeconomics. CFA Institute, Curriculum Vol 2, Learning Module 1 assumes this framework (Introduction, pp. 3–4).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Market equilibrium is the (P*, Q*) pair at which the quantity buyers demand equals the quantity sellers supply — the starting point for every market structure that follows.</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At equilibrium:  Q_D(P*) = Q_S(P*)  →  no surplus, no shortage</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Shifts in either curve move P* and Q* in predictable directions; elasticity determines which of the two moves more.</a:t>
            </a:r>
            <a:endParaRPr lang="en-US" sz="1100" dirty="0"/>
          </a:p>
        </p:txBody>
      </p:sp>
      <p:sp>
        <p:nvSpPr>
          <p:cNvPr id="12" name="Shape 10"/>
          <p:cNvSpPr/>
          <p:nvPr/>
        </p:nvSpPr>
        <p:spPr>
          <a:xfrm>
            <a:off x="320040" y="2331720"/>
            <a:ext cx="2743200" cy="1920240"/>
          </a:xfrm>
          <a:prstGeom prst="rect">
            <a:avLst/>
          </a:prstGeom>
          <a:solidFill>
            <a:srgbClr val="FEF0E7"/>
          </a:solidFill>
          <a:ln/>
        </p:spPr>
      </p:sp>
      <p:sp>
        <p:nvSpPr>
          <p:cNvPr id="13" name="Shape 11"/>
          <p:cNvSpPr/>
          <p:nvPr/>
        </p:nvSpPr>
        <p:spPr>
          <a:xfrm>
            <a:off x="320040" y="2331720"/>
            <a:ext cx="73152" cy="1920240"/>
          </a:xfrm>
          <a:prstGeom prst="rect">
            <a:avLst/>
          </a:prstGeom>
          <a:solidFill>
            <a:srgbClr val="E8600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LAW OF DEMAND</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Holding income, prices of related goods, and preferences constant, higher P ⇒ lower Q_D. Two drivers: substitution effect (relative price up) and income effect (real purchasing power down).</a:t>
            </a:r>
            <a:endParaRPr lang="en-US" sz="1200" dirty="0"/>
          </a:p>
        </p:txBody>
      </p:sp>
      <p:sp>
        <p:nvSpPr>
          <p:cNvPr id="16" name="Shape 14"/>
          <p:cNvSpPr/>
          <p:nvPr/>
        </p:nvSpPr>
        <p:spPr>
          <a:xfrm>
            <a:off x="3200400" y="2331720"/>
            <a:ext cx="2743200" cy="1920240"/>
          </a:xfrm>
          <a:prstGeom prst="rect">
            <a:avLst/>
          </a:prstGeom>
          <a:solidFill>
            <a:srgbClr val="F5F7FA"/>
          </a:solidFill>
          <a:ln/>
        </p:spPr>
      </p:sp>
      <p:sp>
        <p:nvSpPr>
          <p:cNvPr id="17" name="Shape 15"/>
          <p:cNvSpPr/>
          <p:nvPr/>
        </p:nvSpPr>
        <p:spPr>
          <a:xfrm>
            <a:off x="3200400" y="2331720"/>
            <a:ext cx="73152" cy="1920240"/>
          </a:xfrm>
          <a:prstGeom prst="rect">
            <a:avLst/>
          </a:prstGeom>
          <a:solidFill>
            <a:srgbClr val="1B2A4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LAW OF SUPPLY</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Holding input prices and technology constant, higher P ⇒ higher Q_S. Driver: rising marginal cost beyond some threshold — producers need a higher price to cover MC on the next unit.</a:t>
            </a:r>
            <a:endParaRPr lang="en-US" sz="1200" dirty="0"/>
          </a:p>
        </p:txBody>
      </p:sp>
      <p:sp>
        <p:nvSpPr>
          <p:cNvPr id="20" name="Shape 18"/>
          <p:cNvSpPr/>
          <p:nvPr/>
        </p:nvSpPr>
        <p:spPr>
          <a:xfrm>
            <a:off x="6080760" y="2331720"/>
            <a:ext cx="2743200" cy="1920240"/>
          </a:xfrm>
          <a:prstGeom prst="rect">
            <a:avLst/>
          </a:prstGeom>
          <a:solidFill>
            <a:srgbClr val="FEF0E7"/>
          </a:solidFill>
          <a:ln/>
        </p:spPr>
      </p:sp>
      <p:sp>
        <p:nvSpPr>
          <p:cNvPr id="21" name="Shape 19"/>
          <p:cNvSpPr/>
          <p:nvPr/>
        </p:nvSpPr>
        <p:spPr>
          <a:xfrm>
            <a:off x="6080760" y="2331720"/>
            <a:ext cx="73152" cy="1920240"/>
          </a:xfrm>
          <a:prstGeom prst="rect">
            <a:avLst/>
          </a:prstGeom>
          <a:solidFill>
            <a:srgbClr val="E8600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SHIFTS vs MOVEMENTS</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price change MOVES along the curve; a change in income, input prices, technology, or expectations SHIFTS the whole curve. Students confuse this on day one — do not.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Own-price elasticity measures how responsive quantity demanded is to price — and it determines whether cutting price raises or lowers revenue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materials usually quote E_d as an absolute value. Keep the minus sign for algebraic work — the law of demand makes it negative.
</a:t>
            </a:r>
            <a:pPr indent="0" marL="0">
              <a:buNone/>
            </a:pPr>
            <a:r>
              <a:rPr lang="en-US" sz="1000" dirty="0">
                <a:solidFill>
                  <a:srgbClr val="6B7A8D"/>
                </a:solidFill>
                <a:latin typeface="Calibri" pitchFamily="34" charset="0"/>
                <a:ea typeface="Calibri" pitchFamily="34" charset="-122"/>
                <a:cs typeface="Calibri" pitchFamily="34" charset="-120"/>
              </a:rPr>
              <a:t>² Elasticity ≠ slope: slope is ΔQ/ΔP, elasticity is (ΔQ/Q)/(ΔP/P). A linear demand curve has constant slope but variable elasticity.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1 Overview p. 3 (three elasticities) and pp. 6–7 (TR rises where MR &gt; 0). Worked numbers illustrative.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Revenue rule: cut price if demand is elastic, raise price if demand is inelastic, and if it is unit-elastic you are already sitting on the revenue maximum.</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E_d = (%ΔQ_D)/(%ΔP)      MR&gt;0 ⇔ elastic      MR&lt;0 ⇔ inelastic</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|E_d| &gt; 1 elastic · |E_d| = 1 unit-elastic (TR peak, MR = 0) · |E_d| &lt; 1 inelastic. That MR chain is the CFA's own link between the demand curve and the total-revenue curve.</a:t>
            </a:r>
            <a:endParaRPr lang="en-US" sz="1100" dirty="0"/>
          </a:p>
        </p:txBody>
      </p:sp>
      <p:sp>
        <p:nvSpPr>
          <p:cNvPr id="13" name="Shape 11"/>
          <p:cNvSpPr/>
          <p:nvPr/>
        </p:nvSpPr>
        <p:spPr>
          <a:xfrm>
            <a:off x="320040" y="233172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EXAMPLE — ELASTIC DEMAND</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firm cuts price from 10.00 to 9.00 (−10%) and observes quantity sold rise from 100 to 120 (+20%). What is E_d, and what happens to revenue?</a:t>
            </a:r>
            <a:endParaRPr lang="en-US" sz="1200" dirty="0"/>
          </a:p>
        </p:txBody>
      </p:sp>
      <p:sp>
        <p:nvSpPr>
          <p:cNvPr id="16" name="Text 14"/>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E_d = (+20%) / (−10%) = −2.0   ⇒   |E_d| = 2 &gt; 1, demand is ELASTIC.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Old TR = 10 × 100 = 1,000; New TR = 9 × 120 = 1,080.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TR rose by 80 (+8%) because the quantity effect dominated the price effect.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Same cut with |E_d| = 0.5 (inelastic): Q rises only 5% to 105, TR = 9 × 105 = 945 — revenue FALLS.</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E_d = −2.0  →  elastic  →  cut price, revenue rises.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Cross-price and income elasticities separate substitutes from complements and normal goods from inferior — the three-elasticity triad for any demand forecast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Overview, p. 3 (own-price, cross-price, income elasticity). Signs, formulas and examples are standard Level I background.</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demand forecast that does not specify the three elasticities is not a forecast — it is an assertion with no stress-test.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57400"/>
                <a:gridCol w="1783080"/>
                <a:gridCol w="1097280"/>
                <a:gridCol w="3566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Elasticity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Formula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Sign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Interpretation &amp; 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Own-price (E_d)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(%ΔP_x)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Always &lt;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Slopes down; gasoline ≈ −0.3 (inelastic).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Cross-price, substitutes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(%ΔP_y)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P_y up ⇒ Q_x up — Pepsi vs Coca-Cola.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Cross-price, complements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(%ΔP_y)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P_y up ⇒ Q_x down — printers vs ink.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Income, normal good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Income up ⇒ Q_x up — restaurant meals.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Income, luxury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Wallet share rises — fine wine, couture.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Income, inferior good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(%ΔQ_x) / (%ΔI)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Income up ⇒ Q_x down — instant noodles.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91840"/>
            <a:ext cx="8503920" cy="1005840"/>
          </a:xfrm>
          <a:prstGeom prst="rect">
            <a:avLst/>
          </a:prstGeom>
          <a:solidFill>
            <a:srgbClr val="FEF0E7"/>
          </a:solidFill>
          <a:ln/>
        </p:spPr>
      </p:sp>
      <p:sp>
        <p:nvSpPr>
          <p:cNvPr id="11" name="Shape 8"/>
          <p:cNvSpPr/>
          <p:nvPr/>
        </p:nvSpPr>
        <p:spPr>
          <a:xfrm>
            <a:off x="320040" y="3291840"/>
            <a:ext cx="73152" cy="1005840"/>
          </a:xfrm>
          <a:prstGeom prst="rect">
            <a:avLst/>
          </a:prstGeom>
          <a:solidFill>
            <a:srgbClr val="E8600A"/>
          </a:solidFill>
          <a:ln/>
        </p:spPr>
      </p:sp>
      <p:sp>
        <p:nvSpPr>
          <p:cNvPr id="12" name="Text 9"/>
          <p:cNvSpPr txBox="1"/>
          <p:nvPr/>
        </p:nvSpPr>
        <p:spPr>
          <a:xfrm>
            <a:off x="457200" y="33375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SIGNALS A STRUCTURAL SHIFT</a:t>
            </a:r>
            <a:endParaRPr lang="en-US" sz="1100" dirty="0"/>
          </a:p>
        </p:txBody>
      </p:sp>
      <p:sp>
        <p:nvSpPr>
          <p:cNvPr id="13" name="Text 10"/>
          <p:cNvSpPr txBox="1"/>
          <p:nvPr/>
        </p:nvSpPr>
        <p:spPr>
          <a:xfrm>
            <a:off x="457200" y="361188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rise in income elasticity for a staple (coffee becoming a "luxury" single-serve SKU) or a sign-change in cross-elasticity (streaming turning into a SUBSTITUTE for cinema rather than a complement) both signal that a category boundary is being redrawn — and that incumbents must re-price before the market re-prices them for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Firm costs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profit maximization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4 of 20  ·  Studio Tonton Gug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Economic profit subtracts the opportunity cost of every factor — a firm with positive accounting profit can still be destroying economic value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Overview p. 4 and "Breakeven Analysis and Shutdown Decision", p. 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Normal profit = zero economic profit = a rate of return on capital exactly equal to what an equivalently risky alternative investment would have earned. It is payment for showing up, not a reward for excellence.</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Economic profit = TR − (Accounting cost + Opportunity cost)</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Accounting profit = TR − accounting costs. Economic cost considers the total opportunity cost of ALL factors of production, capital included.</a:t>
            </a:r>
            <a:endParaRPr lang="en-US" sz="1100" dirty="0"/>
          </a:p>
        </p:txBody>
      </p:sp>
      <p:sp>
        <p:nvSpPr>
          <p:cNvPr id="12" name="Shape 10"/>
          <p:cNvSpPr/>
          <p:nvPr/>
        </p:nvSpPr>
        <p:spPr>
          <a:xfrm>
            <a:off x="320040" y="2331720"/>
            <a:ext cx="4160520" cy="1920240"/>
          </a:xfrm>
          <a:prstGeom prst="rect">
            <a:avLst/>
          </a:prstGeom>
          <a:solidFill>
            <a:srgbClr val="FEF0E7"/>
          </a:solidFill>
          <a:ln/>
        </p:spPr>
      </p:sp>
      <p:sp>
        <p:nvSpPr>
          <p:cNvPr id="13" name="Shape 11"/>
          <p:cNvSpPr/>
          <p:nvPr/>
        </p:nvSpPr>
        <p:spPr>
          <a:xfrm>
            <a:off x="320040" y="2331720"/>
            <a:ext cx="73152" cy="192024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ENTREPRENEUR EXAMPLE</a:t>
            </a:r>
            <a:endParaRPr lang="en-US" sz="1100" dirty="0"/>
          </a:p>
        </p:txBody>
      </p:sp>
      <p:sp>
        <p:nvSpPr>
          <p:cNvPr id="15" name="Text 13"/>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Founder nets USD 120,000 in accounting profit from her consultancy. She turned down a corporate role paying USD 150,000 to start the firm.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Accounting profit = +120,000.</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Economic profit = 120,000 − 150,000 = −30,000.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She is destroying value. Zero economic profit is the bar, not zero accounting profit.</a:t>
            </a:r>
            <a:endParaRPr lang="en-US" sz="1200" dirty="0"/>
          </a:p>
        </p:txBody>
      </p:sp>
      <p:sp>
        <p:nvSpPr>
          <p:cNvPr id="16" name="Shape 14"/>
          <p:cNvSpPr/>
          <p:nvPr/>
        </p:nvSpPr>
        <p:spPr>
          <a:xfrm>
            <a:off x="4663440" y="2331720"/>
            <a:ext cx="4160520" cy="1920240"/>
          </a:xfrm>
          <a:prstGeom prst="rect">
            <a:avLst/>
          </a:prstGeom>
          <a:solidFill>
            <a:srgbClr val="F5F7FA"/>
          </a:solidFill>
          <a:ln/>
        </p:spPr>
      </p:sp>
      <p:sp>
        <p:nvSpPr>
          <p:cNvPr id="17" name="Shape 15"/>
          <p:cNvSpPr/>
          <p:nvPr/>
        </p:nvSpPr>
        <p:spPr>
          <a:xfrm>
            <a:off x="4663440" y="2331720"/>
            <a:ext cx="73152" cy="192024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IT MATTERS FOR INVESTORS</a:t>
            </a:r>
            <a:endParaRPr lang="en-US" sz="1100" dirty="0"/>
          </a:p>
        </p:txBody>
      </p:sp>
      <p:sp>
        <p:nvSpPr>
          <p:cNvPr id="19" name="Text 17"/>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 a competitive long-run equilibrium with free entry, firms earn ZERO economic profit — returns just compensate for risk. Positive economic profit is therefore evidence of a barrier: a moat protecting rents. The analyst's job is to price how long that barrier holds.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firm maximizes profit where marginal revenue equals marginal cost and marginal cost is not falling — the single rule that governs every market structure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trap: the profit maximum is NOT where average total cost is minimised. Those two quantities coincide only by accident.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Example 1 (WR International), pp. 11–12; profit-maximization conditions p. 4 and pp. 7–8.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Under perfect competition MR = P (horizontal demand curve). Under every imperfectly competitive structure MR &lt; P, because selling one more unit requires cutting the price on all units. The rule itself never changes.</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Maximize profit  ⇔   MR  =  MC   AND   MC not falling with output</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First-order condition: slope of TR equals slope of TC. Second-order condition: MC must cut MR from below — where P = MC on a falling MC curve you are at a profit MINIMUM.</a:t>
            </a:r>
            <a:endParaRPr lang="en-US" sz="1100" dirty="0"/>
          </a:p>
        </p:txBody>
      </p:sp>
      <p:sp>
        <p:nvSpPr>
          <p:cNvPr id="13" name="Shape 11"/>
          <p:cNvSpPr/>
          <p:nvPr/>
        </p:nvSpPr>
        <p:spPr>
          <a:xfrm>
            <a:off x="320040" y="233172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EXAMPLE 1 — WR INTERNATIONAL, IMPERFECT COMPETITION</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Prefab-housing firm facing a downward-sloping demand curve. Quantity moves in blocks of 10; price falls 250 per block. Where does it break even, where is the profit region, and where is profit maximised?</a:t>
            </a:r>
            <a:endParaRPr lang="en-US" sz="1200" dirty="0"/>
          </a:p>
        </p:txBody>
      </p:sp>
      <p:sp>
        <p:nvSpPr>
          <p:cNvPr id="16" name="Text 14"/>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Initial breakeven (TR = TC): Q = 40 at P = 9,000 → TR = TC = 360,000.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Region of profitability: 40 &lt; Q &lt; 80. At Q = 80, TR = TC = 640,000 (upper breakeven).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Profit maximum: Q = 60, P = 8,500 → TR = 510,000, TC = 480,000 → profit = 30,000.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Check MR vs MC: from Q 50→60, MR = 7,250 &gt; MC = 6,000; from 60→70, MR = 6,750 &lt; MC = 7,000. The crossing sits at Q = 60.</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Q* = 60, P* = 8,500, maximum economic profit = 30,000.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Breakeven, shutdown, and long-run exit are three distinct thresholds defined by whether price covers total cost, variable cost only, or nothing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Sunk fixed costs are IGNORED in the short-run decision. Economists call min AVC the shutdown point and min ATC the breakeven point.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"Breakeven Analysis and Shutdown Decision" and Exhibit 7, pp. 9–13.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Short run: at least one factor is fixed, fixed costs are sunk, and only variable costs drive the decision. Long run: every factor is variable, so the firm must cover ATC to justify staying.</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4206240"/>
                <a:gridCol w="219456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Revenue vs cost   (CFA Exhibit 7)</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Short-run decision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Long-run decision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  &gt;  TC        (P &gt; ATC)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Operate — econ. profit &gt;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Stay in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  =  TC        (P = min ATC)  breakeven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Operate — normal profit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Stay in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TVC &lt; TR &lt; TC    (min AVC &lt; P &lt; ATC)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Operate — loss &lt; TFC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Exit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  =  TVC       (P = min AVC)  shutdown pt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Indifferent — loss = TFC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Exit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  &lt;  TVC       (P &lt; min AVC)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Shut down — loss capped at TFC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Exit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383280"/>
            <a:ext cx="8503920" cy="914400"/>
          </a:xfrm>
          <a:prstGeom prst="rect">
            <a:avLst/>
          </a:prstGeom>
          <a:solidFill>
            <a:srgbClr val="FEF0E7"/>
          </a:solidFill>
          <a:ln/>
        </p:spPr>
      </p:sp>
      <p:sp>
        <p:nvSpPr>
          <p:cNvPr id="12" name="Shape 9"/>
          <p:cNvSpPr/>
          <p:nvPr/>
        </p:nvSpPr>
        <p:spPr>
          <a:xfrm>
            <a:off x="320040" y="3383280"/>
            <a:ext cx="73152" cy="914400"/>
          </a:xfrm>
          <a:prstGeom prst="rect">
            <a:avLst/>
          </a:prstGeom>
          <a:solidFill>
            <a:srgbClr val="E8600A"/>
          </a:solidFill>
          <a:ln/>
        </p:spPr>
      </p:sp>
      <p:sp>
        <p:nvSpPr>
          <p:cNvPr id="13" name="Text 10"/>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EXAMPLE 2 — THE LONDON BUSINESS</a:t>
            </a:r>
            <a:endParaRPr lang="en-US" sz="1100" dirty="0"/>
          </a:p>
        </p:txBody>
      </p:sp>
      <p:sp>
        <p:nvSpPr>
          <p:cNvPr id="14" name="Text 11"/>
          <p:cNvSpPr txBox="1"/>
          <p:nvPr/>
        </p:nvSpPr>
        <p:spPr>
          <a:xfrm>
            <a:off x="457200" y="370332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Revenue GBP 2m, TC GBP 2.5m (TFC 1m + TVC 1.5m) → net loss 500k. Shutting down would cost the full 1m of fixed cost, so operating minimises the loss: keep going and renegotiate with creditors. Change revenue to GBP 1.3m and the loss becomes 1.2m — now revenue no longer covers TVC, so shutting down caps the loss at 1m and saves shareholders 200k.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Economies of scale pull long-run average cost down until minimum efficient scale; diseconomies push it back up — the classic U-shape of LRAC</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"Economies and Diseconomies of Scale", Exhibits 8–12 and Example 3, pp. 14–19.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LRAC is the envelope curve of every possible short-run ATC curve. Its minimum point is minimum efficient scale — per the CFA text, the optimal firm size under perfect competition in the long run.</a:t>
            </a:r>
            <a:endParaRPr lang="en-US" sz="1300" dirty="0"/>
          </a:p>
        </p:txBody>
      </p:sp>
      <p:sp>
        <p:nvSpPr>
          <p:cNvPr id="9" name="Shape 7"/>
          <p:cNvSpPr/>
          <p:nvPr/>
        </p:nvSpPr>
        <p:spPr>
          <a:xfrm>
            <a:off x="320040" y="1188720"/>
            <a:ext cx="4160520" cy="2971800"/>
          </a:xfrm>
          <a:prstGeom prst="rect">
            <a:avLst/>
          </a:prstGeom>
          <a:solidFill>
            <a:srgbClr val="F5F7FA"/>
          </a:solidFill>
          <a:ln/>
        </p:spPr>
      </p:sp>
      <p:sp>
        <p:nvSpPr>
          <p:cNvPr id="10" name="Shape 8"/>
          <p:cNvSpPr/>
          <p:nvPr/>
        </p:nvSpPr>
        <p:spPr>
          <a:xfrm>
            <a:off x="320040" y="1188720"/>
            <a:ext cx="73152" cy="2971800"/>
          </a:xfrm>
          <a:prstGeom prst="rect">
            <a:avLst/>
          </a:prstGeom>
          <a:solidFill>
            <a:srgbClr val="1B2A4A"/>
          </a:solidFill>
          <a:ln/>
        </p:spPr>
      </p:sp>
      <p:sp>
        <p:nvSpPr>
          <p:cNvPr id="11" name="Text 9"/>
          <p:cNvSpPr txBox="1"/>
          <p:nvPr/>
        </p:nvSpPr>
        <p:spPr>
          <a:xfrm>
            <a:off x="4572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DRIVERS OF ECONOMIES OF SCALE</a:t>
            </a:r>
            <a:endParaRPr lang="en-US" sz="1100" dirty="0"/>
          </a:p>
        </p:txBody>
      </p:sp>
      <p:sp>
        <p:nvSpPr>
          <p:cNvPr id="12" name="Text 10"/>
          <p:cNvSpPr txBox="1"/>
          <p:nvPr/>
        </p:nvSpPr>
        <p:spPr>
          <a:xfrm>
            <a:off x="457200" y="1600200"/>
            <a:ext cx="3886200" cy="246888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Increasing returns to scale — output rises proportionately faster than inputs.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Division of labor and specialization — each worker becomes proficient at a narrow task.</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Affording more expensive but more efficient equipment and the latest technology.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Bargaining power — discounted input prices when buying in larger quantities.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Less waste, marketable by-products, better market information for decision-making.</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CFA examples: electric utilities (capacity), Walmart (bulk purchasing + point-of-sale data).</a:t>
            </a:r>
            <a:endParaRPr lang="en-US" sz="1100" dirty="0"/>
          </a:p>
        </p:txBody>
      </p:sp>
      <p:sp>
        <p:nvSpPr>
          <p:cNvPr id="13" name="Shape 11"/>
          <p:cNvSpPr/>
          <p:nvPr/>
        </p:nvSpPr>
        <p:spPr>
          <a:xfrm>
            <a:off x="4663440" y="1188720"/>
            <a:ext cx="4160520" cy="2971800"/>
          </a:xfrm>
          <a:prstGeom prst="rect">
            <a:avLst/>
          </a:prstGeom>
          <a:solidFill>
            <a:srgbClr val="FEF0E7"/>
          </a:solidFill>
          <a:ln/>
        </p:spPr>
      </p:sp>
      <p:sp>
        <p:nvSpPr>
          <p:cNvPr id="14" name="Shape 12"/>
          <p:cNvSpPr/>
          <p:nvPr/>
        </p:nvSpPr>
        <p:spPr>
          <a:xfrm>
            <a:off x="4663440" y="1188720"/>
            <a:ext cx="73152" cy="2971800"/>
          </a:xfrm>
          <a:prstGeom prst="rect">
            <a:avLst/>
          </a:prstGeom>
          <a:solidFill>
            <a:srgbClr val="E8600A"/>
          </a:solidFill>
          <a:ln/>
        </p:spPr>
      </p:sp>
      <p:sp>
        <p:nvSpPr>
          <p:cNvPr id="15" name="Text 13"/>
          <p:cNvSpPr txBox="1"/>
          <p:nvPr/>
        </p:nvSpPr>
        <p:spPr>
          <a:xfrm>
            <a:off x="48006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DRIVERS OF DISECONOMIES OF SCALE</a:t>
            </a:r>
            <a:endParaRPr lang="en-US" sz="1100" dirty="0"/>
          </a:p>
        </p:txBody>
      </p:sp>
      <p:sp>
        <p:nvSpPr>
          <p:cNvPr id="16" name="Text 14"/>
          <p:cNvSpPr txBox="1"/>
          <p:nvPr/>
        </p:nvSpPr>
        <p:spPr>
          <a:xfrm>
            <a:off x="4800600" y="1600200"/>
            <a:ext cx="3886200" cy="246888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Decreasing returns to scale — output rises proportionately less than inputs.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Being so large the firm cannot be properly managed — bureaucracy and communication breakdown.</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Overlapping and duplicating business functions and product lines.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Higher input prices from supply constraints when buying in very large quantities.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CFA example: pre-restructuring GM — overlapping models, geographic coordination failure, above-market labour cost. Exited three brands in 2009 and sold Opel in 2017.</a:t>
            </a:r>
            <a:endParaRPr lang="en-US" sz="1100" dirty="0"/>
          </a:p>
        </p:txBody>
      </p:sp>
      <p:sp>
        <p:nvSpPr>
          <p:cNvPr id="17" name="Shape 15"/>
          <p:cNvSpPr/>
          <p:nvPr/>
        </p:nvSpPr>
        <p:spPr>
          <a:xfrm>
            <a:off x="320040" y="4206240"/>
            <a:ext cx="8503920" cy="438912"/>
          </a:xfrm>
          <a:prstGeom prst="rect">
            <a:avLst/>
          </a:prstGeom>
          <a:solidFill>
            <a:srgbClr val="FEF0E7"/>
          </a:solidFill>
          <a:ln/>
        </p:spPr>
      </p:sp>
      <p:sp>
        <p:nvSpPr>
          <p:cNvPr id="18" name="Shape 16"/>
          <p:cNvSpPr/>
          <p:nvPr/>
        </p:nvSpPr>
        <p:spPr>
          <a:xfrm>
            <a:off x="320040" y="4206240"/>
            <a:ext cx="73152" cy="438912"/>
          </a:xfrm>
          <a:prstGeom prst="rect">
            <a:avLst/>
          </a:prstGeom>
          <a:solidFill>
            <a:srgbClr val="E8600A"/>
          </a:solidFill>
          <a:ln/>
        </p:spPr>
      </p:sp>
      <p:sp>
        <p:nvSpPr>
          <p:cNvPr id="19" name="Text 17"/>
          <p:cNvSpPr txBox="1"/>
          <p:nvPr/>
        </p:nvSpPr>
        <p:spPr>
          <a:xfrm>
            <a:off x="457200" y="4279392"/>
            <a:ext cx="8275320" cy="32918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Minimum efficient scale (MES) = the output at which LRAC reaches its minimum. Below MES a firm is sub-scale and must grow; beyond MES it is in diseconomies and must shrink production.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Four market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structures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4 of 20  ·  Studio Tonton Gug</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Five determinants separate the four market structures — sellers, differentiation, barriers, pricing power, and non-price competition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Exhibit 13 files oligopoly product as homogeneous/standardized, though in practice it may be branded (cereals) or not (cement).
</a:t>
            </a:r>
            <a:pPr indent="0" marL="0">
              <a:buNone/>
            </a:pPr>
            <a:r>
              <a:rPr lang="en-US" sz="1000" dirty="0">
                <a:solidFill>
                  <a:srgbClr val="6B7A8D"/>
                </a:solidFill>
                <a:latin typeface="Calibri" pitchFamily="34" charset="0"/>
                <a:ea typeface="Calibri" pitchFamily="34" charset="-122"/>
                <a:cs typeface="Calibri" pitchFamily="34" charset="-120"/>
              </a:rPr>
              <a:t>² Long-run economic profit: zero under perfect and monopolistic competition (free entry); positive only where barriers hold entrants out.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"Introduction to Market Structures", Exhibit 13, pp. 20–24.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Quantity sold is highest and price usually lowest under perfect competition. But the CFA is careful: less-competitive structures can fund R&amp;D that perfect competition would bankrupt — consumers do not always lose.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65960"/>
                <a:gridCol w="777240"/>
                <a:gridCol w="1463040"/>
                <a:gridCol w="1417320"/>
                <a:gridCol w="1371600"/>
                <a:gridCol w="1508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Structure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Sellers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Product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Barriers to entry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Pricing power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Non-price competition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Perfect competition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Homogeneous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Monopolistic competition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Differentiated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Advertising + differentiation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Oligopoly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Homogeneous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Some or considerable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Advertising + differentiation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Monopoly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Unique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Considerable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Advertising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154680"/>
            <a:ext cx="8503920" cy="1143000"/>
          </a:xfrm>
          <a:prstGeom prst="rect">
            <a:avLst/>
          </a:prstGeom>
          <a:solidFill>
            <a:srgbClr val="FEF0E7"/>
          </a:solidFill>
          <a:ln/>
        </p:spPr>
      </p:sp>
      <p:sp>
        <p:nvSpPr>
          <p:cNvPr id="12" name="Shape 9"/>
          <p:cNvSpPr/>
          <p:nvPr/>
        </p:nvSpPr>
        <p:spPr>
          <a:xfrm>
            <a:off x="320040" y="3154680"/>
            <a:ext cx="73152" cy="1143000"/>
          </a:xfrm>
          <a:prstGeom prst="rect">
            <a:avLst/>
          </a:prstGeom>
          <a:solidFill>
            <a:srgbClr val="E8600A"/>
          </a:solidFill>
          <a:ln/>
        </p:spPr>
      </p:sp>
      <p:sp>
        <p:nvSpPr>
          <p:cNvPr id="13" name="Text 10"/>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PORTER'S FIVE FORCES — THE PRACTITIONER'S OVERLAY (CFA, p. 24)</a:t>
            </a:r>
            <a:endParaRPr lang="en-US" sz="1100" dirty="0"/>
          </a:p>
        </p:txBody>
      </p:sp>
      <p:sp>
        <p:nvSpPr>
          <p:cNvPr id="14" name="Text 11"/>
          <p:cNvSpPr txBox="1"/>
          <p:nvPr/>
        </p:nvSpPr>
        <p:spPr>
          <a:xfrm>
            <a:off x="457200" y="347472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Academic theory asks "how many sellers?"; Porter asks threat of entry, power of suppliers, power of buyers, threat of substitutes, and rivalry among incumbents. Four of the five map onto the grid above. The orphan — power of suppliers — is the one economic theory under-weights and practitioners use to identify a durable "economic moat": no credible entrant, and customers locked in by switching costs.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 perfect competition price equals marginal cost and economic profit is zero in the long run — the benchmark every other structure is measured against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Only perfect competition has a well-defined supply function — the MC schedule. Elsewhere, output comes from MR = MC, price from demand.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perfect-competition analysis, Exhibits 1–5, pp. 6–13 and pp. 20–21.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 firm has pricing power, so the demand curve each individual firm faces is perfectly elastic (horizontal) at the market price — P = MR = AR.</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Short run:  P = AR = MR = MC      Long run:  P = MC = min(ATC)</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Free entry drives long-run price down to minimum ATC, at which point economic profit is zero and each firm earns only normal profit.</a:t>
            </a:r>
            <a:endParaRPr lang="en-US" sz="1100" dirty="0"/>
          </a:p>
        </p:txBody>
      </p:sp>
      <p:sp>
        <p:nvSpPr>
          <p:cNvPr id="13" name="Shape 11"/>
          <p:cNvSpPr/>
          <p:nvPr/>
        </p:nvSpPr>
        <p:spPr>
          <a:xfrm>
            <a:off x="320040" y="2331720"/>
            <a:ext cx="2743200" cy="1920240"/>
          </a:xfrm>
          <a:prstGeom prst="rect">
            <a:avLst/>
          </a:prstGeom>
          <a:solidFill>
            <a:srgbClr val="F5F7FA"/>
          </a:solidFill>
          <a:ln/>
        </p:spPr>
      </p:sp>
      <p:sp>
        <p:nvSpPr>
          <p:cNvPr id="14" name="Shape 12"/>
          <p:cNvSpPr/>
          <p:nvPr/>
        </p:nvSpPr>
        <p:spPr>
          <a:xfrm>
            <a:off x="320040" y="2331720"/>
            <a:ext cx="73152" cy="1920240"/>
          </a:xfrm>
          <a:prstGeom prst="rect">
            <a:avLst/>
          </a:prstGeom>
          <a:solidFill>
            <a:srgbClr val="1B2A4A"/>
          </a:solidFill>
          <a:ln/>
        </p:spPr>
      </p:sp>
      <p:sp>
        <p:nvSpPr>
          <p:cNvPr id="15" name="Text 13"/>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INDUSTRY FEATURES</a:t>
            </a:r>
            <a:endParaRPr lang="en-US" sz="1100" dirty="0"/>
          </a:p>
        </p:txBody>
      </p:sp>
      <p:sp>
        <p:nvSpPr>
          <p:cNvPr id="16" name="Text 14"/>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Many small sellers, each a price taker.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Identical, undifferentiated output.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Perfect information.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No entry or exit costs.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No advertising — nothing to differentiate.</a:t>
            </a:r>
            <a:endParaRPr lang="en-US" sz="1200" dirty="0"/>
          </a:p>
        </p:txBody>
      </p:sp>
      <p:sp>
        <p:nvSpPr>
          <p:cNvPr id="17" name="Shape 15"/>
          <p:cNvSpPr/>
          <p:nvPr/>
        </p:nvSpPr>
        <p:spPr>
          <a:xfrm>
            <a:off x="3200400" y="2331720"/>
            <a:ext cx="2743200" cy="1920240"/>
          </a:xfrm>
          <a:prstGeom prst="rect">
            <a:avLst/>
          </a:prstGeom>
          <a:solidFill>
            <a:srgbClr val="FEF0E7"/>
          </a:solidFill>
          <a:ln/>
        </p:spPr>
      </p:sp>
      <p:sp>
        <p:nvSpPr>
          <p:cNvPr id="18" name="Shape 16"/>
          <p:cNvSpPr/>
          <p:nvPr/>
        </p:nvSpPr>
        <p:spPr>
          <a:xfrm>
            <a:off x="3200400" y="2331720"/>
            <a:ext cx="73152" cy="1920240"/>
          </a:xfrm>
          <a:prstGeom prst="rect">
            <a:avLst/>
          </a:prstGeom>
          <a:solidFill>
            <a:srgbClr val="E8600A"/>
          </a:solidFill>
          <a:ln/>
        </p:spPr>
      </p:sp>
      <p:sp>
        <p:nvSpPr>
          <p:cNvPr id="19" name="Text 17"/>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SHORT-RUN ECON. PROFIT</a:t>
            </a:r>
            <a:endParaRPr lang="en-US" sz="1100" dirty="0"/>
          </a:p>
        </p:txBody>
      </p:sp>
      <p:sp>
        <p:nvSpPr>
          <p:cNvPr id="20" name="Text 18"/>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Possible whenever the firm's ATC sits below the market price. But the excess attracts entrants, output rises, and market price is driven down to every firm's minimum ATC. Short run: any outcome. Long run: normal profit only.</a:t>
            </a:r>
            <a:endParaRPr lang="en-US" sz="1200" dirty="0"/>
          </a:p>
        </p:txBody>
      </p:sp>
      <p:sp>
        <p:nvSpPr>
          <p:cNvPr id="21" name="Shape 19"/>
          <p:cNvSpPr/>
          <p:nvPr/>
        </p:nvSpPr>
        <p:spPr>
          <a:xfrm>
            <a:off x="6080760" y="2331720"/>
            <a:ext cx="2743200" cy="1920240"/>
          </a:xfrm>
          <a:prstGeom prst="rect">
            <a:avLst/>
          </a:prstGeom>
          <a:solidFill>
            <a:srgbClr val="F5F7FA"/>
          </a:solidFill>
          <a:ln/>
        </p:spPr>
      </p:sp>
      <p:sp>
        <p:nvSpPr>
          <p:cNvPr id="22" name="Shape 20"/>
          <p:cNvSpPr/>
          <p:nvPr/>
        </p:nvSpPr>
        <p:spPr>
          <a:xfrm>
            <a:off x="6080760" y="2331720"/>
            <a:ext cx="73152" cy="1920240"/>
          </a:xfrm>
          <a:prstGeom prst="rect">
            <a:avLst/>
          </a:prstGeom>
          <a:solidFill>
            <a:srgbClr val="1B2A4A"/>
          </a:solidFill>
          <a:ln/>
        </p:spPr>
      </p:sp>
      <p:sp>
        <p:nvSpPr>
          <p:cNvPr id="23" name="Text 21"/>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REAL-WORLD PROXIES</a:t>
            </a:r>
            <a:endParaRPr lang="en-US" sz="1100" dirty="0"/>
          </a:p>
        </p:txBody>
      </p:sp>
      <p:sp>
        <p:nvSpPr>
          <p:cNvPr id="24" name="Text 22"/>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CFA insists this is not just an ideal: commodity agriculture (the Nebraska hog farmer, the Bavarian milk producer), spot FX in major pairs. Millions of businesses do very well under exactly this pressure.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Monopolistic competition combines many sellers with product differentiation — firms face downward-sloping demand but still earn zero long-run economic profit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"Monopolistic Competition", Exhibits 14–15, pp. 25–28.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Differentiation buys short-run pricing power; low entry and exit costs eventually compete it away. Chamberlin and Robinson named it precisely because it is a hybrid.</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Short run:   set Q where MR = MC, read P off the demand curve   ⇒   π  =  (P − ATC) × Q</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Long run: entry pulls each firm's demand curve down until it is tangent to ATC, so P = ATC and π = 0 — but at Q₁ below the Q₂ that minimises average cost. That gap is the excess capacity of monopolistic competition.</a:t>
            </a:r>
            <a:endParaRPr lang="en-US" sz="1100" dirty="0"/>
          </a:p>
        </p:txBody>
      </p:sp>
      <p:sp>
        <p:nvSpPr>
          <p:cNvPr id="12" name="Shape 10"/>
          <p:cNvSpPr/>
          <p:nvPr/>
        </p:nvSpPr>
        <p:spPr>
          <a:xfrm>
            <a:off x="320040" y="2331720"/>
            <a:ext cx="4160520" cy="1920240"/>
          </a:xfrm>
          <a:prstGeom prst="rect">
            <a:avLst/>
          </a:prstGeom>
          <a:solidFill>
            <a:srgbClr val="FEF0E7"/>
          </a:solidFill>
          <a:ln/>
        </p:spPr>
      </p:sp>
      <p:sp>
        <p:nvSpPr>
          <p:cNvPr id="13" name="Shape 11"/>
          <p:cNvSpPr/>
          <p:nvPr/>
        </p:nvSpPr>
        <p:spPr>
          <a:xfrm>
            <a:off x="320040" y="2331720"/>
            <a:ext cx="73152" cy="192024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IT DOMINATES REAL MARKETS</a:t>
            </a:r>
            <a:endParaRPr lang="en-US" sz="1100" dirty="0"/>
          </a:p>
        </p:txBody>
      </p:sp>
      <p:sp>
        <p:nvSpPr>
          <p:cNvPr id="15" name="Text 13"/>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Most consumer markets sit here: soft drinks, cosmetics, apparel, phones, cafés. The CFA's defence of it is Schumpeterian — differentiation is the profit incentive to innovate, and consumers demonstrably value variety (Germany and Japan sell each other cars).</a:t>
            </a:r>
            <a:endParaRPr lang="en-US" sz="1200" dirty="0"/>
          </a:p>
        </p:txBody>
      </p:sp>
      <p:sp>
        <p:nvSpPr>
          <p:cNvPr id="16" name="Shape 14"/>
          <p:cNvSpPr/>
          <p:nvPr/>
        </p:nvSpPr>
        <p:spPr>
          <a:xfrm>
            <a:off x="4663440" y="2331720"/>
            <a:ext cx="4160520" cy="1920240"/>
          </a:xfrm>
          <a:prstGeom prst="rect">
            <a:avLst/>
          </a:prstGeom>
          <a:solidFill>
            <a:srgbClr val="F5F7FA"/>
          </a:solidFill>
          <a:ln/>
        </p:spPr>
      </p:sp>
      <p:sp>
        <p:nvSpPr>
          <p:cNvPr id="17" name="Shape 15"/>
          <p:cNvSpPr/>
          <p:nvPr/>
        </p:nvSpPr>
        <p:spPr>
          <a:xfrm>
            <a:off x="4663440" y="2331720"/>
            <a:ext cx="73152" cy="192024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BRAND MOAT</a:t>
            </a:r>
            <a:endParaRPr lang="en-US" sz="1100" dirty="0"/>
          </a:p>
        </p:txBody>
      </p:sp>
      <p:sp>
        <p:nvSpPr>
          <p:cNvPr id="19" name="Text 17"/>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more successful the differentiation, the more the firm resembles a monopoly and the longer margins survive — Coca-Cola, Harley-Davidson. The cost is real too: advertising is an economic cost that perfect competitors never incur.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Non-colluding oligopolists have three pricing strategies — and the kinked demand curve explains why oligopoly prices get stuck</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Beyond the three: a dominant firm (CFA threshold ~40% share) can act as price leader, and open, formal collusion turns the group into a cartel.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"Demand Analysis and Pricing Strategies in Oligopoly Markets", Exhibits 16–17, pp. 29–32.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asymmetry that drives everything: rivals MATCH a price cut but IGNORE a price rise. That bends the demand curve at the prevailing price and tears a gap in marginal revenue.</a:t>
            </a:r>
            <a:endParaRPr lang="en-US" sz="1300" dirty="0"/>
          </a:p>
        </p:txBody>
      </p:sp>
      <p:sp>
        <p:nvSpPr>
          <p:cNvPr id="10" name="Shape 8"/>
          <p:cNvSpPr/>
          <p:nvPr/>
        </p:nvSpPr>
        <p:spPr>
          <a:xfrm>
            <a:off x="320040" y="1188720"/>
            <a:ext cx="2743200" cy="1920240"/>
          </a:xfrm>
          <a:prstGeom prst="rect">
            <a:avLst/>
          </a:prstGeom>
          <a:solidFill>
            <a:srgbClr val="FEF0E7"/>
          </a:solidFill>
          <a:ln/>
        </p:spPr>
      </p:sp>
      <p:sp>
        <p:nvSpPr>
          <p:cNvPr id="11" name="Shape 9"/>
          <p:cNvSpPr/>
          <p:nvPr/>
        </p:nvSpPr>
        <p:spPr>
          <a:xfrm>
            <a:off x="320040" y="1188720"/>
            <a:ext cx="73152" cy="1920240"/>
          </a:xfrm>
          <a:prstGeom prst="rect">
            <a:avLst/>
          </a:prstGeom>
          <a:solidFill>
            <a:srgbClr val="E8600A"/>
          </a:solidFill>
          <a:ln/>
        </p:spPr>
      </p:sp>
      <p:sp>
        <p:nvSpPr>
          <p:cNvPr id="12" name="Text 10"/>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1 · INTERDEPENDENCE</a:t>
            </a:r>
            <a:endParaRPr lang="en-US" sz="1100" dirty="0"/>
          </a:p>
        </p:txBody>
      </p:sp>
      <p:sp>
        <p:nvSpPr>
          <p:cNvPr id="13" name="Text 11"/>
          <p:cNvSpPr txBox="1"/>
          <p:nvPr/>
        </p:nvSpPr>
        <p:spPr>
          <a:xfrm>
            <a:off x="45720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Assume rivals match any price cut and ignore any price rise. Demand is then highly elastic ABOVE the prevailing price (customers leave for cheaper rivals) and inelastic BELOW it (rivals follow, so you gain little volume). Result: a kinked demand curve.</a:t>
            </a:r>
            <a:endParaRPr lang="en-US" sz="1200" dirty="0"/>
          </a:p>
        </p:txBody>
      </p:sp>
      <p:sp>
        <p:nvSpPr>
          <p:cNvPr id="14" name="Shape 12"/>
          <p:cNvSpPr/>
          <p:nvPr/>
        </p:nvSpPr>
        <p:spPr>
          <a:xfrm>
            <a:off x="3200400" y="1188720"/>
            <a:ext cx="2743200" cy="1920240"/>
          </a:xfrm>
          <a:prstGeom prst="rect">
            <a:avLst/>
          </a:prstGeom>
          <a:solidFill>
            <a:srgbClr val="F5F7FA"/>
          </a:solidFill>
          <a:ln/>
        </p:spPr>
      </p:sp>
      <p:sp>
        <p:nvSpPr>
          <p:cNvPr id="15" name="Shape 13"/>
          <p:cNvSpPr/>
          <p:nvPr/>
        </p:nvSpPr>
        <p:spPr>
          <a:xfrm>
            <a:off x="3200400" y="1188720"/>
            <a:ext cx="73152" cy="1920240"/>
          </a:xfrm>
          <a:prstGeom prst="rect">
            <a:avLst/>
          </a:prstGeom>
          <a:solidFill>
            <a:srgbClr val="1B2A4A"/>
          </a:solidFill>
          <a:ln/>
        </p:spPr>
      </p:sp>
      <p:sp>
        <p:nvSpPr>
          <p:cNvPr id="16" name="Text 14"/>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2 · COURNOT</a:t>
            </a:r>
            <a:endParaRPr lang="en-US" sz="1100" dirty="0"/>
          </a:p>
        </p:txBody>
      </p:sp>
      <p:sp>
        <p:nvSpPr>
          <p:cNvPr id="17" name="Text 15"/>
          <p:cNvSpPr txBox="1"/>
          <p:nvPr/>
        </p:nvSpPr>
        <p:spPr>
          <a:xfrm>
            <a:off x="333756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Each firm picks its own output assuming the rival's quantity will not change. Solve the two reaction equations simultaneously.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Worked through in full on the next slide.</a:t>
            </a:r>
            <a:endParaRPr lang="en-US" sz="1200" dirty="0"/>
          </a:p>
        </p:txBody>
      </p:sp>
      <p:sp>
        <p:nvSpPr>
          <p:cNvPr id="18" name="Shape 16"/>
          <p:cNvSpPr/>
          <p:nvPr/>
        </p:nvSpPr>
        <p:spPr>
          <a:xfrm>
            <a:off x="6080760" y="1188720"/>
            <a:ext cx="2743200" cy="1920240"/>
          </a:xfrm>
          <a:prstGeom prst="rect">
            <a:avLst/>
          </a:prstGeom>
          <a:solidFill>
            <a:srgbClr val="FEF0E7"/>
          </a:solidFill>
          <a:ln/>
        </p:spPr>
      </p:sp>
      <p:sp>
        <p:nvSpPr>
          <p:cNvPr id="19" name="Shape 17"/>
          <p:cNvSpPr/>
          <p:nvPr/>
        </p:nvSpPr>
        <p:spPr>
          <a:xfrm>
            <a:off x="6080760" y="1188720"/>
            <a:ext cx="73152" cy="1920240"/>
          </a:xfrm>
          <a:prstGeom prst="rect">
            <a:avLst/>
          </a:prstGeom>
          <a:solidFill>
            <a:srgbClr val="E8600A"/>
          </a:solidFill>
          <a:ln/>
        </p:spPr>
      </p:sp>
      <p:sp>
        <p:nvSpPr>
          <p:cNvPr id="20" name="Text 18"/>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3 · NASH</a:t>
            </a:r>
            <a:endParaRPr lang="en-US" sz="1100" dirty="0"/>
          </a:p>
        </p:txBody>
      </p:sp>
      <p:sp>
        <p:nvSpPr>
          <p:cNvPr id="21" name="Text 19"/>
          <p:cNvSpPr txBox="1"/>
          <p:nvPr/>
        </p:nvSpPr>
        <p:spPr>
          <a:xfrm>
            <a:off x="621792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Each firm best-responds to what it expects the rival to do; in equilibrium nobody can gain by deviating alone.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Two slides on — and the answer is not the cell most people guess.</a:t>
            </a:r>
            <a:endParaRPr lang="en-US" sz="1200" dirty="0"/>
          </a:p>
        </p:txBody>
      </p:sp>
      <p:sp>
        <p:nvSpPr>
          <p:cNvPr id="22" name="Shape 20"/>
          <p:cNvSpPr/>
          <p:nvPr/>
        </p:nvSpPr>
        <p:spPr>
          <a:xfrm>
            <a:off x="320040" y="3246120"/>
            <a:ext cx="8503920" cy="1051560"/>
          </a:xfrm>
          <a:prstGeom prst="rect">
            <a:avLst/>
          </a:prstGeom>
          <a:solidFill>
            <a:srgbClr val="FEF0E7"/>
          </a:solidFill>
          <a:ln/>
        </p:spPr>
      </p:sp>
      <p:sp>
        <p:nvSpPr>
          <p:cNvPr id="23" name="Shape 21"/>
          <p:cNvSpPr/>
          <p:nvPr/>
        </p:nvSpPr>
        <p:spPr>
          <a:xfrm>
            <a:off x="320040" y="3246120"/>
            <a:ext cx="73152" cy="1051560"/>
          </a:xfrm>
          <a:prstGeom prst="rect">
            <a:avLst/>
          </a:prstGeom>
          <a:solidFill>
            <a:srgbClr val="E8600A"/>
          </a:solidFill>
          <a:ln/>
        </p:spPr>
      </p:sp>
      <p:sp>
        <p:nvSpPr>
          <p:cNvPr id="24" name="Text 22"/>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KINK MAKES PRICES STICKY — AND WHY THE MODEL IS INCOMPLETE</a:t>
            </a:r>
            <a:endParaRPr lang="en-US" sz="1100" dirty="0"/>
          </a:p>
        </p:txBody>
      </p:sp>
      <p:sp>
        <p:nvSpPr>
          <p:cNvPr id="25" name="Text 23"/>
          <p:cNvSpPr txBox="1"/>
          <p:nvPr/>
        </p:nvSpPr>
        <p:spPr>
          <a:xfrm>
            <a:off x="457200" y="356616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kink produces a DISCONTINUOUS marginal revenue curve: a vertical gap at the prevailing quantity. Any marginal cost curve passing through that gap gives the same profit-maximising price and output, so costs can move a long way before the firm re-prices. That is why oligopoly prices are observed to be stable. The criticism: the model explains why the prevailing price persists but cannot say what set it, so the CFA calls it an incomplete pricing analysis.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Cournot duopoly assumes each firm treats its rival's output as fixed — solving the two reaction curves gives a price between competition and monopoly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As the number of firms rises, the Cournot outcome converges toward competition — historically the basis for US antitrust policy.
</a:t>
            </a:r>
            <a:pPr indent="0" marL="0">
              <a:buNone/>
            </a:pPr>
            <a:r>
              <a:rPr lang="en-US" sz="1000" dirty="0">
                <a:solidFill>
                  <a:srgbClr val="6B7A8D"/>
                </a:solidFill>
                <a:latin typeface="Calibri" pitchFamily="34" charset="0"/>
                <a:ea typeface="Calibri" pitchFamily="34" charset="-122"/>
                <a:cs typeface="Calibri" pitchFamily="34" charset="-120"/>
              </a:rPr>
              <a:t>² Contrast Stackelberg: Cournot moves are simultaneous, Stackelberg sequential — the first mover earns more, the follower less.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"The Cournot Assumption" and Exhibit 18, pp. 32–33.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Cournot (1838) predates game theory but delivers the same answer as the Nash equilibrium of the quantity-setting game — each firm best-responds to the rival's output.</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Setup:   Q_D  =  450  −  P ,   MC  =  30 ,   Q_D  =  q₁  +  q₂</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Each firm maximises its own profit assuming the rival's quantity is fixed. Two reaction equations, two unknowns, solve simultaneously.</a:t>
            </a:r>
            <a:endParaRPr lang="en-US" sz="1100" dirty="0"/>
          </a:p>
        </p:txBody>
      </p:sp>
      <p:sp>
        <p:nvSpPr>
          <p:cNvPr id="13" name="Shape 11"/>
          <p:cNvSpPr/>
          <p:nvPr/>
        </p:nvSpPr>
        <p:spPr>
          <a:xfrm>
            <a:off x="320040" y="233172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 DUOPOLY WITH LINEAR DEMAND</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firms choose quantities q₁ and q₂ with P = 450 − (q₁ + q₂). Each sets MR = MC = 30 taking the other's quantity as given.</a:t>
            </a:r>
            <a:endParaRPr lang="en-US" sz="1200" dirty="0"/>
          </a:p>
        </p:txBody>
      </p:sp>
      <p:sp>
        <p:nvSpPr>
          <p:cNvPr id="16" name="Text 14"/>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TR₁ = (450 − q₁ − q₂)·q₁  →  MR₁ = 450 − 2q₁ − q₂ = 30.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By symmetry: 450 − q₁ − 2q₂ = 30. With q₁ = q₂: 450 − 3q₁ = 30 → q₁ = q₂ = 140, Q = 280.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Price: P_Cournot = 450 − 280 = 170.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Benchmarks: perfect competition sets P = MC → 450 − Q = 30 → Q = 420, P = 30. Monopoly sets MR = MC on market demand → 450 − 2Q = 30 → Q = 210, P = 240.</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Cournot: Q = 280, P = 170 — squarely between competition (30) and monopoly (240).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 a Nash equilibrium no firm can improve its own profit by unilaterally changing strategy — even when a cooperative outcome would pay both of them more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Collusion succeeds when sellers are few, products homogeneous, cost structures similar, orders small and frequent, retaliation severe.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"The Nash Equilibrium", Exhibit 19 (ArcCo / BatCo), pp. 34–36.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Payoffs are (ArcCo, BatCo). Find each firm's best response to each rival strategy — the cell where BOTH are best-responding is the Nash equilibrium.</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383280"/>
                <a:gridCol w="256032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ArcCo strategy  \  BatCo strategy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BatCo — LOW 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BatCo — HIGH 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ArcCo — LOW price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ArcCo 50   ·   BatCo 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ArcCo 80   ·   BatCo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ArcCo — HIGH price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ArcCo 300  ·   BatCo 350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ArcCo 500  ·   BatCo 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377440"/>
            <a:ext cx="8503920" cy="1920240"/>
          </a:xfrm>
          <a:prstGeom prst="rect">
            <a:avLst/>
          </a:prstGeom>
          <a:solidFill>
            <a:srgbClr val="FEF0E7"/>
          </a:solidFill>
          <a:ln w="9525">
            <a:solidFill>
              <a:srgbClr val="E8600A"/>
            </a:solidFill>
            <a:prstDash val="solid"/>
          </a:ln>
        </p:spPr>
      </p:sp>
      <p:sp>
        <p:nvSpPr>
          <p:cNvPr id="12" name="Text 9"/>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PAYOFF MATRIX — SOLVE IT COLUMN BY COLUMN</a:t>
            </a:r>
            <a:endParaRPr lang="en-US" sz="1100" dirty="0"/>
          </a:p>
        </p:txBody>
      </p:sp>
      <p:sp>
        <p:nvSpPr>
          <p:cNvPr id="13" name="Text 10"/>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Each firm picks Low or High simultaneously. Find each firm's dominant strategy, then the Nash equilibrium and the cooperative equilibrium.</a:t>
            </a:r>
            <a:endParaRPr lang="en-US" sz="1200" dirty="0"/>
          </a:p>
        </p:txBody>
      </p:sp>
      <p:sp>
        <p:nvSpPr>
          <p:cNvPr id="14" name="Text 11"/>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BatCo: if ArcCo LOW, 70 &gt; 0 ⇒ play LOW. If ArcCo HIGH, 350 &gt; 300 ⇒ play LOW. LOW is dominant for BatCo.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ArcCo: if BatCo LOW, 300 &gt; 50 ⇒ play HIGH. If BatCo HIGH, 500 &gt; 80 ⇒ play HIGH. HIGH is dominant for ArcCo.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Nash equilibrium = (ArcCo HIGH, BatCo LOW), payoffs 300 + 350 = 650. Neither can gain by moving alone.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Joint profit is maximised at (HIGH, HIGH) = 500 + 300 = 800. BatCo will only go there if ArcCo shares at least 51 of its 500 — 300 + 51 &gt; 350.</a:t>
            </a:r>
            <a:endParaRPr lang="en-US" sz="1050" dirty="0"/>
          </a:p>
        </p:txBody>
      </p:sp>
      <p:sp>
        <p:nvSpPr>
          <p:cNvPr id="15" name="Shape 12"/>
          <p:cNvSpPr/>
          <p:nvPr/>
        </p:nvSpPr>
        <p:spPr>
          <a:xfrm>
            <a:off x="411480" y="3858768"/>
            <a:ext cx="8321040" cy="365760"/>
          </a:xfrm>
          <a:prstGeom prst="rect">
            <a:avLst/>
          </a:prstGeom>
          <a:solidFill>
            <a:srgbClr val="E8600A"/>
          </a:solidFill>
          <a:ln/>
        </p:spPr>
      </p:sp>
      <p:sp>
        <p:nvSpPr>
          <p:cNvPr id="16"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Nash = (ArcCo HIGH, BatCo LOW) = 650. Cooperative = (HIGH, HIGH) = 800. Side-payment needed: ≥ 51.</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single-price monopolist sets MR equal to MC on the whole market demand curve — producing less and pricing higher than competition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Price discrimination is an extension beyond LM 1, included here because it is where monopoly rent actually shows up in practice.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monopoly benchmark within the Cournot discussion and Exhibit 18, pp. 32–33; dominant-firm price leadership pp. 36–37.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monopolist finds quantity from MR = MC and then charges whatever the demand curve supports at that quantity. Lower output plus higher price is the CFA's core comparison with perfect competition.</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Same setup:  P = 450 − Q ,  MC = 30    →    MR = 450 − 2Q</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TR = P·Q = 450Q − Q², so MR = 450 − 2Q — MR falls twice as fast as demand. Set MR = MC: 450 − 2Q = 30 → Q = 210; then read price off demand: P = 450 − 210 = 240.</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2194560"/>
          <a:ext cx="8503920" cy="914400"/>
        </p:xfrm>
        <a:graphic>
          <a:graphicData uri="http://schemas.openxmlformats.org/drawingml/2006/table">
            <a:tbl>
              <a:tblPr/>
              <a:tblGrid>
                <a:gridCol w="3200400"/>
                <a:gridCol w="1188720"/>
                <a:gridCol w="1188720"/>
                <a:gridCol w="146304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Market structure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Quantity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Consumers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Producers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Perfect competition (P = MC)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Normal profit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Cournot duopoly (two firms)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Intermediate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Monopoly (MR = MC)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Worst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Maximum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4" name="Shape 11"/>
          <p:cNvSpPr/>
          <p:nvPr/>
        </p:nvSpPr>
        <p:spPr>
          <a:xfrm>
            <a:off x="320040" y="3401568"/>
            <a:ext cx="8503920" cy="896112"/>
          </a:xfrm>
          <a:prstGeom prst="rect">
            <a:avLst/>
          </a:prstGeom>
          <a:solidFill>
            <a:srgbClr val="FEF0E7"/>
          </a:solidFill>
          <a:ln/>
        </p:spPr>
      </p:sp>
      <p:sp>
        <p:nvSpPr>
          <p:cNvPr id="15" name="Shape 12"/>
          <p:cNvSpPr/>
          <p:nvPr/>
        </p:nvSpPr>
        <p:spPr>
          <a:xfrm>
            <a:off x="320040" y="3401568"/>
            <a:ext cx="73152" cy="896112"/>
          </a:xfrm>
          <a:prstGeom prst="rect">
            <a:avLst/>
          </a:prstGeom>
          <a:solidFill>
            <a:srgbClr val="E8600A"/>
          </a:solidFill>
          <a:ln/>
        </p:spPr>
      </p:sp>
      <p:sp>
        <p:nvSpPr>
          <p:cNvPr id="16" name="Text 13"/>
          <p:cNvSpPr txBox="1"/>
          <p:nvPr/>
        </p:nvSpPr>
        <p:spPr>
          <a:xfrm>
            <a:off x="457200" y="34472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WHERE MONOPOLY POWER ACTUALLY SHOWS UP</a:t>
            </a:r>
            <a:endParaRPr lang="en-US" sz="1100" dirty="0"/>
          </a:p>
        </p:txBody>
      </p:sp>
      <p:sp>
        <p:nvSpPr>
          <p:cNvPr id="17" name="Text 14"/>
          <p:cNvSpPr txBox="1"/>
          <p:nvPr/>
        </p:nvSpPr>
        <p:spPr>
          <a:xfrm>
            <a:off x="457200" y="3721608"/>
            <a:ext cx="8275320" cy="5303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You rarely meet a pure monopolist; you do meet dominant firms — the CFA puts the threshold near 40% share — acting as price leaders while followers accept the price rather than fight a lower-cost producer. The other upgrade is price discrimination: different prices to different buyers (fare buckets, student pricing, volume tiers) turns consumer surplus into profit.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Concentration ratios and the Herfindahl-Hirschman Index measure how concentrated a market is — and the HHI catches the mergers a concentration ratio ignores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Neither measure captures barriers to entry or demand elasticity — a lone incumbent facing a credible entrant still prices competitively.
</a:t>
            </a:r>
            <a:pPr indent="0" marL="0">
              <a:buNone/>
            </a:pPr>
            <a:r>
              <a:rPr lang="en-US" sz="1000" dirty="0">
                <a:solidFill>
                  <a:srgbClr val="6B7A8D"/>
                </a:solidFill>
                <a:latin typeface="Calibri" pitchFamily="34" charset="0"/>
                <a:ea typeface="Calibri" pitchFamily="34" charset="-122"/>
                <a:cs typeface="Calibri" pitchFamily="34" charset="-120"/>
              </a:rPr>
              <a:t>² US screens: the 2010 guidelines used HHI 1,500 / 2,500; the 2023 guidelines presume harm above HHI 1,800 with an increase over 100.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1, "Determining Market Structure", concentration-ratio box, Example 4 and question set, pp. 40–43.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HHI squares market shares before summing, so big firms count disproportionately. M equal firms give HHI = 1/M — five equal firms score 0.20, a monopolist scores 1.00.</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CR_N  =  Σᵢ₌₁..N  sᵢ                    HHI  =  Σᵢ  sᵢ²</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s_i = market share of firm i as a decimal. CR_N ranges from 0 (perfect competition) to 100% (monopoly); HHI from ~0 to 1.00. Both are normally quoted on the top N firms.</a:t>
            </a:r>
            <a:endParaRPr lang="en-US" sz="1100" dirty="0"/>
          </a:p>
        </p:txBody>
      </p:sp>
      <p:sp>
        <p:nvSpPr>
          <p:cNvPr id="13" name="Shape 11"/>
          <p:cNvSpPr/>
          <p:nvPr/>
        </p:nvSpPr>
        <p:spPr>
          <a:xfrm>
            <a:off x="320040" y="233172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 FIVE-FIRM MARKET (ZETA / YUSEF / XENON / WATERS / VLASTOS)</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Shares: Zeta 35%, Yusef 25%, Xenon 20%, Waters 10%, Vlastos 10%. Compute CR₃ and HHI₃, then re-run both after the top two merge.</a:t>
            </a:r>
            <a:endParaRPr lang="en-US" sz="1200" dirty="0"/>
          </a:p>
        </p:txBody>
      </p:sp>
      <p:sp>
        <p:nvSpPr>
          <p:cNvPr id="16" name="Text 14"/>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CR₃ = 35 + 25 + 20 = 80% — the top three control four-fifths of the market.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HHI₃ = 0.35² + 0.25² + 0.20² = 0.1225 + 0.0625 + 0.0400 = 0.2250.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Merger: Zeta + Yusef → 60%. CR₃ moves only from 80% to 60 + 20 + 10 = 90% (+10 pp).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HHI₃ goes to 0.60² + 0.20² + 0.10² = 0.36 + 0.04 + 0.01 = 0.4100 — an 82% jump on a barely-moved CR.</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Pre-merger HHI₃ = 0.225 → post-merger 0.410. HHI is the merger-sensitive gauge; CR is not.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Business cycle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phases &amp; indicators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4 of 20  ·  Studio Tonton Gug</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business cycle has four phases — recovery, expansion, slowdown, contraction — distinguished by the sign and direction of the output gap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"Phases of the Business Cycle" and Exhibit 5, pp. 52–55.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Output gap = actual GDP − potential GDP. Two questions define the phase: is the gap positive or negative, and is it widening or narrowing? Recovery and expansion close then overshoot; slowdown and contraction unwind.</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2468880"/>
                <a:gridCol w="2377440"/>
                <a:gridCol w="2011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Output gap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Employment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Inflation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Recovery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 starting to narrow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Layoffs slow; overtime before hiring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Remains moderate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Expansion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Turns positive — boom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Overtime → hiring; U stabilises, falls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Picks up modestly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Slowdown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Peak positive gap, narrowing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Hiring continues, slower; U still falls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Accelerates further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Contraction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Turns 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Hours cut, hiring freeze, then layoffs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Decelerates with a lag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51560"/>
          </a:xfrm>
          <a:prstGeom prst="rect">
            <a:avLst/>
          </a:prstGeom>
          <a:solidFill>
            <a:srgbClr val="FEF0E7"/>
          </a:solidFill>
          <a:ln/>
        </p:spPr>
      </p:sp>
      <p:sp>
        <p:nvSpPr>
          <p:cNvPr id="11" name="Shape 8"/>
          <p:cNvSpPr/>
          <p:nvPr/>
        </p:nvSpPr>
        <p:spPr>
          <a:xfrm>
            <a:off x="320040" y="3246120"/>
            <a:ext cx="73152" cy="105156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RULE OF THUMB vs THE NBER METHOD</a:t>
            </a:r>
            <a:endParaRPr lang="en-US" sz="1100" dirty="0"/>
          </a:p>
        </p:txBody>
      </p:sp>
      <p:sp>
        <p:nvSpPr>
          <p:cNvPr id="13" name="Text 10"/>
          <p:cNvSpPr txBox="1"/>
          <p:nvPr/>
        </p:nvSpPr>
        <p:spPr>
          <a:xfrm>
            <a:off x="457200" y="356616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informal rule: two consecutive quarters of negative real GDP growth = recession. The CFA calls this misleading — a slightly positive middle quarter between two negatives breaks it. The NBER Business Cycle Dating Committee instead reads a basket (employment, industrial production, sales) and applies Burns &amp; Mitchell principles, which is why its determinations often land well after the turning point itself. Useful rule for a real-time call; wrong tool for a definitive date.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Classical, growth, and growth-rate cycles are three different measuring sticks — most modern analysts use the growth cycle around trend GDP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"Types of Cycles" and Exhibits 2–4, pp. 52–54.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CFA is explicit: the classical cycle is rarely used, and it will generally use the growth-cycle concept. Know all three anyway — practitioners use the words interchangeably and cause exactly the confusion you are about to avoid.</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CLASSICAL CYCLE</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Fluctuations in the LEVEL of economic activity (volume GDP).</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Contractions between peaks and troughs are short; expansions are much longer.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Rarely used, for two CFA-stated reasons: it does not separate short-term fluctuation from long-run trend, and outright absolute declines in activity are infrequent.</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GROWTH CYCLE</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Fluctuations AROUND the trend or potential growth path — that is, the output gap.</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Peaks come earlier and troughs later than in the classical cycle; time above and below trend is of similar length.</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Closest to how mainstream economists think. The concept used in this deck.</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GROWTH-RATE CYCLE</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Fluctuations in the GROWTH RATE itself (e.g. YoY or annualised MoM GDP growth).</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Advantage: no need to estimate a long-run trend first.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Peaks and troughs are recognised EARLIEST of the three — which is why central-bank watchers phrase calls as "growth has peaked".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Credit cycles are longer and deeper than business cycles and amplify them — loose credit funds the excesses that later unwind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"Credit Cycles" and BIS Exhibit 6, pp. 57–60.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symmetry matters both ways: recessions accompanied by house- and equity-price busts are longer and deeper, and recoveries accompanied by rapid credit, risk-taking and house-price growth are stronger.</a:t>
            </a:r>
            <a:endParaRPr lang="en-US" sz="1300" dirty="0"/>
          </a:p>
        </p:txBody>
      </p:sp>
      <p:sp>
        <p:nvSpPr>
          <p:cNvPr id="9" name="Shape 7"/>
          <p:cNvSpPr/>
          <p:nvPr/>
        </p:nvSpPr>
        <p:spPr>
          <a:xfrm>
            <a:off x="320040" y="1188720"/>
            <a:ext cx="4160520" cy="1828800"/>
          </a:xfrm>
          <a:prstGeom prst="rect">
            <a:avLst/>
          </a:prstGeom>
          <a:solidFill>
            <a:srgbClr val="FEF0E7"/>
          </a:solidFill>
          <a:ln/>
        </p:spPr>
      </p:sp>
      <p:sp>
        <p:nvSpPr>
          <p:cNvPr id="10" name="Shape 8"/>
          <p:cNvSpPr/>
          <p:nvPr/>
        </p:nvSpPr>
        <p:spPr>
          <a:xfrm>
            <a:off x="320040" y="1188720"/>
            <a:ext cx="73152" cy="182880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CREDIT CYCLES MEASURE</a:t>
            </a:r>
            <a:endParaRPr lang="en-US" sz="1100" dirty="0"/>
          </a:p>
        </p:txBody>
      </p:sp>
      <p:sp>
        <p:nvSpPr>
          <p:cNvPr id="12" name="Text 10"/>
          <p:cNvSpPr txBox="1"/>
          <p:nvPr/>
        </p:nvSpPr>
        <p:spPr>
          <a:xfrm>
            <a:off x="457200" y="150876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changing AVAILABILITY and PRICING of credit — growth in private-sector credit. BIS composite proxy: real credit, credit-to-GDP ratio, real house prices. Market proxies: bank lending standards, high-yield spreads, LTVs on new mortgages.</a:t>
            </a:r>
            <a:endParaRPr lang="en-US" sz="1200" dirty="0"/>
          </a:p>
        </p:txBody>
      </p:sp>
      <p:sp>
        <p:nvSpPr>
          <p:cNvPr id="13" name="Shape 11"/>
          <p:cNvSpPr/>
          <p:nvPr/>
        </p:nvSpPr>
        <p:spPr>
          <a:xfrm>
            <a:off x="4663440" y="1188720"/>
            <a:ext cx="4160520" cy="1828800"/>
          </a:xfrm>
          <a:prstGeom prst="rect">
            <a:avLst/>
          </a:prstGeom>
          <a:solidFill>
            <a:srgbClr val="F5F7FA"/>
          </a:solidFill>
          <a:ln/>
        </p:spPr>
      </p:sp>
      <p:sp>
        <p:nvSpPr>
          <p:cNvPr id="14" name="Shape 12"/>
          <p:cNvSpPr/>
          <p:nvPr/>
        </p:nvSpPr>
        <p:spPr>
          <a:xfrm>
            <a:off x="4663440" y="1188720"/>
            <a:ext cx="73152" cy="182880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THEY AMPLIFY</a:t>
            </a:r>
            <a:endParaRPr lang="en-US" sz="1100" dirty="0"/>
          </a:p>
        </p:txBody>
      </p:sp>
      <p:sp>
        <p:nvSpPr>
          <p:cNvPr id="16" name="Text 14"/>
          <p:cNvSpPr txBox="1"/>
          <p:nvPr/>
        </p:nvSpPr>
        <p:spPr>
          <a:xfrm>
            <a:off x="4800600" y="150876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Credit finances construction and property purchase. Rising asset prices raise household wealth and collateral values, which supports more credit. When lenders pull back, the unwind is self-reinforcing: falling values → defaults → bank losses → further tightening. Strong credit-cycle peaks are closely associated with subsequent systemic banking crises.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3154680"/>
          <a:ext cx="8503920" cy="914400"/>
        </p:xfrm>
        <a:graphic>
          <a:graphicData uri="http://schemas.openxmlformats.org/drawingml/2006/table">
            <a:tbl>
              <a:tblPr/>
              <a:tblGrid>
                <a:gridCol w="3017520"/>
                <a:gridCol w="1463040"/>
                <a:gridCol w="4023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Crisis (CFA-cited)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Region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Credit-cycle precursor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Latin America debt crisis, 1980s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Latam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Sovereign USD borrowing boom, then commodity bust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Mexico, Brazil, Russia crises, 1990s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Emerging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External debt build-up; capital-flow reversal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Asian financial crisis, 1997–1998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East Asia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Property and corporate USD-lending boom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Global Financial Crisis, 2008–2009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Global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 subprime mortgage leverage and securitisation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Leading, coincident, and lagging indicators each answer a different question — what will happen, what is happening, what just happened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Conference Board LEI, components 1–5: ISM new orders · average weekly hours (mfg) · initial jobless claims · new orders, consumer goods.
</a:t>
            </a:r>
            <a:pPr indent="0" marL="0">
              <a:buNone/>
            </a:pPr>
            <a:r>
              <a:rPr lang="en-US" sz="1000" dirty="0">
                <a:solidFill>
                  <a:srgbClr val="6B7A8D"/>
                </a:solidFill>
                <a:latin typeface="Calibri" pitchFamily="34" charset="0"/>
                <a:ea typeface="Calibri" pitchFamily="34" charset="-122"/>
                <a:cs typeface="Calibri" pitchFamily="34" charset="-120"/>
              </a:rPr>
              <a:t>² LEI 6–10: new orders, non-defence capital goods ex-aircraft · building permits · S&amp;P 500 · Leading Credit Index · 10y–fed-funds spread · consumer expectations.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"Economic Indicators", Exhibits 10–12 and the diffusion-index box, pp. 65–72.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phase call uses all three: a coincident indicator to anchor the present, a leading one to extrapolate, a lagging one to confirm the last turn. No single indicator is definitive — that is the CFA's own answer.</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4754880"/>
                <a:gridCol w="1737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 indicators (CFA Exhibit 10)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Leading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Stock market, house prices, retail sales, interest spread (LT vs ST), building permits, consumer expectations, average weekly hours (mfg), manufacturers' new orders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Predict the next turn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Coincident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Industrial production index, real personal income, manufacturing and trade sales, non-farm payrolls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Identify the current phase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Lagging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Average duration of unemployment, inventory-to-sales ratio, change in unit labour cost, inflation, average prime lending rate, consumer instalment debt / income, C&amp;I loans outstanding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Confirm the previous turn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291840"/>
            <a:ext cx="8503920" cy="1005840"/>
          </a:xfrm>
          <a:prstGeom prst="rect">
            <a:avLst/>
          </a:prstGeom>
          <a:solidFill>
            <a:srgbClr val="FEF0E7"/>
          </a:solidFill>
          <a:ln/>
        </p:spPr>
      </p:sp>
      <p:sp>
        <p:nvSpPr>
          <p:cNvPr id="12" name="Shape 9"/>
          <p:cNvSpPr/>
          <p:nvPr/>
        </p:nvSpPr>
        <p:spPr>
          <a:xfrm>
            <a:off x="320040" y="3291840"/>
            <a:ext cx="73152" cy="1005840"/>
          </a:xfrm>
          <a:prstGeom prst="rect">
            <a:avLst/>
          </a:prstGeom>
          <a:solidFill>
            <a:srgbClr val="E8600A"/>
          </a:solidFill>
          <a:ln/>
        </p:spPr>
      </p:sp>
      <p:sp>
        <p:nvSpPr>
          <p:cNvPr id="13" name="Text 10"/>
          <p:cNvSpPr txBox="1"/>
          <p:nvPr/>
        </p:nvSpPr>
        <p:spPr>
          <a:xfrm>
            <a:off x="457200" y="33375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DIFFUSION INDEX — READ BREADTH, NOT JUST LEVEL</a:t>
            </a:r>
            <a:endParaRPr lang="en-US" sz="1100" dirty="0"/>
          </a:p>
        </p:txBody>
      </p:sp>
      <p:sp>
        <p:nvSpPr>
          <p:cNvPr id="14" name="Text 11"/>
          <p:cNvSpPr txBox="1"/>
          <p:nvPr/>
        </p:nvSpPr>
        <p:spPr>
          <a:xfrm>
            <a:off x="457200" y="361188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diffusion index is the proportion of a composite's components moving consistently with the overall index. The Conference Board scores each of the 10 LEI components 1.0 if it rises more than 0.05%, 0.5 if it moves less than that, 0 if it falls more than 0.05% — then averages and multiplies by 100. A composite rising because 8 of 10 components are up is a far stronger signal than one dragged up by two outliers. Separately, nowcasting uses high-frequency data (card spend, search, transactions) to estimate the present before official data lands.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Unemployment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inflation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4 of 20  ·  Studio Tonton Gug</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unemployment rate counts the jobless who are actively looking for work — on a labor-force base that itself moves with the cycle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 standard Level I macroeconomics framework. Lagging-indicator behaviour is CFA Vol 2, LM 2, Exhibit 10 and practice problems 14–15, pp. 66 and 76.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CFA reason unemployment lags: hiring and firing are both costly, so businesses delay both. Unemployment rises slowly as recessions start and falls slowly as recoveries begin.</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U  =  Unemployed / Labor force            LFPR  =  Labor force / Working-age population</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Labor force = employed + unemployed and actively seeking. It excludes discouraged workers who have stopped searching, and the institutionalised population.</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2103120"/>
                <a:gridCol w="4754880"/>
                <a:gridCol w="16459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Component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Cycle behavior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Frictional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Short-term job transitions and search friction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Roughly stable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Structural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Skill or geographic mismatch with vacancies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Slow-moving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Cyclical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Aggregate-demand driven — rises in recession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Highly cyclical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Natural rate (NAIRU)</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Frictional + structural; stable-inflation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Slow-moving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3" name="Shape 10"/>
          <p:cNvSpPr/>
          <p:nvPr/>
        </p:nvSpPr>
        <p:spPr>
          <a:xfrm>
            <a:off x="320040" y="3794760"/>
            <a:ext cx="8503920" cy="502920"/>
          </a:xfrm>
          <a:prstGeom prst="rect">
            <a:avLst/>
          </a:prstGeom>
          <a:solidFill>
            <a:srgbClr val="FEF0E7"/>
          </a:solidFill>
          <a:ln/>
        </p:spPr>
      </p:sp>
      <p:sp>
        <p:nvSpPr>
          <p:cNvPr id="14" name="Shape 11"/>
          <p:cNvSpPr/>
          <p:nvPr/>
        </p:nvSpPr>
        <p:spPr>
          <a:xfrm>
            <a:off x="320040" y="3794760"/>
            <a:ext cx="73152" cy="502920"/>
          </a:xfrm>
          <a:prstGeom prst="rect">
            <a:avLst/>
          </a:prstGeom>
          <a:solidFill>
            <a:srgbClr val="E8600A"/>
          </a:solidFill>
          <a:ln/>
        </p:spPr>
      </p:sp>
      <p:sp>
        <p:nvSpPr>
          <p:cNvPr id="15" name="Text 12"/>
          <p:cNvSpPr txBox="1"/>
          <p:nvPr/>
        </p:nvSpPr>
        <p:spPr>
          <a:xfrm>
            <a:off x="457200" y="3867912"/>
            <a:ext cx="8275320" cy="3931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Both edges cut the same way: the headline U-rate can FALL early in a downturn as discouraged workers leave the labor force, and RISE early in a recovery as job seekers re-enter (CFA LM 2, PP 15). Always read U with the LFPR.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CPI, core CPI, PPI, and the GDP deflator measure inflation differently — and they can disagree by meaningful margins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 standard Level I macroeconomics framework. Central-bank practice per CFA Vol 2, LM 4 (the Fed watches core PCE around 2%), p. 121.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Central banks target core measures because food and energy are volatile supply-driven components that monetary policy cannot address without wrecking employment on the way.</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3291840"/>
                <a:gridCol w="173736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Measure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Basket / scope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Weights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Headline CPI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Urban household consumption basket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Laspeyres (fixed)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Cost-of-living index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Core CPI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CPI excluding food and energy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CPI ex-volatiles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Underlying trend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PPI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Producer selling prices at wholesale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Output-weighted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Early-stage signal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GDP deflator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 domestically produced goods/services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Paasche (current)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Whole-economy prices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PCE deflator (US)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Personal consumption expenditure basket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Chained, current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Fed core gauge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280160"/>
          </a:xfrm>
          <a:prstGeom prst="rect">
            <a:avLst/>
          </a:prstGeom>
          <a:solidFill>
            <a:srgbClr val="FEF0E7"/>
          </a:solidFill>
          <a:ln/>
        </p:spPr>
      </p:sp>
      <p:sp>
        <p:nvSpPr>
          <p:cNvPr id="11" name="Shape 8"/>
          <p:cNvSpPr/>
          <p:nvPr/>
        </p:nvSpPr>
        <p:spPr>
          <a:xfrm>
            <a:off x="320040" y="3017520"/>
            <a:ext cx="73152" cy="128016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HEADLINE AND CORE DIVERGE — AND WHY IT IS NOT A CONTRADICTION</a:t>
            </a:r>
            <a:endParaRPr lang="en-US" sz="1100" dirty="0"/>
          </a:p>
        </p:txBody>
      </p:sp>
      <p:sp>
        <p:nvSpPr>
          <p:cNvPr id="13" name="Text 10"/>
          <p:cNvSpPr txBox="1"/>
          <p:nvPr/>
        </p:nvSpPr>
        <p:spPr>
          <a:xfrm>
            <a:off x="457200" y="3337560"/>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oil-price spike lifts headline CPI immediately but raises core CPI only to the extent it leaks into transport, heating and the input costs of non-energy goods. Central banks "look through" the first effect and react only to the second. That is why "CPI print high, central bank unmoved" is a coherent story rather than a policy error. The GDP deflator can also diverge for a structural reason: it covers domestic PRODUCTION, so imported price moves hit CPI but not the deflator.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Phillips curve maps the short-run trade-off between inflation and unemployment — but the long-run curve is vertical at the natural rate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 standard Level I macroeconomics; Phillips (1958) with the Friedman–Phelps expectations-augmented extension.</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Short run: the central bank can buy less unemployment by accepting more inflation. Long run: it cannot — it gets the inflation and keeps the same unemployment.</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Short run:   π  =  E[π]  −  β (U − U_natural)      Long run:   U  =  U_natural   (vertical)</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π = inflation; E[π] = expected inflation; U = unemployment rate; U_natural = NAIRU; β &gt; 0 is the short-run slope. Note the sign: U above NAIRU pushes π below expectations.</a:t>
            </a:r>
            <a:endParaRPr lang="en-US" sz="1100" dirty="0"/>
          </a:p>
        </p:txBody>
      </p:sp>
      <p:sp>
        <p:nvSpPr>
          <p:cNvPr id="12" name="Shape 10"/>
          <p:cNvSpPr/>
          <p:nvPr/>
        </p:nvSpPr>
        <p:spPr>
          <a:xfrm>
            <a:off x="320040" y="2331720"/>
            <a:ext cx="4160520" cy="1965960"/>
          </a:xfrm>
          <a:prstGeom prst="rect">
            <a:avLst/>
          </a:prstGeom>
          <a:solidFill>
            <a:srgbClr val="FEF0E7"/>
          </a:solidFill>
          <a:ln/>
        </p:spPr>
      </p:sp>
      <p:sp>
        <p:nvSpPr>
          <p:cNvPr id="13" name="Shape 11"/>
          <p:cNvSpPr/>
          <p:nvPr/>
        </p:nvSpPr>
        <p:spPr>
          <a:xfrm>
            <a:off x="320040" y="2331720"/>
            <a:ext cx="73152" cy="196596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SHORT RUN</a:t>
            </a:r>
            <a:endParaRPr lang="en-US" sz="1100" dirty="0"/>
          </a:p>
        </p:txBody>
      </p:sp>
      <p:sp>
        <p:nvSpPr>
          <p:cNvPr id="15" name="Text 13"/>
          <p:cNvSpPr txBox="1"/>
          <p:nvPr/>
        </p:nvSpPr>
        <p:spPr>
          <a:xfrm>
            <a:off x="4572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With expectations fixed, U and π trade off along one curve. A demand surprise pushing U below NAIRU raises π above E[π]. Central banks exploit this briefly to "run the economy hot" — the trade-off is real, just temporary.</a:t>
            </a:r>
            <a:endParaRPr lang="en-US" sz="1200" dirty="0"/>
          </a:p>
        </p:txBody>
      </p:sp>
      <p:sp>
        <p:nvSpPr>
          <p:cNvPr id="16" name="Shape 14"/>
          <p:cNvSpPr/>
          <p:nvPr/>
        </p:nvSpPr>
        <p:spPr>
          <a:xfrm>
            <a:off x="4663440" y="2331720"/>
            <a:ext cx="4160520" cy="1965960"/>
          </a:xfrm>
          <a:prstGeom prst="rect">
            <a:avLst/>
          </a:prstGeom>
          <a:solidFill>
            <a:srgbClr val="F5F7FA"/>
          </a:solidFill>
          <a:ln/>
        </p:spPr>
      </p:sp>
      <p:sp>
        <p:nvSpPr>
          <p:cNvPr id="17" name="Shape 15"/>
          <p:cNvSpPr/>
          <p:nvPr/>
        </p:nvSpPr>
        <p:spPr>
          <a:xfrm>
            <a:off x="4663440" y="2331720"/>
            <a:ext cx="73152" cy="196596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LONG RUN</a:t>
            </a:r>
            <a:endParaRPr lang="en-US" sz="1100" dirty="0"/>
          </a:p>
        </p:txBody>
      </p:sp>
      <p:sp>
        <p:nvSpPr>
          <p:cNvPr id="19" name="Text 17"/>
          <p:cNvSpPr txBox="1"/>
          <p:nvPr/>
        </p:nvSpPr>
        <p:spPr>
          <a:xfrm>
            <a:off x="48006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Agents update. If actual π exceeds expected π period after period, E[π] rises and the whole short-run curve shifts UP — same U, higher π. Stack those shifts and the long-run locus is vertical at NAIRU.</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is the Friedman–Phelps result, and it is why anchored expectations are a central bank's most valuable asset.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Okun's law ties the output gap to the unemployment gap at roughly 2-to-1 — a rule of thumb that holds across most developed economies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coefficient varies by country and era: post-1990 US near 2.0; Japan far higher, as employment norms make output absorb the shock.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 Okun (1962), original US coefficient ≈ 2.0; roughly 1.5–2.5 across developed markets.</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Okun's law is the bridge from a GDP forecast to an unemployment forecast — and, once combined with Phillips, all the way to an inflation forecast.</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(Y − Y*) / Y*  ≈  − α × (U − U_natural) ,   α ≈ 2.0</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 1 pp rise in the unemployment rate above NAIRU corresponds to output roughly 2% below potential. The minus sign is the whole content of the law.</a:t>
            </a:r>
            <a:endParaRPr lang="en-US" sz="1100" dirty="0"/>
          </a:p>
        </p:txBody>
      </p:sp>
      <p:sp>
        <p:nvSpPr>
          <p:cNvPr id="13" name="Shape 11"/>
          <p:cNvSpPr/>
          <p:nvPr/>
        </p:nvSpPr>
        <p:spPr>
          <a:xfrm>
            <a:off x="320040" y="233172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ILLUSTRATIVE — MAPPING U-GAP TO OUTPUT GAP</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Economy with potential growth 2% p.a. and NAIRU = 4%. Observed unemployment rises from 4% to 6% over the year. Estimate the output gap.</a:t>
            </a:r>
            <a:endParaRPr lang="en-US" sz="1200" dirty="0"/>
          </a:p>
        </p:txBody>
      </p:sp>
      <p:sp>
        <p:nvSpPr>
          <p:cNvPr id="16" name="Text 14"/>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Unemployment gap: U − U_natural = 6% − 4% = +2 pp.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Okun with α = 2.0:   output gap ≈ −2.0 × 2 pp = −4%.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Interpretation: actual GDP is running about 4% below potential — recessionary territory.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Run it backwards: closing 3 pp of that output gap would absorb roughly 1.5 pp of the unemployment gap.</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U-gap +2 pp  →  output gap ≈ −4%  (Okun coefficient 2.0).</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Combining Phillips and Okun lets an analyst translate an unemployment forecast into an inflation forecast — a core input for any rate-call narrative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 applies the Phillips and Okun relationships from the two preceding slides to a stylised scenario. No CFA worked example is cited.</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This is the quick model central-bank watchers run in their heads: unemployment gap ⇒ output gap ⇒ inflation gap ⇒ policy stance.</a:t>
            </a:r>
            <a:endParaRPr lang="en-US" sz="1300" dirty="0"/>
          </a:p>
        </p:txBody>
      </p:sp>
      <p:sp>
        <p:nvSpPr>
          <p:cNvPr id="9" name="Shape 7"/>
          <p:cNvSpPr/>
          <p:nvPr/>
        </p:nvSpPr>
        <p:spPr>
          <a:xfrm>
            <a:off x="320040" y="1188720"/>
            <a:ext cx="8503920" cy="201168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ILLUSTRATIVE — RECESSION SCENARIO</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Starting state: U = U_natural = 4%, π = E[π] = 2%. Shock: a demand-driven recession pushes U to 6%. Assume Okun α = 2.0 and Phillips β = 0.5.</a:t>
            </a:r>
            <a:endParaRPr lang="en-US" sz="1200" dirty="0"/>
          </a:p>
        </p:txBody>
      </p:sp>
      <p:sp>
        <p:nvSpPr>
          <p:cNvPr id="12" name="Text 10"/>
          <p:cNvSpPr txBox="1"/>
          <p:nvPr/>
        </p:nvSpPr>
        <p:spPr>
          <a:xfrm>
            <a:off x="457200" y="2039112"/>
            <a:ext cx="8229600" cy="64922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Step 1 — Unemployment gap: U − U_natural = 6% − 4% = +2 pp.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Step 2 — Okun output gap: −2.0 × 2 pp = −4%; actual GDP sits 4% below potential.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Step 3 — Phillips: π = E[π] − β × (U − U_natural) = 2% − 0.5 × 2 = 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Step 4 — Policy reading: a 100 bp inflation undershoot alongside a −4% output gap is a clear case for easing.</a:t>
            </a:r>
            <a:endParaRPr lang="en-US" sz="1050" dirty="0"/>
          </a:p>
        </p:txBody>
      </p:sp>
      <p:sp>
        <p:nvSpPr>
          <p:cNvPr id="13" name="Shape 11"/>
          <p:cNvSpPr/>
          <p:nvPr/>
        </p:nvSpPr>
        <p:spPr>
          <a:xfrm>
            <a:off x="411480" y="2761488"/>
            <a:ext cx="8321040" cy="365760"/>
          </a:xfrm>
          <a:prstGeom prst="rect">
            <a:avLst/>
          </a:prstGeom>
          <a:solidFill>
            <a:srgbClr val="E8600A"/>
          </a:solidFill>
          <a:ln/>
        </p:spPr>
      </p:sp>
      <p:sp>
        <p:nvSpPr>
          <p:cNvPr id="14" name="Text 12"/>
          <p:cNvSpPr txBox="1"/>
          <p:nvPr/>
        </p:nvSpPr>
        <p:spPr>
          <a:xfrm>
            <a:off x="457200" y="2761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π falls from 2% to 1% via the short-run Phillips trade-off; output gap = −4%.</a:t>
            </a:r>
            <a:endParaRPr lang="en-US" sz="1150" dirty="0"/>
          </a:p>
        </p:txBody>
      </p:sp>
      <p:sp>
        <p:nvSpPr>
          <p:cNvPr id="15" name="Shape 13"/>
          <p:cNvSpPr/>
          <p:nvPr/>
        </p:nvSpPr>
        <p:spPr>
          <a:xfrm>
            <a:off x="320040" y="3337560"/>
            <a:ext cx="8503920" cy="960120"/>
          </a:xfrm>
          <a:prstGeom prst="rect">
            <a:avLst/>
          </a:prstGeom>
          <a:solidFill>
            <a:srgbClr val="FEF0E7"/>
          </a:solidFill>
          <a:ln/>
        </p:spPr>
      </p:sp>
      <p:sp>
        <p:nvSpPr>
          <p:cNvPr id="16" name="Shape 14"/>
          <p:cNvSpPr/>
          <p:nvPr/>
        </p:nvSpPr>
        <p:spPr>
          <a:xfrm>
            <a:off x="320040" y="3337560"/>
            <a:ext cx="73152" cy="960120"/>
          </a:xfrm>
          <a:prstGeom prst="rect">
            <a:avLst/>
          </a:prstGeom>
          <a:solidFill>
            <a:srgbClr val="E8600A"/>
          </a:solidFill>
          <a:ln/>
        </p:spPr>
      </p:sp>
      <p:sp>
        <p:nvSpPr>
          <p:cNvPr id="17" name="Text 15"/>
          <p:cNvSpPr txBox="1"/>
          <p:nvPr/>
        </p:nvSpPr>
        <p:spPr>
          <a:xfrm>
            <a:off x="457200" y="33832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WHERE THIS MODEL BREAKS — SAY IT BEFORE SOMEONE ELSE DOES</a:t>
            </a:r>
            <a:endParaRPr lang="en-US" sz="1100" dirty="0"/>
          </a:p>
        </p:txBody>
      </p:sp>
      <p:sp>
        <p:nvSpPr>
          <p:cNvPr id="18" name="Text 16"/>
          <p:cNvSpPr txBox="1"/>
          <p:nvPr/>
        </p:nvSpPr>
        <p:spPr>
          <a:xfrm>
            <a:off x="457200" y="365760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short-run Phillips slope β has flattened materially since the 1990s as inflation expectations became well anchored, so inflation responds far less to the unemployment gap than older textbooks imply. And supply shocks — energy, pandemic-era supply chains — push π and U in the SAME direction, which breaks the trade-off outright. That is precisely why the 2021–2023 episode confounded the simple model.</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Investment-relevant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cycle dynamics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4 of 20  ·  Studio Tonton Gug</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Equity markets trough three to six months before the economy does, and credit and the curve turn earlier still — which is why both sit inside the LEI</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"Market Conditions and Investor Behavior", p. 55, and Exhibits 10–11, pp. 66–67.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Equities discount future cash flows, so they turn before reported earnings. Credit discounts future default probability, so it turns before equity fundamentals confirm anything.</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EQUITY MARKETS</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CFA is specific: equity markets typically hit a TROUGH about three to six months before the economy bottoms out, and well before indicators turn up.</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S&amp;P 500 is one of the 10 Conference Board LEI components for exactly this reason.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Take-away: by the time GDP confirms a turn, equities have already priced it.</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YIELD CURVE</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LEI component is the spread between 10-year Treasury yields and the fed funds rate.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Inversion means short rates are expected to FALL — the market pricing a cutting cycle to defend against weakness.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 US data it has preceded every recession since the late 1960s, typically by 12–24 months, with a small number of false positives. A long and variable lead, not a timing tool.</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CREDIT SPREADS</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Leading Credit Index — six financial indicators reflecting the financial system's ability to absorb stress — is also an LEI component.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Spreads tend to be tightest mid-cycle and widen through the late cycle as underwriting standards deteriorate.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CFA logic: a vulnerable financial system amplifies negative shocks into broad recessions.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Inventory and capital-spending cycles amplify the real economy — light equipment orders move first, heavy capex last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Inventories are small relative to GDP but swing hard. Capital spending is one of the most procyclical, volatile components of GDP.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Learning Module 2, Exhibit 8 (capital spending) and Exhibit 9 (inventories), pp. 61–64.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Watch the inventory-to-sales RATIO, not the inventory level: it falls in recovery, is stable through expansion, rises in slowdown as sales decelerate ahead of production, then falls back to normal as contraction clears the excess.</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463040"/>
                <a:gridCol w="2743200"/>
                <a:gridCol w="283464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Inventory / sales 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Capital spending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Orders placed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Recovery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 — sales recover faster than production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but rising; efficiency focus, not capacity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Software, IT hardware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Expansion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STABLE — restocking keeps pace with sales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Capacity expansion; strong cash flow funds capex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Heavy equipment, factories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Slowdown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RISES — sales slow faster than production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Orders continue at or near full capacity — a late-cycle tell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Capacity, e.g. TMT fibre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Contraction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 back to normal — output cut below sales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Orders halted, some in-flight orders cancelled; maintenance cut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Light/tech cut first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246120"/>
            <a:ext cx="8503920" cy="1005840"/>
          </a:xfrm>
          <a:prstGeom prst="rect">
            <a:avLst/>
          </a:prstGeom>
          <a:solidFill>
            <a:srgbClr val="FEF0E7"/>
          </a:solidFill>
          <a:ln/>
        </p:spPr>
      </p:sp>
      <p:sp>
        <p:nvSpPr>
          <p:cNvPr id="12" name="Shape 9"/>
          <p:cNvSpPr/>
          <p:nvPr/>
        </p:nvSpPr>
        <p:spPr>
          <a:xfrm>
            <a:off x="320040" y="3246120"/>
            <a:ext cx="73152" cy="1005840"/>
          </a:xfrm>
          <a:prstGeom prst="rect">
            <a:avLst/>
          </a:prstGeom>
          <a:solidFill>
            <a:srgbClr val="E8600A"/>
          </a:solidFill>
          <a:ln/>
        </p:spPr>
      </p:sp>
      <p:sp>
        <p:nvSpPr>
          <p:cNvPr id="13" name="Text 10"/>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THIS DRIVES SECTOR SELECTION</a:t>
            </a:r>
            <a:endParaRPr lang="en-US" sz="1100" dirty="0"/>
          </a:p>
        </p:txBody>
      </p:sp>
      <p:sp>
        <p:nvSpPr>
          <p:cNvPr id="14" name="Text 11"/>
          <p:cNvSpPr txBox="1"/>
          <p:nvPr/>
        </p:nvSpPr>
        <p:spPr>
          <a:xfrm>
            <a:off x="457200" y="356616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Order lead times set the sequence. Recovery capex goes to high-obsolescence kit — software, systems, hardware — so technology and semis lead early. Expansion capex funds heavy and complex equipment, warehouses and factories. In a downturn the sequence reverses: light equipment and technology are cut first because those orders are easy to cancel, while long-planned construction runs on and is cut last. Any sector view should ask where the industry sits on that order-book lead-lag curve.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Sector rotation maps cycle phases to portfolio tilts — cyclicals and risk assets early, defensives and duration late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Sector playbooks are empirical averages across many cycles, not forecasts. Use them as a prior, then overlay the specific drivers of the cycle you are actually in.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Risk-asset pattern per CFA Institute, Curriculum Vol 2, LM 2, "Market Conditions and Investor Behavior", pp. 55–56. The sector grid is a practitioner overlay.</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CFA gives the skeleton: risky assets are repriced upward when markets anticipate expansion, and safe assets — government bonds, utilities, staple producers — are prized in contraction. The sector detail below is practitioner convention layered on top.</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463040"/>
                <a:gridCol w="2377440"/>
                <a:gridCol w="338328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Equity style / size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Favored sectors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Fixed income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Recovery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 caps, value, cyclicals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Consumer discretionary, financials, homebuilders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HY credit rally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Expansion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Mid-cap quality,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Industrials, technology, materials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IG credit tight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Slowdown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Large-cap quality, low volatility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Energy, late-cycle industrials, commodities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Duration extends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Contraction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Defensives, long duration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Consumer staples, utilities, healthcare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Government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291840"/>
            <a:ext cx="8503920" cy="1005840"/>
          </a:xfrm>
          <a:prstGeom prst="rect">
            <a:avLst/>
          </a:prstGeom>
          <a:solidFill>
            <a:srgbClr val="FEF0E7"/>
          </a:solidFill>
          <a:ln/>
        </p:spPr>
      </p:sp>
      <p:sp>
        <p:nvSpPr>
          <p:cNvPr id="12" name="Shape 9"/>
          <p:cNvSpPr/>
          <p:nvPr/>
        </p:nvSpPr>
        <p:spPr>
          <a:xfrm>
            <a:off x="320040" y="3291840"/>
            <a:ext cx="73152" cy="1005840"/>
          </a:xfrm>
          <a:prstGeom prst="rect">
            <a:avLst/>
          </a:prstGeom>
          <a:solidFill>
            <a:srgbClr val="E8600A"/>
          </a:solidFill>
          <a:ln/>
        </p:spPr>
      </p:sp>
      <p:sp>
        <p:nvSpPr>
          <p:cNvPr id="13" name="Text 10"/>
          <p:cNvSpPr txBox="1"/>
          <p:nvPr/>
        </p:nvSpPr>
        <p:spPr>
          <a:xfrm>
            <a:off x="457200" y="33375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LIMITATIONS — DO NOT MISTAKE THIS FOR A FORECAST</a:t>
            </a:r>
            <a:endParaRPr lang="en-US" sz="1100" dirty="0"/>
          </a:p>
        </p:txBody>
      </p:sp>
      <p:sp>
        <p:nvSpPr>
          <p:cNvPr id="14" name="Text 11"/>
          <p:cNvSpPr txBox="1"/>
          <p:nvPr/>
        </p:nvSpPr>
        <p:spPr>
          <a:xfrm>
            <a:off x="457200" y="361188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Sector rotation works on average and in hindsight. Every cycle has its own character: technology led both the late-1990s expansion and the 2020–2021 recovery, breaking the "early-cycle cyclicals" rule twice; energy led the 2022 slowdown but underperformed in most previous ones. And the phase itself is only knowable with a lag. Use the playbook as a prior, anchor it to this cycle's specific drivers, and size the bets with humility.</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4 — Microeconomics &amp; Business Cycles</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Own-price elasticity E_d = (%ΔQ)/(%ΔP); |E_d| &gt; 1 elastic, &lt; 1 inelastic. Cut price when elastic to raise revenue; raise price when inelastic. TR peaks where MR = 0.</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Every market structure maximises profit at MR = MC with MC not falling. Under perfect competition P = MR; under every imperfect structure MR &lt; P.</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Breakeven at P = min ATC; short-run shutdown at P &lt; min AVC; long-run exit whenever P &lt; ATC. Sunk fixed costs are irrelevant to the short-run choice.</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Five determinants separate the four structures: sellers, differentiation, barriers, pricing power, non-price competition. Long-run economic profit is zero on the left, positive only where barriers hold.</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One demand curve (Q = 450 − P, MC = 30) gives three prices: competition 30, Cournot duopoly 170, monopoly 240. More firms push the outcome back toward 30.</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ArcCo/BatCo Nash = (ArcCo High, BatCo Low) = 650, because Low dominates for BatCo and High dominates for ArcCo. Cooperation pays 800 but needs a side-payment of at least 51.</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CR_N sums shares; HHI sums squares. The five-firm example goes 0.225 → 0.410 on a merger that moves CR₃ by only 10 pp — HHI is the merger-sensitive gauge.</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Four phases set by the output gap. Credit cycles are longer and deeper and lead. Inventory/sales falls, is stable, RISES in slowdown, then normalises. Leading predicts, coincident describes, lagging confirms.</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4 · Microeconomics &amp; Business Cycles</dc:title>
  <dc:subject>PptxGenJS Presentation</dc:subject>
  <dc:creator>Studio Tonton Gug</dc:creator>
  <cp:lastModifiedBy>Studio Tonton Gug</cp:lastModifiedBy>
  <cp:revision>1</cp:revision>
  <dcterms:created xsi:type="dcterms:W3CDTF">2026-08-30T20:48:20Z</dcterms:created>
  <dcterms:modified xsi:type="dcterms:W3CDTF">2026-08-30T20:48:20Z</dcterms:modified>
</cp:coreProperties>
</file>