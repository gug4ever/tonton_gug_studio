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13  ·  WEEK 4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 Income I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Instruments, Markets &amp; Issuance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issuers finance themselves and investors get paid — from indentures to auctions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6 Learning Modules 1–5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Fixed Income I — Instruments, Markets &amp; Issuance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Bond features &amp; indenture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1314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bond features · fixed / floating / zero coupons · FRN math · affirmative vs negative covenants · callable bonds (VIVU schedule)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923898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96961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Cash-flow structures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23003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vs amortizing vs balloon · USD 400k 30y mortgage · sinking funds · waterfalls · FRN / step-up / PIK / TIPS · puts &amp; convertibles (ZTGB)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640787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68650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Issuance &amp; trading mechanics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4692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× maturity segmentation · S&amp;P ratings · bond indexes · IG corporate issuance timeline · OTC secondary markets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57677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40339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FI markets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66381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credit · commercial paper &amp; ABCP · repo mechanics + haircut · reverse-repo short-selling · Bear Stearns · IG vs HY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74566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120286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 &amp; supranational issuers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438070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balance sheet · Ricardian equivalence · single- vs multiple-price auctions · agencies · supranationals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six features of a fixed-income security (issuer, maturity, principal, coupon, seniority, contingency provisions) and reproduce them from a prospectus summary.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bullet, amortizing, and balloon cash-flow structures; compute the periodic payment of a fully amortizing mortgage and decompose each payment into interest and principal.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affirmative and negative covenants; identify the incremental covenant stack imposed on high-yield versus investment-grade issuers.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purchase price, repurchase price, and haircut of a repurchase agreement given an initial margin, and explain why repos are a short-term funding lifeline and a systemic vulnerability.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single-price and multiple-price sovereign auctions; explain the role of primary dealers and the "non-economic" demand that compresses sovereign yields below corporate curves.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Bond features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indenture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5  ·  Deck 13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bond is fully specified by six features — issuer, maturity, principal, coupon, seniority, and contingency provisions — spelled out in the prospectus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1, "Features of Fixed-Income Securities", pp. 7–12.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reference — BRWA Corporation 3.2% Five-Year Notes, USD 300m par, senior unsecured, semi-annual coupon → USD 4.8m every six months.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38912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defines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BRWA 3.2% Five-Year Notes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Legal entity liable for interest and principal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Bright Wheels Automotive Corp.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Date of final payment; tenor = remaining life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 years from settlement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(par)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 repaid at maturity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300,000,000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rate &amp;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schedule — fixed, floating, or zero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3.2% fixed, semi-annual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Ranking vs other issuer debt in liquidation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Unsecured &amp; unsubordinated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Contingency provisions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Embedded options: call, put, or conversion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(plain vanilla)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 COUPON = PAR × COUPON RATE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300m × 3.2% = USD 9.6m per year, paid semi-annually as USD 4.8m. At maturity, the investor receives the final USD 4.8m coupon PLUS the USD 300m principal for a total USD 304.8m.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Coupons come in three flavours — fixed, floating, or zero — and a floater's rate is always MRR plus a fixed issuer spread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1, p. 9 (FRN); LM 2 Example on Antelas, p. 33.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spread is set at issuance and stays constant; only the MRR moves — so an FRN's coupon tracks short-term rates but keeps a fixed credit cushion.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FRN coupon  =  MRR  +  Credit spread            Quarterly interest  =  (Coupon × Principal) / 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MRR = market reference rate (e.g. SOFR, €STR); Credit spread is issuer-specific and fixed at issuance.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 — ANTELAS AG FOUR-YEAR FRN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250m principal · coupon = 3-month MRR + 250 bps · paid quarterly · MRR for this quarter = 0.25%.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rate this quarter = 0.25% MRR + 2.50% spread = 2.75% p.a.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interest = 250,000,000 × 2.75% = EUR 6,875,000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 = 6,875,000 / 4 = EUR 1,718,750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MRR moves to 0.50% next quarter, coupon resets to 3.00% → EUR 1,875,000 — spread stays put at 250 bps.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Quarterly payment = EUR 1,718,750 · coupon moves with MRR · credit spread fixed at 250 bps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indenture is the legal contract; covenants split into affirmative (must-do) and negative (must-not-do), and tighten sharply as credit quality falls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1, "Bond Indentures and Covenants", pp. 14–19.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BRWA is investment grade and gets a short covenant list. VIVU is high-yield secured and wears a full monitoring regime — the covenant stack is the credit premium made legal.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BRWA  ·  INVESTMENT GRADE  ·  UNSECURED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" y="1627632"/>
            <a:ext cx="38404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AFFIRMATIVE covenants only: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Use-of-proceeds defined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Pari passu with other unsecured debt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Timely financial reporting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NEGATIVE covenants: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Limitation on liens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Limitation on sale &amp; leaseback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Merger/consolidation protection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leverage tests. No dividend blocks. No call.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8016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VIVU  ·  HIGH YIELD  ·  SECURED CALLABLE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627632"/>
            <a:ext cx="38404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+ security pledge PLUS: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Restriction on additional debt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Dividend / distribution block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Debt/EBITDA ≤ 5.00×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Interest coverage ≥ 2.50×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INCURRENCE TEST (tighter 4.5× / 3.0×) must be met before paying dividends or issuing new debt.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fixed-price call schedule — issuer retains refinancing flexibility.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343400"/>
            <a:ext cx="8503920" cy="2743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43400"/>
            <a:ext cx="73152" cy="274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416552"/>
            <a:ext cx="82753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Covenant violations → increased interest rate, accelerated payment, or termination of debt agreement. Strict covenants can also force default — not always in bondholders' interest.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Callable bonds let the issuer buy bonds back at a predetermined schedule — cheap refinancing for the issuer, call risk for the investor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Exhibit 9 (VIVU), pp. 39–42.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price declines toward par as maturity approaches — VIVU pays a premium for the flexibility, and that premium shrinks as optionality becomes less valuable.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297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Window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 price (% par)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0–3 (protection)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Non-callable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3–4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103.25%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4–5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5–6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101.75%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6–7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maturity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188720"/>
            <a:ext cx="406908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234440"/>
            <a:ext cx="3794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— WHEN DOES VIVU CALL?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1527048"/>
            <a:ext cx="3794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VIVU 6.5% 7y callable, USD 400m. If yields fall 200 bps 3 years in, VIVU can refinance at 4.5%.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039112"/>
            <a:ext cx="379476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call protection ends (yr 3) → call price is 103.25% = USD 413m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interest saving on refi: 400 × (6.5% − 4.5%) = USD 8m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premium paid: USD 13m — recouped in &lt;2 years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work → VIVU calls. Investor is forced to reinvest at the lower 4.5% rate.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YTM &gt; equivalent non-callable — investor is compensated for call risk ex ante.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6320" y="3904488"/>
            <a:ext cx="388620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92040" y="3904488"/>
            <a:ext cx="379476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Issuer refinances cheaply; investor faces reinvestment risk + capped upside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Cash-flow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5  ·  Deck 13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Bullet, amortizing, and balloon bonds differ entirely in when principal comes back to the investor — the interest is mechanical once that choice is made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"Fixed-Income Cash Flow Structures", pp. 27–31.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5-year, USD 300m par, 3.2% semi-annual coupon — three completely different cash-flow profiles for the investor.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301752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Bullet (USD 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Partially amortizing — 150m balloon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Fully amortizing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−300.0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−300.0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−300.0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+18.75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+32.7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– 4.5 (each period)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+18.75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+32.7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(maturity)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+304.8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+168.75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+32.7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principal timing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At maturity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Spread + 150m balloon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Entirely over life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63240"/>
            <a:ext cx="2743200" cy="12801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63240"/>
            <a:ext cx="73152" cy="12801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08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BULLET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83280"/>
            <a:ext cx="25146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corporate bond. Interest-only coupons, principal in one lump at maturity. Highest reinvestment risk for investor.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3063240"/>
            <a:ext cx="2743200" cy="12801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0" y="3063240"/>
            <a:ext cx="73152" cy="12801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337560" y="3108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FULLY AMORTIZING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337560" y="3383280"/>
            <a:ext cx="25146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payment = interest + principal. Level cash flow. Lower credit risk, higher reinvestment risk. Typical for mortgage loans.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3063240"/>
            <a:ext cx="2743200" cy="12801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6"/>
          <p:cNvSpPr/>
          <p:nvPr/>
        </p:nvSpPr>
        <p:spPr>
          <a:xfrm>
            <a:off x="6080760" y="3063240"/>
            <a:ext cx="73152" cy="12801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3108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 + BALLOON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3383280"/>
            <a:ext cx="25146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partial amortization plus a balloon at maturity. CRE loans often use this structure.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fully-amortizing payment is just an annuity solved for PMT — early payments are mostly interest, late payments are mostly principal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Example 1 — 30-year Fixed-Rate Residential Mortgage, pp. 31–32.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identity as a PV-of-annuity rearranged: given the loan size, the rate, and the number of periods, solve for the level payment.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 =  r × Principal  /  [ 1 − (1 + r)^(−N)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 = periodic payment; r = rate per period (monthly here); Principal = loan amount; N = number of payments.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93776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46634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— USD 400,000 MORTGAGE · 30Y · 3.50% NOMINAL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46634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rate = 3.50% / 12 = 0.29167%; N = 360 months.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46634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× P = 0.0029167 × 400,000 = 1,166.67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 = 1 − (1.0029167)^(−360) = 1 − 0.3499 = 0.6501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payment A = 1,166.67 / 0.6501 × (1 / 0.0029167 adj) = USD 1,796.18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paid over 30 years = 1,796.18 × 360 = USD 646,625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475488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46634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 1,796.18 / month  ·  USD 246,625 interest on USD 400,000 principal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2331720"/>
          <a:ext cx="3429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Month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Interest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Principal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Remaining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1,166.67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629.51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399,370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1,164.83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631.35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398,739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1,162.99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633.19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398,106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···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···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···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···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15.63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1,780.55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3,577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1,785.75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1,791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1,790.96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Sinking funds retire principal through the life of the bond; ABS waterfalls route cash flows through tranches A→B→C in priority order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pp. 32–33.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structures reduce credit risk for senior investors at the cost of reinvestment risk — but through very different mechanisms.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SINKING FUND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sets aside cash periodically into an escrow account to retire a predetermined amount of principal early.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Trustee selects bonds by random lottery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Or issuer repurchases at a fixed sinking-fund price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Principal outstanding declines each year before maturity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Effect: credit risk falls (smaller outstanding balance), reinvestment risk rises.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WATERFALL (ABS / MBS)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flows from underlying loans route sequentially through tranches: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Tranche A (senior) gets principal FIRST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Tranche B gets principal ONLY after A fully repaid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Tranche C (junior) gets principal ONLY after A &amp; B fully repaid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shortfalls absorbed bottom-up: Tranche C loses first, Tranche A last. Typical in RMBS, CMBS, CLO structures.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370832"/>
            <a:ext cx="8503920" cy="2743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70832"/>
            <a:ext cx="73152" cy="274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443984"/>
            <a:ext cx="82753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A spread &lt; Tranche B spread &lt; Tranche C spread — higher coupon compensates for higher loss priority.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Floating-rate, step-up, payment-in-kind, and inflation-linked bonds are all ways to make the coupon stream adaptive rather than fixed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pp. 33–37 (incl. Antelas leveraged loan, PPC SLB, TIPS Example 2).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mechanism shifts a specific risk — interest rate, ESG, credit deterioration, or inflation — between the issuer and the investor.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1554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Structure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Coupon mechanism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use case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Floating-rate note (FRN)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MRR + fixed spread; resets each period with MRR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Bank-funded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Step-up bond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rises by a preset schedule (or on credit-rating trigger)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ESG-linked bonds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Credit-linked coupon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adjusts with leverage / ICR (Antelas: 250→325 bps by TLR)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Leveraged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Payment-in-kind (PIK)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paid as new principal — no cash outflow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Highly levered LBOs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Index-linked (TIPS)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Principal adjusted by CPI each period; coupon = rate × adj. prin.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Sovereign inflation hedge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91840"/>
            <a:ext cx="8503920" cy="10515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3375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EXAMPLE 2 — TIPS CASH FLOW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01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115m principal · 1.00% semi-annual coupon · CPI rises 265.00 → 267.25 (+0.849%)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Adjusted principal = 115.976m · Semi-annual coupon = 1.00% × 115.976m / 2 = USD 579,882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Zero-coupon bonds replace coupons with a single discount at issuance; deferred-coupon bonds simply push coupons back in time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pp. 37–38.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pay no periodic interest early on — but their motives, pricing, and risk profiles are different animals.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ZERO-COUPON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cash flow: par at maturity. Priced below par if r &gt; 0 — the implied interest is the discount.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investors love them: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No coupon-reinvestment risk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Perfect duration matching for fixed future obligations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Useful for cash-flow matching in pension/insurance ALM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Sovereigns at short tenors (T-bills)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Stripped from coupon-bearing sovereigns ("STRIPS")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Long-dated corporate zeros post-2008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DEFERRED-COUPON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coupons for the first few years, then higher coupons through maturity. Extreme case = zero-coupon itself.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issuers use them: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Conserve cash near issuance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Common where project does not generate income until completion (e.g., construction)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Signal of lower credit quality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Usually at a discount to par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Higher later coupons do not fully offset zero-coupon years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370832"/>
            <a:ext cx="8503920" cy="2743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70832"/>
            <a:ext cx="73152" cy="274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443984"/>
            <a:ext cx="82753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priced today as the PV of known future cash flows — the same bond-math framework from Deck 01.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and conversion provisions hand optionality to the bondholder — puts provide a price floor, conversion trades debt for equity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2, Exhibit 10 (ZTG Biotech), pp. 40–43.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embedded options are priced in at issuance — putable bonds yield less than option-free; convertibles yield even less because conversion adds equity upside.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2 — ZTG BIOTECH FIVE-YEAR CONVERTIBLE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300m convertible; 1.25% coupon; Face EUR 1,000 per unit; current share EUR 28; conversion price EUR 42.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ratio = Face / Conversion price = 1,000 / 42 = 23.81 shares per bond unit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premium at issuance = (42 − 28) / 28 = +50.0% over current share price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 later share price at EUR 35 → Conversion value = 23.81 × 35 = EUR 833.35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trades at ~EUR 1,000 (par) → investor holds on, collects 1.25% coupon, waits for share to rise above EUR 42.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15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 only when share price &gt; conversion price (EUR 42)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291840"/>
            <a:ext cx="4160520" cy="1051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291840"/>
            <a:ext cx="73152" cy="1051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33756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PUTABLE BOND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39319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can sell bond back to issuer at par if rates rise → put price is a floor. Issuer pays lower coupon for the privilege.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4160520" cy="10515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4663440" y="3291840"/>
            <a:ext cx="731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333756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CONTINGENT CONVERTIBLE (CoCo)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3611880"/>
            <a:ext cx="39319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capital instrument. Automatically converts to equity on trigger (e.g., CET1 ratio breach). Higher yield to compensate for involuntary conversion.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Issuance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trading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5  ·  Deck 13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Fixed-income markets are sliced along three axes at once — issuer type, credit quality, and time to maturity — and every instrument lives in a specific cell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3, "Fixed-Income Segments, Issuers, Investors", pp. 57–63.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cell has a natural issuer and a natural investor. Match mismatches drive alpha — and drive blow-ups when short-term funding meets long-term assets.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Credit quality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Short-term (&lt;1y)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Intermediate (1–10y)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Long-term (&gt;10y)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"Default risk-free" (DM sov)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Treasury bills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Treasury notes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Treasury bonds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grade corp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Commercial paper · repo · ABCP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Unsecured corporate bonds · ABS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Unsecured corporate bonds · MBS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yield corp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(limited access)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Secured corporate bonds · leveraged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Secured corporate bonds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17520"/>
            <a:ext cx="8503920" cy="13258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17520"/>
            <a:ext cx="73152" cy="13258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0632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INVESTORS BY CELL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37560"/>
            <a:ext cx="82753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Money-market funds → short-term risk-free and IG. Financial intermediaries &amp; central banks → intermediate risk-free. Bond funds &amp; ETFs → intermediate IG. Pension funds &amp; insurers → long-term risk-free and IG (liability matching). Asset managers → long IG. Hedge funds &amp; distressed-debt funds → HY and special situations.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ratings create a bright line at BBB-/Baa3 — below it, "high yield" or "junk"; above it, "investment grade"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3, S&amp;P Rating Scale, pp. 59–61.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institutional portfolios are hard-capped at investment-grade ratings — the line is regulatory, contractual, and psychological, all at once.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347472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S&amp;P rating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Meaning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Market share / role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 / gilt-edged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Extremely strong capacity to meet obligations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Sovereigns, top supranationals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 / 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Very strong / strong; some sensitivity to adverse conditions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 IG corporates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BBB+ / BBB / BBB-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Adequate; more vulnerable to downturns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Mainstream IG bond indices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BB+ / BB / 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Uncertainty in meeting obligations; near-term stability OK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Leveraged finance market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HY / distressed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CCC / CC / 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Currently vulnerable; depends on favorable conditions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Hedge funds, distressed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Payment default or bankruptcy filing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Restructuring / workout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6616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6616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118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FALLEN ANGEL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8620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IG issuer downgraded to HY. Outstanding debt carries IG features (long maturity, few covenants, non-callable) — but investors must dump it, pressuring price as HY market is a fraction of IG size.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Fixed-income indexes have 10×+ more constituents and 10×+ more turnover than equity indexes — market-value weighted, monthly-rebalanced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3, "Fixed-Income Indexes", pp. 65–69.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bonds mature and issuers refinance, bond indexes churn constantly — funds tracking them hold a representative sample, never the full basket.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BLOOMBERG GLOBAL AGGREGATE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" y="164592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fixed-rate IG bonds from sovereign, corporate, securitized issuers in 28 developed &amp; emerging markets.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IG rating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≥ 1y to maturity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Min issue sizes by market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Excludes: HY, unrated, sub-min-size, below-min-maturity.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rebalance.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JPM EMBI+ (EM SOVEREIGN)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64992" y="164592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USD-denominated EM sovereign debt.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Sovereign rated Baa1 / BBB+ or below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USD-denom only (no FX-linked)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Min USD 500m size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≥ 2.5y to maturity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dollar-based return premium over DM sovereigns in exchange for EM credit + political risk.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rebalance.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BLOOMBERG MSCI EUR CORP SRI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164592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EUR-denominated IG corporate bonds with ESG overlay.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IG rating (≥ BBB-)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MSCI ESG rating ≥ BBB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EUR 300m min size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≥ 1y maturity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Exclusions: alcohol, tobacco, gambling, adult entertainment, GMOs, nuclear, firearms, weapons, thermal coal, oil sands, MSCI "Red" controversy score.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Investment-grade corporate issuance compresses into a single trading day — announce at 9:15, price at 3pm, free to trade by next morning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3, Exhibit 6 (IG Corporate Issuance Timeline), pp. 70–72.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IG issuers operate under a shelf registration and pick the day opportunistically — the entire "roadshow" collapses to a 90-minute investor call.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12064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Event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Market state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9:00 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Underwriters and issuer agree to launch transaction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Pre-announcement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9:15 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announced — size, spread, maturities still TBD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Order book opens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10:30 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 conference call with issuer and underwriters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Order book building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 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guidance published; size and maturities firm up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Indications refined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1:00–3:00 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Order book closed; underwriters allocate to institutional investors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Allocation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3:00 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priced; government-benchmark spread and coupon fixed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4:00 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Final term sheet delivered; bonds free to trade same or next day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Secondary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1188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1188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57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 — HY &amp; SECURED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3192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 / secured issuance takes weeks: complex covenants, collateral diligence, best-efforts (not underwritten) distribution. Private placements skip the public process entirely for &lt;~30 investors.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Secondary bond markets are OTC and quote-driven; liquidity is concentrated in on-the-run sovereigns, and seasoned corporates trade on 10–20bp spreads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3, "Secondary Fixed-Income Markets", pp. 72–74.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equities, bonds rarely trade on exchanges — price discovery lives at dealer desks, and bid-offer is the honest measure of how liquid a line really is.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Bond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bid-offer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On-the-run DM sovereign (e.g. latest UST 10y)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1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Primary dealers make deep markets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IG corporate from frequent issuer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few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Dealer inventory; index demand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Seasoned IG corporate / infrequent issuer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10–20 bp+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Thin dealer inventory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High-yield corporate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25–75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Smaller market; wider dispersion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Distressed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100 bp, deep discount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Specialized hedge-fund buyers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1005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1005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HERTZ 2020 — HOW DISTRESS LOOKS IN THE TAPE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2020: Hertz filed Chapter 11 as COVID wiped out car-rental cash flows. 2022 and 2028 Hertz bonds traded &lt; 10 cents on the dollar — a &gt; 90% drop in 3 months. One year later those same bonds recovered to pre-pandemic levels after a restructuring left them intact. Meanwhile Hertz equity had been delisted months earlier.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FI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5  ·  Deck 13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short-term funding ranges from cheap-and-uncommitted bank lines up to firm multi-year revolvers with full covenants — reliability trades against cost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"Short-Term Funding Alternatives", pp. 80–82.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climb the reliability ladder, the bank asks for upfront commitment fees and covenants in exchange for legally binding liquidity.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  <a:gridCol w="173736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Facility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Reliability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Bank commitment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Cost to borrower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Covenants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Uncommitted line of 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Revocable at bank's discretion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MRR + spread on drawn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 line (364-day)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 written commitment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commitment fee (e.g. 50bp)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Light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Revolving credit ("revolver")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Multi-year binding commitment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commitment fee + covenants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set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Secured loan / asset-based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Credit-dependent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Backed by pledged collateral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rate vs unsecured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 collateral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Factoring of receivables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n/a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Sale of receivables to factor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Discount on face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RULE OF THUMB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IG borrowers with stable deposits at the bank prefer uncommitted lines (no fee). HY borrowers need revolvers (binding liquidity + covenant monitoring). Revolvers typically backstop a commercial-paper programme.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Commercial paper is unsecured, &lt;90-day, and rolled over constantly — the rollover risk is plugged by a committed backup liquidity line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"External, Security-Based Financing" and ABCP, pp. 82–85.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60% of annual CP issuance is by financial institutions; ABCP wraps short-term loans into an SPE and keeps the loans off the bank's balance sheet.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CP (UNSECURED)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by IG corporates and financial institutions.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Usually &lt; 3 months maturity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Unsecured promissory note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Rolled over at maturity with newly issued CP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Rollover risk plugged by a committed backup liquidity line from banks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Eurocommercial paper = USCP's international cousin, smaller trade size, less liquid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ABCP (SECURED)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transfers short-term loans / receivables to an SPE.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 issues CP backed by those assets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Bank provides a backup liquidity line (not a guarantee)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Off-balance-sheet for the bank → reduced capital charge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Investors get exposure to a loan pool they could not access directly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Nearly collapsed 2007–2008 under rollover pressure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ALSO — INTERBANK &amp; CDs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institutions borrow from each other overnight to ~1y at rates tied to the MRR.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of deposit: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&lt; 1 year, pay interest at maturity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Non-negotiable → early-withdrawal penalty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Negotiable → tradeable pre-maturity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Large-denom CDs = major wholesale bank funding source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repurchase agreement is a collateralised loan dressed as a sale — the repo rate is the interest, the haircut is the overcollateralisation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"Repurchase Agreements" Knowledge Check, pp. 86–89.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Legally a sale + forward repurchase; economically a secured loan. Initial margin &gt; 100% means the cash lender is overcollateralised; the haircut is the borrower's skin in the game.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 margin  =  Security price / Purchase price        Haircut  =  (Sec px − Purchase px) / Sec px        Repurchase px  =  Purchase px × [1 + r × d/360]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 = repo rate (annualized); d = days to repo maturity; variation margin = (Initial margin × Purchase pxₜ) − Security pxₜ, transferred to restore original margin.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4 — 30-DAY REPO ON USD 100m US 5y TREASURY · REPO RATE 0.25% · INITIAL MARGIN 102%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(cash borrower) delivers USD 100m of Treasuries as collateral to buyer (cash lender).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(loan amount) = Security price / Initial margin = 100,000,000 / 1.02 = USD 98,039,216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Haircut = (100,000,000 − 98,039,216) / 100,000,000 = 1.96% — seller funds remaining 1,960,784 elsewhere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Repurchase price = 98,039,216 × [1 + (0.25% × 30 / 360)] = USD 98,059,641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interest earned by cash lender = 98,059,641 − 98,039,216 = USD 20,425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Lender lends 98.04m against 100m UST for 30 days → earns 20,425 of repo interest (haircut 1.96%)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 repos let hedge funds short bonds — borrow the security, sell it, wait for the price to fall, buy it back cheaper, return 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Exhibit 5 + Knowledge Check, pp. 90–91.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cash lender's point of view the trade is a reverse repo — but the real motive may be renting the specific security to support a short.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49377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Step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Hedge-fund action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flow / P&amp;L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Borrow USD 100m 5y UST in repo market; deliver USD 100m cash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−100m cash, +UST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Simultaneously sell the UST in the cash market at par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+100m cash, −UST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Buy back the UST in the cash market at 99% of face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−99m cash, +UST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Deliver UST back to repo counterparty, receive repurchase price USD 100.02m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+100.02m cash, −UST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Over 30 days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 works if price falls more than repo cost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Profit  USD 1.02m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972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 COLLATERAL RATES — WHEN SHORT DEMAND MEETS SUPPLY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one specific security (e.g. the latest on-the-run UST) is in heavy short demand, the repo rate on that specific collateral can fall sharply below the general-collateral rate — sometimes even below zero. A negative repo rate means the cash lender PAYS the borrower for the privilege of renting out a scarce security.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 caused Bear Stearns to fail — USD 18bn cash became USD 2bn in two days when counterparties refused to roll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Repos are uncommitted: the cash lender has no obligation to roll. Loss of market confidence + short-term funding = instant liquidity crisis.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Post-crisis reforms tightened triparty repo clearing, intraday margining, and Fed standing repo facility to reduce systemic vulnerability.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"The Fall of Bear Stearns" box, pp. 93–94.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is structural: repo is cheap for a reason — it's the first funding source to vanish when the firm becomes untrustworthy, and the collateralised nature does not save you.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Event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Signal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End-2006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Bear Stearns: USD 350bn assets, USD 9bn revenue — 5th-largest US broker-dealer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Healthy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Subprime MBS market deteriorates; two Bear hedge funds fail in July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Amber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End-2007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First quarterly loss ever; USD 2bn MBS writedown; credit downgrade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Amber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2006→2007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CP cut from USD 20.7bn → USD 3.9bn; shift into repo funding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Amber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March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18bn cash position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March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down to USD 2bn — repo counterparties refuse to roll; prime-broker runs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March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Fed emergency loan against securities collateral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Rescue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March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Bear Stearns sold to JPMorgan (USD 10/share final) with Fed backstop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Failed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Longer maturities mean higher rates AND higher spreads for the same issuer — the credit premium itself widens with time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"Long-Term Corporate Debt", Exhibit 7 (BRWA), pp. 95–96.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and issuer sit on opposite sides of the same trade-off. The investor faces price and reinvestment risk; the issuer faces rollover risk and refinancing cost.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1945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Maturity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BRWA yield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Government yield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Credit spread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~2.4%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~90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~3.7%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~2.6%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~110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4160520" cy="1783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560320"/>
            <a:ext cx="73152" cy="1783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 VIEW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880360"/>
            <a:ext cx="393192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maturity beyond horizon → price risk (must sell before maturity at uncertain price).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Shortening maturity below horizon → reinvestment risk (coupons and principal reinvest at unknown future rates).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560320"/>
            <a:ext cx="4160520" cy="17830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560320"/>
            <a:ext cx="73152" cy="1783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ISSUER VIEW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880360"/>
            <a:ext cx="393192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debt for a long project → rollover risk (refinance at higher rates).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debt for short project → locked-in high rate; prepayment penalties; suboptimal capital structure.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Investment-grade bonds ride the government benchmark with thin spreads and minimal covenants; high-yield bonds wear equity-like cash flows and tight leash of covenants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4, "Long-Term Corporate Debt", Exhibits 8–10, pp. 96–101.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YTM gap isn't just "more default risk" — it reflects a completely different contractual, analytical, and behavioural regime.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Investment grade (BRWA)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High yield (VIVU)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YTM composition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Mostly government benchmark; thin credit spread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Benchmark + wide issuer-specific spread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 profile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Bond-like — high probability of scheduled payments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Equity-like — payment uncertain, recovery analysis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Analytical approach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Financial ratios, credit-rating migration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PD × LGD; covenant tests; collateral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Covenant stack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Light (pari passu, liens, M&amp;A limits)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Heavy (leverage, coverage, dividend blocks)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 range 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 to 30 years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Typically ≤ 10 years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contingency 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Non-callable or make-whole call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Fixed-price callable — issuer retains flexibility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access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Always open; opportunistic refi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Cyclical; restructuring / renegotiation needed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issuers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5  ·  Deck 13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sovereign's economic balance sheet is expected tax revenues vs promised expenditures — not depreciation and accruals; fiscal policy sets level, debt-management sets composition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5, "Sovereign Debt", pp. 107–113.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"default-risk-free" label is the endpoint of two facts: the sovereign can tax the entire economy, and it can print its own currency (for domestic-currency debt).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ECONOMIC BALANCE SHEET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" y="1645920"/>
            <a:ext cx="38404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(assets)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Short-term &amp; long-term financial claims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Fixed assets — infrastructure, land, SOEs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FX + commodity reserves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PV of expected future tax revenues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(liabilities)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Currency outstanding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Short- and long-term debt (domestic &amp; FX)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Pension &amp; other domestic obligations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Supranational / external obligations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PV of promised future expenditures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8016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FISCAL vs DEBT-MANAGEMENT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645920"/>
            <a:ext cx="38404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POLICY — sets the LEVEL of debt.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Budget deficits → more borrowing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Budget surpluses → less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Sensitivity to growth and inflation forecasts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DEBT-MANAGEMENT POLICY — sets the COMPOSITION.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Short vs long maturity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Fixed vs floating vs linker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Domestic vs foreign currency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data (2021):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Weighted avg maturity ≈ 7.6y (vs 6.3y 2007)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Long-term debt ≈ 86% of total outstanding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Annual issuance ~50/50 short vs long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Developed-market sovereigns issue "default-risk-free" debt with unconstrained maturity access; emerging-market sovereigns face currency restrictions and external-debt stress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5, pp. 108–110; Sri Lanka case study p. 109.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external debt is particularly fragile: investors face indirect FX risk because the issuer needs foreign-currency revenues to service the debt.</a:t>
            </a:r>
            <a:endParaRPr lang="en-US" sz="1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474720"/>
                <a:gridCol w="2834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Developed-market sovereign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Emerging-market sovereign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Currency of issuance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Reserve currency (USD, EUR, JPY, GBP, CHF, AUD, CNY)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Restricted domestic currency + external USD/EUR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 access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Unconstrained — full curve to 30y+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Often capped by domestic-currency depth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Broad, diversified, stable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Commodity-concentrated, cyclical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Effectively zero for domestic-currency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Material, especially on external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Fiscal-policy transparency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— steady rules, published accounts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Variable — higher sensitivity to politics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8328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SRI LANKA EXTERNAL-DEBT DEFAULT — MAY 2022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0332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Asia-Pacific default in many years. Govt debt/GDP jumped 87% → 100%+ by 2020 as infrastructure spending was financed by USD bonds, World Bank, ADB, and major trading partners (Japan, China). Tourism + remittances collapse + 2022 inflation/commodity spike → foreign-currency reserves ran out. Missed USD 78m coupon → 30-day cure → default. External bond creditor split: market bonds 47%, ADB 13%, Japan 10%, China 10%, World Bank 9%, India 2%, other 9%.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Sovereign debt is sold at public auction — single-price auctions give everyone the same yield; multiple-price auctions pay each winner their bid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5, Exhibit 2 Singapore 30y + Reserve Bank of India box, pp. 115–117.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Single-price auctions reduce yield volatility and "winner's-curse" fear — which is why the RBI switched in 2021 after a series of partially failed auctions.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Single-price (Dutch) auction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Multiple-price (discriminatory)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paid by winners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winners pay the same — the stop/clearing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Each winner pays their own bid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logic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Bids ranked low-yield → high-yield until size filled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Same ranking; different pricing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 volatility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— no winner's curse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dispersion of winning prices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allocation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Broader — encourages aggressive bids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Narrower — large bidders win at bid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Non-competitive bids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Always accepted at clearing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Always accepted at average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of primary dealers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Required to bid competitively in all auctions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Same — required competitive participation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66160"/>
            <a:ext cx="8503920" cy="777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61188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— MAS 30-YEAR SGS AUCTION · 21 SEP 2021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90448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2.6bn offered; SGD 4.1bn of bids received (1.58× cover). Cut-off yield 1.95%, median 1.89%, average 1.84%.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 set at cut-off rounded DOWN to nearest 0.125% → 1.875%. Cut-off price 98.303 → all winning bidders pay this.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Primary dealers win the auction; central banks, foreign reserves, and regulated institutions buy "non-economically" in the secondary market — it's why Treasury yields sit below credit curves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5, "Sovereign Debt Issuance and Trading", pp. 117–118.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non-economic bid is structurally large and persistent — it is part of what makes the "default-risk-free" yield genuinely low, and drives the liquidity premium of on-the-run sovereigns.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Motive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 "non-economic"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bank (domestic)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Conduct monetary policy; OMO, repo, QE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Policy target not return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central banks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Hold FX reserves in reserve-currency sovereigns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Reserve asset not trade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&amp; local governments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Investment-policy restrictions favour sovereigns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Regulatory constraint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Meet LCR / HQLA; capital charge 0% under Basel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Regulatory preference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Insurance companies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ALM liability matching; capital relief on sovereigns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Regulatory incentive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USD AS GLOBAL RESERVE CURRENCY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≈ 60% of global FX reserves · ≈ 50% of international trade · ≈ 50% of global debt securities · ≈ 90% of FX-market transactions. EUR, JPY, GBP, CHF, AUD, CNY also serve as reserve currencies. This structural demand compresses US Treasury yields below where they would trade on pure credit/rate fundamentals — the "exorbitant privilege".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Non-sovereign issuers split cleanly into three families — agencies backed by sovereigns, local authorities backed by taxes/revenues, and supranationals backed by member states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5, "Non-Sovereign, Quasi-Government, Supranational Agency Debt", pp. 118–122.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sit between pure sovereign and pure corporate credit — with very different primary and secondary repayment sources.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19202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Issuer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Primary repayment source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Secondary source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agency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flows from agency operations / guaranty fees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Sovereign government backing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AAHK, Ginnie Mae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GO bond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 tax revenues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Broader regional tax base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Province of Ontario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revenue bond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 fees / tolls from a specific project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Project-level reserves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Toll-road authority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Supranational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Member-state capital + loan repayments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Implicit/explicit state backing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World Bank, IMF, ADB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1005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1005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WORKED EXAMPLES — ONTARIO GREEN BOND vs ADB GMTN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 of Ontario 1.55% 2029 CAD 2.75bn Global Green Bond — GO bond, repaid from Ontario taxes, proceeds ring-fenced to eligible green projects (clean transport, renewables, etc.).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Development Bank 7.80% 2034 Global MTN — supranational issued in IDR but payable in USD at spot FX on each payment date; investor assumes IDR risk in exchange for high IDR coupon.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13 — Fixed Income I — Instruments, Markets &amp; Issuance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bond features fully specify any bond: issuer, maturity, principal, coupon (fixed / floating / zero), seniority, and contingency provisions. Annual coupon = par × rate.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FRN coupon = MRR + fixed issuer spread. Antelas EUR 250m @ MRR +250bps, MRR 0.25% → quarterly interest EUR 1,718,750.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Bullet, amortizing, and balloon differ only in when principal is returned. Fully amortizing payment = PMT of annuity; early payments mostly interest, later mostly principal.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Covenants tighten as credit quality falls: BRWA (IG) has light affirmative and 3 negatives; VIVU (HY) adds leverage tests, dividend blocks, and a fixed-price call schedule.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Credit-rating cut-off BBB-/Baa3 is the legal + contractual line between IG and HY. Fallen angels get dumped because institutional mandates force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math: Initial margin 102% on USD 100m UST → purchase price 98.04m (haircut 1.96%); 30-day repo at 0.25% → repurchase 98.06m. Bear Stearns died because counterparties refused to roll.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auctions: single-price gives all winners the same yield (Singapore cut-off 1.95% → coupon 1.875%); multiple-price pays each winner their bid. RBI switched to single-price in 2021.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Non-economic demand (central banks, foreign reserves, regulated institutions) compresses sovereign yields — the USD "exorbitant privilege" is structural, not transient.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13 · Fixed Income I — Instruments, Markets &amp; Issuance</dc:title>
  <dc:subject>PptxGenJS Presentation</dc:subject>
  <dc:creator>Studio Tonton Gug</dc:creator>
  <cp:lastModifiedBy>Studio Tonton Gug</cp:lastModifiedBy>
  <cp:revision>1</cp:revision>
  <dcterms:created xsi:type="dcterms:W3CDTF">2026-04-23T14:07:26Z</dcterms:created>
  <dcterms:modified xsi:type="dcterms:W3CDTF">2026-04-23T14:07:26Z</dcterms:modified>
</cp:coreProperties>
</file>