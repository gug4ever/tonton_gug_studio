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hours. Equity was one instrument per issuer; debt is dozens. That is the whole reframe.
•  Open cold: "Apple has one share class and had 80+ bonds outstanding." Let it sit.
•  Flag that this is my day job — DCM, ratings advisory, event-driven financing.
•  Housekeeping: five sections, break after §3 (repo).
•  Say what we are NOT doing today: pricing and duration are Decks 14 and 15.
NEXT — Straight into the agenda — five blocks, one arc: features → cash flows → how it gets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 arc so they know where the hard maths lands and can pace themselves.
•  Sections 1–2 ≈ 45 min: the contract and the cash flows.
•  Section 3 ≈ 25 min: how a bond actually gets sold. Break after this.
•  Section 4 ≈ 30 min: repo is the technical peak — flag it now.
•  Section 5 ≈ 20 min: sovereigns and auctions, then takeaways.
•  Four worked examples today. Tell them to keep a calculator out.
NEXT — Objectives — what they should be able to DO by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These are the five things an exam or an interviewer will actually ask.
•  Point at objective 4 — repo ownership is the single most-missed fact in this module.
•  Objective 3 is where credit analysis begins; it recurs in Deck 16.
•  Tell them objectives 2 and 4 are calculator questions.
•  Do not read all five aloud — read two, gesture at the rest.
NEXT — Start where every bond starts: the term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1 of 5. Roughly 30 minutes. The contract, before any maths.
•  One line: "A bond is a contract. Everything else is arithmetic on that contract."
•  BRWA and VIVU run through the entire deck — introduce them as recurring characters.
NEXT — The six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term sheet is not admin. Six lines fix every cash flow, every risk, and the price.
•  Walk the table left to right once. Do not linger — it is a checklist, not a lecture.
•  Seniority: senior is paid before subordinated. That is the whole idea; ranking bites only in liquidation.
•  Contingency provisions = embedded options. Cannot be traded separately from the bond.
•  Do the coupon arithmetic out loud: 300 × 3.2% = 9.6, halved = 4.8. Then 304.8 at maturity.
•  Footnotes: current yield vs YTM. Current yield ignores the pull to par; YTM does not.
FROM THE DESK — On a live mandate the six features are the easy part — the fight is over three lines that are not on this slide: use of proceeds, change-of-control, and the negative pledge. Those decide whether the deal prices.
ASK THE ROOM — If BRWA traded at 101 rather than 100, which of the six features changed? None — price is not a feature.
NEXT — Feature four, the coupon, has three flavours. Take the floating one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point is not the arithmetic — it is that ONE of the two components moves and the other never does.
•  Ask for the coupon rate before revealing it: 0.25 + 2.50. Someone will say 2.75 instantly.
•  Divide by 4 for quarterly. Trap: they divide the SPREAD by four too. Do not let that pass.
•  Final payment includes principal — the CFA answer is 251,718,750, not 1,718,750.
•  Antelas notes are SECURED and unsubordinated — operating cash flow is primary, collateral secondary.
•  Credit spread widening does NOT change the coupon; it changes the PRICE. Say this twice.
FROM THE DESK — This is why banks lend floating: their deposits reprice, so floating assets match. It is also why a leveraged loan is quoted "SOFR + 425" and a bond is quoted "T+180" — different reference, same anatomy.
ASK THE ROOM — Antelas' credit spread widens 25 bps in the market. What happens to the coupon it pays? Nothing.
NEXT — The coupon is arithmetic. The rest of the contract is law — the indenture.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columns, one message: covenants are priced. The list length IS the credit spread, written in English.
•  Affirmative = must do. Negative = must not do. Get that clean before anything else.
•  TRAP — cross-default is AFFIRMATIVE, not negative. The curriculum tests exactly this.
•  Pari passu = equal footing with debt of the same seniority; new debt of the same rank does NOT jump the queue.
•  VIVU has two tests: a maintenance test (5.00× / 2.50×, tested every period) and an incurrence test (4.50× / 3.00×, tested only when it wants to act).
•  Land the paradox: covenants that are too tight can FORCE a default the issuer could otherwise have avoided.
FROM THE DESK — What actually gets negotiated is never the ratio — it is the EBITDA definition. Add-backs for synergies, run-rate savings, one-offs. A 5.00× test on adjusted EBITDA can be 6.5× on reported. That is where a covenant package is really won or lost.
ASK THE ROOM — VIVU is at 4.8× and wants to pay a dividend. Can it? No — the incurrence test at 4.50× blocks it, even though the 5.00× maintenance test is fine.
NEXT — VIVU's last line was a call schedule. That option is worth talking about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single most inverted fact in fixed income: a CALL is the issuer's option. Fix the direction here or nothing later works.
•  Say it and make them repeat it: call = issuer's right; put = investor's right.
•  Issuer calls when rates FALL. That is the only reason it ever calls.
•  Call protection first — three years here. Then a declining schedule toward par.
•  The price cap is the investor's real loss, not the early repayment. Draw the flat top on the price/yield curve.
•  Flag the label: the refinancing arithmetic on the right is MINE, not the curriculum's. Only the schedule is CFA.
•  Make-whole call: priced off a sovereign yield, so far above market — rarely exercised, common in IG.
FROM THE DESK — Nobody calls purely on 200 bps of rate move. The real triggers are a ratings upgrade, a refi window before a maturity wall, or an M&amp;A change-of-control. And the call premium is not a cost the CFO frets over — it is a rounding error against the optics of a clean balance sheet at year end.
ASK THE ROOM — Two identical VIVU bonds, one callable, one not. Which has the higher YTM at issue, and why?
NEXT — That is the contract. Now the cash flows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2 of 5. About 35 minutes, and the calculator-heavy part of the morning.
•  Frame it: same issuer, same 300m, same 3.2% — three different shapes of cash flow.
•  Two worked examples here: the BRWA amortisation and the 30-year mortgage.
•  Tell them the amortisation equation is the one they must be able to write from memory.
NEXT — Three shapes: bullet, amortizing, balloon.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table, three shapes. The interest is mechanical once the principal schedule is chosen.
•  Point out the one thing that is identical across all three: the FIRST interest payment, 4.8.
•  Bullet: 4.8 nine times, then 304.8. Amortizing: 32.70 ten times, flat.
•  Show the balloon decomposition — it is the exam trick: 300 = PV(150 balloon) 127.98 + 172.02 to amortize.
•  Then A on 172 at 1.6% over 10 periods = 18.75, and the last payment is 18.75 + 150 = 168.75.
•  Credit risk vs reinvestment risk: amortizing lowers the first and raises the second. Always a trade.
FROM THE DESK — Shape follows the asset, not preference. Project finance amortizes because the asset depreciates. A CRE loan balloons because the sponsor plans to sell or refinance, not repay. When a corporate asks for a bullet on a wasting asset, that is a credit question, not a structuring one.
NEXT — Take the fully amortizing case to its most familiar form — a mortgage.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payment is level; the SPLIT is not. That asymmetry is the whole point and it surprises people every time.
•  Get them to compute A before you show it. The common error is forgetting to divide 3.50% by 12.
•  Numerator 1,166.67 is also month 1's interest — that is not a coincidence, it is r × the full balance.
•  Read the table across: month 1 is 65% interest, month 360 is 0.3% interest.
•  Total interest 246,625 on 400,000 borrowed. Let that land before moving on.
•  Same equation as BRWA on the last slide — only r, N and P changed.
FROM THE DESK — This is why mortgage prepayment matters so much in Deck 16. A borrower who refinances in year 5 has paid the bank almost nothing back in principal but nearly a quarter of the total interest. Prepayment is not a rounding error in an MBS — it is the security.
ASK THE ROOM — You refinance after five years. Roughly how much of the 400,000 have you actually repaid?
NEXT — Two more ways principal comes back early: sinking funds and waterfalls.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Both structures return principal early — but a sinking fund shrinks the debt, while a waterfall just re-ranks who gets paid first.
•  Sinking fund: money into escrow, bonds retired. Random lottery OR repurchase at a fixed price.
•  CORRECTION to the usual student mental model: in a waterfall, INTEREST is pro rata to all tranches. Only PRINCIPAL is sequential.
•  Losses run the other way — bottom-up. C absorbs first, A last.
•  So A has the lowest credit risk and the lowest coupon; C the highest of both.
•  Same trade as always: less credit risk bought with more reinvestment risk.
FROM THE DESK — The interest-pro-rata / principal-sequential split is exactly what made 2007 so slow to show up. Junior tranches kept receiving coupons long after the collateral was clearly impaired — the cash flow looked fine right up until the principal window opened.
NEXT — That was principal. Now the other side: coupons that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mechanisms, one question each time: whose risk just moved, and in which direction?
•  FRN moves rate risk to the investor's benefit; step-up moves it back if rates rise.
•  PPC is the ESG step-up: 50 bps if it misses a 40% CO₂ cut by December 2022 — the coupon prices a promise.
•  Antelas credit-linked: 250 bps at ≤2.5× leverage, stepping to 325 bps at ≥3.5×. The spread follows the ratio.
•  PIK: interest capitalises into principal. No cash out — and a bigger balance to repay. Distress signal.
•  TIPS: index the PRINCIPAL, then apply the fixed rate to it. Compute 115m × 1.00849 first, then 1% / 2.
•  Footnote distinction: capital-indexed (TIPS) vs interest-indexed. Only one protects the principal.
FROM THE DESK — PIK toggles are the single best distress signal in leveraged finance. A sponsor exercising the toggle is telling you it would rather grow the debt than write a cheque — you almost always see it a full quarter before the covenant breach shows up.
ASK THE ROOM — Deflation hits and CPI falls. What does a TIPS holder receive at maturity? The GREATER of adjusted principal or par.
NEXT — Two structures where the coupon is not adaptive but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zero is not an exotic instrument. It is a bond with the coupons removed and the price adjusted so the maths still works.
•  Discount = cumulative interest. Say it that way, not "it pays no interest".
•  The killer feature: no coupons means no reinvestment risk. That is why insurers buy them.
•  STRIPS: intermediaries separate the coupon and principal payments off a sovereign bullet and sell each as a zero.
•  Deferred coupon: cash conservation. Construction finance is the honest use; weak credit is the other one.
•  Deferred bonds still price at a discount — the later coupons do not compensate for the early gap.
NEXT — Section 1 gave the issuer an option. Now the two options that belong to the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Mirror image of slide 8. The investor holds these, so the investor PAYS for them in yield — the opposite direction to a call.
•  Put = investor sells back at a fixed price. Exercised when rates RISE. Price floor.
•  Direction check on the board: callable yields MORE, putable yields LESS, convertible yields least.
•  Conversion ratio 1,000 / 42 = 23.81. Then value = 23.81 × the share price, moving daily.
•  At EUR 35 the conversion value is 833 against a bond worth ~1,000 — so you do not convert. Obvious once said.
•  CoCo is the reversal: converts DOWN, automatically, on a capital-ratio trigger. Not the holder's option.
•  Mention warrants: an ATTACHED option that trades separately, unlike an embedded one.
FROM THE DESK — Convertibles are equity capital raised by a company that will not accept today's share price. That is the honest description. And most carry a call — the issuer forces conversion once the shares are comfortably through the strike, so the "free upside" is capped in practice.
ASK THE ROOM — Rates rise 300 bps. Which holder is happier — the putable bondholder or the callable bondholder?
NEXT — We have the instrument. Now: who issues it, who buys it, and how does it get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3 of 5. About 25 minutes. Least maths, most of my actual working life.
•  Frame: markets are sliced three ways at once — issuer type, credit quality, maturity.
•  The IG issuance timeline is the slide to slow down on.
•  Coffee break after this section.
NEXT — The map first: the credit × maturity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grid is the map for the rest of the module. Every later slide is one cell in it.
•  Three dimensions, not two — issuer type is the third and it is easy to lose.
•  Read the grid down the left column, then across. Note the empty cell: HY has no short-term market.
•  Apple: 80+ bonds, one share class. That is the difference from Deck 11 in one number.
•  Investors sit in cells too — pensions long, money-market funds short. Cash-flow matching drives it.
•  Set up section 4: the IG short-term cell (repo, CP, ABCP) is where we spend the most time later.
FROM THE DESK — The empty cell is the interesting one. A high-yield issuer cannot fund short — no money-market fund will take the paper — so it lives on a revolver and a bond. That single structural fact is why a HY refinancing wall is a genuine crisis and an IG one is a diary entry.
NEXT — The vertical axis is credit quality. Who decides where an issuer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line on a letter scale decides who is legally allowed to own the bond. That is why it moves prices.
•  Nail the boundary: BBB- (Baa3) is the lowest INVESTMENT GRADE. BB+ (Ba1) is the highest HIGH YIELD.
•  A rating is not just default probability — it is probability AND expected loss given default.
•  Issuer ratings and issue ratings differ: a secured issue can rate above its own issuer.
•  Fallen angel: downgraded FROM IG. Its paper keeps IG features but loses its IG buyer base.
•  Do not over-teach the letters. The line and the forced-seller mechanic are what matter.
FROM THE DESK — Rating advisory is a real product because of this line. A BBB- issuer will restructure a whole acquisition — smaller cash component, an equity bridge, a disposal committed up front — purely to keep the agencies from moving one notch. The one notch costs far more than the deal economics it gives up.
ASK THE ROOM — An issuer is downgraded BBB- to BB+. What changed about the bond itself? Nothing. What changed about who may hold it? Everything.
NEXT — Ratings define index eligibility. So: what is a bond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funnels of decreasing width. The filters ARE the product — that is what an index actually sells.
•  Give the three differences from equity indexes first: constituent count, turnover, market-value-of-debt weighting.
•  Because issuers can have dozens of eligible bonds, some indexes exceed 10,000 lines.
•  Consequence: no fund replicates the index. They hold a representative sample.
•  Walk left to right — global IG, then EM sovereign USD, then EUR IG with an ESG screen.
•  Note the weighting quirk: weight by debt outstanding means the MOST indebted issuers get the biggest weight.
FROM THE DESK — Index inclusion is a funding decision, not a marketing one. Issuing EUR 300m rather than EUR 250m to clear the minimum size buys you the passive bid and usually pays for itself in spread. Every DCM banker has had that conversation with a treasurer.
ASK THE ROOM — Weighting by debt outstanding gives the largest weight to the biggest borrower. Is that what a bond investor wants?
NEXT — Indexes buy bonds in the secondary market. But first the bond has to be born — the primary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Seven hours from silence to a priced bond. Say it once, then explain why that is possible at all.
•  Order of operations matters — 12:00 the book CLOSES and guidance goes out; 1:00 the deal LAUNCHES with final terms.
•  Underwritten means the banks guarantee the sale at a negotiated price. Best-efforts means they only try.
•  Shelf registration is what makes the speed possible: the disclosure is already filed and current.
•  Reopening = tapping an existing bond at a price well away from par. Less common than a new line.
•  Debut issuers get weeks of roadshow, not one call — first-time credit needs an education process.
FROM THE DESK — The number nobody teaches is new issue concession — the extra spread over your own secondary curve that you pay to get the book done. In a calm market it is 5–10 bp; in a jittery one it is 25 bp or the deal is pulled. And the 12:00 book close is theatre with a purpose: it forces every real-money account to commit inside a window rather than wait for the last look.
ASK THE ROOM — If the banks underwrite the deal, who owns the risk between 3pm and the moment the bonds are placed?
NEXT — From 4pm onward the bond lives in the secondary market. That market is nothing like an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Bid–offer is not a fee. It is the market telling you how hard it will be to get out.
•  Order of magnitude first: fraction of a bp on an on-the-run UST, 10–20 bp on a seasoned corporate.
•  Why the difference is inventory, not credit — a dealer quotes tight on what it already holds.
•  On-the-run vs off-the-run: same issuer, same risk, completely different liquidity.
•  Hertz: &gt;90% down in three months, back to pre-pandemic a year later. Distress is not the same as loss.
•  Last row matters: many bonds simply never trade, and get priced off comparable liquid bonds.
•  Correct the common assumption — the BONDS keep trading; it is the EQUITY that gets delisted first.
FROM THE DESK — Ask a dealer for a two-way price in size on a seasoned name and you will get one number quickly and the other after a phone call. The second number is the real one. In a stressed tape, bid–offer does not widen gracefully — the bid simply disappears, and screens still show a stale mid.
NEXT — Break. Then the corporate funding stack, starting with the cheapest and least reliable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4 of 5. About 30 minutes and the technical peak of the deck.
•  Arc: bank lines → commercial paper → repo → long-term IG vs HY.
•  Warn them: three repo slides in a row, and the maths is on the first one.
•  Bear Stearns is the payoff — do not rush to it.
NEXT — Start at the cheapest, least reliable end of the funding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axis: how sure are you the money will actually be there? Every other difference follows from that.
•  Uncommitted = cheapest, and the bank can walk. Committed = written promise. Revolver = multi-year and binding.
•  The commitment fee is paid on the UNDRAWN amount — you pay for availability, not for cash.
•  Secured / asset-based is for borrowers who cannot get unsecured credit. It is a downgrade, not a discount.
•  Distinguish assignment (collateral, you still collect) from factoring (sale, they collect). Classic exam pair.
•  Geography: uncommitted lines and revolvers dominate the US; regular committed lines are more common elsewhere.
FROM THE DESK — The revolver is never really about drawing it. It is the ratings agencies' liquidity test and the CP programme's backstop — which is why an IG treasurer will pay a fee for years on a facility they intend never to touch. The moment you actually draw a revolver, the market reads it as distress.
ASK THE ROOM — Why would a company pay a fee on money it has no intention of borrowing?
NEXT — One of the things a revolver backstops: commercial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Cheap short-term money always carries the same hidden clause: it has to be renewed. Everything on this slide is about who is on the hook when it is not.
•  CP is an unsecured promissory note, under three months, repaid with new CP. Say "rolled over" and define it.
•  Rollover risk is why investors DEMAND the backup line. It is the investor's protection, not the issuer's luxury.
•  ~60% of issuance is financial institutions — CP is a bank funding tool as much as a corporate one.
•  ABCP: the SPE issues, the bank provides liquidity but not a guarantee. Know who is on which side.
•  Off balance sheet = lower capital charge. That is the whole reason ABCP exists.
•  Third column is a quick sweep — CDs, interbank, central bank funds, discount window. Do not dwell.
FROM THE DESK — The 2007 ABCP freeze is the cleanest lesson in the module: the assets were fine on day one, the structure was legal, and the whole market still stopped inside a fortnight — because the liquidity lines were sized for one issuer failing, not for all of them at once. Correlation is what kills a liquidity backstop.
NEXT — CP is unsecured short-term funding. Repo is its secured twin — and it is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facts, and students invert at least two of them every year: who lends cash, who keeps the bond, who pays the rate, what the haircut protects.
•  Say the roles slowly. Security SELLER = cash BORROWER. Security BUYER = cash LENDER.
•  THE FACT THEY MISS: the seller keeps ownership of the collateral AND its coupons. Only the repo rate goes to the lender.
•  Divide, do not multiply: 100m / 1.02, not 100m × 1.02. This is the single most common arithmetic slip.
•  Haircut 1.96% protects the CASH LENDER against a fall in collateral value. It is the borrower's skin in the game.
•  Repo rate is quoted on a 360-day basis here: 0.25% × 30/360.
•  Variation margin: if the collateral price falls, the borrower posts more; if it rises, it can call some back.
•  Three uses of repo: finance a position, earn secured short-term income, borrow a bond to short it.
FROM THE DESK — Repo is where a crisis shows up first, and it never announces itself as a price. It announces itself as a haircut. Your counterparty does not refuse to trade — it moves you from 2% to 8% overnight, and suddenly you need four times the equity behind the same book. Watch haircuts, not spreads.
ASK THE ROOM — The Treasury pays a coupon during the repo term. Who receives it — the buyer or the seller?
NEXT — Third use of repo: renting a bond in order to sell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contract, opposite seat. Naming the seat is what makes the four-step flow readable.
•  Reverse repo is not a different product — it is the same trade named from the cash lender's side.
•  Walk the four steps physically: bond in, bond out, bond back in, bond returned.
•  The arithmetic: sold at 100m, bought back at 99m = 1.00m gain, PLUS 20,833 of repo interest earned. Total 1,020,833.
•  Correct the instinct — here the fund is the LENDER of cash, so it RECEIVES the repo rate rather than paying it.
•  Specials: the real cost of the short is a depressed repo rate on that one bond, not an explicit borrow fee.
•  Triparty: an agent for valuation and custody. It does NOT take the credit risk away.
FROM THE DESK — A bond going special is the earliest visible sign of a crowded short. When the on-the-run 10-year prints deeply negative in repo, someone large is positioned against it — and the squeeze, when it comes, is in the repo market long before it shows in the cash price.
NEXT — Repo is cheap, secured and uncommitted. Here is what "uncommitted" costs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solvency story told through a funding table. The assets did not disappear — the willingness to fund them did.
•  Row four is the whole case: Bear replaced UNSECURED short-term funding with SECURED repo. It looked safer.
•  Two days, 18bn to 2bn. Let that number sit before you explain it.
•  Three simultaneous runs: repo lenders, prime brokerage clients, and other banks pulling credit lines.
•  Point at footnote 1: repo is uncommitted. Nobody breached a contract by walking away.
•  Footnote 2 lists the five repo risks the curriculum names — worth reading aloud once.
•  Post-crisis answers: triparty reform, intraday margining, a standing central bank repo facility.
FROM THE DESK — Nobody at Bear thought "we have a funding problem" — they thought they had a collateral problem, and collateral was something they had plenty of. The lesson every treasurer took away is that funding diversification is measured in counterparties and tenor, not in instrument type. Overnight secured money from ten lenders is not diversified; it is one bet on your own reputation.
ASK THE ROOM — Bear's collateral was mostly good. Why did being secured not save it?
NEXT — Enough short-term. Back up the curve: how long should a corporate borrow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decision — how long to borrow — and it produces a different named risk depending on which side of the trade you sit.
•  Two things rise with maturity, not one: the benchmark yield AND the credit spread on top of it.
•  Why the spread widens: the chance of financial distress compounds over time.
•  Be honest about the numbers — only the 5y point (2.30% / 3.20% / 90 bps) is in the curriculum. Say so.
•  Horizon vs maturity is the organising idea. Longer than horizon → price risk. Shorter → reinvestment risk.
•  Issuer mirror: shorter than the project → rollover risk. Longer → paying for money you do not need yet.
FROM THE DESK — In practice nobody picks one tenor. You build a maturity ladder so no single year carries a wall, and you pre-fund the wall twelve to eighteen months early. The credit committee question is never "what is our average maturity" — it is "what is our worst single year".
NEXT — Same trade-off, but IG and HY live it very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regimes, not two spreads. Everything on this table follows from one thing: how likely the cash flows are.
•  Start at row two — bond-like vs equity-like cash flows. Every other row is a consequence.
•  Analytical shift: IG analysts watch ratios and rating migration; HY analysts model default probability AND loss given default.
•  Repayment sources differ: BRWA has only operating cash flow, VIVU also has pledged collateral.
•  Maturity: IG out to 30 years, HY typically 10 or less. Investors will not lend long to weak credits.
•  Contingency: IG gets a make-whole (rarely exercised); HY gets a fixed-price call schedule (frequently exercised).
•  Callout: a borrower expecting its credit to improve WANTS the call. That is the intuition, not "HY is expensive".
FROM THE DESK — The way an HY issuer actually gets out of an expensive coupon is by growing into an upgrade and calling at 103.25 — which is why the call schedule and the deleveraging plan are drafted together, not separately. On the IG side the equivalent conversation is the maturity ladder, and it happens once a year with the treasurer, not once a deal.
NEXT — That is corporates. The largest borrower in every market is the one we have not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5 of 5. About 20 minutes, then takeaways.
•  Frame: the sovereign is the largest issuer in almost every domestic market and sets the benchmark for everyone else.
•  Three ideas: the economic balance sheet, the auction, and the taxonomy of non-sovereign issuers.
•  Keep energy up — this is the last stretch before lunch.
NEXT — A government balance sheet does not look like a company's.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government is not a company with a bigger balance sheet. Its main asset is the right to tax, and that never appears in the accounts.
•  Contrast the two accounting frames: cash-based public accounts vs the economic balance sheet.
•  Biggest claim on the left is the PV of expected tax revenues. Biggest obligation is the PV of promised spending.
•  Two policies, two jobs: fiscal sets the LEVEL, debt management sets the COMPOSITION. Do not blur them.
•  Ricardian equivalence as a thought experiment: if it held, borrow overnight forever. It does not hold — rollover risk.
•  OECD numbers: 7.6y weighted average maturity in 2021 vs 6.3y in 2007; long-term ≈ 85% of stock; issuance ~50/50.
•  Explain the split: short-term debt must be reissued more often, so it is a bigger share of FLOW than of STOCK.
FROM THE DESK — The stock-versus-flow point is where most people misread a debt office. A country can look short-funded on issuance volume and be long-funded on the actual maturity profile. Ask for weighted average maturity of the stock, not the auction calendar.
NEXT — That describes a developed-market sovereign. Emerging markets have a different set of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Sovereigns default on what they cannot print. Domestic-currency debt is a policy choice; foreign-currency debt is a hard constraint.
•  Read the table as one distinction repeated: how deep and diversified is the economy behind the tax base.
•  Domestic vs EXTERNAL debt is the split that matters. External = owed to foreign creditors, usually in FX.
•  The indirect FX risk point: a USD-denominated EM bond has no currency conversion for the investor, but repayment depends on the issuer earning dollars.
•  Sri Lanka sequence: debt-financed infrastructure → tourism and remittances collapse → reserves gone → 78m missed.
•  The creditor split is the whole modern EM story: market bonds 47%, then supranationals, then bilateral lenders.
FROM THE DESK — The creditor mix is what determines whether a restructuring takes two years or ten. Bonded debt has collective action clauses and a defined process. Bilateral lending — especially where the lender is also a trading partner and a contractor — has no such process, and that is where sovereign workouts now get stuck.
ASK THE ROOM — Why can a country default on its dollar debt while its own-currency debt is still called risk-free?
NEXT — However the debt is denominated, sovereigns sell it the same way: at auction.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mechanism choice, and it changes both what the issuer pays and who is willing to bid aggressively.
•  Competitive bidder names a price and a size and may get nothing. Non-competitive takes the auction price and always gets filled.
•  Ranking is identical in BOTH formats — lowest yield first. What differs is only what the winners PAY.
•  The four phases: announce → bids submitted → non-competitive accepted and competitive ranked to the cut-off → settle.
•  Singapore numbers: cut-off 1.95%, median 1.89%, average 1.84% — the average bidder bid a LOWER yield than the clearing rate and still got the better price. That is uniform pricing.
•  Coupon is the cut-off rounded DOWN to the nearest 0.125% → 1.875%, so the bond prices at 98.303, below par.
•  SGD 207m of the SGD 2.6bn went to non-competitive bids. Bids had to come through primary dealers.
•  Practitioner point, not in the curriculum: the US Treasury has used single-price for all its auctions since 1998.
FROM THE DESK — Cover ratio is the headline everyone quotes and the tail is what the desk actually watches — the gap between the average and the cut-off yield. A wide tail means the book was thin at the clearing level, and the follow-on trade is short. Singapore's 11 bp tail here is comfortable.
ASK THE ROOM — Under multiple-price, why might a large investor deliberately bid a worse price than they are willing to pay?
NEXT — Primary dealers must bid at every auction. But who buys the bonds afterwards,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large share of the demand for government bonds is not a view on value. Once you see that, the shape of the yield curve stops being a pure forecast.
•  Primary dealer obligation first: they MUST bid competitively at every auction, in exchange for franchise access.
•  Investors can also bid directly — TreasuryDirect in the US, the UK DMO.
•  Then the non-economic buyers: policy, reserves, regulation. None of them is optimising return.
•  For banks and insurers say the mechanism: liquidity requirements and favourable regulatory capital treatment.
•  On-the-run vs off-the-run: the newest issue is the most liquid, and it is the benchmark for everyone else's spread.
•  Sovereign secondary trading is OTC like corporates, with exceptions — Australia trades on exchange.
FROM THE DESK — This is the part of the curve every rates model gets wrong. When you strip a corporate spread off a Treasury yield you are subtracting a number that has a large regulatory and reserve-driven bid inside it. Two credits with identical fundamentals will price differently simply because one benchmarks against a curve that is structurally squeezed.
NEXT — Last family: everything that is government-adjacent but not the sovereign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families, one test: what actually pays the coupon, and what stands behind it if that source fails?
•  Agency: operating cash flows first, sovereign backing second. AAHK is airport revenue; Ginnie Mae is guaranty fees.
•  GO bond vs revenue bond is the local-authority split — tax base vs one project's tolls.
•  Revenue bonds are LONGER dated, matched to the life of the project cash flows. Exam point.
•  Supranationals have the highest credit quality of the three — member states share control and provide support.
•  The subtle one: agencies borrow near their sovereign's YIELD but do NOT get the full sovereign LIQUIDITY premium.
•  ADB note: fixed in IDR, paid in USD — the investor keeps the currency risk despite being paid in dollars.
FROM THE DESK — The SSA market is where a lot of quiet capital markets work actually happens. The credit question is settled in a paragraph; everything else is currency, format and timing. An ADB deal fixed in rupiah and settled in dollars exists because an investor wanted the coupon without opening a local account — that is structuring as distribution, not as credit.
ASK THE ROOM — Ontario's green bond is a GO bond. If the green projects underperform, does that change who repays it?
NEXT — That is the whole map. Eight things to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lines. Read four aloud, let them photograph the rest, close on the two direction facts.
•  If they remember two things: a CALL is the issuer's, and in a repo the SELLER keeps the collateral.
•  Point at the repo bullet and repeat: divide by the margin, never multiply.
•  Flag what comes next: Deck 14 prices these instruments, Deck 15 measures their rate risk.
•  Set the homework: rework the mortgage and the repo Knowledge Check by hand.
•  Take questions on covenants — that is where the real-world curiosity always is.
NEXT — Break, then Deck 14 — pricing and the yield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13  ·  WEEK 4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Fixed Income I</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Instruments, Markets &amp; Issuance</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How issuers finance themselves and investors get paid — from indentures to auctions</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6 Learning Modules 1–5</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Fixed Income I — Instruments, Markets &amp; Issuance</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5 sections · ~2 hours · Built bottom-up from CFA readings</a:t>
            </a:r>
            <a:endParaRPr lang="en-US" sz="1300" dirty="0"/>
          </a:p>
        </p:txBody>
      </p:sp>
      <p:sp>
        <p:nvSpPr>
          <p:cNvPr id="8" name="Shape 6"/>
          <p:cNvSpPr/>
          <p:nvPr/>
        </p:nvSpPr>
        <p:spPr>
          <a:xfrm>
            <a:off x="320040" y="1207008"/>
            <a:ext cx="8503920" cy="680314"/>
          </a:xfrm>
          <a:prstGeom prst="rect">
            <a:avLst/>
          </a:prstGeom>
          <a:solidFill>
            <a:srgbClr val="FFFFFF"/>
          </a:solidFill>
          <a:ln/>
        </p:spPr>
      </p:sp>
      <p:sp>
        <p:nvSpPr>
          <p:cNvPr id="9" name="Shape 7"/>
          <p:cNvSpPr/>
          <p:nvPr/>
        </p:nvSpPr>
        <p:spPr>
          <a:xfrm>
            <a:off x="320040" y="1207008"/>
            <a:ext cx="594360" cy="680314"/>
          </a:xfrm>
          <a:prstGeom prst="rect">
            <a:avLst/>
          </a:prstGeom>
          <a:solidFill>
            <a:srgbClr val="1B2A4A"/>
          </a:solidFill>
          <a:ln/>
        </p:spPr>
      </p:sp>
      <p:sp>
        <p:nvSpPr>
          <p:cNvPr id="10" name="Text 8"/>
          <p:cNvSpPr txBox="1"/>
          <p:nvPr/>
        </p:nvSpPr>
        <p:spPr>
          <a:xfrm>
            <a:off x="320040" y="120700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Bond features &amp; indenture</a:t>
            </a:r>
            <a:endParaRPr lang="en-US" sz="1200" dirty="0"/>
          </a:p>
        </p:txBody>
      </p:sp>
      <p:sp>
        <p:nvSpPr>
          <p:cNvPr id="12" name="Text 10"/>
          <p:cNvSpPr txBox="1"/>
          <p:nvPr/>
        </p:nvSpPr>
        <p:spPr>
          <a:xfrm>
            <a:off x="1024128" y="151314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Six bond features · fixed / floating / zero coupons · FRN math · affirmative vs negative covenants · callable bonds (VIVU schedule)</a:t>
            </a:r>
            <a:endParaRPr lang="en-US" sz="1100" dirty="0"/>
          </a:p>
        </p:txBody>
      </p:sp>
      <p:sp>
        <p:nvSpPr>
          <p:cNvPr id="13" name="Shape 11"/>
          <p:cNvSpPr/>
          <p:nvPr/>
        </p:nvSpPr>
        <p:spPr>
          <a:xfrm>
            <a:off x="320040" y="1923898"/>
            <a:ext cx="8503920" cy="680314"/>
          </a:xfrm>
          <a:prstGeom prst="rect">
            <a:avLst/>
          </a:prstGeom>
          <a:solidFill>
            <a:srgbClr val="F5F7FA"/>
          </a:solidFill>
          <a:ln/>
        </p:spPr>
      </p:sp>
      <p:sp>
        <p:nvSpPr>
          <p:cNvPr id="14" name="Shape 12"/>
          <p:cNvSpPr/>
          <p:nvPr/>
        </p:nvSpPr>
        <p:spPr>
          <a:xfrm>
            <a:off x="320040" y="1923898"/>
            <a:ext cx="594360" cy="680314"/>
          </a:xfrm>
          <a:prstGeom prst="rect">
            <a:avLst/>
          </a:prstGeom>
          <a:solidFill>
            <a:srgbClr val="1B2A4A"/>
          </a:solidFill>
          <a:ln/>
        </p:spPr>
      </p:sp>
      <p:sp>
        <p:nvSpPr>
          <p:cNvPr id="15" name="Text 13"/>
          <p:cNvSpPr txBox="1"/>
          <p:nvPr/>
        </p:nvSpPr>
        <p:spPr>
          <a:xfrm>
            <a:off x="320040" y="192389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96961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Cash-flow structures</a:t>
            </a:r>
            <a:endParaRPr lang="en-US" sz="1200" dirty="0"/>
          </a:p>
        </p:txBody>
      </p:sp>
      <p:sp>
        <p:nvSpPr>
          <p:cNvPr id="17" name="Text 15"/>
          <p:cNvSpPr txBox="1"/>
          <p:nvPr/>
        </p:nvSpPr>
        <p:spPr>
          <a:xfrm>
            <a:off x="1024128" y="223003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Bullet vs amortizing vs balloon · USD 400k 30y mortgage · sinking funds · waterfalls · FRN / step-up / PIK / TIPS · puts &amp; convertibles (ZTGB)</a:t>
            </a:r>
            <a:endParaRPr lang="en-US" sz="1100" dirty="0"/>
          </a:p>
        </p:txBody>
      </p:sp>
      <p:sp>
        <p:nvSpPr>
          <p:cNvPr id="18" name="Shape 16"/>
          <p:cNvSpPr/>
          <p:nvPr/>
        </p:nvSpPr>
        <p:spPr>
          <a:xfrm>
            <a:off x="320040" y="2640787"/>
            <a:ext cx="8503920" cy="680314"/>
          </a:xfrm>
          <a:prstGeom prst="rect">
            <a:avLst/>
          </a:prstGeom>
          <a:solidFill>
            <a:srgbClr val="FFFFFF"/>
          </a:solidFill>
          <a:ln/>
        </p:spPr>
      </p:sp>
      <p:sp>
        <p:nvSpPr>
          <p:cNvPr id="19" name="Shape 17"/>
          <p:cNvSpPr/>
          <p:nvPr/>
        </p:nvSpPr>
        <p:spPr>
          <a:xfrm>
            <a:off x="320040" y="2640787"/>
            <a:ext cx="594360" cy="680314"/>
          </a:xfrm>
          <a:prstGeom prst="rect">
            <a:avLst/>
          </a:prstGeom>
          <a:solidFill>
            <a:srgbClr val="1B2A4A"/>
          </a:solidFill>
          <a:ln/>
        </p:spPr>
      </p:sp>
      <p:sp>
        <p:nvSpPr>
          <p:cNvPr id="20" name="Text 18"/>
          <p:cNvSpPr txBox="1"/>
          <p:nvPr/>
        </p:nvSpPr>
        <p:spPr>
          <a:xfrm>
            <a:off x="320040" y="264078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68650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Issuance &amp; trading mechanics</a:t>
            </a:r>
            <a:endParaRPr lang="en-US" sz="1200" dirty="0"/>
          </a:p>
        </p:txBody>
      </p:sp>
      <p:sp>
        <p:nvSpPr>
          <p:cNvPr id="22" name="Text 20"/>
          <p:cNvSpPr txBox="1"/>
          <p:nvPr/>
        </p:nvSpPr>
        <p:spPr>
          <a:xfrm>
            <a:off x="1024128" y="294692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Credit × maturity segmentation · S&amp;P ratings · bond indexes · IG corporate issuance timeline · OTC secondary markets</a:t>
            </a:r>
            <a:endParaRPr lang="en-US" sz="1100" dirty="0"/>
          </a:p>
        </p:txBody>
      </p:sp>
      <p:sp>
        <p:nvSpPr>
          <p:cNvPr id="23" name="Shape 21"/>
          <p:cNvSpPr/>
          <p:nvPr/>
        </p:nvSpPr>
        <p:spPr>
          <a:xfrm>
            <a:off x="320040" y="3357677"/>
            <a:ext cx="8503920" cy="680314"/>
          </a:xfrm>
          <a:prstGeom prst="rect">
            <a:avLst/>
          </a:prstGeom>
          <a:solidFill>
            <a:srgbClr val="F5F7FA"/>
          </a:solidFill>
          <a:ln/>
        </p:spPr>
      </p:sp>
      <p:sp>
        <p:nvSpPr>
          <p:cNvPr id="24" name="Shape 22"/>
          <p:cNvSpPr/>
          <p:nvPr/>
        </p:nvSpPr>
        <p:spPr>
          <a:xfrm>
            <a:off x="320040" y="3357677"/>
            <a:ext cx="594360" cy="680314"/>
          </a:xfrm>
          <a:prstGeom prst="rect">
            <a:avLst/>
          </a:prstGeom>
          <a:solidFill>
            <a:srgbClr val="1B2A4A"/>
          </a:solidFill>
          <a:ln/>
        </p:spPr>
      </p:sp>
      <p:sp>
        <p:nvSpPr>
          <p:cNvPr id="25" name="Text 23"/>
          <p:cNvSpPr txBox="1"/>
          <p:nvPr/>
        </p:nvSpPr>
        <p:spPr>
          <a:xfrm>
            <a:off x="320040" y="335767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40339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Corporate FI markets</a:t>
            </a:r>
            <a:endParaRPr lang="en-US" sz="1200" dirty="0"/>
          </a:p>
        </p:txBody>
      </p:sp>
      <p:sp>
        <p:nvSpPr>
          <p:cNvPr id="27" name="Text 25"/>
          <p:cNvSpPr txBox="1"/>
          <p:nvPr/>
        </p:nvSpPr>
        <p:spPr>
          <a:xfrm>
            <a:off x="1024128" y="366381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Lines of credit · commercial paper &amp; ABCP · repo mechanics + haircut · reverse-repo short-selling · Bear Stearns · IG vs HY</a:t>
            </a:r>
            <a:endParaRPr lang="en-US" sz="1100" dirty="0"/>
          </a:p>
        </p:txBody>
      </p:sp>
      <p:sp>
        <p:nvSpPr>
          <p:cNvPr id="28" name="Shape 26"/>
          <p:cNvSpPr/>
          <p:nvPr/>
        </p:nvSpPr>
        <p:spPr>
          <a:xfrm>
            <a:off x="320040" y="4074566"/>
            <a:ext cx="8503920" cy="680314"/>
          </a:xfrm>
          <a:prstGeom prst="rect">
            <a:avLst/>
          </a:prstGeom>
          <a:solidFill>
            <a:srgbClr val="FFFFFF"/>
          </a:solidFill>
          <a:ln/>
        </p:spPr>
      </p:sp>
      <p:sp>
        <p:nvSpPr>
          <p:cNvPr id="29" name="Shape 27"/>
          <p:cNvSpPr/>
          <p:nvPr/>
        </p:nvSpPr>
        <p:spPr>
          <a:xfrm>
            <a:off x="320040" y="4074566"/>
            <a:ext cx="594360" cy="680314"/>
          </a:xfrm>
          <a:prstGeom prst="rect">
            <a:avLst/>
          </a:prstGeom>
          <a:solidFill>
            <a:srgbClr val="1B2A4A"/>
          </a:solidFill>
          <a:ln/>
        </p:spPr>
      </p:sp>
      <p:sp>
        <p:nvSpPr>
          <p:cNvPr id="30" name="Text 28"/>
          <p:cNvSpPr txBox="1"/>
          <p:nvPr/>
        </p:nvSpPr>
        <p:spPr>
          <a:xfrm>
            <a:off x="320040" y="4074566"/>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4120286"/>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Government &amp; supranational issuers</a:t>
            </a:r>
            <a:endParaRPr lang="en-US" sz="1200" dirty="0"/>
          </a:p>
        </p:txBody>
      </p:sp>
      <p:sp>
        <p:nvSpPr>
          <p:cNvPr id="32" name="Text 30"/>
          <p:cNvSpPr txBox="1"/>
          <p:nvPr/>
        </p:nvSpPr>
        <p:spPr>
          <a:xfrm>
            <a:off x="1024128" y="438070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Economic balance sheet · Ricardian equivalence · single- vs multiple-price auctions · agencies · supranationals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Describe the six features of a fixed-income security (issuer, maturity, principal, coupon, seniority, contingency provisions) and read them off a prospectus summary.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Distinguish bullet, amortizing, and balloon cash-flow structures; compute the level payment of a fully amortizing loan and split it into interest and principal.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Contrast affirmative and negative covenants; identify the incremental covenant stack imposed on high-yield versus investment-grade issuers.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Compute the purchase price, haircut, and repurchase price of a repo given an initial margin, and say who keeps ownership of the collateral.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Compare single-price and multiple-price sovereign auctions; explain primary-dealer obligations and the "non-economic" demand that compresses sovereign yields.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Bond features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indenture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5  ·  Deck 13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Every bond is fully specified by six features — issuer, maturity, principal, coupon, seniority, and contingency provisions — spelled out in the prospectus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Current yield = annual coupon / price. At USD 101 per 100 of face, BRWA's current yield is 3.2% / 1.01 = 3.168%.
</a:t>
            </a:r>
            <a:pPr indent="0" marL="0">
              <a:buNone/>
            </a:pPr>
            <a:r>
              <a:rPr lang="en-US" sz="1000" dirty="0">
                <a:solidFill>
                  <a:srgbClr val="6B7A8D"/>
                </a:solidFill>
                <a:latin typeface="Calibri" pitchFamily="34" charset="0"/>
                <a:ea typeface="Calibri" pitchFamily="34" charset="-122"/>
                <a:cs typeface="Calibri" pitchFamily="34" charset="-120"/>
              </a:rPr>
              <a:t>² YTM is the IRR of price against promised cash flows: at 101, r = 1.49% semi-annually, or 2.98% annualised.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 "Features of Fixed-Income Securities" and "Yield Measures", pp. 7–13.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Worked reference — BRWA Corporation 3.2% Five-Year Notes, USD 300m par, senior unsecured, semi-annual coupon → USD 4.8m every six months.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20240"/>
                <a:gridCol w="438912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defines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BRWA 3.2% Five-Year Notes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Issuer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Legal entity liable for interest and principal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Bright Wheels Automotive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Maturity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Date of final payment; tenor = remaining life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 years from settlement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Principal (par)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Amount repaid at maturity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300,000,000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Coupon rate &amp; frequency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schedule — fixed, floating, or zero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3.2% fixed, semi-annual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Seniority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Ranking vs other issuer debt in liquidation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Senior unsecured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Contingency provisions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Embedded options: call, put, or conversion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(plain vanilla)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246120"/>
            <a:ext cx="8503920" cy="1005840"/>
          </a:xfrm>
          <a:prstGeom prst="rect">
            <a:avLst/>
          </a:prstGeom>
          <a:solidFill>
            <a:srgbClr val="FEF0E7"/>
          </a:solidFill>
          <a:ln/>
        </p:spPr>
      </p:sp>
      <p:sp>
        <p:nvSpPr>
          <p:cNvPr id="12" name="Shape 9"/>
          <p:cNvSpPr/>
          <p:nvPr/>
        </p:nvSpPr>
        <p:spPr>
          <a:xfrm>
            <a:off x="320040" y="3246120"/>
            <a:ext cx="73152" cy="1005840"/>
          </a:xfrm>
          <a:prstGeom prst="rect">
            <a:avLst/>
          </a:prstGeom>
          <a:solidFill>
            <a:srgbClr val="E8600A"/>
          </a:solidFill>
          <a:ln/>
        </p:spPr>
      </p:sp>
      <p:sp>
        <p:nvSpPr>
          <p:cNvPr id="13" name="Text 10"/>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ANNUAL COUPON = PAR × COUPON RATE</a:t>
            </a:r>
            <a:endParaRPr lang="en-US" sz="1100" dirty="0"/>
          </a:p>
        </p:txBody>
      </p:sp>
      <p:sp>
        <p:nvSpPr>
          <p:cNvPr id="14" name="Text 11"/>
          <p:cNvSpPr txBox="1"/>
          <p:nvPr/>
        </p:nvSpPr>
        <p:spPr>
          <a:xfrm>
            <a:off x="457200" y="3566160"/>
            <a:ext cx="8275320" cy="640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USD 300m × 3.2% = USD 9.6m per year, paid semi-annually as USD 4.8m. At maturity the investor receives the final USD 4.8m coupon PLUS the USD 300m principal, for a total of USD 304.8m — the one cash flow that is not level.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Coupons come in three flavours — fixed, floating, or zero — and a floater's rate is always MRR plus a spread fixed at issuance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 Practice Problems (Antelas AG FRN), pp. 20–22; Learning Module 2, Exhibit 6, p. 33.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credit spread is set at issuance and never moves; only the MRR resets. So an FRN tracks short-term rates while keeping a fixed credit cushion.</a:t>
            </a:r>
            <a:endParaRPr lang="en-US" sz="1300" dirty="0"/>
          </a:p>
        </p:txBody>
      </p:sp>
      <p:sp>
        <p:nvSpPr>
          <p:cNvPr id="9" name="Shape 7"/>
          <p:cNvSpPr/>
          <p:nvPr/>
        </p:nvSpPr>
        <p:spPr>
          <a:xfrm>
            <a:off x="320040" y="1188720"/>
            <a:ext cx="8503920" cy="603504"/>
          </a:xfrm>
          <a:prstGeom prst="rect">
            <a:avLst/>
          </a:prstGeom>
          <a:solidFill>
            <a:srgbClr val="1B2A4A"/>
          </a:solidFill>
          <a:ln/>
        </p:spPr>
      </p:sp>
      <p:sp>
        <p:nvSpPr>
          <p:cNvPr id="10" name="Text 8"/>
          <p:cNvSpPr txBox="1"/>
          <p:nvPr/>
        </p:nvSpPr>
        <p:spPr>
          <a:xfrm>
            <a:off x="411480" y="1188720"/>
            <a:ext cx="8321040" cy="603504"/>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FRN coupon = MRR + Credit spread      Quarterly interest = (Coupon × Principal) / 4</a:t>
            </a:r>
            <a:endParaRPr lang="en-US" sz="1800" dirty="0"/>
          </a:p>
        </p:txBody>
      </p:sp>
      <p:sp>
        <p:nvSpPr>
          <p:cNvPr id="11" name="Text 9"/>
          <p:cNvSpPr txBox="1"/>
          <p:nvPr/>
        </p:nvSpPr>
        <p:spPr>
          <a:xfrm>
            <a:off x="320040" y="181965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MRR = market reference rate (SOFR, €STR, …), reset each period. The credit spread is issuer-specific and fixed for the life of the note.</a:t>
            </a:r>
            <a:endParaRPr lang="en-US" sz="1100" dirty="0"/>
          </a:p>
        </p:txBody>
      </p:sp>
      <p:sp>
        <p:nvSpPr>
          <p:cNvPr id="12" name="Shape 10"/>
          <p:cNvSpPr/>
          <p:nvPr/>
        </p:nvSpPr>
        <p:spPr>
          <a:xfrm>
            <a:off x="320040" y="2029968"/>
            <a:ext cx="8503920" cy="2176272"/>
          </a:xfrm>
          <a:prstGeom prst="rect">
            <a:avLst/>
          </a:prstGeom>
          <a:solidFill>
            <a:srgbClr val="FEF0E7"/>
          </a:solidFill>
          <a:ln w="9525">
            <a:solidFill>
              <a:srgbClr val="E8600A"/>
            </a:solidFill>
            <a:prstDash val="solid"/>
          </a:ln>
        </p:spPr>
      </p:sp>
      <p:sp>
        <p:nvSpPr>
          <p:cNvPr id="13" name="Text 11"/>
          <p:cNvSpPr txBox="1"/>
          <p:nvPr/>
        </p:nvSpPr>
        <p:spPr>
          <a:xfrm>
            <a:off x="457200" y="2075688"/>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1 — ANTELAS AG FRN · EUR 250m · MRR + 250 bps · QUARTERLY</a:t>
            </a:r>
            <a:endParaRPr lang="en-US" sz="1100" dirty="0"/>
          </a:p>
        </p:txBody>
      </p:sp>
      <p:sp>
        <p:nvSpPr>
          <p:cNvPr id="14" name="Text 12"/>
          <p:cNvSpPr txBox="1"/>
          <p:nvPr/>
        </p:nvSpPr>
        <p:spPr>
          <a:xfrm>
            <a:off x="457200" y="2368296"/>
            <a:ext cx="8229600" cy="1325880"/>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MRR for the final interest period = 0.25% → coupon rate = 0.25% + 2.50% = 2.75% p.a.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Annual interest = EUR 250,000,000 × 2.75% = EUR 6,875,000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Quarterly interest = 6,875,000 / 4 = EUR 1,718,750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Maturity-date payment = principal 250,000,000 + final coupon 1,718,750 = EUR 251,718,750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If MRR resets to 0.50%, coupon goes to 3.00% → EUR 1,875,000. The 250 bps spread does not move.</a:t>
            </a:r>
            <a:endParaRPr lang="en-US" sz="1200" dirty="0"/>
          </a:p>
        </p:txBody>
      </p:sp>
      <p:sp>
        <p:nvSpPr>
          <p:cNvPr id="15" name="Shape 13"/>
          <p:cNvSpPr/>
          <p:nvPr/>
        </p:nvSpPr>
        <p:spPr>
          <a:xfrm>
            <a:off x="411480" y="3767328"/>
            <a:ext cx="8321040" cy="365760"/>
          </a:xfrm>
          <a:prstGeom prst="rect">
            <a:avLst/>
          </a:prstGeom>
          <a:solidFill>
            <a:srgbClr val="E8600A"/>
          </a:solidFill>
          <a:ln/>
        </p:spPr>
      </p:sp>
      <p:sp>
        <p:nvSpPr>
          <p:cNvPr id="16" name="Text 14"/>
          <p:cNvSpPr txBox="1"/>
          <p:nvPr/>
        </p:nvSpPr>
        <p:spPr>
          <a:xfrm>
            <a:off x="457200" y="3767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Quarterly coupon EUR 1,718,750 · final payment EUR 251,718,750 · spread fixed at 250 bps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indenture is the legal contract; covenants split into affirmative (must-do) and negative (must-not-do), and tighten sharply as credit quality falls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1, "Bond Indentures and Covenants", Exhibits 8–10, pp. 14–19.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BRWA is investment grade and gets a short list. VIVU is high-yield secured and wears a full monitoring regime — the covenant stack is the credit premium made legal.</a:t>
            </a:r>
            <a:endParaRPr lang="en-US" sz="1300" dirty="0"/>
          </a:p>
        </p:txBody>
      </p:sp>
      <p:sp>
        <p:nvSpPr>
          <p:cNvPr id="9" name="Shape 7"/>
          <p:cNvSpPr/>
          <p:nvPr/>
        </p:nvSpPr>
        <p:spPr>
          <a:xfrm>
            <a:off x="320040" y="1188720"/>
            <a:ext cx="416052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80160"/>
            <a:ext cx="388620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BRWA  ·  IG  ·  UNSECURED</a:t>
            </a:r>
            <a:endParaRPr lang="en-US" sz="1100" dirty="0"/>
          </a:p>
        </p:txBody>
      </p:sp>
      <p:sp>
        <p:nvSpPr>
          <p:cNvPr id="12" name="Text 10"/>
          <p:cNvSpPr txBox="1"/>
          <p:nvPr/>
        </p:nvSpPr>
        <p:spPr>
          <a:xfrm>
            <a:off x="484632" y="1627632"/>
            <a:ext cx="38404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AFFIRMATIVE — must do:</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Use of proceeds defined</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Pari passu with unsecured debt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Timely financial reporting</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Cross-default clause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NEGATIVE — must not do (light):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Limitation on liens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Limitation on sale &amp; leaseback</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Merger / consolidation limits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No leverage test. No dividend block. No call.</a:t>
            </a:r>
            <a:endParaRPr lang="en-US" sz="1100" dirty="0"/>
          </a:p>
        </p:txBody>
      </p:sp>
      <p:sp>
        <p:nvSpPr>
          <p:cNvPr id="13" name="Shape 11"/>
          <p:cNvSpPr/>
          <p:nvPr/>
        </p:nvSpPr>
        <p:spPr>
          <a:xfrm>
            <a:off x="4663440" y="1188720"/>
            <a:ext cx="4160520" cy="3108960"/>
          </a:xfrm>
          <a:prstGeom prst="rect">
            <a:avLst/>
          </a:prstGeom>
          <a:solidFill>
            <a:srgbClr val="FEF0E7"/>
          </a:solidFill>
          <a:ln/>
        </p:spPr>
      </p:sp>
      <p:sp>
        <p:nvSpPr>
          <p:cNvPr id="14" name="Shape 12"/>
          <p:cNvSpPr/>
          <p:nvPr/>
        </p:nvSpPr>
        <p:spPr>
          <a:xfrm>
            <a:off x="4663440" y="1188720"/>
            <a:ext cx="73152" cy="3108960"/>
          </a:xfrm>
          <a:prstGeom prst="rect">
            <a:avLst/>
          </a:prstGeom>
          <a:solidFill>
            <a:srgbClr val="E8600A"/>
          </a:solidFill>
          <a:ln/>
        </p:spPr>
      </p:sp>
      <p:sp>
        <p:nvSpPr>
          <p:cNvPr id="15" name="Text 13"/>
          <p:cNvSpPr txBox="1"/>
          <p:nvPr/>
        </p:nvSpPr>
        <p:spPr>
          <a:xfrm>
            <a:off x="4800600" y="1280160"/>
            <a:ext cx="388620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VIVU  ·  HY  ·  SECURED CALLABLE</a:t>
            </a:r>
            <a:endParaRPr lang="en-US" sz="1100" dirty="0"/>
          </a:p>
        </p:txBody>
      </p:sp>
      <p:sp>
        <p:nvSpPr>
          <p:cNvPr id="16" name="Text 14"/>
          <p:cNvSpPr txBox="1"/>
          <p:nvPr/>
        </p:nvSpPr>
        <p:spPr>
          <a:xfrm>
            <a:off x="4828032" y="1627632"/>
            <a:ext cx="3840480" cy="260604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All of the above, PLUS a security pledge: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Restriction on additional debt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Dividend / distribution block</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Net debt / EBITDA ≤ 5.00×</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Interest coverage ≥ 2.50×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INCURRENCE TEST — tighter, at 4.50× and 3.00× — must be met before paying a dividend or issuing new debt.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Plus a fixed-price call schedule: the issuer keeps the refinancing option.</a:t>
            </a:r>
            <a:endParaRPr lang="en-US" sz="1100" dirty="0"/>
          </a:p>
        </p:txBody>
      </p:sp>
      <p:sp>
        <p:nvSpPr>
          <p:cNvPr id="17" name="Shape 15"/>
          <p:cNvSpPr/>
          <p:nvPr/>
        </p:nvSpPr>
        <p:spPr>
          <a:xfrm>
            <a:off x="320040" y="4352544"/>
            <a:ext cx="8503920" cy="274320"/>
          </a:xfrm>
          <a:prstGeom prst="rect">
            <a:avLst/>
          </a:prstGeom>
          <a:solidFill>
            <a:srgbClr val="FEF0E7"/>
          </a:solidFill>
          <a:ln/>
        </p:spPr>
      </p:sp>
      <p:sp>
        <p:nvSpPr>
          <p:cNvPr id="18" name="Shape 16"/>
          <p:cNvSpPr/>
          <p:nvPr/>
        </p:nvSpPr>
        <p:spPr>
          <a:xfrm>
            <a:off x="320040" y="4352544"/>
            <a:ext cx="73152" cy="274320"/>
          </a:xfrm>
          <a:prstGeom prst="rect">
            <a:avLst/>
          </a:prstGeom>
          <a:solidFill>
            <a:srgbClr val="E8600A"/>
          </a:solidFill>
          <a:ln/>
        </p:spPr>
      </p:sp>
      <p:sp>
        <p:nvSpPr>
          <p:cNvPr id="19" name="Text 17"/>
          <p:cNvSpPr txBox="1"/>
          <p:nvPr/>
        </p:nvSpPr>
        <p:spPr>
          <a:xfrm>
            <a:off x="457200" y="4425696"/>
            <a:ext cx="8275320" cy="1645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breach gives bondholders recourse: a change in financial terms (higher rate or added security), accelerated payment, or termination of the agreement.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call belongs to the ISSUER — it buys back at a fixed schedule when rates fall, which caps the investor's price and pays the investor a higher yield up front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"Fixed-Income Contingency Provisions", Exhibit 9 (VIVU), pp. 39–40.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call price declines toward par as maturity approaches: the option is worth less with less time left, so VIVU pays less to exercise it.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297680" cy="914400"/>
        </p:xfrm>
        <a:graphic>
          <a:graphicData uri="http://schemas.openxmlformats.org/drawingml/2006/table">
            <a:tbl>
              <a:tblPr/>
              <a:tblGrid>
                <a:gridCol w="292608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Window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Call price (% par)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Years 0–3 (protection)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Non-callable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Years 3–4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103.25%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Years 4–5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Years 5–6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Years 6–7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At maturity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154680"/>
            <a:ext cx="4297680" cy="1143000"/>
          </a:xfrm>
          <a:prstGeom prst="rect">
            <a:avLst/>
          </a:prstGeom>
          <a:solidFill>
            <a:srgbClr val="FEF0E7"/>
          </a:solidFill>
          <a:ln/>
        </p:spPr>
      </p:sp>
      <p:sp>
        <p:nvSpPr>
          <p:cNvPr id="11" name="Shape 8"/>
          <p:cNvSpPr/>
          <p:nvPr/>
        </p:nvSpPr>
        <p:spPr>
          <a:xfrm>
            <a:off x="320040" y="3154680"/>
            <a:ext cx="73152" cy="1143000"/>
          </a:xfrm>
          <a:prstGeom prst="rect">
            <a:avLst/>
          </a:prstGeom>
          <a:solidFill>
            <a:srgbClr val="E8600A"/>
          </a:solidFill>
          <a:ln/>
        </p:spPr>
      </p:sp>
      <p:sp>
        <p:nvSpPr>
          <p:cNvPr id="12" name="Text 9"/>
          <p:cNvSpPr txBox="1"/>
          <p:nvPr/>
        </p:nvSpPr>
        <p:spPr>
          <a:xfrm>
            <a:off x="457200" y="3200400"/>
            <a:ext cx="40690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CALLABLE YIELDS MORE</a:t>
            </a:r>
            <a:endParaRPr lang="en-US" sz="1100" dirty="0"/>
          </a:p>
        </p:txBody>
      </p:sp>
      <p:sp>
        <p:nvSpPr>
          <p:cNvPr id="13" name="Text 10"/>
          <p:cNvSpPr txBox="1"/>
          <p:nvPr/>
        </p:nvSpPr>
        <p:spPr>
          <a:xfrm>
            <a:off x="457200" y="3474720"/>
            <a:ext cx="406908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YTM rises ABOVE the coupon, the call is worthless and the bond behaves like a straight bond. If YTM falls BELOW the coupon, the price is capped at the call price while a non-callable keeps rising. Investors demand a higher yield up front for that capped upside — call risk.</a:t>
            </a:r>
            <a:endParaRPr lang="en-US" sz="1200" dirty="0"/>
          </a:p>
        </p:txBody>
      </p:sp>
      <p:sp>
        <p:nvSpPr>
          <p:cNvPr id="14" name="Shape 11"/>
          <p:cNvSpPr/>
          <p:nvPr/>
        </p:nvSpPr>
        <p:spPr>
          <a:xfrm>
            <a:off x="4754880" y="1188720"/>
            <a:ext cx="4069080" cy="3108960"/>
          </a:xfrm>
          <a:prstGeom prst="rect">
            <a:avLst/>
          </a:prstGeom>
          <a:solidFill>
            <a:srgbClr val="FEF0E7"/>
          </a:solidFill>
          <a:ln w="9525">
            <a:solidFill>
              <a:srgbClr val="E8600A"/>
            </a:solidFill>
            <a:prstDash val="solid"/>
          </a:ln>
        </p:spPr>
      </p:sp>
      <p:sp>
        <p:nvSpPr>
          <p:cNvPr id="15" name="Text 12"/>
          <p:cNvSpPr txBox="1"/>
          <p:nvPr/>
        </p:nvSpPr>
        <p:spPr>
          <a:xfrm>
            <a:off x="4892040" y="1234440"/>
            <a:ext cx="379476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ILLUSTRATION — NOT THE CURRICULUM</a:t>
            </a:r>
            <a:endParaRPr lang="en-US" sz="1100" dirty="0"/>
          </a:p>
        </p:txBody>
      </p:sp>
      <p:sp>
        <p:nvSpPr>
          <p:cNvPr id="16" name="Text 13"/>
          <p:cNvSpPr txBox="1"/>
          <p:nvPr/>
        </p:nvSpPr>
        <p:spPr>
          <a:xfrm>
            <a:off x="4892040" y="1527048"/>
            <a:ext cx="379476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When does VIVU call? 6.5% seven-year, USD 400m; yields fall 200 bps by year 3, so VIVU can refinance at 4.5%.</a:t>
            </a:r>
            <a:endParaRPr lang="en-US" sz="1200" dirty="0"/>
          </a:p>
        </p:txBody>
      </p:sp>
      <p:sp>
        <p:nvSpPr>
          <p:cNvPr id="17" name="Text 14"/>
          <p:cNvSpPr txBox="1"/>
          <p:nvPr/>
        </p:nvSpPr>
        <p:spPr>
          <a:xfrm>
            <a:off x="4892040" y="2039112"/>
            <a:ext cx="3794760" cy="17465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Call protection ends at year 3 → call price 103.25% = USD 413m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Call premium paid = 3.25% × 400m = USD 13m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Annual interest saved = 400 × (6.5% − 4.5%) = USD 8m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Premium recovered in 13 / 8 = 1.6 years, well inside the remaining four → VIVU calls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Investor is repaid early and reinvests at 4.5%: reinvestment risk, realised.</a:t>
            </a:r>
            <a:endParaRPr lang="en-US" sz="1200" dirty="0"/>
          </a:p>
        </p:txBody>
      </p:sp>
      <p:sp>
        <p:nvSpPr>
          <p:cNvPr id="18" name="Shape 15"/>
          <p:cNvSpPr/>
          <p:nvPr/>
        </p:nvSpPr>
        <p:spPr>
          <a:xfrm>
            <a:off x="4846320" y="3858768"/>
            <a:ext cx="3886200" cy="365760"/>
          </a:xfrm>
          <a:prstGeom prst="rect">
            <a:avLst/>
          </a:prstGeom>
          <a:solidFill>
            <a:srgbClr val="E8600A"/>
          </a:solidFill>
          <a:ln/>
        </p:spPr>
      </p:sp>
      <p:sp>
        <p:nvSpPr>
          <p:cNvPr id="19" name="Text 16"/>
          <p:cNvSpPr txBox="1"/>
          <p:nvPr/>
        </p:nvSpPr>
        <p:spPr>
          <a:xfrm>
            <a:off x="4892040" y="3858768"/>
            <a:ext cx="379476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Issuer refinances cheaply; investor gets capped upside and reinvestment risk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Cash-flow</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structures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5  ·  Deck 13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Bullet, amortizing, and balloon bonds differ only in WHEN principal comes back — same issuer, same rate, three different cash-flow shapes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"Fixed-Income Cash Flow Structures", Exhibits 1–4, pp. 27–31.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five-year term, USD 300m par, 3.2% semi-annual rate. Only the principal schedule changes — and it changes everything the investor holds.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554480"/>
                <a:gridCol w="2011680"/>
                <a:gridCol w="2926080"/>
                <a:gridCol w="2011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Period (years)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Bullet bond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Partial + 150m balloon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Fully amortizing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 (issue)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+18.75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+32.70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 – 4.5 each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+18.75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+32.70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5.0 (maturity)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+168.75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+32.70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Principal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maturity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Partly, plus balloon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Over the whole life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3063240"/>
            <a:ext cx="2743200" cy="1280160"/>
          </a:xfrm>
          <a:prstGeom prst="rect">
            <a:avLst/>
          </a:prstGeom>
          <a:solidFill>
            <a:srgbClr val="FEF0E7"/>
          </a:solidFill>
          <a:ln/>
        </p:spPr>
      </p:sp>
      <p:sp>
        <p:nvSpPr>
          <p:cNvPr id="11" name="Shape 8"/>
          <p:cNvSpPr/>
          <p:nvPr/>
        </p:nvSpPr>
        <p:spPr>
          <a:xfrm>
            <a:off x="320040" y="3063240"/>
            <a:ext cx="73152" cy="1280160"/>
          </a:xfrm>
          <a:prstGeom prst="rect">
            <a:avLst/>
          </a:prstGeom>
          <a:solidFill>
            <a:srgbClr val="E8600A"/>
          </a:solidFill>
          <a:ln/>
        </p:spPr>
      </p:sp>
      <p:sp>
        <p:nvSpPr>
          <p:cNvPr id="12" name="Text 9"/>
          <p:cNvSpPr txBox="1"/>
          <p:nvPr/>
        </p:nvSpPr>
        <p:spPr>
          <a:xfrm>
            <a:off x="457200" y="31089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BULLET</a:t>
            </a:r>
            <a:endParaRPr lang="en-US" sz="1100" dirty="0"/>
          </a:p>
        </p:txBody>
      </p:sp>
      <p:sp>
        <p:nvSpPr>
          <p:cNvPr id="13" name="Text 10"/>
          <p:cNvSpPr txBox="1"/>
          <p:nvPr/>
        </p:nvSpPr>
        <p:spPr>
          <a:xfrm>
            <a:off x="457200" y="3383280"/>
            <a:ext cx="251460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Interest-only coupons, principal in one lump. The standard corporate and government bond. Highest reinvestment risk at maturity.</a:t>
            </a:r>
            <a:endParaRPr lang="en-US" sz="1200" dirty="0"/>
          </a:p>
        </p:txBody>
      </p:sp>
      <p:sp>
        <p:nvSpPr>
          <p:cNvPr id="14" name="Shape 11"/>
          <p:cNvSpPr/>
          <p:nvPr/>
        </p:nvSpPr>
        <p:spPr>
          <a:xfrm>
            <a:off x="3200400" y="3063240"/>
            <a:ext cx="2743200" cy="1280160"/>
          </a:xfrm>
          <a:prstGeom prst="rect">
            <a:avLst/>
          </a:prstGeom>
          <a:solidFill>
            <a:srgbClr val="F5F7FA"/>
          </a:solidFill>
          <a:ln/>
        </p:spPr>
      </p:sp>
      <p:sp>
        <p:nvSpPr>
          <p:cNvPr id="15" name="Shape 12"/>
          <p:cNvSpPr/>
          <p:nvPr/>
        </p:nvSpPr>
        <p:spPr>
          <a:xfrm>
            <a:off x="3200400" y="3063240"/>
            <a:ext cx="73152" cy="1280160"/>
          </a:xfrm>
          <a:prstGeom prst="rect">
            <a:avLst/>
          </a:prstGeom>
          <a:solidFill>
            <a:srgbClr val="1B2A4A"/>
          </a:solidFill>
          <a:ln/>
        </p:spPr>
      </p:sp>
      <p:sp>
        <p:nvSpPr>
          <p:cNvPr id="16" name="Text 13"/>
          <p:cNvSpPr txBox="1"/>
          <p:nvPr/>
        </p:nvSpPr>
        <p:spPr>
          <a:xfrm>
            <a:off x="3337560" y="31089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FULLY AMORTIZING</a:t>
            </a:r>
            <a:endParaRPr lang="en-US" sz="1100" dirty="0"/>
          </a:p>
        </p:txBody>
      </p:sp>
      <p:sp>
        <p:nvSpPr>
          <p:cNvPr id="17" name="Text 14"/>
          <p:cNvSpPr txBox="1"/>
          <p:nvPr/>
        </p:nvSpPr>
        <p:spPr>
          <a:xfrm>
            <a:off x="3337560" y="3383280"/>
            <a:ext cx="251460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 0.016 × 300 / [1 − 1.016⁻¹⁰] = USD 32.70 each period. Credit risk falls as the balance shrinks; reinvestment risk rises.</a:t>
            </a:r>
            <a:endParaRPr lang="en-US" sz="1200" dirty="0"/>
          </a:p>
        </p:txBody>
      </p:sp>
      <p:sp>
        <p:nvSpPr>
          <p:cNvPr id="18" name="Shape 15"/>
          <p:cNvSpPr/>
          <p:nvPr/>
        </p:nvSpPr>
        <p:spPr>
          <a:xfrm>
            <a:off x="6080760" y="3063240"/>
            <a:ext cx="2743200" cy="1280160"/>
          </a:xfrm>
          <a:prstGeom prst="rect">
            <a:avLst/>
          </a:prstGeom>
          <a:solidFill>
            <a:srgbClr val="FEF0E7"/>
          </a:solidFill>
          <a:ln/>
        </p:spPr>
      </p:sp>
      <p:sp>
        <p:nvSpPr>
          <p:cNvPr id="19" name="Shape 16"/>
          <p:cNvSpPr/>
          <p:nvPr/>
        </p:nvSpPr>
        <p:spPr>
          <a:xfrm>
            <a:off x="6080760" y="3063240"/>
            <a:ext cx="73152" cy="1280160"/>
          </a:xfrm>
          <a:prstGeom prst="rect">
            <a:avLst/>
          </a:prstGeom>
          <a:solidFill>
            <a:srgbClr val="E8600A"/>
          </a:solidFill>
          <a:ln/>
        </p:spPr>
      </p:sp>
      <p:sp>
        <p:nvSpPr>
          <p:cNvPr id="20" name="Text 17"/>
          <p:cNvSpPr txBox="1"/>
          <p:nvPr/>
        </p:nvSpPr>
        <p:spPr>
          <a:xfrm>
            <a:off x="6217920" y="31089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PARTIAL + BALLOON</a:t>
            </a:r>
            <a:endParaRPr lang="en-US" sz="1100" dirty="0"/>
          </a:p>
        </p:txBody>
      </p:sp>
      <p:sp>
        <p:nvSpPr>
          <p:cNvPr id="21" name="Text 18"/>
          <p:cNvSpPr txBox="1"/>
          <p:nvPr/>
        </p:nvSpPr>
        <p:spPr>
          <a:xfrm>
            <a:off x="6217920" y="3383280"/>
            <a:ext cx="2514600" cy="9144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PV of the 150 balloon = 127.98, so 172 amortizes: A = 0.016 × 172 / [1 − 1.016⁻¹⁰] = 18.75. Final payment 18.75 + 150.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fully-amortizing payment is an annuity solved for PMT — early payments are mostly interest, late payments are almost entirely principal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Example 1 — 30-Year Fixed-Rate Residential Mortgage Loan, p. 31.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identity as the PV of an annuity, rearranged: given the loan, the periodic rate, and the number of periods, solve for the level payment.</a:t>
            </a:r>
            <a:endParaRPr lang="en-US" sz="1300" dirty="0"/>
          </a:p>
        </p:txBody>
      </p:sp>
      <p:sp>
        <p:nvSpPr>
          <p:cNvPr id="9" name="Shape 7"/>
          <p:cNvSpPr/>
          <p:nvPr/>
        </p:nvSpPr>
        <p:spPr>
          <a:xfrm>
            <a:off x="320040" y="1133856"/>
            <a:ext cx="8503920" cy="530352"/>
          </a:xfrm>
          <a:prstGeom prst="rect">
            <a:avLst/>
          </a:prstGeom>
          <a:solidFill>
            <a:srgbClr val="1B2A4A"/>
          </a:solidFill>
          <a:ln/>
        </p:spPr>
      </p:sp>
      <p:sp>
        <p:nvSpPr>
          <p:cNvPr id="10" name="Text 8"/>
          <p:cNvSpPr txBox="1"/>
          <p:nvPr/>
        </p:nvSpPr>
        <p:spPr>
          <a:xfrm>
            <a:off x="411480" y="1133856"/>
            <a:ext cx="8321040" cy="53035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A  =  r × Principal  /  [ 1 − (1 + r)^(−N) ]</a:t>
            </a:r>
            <a:endParaRPr lang="en-US" sz="1800" dirty="0"/>
          </a:p>
        </p:txBody>
      </p:sp>
      <p:sp>
        <p:nvSpPr>
          <p:cNvPr id="11" name="Text 9"/>
          <p:cNvSpPr txBox="1"/>
          <p:nvPr/>
        </p:nvSpPr>
        <p:spPr>
          <a:xfrm>
            <a:off x="320040" y="1691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 = level payment; r = periodic rate; N = number of payments. Interest each period = r × outstanding balance.</a:t>
            </a:r>
            <a:endParaRPr lang="en-US" sz="1100" dirty="0"/>
          </a:p>
        </p:txBody>
      </p:sp>
      <p:sp>
        <p:nvSpPr>
          <p:cNvPr id="12" name="Shape 10"/>
          <p:cNvSpPr/>
          <p:nvPr/>
        </p:nvSpPr>
        <p:spPr>
          <a:xfrm>
            <a:off x="320040" y="1938528"/>
            <a:ext cx="4937760" cy="2313432"/>
          </a:xfrm>
          <a:prstGeom prst="rect">
            <a:avLst/>
          </a:prstGeom>
          <a:solidFill>
            <a:srgbClr val="FEF0E7"/>
          </a:solidFill>
          <a:ln w="9525">
            <a:solidFill>
              <a:srgbClr val="E8600A"/>
            </a:solidFill>
            <a:prstDash val="solid"/>
          </a:ln>
        </p:spPr>
      </p:sp>
      <p:sp>
        <p:nvSpPr>
          <p:cNvPr id="13" name="Text 11"/>
          <p:cNvSpPr txBox="1"/>
          <p:nvPr/>
        </p:nvSpPr>
        <p:spPr>
          <a:xfrm>
            <a:off x="457200" y="1984248"/>
            <a:ext cx="466344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EXAMPLE 1 — USD 400,000 MORTGAGE</a:t>
            </a:r>
            <a:endParaRPr lang="en-US" sz="1100" dirty="0"/>
          </a:p>
        </p:txBody>
      </p:sp>
      <p:sp>
        <p:nvSpPr>
          <p:cNvPr id="14" name="Text 12"/>
          <p:cNvSpPr txBox="1"/>
          <p:nvPr/>
        </p:nvSpPr>
        <p:spPr>
          <a:xfrm>
            <a:off x="457200" y="2276856"/>
            <a:ext cx="4663440" cy="1463040"/>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Loan 400,000 on a 500,000 home; r = 3.50% / 12 = 0.29167%; N = 360 months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Numerator: r × P = 0.0029167 × 400,000 = 1,166.67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Denominator: 1 − (1.0029167)⁻³⁶⁰ = 1 − 0.35047 = 0.64953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 = 1,166.67 / 0.64953 = USD 1,796.18 per month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Month 1 = 1,166.67 interest + 629.51 principal — 65% of it is interest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Total paid = 1,796.18 × 360 = USD 646,625</a:t>
            </a:r>
            <a:endParaRPr lang="en-US" sz="1150" dirty="0"/>
          </a:p>
        </p:txBody>
      </p:sp>
      <p:sp>
        <p:nvSpPr>
          <p:cNvPr id="15" name="Shape 13"/>
          <p:cNvSpPr/>
          <p:nvPr/>
        </p:nvSpPr>
        <p:spPr>
          <a:xfrm>
            <a:off x="411480" y="3813048"/>
            <a:ext cx="4754880" cy="365760"/>
          </a:xfrm>
          <a:prstGeom prst="rect">
            <a:avLst/>
          </a:prstGeom>
          <a:solidFill>
            <a:srgbClr val="E8600A"/>
          </a:solidFill>
          <a:ln/>
        </p:spPr>
      </p:sp>
      <p:sp>
        <p:nvSpPr>
          <p:cNvPr id="16" name="Text 14"/>
          <p:cNvSpPr txBox="1"/>
          <p:nvPr/>
        </p:nvSpPr>
        <p:spPr>
          <a:xfrm>
            <a:off x="457200" y="3813048"/>
            <a:ext cx="466344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USD 1,796.18 / month  ·  USD 246,625 of interest on USD 400,000 borrowed</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4960" y="1938528"/>
          <a:ext cx="3429000" cy="914400"/>
        </p:xfrm>
        <a:graphic>
          <a:graphicData uri="http://schemas.openxmlformats.org/drawingml/2006/table">
            <a:tbl>
              <a:tblPr/>
              <a:tblGrid>
                <a:gridCol w="685800"/>
                <a:gridCol w="914400"/>
                <a:gridCol w="914400"/>
                <a:gridCol w="914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Month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Interest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Principal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Balance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1,166.67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629.51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399,370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1,164.83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631.35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398,739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1,162.99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633.19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398,106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358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1,780.55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3,577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359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1,785.75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360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1,790.96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Sinking funds retire principal through the life of the bond; ABS waterfalls repay principal sequentially A → B → C while interest goes to everyone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sinking funds and waterfall structures, Exhibit 5, p. 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Both cut credit risk for the senior investor and raise reinvestment risk — but by completely different mechanisms: one shrinks the balance, one ranks the claims.</a:t>
            </a:r>
            <a:endParaRPr lang="en-US" sz="1300" dirty="0"/>
          </a:p>
        </p:txBody>
      </p:sp>
      <p:sp>
        <p:nvSpPr>
          <p:cNvPr id="9" name="Shape 7"/>
          <p:cNvSpPr/>
          <p:nvPr/>
        </p:nvSpPr>
        <p:spPr>
          <a:xfrm>
            <a:off x="320040" y="1188720"/>
            <a:ext cx="4160520" cy="3108960"/>
          </a:xfrm>
          <a:prstGeom prst="rect">
            <a:avLst/>
          </a:prstGeom>
          <a:solidFill>
            <a:srgbClr val="FEF0E7"/>
          </a:solidFill>
          <a:ln/>
        </p:spPr>
      </p:sp>
      <p:sp>
        <p:nvSpPr>
          <p:cNvPr id="10" name="Shape 8"/>
          <p:cNvSpPr/>
          <p:nvPr/>
        </p:nvSpPr>
        <p:spPr>
          <a:xfrm>
            <a:off x="320040" y="1188720"/>
            <a:ext cx="73152" cy="310896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SINKING FUND</a:t>
            </a:r>
            <a:endParaRPr lang="en-US" sz="1100" dirty="0"/>
          </a:p>
        </p:txBody>
      </p:sp>
      <p:sp>
        <p:nvSpPr>
          <p:cNvPr id="12" name="Text 10"/>
          <p:cNvSpPr txBox="1"/>
          <p:nvPr/>
        </p:nvSpPr>
        <p:spPr>
          <a:xfrm>
            <a:off x="4572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issuer sets funds aside over time in an escrow account to retire a predetermined amount of principal early, on terms agreed at issuance.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How the bonds are taken out: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The trustee redeems a set amount, selected from investors at random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Or the issuer repurchases at a predetermined fixed price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Effect: principal outstanding falls before maturity, so credit risk falls and reinvestment risk rises — exactly like amortization.</a:t>
            </a:r>
            <a:endParaRPr lang="en-US" sz="1200" dirty="0"/>
          </a:p>
        </p:txBody>
      </p:sp>
      <p:sp>
        <p:nvSpPr>
          <p:cNvPr id="13" name="Shape 11"/>
          <p:cNvSpPr/>
          <p:nvPr/>
        </p:nvSpPr>
        <p:spPr>
          <a:xfrm>
            <a:off x="4663440" y="1188720"/>
            <a:ext cx="4160520" cy="3108960"/>
          </a:xfrm>
          <a:prstGeom prst="rect">
            <a:avLst/>
          </a:prstGeom>
          <a:solidFill>
            <a:srgbClr val="F5F7FA"/>
          </a:solidFill>
          <a:ln/>
        </p:spPr>
      </p:sp>
      <p:sp>
        <p:nvSpPr>
          <p:cNvPr id="14" name="Shape 12"/>
          <p:cNvSpPr/>
          <p:nvPr/>
        </p:nvSpPr>
        <p:spPr>
          <a:xfrm>
            <a:off x="4663440" y="1188720"/>
            <a:ext cx="73152" cy="310896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WATERFALL (ABS / MBS)</a:t>
            </a:r>
            <a:endParaRPr lang="en-US" sz="1100" dirty="0"/>
          </a:p>
        </p:txBody>
      </p:sp>
      <p:sp>
        <p:nvSpPr>
          <p:cNvPr id="16" name="Text 14"/>
          <p:cNvSpPr txBox="1"/>
          <p:nvPr/>
        </p:nvSpPr>
        <p:spPr>
          <a:xfrm>
            <a:off x="48006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INTEREST is paid to all classes with no preference. Only PRINCIPAL is sequential: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1. Tranche A receives principal first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2. Tranche B only once A is fully repaid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3. Tranche C only once A and B are repaid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Shortfalls are borne bottom-up, so Tranche A faces the lowest credit risk, then B, then C. Standard in RMBS, CMBS and CLO structures.</a:t>
            </a:r>
            <a:endParaRPr lang="en-US" sz="1200" dirty="0"/>
          </a:p>
        </p:txBody>
      </p:sp>
      <p:sp>
        <p:nvSpPr>
          <p:cNvPr id="17" name="Shape 15"/>
          <p:cNvSpPr/>
          <p:nvPr/>
        </p:nvSpPr>
        <p:spPr>
          <a:xfrm>
            <a:off x="320040" y="4370832"/>
            <a:ext cx="8503920" cy="256032"/>
          </a:xfrm>
          <a:prstGeom prst="rect">
            <a:avLst/>
          </a:prstGeom>
          <a:solidFill>
            <a:srgbClr val="FEF0E7"/>
          </a:solidFill>
          <a:ln/>
        </p:spPr>
      </p:sp>
      <p:sp>
        <p:nvSpPr>
          <p:cNvPr id="18" name="Shape 16"/>
          <p:cNvSpPr/>
          <p:nvPr/>
        </p:nvSpPr>
        <p:spPr>
          <a:xfrm>
            <a:off x="320040" y="4370832"/>
            <a:ext cx="73152" cy="256032"/>
          </a:xfrm>
          <a:prstGeom prst="rect">
            <a:avLst/>
          </a:prstGeom>
          <a:solidFill>
            <a:srgbClr val="E8600A"/>
          </a:solidFill>
          <a:ln/>
        </p:spPr>
      </p:sp>
      <p:sp>
        <p:nvSpPr>
          <p:cNvPr id="19" name="Text 17"/>
          <p:cNvSpPr txBox="1"/>
          <p:nvPr/>
        </p:nvSpPr>
        <p:spPr>
          <a:xfrm>
            <a:off x="457200" y="4443984"/>
            <a:ext cx="8275320" cy="14630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Tranche A coupon &lt; B &lt; C. The extra coupon is payment for standing further back in the principal queue.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Floating, step-up, credit-linked, payment-in-kind and index-linked coupons are five ways to make the interest stream adapt instead of staying fixed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Capital-indexed (TIPS): principal is CPI-adjusted; at maturity investors usually receive the greater of adjusted principal or par.
</a:t>
            </a:r>
            <a:pPr indent="0" marL="0">
              <a:buNone/>
            </a:pPr>
            <a:r>
              <a:rPr lang="en-US" sz="1000" dirty="0">
                <a:solidFill>
                  <a:srgbClr val="6B7A8D"/>
                </a:solidFill>
                <a:latin typeface="Calibri" pitchFamily="34" charset="0"/>
                <a:ea typeface="Calibri" pitchFamily="34" charset="-122"/>
                <a:cs typeface="Calibri" pitchFamily="34" charset="-120"/>
              </a:rPr>
              <a:t>² Interest-indexed bonds keep nominal principal fixed and index only the coupon — an FRN whose reference rate is inflation.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variable interest and index-linked structures (Antelas leveraged loan, PPC SLB, TIPS Example 2), pp. 32–36.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mechanism moves one specific risk — interest rate, ESG performance, credit deterioration, cash strain or inflation — between issuer and investor.</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77440"/>
                <a:gridCol w="4572000"/>
                <a:gridCol w="1554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Structure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Coupon mechanism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use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Floating-rate note (FRN)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MRR + fixed spread, reset each period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Bank loan assets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Step-up bond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Rises by preset margins on preset dates or on a trigger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ESG-linked bonds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Credit-linked coupon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Spread steps with leverage: Antelas 250→325 bps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Leveraged loans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Payment-in-kind (PIK)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paid as new principal — no cash out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Levered LBOs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Index-linked (TIPS)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Principal indexed to CPI; coupon on adj. principal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Inflation hedge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3017520"/>
            <a:ext cx="8503920" cy="1188720"/>
          </a:xfrm>
          <a:prstGeom prst="rect">
            <a:avLst/>
          </a:prstGeom>
          <a:solidFill>
            <a:srgbClr val="FEF0E7"/>
          </a:solidFill>
          <a:ln w="9525">
            <a:solidFill>
              <a:srgbClr val="E8600A"/>
            </a:solidFill>
            <a:prstDash val="solid"/>
          </a:ln>
        </p:spPr>
      </p:sp>
      <p:sp>
        <p:nvSpPr>
          <p:cNvPr id="12" name="Text 9"/>
          <p:cNvSpPr txBox="1"/>
          <p:nvPr/>
        </p:nvSpPr>
        <p:spPr>
          <a:xfrm>
            <a:off x="457200" y="30632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EXAMPLE 2 — TIPS CASH FLOW</a:t>
            </a:r>
            <a:endParaRPr lang="en-US" sz="1100" dirty="0"/>
          </a:p>
        </p:txBody>
      </p:sp>
      <p:sp>
        <p:nvSpPr>
          <p:cNvPr id="13" name="Text 10"/>
          <p:cNvSpPr txBox="1"/>
          <p:nvPr/>
        </p:nvSpPr>
        <p:spPr>
          <a:xfrm>
            <a:off x="457200" y="33558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USD 115m principal · 1.00% p.a. coupon paid semi-annually · CPI rises 265.00 → 267.25, i.e. +0.849%.</a:t>
            </a:r>
            <a:endParaRPr lang="en-US" sz="1200" dirty="0"/>
          </a:p>
        </p:txBody>
      </p:sp>
      <p:sp>
        <p:nvSpPr>
          <p:cNvPr id="14" name="Shape 11"/>
          <p:cNvSpPr/>
          <p:nvPr/>
        </p:nvSpPr>
        <p:spPr>
          <a:xfrm>
            <a:off x="411480" y="3767328"/>
            <a:ext cx="8321040" cy="365760"/>
          </a:xfrm>
          <a:prstGeom prst="rect">
            <a:avLst/>
          </a:prstGeom>
          <a:solidFill>
            <a:srgbClr val="E8600A"/>
          </a:solidFill>
          <a:ln/>
        </p:spPr>
      </p:sp>
      <p:sp>
        <p:nvSpPr>
          <p:cNvPr id="15" name="Text 12"/>
          <p:cNvSpPr txBox="1"/>
          <p:nvPr/>
        </p:nvSpPr>
        <p:spPr>
          <a:xfrm>
            <a:off x="457200" y="3767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Adjusted principal 115,976,350 → annual 1,159,764 → semi-annual coupon USD 579,882</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Zero-coupon bonds replace every coupon with a single discount at issuance; deferred-coupon bonds just push the coupons back in time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zero-coupon and deferred-coupon structures, Exhibit 8, pp. 36–37.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Both pay nothing early on — but their motives, their pricing and the risks they carry are different animals entirely.</a:t>
            </a:r>
            <a:endParaRPr lang="en-US" sz="1300" dirty="0"/>
          </a:p>
        </p:txBody>
      </p:sp>
      <p:sp>
        <p:nvSpPr>
          <p:cNvPr id="9" name="Shape 7"/>
          <p:cNvSpPr/>
          <p:nvPr/>
        </p:nvSpPr>
        <p:spPr>
          <a:xfrm>
            <a:off x="320040" y="1188720"/>
            <a:ext cx="4160520" cy="3108960"/>
          </a:xfrm>
          <a:prstGeom prst="rect">
            <a:avLst/>
          </a:prstGeom>
          <a:solidFill>
            <a:srgbClr val="FEF0E7"/>
          </a:solidFill>
          <a:ln/>
        </p:spPr>
      </p:sp>
      <p:sp>
        <p:nvSpPr>
          <p:cNvPr id="10" name="Shape 8"/>
          <p:cNvSpPr/>
          <p:nvPr/>
        </p:nvSpPr>
        <p:spPr>
          <a:xfrm>
            <a:off x="320040" y="1188720"/>
            <a:ext cx="73152" cy="310896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ZERO-COUPON</a:t>
            </a:r>
            <a:endParaRPr lang="en-US" sz="1100" dirty="0"/>
          </a:p>
        </p:txBody>
      </p:sp>
      <p:sp>
        <p:nvSpPr>
          <p:cNvPr id="12" name="Text 10"/>
          <p:cNvSpPr txBox="1"/>
          <p:nvPr/>
        </p:nvSpPr>
        <p:spPr>
          <a:xfrm>
            <a:off x="4572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One cash flow: par at maturity. Priced below par whenever rates are positive — the discount IS the cumulative interest.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Why investors want them: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No coupon to reinvest, so no reinvestment risk</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Clean matching of a known future obligation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Natural fit for pension and insurance ALM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Where they come from: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Governments at tenors under 12 months (T-bills)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Intermediaries stripping coupon and principal payments off sovereign bullets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Longer maturities became common after 2008 as sovereign rates fell to or below zero</a:t>
            </a:r>
            <a:endParaRPr lang="en-US" sz="1200" dirty="0"/>
          </a:p>
        </p:txBody>
      </p:sp>
      <p:sp>
        <p:nvSpPr>
          <p:cNvPr id="13" name="Shape 11"/>
          <p:cNvSpPr/>
          <p:nvPr/>
        </p:nvSpPr>
        <p:spPr>
          <a:xfrm>
            <a:off x="4663440" y="1188720"/>
            <a:ext cx="4160520" cy="3108960"/>
          </a:xfrm>
          <a:prstGeom prst="rect">
            <a:avLst/>
          </a:prstGeom>
          <a:solidFill>
            <a:srgbClr val="F5F7FA"/>
          </a:solidFill>
          <a:ln/>
        </p:spPr>
      </p:sp>
      <p:sp>
        <p:nvSpPr>
          <p:cNvPr id="14" name="Shape 12"/>
          <p:cNvSpPr/>
          <p:nvPr/>
        </p:nvSpPr>
        <p:spPr>
          <a:xfrm>
            <a:off x="4663440" y="1188720"/>
            <a:ext cx="73152" cy="310896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DEFERRED-COUPON</a:t>
            </a:r>
            <a:endParaRPr lang="en-US" sz="1100" dirty="0"/>
          </a:p>
        </p:txBody>
      </p:sp>
      <p:sp>
        <p:nvSpPr>
          <p:cNvPr id="16" name="Text 14"/>
          <p:cNvSpPr txBox="1"/>
          <p:nvPr/>
        </p:nvSpPr>
        <p:spPr>
          <a:xfrm>
            <a:off x="48006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No interest for the first few years, then a higher coupon through to maturity. A zero-coupon bond is the extreme case.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Why issuers use them: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Conserve cash immediately after issuance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Common where a project generates no income until it is finished — construction, infrastructure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Often signals weaker credit quality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Pricing: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Typically at a discount to par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The later, higher coupons do not usually make up for the interest forgone in the early years</a:t>
            </a:r>
            <a:endParaRPr lang="en-US" sz="1200" dirty="0"/>
          </a:p>
        </p:txBody>
      </p:sp>
      <p:sp>
        <p:nvSpPr>
          <p:cNvPr id="17" name="Shape 15"/>
          <p:cNvSpPr/>
          <p:nvPr/>
        </p:nvSpPr>
        <p:spPr>
          <a:xfrm>
            <a:off x="320040" y="4370832"/>
            <a:ext cx="8503920" cy="256032"/>
          </a:xfrm>
          <a:prstGeom prst="rect">
            <a:avLst/>
          </a:prstGeom>
          <a:solidFill>
            <a:srgbClr val="FEF0E7"/>
          </a:solidFill>
          <a:ln/>
        </p:spPr>
      </p:sp>
      <p:sp>
        <p:nvSpPr>
          <p:cNvPr id="18" name="Shape 16"/>
          <p:cNvSpPr/>
          <p:nvPr/>
        </p:nvSpPr>
        <p:spPr>
          <a:xfrm>
            <a:off x="320040" y="4370832"/>
            <a:ext cx="73152" cy="256032"/>
          </a:xfrm>
          <a:prstGeom prst="rect">
            <a:avLst/>
          </a:prstGeom>
          <a:solidFill>
            <a:srgbClr val="E8600A"/>
          </a:solidFill>
          <a:ln/>
        </p:spPr>
      </p:sp>
      <p:sp>
        <p:nvSpPr>
          <p:cNvPr id="19" name="Text 17"/>
          <p:cNvSpPr txBox="1"/>
          <p:nvPr/>
        </p:nvSpPr>
        <p:spPr>
          <a:xfrm>
            <a:off x="457200" y="4443984"/>
            <a:ext cx="8275320" cy="14630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Both are still priced as the present value of known future cash flows — the same bond maths as Deck 01. Nothing new, only a different schedule.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Put and conversion provisions belong to the INVESTOR — a put floors the price, conversion swaps debt for equity, and both cut the yield the issuer pays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2, putable, convertible and contingent convertible bonds, Exhibit 10 (ZTG BioTech), pp. 40–42.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Options held by the investor are paid for in yield: a putable bond yields LESS than an option-free bond, and a convertible yields less still.</a:t>
            </a:r>
            <a:endParaRPr lang="en-US" sz="1300" dirty="0"/>
          </a:p>
        </p:txBody>
      </p:sp>
      <p:sp>
        <p:nvSpPr>
          <p:cNvPr id="9" name="Shape 7"/>
          <p:cNvSpPr/>
          <p:nvPr/>
        </p:nvSpPr>
        <p:spPr>
          <a:xfrm>
            <a:off x="320040" y="1170432"/>
            <a:ext cx="8503920" cy="2057400"/>
          </a:xfrm>
          <a:prstGeom prst="rect">
            <a:avLst/>
          </a:prstGeom>
          <a:solidFill>
            <a:srgbClr val="FEF0E7"/>
          </a:solidFill>
          <a:ln w="9525">
            <a:solidFill>
              <a:srgbClr val="E8600A"/>
            </a:solidFill>
            <a:prstDash val="solid"/>
          </a:ln>
        </p:spPr>
      </p:sp>
      <p:sp>
        <p:nvSpPr>
          <p:cNvPr id="10" name="Text 8"/>
          <p:cNvSpPr txBox="1"/>
          <p:nvPr/>
        </p:nvSpPr>
        <p:spPr>
          <a:xfrm>
            <a:off x="457200" y="12161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EXHIBIT 10 — ZTG BIOTECH 1.25% FIVE-YEAR CONVERTIBLE</a:t>
            </a:r>
            <a:endParaRPr lang="en-US" sz="1100" dirty="0"/>
          </a:p>
        </p:txBody>
      </p:sp>
      <p:sp>
        <p:nvSpPr>
          <p:cNvPr id="11" name="Text 9"/>
          <p:cNvSpPr txBox="1"/>
          <p:nvPr/>
        </p:nvSpPr>
        <p:spPr>
          <a:xfrm>
            <a:off x="457200" y="15087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EUR 300m issue, unsecured, traded in EUR 1,000 units. Share price at issue EUR 28.00; conversion price EUR 42.00.</a:t>
            </a:r>
            <a:endParaRPr lang="en-US" sz="1200" dirty="0"/>
          </a:p>
        </p:txBody>
      </p:sp>
      <p:sp>
        <p:nvSpPr>
          <p:cNvPr id="12" name="Text 10"/>
          <p:cNvSpPr txBox="1"/>
          <p:nvPr/>
        </p:nvSpPr>
        <p:spPr>
          <a:xfrm>
            <a:off x="457200" y="2020824"/>
            <a:ext cx="8229600" cy="69494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Conversion ratio = par / conversion price = 1,000 / 42 = 23.81 shares per unit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Conversion premium = (42 − 28) / 28 = 50.0% over the share price at issue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 year later the shares trade at EUR 35 → conversion value = 23.81 × 35 = EUR 833.35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The bond trades near par, so the investor holds, takes the 1.25%, and waits for the shares to clear 42.</a:t>
            </a:r>
            <a:endParaRPr lang="en-US" sz="1100" dirty="0"/>
          </a:p>
        </p:txBody>
      </p:sp>
      <p:sp>
        <p:nvSpPr>
          <p:cNvPr id="13" name="Shape 11"/>
          <p:cNvSpPr/>
          <p:nvPr/>
        </p:nvSpPr>
        <p:spPr>
          <a:xfrm>
            <a:off x="411480" y="2788920"/>
            <a:ext cx="8321040" cy="365760"/>
          </a:xfrm>
          <a:prstGeom prst="rect">
            <a:avLst/>
          </a:prstGeom>
          <a:solidFill>
            <a:srgbClr val="E8600A"/>
          </a:solidFill>
          <a:ln/>
        </p:spPr>
      </p:sp>
      <p:sp>
        <p:nvSpPr>
          <p:cNvPr id="14" name="Text 12"/>
          <p:cNvSpPr txBox="1"/>
          <p:nvPr/>
        </p:nvSpPr>
        <p:spPr>
          <a:xfrm>
            <a:off x="457200" y="2788920"/>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Convert only once the conversion value beats the bond — i.e. share price above EUR 42</a:t>
            </a:r>
            <a:endParaRPr lang="en-US" sz="1150" dirty="0"/>
          </a:p>
        </p:txBody>
      </p:sp>
      <p:sp>
        <p:nvSpPr>
          <p:cNvPr id="15" name="Shape 13"/>
          <p:cNvSpPr/>
          <p:nvPr/>
        </p:nvSpPr>
        <p:spPr>
          <a:xfrm>
            <a:off x="320040" y="3310128"/>
            <a:ext cx="4160520" cy="1033272"/>
          </a:xfrm>
          <a:prstGeom prst="rect">
            <a:avLst/>
          </a:prstGeom>
          <a:solidFill>
            <a:srgbClr val="FEF0E7"/>
          </a:solidFill>
          <a:ln/>
        </p:spPr>
      </p:sp>
      <p:sp>
        <p:nvSpPr>
          <p:cNvPr id="16" name="Shape 14"/>
          <p:cNvSpPr/>
          <p:nvPr/>
        </p:nvSpPr>
        <p:spPr>
          <a:xfrm>
            <a:off x="320040" y="3310128"/>
            <a:ext cx="73152" cy="1033272"/>
          </a:xfrm>
          <a:prstGeom prst="rect">
            <a:avLst/>
          </a:prstGeom>
          <a:solidFill>
            <a:srgbClr val="E8600A"/>
          </a:solidFill>
          <a:ln/>
        </p:spPr>
      </p:sp>
      <p:sp>
        <p:nvSpPr>
          <p:cNvPr id="17" name="Text 15"/>
          <p:cNvSpPr txBox="1"/>
          <p:nvPr/>
        </p:nvSpPr>
        <p:spPr>
          <a:xfrm>
            <a:off x="457200" y="3355848"/>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PUTABLE BOND</a:t>
            </a:r>
            <a:endParaRPr lang="en-US" sz="1100" dirty="0"/>
          </a:p>
        </p:txBody>
      </p:sp>
      <p:sp>
        <p:nvSpPr>
          <p:cNvPr id="18" name="Text 16"/>
          <p:cNvSpPr txBox="1"/>
          <p:nvPr/>
        </p:nvSpPr>
        <p:spPr>
          <a:xfrm>
            <a:off x="457200" y="3630168"/>
            <a:ext cx="3931920" cy="66751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rates rise and the price falls, the investor sells the bond back at the put price — usually par. That price is a floor, and the issuer is compensated with a lower coupon.</a:t>
            </a:r>
            <a:endParaRPr lang="en-US" sz="1200" dirty="0"/>
          </a:p>
        </p:txBody>
      </p:sp>
      <p:sp>
        <p:nvSpPr>
          <p:cNvPr id="19" name="Shape 17"/>
          <p:cNvSpPr/>
          <p:nvPr/>
        </p:nvSpPr>
        <p:spPr>
          <a:xfrm>
            <a:off x="4663440" y="3310128"/>
            <a:ext cx="4160520" cy="1033272"/>
          </a:xfrm>
          <a:prstGeom prst="rect">
            <a:avLst/>
          </a:prstGeom>
          <a:solidFill>
            <a:srgbClr val="F5F7FA"/>
          </a:solidFill>
          <a:ln/>
        </p:spPr>
      </p:sp>
      <p:sp>
        <p:nvSpPr>
          <p:cNvPr id="20" name="Shape 18"/>
          <p:cNvSpPr/>
          <p:nvPr/>
        </p:nvSpPr>
        <p:spPr>
          <a:xfrm>
            <a:off x="4663440" y="3310128"/>
            <a:ext cx="73152" cy="1033272"/>
          </a:xfrm>
          <a:prstGeom prst="rect">
            <a:avLst/>
          </a:prstGeom>
          <a:solidFill>
            <a:srgbClr val="1B2A4A"/>
          </a:solidFill>
          <a:ln/>
        </p:spPr>
      </p:sp>
      <p:sp>
        <p:nvSpPr>
          <p:cNvPr id="21" name="Text 19"/>
          <p:cNvSpPr txBox="1"/>
          <p:nvPr/>
        </p:nvSpPr>
        <p:spPr>
          <a:xfrm>
            <a:off x="4800600" y="3355848"/>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CONTINGENT CONVERTIBLE (CoCo)</a:t>
            </a:r>
            <a:endParaRPr lang="en-US" sz="1100" dirty="0"/>
          </a:p>
        </p:txBody>
      </p:sp>
      <p:sp>
        <p:nvSpPr>
          <p:cNvPr id="22" name="Text 20"/>
          <p:cNvSpPr txBox="1"/>
          <p:nvPr/>
        </p:nvSpPr>
        <p:spPr>
          <a:xfrm>
            <a:off x="4800600" y="3630168"/>
            <a:ext cx="3931920" cy="66751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Converts on the DOWNSIDE, automatically, if a bank's core capital ratio breaches its regulatory minimum. Not the investor's choice — hence a higher yield.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Issuance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trading</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5  ·  Deck 13 of 20  ·  Studio Tonton Gug</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Fixed-income markets are sliced three ways at once — issuer type, credit quality, and time to maturity — and every instrument lives in a specific cell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3, "Fixed-Income Segments, Issuers, and Investors", Exhibits 1–2, pp. 57–61.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cell has a natural issuer and a natural investor. Mismatches between the two — short-term funding against long-term assets — are where blow-ups come from.</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1920240"/>
                <a:gridCol w="2377440"/>
                <a:gridCol w="2194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Credit quality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Short-term (&lt;1y)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Intermediate (1–10y)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Long-term (&gt;10y)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Default risk-free (DM sov)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Treasury bills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Treasury notes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Treasury bonds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Investment grade corp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Repo · CP · ABCP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Unsecured bonds · ABS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Unsecured bonds · MBS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High yield corp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(no access)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Secured bonds · lev loans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Secured corporate bonds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468880"/>
            <a:ext cx="8503920" cy="1097280"/>
          </a:xfrm>
          <a:prstGeom prst="rect">
            <a:avLst/>
          </a:prstGeom>
          <a:solidFill>
            <a:srgbClr val="FEF0E7"/>
          </a:solidFill>
          <a:ln/>
        </p:spPr>
      </p:sp>
      <p:sp>
        <p:nvSpPr>
          <p:cNvPr id="11" name="Shape 8"/>
          <p:cNvSpPr/>
          <p:nvPr/>
        </p:nvSpPr>
        <p:spPr>
          <a:xfrm>
            <a:off x="320040" y="2468880"/>
            <a:ext cx="73152" cy="1097280"/>
          </a:xfrm>
          <a:prstGeom prst="rect">
            <a:avLst/>
          </a:prstGeom>
          <a:solidFill>
            <a:srgbClr val="E8600A"/>
          </a:solidFill>
          <a:ln/>
        </p:spPr>
      </p:sp>
      <p:sp>
        <p:nvSpPr>
          <p:cNvPr id="12" name="Text 9"/>
          <p:cNvSpPr txBox="1"/>
          <p:nvPr/>
        </p:nvSpPr>
        <p:spPr>
          <a:xfrm>
            <a:off x="457200" y="2514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NATURAL INVESTOR IN EACH CELL</a:t>
            </a:r>
            <a:endParaRPr lang="en-US" sz="1100" dirty="0"/>
          </a:p>
        </p:txBody>
      </p:sp>
      <p:sp>
        <p:nvSpPr>
          <p:cNvPr id="13" name="Text 10"/>
          <p:cNvSpPr txBox="1"/>
          <p:nvPr/>
        </p:nvSpPr>
        <p:spPr>
          <a:xfrm>
            <a:off x="457200" y="2788920"/>
            <a:ext cx="82753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Money-market funds and corporate treasuries → short-dated risk-free and IG. Financial intermediaries and central banks → across the risk-free curve. Bond funds and ETFs → intermediate IG. Pension funds and insurers → long-dated risk-free and IG, matching liabilities. Asset managers → long IG. Hedge funds and distressed funds → high yield.</a:t>
            </a:r>
            <a:endParaRPr lang="en-US" sz="1200" dirty="0"/>
          </a:p>
        </p:txBody>
      </p:sp>
      <p:sp>
        <p:nvSpPr>
          <p:cNvPr id="14" name="Shape 11"/>
          <p:cNvSpPr/>
          <p:nvPr/>
        </p:nvSpPr>
        <p:spPr>
          <a:xfrm>
            <a:off x="320040" y="3657600"/>
            <a:ext cx="8503920" cy="685800"/>
          </a:xfrm>
          <a:prstGeom prst="rect">
            <a:avLst/>
          </a:prstGeom>
          <a:solidFill>
            <a:srgbClr val="F5F7FA"/>
          </a:solidFill>
          <a:ln/>
        </p:spPr>
      </p:sp>
      <p:sp>
        <p:nvSpPr>
          <p:cNvPr id="15" name="Shape 12"/>
          <p:cNvSpPr/>
          <p:nvPr/>
        </p:nvSpPr>
        <p:spPr>
          <a:xfrm>
            <a:off x="320040" y="3657600"/>
            <a:ext cx="73152" cy="685800"/>
          </a:xfrm>
          <a:prstGeom prst="rect">
            <a:avLst/>
          </a:prstGeom>
          <a:solidFill>
            <a:srgbClr val="1B2A4A"/>
          </a:solidFill>
          <a:ln/>
        </p:spPr>
      </p:sp>
      <p:sp>
        <p:nvSpPr>
          <p:cNvPr id="16" name="Text 13"/>
          <p:cNvSpPr txBox="1"/>
          <p:nvPr/>
        </p:nvSpPr>
        <p:spPr>
          <a:xfrm>
            <a:off x="457200" y="37033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ONE ISSUER, MANY INSTRUMENTS</a:t>
            </a:r>
            <a:endParaRPr lang="en-US" sz="1100" dirty="0"/>
          </a:p>
        </p:txBody>
      </p:sp>
      <p:sp>
        <p:nvSpPr>
          <p:cNvPr id="17" name="Text 14"/>
          <p:cNvSpPr txBox="1"/>
          <p:nvPr/>
        </p:nvSpPr>
        <p:spPr>
          <a:xfrm>
            <a:off x="457200" y="3977640"/>
            <a:ext cx="8275320" cy="320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 equity issuer typically has one instrument outstanding. At the end of 2021 Apple had over 80 fixed-income instruments and a single common stock.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Credit ratings draw a bright line at BBB-/Baa3 — at or above it, investment grade; at BB+/Ba1 or below, high yield, speculative grade, or junk</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3, S&amp;P credit ratings box and IG / HY definitions, pp. 59–60.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That line is regulatory, contractual and psychological all at once — many institutional mandates are hard-capped at investment grade, so crossing it forces selling.</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37360"/>
                <a:gridCol w="1463040"/>
                <a:gridCol w="347472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S&amp;P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S&amp;P means by 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Who lives there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IG — highest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Extremely strong capacity to pay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DM sovereigns, SSAs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IG — upper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 / 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strong / strong; some sensitivity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Large IG corporates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IG — lower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BBB+ to BBB-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Adequate; more exposed to downturns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Core of IG indices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HY — upper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BB+ / BB / 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Faces major ongoing uncertainties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Leveraged finance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HY — lower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CCC / CC / 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Vulnerable; needs favourable conditions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Distressed funds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Default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Payment default or bankruptcy filing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Restructuring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4160520" cy="1097280"/>
          </a:xfrm>
          <a:prstGeom prst="rect">
            <a:avLst/>
          </a:prstGeom>
          <a:solidFill>
            <a:srgbClr val="FEF0E7"/>
          </a:solidFill>
          <a:ln/>
        </p:spPr>
      </p:sp>
      <p:sp>
        <p:nvSpPr>
          <p:cNvPr id="11" name="Shape 8"/>
          <p:cNvSpPr/>
          <p:nvPr/>
        </p:nvSpPr>
        <p:spPr>
          <a:xfrm>
            <a:off x="320040" y="3246120"/>
            <a:ext cx="73152" cy="1097280"/>
          </a:xfrm>
          <a:prstGeom prst="rect">
            <a:avLst/>
          </a:prstGeom>
          <a:solidFill>
            <a:srgbClr val="E8600A"/>
          </a:solidFill>
          <a:ln/>
        </p:spPr>
      </p:sp>
      <p:sp>
        <p:nvSpPr>
          <p:cNvPr id="12" name="Text 9"/>
          <p:cNvSpPr txBox="1"/>
          <p:nvPr/>
        </p:nvSpPr>
        <p:spPr>
          <a:xfrm>
            <a:off x="457200" y="32918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FALLEN ANGEL</a:t>
            </a:r>
            <a:endParaRPr lang="en-US" sz="1100" dirty="0"/>
          </a:p>
        </p:txBody>
      </p:sp>
      <p:sp>
        <p:nvSpPr>
          <p:cNvPr id="13" name="Text 10"/>
          <p:cNvSpPr txBox="1"/>
          <p:nvPr/>
        </p:nvSpPr>
        <p:spPr>
          <a:xfrm>
            <a:off x="457200" y="3566160"/>
            <a:ext cx="39319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former investment-grade issuer downgraded to high yield. Its bonds still carry IG documentation — long maturity, few covenants — but mandate-constrained holders become forced sellers.</a:t>
            </a:r>
            <a:endParaRPr lang="en-US" sz="1200" dirty="0"/>
          </a:p>
        </p:txBody>
      </p:sp>
      <p:sp>
        <p:nvSpPr>
          <p:cNvPr id="14" name="Shape 11"/>
          <p:cNvSpPr/>
          <p:nvPr/>
        </p:nvSpPr>
        <p:spPr>
          <a:xfrm>
            <a:off x="4663440" y="3246120"/>
            <a:ext cx="4160520" cy="1097280"/>
          </a:xfrm>
          <a:prstGeom prst="rect">
            <a:avLst/>
          </a:prstGeom>
          <a:solidFill>
            <a:srgbClr val="F5F7FA"/>
          </a:solidFill>
          <a:ln/>
        </p:spPr>
      </p:sp>
      <p:sp>
        <p:nvSpPr>
          <p:cNvPr id="15" name="Shape 12"/>
          <p:cNvSpPr/>
          <p:nvPr/>
        </p:nvSpPr>
        <p:spPr>
          <a:xfrm>
            <a:off x="4663440" y="3246120"/>
            <a:ext cx="73152" cy="1097280"/>
          </a:xfrm>
          <a:prstGeom prst="rect">
            <a:avLst/>
          </a:prstGeom>
          <a:solidFill>
            <a:srgbClr val="1B2A4A"/>
          </a:solidFill>
          <a:ln/>
        </p:spPr>
      </p:sp>
      <p:sp>
        <p:nvSpPr>
          <p:cNvPr id="16" name="Text 13"/>
          <p:cNvSpPr txBox="1"/>
          <p:nvPr/>
        </p:nvSpPr>
        <p:spPr>
          <a:xfrm>
            <a:off x="4800600" y="32918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WHAT A RATING MEASURES</a:t>
            </a:r>
            <a:endParaRPr lang="en-US" sz="1100" dirty="0"/>
          </a:p>
        </p:txBody>
      </p:sp>
      <p:sp>
        <p:nvSpPr>
          <p:cNvPr id="17" name="Text 14"/>
          <p:cNvSpPr txBox="1"/>
          <p:nvPr/>
        </p:nvSpPr>
        <p:spPr>
          <a:xfrm>
            <a:off x="4800600" y="3566160"/>
            <a:ext cx="39319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Both the probability of default AND the expected loss if default occurs. Agencies rate issuers and individual issues separately, and many mandates cap unrated holdings.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Bond indexes differ from equity indexes in three ways — far more constituents, far higher turnover, and weighting by market value of debt outstanding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3, "Fixed-Income Indexes", Exhibits 3–5, pp. 65–68.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One issuer, many eligible bonds — some indexes carry over 10,000 constituents. Bonds mature and get refinanced, so indexes rebalance monthly and funds hold a representative sample, never the full basket.</a:t>
            </a:r>
            <a:endParaRPr lang="en-US" sz="1300" dirty="0"/>
          </a:p>
        </p:txBody>
      </p:sp>
      <p:sp>
        <p:nvSpPr>
          <p:cNvPr id="9" name="Shape 7"/>
          <p:cNvSpPr/>
          <p:nvPr/>
        </p:nvSpPr>
        <p:spPr>
          <a:xfrm>
            <a:off x="320040" y="1234440"/>
            <a:ext cx="2743200" cy="3108960"/>
          </a:xfrm>
          <a:prstGeom prst="rect">
            <a:avLst/>
          </a:prstGeom>
          <a:solidFill>
            <a:srgbClr val="F5F7FA"/>
          </a:solidFill>
          <a:ln/>
        </p:spPr>
      </p:sp>
      <p:sp>
        <p:nvSpPr>
          <p:cNvPr id="10" name="Shape 8"/>
          <p:cNvSpPr/>
          <p:nvPr/>
        </p:nvSpPr>
        <p:spPr>
          <a:xfrm>
            <a:off x="320040" y="1234440"/>
            <a:ext cx="73152" cy="3108960"/>
          </a:xfrm>
          <a:prstGeom prst="rect">
            <a:avLst/>
          </a:prstGeom>
          <a:solidFill>
            <a:srgbClr val="1B2A4A"/>
          </a:solidFill>
          <a:ln/>
        </p:spPr>
      </p:sp>
      <p:sp>
        <p:nvSpPr>
          <p:cNvPr id="11" name="Text 9"/>
          <p:cNvSpPr txBox="1"/>
          <p:nvPr/>
        </p:nvSpPr>
        <p:spPr>
          <a:xfrm>
            <a:off x="457200" y="132588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GLOBAL AGGREGATE</a:t>
            </a:r>
            <a:endParaRPr lang="en-US" sz="1100" dirty="0"/>
          </a:p>
        </p:txBody>
      </p:sp>
      <p:sp>
        <p:nvSpPr>
          <p:cNvPr id="12" name="Text 10"/>
          <p:cNvSpPr txBox="1"/>
          <p:nvPr/>
        </p:nvSpPr>
        <p:spPr>
          <a:xfrm>
            <a:off x="484632" y="1691640"/>
            <a:ext cx="2423160" cy="2606040"/>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Scope: fixed-rate bonds from sovereign, government, corporate and securitized issuers across 28 developed and emerging markets.</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Criteria:</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Investment-grade rating</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At least 1y to maturity</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Minimum issue size by market</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Fully taxable issues only</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Excludes: high yield, unrated, and anything below minimum size.</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Rebalanced monthly.</a:t>
            </a:r>
            <a:endParaRPr lang="en-US" sz="1050" dirty="0"/>
          </a:p>
        </p:txBody>
      </p:sp>
      <p:sp>
        <p:nvSpPr>
          <p:cNvPr id="13" name="Shape 11"/>
          <p:cNvSpPr/>
          <p:nvPr/>
        </p:nvSpPr>
        <p:spPr>
          <a:xfrm>
            <a:off x="3200400" y="1234440"/>
            <a:ext cx="2743200" cy="3108960"/>
          </a:xfrm>
          <a:prstGeom prst="rect">
            <a:avLst/>
          </a:prstGeom>
          <a:solidFill>
            <a:srgbClr val="FEF0E7"/>
          </a:solidFill>
          <a:ln/>
        </p:spPr>
      </p:sp>
      <p:sp>
        <p:nvSpPr>
          <p:cNvPr id="14" name="Shape 12"/>
          <p:cNvSpPr/>
          <p:nvPr/>
        </p:nvSpPr>
        <p:spPr>
          <a:xfrm>
            <a:off x="3200400" y="1234440"/>
            <a:ext cx="73152" cy="3108960"/>
          </a:xfrm>
          <a:prstGeom prst="rect">
            <a:avLst/>
          </a:prstGeom>
          <a:solidFill>
            <a:srgbClr val="E8600A"/>
          </a:solidFill>
          <a:ln/>
        </p:spPr>
      </p:sp>
      <p:sp>
        <p:nvSpPr>
          <p:cNvPr id="15" name="Text 13"/>
          <p:cNvSpPr txBox="1"/>
          <p:nvPr/>
        </p:nvSpPr>
        <p:spPr>
          <a:xfrm>
            <a:off x="3337560" y="132588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J.P. MORGAN EMBI+</a:t>
            </a:r>
            <a:endParaRPr lang="en-US" sz="1100" dirty="0"/>
          </a:p>
        </p:txBody>
      </p:sp>
      <p:sp>
        <p:nvSpPr>
          <p:cNvPr id="16" name="Text 14"/>
          <p:cNvSpPr txBox="1"/>
          <p:nvPr/>
        </p:nvSpPr>
        <p:spPr>
          <a:xfrm>
            <a:off x="3364992" y="1691640"/>
            <a:ext cx="2423160" cy="2606040"/>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Scope: USD-denominated debt of emerging market sovereign issuers.</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Criteria:</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Sovereign rated Baa1 / BBB+ or below</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USD only; no FX-linked payments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USD 500m minimum outstanding</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At least 2.5y to maturity</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Purpose: a higher dollar return than DM sovereigns, in exchange for the external debt risk of the issuer country.</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Rebalanced monthly.</a:t>
            </a:r>
            <a:endParaRPr lang="en-US" sz="1050" dirty="0"/>
          </a:p>
        </p:txBody>
      </p:sp>
      <p:sp>
        <p:nvSpPr>
          <p:cNvPr id="17" name="Shape 15"/>
          <p:cNvSpPr/>
          <p:nvPr/>
        </p:nvSpPr>
        <p:spPr>
          <a:xfrm>
            <a:off x="6080760" y="1234440"/>
            <a:ext cx="2743200" cy="3108960"/>
          </a:xfrm>
          <a:prstGeom prst="rect">
            <a:avLst/>
          </a:prstGeom>
          <a:solidFill>
            <a:srgbClr val="F5F7FA"/>
          </a:solidFill>
          <a:ln/>
        </p:spPr>
      </p:sp>
      <p:sp>
        <p:nvSpPr>
          <p:cNvPr id="18" name="Shape 16"/>
          <p:cNvSpPr/>
          <p:nvPr/>
        </p:nvSpPr>
        <p:spPr>
          <a:xfrm>
            <a:off x="6080760" y="1234440"/>
            <a:ext cx="73152" cy="3108960"/>
          </a:xfrm>
          <a:prstGeom prst="rect">
            <a:avLst/>
          </a:prstGeom>
          <a:solidFill>
            <a:srgbClr val="1B2A4A"/>
          </a:solidFill>
          <a:ln/>
        </p:spPr>
      </p:sp>
      <p:sp>
        <p:nvSpPr>
          <p:cNvPr id="19" name="Text 17"/>
          <p:cNvSpPr txBox="1"/>
          <p:nvPr/>
        </p:nvSpPr>
        <p:spPr>
          <a:xfrm>
            <a:off x="6217920" y="132588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MSCI EUR CORP SRI</a:t>
            </a:r>
            <a:endParaRPr lang="en-US" sz="1100" dirty="0"/>
          </a:p>
        </p:txBody>
      </p:sp>
      <p:sp>
        <p:nvSpPr>
          <p:cNvPr id="20" name="Text 18"/>
          <p:cNvSpPr txBox="1"/>
          <p:nvPr/>
        </p:nvSpPr>
        <p:spPr>
          <a:xfrm>
            <a:off x="6245352" y="1691640"/>
            <a:ext cx="2423160" cy="2606040"/>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Scope: euro-denominated IG corporate bonds with an ESG overlay.</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Criteria:</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Rated Baa3 / BBB- or above</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MSCI ESG rating of BBB or higher</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EUR 300m minimum outstanding</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At least 1y to maturity</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Excludes: alcohol, tobacco, gambling, adult entertainment, GMOs, nuclear, firearms, weapons, thermal coal, oil sands — and any issuer with a "Red" MSCI controversy score.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Investment-grade corporate issuance is compressed into a single trading day — announced at 9:15, priced at 3pm, free to trade the same or next day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3, "Primary and Secondary Fixed-Income Markets", Exhibit 6, pp. 70–71.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Frequent issuers work off a shelf registration and pick the day opportunistically. The roadshow is an electronic file released at announcement plus one investor call.</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280160"/>
                <a:gridCol w="512064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Event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Book status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9:00 am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Underwriters and issuer agree to launch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Pre-launch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9:15 am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Announced, size / spread / tenor TBD; e-roadshow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Book opens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10:30 am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Investor conference call with issuer + underwriters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Book building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12:00 noon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guidance out; order book CLOSED to investors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Book closed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 pm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Transaction LAUNCHED — final size, price, tenors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Launched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1:00–3:00 pm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Underwriters allocate the transaction to investors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Allocation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3:00 pm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Priced — government benchmark and coupon set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4:00 pm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Final term sheet; bonds free to trade same/next day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Secondary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703320"/>
            <a:ext cx="8503920" cy="640080"/>
          </a:xfrm>
          <a:prstGeom prst="rect">
            <a:avLst/>
          </a:prstGeom>
          <a:solidFill>
            <a:srgbClr val="FEF0E7"/>
          </a:solidFill>
          <a:ln/>
        </p:spPr>
      </p:sp>
      <p:sp>
        <p:nvSpPr>
          <p:cNvPr id="11" name="Shape 8"/>
          <p:cNvSpPr/>
          <p:nvPr/>
        </p:nvSpPr>
        <p:spPr>
          <a:xfrm>
            <a:off x="320040" y="3703320"/>
            <a:ext cx="73152" cy="640080"/>
          </a:xfrm>
          <a:prstGeom prst="rect">
            <a:avLst/>
          </a:prstGeom>
          <a:solidFill>
            <a:srgbClr val="E8600A"/>
          </a:solidFill>
          <a:ln/>
        </p:spPr>
      </p:sp>
      <p:sp>
        <p:nvSpPr>
          <p:cNvPr id="12" name="Text 9"/>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CONTRAST — HIGH YIELD, SECURED, AND PRIVATE</a:t>
            </a:r>
            <a:endParaRPr lang="en-US" sz="1100" dirty="0"/>
          </a:p>
        </p:txBody>
      </p:sp>
      <p:sp>
        <p:nvSpPr>
          <p:cNvPr id="13" name="Text 10"/>
          <p:cNvSpPr txBox="1"/>
          <p:nvPr/>
        </p:nvSpPr>
        <p:spPr>
          <a:xfrm>
            <a:off x="457200" y="4023360"/>
            <a:ext cx="8275320" cy="274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HY and secured deals run far longer: complex covenants, collateral diligence, and often a best-efforts sale rather than an underwritten one. A private placement skips the public process entirely, selling to a small group of investors.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Secondary bond markets are quote-driven and over-the-counter; the bid–offer spread is the honest measure of how liquid a line really is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3, "Secondary Fixed-Income Markets" and Example 4 (Hertz), pp. 72–73.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Unlike equities, bonds rarely trade on an exchange — price discovery lives at dealer desks, and liquidity varies even between two bonds of the same issuer.</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657600"/>
                <a:gridCol w="1828800"/>
                <a:gridCol w="3017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Bond 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Bid–offer spread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On-the-run DM sovereign (latest UST 10y)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Fraction of 1 bp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Primary dealers quote in size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Recent bond, frequent IG issuer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few bp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Dealers hold trading inventory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Seasoned or infrequent IG corporate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10–20 bp or more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Rarely traded; small sizes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Distressed debt (issuer near bankruptcy)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Wide; price &lt;&lt; par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Forced sellers meet opportunists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Bonds that do not trade at 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live quote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Priced off comparable liquid bonds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325880"/>
          </a:xfrm>
          <a:prstGeom prst="rect">
            <a:avLst/>
          </a:prstGeom>
          <a:solidFill>
            <a:srgbClr val="FEF0E7"/>
          </a:solidFill>
          <a:ln/>
        </p:spPr>
      </p:sp>
      <p:sp>
        <p:nvSpPr>
          <p:cNvPr id="11" name="Shape 8"/>
          <p:cNvSpPr/>
          <p:nvPr/>
        </p:nvSpPr>
        <p:spPr>
          <a:xfrm>
            <a:off x="320040" y="3017520"/>
            <a:ext cx="73152" cy="132588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HERTZ 2020 — WHAT DISTRESS LOOKS LIKE IN THE TAPE</a:t>
            </a:r>
            <a:endParaRPr lang="en-US" sz="1100" dirty="0"/>
          </a:p>
        </p:txBody>
      </p:sp>
      <p:sp>
        <p:nvSpPr>
          <p:cNvPr id="13" name="Text 10"/>
          <p:cNvSpPr txBox="1"/>
          <p:nvPr/>
        </p:nvSpPr>
        <p:spPr>
          <a:xfrm>
            <a:off x="457200" y="333756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Hertz filed for Chapter 11 in May 2020 as COVID hit car rental. Its 2022 and 2028 bonds traded below 10% of par, down more than 90% in three months — then recovered to pre-pandemic prices a year later, when a reorganisation with outside investors left them intact. The curriculum's general point: distressed bonds keep trading until the issuer liquidates or restructures, whereas by that stage the equity has usually already been delisted.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Corporate FI</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markets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5  ·  Deck 13 of 20  ·  Studio Tonton Gug</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Short-term corporate funding runs from cheap-and-uncommitted bank lines up to binding multi-year revolvers with covenants — reliability is bought with cost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"Short-Term Funding Alternatives", Exhibit 1, pp. 80–82.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Climb the reliability ladder and the bank starts asking for an upfront fee and covenants in exchange for liquidity it is legally bound to provide.</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1554480"/>
                <a:gridCol w="1828800"/>
                <a:gridCol w="173736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Facility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Reliability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Bank commitment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Cost to borrower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Covenants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Uncommitted line of credit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Bank may decline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MRR + spread, drawn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Committed line (364-day)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Medium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Written commitment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fee, e.g. 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Revolver (multi-year)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Binding, multi-year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 fee + covenants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Full set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Secured / asset-based loan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Credit-dependent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Collateral pledged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Rate reflects lien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 collateral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Factoring of receivables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Not a facility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Receivables sold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Discount to face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4160520" cy="1325880"/>
          </a:xfrm>
          <a:prstGeom prst="rect">
            <a:avLst/>
          </a:prstGeom>
          <a:solidFill>
            <a:srgbClr val="FEF0E7"/>
          </a:solidFill>
          <a:ln/>
        </p:spPr>
      </p:sp>
      <p:sp>
        <p:nvSpPr>
          <p:cNvPr id="11" name="Shape 8"/>
          <p:cNvSpPr/>
          <p:nvPr/>
        </p:nvSpPr>
        <p:spPr>
          <a:xfrm>
            <a:off x="320040" y="3017520"/>
            <a:ext cx="73152" cy="1325880"/>
          </a:xfrm>
          <a:prstGeom prst="rect">
            <a:avLst/>
          </a:prstGeom>
          <a:solidFill>
            <a:srgbClr val="E8600A"/>
          </a:solidFill>
          <a:ln/>
        </p:spPr>
      </p:sp>
      <p:sp>
        <p:nvSpPr>
          <p:cNvPr id="12" name="Text 9"/>
          <p:cNvSpPr txBox="1"/>
          <p:nvPr/>
        </p:nvSpPr>
        <p:spPr>
          <a:xfrm>
            <a:off x="457200" y="30632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RULE OF THUMB</a:t>
            </a:r>
            <a:endParaRPr lang="en-US" sz="1100" dirty="0"/>
          </a:p>
        </p:txBody>
      </p:sp>
      <p:sp>
        <p:nvSpPr>
          <p:cNvPr id="13" name="Text 10"/>
          <p:cNvSpPr txBox="1"/>
          <p:nvPr/>
        </p:nvSpPr>
        <p:spPr>
          <a:xfrm>
            <a:off x="457200" y="3337560"/>
            <a:ext cx="39319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strong IG borrower with stable deposits at the bank takes an uncommitted line — no fee. A weaker borrower needs a revolver: binding liquidity, paid for with a fee and covenants. Revolvers also backstop commercial-paper programmes.</a:t>
            </a:r>
            <a:endParaRPr lang="en-US" sz="1200" dirty="0"/>
          </a:p>
        </p:txBody>
      </p:sp>
      <p:sp>
        <p:nvSpPr>
          <p:cNvPr id="14" name="Shape 11"/>
          <p:cNvSpPr/>
          <p:nvPr/>
        </p:nvSpPr>
        <p:spPr>
          <a:xfrm>
            <a:off x="4663440" y="3017520"/>
            <a:ext cx="4160520" cy="1325880"/>
          </a:xfrm>
          <a:prstGeom prst="rect">
            <a:avLst/>
          </a:prstGeom>
          <a:solidFill>
            <a:srgbClr val="F5F7FA"/>
          </a:solidFill>
          <a:ln/>
        </p:spPr>
      </p:sp>
      <p:sp>
        <p:nvSpPr>
          <p:cNvPr id="15" name="Shape 12"/>
          <p:cNvSpPr/>
          <p:nvPr/>
        </p:nvSpPr>
        <p:spPr>
          <a:xfrm>
            <a:off x="4663440" y="3017520"/>
            <a:ext cx="73152" cy="1325880"/>
          </a:xfrm>
          <a:prstGeom prst="rect">
            <a:avLst/>
          </a:prstGeom>
          <a:solidFill>
            <a:srgbClr val="1B2A4A"/>
          </a:solidFill>
          <a:ln/>
        </p:spPr>
      </p:sp>
      <p:sp>
        <p:nvSpPr>
          <p:cNvPr id="16" name="Text 13"/>
          <p:cNvSpPr txBox="1"/>
          <p:nvPr/>
        </p:nvSpPr>
        <p:spPr>
          <a:xfrm>
            <a:off x="4800600" y="30632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ASSIGNMENT vs FACTORING</a:t>
            </a:r>
            <a:endParaRPr lang="en-US" sz="1100" dirty="0"/>
          </a:p>
        </p:txBody>
      </p:sp>
      <p:sp>
        <p:nvSpPr>
          <p:cNvPr id="17" name="Text 14"/>
          <p:cNvSpPr txBox="1"/>
          <p:nvPr/>
        </p:nvSpPr>
        <p:spPr>
          <a:xfrm>
            <a:off x="4800600" y="3337560"/>
            <a:ext cx="39319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Assignment pledges receivables as collateral and the company still does the collecting. Factoring SELLS them at a discount, and the factor takes over credit granting and collection.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Commercial paper is unsecured, typically under three months, and rolled over constantly — the rollover risk is plugged by a committed backup liquidity line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external security-based financing, bank funding, ABCP (Exhibit 3), pp. 82–85.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Roughly 60% of annual CP issuance comes from financial institutions. ABCP wraps short-term loans into an SPE and keeps them off the sponsoring bank's balance sheet.</a:t>
            </a:r>
            <a:endParaRPr lang="en-US" sz="1300" dirty="0"/>
          </a:p>
        </p:txBody>
      </p:sp>
      <p:sp>
        <p:nvSpPr>
          <p:cNvPr id="9" name="Shape 7"/>
          <p:cNvSpPr/>
          <p:nvPr/>
        </p:nvSpPr>
        <p:spPr>
          <a:xfrm>
            <a:off x="320040" y="1188720"/>
            <a:ext cx="2743200" cy="3154680"/>
          </a:xfrm>
          <a:prstGeom prst="rect">
            <a:avLst/>
          </a:prstGeom>
          <a:solidFill>
            <a:srgbClr val="FEF0E7"/>
          </a:solidFill>
          <a:ln/>
        </p:spPr>
      </p:sp>
      <p:sp>
        <p:nvSpPr>
          <p:cNvPr id="10" name="Shape 8"/>
          <p:cNvSpPr/>
          <p:nvPr/>
        </p:nvSpPr>
        <p:spPr>
          <a:xfrm>
            <a:off x="320040" y="1188720"/>
            <a:ext cx="73152" cy="3154680"/>
          </a:xfrm>
          <a:prstGeom prst="rect">
            <a:avLst/>
          </a:prstGeom>
          <a:solidFill>
            <a:srgbClr val="E8600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CP — UNSECURED</a:t>
            </a:r>
            <a:endParaRPr lang="en-US" sz="1100" dirty="0"/>
          </a:p>
        </p:txBody>
      </p:sp>
      <p:sp>
        <p:nvSpPr>
          <p:cNvPr id="12" name="Text 10"/>
          <p:cNvSpPr txBox="1"/>
          <p:nvPr/>
        </p:nvSpPr>
        <p:spPr>
          <a:xfrm>
            <a:off x="457200" y="1508760"/>
            <a:ext cx="251460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Issued by large, highly rated corporates and financial institutions, publicly or by private placement.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Usually under three months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An unsecured promissory note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Repaid at maturity with newly issued CP — "rolled over"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Rollover risk plugged by a committed backup liquidity line from banks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Eurocommercial paper is the international cousin: smaller tickets, less liquid than USCP</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Short maturity means the market reprices fast; defaults are rare</a:t>
            </a:r>
            <a:endParaRPr lang="en-US" sz="1200" dirty="0"/>
          </a:p>
        </p:txBody>
      </p:sp>
      <p:sp>
        <p:nvSpPr>
          <p:cNvPr id="13" name="Shape 11"/>
          <p:cNvSpPr/>
          <p:nvPr/>
        </p:nvSpPr>
        <p:spPr>
          <a:xfrm>
            <a:off x="3200400" y="1188720"/>
            <a:ext cx="2743200" cy="3154680"/>
          </a:xfrm>
          <a:prstGeom prst="rect">
            <a:avLst/>
          </a:prstGeom>
          <a:solidFill>
            <a:srgbClr val="F5F7FA"/>
          </a:solidFill>
          <a:ln/>
        </p:spPr>
      </p:sp>
      <p:sp>
        <p:nvSpPr>
          <p:cNvPr id="14" name="Shape 12"/>
          <p:cNvSpPr/>
          <p:nvPr/>
        </p:nvSpPr>
        <p:spPr>
          <a:xfrm>
            <a:off x="3200400" y="1188720"/>
            <a:ext cx="73152" cy="3154680"/>
          </a:xfrm>
          <a:prstGeom prst="rect">
            <a:avLst/>
          </a:prstGeom>
          <a:solidFill>
            <a:srgbClr val="1B2A4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ABCP — SECURED</a:t>
            </a:r>
            <a:endParaRPr lang="en-US" sz="1100" dirty="0"/>
          </a:p>
        </p:txBody>
      </p:sp>
      <p:sp>
        <p:nvSpPr>
          <p:cNvPr id="16" name="Text 14"/>
          <p:cNvSpPr txBox="1"/>
          <p:nvPr/>
        </p:nvSpPr>
        <p:spPr>
          <a:xfrm>
            <a:off x="3337560" y="1508760"/>
            <a:ext cx="251460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bank transfers short-term loans or receivables to a special purpose entity.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The SPE — not the bank — issues the CP, backed by those assets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The bank provides a backup liquidity line, not a guarantee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Off balance sheet for the bank, so lower capital cost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Investors buy exposure to a loan pool they could not otherwise reach</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Grew fast pre-2008; when issuers could not roll, numerous SPEs failed</a:t>
            </a:r>
            <a:endParaRPr lang="en-US" sz="1200" dirty="0"/>
          </a:p>
        </p:txBody>
      </p:sp>
      <p:sp>
        <p:nvSpPr>
          <p:cNvPr id="17" name="Shape 15"/>
          <p:cNvSpPr/>
          <p:nvPr/>
        </p:nvSpPr>
        <p:spPr>
          <a:xfrm>
            <a:off x="6080760" y="1188720"/>
            <a:ext cx="2743200" cy="3154680"/>
          </a:xfrm>
          <a:prstGeom prst="rect">
            <a:avLst/>
          </a:prstGeom>
          <a:solidFill>
            <a:srgbClr val="FEF0E7"/>
          </a:solidFill>
          <a:ln/>
        </p:spPr>
      </p:sp>
      <p:sp>
        <p:nvSpPr>
          <p:cNvPr id="18" name="Shape 16"/>
          <p:cNvSpPr/>
          <p:nvPr/>
        </p:nvSpPr>
        <p:spPr>
          <a:xfrm>
            <a:off x="6080760" y="1188720"/>
            <a:ext cx="73152" cy="3154680"/>
          </a:xfrm>
          <a:prstGeom prst="rect">
            <a:avLst/>
          </a:prstGeom>
          <a:solidFill>
            <a:srgbClr val="E8600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CDs &amp; INTERBANK</a:t>
            </a:r>
            <a:endParaRPr lang="en-US" sz="1100" dirty="0"/>
          </a:p>
        </p:txBody>
      </p:sp>
      <p:sp>
        <p:nvSpPr>
          <p:cNvPr id="20" name="Text 18"/>
          <p:cNvSpPr txBox="1"/>
          <p:nvPr/>
        </p:nvSpPr>
        <p:spPr>
          <a:xfrm>
            <a:off x="6217920" y="1508760"/>
            <a:ext cx="2514600" cy="2788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Certificates of deposit: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Non-negotiable — early withdrawal carries a penalty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Negotiable — sold in the market before maturity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Large-denomination CDs are core wholesale funding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Interbank market: secured or unsecured, overnight out to a year, priced off the MRR.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Central bank funds market moves reserves between banks at the central bank funds rate. The discount window is the last resort — collateralised, dearer, and it invites supervision.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repo is a collateralised loan dressed as a sale — the repo rate is the interest, the haircut is the overcollateralisation, and the SELLER keeps ownership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cash borrower (security seller) keeps ownership of the collateral and its coupons; the cash lender receives only the repo rate.
</a:t>
            </a:r>
            <a:pPr indent="0" marL="0">
              <a:buNone/>
            </a:pPr>
            <a:r>
              <a:rPr lang="en-US" sz="1000" dirty="0">
                <a:solidFill>
                  <a:srgbClr val="6B7A8D"/>
                </a:solidFill>
                <a:latin typeface="Calibri" pitchFamily="34" charset="0"/>
                <a:ea typeface="Calibri" pitchFamily="34" charset="-122"/>
                <a:cs typeface="Calibri" pitchFamily="34" charset="-120"/>
              </a:rPr>
              <a:t>² General collateral repo references a pool of eligible bonds; a special trade names one security and prices off the special rate.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"Repurchase Agreements", Exhibit 4 and Knowledge Checks, pp. 86–89.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Legally a sale plus a forward repurchase; economically a secured loan. Initial margin above 100% means the cash lender is overcollateralised — the haircut is the borrower's own money.</a:t>
            </a:r>
            <a:endParaRPr lang="en-US" sz="1300" dirty="0"/>
          </a:p>
        </p:txBody>
      </p:sp>
      <p:sp>
        <p:nvSpPr>
          <p:cNvPr id="10" name="Shape 8"/>
          <p:cNvSpPr/>
          <p:nvPr/>
        </p:nvSpPr>
        <p:spPr>
          <a:xfrm>
            <a:off x="320040" y="1133856"/>
            <a:ext cx="8503920" cy="530352"/>
          </a:xfrm>
          <a:prstGeom prst="rect">
            <a:avLst/>
          </a:prstGeom>
          <a:solidFill>
            <a:srgbClr val="1B2A4A"/>
          </a:solidFill>
          <a:ln/>
        </p:spPr>
      </p:sp>
      <p:sp>
        <p:nvSpPr>
          <p:cNvPr id="11" name="Text 9"/>
          <p:cNvSpPr txBox="1"/>
          <p:nvPr/>
        </p:nvSpPr>
        <p:spPr>
          <a:xfrm>
            <a:off x="411480" y="1133856"/>
            <a:ext cx="8321040" cy="53035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Initial margin = Sec price / Purchase price      Haircut = (Sec price − Purchase price) / Sec price</a:t>
            </a:r>
            <a:endParaRPr lang="en-US" sz="1800" dirty="0"/>
          </a:p>
        </p:txBody>
      </p:sp>
      <p:sp>
        <p:nvSpPr>
          <p:cNvPr id="12" name="Text 10"/>
          <p:cNvSpPr txBox="1"/>
          <p:nvPr/>
        </p:nvSpPr>
        <p:spPr>
          <a:xfrm>
            <a:off x="320040" y="1691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Repurchase price = Purchase price × [1 + r × d/360]. Variation margin = (Initial margin × Purchase priceₜ) − Security priceₜ.</a:t>
            </a:r>
            <a:endParaRPr lang="en-US" sz="1100" dirty="0"/>
          </a:p>
        </p:txBody>
      </p:sp>
      <p:sp>
        <p:nvSpPr>
          <p:cNvPr id="13" name="Shape 11"/>
          <p:cNvSpPr/>
          <p:nvPr/>
        </p:nvSpPr>
        <p:spPr>
          <a:xfrm>
            <a:off x="320040" y="1993392"/>
            <a:ext cx="8503920" cy="2212848"/>
          </a:xfrm>
          <a:prstGeom prst="rect">
            <a:avLst/>
          </a:prstGeom>
          <a:solidFill>
            <a:srgbClr val="FEF0E7"/>
          </a:solidFill>
          <a:ln w="9525">
            <a:solidFill>
              <a:srgbClr val="E8600A"/>
            </a:solidFill>
            <a:prstDash val="solid"/>
          </a:ln>
        </p:spPr>
      </p:sp>
      <p:sp>
        <p:nvSpPr>
          <p:cNvPr id="14" name="Text 12"/>
          <p:cNvSpPr txBox="1"/>
          <p:nvPr/>
        </p:nvSpPr>
        <p:spPr>
          <a:xfrm>
            <a:off x="457200" y="203911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4 KNOWLEDGE CHECK — 30-DAY REPO ON USD 100m UST</a:t>
            </a:r>
            <a:endParaRPr lang="en-US" sz="1100" dirty="0"/>
          </a:p>
        </p:txBody>
      </p:sp>
      <p:sp>
        <p:nvSpPr>
          <p:cNvPr id="15" name="Text 13"/>
          <p:cNvSpPr txBox="1"/>
          <p:nvPr/>
        </p:nvSpPr>
        <p:spPr>
          <a:xfrm>
            <a:off x="457200" y="2331720"/>
            <a:ext cx="8229600" cy="1362456"/>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Terms: USD 100m 5y UST, 30-day repo, 0.25% repo rate, 102% initial margin.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Seller (cash borrower) delivers the Treasuries; buyer (cash lender) sends the cash.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Purchase price = Security price / Initial margin = 100,000,000 / 1.02 = USD 98,039,216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Haircut = (100,000,000 − 98,039,216) / 100,000,000 = 1.96%; the seller funds 1,960,784 elsewhere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Repurchase price = 98,039,216 × [1 + (0.25% × 30 / 360)] = USD 98,059,641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Repo interest to the cash lender = 98,059,641 − 98,039,216 = USD 20,425</a:t>
            </a:r>
            <a:endParaRPr lang="en-US" sz="1150" dirty="0"/>
          </a:p>
        </p:txBody>
      </p:sp>
      <p:sp>
        <p:nvSpPr>
          <p:cNvPr id="16" name="Shape 14"/>
          <p:cNvSpPr/>
          <p:nvPr/>
        </p:nvSpPr>
        <p:spPr>
          <a:xfrm>
            <a:off x="411480" y="3767328"/>
            <a:ext cx="8321040" cy="365760"/>
          </a:xfrm>
          <a:prstGeom prst="rect">
            <a:avLst/>
          </a:prstGeom>
          <a:solidFill>
            <a:srgbClr val="E8600A"/>
          </a:solidFill>
          <a:ln/>
        </p:spPr>
      </p:sp>
      <p:sp>
        <p:nvSpPr>
          <p:cNvPr id="17" name="Text 15"/>
          <p:cNvSpPr txBox="1"/>
          <p:nvPr/>
        </p:nvSpPr>
        <p:spPr>
          <a:xfrm>
            <a:off x="457200" y="37673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Lends 98.04m against 100m of UST for 30 days · haircut 1.96% · repo interest 20,425</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Seen from the cash lender's side the same trade is a reverse repo — and it is how a hedge fund borrows a bond in order to short it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Exhibit 5 and the reverse repo Knowledge Check, pp. 90–91.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Here the hedge fund is the security BUYER and cash LENDER — so it earns the repo rate. Its motive is not the interest; it is renting the specific bond.</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640080"/>
                <a:gridCol w="1097280"/>
                <a:gridCol w="493776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Step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Hedge-fund action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 flow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Borrow USD 100m 5y UST in repo; deliver 100m of cash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−100m cash, +UST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Simultaneously sell the UST in the cash market at par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+100m cash, −UST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Buy back the UST in the cash market at 99% of face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−99m cash, +UST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 = 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Deliver the UST back; receive repurchase price 100.02m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+100.02m cash, −UST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Net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30 days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Price gain 1.00m + repo interest 0.02m received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USD 1,020,833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2971800"/>
            <a:ext cx="4160520" cy="1371600"/>
          </a:xfrm>
          <a:prstGeom prst="rect">
            <a:avLst/>
          </a:prstGeom>
          <a:solidFill>
            <a:srgbClr val="FEF0E7"/>
          </a:solidFill>
          <a:ln/>
        </p:spPr>
      </p:sp>
      <p:sp>
        <p:nvSpPr>
          <p:cNvPr id="11" name="Shape 8"/>
          <p:cNvSpPr/>
          <p:nvPr/>
        </p:nvSpPr>
        <p:spPr>
          <a:xfrm>
            <a:off x="320040" y="2971800"/>
            <a:ext cx="73152" cy="1371600"/>
          </a:xfrm>
          <a:prstGeom prst="rect">
            <a:avLst/>
          </a:prstGeom>
          <a:solidFill>
            <a:srgbClr val="E8600A"/>
          </a:solidFill>
          <a:ln/>
        </p:spPr>
      </p:sp>
      <p:sp>
        <p:nvSpPr>
          <p:cNvPr id="12" name="Text 9"/>
          <p:cNvSpPr txBox="1"/>
          <p:nvPr/>
        </p:nvSpPr>
        <p:spPr>
          <a:xfrm>
            <a:off x="457200" y="30175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SPECIAL COLLATERAL</a:t>
            </a:r>
            <a:endParaRPr lang="en-US" sz="1100" dirty="0"/>
          </a:p>
        </p:txBody>
      </p:sp>
      <p:sp>
        <p:nvSpPr>
          <p:cNvPr id="13" name="Text 10"/>
          <p:cNvSpPr txBox="1"/>
          <p:nvPr/>
        </p:nvSpPr>
        <p:spPr>
          <a:xfrm>
            <a:off x="457200" y="3291840"/>
            <a:ext cx="393192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trade that names one specific security is a "special". Heavy short demand pushes its repo rate below the general-collateral rate — sometimes below zero, in which case the cash lender pays interest to the cash borrower.</a:t>
            </a:r>
            <a:endParaRPr lang="en-US" sz="1200" dirty="0"/>
          </a:p>
        </p:txBody>
      </p:sp>
      <p:sp>
        <p:nvSpPr>
          <p:cNvPr id="14" name="Shape 11"/>
          <p:cNvSpPr/>
          <p:nvPr/>
        </p:nvSpPr>
        <p:spPr>
          <a:xfrm>
            <a:off x="4663440" y="2971800"/>
            <a:ext cx="4160520" cy="1371600"/>
          </a:xfrm>
          <a:prstGeom prst="rect">
            <a:avLst/>
          </a:prstGeom>
          <a:solidFill>
            <a:srgbClr val="F5F7FA"/>
          </a:solidFill>
          <a:ln/>
        </p:spPr>
      </p:sp>
      <p:sp>
        <p:nvSpPr>
          <p:cNvPr id="15" name="Shape 12"/>
          <p:cNvSpPr/>
          <p:nvPr/>
        </p:nvSpPr>
        <p:spPr>
          <a:xfrm>
            <a:off x="4663440" y="2971800"/>
            <a:ext cx="73152" cy="1371600"/>
          </a:xfrm>
          <a:prstGeom prst="rect">
            <a:avLst/>
          </a:prstGeom>
          <a:solidFill>
            <a:srgbClr val="1B2A4A"/>
          </a:solidFill>
          <a:ln/>
        </p:spPr>
      </p:sp>
      <p:sp>
        <p:nvSpPr>
          <p:cNvPr id="16" name="Text 13"/>
          <p:cNvSpPr txBox="1"/>
          <p:nvPr/>
        </p:nvSpPr>
        <p:spPr>
          <a:xfrm>
            <a:off x="4800600" y="30175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BILATERAL vs TRIPARTY</a:t>
            </a:r>
            <a:endParaRPr lang="en-US" sz="1100" dirty="0"/>
          </a:p>
        </p:txBody>
      </p:sp>
      <p:sp>
        <p:nvSpPr>
          <p:cNvPr id="17" name="Text 14"/>
          <p:cNvSpPr txBox="1"/>
          <p:nvPr/>
        </p:nvSpPr>
        <p:spPr>
          <a:xfrm>
            <a:off x="4800600" y="3291840"/>
            <a:ext cx="393192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Bilateral repo settles directly between the two parties. Under triparty, a custodian holds cash and collateral and handles valuation — cheaper and safer operationally, but the credit risk between the parties is unchanged.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Heavy reliance on repo funding killed Bear Stearns — USD 18bn of cash became USD 2bn in two days when counterparties simply declined to roll</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Repo is uncommitted and mostly overnight: the cash lender need not roll. Collateral does not save a firm that has lost market confidence.
</a:t>
            </a:r>
            <a:pPr indent="0" marL="0">
              <a:buNone/>
            </a:pPr>
            <a:r>
              <a:rPr lang="en-US" sz="1000" dirty="0">
                <a:solidFill>
                  <a:srgbClr val="6B7A8D"/>
                </a:solidFill>
                <a:latin typeface="Calibri" pitchFamily="34" charset="0"/>
                <a:ea typeface="Calibri" pitchFamily="34" charset="-122"/>
                <a:cs typeface="Calibri" pitchFamily="34" charset="-120"/>
              </a:rPr>
              <a:t>² Repo risks the curriculum names: default, collateral, margining, legal, and netting / settlement — plus rollover and liquidity risk.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repo risks, triparty repo, and "The Fall of Bear Stearns and the Repo Market", pp. 92–94.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lesson is structural, not moral: repo is cheap because it is uncommitted, and being collateralised does not stop the funding from vanishing.</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828800"/>
                <a:gridCol w="4937760"/>
                <a:gridCol w="1737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happened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Signal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End-2006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350bn assets, USD 9bn revenue — 5th-largest US IB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Healthy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July 2007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MBS market deteriorates; sponsored subprime funds fail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Amber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End-2007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First ever quarterly loss; &gt;USD 2bn writedown; downgrade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Amber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2006 → 2007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Unsecured ST funding 25.8→11.6bn; CP 20.7→3.9bn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Amber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 March 2008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position of USD 18bn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12 March 2008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USD 2bn — repo lenders will not roll; PB clients flee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14 March 2008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Emergency Fed loan against securities collateral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Rescue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17 March 2008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Agrees to be bought by JPMorgan, which takes a Fed loan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Failed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Under normal conditions a longer maturity means a higher benchmark yield AND a wider credit spread for the same issuer — the credit premium widens with time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Only the five-year point is numeric in Exhibit 7. The 3y and 7y entries are directional — curve and spread both rise with maturity.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"Long-Term Corporate Debt", Exhibit 7 (BRWA maturity choices), pp. 95–96.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Issuer and investor sit on opposite sides of the same trade-off, and both errors have names: price risk and reinvestment risk for one, rollover risk for the other.</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2286000"/>
                <a:gridCol w="2194560"/>
                <a:gridCol w="23774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Maturity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Government YTM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BRWA YTM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BRWA credit spread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3-year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Below the 5y point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Below the 5y point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Narrower than 90 bps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5-year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90 bps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7-year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Above the 5y point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Above the 5y point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Wider than 90 bps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423160"/>
            <a:ext cx="4160520" cy="1691640"/>
          </a:xfrm>
          <a:prstGeom prst="rect">
            <a:avLst/>
          </a:prstGeom>
          <a:solidFill>
            <a:srgbClr val="FEF0E7"/>
          </a:solidFill>
          <a:ln/>
        </p:spPr>
      </p:sp>
      <p:sp>
        <p:nvSpPr>
          <p:cNvPr id="12" name="Shape 9"/>
          <p:cNvSpPr/>
          <p:nvPr/>
        </p:nvSpPr>
        <p:spPr>
          <a:xfrm>
            <a:off x="320040" y="2423160"/>
            <a:ext cx="73152" cy="1691640"/>
          </a:xfrm>
          <a:prstGeom prst="rect">
            <a:avLst/>
          </a:prstGeom>
          <a:solidFill>
            <a:srgbClr val="E8600A"/>
          </a:solidFill>
          <a:ln/>
        </p:spPr>
      </p:sp>
      <p:sp>
        <p:nvSpPr>
          <p:cNvPr id="13" name="Text 10"/>
          <p:cNvSpPr txBox="1"/>
          <p:nvPr/>
        </p:nvSpPr>
        <p:spPr>
          <a:xfrm>
            <a:off x="457200" y="246888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INVESTOR WITH A FIVE-YEAR HORIZON</a:t>
            </a:r>
            <a:endParaRPr lang="en-US" sz="1100" dirty="0"/>
          </a:p>
        </p:txBody>
      </p:sp>
      <p:sp>
        <p:nvSpPr>
          <p:cNvPr id="14" name="Text 11"/>
          <p:cNvSpPr txBox="1"/>
          <p:nvPr/>
        </p:nvSpPr>
        <p:spPr>
          <a:xfrm>
            <a:off x="457200" y="2743200"/>
            <a:ext cx="3931920" cy="13258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Buys the 7-year for its higher YTM → price risk: it must sell what will then be a two-year bond, at an unknown price.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Buys the 3-year instead → reinvestment risk: coupons and principal come back early and must be reinvested at unknown rates.</a:t>
            </a:r>
            <a:endParaRPr lang="en-US" sz="1200" dirty="0"/>
          </a:p>
        </p:txBody>
      </p:sp>
      <p:sp>
        <p:nvSpPr>
          <p:cNvPr id="15" name="Shape 12"/>
          <p:cNvSpPr/>
          <p:nvPr/>
        </p:nvSpPr>
        <p:spPr>
          <a:xfrm>
            <a:off x="4663440" y="2423160"/>
            <a:ext cx="4160520" cy="1691640"/>
          </a:xfrm>
          <a:prstGeom prst="rect">
            <a:avLst/>
          </a:prstGeom>
          <a:solidFill>
            <a:srgbClr val="F5F7FA"/>
          </a:solidFill>
          <a:ln/>
        </p:spPr>
      </p:sp>
      <p:sp>
        <p:nvSpPr>
          <p:cNvPr id="16" name="Shape 13"/>
          <p:cNvSpPr/>
          <p:nvPr/>
        </p:nvSpPr>
        <p:spPr>
          <a:xfrm>
            <a:off x="4663440" y="2423160"/>
            <a:ext cx="73152" cy="1691640"/>
          </a:xfrm>
          <a:prstGeom prst="rect">
            <a:avLst/>
          </a:prstGeom>
          <a:solidFill>
            <a:srgbClr val="1B2A4A"/>
          </a:solidFill>
          <a:ln/>
        </p:spPr>
      </p:sp>
      <p:sp>
        <p:nvSpPr>
          <p:cNvPr id="17" name="Text 14"/>
          <p:cNvSpPr txBox="1"/>
          <p:nvPr/>
        </p:nvSpPr>
        <p:spPr>
          <a:xfrm>
            <a:off x="4800600" y="246888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ISSUER WITH A FIVE-YEAR PROJECT</a:t>
            </a:r>
            <a:endParaRPr lang="en-US" sz="1100" dirty="0"/>
          </a:p>
        </p:txBody>
      </p:sp>
      <p:sp>
        <p:nvSpPr>
          <p:cNvPr id="18" name="Text 15"/>
          <p:cNvSpPr txBox="1"/>
          <p:nvPr/>
        </p:nvSpPr>
        <p:spPr>
          <a:xfrm>
            <a:off x="4800600" y="2743200"/>
            <a:ext cx="3931920" cy="13258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Issues 3-year for the lower YTM → rollover risk: BRWA must refinance in three years at whatever the market then charges.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Issues 7-year → pays the term premium and the wider spread for two years longer than it needs the money.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Investment grade rides the government benchmark with a thin spread and light covenants; high yield has equity-like cash flows and a full covenant leash</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4, "Long-Term Corporate Debt", Exhibits 8–10 (BRWA vs VIVU), pp. 96–99.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YTM gap is not just "more default risk" — it marks a completely different contractual, analytical and behavioural regime.</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468880"/>
                <a:gridCol w="3017520"/>
                <a:gridCol w="30175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Investment grade (BRWA)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High yield (VIVU)</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YTM composition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Mostly the benchmark; thin spread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Wide issuer-specific spread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flow profile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Bond-like — payments highly likely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Equity-like — cash flows uncertain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Analytical approach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Ratios and rating migration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PD, loss given default, collateral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Covenant stack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Light — liens, leaseback, M&amp;A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Heavy — leverage, coverage, payouts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Repayment sources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Operating cash flow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flow plus pledged assets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Maturity range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Up to 30 years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Typically 10 years or less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Contingency features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Make-whole call, or 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Fixed-price call schedule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 access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Always open; opportunistic refi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Cyclical; restructure to refinance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703320"/>
            <a:ext cx="8503920" cy="640080"/>
          </a:xfrm>
          <a:prstGeom prst="rect">
            <a:avLst/>
          </a:prstGeom>
          <a:solidFill>
            <a:srgbClr val="FEF0E7"/>
          </a:solidFill>
          <a:ln/>
        </p:spPr>
      </p:sp>
      <p:sp>
        <p:nvSpPr>
          <p:cNvPr id="11" name="Shape 8"/>
          <p:cNvSpPr/>
          <p:nvPr/>
        </p:nvSpPr>
        <p:spPr>
          <a:xfrm>
            <a:off x="320040" y="3703320"/>
            <a:ext cx="73152" cy="640080"/>
          </a:xfrm>
          <a:prstGeom prst="rect">
            <a:avLst/>
          </a:prstGeom>
          <a:solidFill>
            <a:srgbClr val="E8600A"/>
          </a:solidFill>
          <a:ln/>
        </p:spPr>
      </p:sp>
      <p:sp>
        <p:nvSpPr>
          <p:cNvPr id="12" name="Text 9"/>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HIGH-YIELD ISSUERS PAY FOR THE CALL</a:t>
            </a:r>
            <a:endParaRPr lang="en-US" sz="1100" dirty="0"/>
          </a:p>
        </p:txBody>
      </p:sp>
      <p:sp>
        <p:nvSpPr>
          <p:cNvPr id="13" name="Text 10"/>
          <p:cNvSpPr txBox="1"/>
          <p:nvPr/>
        </p:nvSpPr>
        <p:spPr>
          <a:xfrm>
            <a:off x="457200" y="4023360"/>
            <a:ext cx="8275320" cy="274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 issuer that expects its own credit to improve buys the call: the option gains value exactly as its borrowing cost falls. IG issuers stagger maturities instead — the same problem, solved with a ladder rather than an option.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Government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issuers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5  ·  Deck 13 of 20  ·  Studio Tonton Gug</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sovereign's economic balance sheet is the PV of expected tax revenues against promised expenditures — fiscal policy sets the level of debt, debt management sets its composition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5, "Sovereign Debt", Exhibit 1 and OECD maturity data, pp. 107–112.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Public accounting is usually cash-based: it leaves out depreciation on public assets and unfunded pension accruals. The economic balance sheet puts expected future claims and obligations back in.</a:t>
            </a:r>
            <a:endParaRPr lang="en-US" sz="1300" dirty="0"/>
          </a:p>
        </p:txBody>
      </p:sp>
      <p:sp>
        <p:nvSpPr>
          <p:cNvPr id="9" name="Shape 7"/>
          <p:cNvSpPr/>
          <p:nvPr/>
        </p:nvSpPr>
        <p:spPr>
          <a:xfrm>
            <a:off x="320040" y="1188720"/>
            <a:ext cx="416052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80160"/>
            <a:ext cx="388620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ECONOMIC BALANCE SHEET</a:t>
            </a:r>
            <a:endParaRPr lang="en-US" sz="1100" dirty="0"/>
          </a:p>
        </p:txBody>
      </p:sp>
      <p:sp>
        <p:nvSpPr>
          <p:cNvPr id="12" name="Text 10"/>
          <p:cNvSpPr txBox="1"/>
          <p:nvPr/>
        </p:nvSpPr>
        <p:spPr>
          <a:xfrm>
            <a:off x="484632" y="1645920"/>
            <a:ext cx="3840480" cy="2606040"/>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CLAIMS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Short-term financial claims and assets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Fixed assets — infrastructure, land, SOEs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FX, commodity and other reserves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PV of expected future tax revenues</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OBLIGATIONS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Domestic currency outstanding</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Short- and long-term debt, domestic and FX</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Pension and other domestic obligations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Supranational and external obligations</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PV of promised future expenditures</a:t>
            </a:r>
            <a:endParaRPr lang="en-US" sz="1050" dirty="0"/>
          </a:p>
        </p:txBody>
      </p:sp>
      <p:sp>
        <p:nvSpPr>
          <p:cNvPr id="13" name="Shape 11"/>
          <p:cNvSpPr/>
          <p:nvPr/>
        </p:nvSpPr>
        <p:spPr>
          <a:xfrm>
            <a:off x="4663440" y="1188720"/>
            <a:ext cx="4160520" cy="3108960"/>
          </a:xfrm>
          <a:prstGeom prst="rect">
            <a:avLst/>
          </a:prstGeom>
          <a:solidFill>
            <a:srgbClr val="FEF0E7"/>
          </a:solidFill>
          <a:ln/>
        </p:spPr>
      </p:sp>
      <p:sp>
        <p:nvSpPr>
          <p:cNvPr id="14" name="Shape 12"/>
          <p:cNvSpPr/>
          <p:nvPr/>
        </p:nvSpPr>
        <p:spPr>
          <a:xfrm>
            <a:off x="4663440" y="1188720"/>
            <a:ext cx="73152" cy="3108960"/>
          </a:xfrm>
          <a:prstGeom prst="rect">
            <a:avLst/>
          </a:prstGeom>
          <a:solidFill>
            <a:srgbClr val="E8600A"/>
          </a:solidFill>
          <a:ln/>
        </p:spPr>
      </p:sp>
      <p:sp>
        <p:nvSpPr>
          <p:cNvPr id="15" name="Text 13"/>
          <p:cNvSpPr txBox="1"/>
          <p:nvPr/>
        </p:nvSpPr>
        <p:spPr>
          <a:xfrm>
            <a:off x="4800600" y="1280160"/>
            <a:ext cx="388620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LEVEL vs COMPOSITION</a:t>
            </a:r>
            <a:endParaRPr lang="en-US" sz="1100" dirty="0"/>
          </a:p>
        </p:txBody>
      </p:sp>
      <p:sp>
        <p:nvSpPr>
          <p:cNvPr id="16" name="Text 14"/>
          <p:cNvSpPr txBox="1"/>
          <p:nvPr/>
        </p:nvSpPr>
        <p:spPr>
          <a:xfrm>
            <a:off x="4828032" y="1645920"/>
            <a:ext cx="3840480" cy="2606040"/>
          </a:xfrm>
          <a:prstGeom prst="rect">
            <a:avLst/>
          </a:prstGeom>
          <a:noFill/>
          <a:ln/>
        </p:spPr>
        <p:txBody>
          <a:bodyPr wrap="square" lIns="508" tIns="508" rIns="508" bIns="508" rtlCol="0" anchor="t">
            <a:normAutofit/>
            <a:spAutoFit/>
          </a:bodyPr>
          <a:lstStyle/>
          <a:p>
            <a:pPr algn="l" indent="0" marL="0">
              <a:buNone/>
            </a:pPr>
            <a:r>
              <a:rPr lang="en-US" sz="1050" dirty="0">
                <a:solidFill>
                  <a:srgbClr val="334155"/>
                </a:solidFill>
                <a:latin typeface="Calibri" pitchFamily="34" charset="0"/>
                <a:ea typeface="Calibri" pitchFamily="34" charset="-122"/>
                <a:cs typeface="Calibri" pitchFamily="34" charset="-120"/>
              </a:rPr>
              <a:t>FISCAL POLICY sets the LEVEL of debt.</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Deficits raise borrowing; surpluses cut it</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Sensitive to growth and inflation forecasts</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DEBT MANAGEMENT sets the COMPOSITION.</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Short vs long; fixed, floating or linker</a:t>
            </a: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  • Domestic vs foreign currency</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RICARDIAN EQUIVALENCE, taken strictly, says fund as short as possible and pay no term premium. In practice that is rollover risk — so governments spread maturities and issue on a predictable calendar.</a:t>
            </a:r>
            <a:endParaRPr lang="en-US" sz="1050" dirty="0"/>
          </a:p>
          <a:p>
            <a:pPr algn="l" indent="0" marL="0">
              <a:buNone/>
            </a:pPr>
            <a:endParaRPr lang="en-US" sz="1050" dirty="0"/>
          </a:p>
          <a:p>
            <a:pPr algn="l" indent="0" marL="0">
              <a:buNone/>
            </a:pPr>
            <a:r>
              <a:rPr lang="en-US" sz="1050" dirty="0">
                <a:solidFill>
                  <a:srgbClr val="334155"/>
                </a:solidFill>
                <a:latin typeface="Calibri" pitchFamily="34" charset="0"/>
                <a:ea typeface="Calibri" pitchFamily="34" charset="-122"/>
                <a:cs typeface="Calibri" pitchFamily="34" charset="-120"/>
              </a:rPr>
              <a:t>OECD (38 members), end-2021: weighted average maturity 7.6y against 6.3y in 2007; long-term ≈ 85% of debt outstanding; annual issuance split evenly short vs long.</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Developed-market sovereigns issue "default-risk-free" debt with unconstrained maturity access; emerging-market sovereigns face currency restrictions and external-debt stress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5, DM vs EM sovereign issuers and the Government of Sri Lanka external debt box, pp. 108–110.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DM investor buying EM external debt has no direct FX exposure — but plenty of indirect exposure, because repayment depends on the issuer earning foreign currency.</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94560"/>
                <a:gridCol w="3474720"/>
                <a:gridCol w="28346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Developed-market sovereign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Emerging-market sovereign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Economic base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Strong, stable, well-diversified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 growth, less diversified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Currency of issuance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Reserve currency (USD, EUR, JPY, GBP…)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Restricted ccy; external FX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Maturity access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Unconstrained across the curve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Capped by domestic-ccy depth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 base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 and recurrent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Often commodity-concentrated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Default risk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Near zero in domestic currency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Material on external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Fiscal transparency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 stable, published, rule-based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Less stable, more political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8503920" cy="1097280"/>
          </a:xfrm>
          <a:prstGeom prst="rect">
            <a:avLst/>
          </a:prstGeom>
          <a:solidFill>
            <a:srgbClr val="FEF0E7"/>
          </a:solidFill>
          <a:ln/>
        </p:spPr>
      </p:sp>
      <p:sp>
        <p:nvSpPr>
          <p:cNvPr id="11" name="Shape 8"/>
          <p:cNvSpPr/>
          <p:nvPr/>
        </p:nvSpPr>
        <p:spPr>
          <a:xfrm>
            <a:off x="320040" y="3246120"/>
            <a:ext cx="73152" cy="109728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SRI LANKA — FIRST ASIA-PACIFIC EXTERNAL DEFAULT IN MANY YEARS, MAY 2022</a:t>
            </a:r>
            <a:endParaRPr lang="en-US" sz="1100" dirty="0"/>
          </a:p>
        </p:txBody>
      </p:sp>
      <p:sp>
        <p:nvSpPr>
          <p:cNvPr id="13" name="Text 10"/>
          <p:cNvSpPr txBox="1"/>
          <p:nvPr/>
        </p:nvSpPr>
        <p:spPr>
          <a:xfrm>
            <a:off x="457200" y="3566160"/>
            <a:ext cx="82753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Debt rose from 87% to over 100% of GDP by 2020 as infrastructure was financed by global markets, supranationals and trading partners. Tourism and remittances collapsed that year; the 2022 inflation and commodity shock finished it. A missed USD 78m foreign-currency interest payment, after a 30-day grace period, was the default. 2021 external debt: market bonds 47%, ADB 13%, Japan 10%, China 10%, World Bank 9%, other 9%, India 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Sovereign debt is sold at public auction — a single-price auction gives every winner the cut-off yield, a multiple-price auction pays each winner their own bid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5, "Sovereign Debt Issuance and Trading", Exhibit 2 (Singapore) and the Reserve Bank of India box, pp. 115–116.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Single-price cuts yield volatility and the fear of the winner's curse — which is why the RBI moved most of its tenors to single-price in July 2021 after a run of partially failed auctions.</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286000"/>
                <a:gridCol w="329184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Dimension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Single-price (uniform-price)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Multiple-price (discriminatory)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Price paid by winners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All winners pay the cut-off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Each winner pays their own bid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Ranking of competitive bids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Ranked from the lowest yield up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ranking, different pricing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Cut-off ("stop") yield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 yield that fills the offer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cut-off defines who wins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Non-competitive bids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Accepted in full at the auction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Accepted in full; auction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 volatility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 — one rate for all winners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 spread of winning prices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Distribution and cost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Broader; may lower the cost of funds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Narrower — large bids win at bid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8503920" cy="1097280"/>
          </a:xfrm>
          <a:prstGeom prst="rect">
            <a:avLst/>
          </a:prstGeom>
          <a:solidFill>
            <a:srgbClr val="FEF0E7"/>
          </a:solidFill>
          <a:ln w="9525">
            <a:solidFill>
              <a:srgbClr val="E8600A"/>
            </a:solidFill>
            <a:prstDash val="solid"/>
          </a:ln>
        </p:spPr>
      </p:sp>
      <p:sp>
        <p:nvSpPr>
          <p:cNvPr id="11" name="Text 8"/>
          <p:cNvSpPr txBox="1"/>
          <p:nvPr/>
        </p:nvSpPr>
        <p:spPr>
          <a:xfrm>
            <a:off x="457200" y="32918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5 EXHIBIT 2 — MAS 30-YEAR SGS AUCTION, 21 SEP 2021</a:t>
            </a:r>
            <a:endParaRPr lang="en-US" sz="1100" dirty="0"/>
          </a:p>
        </p:txBody>
      </p:sp>
      <p:sp>
        <p:nvSpPr>
          <p:cNvPr id="12" name="Text 9"/>
          <p:cNvSpPr txBox="1"/>
          <p:nvPr/>
        </p:nvSpPr>
        <p:spPr>
          <a:xfrm>
            <a:off x="457200" y="35844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SGD 2.6bn offered, SGD 4.1bn bid (1.58× cover). Cut-off 1.95% / 98.303; median 1.89%; average 1.84%.</a:t>
            </a:r>
            <a:endParaRPr lang="en-US" sz="1200" dirty="0"/>
          </a:p>
        </p:txBody>
      </p:sp>
      <p:sp>
        <p:nvSpPr>
          <p:cNvPr id="13" name="Shape 10"/>
          <p:cNvSpPr/>
          <p:nvPr/>
        </p:nvSpPr>
        <p:spPr>
          <a:xfrm>
            <a:off x="411480" y="3904488"/>
            <a:ext cx="8321040" cy="365760"/>
          </a:xfrm>
          <a:prstGeom prst="rect">
            <a:avLst/>
          </a:prstGeom>
          <a:solidFill>
            <a:srgbClr val="E8600A"/>
          </a:solidFill>
          <a:ln/>
        </p:spPr>
      </p:sp>
      <p:sp>
        <p:nvSpPr>
          <p:cNvPr id="14" name="Text 11"/>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Coupon = cut-off rounded down to nearest 0.125% = 1.875%; all winners pay 98.303</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Primary dealers must bid competitively at every auction, and much of the demand behind them is "non-economic" — which is why sovereign yields sit below credit curves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5, primary dealers, secondary sovereign trading and reserve currencies, p. 117.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This bid is structural and persistent. It is a large part of why the "default-risk-free" yield is genuinely low, and why on-the-run issues carry a liquidity premium.</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286000"/>
                <a:gridCol w="4389120"/>
                <a:gridCol w="1828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Buyer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Why they hold 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Nature of the bid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Primary dealers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Must bid in every auction; the CB's OMO counterparty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Obligation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Domestic central bank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Conducts monetary policy — outright buys, repo, QE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Policy, not return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Foreign central banks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Hold FX reserves in reserve-currency sovereigns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Reserve holding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State and local governments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Face restrictions on holding other securities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Rule-constrained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Banks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Must hold, or are incentivised to hold, for regulation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Regulation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Insurance companies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regulatory pull, plus liability matching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Regulation + ALM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46120"/>
            <a:ext cx="8503920" cy="1097280"/>
          </a:xfrm>
          <a:prstGeom prst="rect">
            <a:avLst/>
          </a:prstGeom>
          <a:solidFill>
            <a:srgbClr val="FEF0E7"/>
          </a:solidFill>
          <a:ln/>
        </p:spPr>
      </p:sp>
      <p:sp>
        <p:nvSpPr>
          <p:cNvPr id="11" name="Shape 8"/>
          <p:cNvSpPr/>
          <p:nvPr/>
        </p:nvSpPr>
        <p:spPr>
          <a:xfrm>
            <a:off x="320040" y="3246120"/>
            <a:ext cx="73152" cy="109728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DOLLAR'S SHARE OF THE SYSTEM</a:t>
            </a:r>
            <a:endParaRPr lang="en-US" sz="1100" dirty="0"/>
          </a:p>
        </p:txBody>
      </p:sp>
      <p:sp>
        <p:nvSpPr>
          <p:cNvPr id="13" name="Text 10"/>
          <p:cNvSpPr txBox="1"/>
          <p:nvPr/>
        </p:nvSpPr>
        <p:spPr>
          <a:xfrm>
            <a:off x="457200" y="3566160"/>
            <a:ext cx="82753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US dollar is about 60% of global FX reserves and roughly half of international trade, international loans and global debt securities, and is on one side of nearly 90% of FX transactions. The euro, yen, sterling, Swiss franc, Australian dollar and renminbi are also reserve currencies. This structural demand pulls sovereign yields below where credit and rate fundamentals alone would put them.</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Non-sovereign issuers fall into three families — agencies backed by a sovereign, local authorities backed by taxes or project revenues, and supranationals backed by member states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5, "Non-Sovereign, Quasi-Government, and Supranational Agency Debt", pp. 118–121.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All three sit between pure sovereign and pure corporate credit — and their credit quality is driven entirely by how predictable and stable the repayment source is.</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2926080"/>
                <a:gridCol w="2011680"/>
                <a:gridCol w="1554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Issuer 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Primary repayment source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Support behind 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Government agency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Agency operations / guaranty fees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Sovereign backing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AAHK, Ginnie Mae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Local GO bond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Local tax revenues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Tax base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Ontario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Local revenue bond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User fees / tolls from the project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Project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Toll authority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Quasi-gov / supra JV</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Project cash flows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Sponsor consortium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PT IIF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Supranational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Member capital and loan repayments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Member-state support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World Bank, ADB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17520"/>
            <a:ext cx="8503920" cy="1325880"/>
          </a:xfrm>
          <a:prstGeom prst="rect">
            <a:avLst/>
          </a:prstGeom>
          <a:solidFill>
            <a:srgbClr val="FEF0E7"/>
          </a:solidFill>
          <a:ln/>
        </p:spPr>
      </p:sp>
      <p:sp>
        <p:nvSpPr>
          <p:cNvPr id="11" name="Shape 8"/>
          <p:cNvSpPr/>
          <p:nvPr/>
        </p:nvSpPr>
        <p:spPr>
          <a:xfrm>
            <a:off x="320040" y="3017520"/>
            <a:ext cx="73152" cy="1325880"/>
          </a:xfrm>
          <a:prstGeom prst="rect">
            <a:avLst/>
          </a:prstGeom>
          <a:solidFill>
            <a:srgbClr val="E8600A"/>
          </a:solidFill>
          <a:ln/>
        </p:spPr>
      </p:sp>
      <p:sp>
        <p:nvSpPr>
          <p:cNvPr id="12" name="Text 9"/>
          <p:cNvSpPr txBox="1"/>
          <p:nvPr/>
        </p:nvSpPr>
        <p:spPr>
          <a:xfrm>
            <a:off x="457200" y="30632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RANKING, AND TWO ISSUES WORTH KNOWING</a:t>
            </a:r>
            <a:endParaRPr lang="en-US" sz="1100" dirty="0"/>
          </a:p>
        </p:txBody>
      </p:sp>
      <p:sp>
        <p:nvSpPr>
          <p:cNvPr id="13" name="Text 10"/>
          <p:cNvSpPr txBox="1"/>
          <p:nvPr/>
        </p:nvSpPr>
        <p:spPr>
          <a:xfrm>
            <a:off x="457200" y="333756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Supranationals carry the HIGHEST credit quality of the three: member states share control and provide implicit and explicit support. Agencies borrow at a yield close to their sovereign guarantor, but neither AAHK nor Ginnie Mae gets the full sovereign liquidity premium.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Ontario 1.55% 2029, CAD 2.75bn Global Green Bond — a GO bond repaid from provincial taxes, with proceeds tracked to five eligible green sectors. ADB 7.80% 2034 Global MTN — principal fixed in IDR but paid in USD at a rate set two days before each payment date, so the investor keeps the currency risk.</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13 — Fixed Income I — Instruments, Markets &amp; Issuance</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Six features specify any bond: issuer, maturity, principal, coupon, seniority, contingency provisions. Annual coupon = par × rate.</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FRN coupon = MRR + a spread fixed at issuance. Antelas EUR 250m at MRR+250bps, MRR 0.25% → EUR 1,718,750 a quarter.</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Bullet, amortizing and balloon differ only in when principal returns. A = rP / [1 − (1+r)⁻ᴺ]; the interest share falls over time.</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Cross-default is affirmative; leverage and dividend tests are negative. BRWA (IG) has three negatives; VIVU (HY) adds an incurrence test.</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 call belongs to the ISSUER and caps the price; a put belongs to the INVESTOR and floors it. Callables yield more, putables less.</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Repo: the seller keeps ownership and the coupons, the lender earns the rate. 102% margin on 100m UST → 98.04m loan, 1.96% haircut.</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Single-price auctions give every winner the cut-off yield: Singapore 1.95% → coupon 1.875%. Multiple-price pays each winner their bid.</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Non-economic demand — central banks, FX reserves, regulated holders — pulls sovereign yields below pure credit fundamentals.</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13 · Fixed Income I — Instruments, Markets &amp; Issuance</dc:title>
  <dc:subject>PptxGenJS Presentation</dc:subject>
  <dc:creator>Studio Tonton Gug</dc:creator>
  <cp:lastModifiedBy>Studio Tonton Gug</cp:lastModifiedBy>
  <cp:revision>1</cp:revision>
  <dcterms:created xsi:type="dcterms:W3CDTF">2026-09-02T13:38:40Z</dcterms:created>
  <dcterms:modified xsi:type="dcterms:W3CDTF">2026-09-02T13:38:40Z</dcterms:modified>
</cp:coreProperties>
</file>