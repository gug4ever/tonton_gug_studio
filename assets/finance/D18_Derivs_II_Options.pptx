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Call payoff</c:v>
                </c:pt>
              </c:strCache>
            </c:strRef>
          </c:tx>
          <c:spPr>
            <a:solidFill>
              <a:srgbClr val="1B2A4A">
                <a:alpha val="90000"/>
              </a:srgbClr>
            </a:solidFill>
            <a:ln w="25400" cap="flat">
              <a:solidFill>
                <a:srgbClr val="1B2A4A"/>
              </a:solidFill>
              <a:prstDash val="solid"/>
              <a:round/>
            </a:ln>
            <a:effectLst/>
          </c:spPr>
          <c:invertIfNegative val="0"/>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c:symbol val="circle"/>
            <c:size val="6"/>
            <c:spPr>
              <a:solidFill>
                <a:srgbClr val="1B2A4A"/>
              </a:solidFill>
              <a:ln w="9525" cap="flat">
                <a:solidFill>
                  <a:srgbClr val="1B2A4A"/>
                </a:solidFill>
                <a:prstDash val="solid"/>
                <a:round/>
              </a:ln>
              <a:effectLst/>
            </c:spPr>
          </c:marker>
          <c:cat>
            <c:multiLvlStrRef>
              <c:f>Sheet1!$A$2:$A$10</c:f>
              <c:multiLvlStrCache>
                <c:ptCount val="9"/>
                <c:lvl>
                  <c:pt idx="0">
                    <c:v>60</c:v>
                  </c:pt>
                  <c:pt idx="1">
                    <c:v>70</c:v>
                  </c:pt>
                  <c:pt idx="2">
                    <c:v>80</c:v>
                  </c:pt>
                  <c:pt idx="3">
                    <c:v>90</c:v>
                  </c:pt>
                  <c:pt idx="4">
                    <c:v>100</c:v>
                  </c:pt>
                  <c:pt idx="5">
                    <c:v>110</c:v>
                  </c:pt>
                  <c:pt idx="6">
                    <c:v>120</c:v>
                  </c:pt>
                  <c:pt idx="7">
                    <c:v>130</c:v>
                  </c:pt>
                  <c:pt idx="8">
                    <c:v>140</c:v>
                  </c:pt>
                </c:lvl>
              </c:multiLvlStrCache>
            </c:multiLvlStrRef>
          </c:cat>
          <c:val>
            <c:numRef>
              <c:f>Sheet1!$B$2:$B$10</c:f>
              <c:numCache>
                <c:formatCode>General</c:formatCode>
                <c:ptCount val="9"/>
                <c:pt idx="0">
                  <c:v>0</c:v>
                </c:pt>
                <c:pt idx="1">
                  <c:v>0</c:v>
                </c:pt>
                <c:pt idx="2">
                  <c:v>0</c:v>
                </c:pt>
                <c:pt idx="3">
                  <c:v>0</c:v>
                </c:pt>
                <c:pt idx="4">
                  <c:v>0</c:v>
                </c:pt>
                <c:pt idx="5">
                  <c:v>10</c:v>
                </c:pt>
                <c:pt idx="6">
                  <c:v>20</c:v>
                </c:pt>
                <c:pt idx="7">
                  <c:v>30</c:v>
                </c:pt>
                <c:pt idx="8">
                  <c:v>40</c:v>
                </c:pt>
              </c:numCache>
            </c:numRef>
          </c:val>
          <c:smooth val="0"/>
        </c:ser>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900" b="0" i="0" u="none" strike="noStrike">
                    <a:solidFill>
                      <a:srgbClr val="6B7A8D"/>
                    </a:solidFill>
                    <a:latin typeface="Arial"/>
                  </a:defRPr>
                </a:pPr>
                <a:r>
                  <a:rPr sz="900" b="0" i="0" u="none" strike="noStrike">
                    <a:solidFill>
                      <a:srgbClr val="6B7A8D"/>
                    </a:solidFill>
                    <a:latin typeface="Arial"/>
                  </a:rPr>
                  <a:t>Payoff</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Put payoff</c:v>
                </c:pt>
              </c:strCache>
            </c:strRef>
          </c:tx>
          <c:spPr>
            <a:solidFill>
              <a:srgbClr val="1B2A4A">
                <a:alpha val="90000"/>
              </a:srgbClr>
            </a:solidFill>
            <a:ln w="25400" cap="flat">
              <a:solidFill>
                <a:srgbClr val="1B2A4A"/>
              </a:solidFill>
              <a:prstDash val="solid"/>
              <a:round/>
            </a:ln>
            <a:effectLst/>
          </c:spPr>
          <c:invertIfNegative val="0"/>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c:symbol val="circle"/>
            <c:size val="6"/>
            <c:spPr>
              <a:solidFill>
                <a:srgbClr val="1B2A4A"/>
              </a:solidFill>
              <a:ln w="9525" cap="flat">
                <a:solidFill>
                  <a:srgbClr val="1B2A4A"/>
                </a:solidFill>
                <a:prstDash val="solid"/>
                <a:round/>
              </a:ln>
              <a:effectLst/>
            </c:spPr>
          </c:marker>
          <c:cat>
            <c:multiLvlStrRef>
              <c:f>Sheet1!$A$2:$A$10</c:f>
              <c:multiLvlStrCache>
                <c:ptCount val="9"/>
                <c:lvl>
                  <c:pt idx="0">
                    <c:v>60</c:v>
                  </c:pt>
                  <c:pt idx="1">
                    <c:v>70</c:v>
                  </c:pt>
                  <c:pt idx="2">
                    <c:v>80</c:v>
                  </c:pt>
                  <c:pt idx="3">
                    <c:v>90</c:v>
                  </c:pt>
                  <c:pt idx="4">
                    <c:v>100</c:v>
                  </c:pt>
                  <c:pt idx="5">
                    <c:v>110</c:v>
                  </c:pt>
                  <c:pt idx="6">
                    <c:v>120</c:v>
                  </c:pt>
                  <c:pt idx="7">
                    <c:v>130</c:v>
                  </c:pt>
                  <c:pt idx="8">
                    <c:v>140</c:v>
                  </c:pt>
                </c:lvl>
              </c:multiLvlStrCache>
            </c:multiLvlStrRef>
          </c:cat>
          <c:val>
            <c:numRef>
              <c:f>Sheet1!$B$2:$B$10</c:f>
              <c:numCache>
                <c:formatCode>General</c:formatCode>
                <c:ptCount val="9"/>
                <c:pt idx="0">
                  <c:v>40</c:v>
                </c:pt>
                <c:pt idx="1">
                  <c:v>30</c:v>
                </c:pt>
                <c:pt idx="2">
                  <c:v>20</c:v>
                </c:pt>
                <c:pt idx="3">
                  <c:v>10</c:v>
                </c:pt>
                <c:pt idx="4">
                  <c:v>0</c:v>
                </c:pt>
                <c:pt idx="5">
                  <c:v>0</c:v>
                </c:pt>
                <c:pt idx="6">
                  <c:v>0</c:v>
                </c:pt>
                <c:pt idx="7">
                  <c:v>0</c:v>
                </c:pt>
                <c:pt idx="8">
                  <c:v>0</c:v>
                </c:pt>
              </c:numCache>
            </c:numRef>
          </c:val>
          <c:smooth val="0"/>
        </c:ser>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900" b="0" i="0" u="none" strike="noStrike">
                    <a:solidFill>
                      <a:srgbClr val="6B7A8D"/>
                    </a:solidFill>
                    <a:latin typeface="Arial"/>
                  </a:defRPr>
                </a:pPr>
                <a:r>
                  <a:rPr sz="900" b="0" i="0" u="none" strike="noStrike">
                    <a:solidFill>
                      <a:srgbClr val="6B7A8D"/>
                    </a:solidFill>
                    <a:latin typeface="Arial"/>
                  </a:rPr>
                  <a:t>Payoff</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hours. By the end they should be able to price a put from a call in their head and a call from a two-branch tree on paper.
•  Open cold: "You can buy the right to buy. What is that right worth?" — do not answer yet.
•  Flag the one habit that survives the exam: payoff is gross, profit is net of premium.
•  Warn them §3 (parity) is the single most-inverted equation in the volume.
•  Pacing: §1 25 min · §2 30 min · §3 40 min · §4 35 min. Keep §1 tight.
NEXT — Roadmap, then the payoff line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arc: §1 and §2 describe options, §3 and §4 price them. Everything after §2 is arbitrage arithmetic.
•  §1–§2 = LM 8. §3 = LM 9. §4 = LM 10. Say so — it maps to their reading.
•  Point at §3 and say: this is the section the exam loves.
•  Promise them one number twice — EUR 4.57 by two completely different routes in §4.
•  Only two hard things all afternoon: PV(X) not X, and π is not a forecast.
NEXT — Learning objectives, then straight into the payoff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Read objective 4 aloud twice — the sign table is the highest-yield memorisation in this deck.
•  Objective 1: make them say "unlimited" out loud for the short call only.
•  Objective 3 is the half of the LM 8 outcome most decks skip. Slide 9 covers it.
•  Objective 6: flag now that q (real probability) is a red herring — they will not believe it yet.
•  Do not linger. Two minutes maximum.
NEXT — Section one: what an option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slides, 25 minutes. Describe the instrument before pricing it.
•  Nothing here needs a model — it is all arithmetic at expiry.
•  Land the payoff/profit distinction early; it is the vocabulary for the whole afternoon.
•  Do not let the covered call turn into a strategy debate. Two minutes each on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idea only: the Max(0, ·) operator. Everything for the next two hours is a consequence of that bracket.
•  Draw the call kink on the board before showing the chart. Make them predict the put.
•  These are PAYOFF lines, not profit — the premium is not in them. Say it explicitly.
•  Profit = the same line shifted down by c₀ (or p₀). Breakeven is where it crosses zero.
•  Contrast with a forward: one straight 45-degree line through F₀(T), losses included.
•  Max(0, ·) is why we cannot price this by discounting a known cash flow.
FROM THE DESK — On a desk nobody quotes the payoff — they quote implied volatility, because the premium is the only honest price of an opinion about how wide that kink will be crossed.
NEXT — Now the same two lines seen from the other side of the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word "unlimited" belongs to exactly one cell in this table. Make them find it before you point at it.
•  Build the table live, column by column, rather than revealing it whole.
•  Force the symmetry: long call max loss = short call max gain = c₀. Same number, both signs.
•  Breakeven column: calls X + c₀, puts X − p₀. The premium always widens the gap you must cross.
•  Kill the myth early — a short put is NOT unlimited risk. It is bounded at X − p₀.
•  Ask who has the obligation in each row. Only the seller ever has one.
FROM THE DESK — Every retail "safe income" strategy is a short put or a covered call wearing a different name. The premium is real; so is the tail that pays for it, and it arrives on one day in ten years.
ASK THE ROOM — You sell a 100-strike call for 5. At what spot do you start actually losing money?
NEXT — Bolt the short call onto stock you already own and you get the most common overlay in the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CFA teaches the covered call as a parity identity, not as a strategy — it is a long bond plus a short put in disguise.
•  Show the payoff Min(ST, X) first; only then do the algebra.
•  Step 2 is the exam point: S₀ − c₀ = PV(X) − p₀. Covered call = long bond + short put.
•  So a "conservative income" covered call has the exact risk profile of a naked short put.
•  Watch the answer bar: max PAYOFF is 325, max PROFIT is 62.31. Do not let them merge.
•  The premium is received at t = 0, so strictly it earns interest to T. Ignored here, as the CFA does.
FROM THE DESK — Covered-call funds sell realised upside for premium income and market it as yield. It is not yield — it is the sale of the right tail. In a strong bull year the manager underperforms and the mandate gets fired for doing exactly what it promised.
ASK THE ROOM — If a covered call is really a short put, why does anyone dress it up as the covered call?
NEXT — Flip the option from short to long and you are buying insurance instead of selling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protective put is the left-hand side of put-call parity. Teaching it here means §3 is already half-built.
•  Payoff Max(ST, X): the position simply cannot end below the strike.
•  Cost of the floor = p₀ = 23.85 on a 295 share — about 8% for six months. Let that land.
•  Max loss = S₀ − X + p₀. Students forget the premium term every time.
•  This is Portfolio 2 in LM 9 Exhibit 1. Say so — they will meet it again in twenty minutes.
•  Contrast with slide 7: same stock, opposite option, opposite economics.
FROM THE DESK — Almost nobody buys a naked protective put twice — the premium bleed is visible on every monthly report. They sell an out-of-the-money call to fund it, which the market calls a collar. Note that Vol 7 never mentions collars; it is desk vocabulary, not curriculum.
ASK THE ROOM — The put costs 8% of the share price for six months. Would you still buy the floor?
NEXT — Both overlays assumed the option already has a price. Where does that price come from? Replication.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Half the LM 8 learning outcome is replication, and it is the half everyone skips. It is also the bridge to §4.
•  Call replication = borrow + buy. Put replication = short + lend. Mirror images.
•  Selling a call replicates as short the underlying + lend — LM 8 practice problem 6 tests exactly that.
•  The word to repeat is "fraction". A forward needs 1.0 unit; an option needs h &lt; 1.
•  Symmetric payoff ⇒ static hedge. Asymmetric payoff ⇒ dynamic hedge. That is the whole contrast.
•  Plant the flag: h reappears on slide 25 as (c_u − c_d)/(S_u − S_d).
FROM THE DESK — Delta hedging is a promise that you can trade continuously at the quoted price. In a gap — a profit warning, a currency peg breaking — you cannot, and the hedge fails precisely when it is needed. Every option book carries that residual, and it is priced nowhere in the model.
NEXT — Replication tells us how to build an option. Next: what its price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slides, 30 minutes. This is where exam marks are won and lost.
•  Two things must survive to the exam: PV(X) not X, and the six-factor sign table.
•  Warn them the sign table is memorisation. There is no way to reason it out under time pressure.
•  Keep the moneyness slide short — it is easy and they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equation, one trap. The trap is discounting — and the CFA built a distractor around it.
•  Do the arithmetic with X first (7.50), let them nod, then redo it with PV(X). The 25p gap is the lesson.
•  Time value is a residual: quoted price minus exercise value. Never computed directly at Level I.
•  Time value is always positive before expiry and exactly zero at expiry. Draw the decay curve.
•  For an OTM option exercise value is zero, so price = time value entirely. That is Question Set Q2.
•  Note the risk-free rate touches exercise value only — it does not act on time value directly.
FROM THE DESK — Time value decay is the only thing in an option book that is certain. Everything else is a view; theta is a fact. It is why sellers sleep well right up until the day they do not.
ASK THE ROOM — A put is quoted at 5 with spot above the strike. How much of that 5 is exercise value?
NEXT — The relationship between S and X has a name, and it drives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Easy slide — spend the time on the one thing they get wrong: moneyness is defined from the holder's side only.
•  Call ITM when S &gt; X. Put ITM when S &lt; X. Make the room say both, in that order.
•  ATM is S = X exactly. Note it is defined on the spot price, not on PV(X).
•  Moneyness exists to compare options across strikes and maturities on one underlying.
•  Degree of moneyness drives sensitivity: deep ITM moves nearly one-for-one, deep OTM barely moves.
•  Careful: exercise value uses PV(X); moneyness uses X. Two different comparisons. Do not merge them.
NEXT — Moneyness tells us where we are. Arbitrage tells us how far the price can stray.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Bounds are the first pricing result that needs no model at all — only the no-arbitrage argument.
•  Upper bound for a call is S. Ask why: the right to buy cannot beat owning outright.
•  Upper bound for a put is X, not S. The put can never deliver more than the strike.
•  Lower bound is the exercise value with PV(X) — the same discounting point as the last slide.
•  Note the inequality is strict on the low side: an option that trades AT its exercise value is arbitrageable.
•  S₀ = 990 is a red herring in the question. Say so — the bound is computed at t, not at 0.
FROM THE DESK — These bounds are the first thing a risk system checks overnight. A quote outside them is almost never free money — it is a stale mark, a wrong dividend, or a corporate action nobody booked.
ASK THE ROOM — A one-year call on a 100 stock, strike 100, is quoted at 102. What do you do?
NEXT — Bounds give a range. To narrow it, we need the factors that actually move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highest-yield table in the deck. Get them to reproduce it from memory before they leave the room.
•  Do not say "volatility is the only shared sign" — time to expiration usually shares it too. Two, not one.
•  Volatility raises both because the downside is already capped at the premium. Say that out loud.
•  Risk-free rate acts only through PV(X): higher r shrinks PV(X), so calls up, puts down.
•  Income row is two-sided in the curriculum: income −/+, carry cost +/−. Both directions are examinable.
•  The one genuine ambiguity is time on a deep-ITM put — the discounted X − ST argument.
FROM THE DESK — Only volatility is unobservable, and that is precisely the column traders argue about. Everything else on this table is on a screen; vega is the only line item that is genuinely an opinion.
ASK THE ROOM — Rates jump 200bp overnight. Which of your two option books just repriced, and in which direction?
NEXT — We now know what moves an option. Next: how one option prices another,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Seven slides, 40 minutes — the heart of the afternoon and the most-tested identity in the volume.
•  Write S + p = c + PV(X) on the board once and leave it there for the whole section.
•  Every slide here is one rearrangement of that line. Say which one each time.
•  Insist they rearrange algebraically on the spot rather than memorising four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present parity as a formula to memorise. Present it as a table they can rebuild in ninety seconds under exam pressure.
•  Build the grid column by column with the room. Ask each cell before revealing it.
•  Protective put pays Max(ST, X). Fiduciary call pays the same. That is the whole argument.
•  Stress the assumptions: European, same X, same T, no dividends. Break any one and parity breaks.
•  The bond is a zero-coupon paying exactly X at T — so it costs PV(X) today, not X.
•  This is CFA Exhibit 4. Tell them to redraw it from scratch in revision, not to reread it.
ASK THE ROOM — Which side of the identity is the expensive one if a stock suddenly becomes hard to borrow?
NEXT — Once you believe the identity, it stops being theory and becomes a pricing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point is not the 23.85 — it is that no assumption about Biomian's future was used anywhere.
•  Ask what we assumed about the share price distribution. Answer: nothing at all.
•  Make them do the rearrangement live rather than reading it off the slide.
•  Watch the sign on S₀. Subtracted, not added — the commonest slip in this whole deck.
•  Always cross-check by evaluating both sides. Two seconds, catches every sign error.
•  Same numbers reappear on slides 18, 20 and 21. Tell them so — one trade, four lessons.
NEXT — So what if the traded put ignores the identity? Then somebody gets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mechanical rule: sell the expensive side of the identity, buy the cheap side. Everything else is bookkeeping.
•  Compute both sides first — 325 versus 318.85 — before touching the grid.
•  Protective put is dear, so SELL stock and SELL put. Fiduciary call is cheap, so BUY call and BUY bond.
•  Walk one column at a time and let them see it collapse to zero. Do not rush the ST &lt; X column.
•  The 6.15 equals the mispricing exactly, and it is received today. Emphasise "today".
•  If the put were cheap instead, every sign flips. Make someone say the reversed trade aloud.
FROM THE DESK — A textbook arbitrage assumes you can short the stock at S₀ and finance at r. Both are fictions for most names. Real parity trades live or die on the borrow rate, which is why the arbitrage is thinner than it looks and is usually gone before you can size it.
ASK THE ROOM — The traded put is 20 instead of 30 — cheap. Give me the four legs, in order.
NEXT — The same rearranging that finds arbitrage also builds any position out of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let them memorise sixteen cells. Show them the table is one equation solved four ways.
•  Derive row 3 on the board from scratch, then have the room derive row 4.
•  A minus sign in the algebra is a short position on the table. Say that mapping explicitly.
•  Sanity check any row by payoff: long call + short put is a straight 45-degree line — that is stock.
•  Row 2 is the covered call from slide 7, read backwards. Point at it.
•  This is CFA Exhibit 6 verbatim. They will see it again in the self-assessment.
FROM THE DESK — Dealers build synthetic stock from options constantly — the option market can be deeper and far cheaper to finance than the cash market, and the synthetic never appears on the share register. That last point is why some of it is regulated.
NEXT — Take row 1 and put real numbers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cost, same payoff, no shares. If they believe this slide, they believe parity.
•  Do step 5 on the board for both branches. It is the moment the synthetic clicks.
•  The bond is what converts the option pair from a spread into an outright position.
•  Long call + short put with the same strike is a straight line — the option kinks cancel.
•  One thing the synthetic does NOT deliver: dividends and votes. Say so — the curriculum assumes none.
•  Reverse it: short call, long put, short bond gives you synthetic short stock.
NEXT — Replace the cash share with a forward and parity survives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Nothing new is happening — S₀ has simply been rewritten as a forward plus a bond. Show that, and the slide takes four minutes.
•  Start from S₀ = F₀(T)(1 + r)⁻ᵀ. Substitute into parity. That is the entire derivation.
•  The rearranged form p₀ − c₀ = [X − F₀(T)]PV-factor is what the exam actually asks for.
•  When X = F₀(T) the put and call are worth the same. Ask them why before you explain it.
•  23.86 versus 23.85 is rounding, not a discrepancy. Say so before someone raises a hand.
•  The curriculum calls the forward-plus-bond-plus-put version a synthetic protective put.
FROM THE DESK — FX and commodity options are quoted off the forward as a matter of course, because the forward already embeds carry — rate differentials, storage, convenience yield. Trying to run those through a spot-based parity is how a book ends up with a systematic, invisible basis.
NEXT — One last use of parity, and it has nothing to do with option trading.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pay-off slide of the whole section: parity turns a balance sheet into two option positions.
•  Start with the payoffs, not the options: shareholders get Max(0, VT − D), lenders get Min(VT, D).
•  Watch the sign on the debtholder side. Long bond PLUS a SHORT put — they sold it to the shareholders.
•  Min(VT, D) = D − Max(0, D − VT) is the algebra. Write it out; it settles every argument.
•  Credit spread = the price of that sold put. This is where fixed income and derivatives meet.
•  Risk-shifting falls straight out: more volatility raises the equity call and hurts the lenders.
FROM THE DESK — This is why a covenant exists. Once you see equity as a call, you see that a distressed shareholder is long volatility and rationally wants the riskiest project on the list. Lenders are not being obstructive — they are trying to stop the strike price moving.
ASK THE ROOM — A firm doubles its leverage. Whose option just got more valuable, and whose just got worse?
NEXT — Parity prices one option from another. But something has to price the first one — and that needs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slides, 35 minutes. The first genuine model of the afternoon — everything before this was arbitrage bookkeeping.
•  Frame it: forwards need no model, options do. That single sentence justifies the section.
•  They will meet EUR 4.57 twice, by two routes. Promise it now, deliver on slides 26 and 27.
•  The hard sell is that q, the real probability, never appears. Expect resistance on slide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Sell the model as a deliberate simplification, not a bad approximation. Two states are enough to pin one price.
•  Open with the contrast: forward = no model needed. Option = model required. Ask them why.
•  Rᵤ and R_d are GROSS returns — 1.2, not 20%. Students trip on this in the arithmetic.
•  Introduce q, then say it will vanish. Planting it now makes slide 28 land harder.
•  Volatility enters only as the spread. There is no sigma anywhere in the Level I formulas.
•  The two-state world is not a claim about reality; it is the minimum needed to hedge exactly.
NEXT — Two states, one hedge ratio, and the risk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steps, mechanical. Get the recipe into their hands before you show a single number.
•  h* = option payoff range divided by asset payoff range. Ranges, not levels.
•  The definition of h* IS the requirement that both branches give the same value. Say it that way.
•  Once V₁ is the same in both states it is riskless, so it can only earn r. That is the whole argument.
•  Compute V₁ from both branches every time. It is a free error check and takes five seconds.
•  For a put h* is negative — buy the put and buy the stock. CFA Question Set Q5 and Practice Q2 both test it.
FROM THE DESK — h* is delta, and on a desk it is a live number that has to be re-traded all day. The binomial tree hides the cost of that re-trading behind a single static h. It is the same simplification that made slide 9 matter.
NEXT — Numbers on the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Slow, deliberate, every line on the board. This arithmetic is worth marks and they will replicate it in the exam.
•  Make them compute c₁ᵘ and c₁ᵈ before you show step 1. It is the only step that needs thought.
•  Do step 3 twice, once per branch. Watching the two 12s appear is the moment it lands.
•  Step 4: stress that we discount at r ONLY because V₁ is certain. That is the licence.
•  The final check — 11.43 × 1.05 = 12 — proves the portfolio really earns the risk-free rate.
•  Ask what the call would be worth if S₁ᵈ were 80 instead of 60. Narrower tree, cheaper option.
NEXT — Same tree, same answer, a much faster route — and one strange new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routes, one number. Then the hard part: π looks like a probability and is not one.
•  Reveal 4.57 and stop. Let the coincidence sit for a beat before explaining it.
•  It is not a coincidence — both routes are the same no-arbitrage condition, rearranged.
•  π = 0.48 here while the real q is unknown and irrelevant. Say the word "weight", not "chance".
•  Where π comes from: it is the weight that makes the underlying itself grow at exactly r.
•  π between 0 and 1 is equivalent to no arbitrage. If it falls outside, the tree is mispriced.
FROM THE DESK — Risk-neutral valuation is the workhorse of every pricing library on every desk. The reason it survives well past the binomial toy model is that it turns a hedging argument into an expectation, and expectations are what computers are good at.
ASK THE ROOM — If π is not the real probability, why is it allowed to sit in an expected-value formula?
NEXT — Now prove the real probability truly does not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most counter-intuitive fact in options pricing, and the room will resist it. Use the table, not an argument.
•  Reveal rows 3 and 4 last. Ask them to predict the price before you show it.
•  The reason q vanishes: the seller hedges with h* shares, so a directional view has nothing to attach to.
•  Rows 1 → 2 is the payoff: 2.98 to 8.04 is 2.7x, not 2x. Width matters more than they expect.
•  Puts are from parity — 2.98 − 50 + 55/1.05 = 5.36. Make someone verify it on a calculator.
•  Tie back to slide 14: volatility raises calls AND puts. Both columns rise from row 1 to row 2.
FROM THE DESK — This is why a broker cannot sell you an option cheaply because they are bearish. The price is a hedging cost, not a bet. When someone does quote you off their view, you are not trading with a market maker — you are trading with a punter.
ASK THE ROOM — You are certain the stock rises. Should you pay more than 2.98 for the call?
NEXT — One step is enough for Level I. Where does the tree go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Orientation slide, not an examinable one. Say clearly that the formula is outside Vol 7 before anyone writes it down as gospel.
•  Open with the disclaimer: not in Vol 7, not on the Level I exam. Then teach it anyway, briefly.
•  The link that matters: N(d₂) plays the role π played. Same idea, continuous time.
•  σ finally appears explicitly. At Level I volatility only ever entered as the spread Rᵤ − R_d.
•  Do NOT derive anything. Two minutes, then move on.
•  The honest headline: the tree is not an approximation to Black-Scholes — Black-Scholes is a limit of the tree.
FROM THE DESK — Nobody uses Black-Scholes to find a price; the market gives the price. It is run backwards to extract implied volatility, and the fact that the number differs by strike — the smile — is the market telling you the model's own assumption is wrong.
NEXT — Eight lines to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two things that must survive the week: parity and the sign table.
•  Do not read the cards. Ask the room for the four positions and the one unlimited loss.
•  Make someone rearrange parity to solve for c₀ out loud before anybody leaves.
•  Homework: LM 8 practice problems 1–9 and LM 10 practice problems 1–4.
•  Preview: deck 19 leaves listed markets entirely for alternative investments.
•  Two minutes of questions, then stop. Do not reopen the risk-neutral debate at the door.
FROM THE DESK — If they remember one line from the afternoon, make it this: the option premium is the only honest price of an opinion about volatility. Everything else on these thirty slides is bookkeeping around that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18  ·  WEEK 5  ·  AFTERNOON 2</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Options — Payoffs,</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Strategies &amp; Pricing</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From a one-line payoff to the one-period binomial model</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7 Learning Modules 8–10</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Derivatives II: Options — Payoffs, Strategies &amp; Pricing</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Option payoffs &amp; positions</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Call/put payoffs at expiry · the four basic positions · covered call · protective put · replicating an option</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Value drivers &amp; moneyness</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Exercise value + time value · ITM/ATM/OTM from the holder side · no-arbitrage bounds · the six-factor sign table</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Put-call parity</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Protective put = fiduciary call · S + p = c + PV(X) · the arbitrage trade · synthetics · forward parity · firm value</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One-period binomial</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Up/down gross returns · hedge ratio · risk-neutral probability π · Hightest Capital · where the tree leads next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Write the payoff and the profit for all four basic positions — long/short call, long/short put — and say which single one carries an unlimited loss.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Split any option premium into exercise value and time value, classify it ITM / ATM / OTM from the holder's side, and check it against the no-arbitrage bounds.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Contrast arbitrage and replication for a forward versus an option, and explain why an option's replicating portfolio has to be rebalanced.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Name the six factors that move option value and give the sign of each for a call and for a put, including the two that move both the same way.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Derive put-call parity from protective put versus fiduciary call, exploit a violation of it, and build any one of the four positions from the other three.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Price a European option on a one-period binomial tree by delta hedge and by risk-neutral expectation, and explain why the real-world probability never appears.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Option payoffs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positions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18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At expiry an option pays Max(0, ST − X) for a call and Max(0, X − ST) for a put — never negative, never linear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§6 "Arbitrage", Equations 5–8 and Exhibit 3, printed pp. 180–181.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kink at the strike is the whole source of option-market richness: flat on one side of X, one-for-one on the other.</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cT  =  Max(0, ST − X)           pT  =  Max(0, X − ST)</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ST = underlying spot at expiry; X = exercise (strike) price. Profit subtracts the premium paid at t = 0: Π = cT − c₀ (call), Π = pT − p₀ (put).</a:t>
            </a:r>
            <a:endParaRPr lang="en-US" sz="1100" dirty="0"/>
          </a:p>
        </p:txBody>
      </p:sp>
      <p:sp>
        <p:nvSpPr>
          <p:cNvPr id="12" name="Text 10"/>
          <p:cNvSpPr txBox="1"/>
          <p:nvPr/>
        </p:nvSpPr>
        <p:spPr>
          <a:xfrm>
            <a:off x="320040" y="2331720"/>
            <a:ext cx="4160520" cy="256032"/>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Long call payoff — strike 100</a:t>
            </a:r>
            <a:endParaRPr lang="en-US" sz="1200" dirty="0"/>
          </a:p>
        </p:txBody>
      </p:sp>
      <p:graphicFrame>
        <p:nvGraphicFramePr>
          <p:cNvPr id="13" name="Chart 0" descr=""/>
          <p:cNvGraphicFramePr/>
          <p:nvPr/>
        </p:nvGraphicFramePr>
        <p:xfrm>
          <a:off x="320040" y="2606040"/>
          <a:ext cx="4160520" cy="16916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663440" y="2331720"/>
            <a:ext cx="4160520" cy="256032"/>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Long put payoff — strike 100</a:t>
            </a:r>
            <a:endParaRPr lang="en-US" sz="1200" dirty="0"/>
          </a:p>
        </p:txBody>
      </p:sp>
      <p:graphicFrame>
        <p:nvGraphicFramePr>
          <p:cNvPr id="15" name="Chart 1" descr=""/>
          <p:cNvGraphicFramePr/>
          <p:nvPr/>
        </p:nvGraphicFramePr>
        <p:xfrm>
          <a:off x="4663440" y="2606040"/>
          <a:ext cx="4160520" cy="16916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Four positions, and exactly one of them can lose an unlimited amount: the short call</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Max loss, max gain and breakeven are profit figures; the payoff column is gross of the premium.
</a:t>
            </a:r>
            <a:pPr indent="0" marL="0">
              <a:buNone/>
            </a:pPr>
            <a:r>
              <a:rPr lang="en-US" sz="1000" dirty="0">
                <a:solidFill>
                  <a:srgbClr val="6B7A8D"/>
                </a:solidFill>
                <a:latin typeface="Calibri" pitchFamily="34" charset="0"/>
                <a:ea typeface="Calibri" pitchFamily="34" charset="-122"/>
                <a:cs typeface="Calibri" pitchFamily="34" charset="-120"/>
              </a:rPr>
              <a:t>² A long put hits its X − p₀ maximum only if the underlying falls all the way to zero.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§6 "Arbitrage", Equations 5–8, printed pp. 181–182.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Buyer and seller are mirror images around the premium: their two profits sum to exactly zero, before transaction costs.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2377440"/>
                <a:gridCol w="1417320"/>
                <a:gridCol w="1463040"/>
                <a:gridCol w="1508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Position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Payoff at 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Max loss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Max gain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Breakeven 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Max(0, 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c₀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Unlimited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c₀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Short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−Max(0, 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Unlimited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c₀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c₀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 put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Max(0, X −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Short put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−Max(0, X −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p₀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788920"/>
            <a:ext cx="8503920" cy="1463040"/>
          </a:xfrm>
          <a:prstGeom prst="rect">
            <a:avLst/>
          </a:prstGeom>
          <a:solidFill>
            <a:srgbClr val="FEF0E7"/>
          </a:solidFill>
          <a:ln/>
        </p:spPr>
      </p:sp>
      <p:sp>
        <p:nvSpPr>
          <p:cNvPr id="12" name="Shape 9"/>
          <p:cNvSpPr/>
          <p:nvPr/>
        </p:nvSpPr>
        <p:spPr>
          <a:xfrm>
            <a:off x="320040" y="2788920"/>
            <a:ext cx="73152" cy="1463040"/>
          </a:xfrm>
          <a:prstGeom prst="rect">
            <a:avLst/>
          </a:prstGeom>
          <a:solidFill>
            <a:srgbClr val="E8600A"/>
          </a:solidFill>
          <a:ln/>
        </p:spPr>
      </p:sp>
      <p:sp>
        <p:nvSpPr>
          <p:cNvPr id="13" name="Text 10"/>
          <p:cNvSpPr txBox="1"/>
          <p:nvPr/>
        </p:nvSpPr>
        <p:spPr>
          <a:xfrm>
            <a:off x="457200" y="28346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 INTUITIONS TO LOCK IN</a:t>
            </a:r>
            <a:endParaRPr lang="en-US" sz="1100" dirty="0"/>
          </a:p>
        </p:txBody>
      </p:sp>
      <p:sp>
        <p:nvSpPr>
          <p:cNvPr id="14" name="Text 11"/>
          <p:cNvSpPr txBox="1"/>
          <p:nvPr/>
        </p:nvSpPr>
        <p:spPr>
          <a:xfrm>
            <a:off x="457200" y="3108960"/>
            <a:ext cx="8275320" cy="10972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Buying an option caps your loss at the premium. That cap is what you are paying for.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Selling an option caps your gain at the premium. You are writing insurance, and you keep the float.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The short call is the ONLY one of the four with an unbounded loss — a stock has no ceiling. The short put is nasty but bounded: the worst case is a bankruptcy, X − p₀.</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The premium never appears in the payoff at T. It is paid at t = 0 and simply shifts the profit line vertically.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covered call sells the upside above X in exchange for the premium — the most-used option overlay in asset management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§3 Example 3 "VFO Covered Call Strategy", printed pp. 205–206.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Long stock + short call. If ST ≤ X you keep the stock and the premium; above X you are called away at X and keep the premium.</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S₀ − c₀  =  X(1+r)⁻ᵀ − p₀        payoff = Min(ST, X)</a:t>
            </a:r>
            <a:endParaRPr lang="en-US" sz="1800" dirty="0"/>
          </a:p>
        </p:txBody>
      </p:sp>
      <p:sp>
        <p:nvSpPr>
          <p:cNvPr id="11" name="Shape 9"/>
          <p:cNvSpPr/>
          <p:nvPr/>
        </p:nvSpPr>
        <p:spPr>
          <a:xfrm>
            <a:off x="320040" y="2011680"/>
            <a:ext cx="8503920" cy="2286000"/>
          </a:xfrm>
          <a:prstGeom prst="rect">
            <a:avLst/>
          </a:prstGeom>
          <a:solidFill>
            <a:srgbClr val="FEF0E7"/>
          </a:solidFill>
          <a:ln w="9525">
            <a:solidFill>
              <a:srgbClr val="E8600A"/>
            </a:solidFill>
            <a:prstDash val="solid"/>
          </a:ln>
        </p:spPr>
      </p:sp>
      <p:sp>
        <p:nvSpPr>
          <p:cNvPr id="12" name="Text 10"/>
          <p:cNvSpPr txBox="1"/>
          <p:nvPr/>
        </p:nvSpPr>
        <p:spPr>
          <a:xfrm>
            <a:off x="457200" y="20574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9 EXAMPLE 3 — VFO COVERED CALL ON BIOMIAN</a:t>
            </a:r>
            <a:endParaRPr lang="en-US" sz="1100" dirty="0"/>
          </a:p>
        </p:txBody>
      </p:sp>
      <p:sp>
        <p:nvSpPr>
          <p:cNvPr id="13" name="Text 11"/>
          <p:cNvSpPr txBox="1"/>
          <p:nvPr/>
        </p:nvSpPr>
        <p:spPr>
          <a:xfrm>
            <a:off x="457200" y="23500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VFO holds non-dividend Biomian at S₀ = INR 295. The CIO sells a six-month call at X = INR 325 for income. r = 4%; the six-month put at the same strike trades at INR 56.</a:t>
            </a:r>
            <a:endParaRPr lang="en-US" sz="1200" dirty="0"/>
          </a:p>
        </p:txBody>
      </p:sp>
      <p:sp>
        <p:nvSpPr>
          <p:cNvPr id="14" name="Text 12"/>
          <p:cNvSpPr txBox="1"/>
          <p:nvPr/>
        </p:nvSpPr>
        <p:spPr>
          <a:xfrm>
            <a:off x="457200" y="2862072"/>
            <a:ext cx="8229600" cy="9235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Covered call = long stock + short call = S₀ − c₀ at inception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Parity rearranged: S₀ − c₀ = X(1 + r)⁻ᵀ − p₀  (a long bond plus a SHORT put)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295 − c₀ = 325 × 1.04⁻⁰·⁵ − 56 = 318.69 − 56 = 262.69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c₀ = 295 − 262.69 = INR 32.31</a:t>
            </a:r>
            <a:endParaRPr lang="en-US" sz="115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Sell the call for INR 32.31. Payoff at T caps at X = 325; max profit = 325 − 295 + 32.31 = 62.31.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protective put buys a floor at X for a known upfront cost — the hedge everyone wants and few want to pay for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§2 Exhibits 1–3 and Example 1 "Biomian Put–Call Parity", printed pp. 200–202.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Long stock + long put. Above X you let the put lapse; below X you exercise and sell at X. A floor at X, paid for with p₀.</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S₀ + p₀  (protective put)        payoff = Max(ST, X)</a:t>
            </a:r>
            <a:endParaRPr lang="en-US" sz="1800" dirty="0"/>
          </a:p>
        </p:txBody>
      </p:sp>
      <p:sp>
        <p:nvSpPr>
          <p:cNvPr id="11" name="Shape 9"/>
          <p:cNvSpPr/>
          <p:nvPr/>
        </p:nvSpPr>
        <p:spPr>
          <a:xfrm>
            <a:off x="320040" y="2011680"/>
            <a:ext cx="8503920" cy="2286000"/>
          </a:xfrm>
          <a:prstGeom prst="rect">
            <a:avLst/>
          </a:prstGeom>
          <a:solidFill>
            <a:srgbClr val="FEF0E7"/>
          </a:solidFill>
          <a:ln w="9525">
            <a:solidFill>
              <a:srgbClr val="E8600A"/>
            </a:solidFill>
            <a:prstDash val="solid"/>
          </a:ln>
        </p:spPr>
      </p:sp>
      <p:sp>
        <p:nvSpPr>
          <p:cNvPr id="12" name="Text 10"/>
          <p:cNvSpPr txBox="1"/>
          <p:nvPr/>
        </p:nvSpPr>
        <p:spPr>
          <a:xfrm>
            <a:off x="457200" y="20574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9 EXAMPLE 1 — PRICING VFO’S SIX-MONTH BIOMIAN PUT AT X = 265</a:t>
            </a:r>
            <a:endParaRPr lang="en-US" sz="1100" dirty="0"/>
          </a:p>
        </p:txBody>
      </p:sp>
      <p:sp>
        <p:nvSpPr>
          <p:cNvPr id="13" name="Text 11"/>
          <p:cNvSpPr txBox="1"/>
          <p:nvPr/>
        </p:nvSpPr>
        <p:spPr>
          <a:xfrm>
            <a:off x="457200" y="23500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Biomian at S₀ = INR 295, no dividends. A traded six-month call at the same X = 265 is quoted at c₀ = INR 59. r = 4%, T = 0.5.</a:t>
            </a:r>
            <a:endParaRPr lang="en-US" sz="1200" dirty="0"/>
          </a:p>
        </p:txBody>
      </p:sp>
      <p:sp>
        <p:nvSpPr>
          <p:cNvPr id="14" name="Text 12"/>
          <p:cNvSpPr txBox="1"/>
          <p:nvPr/>
        </p:nvSpPr>
        <p:spPr>
          <a:xfrm>
            <a:off x="457200" y="2862072"/>
            <a:ext cx="8229600" cy="9235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Put-call parity: S₀ + p₀ = c₀ + X(1 + r)⁻ᵀ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PV(X) = 265 × 1.04⁻⁰·⁵ = INR 259.85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295 + p₀ = 59 + 259.85  ⇒  p₀ = 318.85 − 295 = INR 23.85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Cross-check both sides: 295 + 23.85 = 318.85 and 59 + 259.85 = 318.85 ✓</a:t>
            </a:r>
            <a:endParaRPr lang="en-US" sz="115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Floor at 265 costs 23.85. Max loss = 295 − 265 + 23.85 = 53.85; upside above 265 untouched.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Replicating an option means borrowing to buy only a FRACTION of the underlying — and rebalancing as moneyness moves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§7 "Replication", Exhibits 4–5, printed pp. 182–184.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forward is replicated once and left alone. An option has to be re-hedged. That one difference is why option desks exist.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83080"/>
                <a:gridCol w="2606040"/>
                <a:gridCol w="283464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Position to replicate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Trade at inception (t = 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Settlement at t = T if exercised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Rebalance?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 forward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Borrow PV(F₀); buy the asset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Sell at ST, repay F₀(T)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Borrow part of PV(X); buy hS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Sell at ST, repay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 put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 hS; lend the proceeds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Receive X, buy back at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68880"/>
            <a:ext cx="2743200" cy="1828800"/>
          </a:xfrm>
          <a:prstGeom prst="rect">
            <a:avLst/>
          </a:prstGeom>
          <a:solidFill>
            <a:srgbClr val="FEF0E7"/>
          </a:solidFill>
          <a:ln/>
        </p:spPr>
      </p:sp>
      <p:sp>
        <p:nvSpPr>
          <p:cNvPr id="11" name="Shape 8"/>
          <p:cNvSpPr/>
          <p:nvPr/>
        </p:nvSpPr>
        <p:spPr>
          <a:xfrm>
            <a:off x="320040" y="2468880"/>
            <a:ext cx="73152" cy="1828800"/>
          </a:xfrm>
          <a:prstGeom prst="rect">
            <a:avLst/>
          </a:prstGeom>
          <a:solidFill>
            <a:srgbClr val="E8600A"/>
          </a:solidFill>
          <a:ln/>
        </p:spPr>
      </p:sp>
      <p:sp>
        <p:nvSpPr>
          <p:cNvPr id="12" name="Text 9"/>
          <p:cNvSpPr txBox="1"/>
          <p:nvPr/>
        </p:nvSpPr>
        <p:spPr>
          <a:xfrm>
            <a:off x="457200" y="25146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ONLY A FRACTION</a:t>
            </a:r>
            <a:endParaRPr lang="en-US" sz="1100" dirty="0"/>
          </a:p>
        </p:txBody>
      </p:sp>
      <p:sp>
        <p:nvSpPr>
          <p:cNvPr id="13" name="Text 10"/>
          <p:cNvSpPr txBox="1"/>
          <p:nvPr/>
        </p:nvSpPr>
        <p:spPr>
          <a:xfrm>
            <a:off x="457200" y="2788920"/>
            <a:ext cx="251460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exercise were certain you would borrow the full PV(X), exactly as for a forward. It is not — so you borrow only the proportion that matches the likelihood of exercise. That proportion is h, and it is the same h you meet in the binomial model.</a:t>
            </a:r>
            <a:endParaRPr lang="en-US" sz="1200" dirty="0"/>
          </a:p>
        </p:txBody>
      </p:sp>
      <p:sp>
        <p:nvSpPr>
          <p:cNvPr id="14" name="Shape 11"/>
          <p:cNvSpPr/>
          <p:nvPr/>
        </p:nvSpPr>
        <p:spPr>
          <a:xfrm>
            <a:off x="3200400" y="2468880"/>
            <a:ext cx="2743200" cy="1828800"/>
          </a:xfrm>
          <a:prstGeom prst="rect">
            <a:avLst/>
          </a:prstGeom>
          <a:solidFill>
            <a:srgbClr val="F5F7FA"/>
          </a:solidFill>
          <a:ln/>
        </p:spPr>
      </p:sp>
      <p:sp>
        <p:nvSpPr>
          <p:cNvPr id="15" name="Shape 12"/>
          <p:cNvSpPr/>
          <p:nvPr/>
        </p:nvSpPr>
        <p:spPr>
          <a:xfrm>
            <a:off x="3200400" y="2468880"/>
            <a:ext cx="73152" cy="1828800"/>
          </a:xfrm>
          <a:prstGeom prst="rect">
            <a:avLst/>
          </a:prstGeom>
          <a:solidFill>
            <a:srgbClr val="1B2A4A"/>
          </a:solidFill>
          <a:ln/>
        </p:spPr>
      </p:sp>
      <p:sp>
        <p:nvSpPr>
          <p:cNvPr id="16" name="Text 13"/>
          <p:cNvSpPr txBox="1"/>
          <p:nvPr/>
        </p:nvSpPr>
        <p:spPr>
          <a:xfrm>
            <a:off x="3337560" y="25146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h KEEPS MOVING</a:t>
            </a:r>
            <a:endParaRPr lang="en-US" sz="1100" dirty="0"/>
          </a:p>
        </p:txBody>
      </p:sp>
      <p:sp>
        <p:nvSpPr>
          <p:cNvPr id="17" name="Text 14"/>
          <p:cNvSpPr txBox="1"/>
          <p:nvPr/>
        </p:nvSpPr>
        <p:spPr>
          <a:xfrm>
            <a:off x="3337560" y="2788920"/>
            <a:ext cx="251460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forward settles with certainty, so its replicating trades never change. An option’s likelihood of exercise moves with every tick, so h moves too. Re-hedging cost is the real economic content of the premium.</a:t>
            </a:r>
            <a:endParaRPr lang="en-US" sz="1200" dirty="0"/>
          </a:p>
        </p:txBody>
      </p:sp>
      <p:sp>
        <p:nvSpPr>
          <p:cNvPr id="18" name="Shape 15"/>
          <p:cNvSpPr/>
          <p:nvPr/>
        </p:nvSpPr>
        <p:spPr>
          <a:xfrm>
            <a:off x="6080760" y="2468880"/>
            <a:ext cx="2743200" cy="1828800"/>
          </a:xfrm>
          <a:prstGeom prst="rect">
            <a:avLst/>
          </a:prstGeom>
          <a:solidFill>
            <a:srgbClr val="FEF0E7"/>
          </a:solidFill>
          <a:ln/>
        </p:spPr>
      </p:sp>
      <p:sp>
        <p:nvSpPr>
          <p:cNvPr id="19" name="Shape 16"/>
          <p:cNvSpPr/>
          <p:nvPr/>
        </p:nvSpPr>
        <p:spPr>
          <a:xfrm>
            <a:off x="6080760" y="2468880"/>
            <a:ext cx="73152" cy="1828800"/>
          </a:xfrm>
          <a:prstGeom prst="rect">
            <a:avLst/>
          </a:prstGeom>
          <a:solidFill>
            <a:srgbClr val="E8600A"/>
          </a:solidFill>
          <a:ln/>
        </p:spPr>
      </p:sp>
      <p:sp>
        <p:nvSpPr>
          <p:cNvPr id="20" name="Text 17"/>
          <p:cNvSpPr txBox="1"/>
          <p:nvPr/>
        </p:nvSpPr>
        <p:spPr>
          <a:xfrm>
            <a:off x="6217920" y="25146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AND IN REVERSE</a:t>
            </a:r>
            <a:endParaRPr lang="en-US" sz="1100" dirty="0"/>
          </a:p>
        </p:txBody>
      </p:sp>
      <p:sp>
        <p:nvSpPr>
          <p:cNvPr id="21" name="Text 18"/>
          <p:cNvSpPr txBox="1"/>
          <p:nvPr/>
        </p:nvSpPr>
        <p:spPr>
          <a:xfrm>
            <a:off x="6217920" y="2788920"/>
            <a:ext cx="251460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To replicate SELLING a call, short the underlying and lend the proceeds — the exact mirror of buying one. LM 8 practice problem 6 tests precisely this, and the sign is the only thing candidates get wrong.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Value drivers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moneyness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18 of 20  ·  Studio Tonton Gug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An option price splits exactly into exercise value plus time value — and exercise value discounts X, it does not use X</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§3 "Option Exercise Value" and §5 "Option Time Value", Equations 1–4 and Exhibit 2, printed pp. 175–179; Self-Assessment Q3, printed p. 173.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Discounting X rather than using X is the single most common mark-to-market slip in practice — and the standard exam distractor.</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ct = Max(0, St − PV(X)) + Time Value</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pt = Max(0, PV(X) − St) + Time Value</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PV(X) = X(1 + r)^−(T−t). Time value is always positive and decays to zero at t = T. An out-of-the-money option has zero exercise value, so its price is time value in full.</a:t>
            </a:r>
            <a:endParaRPr lang="en-US" sz="1100" dirty="0"/>
          </a:p>
        </p:txBody>
      </p:sp>
      <p:sp>
        <p:nvSpPr>
          <p:cNvPr id="12" name="Shape 10"/>
          <p:cNvSpPr/>
          <p:nvPr/>
        </p:nvSpPr>
        <p:spPr>
          <a:xfrm>
            <a:off x="320040" y="2194560"/>
            <a:ext cx="8503920" cy="2103120"/>
          </a:xfrm>
          <a:prstGeom prst="rect">
            <a:avLst/>
          </a:prstGeom>
          <a:solidFill>
            <a:srgbClr val="FEF0E7"/>
          </a:solidFill>
          <a:ln w="9525">
            <a:solidFill>
              <a:srgbClr val="E8600A"/>
            </a:solidFill>
            <a:prstDash val="solid"/>
          </a:ln>
        </p:spPr>
      </p:sp>
      <p:sp>
        <p:nvSpPr>
          <p:cNvPr id="13" name="Text 11"/>
          <p:cNvSpPr txBox="1"/>
          <p:nvPr/>
        </p:nvSpPr>
        <p:spPr>
          <a:xfrm>
            <a:off x="457200" y="22402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8 SELF-ASSESSMENT Q3 — GBP EUROPEAN CALL DECOMPOSITION</a:t>
            </a:r>
            <a:endParaRPr lang="en-US" sz="1100" dirty="0"/>
          </a:p>
        </p:txBody>
      </p:sp>
      <p:sp>
        <p:nvSpPr>
          <p:cNvPr id="14" name="Text 12"/>
          <p:cNvSpPr txBox="1"/>
          <p:nvPr/>
        </p:nvSpPr>
        <p:spPr>
          <a:xfrm>
            <a:off x="457200" y="25328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three-month European call on a no-dividend stock. X = GBP 50, r = 2%, St = GBP 57.50. The call is quoted at ct = GBP 10.</a:t>
            </a:r>
            <a:endParaRPr lang="en-US" sz="1200" dirty="0"/>
          </a:p>
        </p:txBody>
      </p:sp>
      <p:sp>
        <p:nvSpPr>
          <p:cNvPr id="15" name="Text 13"/>
          <p:cNvSpPr txBox="1"/>
          <p:nvPr/>
        </p:nvSpPr>
        <p:spPr>
          <a:xfrm>
            <a:off x="457200" y="3044952"/>
            <a:ext cx="8229600" cy="74066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 of the strike: X(1 + r)⁻⁰·²⁵ = 50 × 1.02⁻⁰·²⁵ = GBP 49.75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Exercise value = Max(0, St − PV(X)) = Max(0, 57.50 − 49.75) = GBP 7.75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Time value = ct − exercise value = 10.00 − 7.75 = GBP 2.25</a:t>
            </a:r>
            <a:endParaRPr lang="en-US" sz="11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7.75 + 2.25 = the GBP 10 premium. Use X instead of PV(X) and you get 7.50 — the trap answer.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Moneyness is read from the holder’s side: a call is in the money when S &gt; X, a put when S &lt; X</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§4 "Option Moneyness", Exhibit 1 and Example 2, printed pp. 176–177.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Always the buyer’s perspective. A short call is never "in the money" — its counterparty’s call is, and that is what the term describes.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828800"/>
                <a:gridCol w="1417320"/>
                <a:gridCol w="1417320"/>
                <a:gridCol w="1828800"/>
                <a:gridCol w="2011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Moneyness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Call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Sensitivity to 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 the money (ITM)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&gt;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&lt;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Near one-for-one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Stock substitute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At the money (ATM)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Moderate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Peak time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Out of the money (OTM)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&lt;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&gt;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small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Cheap tail hedge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514600"/>
            <a:ext cx="4160520" cy="1783080"/>
          </a:xfrm>
          <a:prstGeom prst="rect">
            <a:avLst/>
          </a:prstGeom>
          <a:solidFill>
            <a:srgbClr val="FEF0E7"/>
          </a:solidFill>
          <a:ln/>
        </p:spPr>
      </p:sp>
      <p:sp>
        <p:nvSpPr>
          <p:cNvPr id="11" name="Shape 8"/>
          <p:cNvSpPr/>
          <p:nvPr/>
        </p:nvSpPr>
        <p:spPr>
          <a:xfrm>
            <a:off x="320040" y="2514600"/>
            <a:ext cx="73152" cy="1783080"/>
          </a:xfrm>
          <a:prstGeom prst="rect">
            <a:avLst/>
          </a:prstGeom>
          <a:solidFill>
            <a:srgbClr val="E8600A"/>
          </a:solidFill>
          <a:ln/>
        </p:spPr>
      </p:sp>
      <p:sp>
        <p:nvSpPr>
          <p:cNvPr id="12" name="Text 9"/>
          <p:cNvSpPr txBox="1"/>
          <p:nvPr/>
        </p:nvSpPr>
        <p:spPr>
          <a:xfrm>
            <a:off x="4572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DEEP ITM BEHAVES LIKE THE STOCK</a:t>
            </a:r>
            <a:endParaRPr lang="en-US" sz="1100" dirty="0"/>
          </a:p>
        </p:txBody>
      </p:sp>
      <p:sp>
        <p:nvSpPr>
          <p:cNvPr id="13" name="Text 10"/>
          <p:cNvSpPr txBox="1"/>
          <p:nvPr/>
        </p:nvSpPr>
        <p:spPr>
          <a:xfrm>
            <a:off x="457200" y="2834640"/>
            <a:ext cx="393192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deep-in-the-money option is highly likely to be exercised, so the curriculum describes "a nearly one-to-one correspondence between option price and underlying price changes".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is why an ITM call is a financing-efficient way to hold equity exposure: near-identical participation, a fraction of the cash outlay.</a:t>
            </a:r>
            <a:endParaRPr lang="en-US" sz="1200" dirty="0"/>
          </a:p>
        </p:txBody>
      </p:sp>
      <p:sp>
        <p:nvSpPr>
          <p:cNvPr id="14" name="Shape 11"/>
          <p:cNvSpPr/>
          <p:nvPr/>
        </p:nvSpPr>
        <p:spPr>
          <a:xfrm>
            <a:off x="4663440" y="2514600"/>
            <a:ext cx="4160520" cy="1783080"/>
          </a:xfrm>
          <a:prstGeom prst="rect">
            <a:avLst/>
          </a:prstGeom>
          <a:solidFill>
            <a:srgbClr val="F5F7FA"/>
          </a:solidFill>
          <a:ln/>
        </p:spPr>
      </p:sp>
      <p:sp>
        <p:nvSpPr>
          <p:cNvPr id="15" name="Shape 12"/>
          <p:cNvSpPr/>
          <p:nvPr/>
        </p:nvSpPr>
        <p:spPr>
          <a:xfrm>
            <a:off x="4663440" y="2514600"/>
            <a:ext cx="73152" cy="1783080"/>
          </a:xfrm>
          <a:prstGeom prst="rect">
            <a:avLst/>
          </a:prstGeom>
          <a:solidFill>
            <a:srgbClr val="1B2A4A"/>
          </a:solidFill>
          <a:ln/>
        </p:spPr>
      </p:sp>
      <p:sp>
        <p:nvSpPr>
          <p:cNvPr id="16" name="Text 13"/>
          <p:cNvSpPr txBox="1"/>
          <p:nvPr/>
        </p:nvSpPr>
        <p:spPr>
          <a:xfrm>
            <a:off x="48006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DEEP OTM IS ALL TIME VALUE</a:t>
            </a:r>
            <a:endParaRPr lang="en-US" sz="1100" dirty="0"/>
          </a:p>
        </p:txBody>
      </p:sp>
      <p:sp>
        <p:nvSpPr>
          <p:cNvPr id="17" name="Text 14"/>
          <p:cNvSpPr txBox="1"/>
          <p:nvPr/>
        </p:nvSpPr>
        <p:spPr>
          <a:xfrm>
            <a:off x="4800600" y="2834640"/>
            <a:ext cx="393192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deep-out-of-the-money option is very unlikely to be exercised and shows far less price sensitivity for the same move in the underlying. Its exercise value is zero, so what you are buying is entirely time value.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Cheap per contract, and most of it expires worthless. That is not a flaw — it is the price of a tail hedge.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No-arbitrage bounds pin every option: Max(0, S − PV(X)) &lt; c ≤ S, and Max(0, PV(X) − S) &lt; p ≤ X</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§6 "Arbitrage", Equations 9–14 and Example 4, printed pp. 181–182.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Price a call above S and I buy the stock and sell the call for free money. Price it below its exercise value and I do the reverse.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Max(0, St − PV(X))  &lt;  ct  ≤  St</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Max(0, PV(X) − St)  &lt;  pt  ≤  X</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Upper bound: a call buyer will not pay more for the right to buy than the asset itself; a put can never be worth more than the strike it delivers.</a:t>
            </a:r>
            <a:endParaRPr lang="en-US" sz="1100" dirty="0"/>
          </a:p>
        </p:txBody>
      </p:sp>
      <p:sp>
        <p:nvSpPr>
          <p:cNvPr id="12" name="Shape 10"/>
          <p:cNvSpPr/>
          <p:nvPr/>
        </p:nvSpPr>
        <p:spPr>
          <a:xfrm>
            <a:off x="320040" y="2194560"/>
            <a:ext cx="8503920" cy="2103120"/>
          </a:xfrm>
          <a:prstGeom prst="rect">
            <a:avLst/>
          </a:prstGeom>
          <a:solidFill>
            <a:srgbClr val="FEF0E7"/>
          </a:solidFill>
          <a:ln w="9525">
            <a:solidFill>
              <a:srgbClr val="E8600A"/>
            </a:solidFill>
            <a:prstDash val="solid"/>
          </a:ln>
        </p:spPr>
      </p:sp>
      <p:sp>
        <p:nvSpPr>
          <p:cNvPr id="13" name="Text 11"/>
          <p:cNvSpPr txBox="1"/>
          <p:nvPr/>
        </p:nvSpPr>
        <p:spPr>
          <a:xfrm>
            <a:off x="457200" y="22402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8 EXAMPLE 4 — CALL BOUNDS SIX MONTHS INTO A ONE-YEAR CONTRACT</a:t>
            </a:r>
            <a:endParaRPr lang="en-US" sz="1100" dirty="0"/>
          </a:p>
        </p:txBody>
      </p:sp>
      <p:sp>
        <p:nvSpPr>
          <p:cNvPr id="14" name="Text 12"/>
          <p:cNvSpPr txBox="1"/>
          <p:nvPr/>
        </p:nvSpPr>
        <p:spPr>
          <a:xfrm>
            <a:off x="457200" y="25328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one-year European call, X = EUR 1,000. At t = 0 the asset trades at S₀ = EUR 990 and r = 1%. Six months later (T − t = 0.5) the spot has risen to St = EUR 1,050.</a:t>
            </a:r>
            <a:endParaRPr lang="en-US" sz="1200" dirty="0"/>
          </a:p>
        </p:txBody>
      </p:sp>
      <p:sp>
        <p:nvSpPr>
          <p:cNvPr id="15" name="Text 13"/>
          <p:cNvSpPr txBox="1"/>
          <p:nvPr/>
        </p:nvSpPr>
        <p:spPr>
          <a:xfrm>
            <a:off x="457200" y="3044952"/>
            <a:ext cx="8229600" cy="74066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PV(X) over the remaining half-year: 1,000 × 1.01⁻⁰·⁵ = EUR 995.04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Lower bound = Max(0, St − PV(X)) = Max(0, 1,050 − 995.04) = EUR 54.96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Upper bound = St = EUR 1,050</a:t>
            </a:r>
            <a:endParaRPr lang="en-US" sz="11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54.96 &lt; ct ≤ 1,050. Quote below 54.96 and the call trades under its own exercise value.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Six factors move option value; volatility and time move calls and puts the same way, the other four move them apart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Longer expiry can LOWER a deep-in-the-money put when the risk-free rate is high (LM 8, printed p. 188).
</a:t>
            </a:r>
            <a:pPr indent="0" marL="0">
              <a:buNone/>
            </a:pPr>
            <a:r>
              <a:rPr lang="en-US" sz="1000" dirty="0">
                <a:solidFill>
                  <a:srgbClr val="6B7A8D"/>
                </a:solidFill>
                <a:latin typeface="Calibri" pitchFamily="34" charset="0"/>
                <a:ea typeface="Calibri" pitchFamily="34" charset="-122"/>
                <a:cs typeface="Calibri" pitchFamily="34" charset="-120"/>
              </a:rPr>
              <a:t>² Income lowers a call and raises a put; a carry cost such as storage or insurance does the reverse.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8, §8 "Factors Affecting Option Value", Exhibits 6–9, printed pp. 186–189.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Memorise this table once. Level I tests a sign-flip from it every sitting — usually the risk-free rate or the income row.</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108960"/>
                <a:gridCol w="1188720"/>
                <a:gridCol w="118872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Factor (an increase in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Call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One-line intuition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Value of the underlying (S)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Calls gain, puts lose as S 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Exercise price (X)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X is cheap to buy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Time to expiration (T)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Wider outcome range; put caveat¹</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Risk-free interest rate (r)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r ⇒ lower PV(X)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Volatility of the underlying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One-sided payoff likes fat tails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Income / cost of owning 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Income goes to the holder, not you²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246120"/>
            <a:ext cx="8503920" cy="960120"/>
          </a:xfrm>
          <a:prstGeom prst="rect">
            <a:avLst/>
          </a:prstGeom>
          <a:solidFill>
            <a:srgbClr val="FEF0E7"/>
          </a:solidFill>
          <a:ln/>
        </p:spPr>
      </p:sp>
      <p:sp>
        <p:nvSpPr>
          <p:cNvPr id="12" name="Shape 9"/>
          <p:cNvSpPr/>
          <p:nvPr/>
        </p:nvSpPr>
        <p:spPr>
          <a:xfrm>
            <a:off x="320040" y="3246120"/>
            <a:ext cx="73152" cy="960120"/>
          </a:xfrm>
          <a:prstGeom prst="rect">
            <a:avLst/>
          </a:prstGeom>
          <a:solidFill>
            <a:srgbClr val="E8600A"/>
          </a:solidFill>
          <a:ln/>
        </p:spPr>
      </p:sp>
      <p:sp>
        <p:nvSpPr>
          <p:cNvPr id="13" name="Text 10"/>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PAIRING THE EXAM TESTS</a:t>
            </a:r>
            <a:endParaRPr lang="en-US" sz="1100" dirty="0"/>
          </a:p>
        </p:txBody>
      </p:sp>
      <p:sp>
        <p:nvSpPr>
          <p:cNvPr id="14" name="Text 11"/>
          <p:cNvSpPr txBox="1"/>
          <p:nvPr/>
        </p:nvSpPr>
        <p:spPr>
          <a:xfrm>
            <a:off x="457200" y="356616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factors move calls and puts in the SAME direction: volatility (always) and time to expiration (usually — the exception is a deep-ITM put at a high rate). The other four — underlying, exercise price, risk-free rate and income/carry — move them in OPPOSITE directions.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Put-call parity</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18 of 20  ·  Studio Tonton Gug</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protective put and a fiduciary call pay the same in every state — so no-arbitrage forces S₀ + p₀ = c₀ + PV(X)</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§2 "Put–Call Parity", Exhibits 1–4, printed pp. 200–202.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portfolios that pay the same thing in every state of the world must cost the same today. That is the entire proof.</a:t>
            </a:r>
            <a:endParaRPr lang="en-US" sz="1300" dirty="0"/>
          </a:p>
        </p:txBody>
      </p:sp>
      <p:sp>
        <p:nvSpPr>
          <p:cNvPr id="9" name="Shape 7"/>
          <p:cNvSpPr/>
          <p:nvPr/>
        </p:nvSpPr>
        <p:spPr>
          <a:xfrm>
            <a:off x="320040" y="1143000"/>
            <a:ext cx="8503920" cy="658368"/>
          </a:xfrm>
          <a:prstGeom prst="rect">
            <a:avLst/>
          </a:prstGeom>
          <a:solidFill>
            <a:srgbClr val="1B2A4A"/>
          </a:solidFill>
          <a:ln/>
        </p:spPr>
      </p:sp>
      <p:sp>
        <p:nvSpPr>
          <p:cNvPr id="10" name="Text 8"/>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Protective put:  S₀ + p₀   ≡</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Fiduciary call:  c₀ + X(1 + r)⁻ᵀ</a:t>
            </a:r>
            <a:endParaRPr lang="en-US" sz="1800" dirty="0"/>
          </a:p>
        </p:txBody>
      </p:sp>
      <p:sp>
        <p:nvSpPr>
          <p:cNvPr id="11" name="Text 9"/>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European options only, same X, same T, no income on the underlying, one risk-free rate r. A fiduciary call is a purchased call plus a bond paying X at 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2194560"/>
          <a:ext cx="8503920" cy="914400"/>
        </p:xfrm>
        <a:graphic>
          <a:graphicData uri="http://schemas.openxmlformats.org/drawingml/2006/table">
            <a:tbl>
              <a:tblPr/>
              <a:tblGrid>
                <a:gridCol w="3017520"/>
                <a:gridCol w="1828800"/>
                <a:gridCol w="182880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Portfolio value at t = 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&lt;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&gt;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Protective put: S₀ + p₀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 − 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+ 0 =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Fiduciary call: c₀ + PV(X)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X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 =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 + X = 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Difference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No-arbitrage ⇒ equal cost now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S + p = c + PV(X)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(parity)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3" name="Shape 10"/>
          <p:cNvSpPr/>
          <p:nvPr/>
        </p:nvSpPr>
        <p:spPr>
          <a:xfrm>
            <a:off x="320040" y="3703320"/>
            <a:ext cx="8503920" cy="530352"/>
          </a:xfrm>
          <a:prstGeom prst="rect">
            <a:avLst/>
          </a:prstGeom>
          <a:solidFill>
            <a:srgbClr val="FEF0E7"/>
          </a:solidFill>
          <a:ln/>
        </p:spPr>
      </p:sp>
      <p:sp>
        <p:nvSpPr>
          <p:cNvPr id="14" name="Shape 11"/>
          <p:cNvSpPr/>
          <p:nvPr/>
        </p:nvSpPr>
        <p:spPr>
          <a:xfrm>
            <a:off x="320040" y="3703320"/>
            <a:ext cx="73152" cy="530352"/>
          </a:xfrm>
          <a:prstGeom prst="rect">
            <a:avLst/>
          </a:prstGeom>
          <a:solidFill>
            <a:srgbClr val="E8600A"/>
          </a:solidFill>
          <a:ln/>
        </p:spPr>
      </p:sp>
      <p:sp>
        <p:nvSpPr>
          <p:cNvPr id="15" name="Text 12"/>
          <p:cNvSpPr txBox="1"/>
          <p:nvPr/>
        </p:nvSpPr>
        <p:spPr>
          <a:xfrm>
            <a:off x="457200" y="3776472"/>
            <a:ext cx="8275320" cy="42062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Same payoff in every state ⇒ same price today. No distribution, no probabilities, no model — this result is pure arbitrage.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 9 Example 1 prices a put straight off a traded call — parity is a pricing engine, not just an identity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§2 Example 1 "Biomian Put–Call Parity", printed p. 202.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Whenever a liquid call and an illiquid put share a name, a strike and a date, parity gives the put its mark — instantly.</a:t>
            </a:r>
            <a:endParaRPr lang="en-US" sz="1300" dirty="0"/>
          </a:p>
        </p:txBody>
      </p:sp>
      <p:sp>
        <p:nvSpPr>
          <p:cNvPr id="9" name="Shape 7"/>
          <p:cNvSpPr/>
          <p:nvPr/>
        </p:nvSpPr>
        <p:spPr>
          <a:xfrm>
            <a:off x="320040" y="1143000"/>
            <a:ext cx="8503920" cy="566928"/>
          </a:xfrm>
          <a:prstGeom prst="rect">
            <a:avLst/>
          </a:prstGeom>
          <a:solidFill>
            <a:srgbClr val="1B2A4A"/>
          </a:solidFill>
          <a:ln/>
        </p:spPr>
      </p:sp>
      <p:sp>
        <p:nvSpPr>
          <p:cNvPr id="10" name="Text 8"/>
          <p:cNvSpPr txBox="1"/>
          <p:nvPr/>
        </p:nvSpPr>
        <p:spPr>
          <a:xfrm>
            <a:off x="411480" y="114300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p₀  =  c₀  +  X(1 + r)⁻ᵀ  −  S₀</a:t>
            </a:r>
            <a:endParaRPr lang="en-US" sz="1800" dirty="0"/>
          </a:p>
        </p:txBody>
      </p:sp>
      <p:sp>
        <p:nvSpPr>
          <p:cNvPr id="11" name="Shape 9"/>
          <p:cNvSpPr/>
          <p:nvPr/>
        </p:nvSpPr>
        <p:spPr>
          <a:xfrm>
            <a:off x="320040" y="1828800"/>
            <a:ext cx="8503920" cy="2468880"/>
          </a:xfrm>
          <a:prstGeom prst="rect">
            <a:avLst/>
          </a:prstGeom>
          <a:solidFill>
            <a:srgbClr val="FEF0E7"/>
          </a:solidFill>
          <a:ln w="9525">
            <a:solidFill>
              <a:srgbClr val="E8600A"/>
            </a:solidFill>
            <a:prstDash val="solid"/>
          </a:ln>
        </p:spPr>
      </p:sp>
      <p:sp>
        <p:nvSpPr>
          <p:cNvPr id="12" name="Text 10"/>
          <p:cNvSpPr txBox="1"/>
          <p:nvPr/>
        </p:nvSpPr>
        <p:spPr>
          <a:xfrm>
            <a:off x="457200" y="18745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BIOMIAN — A SIX-MONTH PUT FROM A TRADED CALL</a:t>
            </a:r>
            <a:endParaRPr lang="en-US" sz="1100" dirty="0"/>
          </a:p>
        </p:txBody>
      </p:sp>
      <p:sp>
        <p:nvSpPr>
          <p:cNvPr id="13" name="Text 11"/>
          <p:cNvSpPr txBox="1"/>
          <p:nvPr/>
        </p:nvSpPr>
        <p:spPr>
          <a:xfrm>
            <a:off x="457200" y="21671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Biomian shares at S₀ = INR 295, no dividends. An observed six-month European call at X = INR 265 trades at c₀ = INR 59. r = 4%, T = 0.5.</a:t>
            </a:r>
            <a:endParaRPr lang="en-US" sz="1200" dirty="0"/>
          </a:p>
        </p:txBody>
      </p:sp>
      <p:sp>
        <p:nvSpPr>
          <p:cNvPr id="14" name="Text 12"/>
          <p:cNvSpPr txBox="1"/>
          <p:nvPr/>
        </p:nvSpPr>
        <p:spPr>
          <a:xfrm>
            <a:off x="457200" y="2679192"/>
            <a:ext cx="8229600" cy="11064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PV of the strike: X(1 + r)⁻ᵀ = 265 × 1.04⁻⁰·⁵ = 265 / 1.0198 = INR 259.85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Rearrange parity to isolate the put: p₀ = c₀ + PV(X) − S₀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p₀ = 59 + 259.85 − 295 = 318.85 − 295 = INR 23.85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Cross-check both sides: S₀ + p₀ = 318.85 and c₀ + PV(X) = 318.85 ✓</a:t>
            </a:r>
            <a:endParaRPr lang="en-US" sz="120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No-arbitrage six-month put premium = INR 23.85, computed without any model of Biomian.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 9 Example 2 locks in a riskless INR 6.15 a share when the traded put is richer than parity allows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§2 Example 2 "VFO Put–Call Parity Arbitrage Opportunity", printed p. 203.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S₀ + p₀ = 325 but c₀ + PV(X) = 318.85. Sell the expensive portfolio, buy the cheap one, and the difference is yours today.</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097280"/>
          <a:ext cx="8503920" cy="914400"/>
        </p:xfrm>
        <a:graphic>
          <a:graphicData uri="http://schemas.openxmlformats.org/drawingml/2006/table">
            <a:tbl>
              <a:tblPr/>
              <a:tblGrid>
                <a:gridCol w="3291840"/>
                <a:gridCol w="1463040"/>
                <a:gridCol w="1188720"/>
                <a:gridCol w="118872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Leg at t = 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at t = 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&lt;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 &gt; 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Sell the underlying at S₀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+295.00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Sell the put at its rich price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Buy the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−59.00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 −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Buy a bond that pays X at 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−259.85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NET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+6.15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2926080"/>
            <a:ext cx="8503920" cy="1371600"/>
          </a:xfrm>
          <a:prstGeom prst="rect">
            <a:avLst/>
          </a:prstGeom>
          <a:solidFill>
            <a:srgbClr val="FEF0E7"/>
          </a:solidFill>
          <a:ln/>
        </p:spPr>
      </p:sp>
      <p:sp>
        <p:nvSpPr>
          <p:cNvPr id="11" name="Shape 8"/>
          <p:cNvSpPr/>
          <p:nvPr/>
        </p:nvSpPr>
        <p:spPr>
          <a:xfrm>
            <a:off x="320040" y="2926080"/>
            <a:ext cx="73152" cy="137160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GRID</a:t>
            </a:r>
            <a:endParaRPr lang="en-US" sz="1100" dirty="0"/>
          </a:p>
        </p:txBody>
      </p:sp>
      <p:sp>
        <p:nvSpPr>
          <p:cNvPr id="13" name="Text 10"/>
          <p:cNvSpPr txBox="1"/>
          <p:nvPr/>
        </p:nvSpPr>
        <p:spPr>
          <a:xfrm>
            <a:off x="457200" y="3246120"/>
            <a:ext cx="82753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At t = 0 the investor banks INR 6.15 in cash. At t = T, in every single ending price ST, the four legs net to exactly zero — no residual exposure of any kind, in any state.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Positive cash today, zero risk tomorrow: that is the textbook definition of a riskless arbitrage. Note the profit is exactly the mispricing, 30.00 − 23.85 = 6.15, and it is banked immediately, not at expiry.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Parity rearranges into a synthetic cookbook — each of the four positions is replicable from the other three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§3 Exhibit 6 "Replication of Individual Positions under Put–Call Parity", printed p. 205.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Read a row: to build the position on the left, take the combination on the right. Every row is one rearrangement of S + p = c + PV(X).</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3474720"/>
                <a:gridCol w="1280160"/>
                <a:gridCol w="1554480"/>
                <a:gridCol w="109728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Position to build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Underlying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Risk-free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Call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Underlying (S₀)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Risk-free bond (PV(X))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Call option (c₀)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Put option (p₀)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697480"/>
            <a:ext cx="8503920" cy="1600200"/>
          </a:xfrm>
          <a:prstGeom prst="rect">
            <a:avLst/>
          </a:prstGeom>
          <a:solidFill>
            <a:srgbClr val="FEF0E7"/>
          </a:solidFill>
          <a:ln/>
        </p:spPr>
      </p:sp>
      <p:sp>
        <p:nvSpPr>
          <p:cNvPr id="11" name="Shape 8"/>
          <p:cNvSpPr/>
          <p:nvPr/>
        </p:nvSpPr>
        <p:spPr>
          <a:xfrm>
            <a:off x="320040" y="2697480"/>
            <a:ext cx="73152" cy="1600200"/>
          </a:xfrm>
          <a:prstGeom prst="rect">
            <a:avLst/>
          </a:prstGeom>
          <a:solidFill>
            <a:srgbClr val="E8600A"/>
          </a:solidFill>
          <a:ln/>
        </p:spPr>
      </p:sp>
      <p:sp>
        <p:nvSpPr>
          <p:cNvPr id="12" name="Text 9"/>
          <p:cNvSpPr txBox="1"/>
          <p:nvPr/>
        </p:nvSpPr>
        <p:spPr>
          <a:xfrm>
            <a:off x="457200" y="27432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HOW TO REBUILD THIS TABLE INSTEAD OF MEMORISING IT</a:t>
            </a:r>
            <a:endParaRPr lang="en-US" sz="1100" dirty="0"/>
          </a:p>
        </p:txBody>
      </p:sp>
      <p:sp>
        <p:nvSpPr>
          <p:cNvPr id="13" name="Text 10"/>
          <p:cNvSpPr txBox="1"/>
          <p:nvPr/>
        </p:nvSpPr>
        <p:spPr>
          <a:xfrm>
            <a:off x="457200" y="3017520"/>
            <a:ext cx="8275320" cy="12344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Start from S₀ + p₀ = c₀ + PV(X) and move one term at a time.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Solve for S₀:  S₀ = c₀ − p₀ + PV(X)  →  long call, short put, long bond. Row 1.</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Solve for PV(X):  PV(X) = S₀ − c₀ + p₀  →  long underlying, short call, long put. Row 2.</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Solve for c₀:  c₀ = S₀ + p₀ − PV(X)  →  long underlying, long put, short bond. Row 3.</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Solve for p₀:  p₀ = c₀ + PV(X) − S₀  →  long call, long bond, short underlying. Row 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synthetic long stock is long call − short put + PV(X) in cash — same payoff, same cost, no share ever bought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§3 Equation 2 and Exhibit 6, printed pp. 204–205.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Useful when the cash share is awkward to hold: expensive to borrow, capital-heavy, or restricted. The replicating portfolio bypasses the register.</a:t>
            </a:r>
            <a:endParaRPr lang="en-US" sz="1300" dirty="0"/>
          </a:p>
        </p:txBody>
      </p:sp>
      <p:sp>
        <p:nvSpPr>
          <p:cNvPr id="9" name="Shape 7"/>
          <p:cNvSpPr/>
          <p:nvPr/>
        </p:nvSpPr>
        <p:spPr>
          <a:xfrm>
            <a:off x="320040" y="1143000"/>
            <a:ext cx="8503920" cy="658368"/>
          </a:xfrm>
          <a:prstGeom prst="rect">
            <a:avLst/>
          </a:prstGeom>
          <a:solidFill>
            <a:srgbClr val="1B2A4A"/>
          </a:solidFill>
          <a:ln/>
        </p:spPr>
      </p:sp>
      <p:sp>
        <p:nvSpPr>
          <p:cNvPr id="10" name="Text 8"/>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S₀  =  c₀  −  p₀  +  X(1 + r)⁻ᵀ</a:t>
            </a:r>
            <a:endParaRPr lang="en-US" sz="1800" dirty="0"/>
          </a:p>
        </p:txBody>
      </p:sp>
      <p:sp>
        <p:nvSpPr>
          <p:cNvPr id="11" name="Shape 9"/>
          <p:cNvSpPr/>
          <p:nvPr/>
        </p:nvSpPr>
        <p:spPr>
          <a:xfrm>
            <a:off x="320040" y="1920240"/>
            <a:ext cx="8503920" cy="2377440"/>
          </a:xfrm>
          <a:prstGeom prst="rect">
            <a:avLst/>
          </a:prstGeom>
          <a:solidFill>
            <a:srgbClr val="FEF0E7"/>
          </a:solidFill>
          <a:ln w="9525">
            <a:solidFill>
              <a:srgbClr val="E8600A"/>
            </a:solidFill>
            <a:prstDash val="solid"/>
          </a:ln>
        </p:spPr>
      </p:sp>
      <p:sp>
        <p:nvSpPr>
          <p:cNvPr id="12" name="Text 10"/>
          <p:cNvSpPr txBox="1"/>
          <p:nvPr/>
        </p:nvSpPr>
        <p:spPr>
          <a:xfrm>
            <a:off x="457200" y="19659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SYNTHETIC LONG STOCK — THE BIOMIAN NUMBERS</a:t>
            </a:r>
            <a:endParaRPr lang="en-US" sz="1100" dirty="0"/>
          </a:p>
        </p:txBody>
      </p:sp>
      <p:sp>
        <p:nvSpPr>
          <p:cNvPr id="13" name="Text 11"/>
          <p:cNvSpPr txBox="1"/>
          <p:nvPr/>
        </p:nvSpPr>
        <p:spPr>
          <a:xfrm>
            <a:off x="457200" y="22585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same trade as before: six-month options at X = INR 265, c₀ = 59, p₀ = 23.85, r = 4%, S₀ = INR 295.</a:t>
            </a:r>
            <a:endParaRPr lang="en-US" sz="1200" dirty="0"/>
          </a:p>
        </p:txBody>
      </p:sp>
      <p:sp>
        <p:nvSpPr>
          <p:cNvPr id="14" name="Text 12"/>
          <p:cNvSpPr txBox="1"/>
          <p:nvPr/>
        </p:nvSpPr>
        <p:spPr>
          <a:xfrm>
            <a:off x="457200" y="277063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Buy the call:  −INR 59.00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Sell the put:  +INR 23.85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Buy a zero-coupon bond paying X = 265 at T:  −INR 259.85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Net outlay = 59 − 23.85 + 259.85 = INR 295.00 — exactly S₀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At T either branch nets ST: (ST − 265) or −(265 − ST), plus the bond’s 265</a:t>
            </a:r>
            <a:endParaRPr lang="en-US" sz="115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Costs S₀ = 295 today, pays ST at expiry — indistinguishable from the cash share.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Put-call forward parity swaps S₀ for the PV of the forward — the version you use when the cash asset is hard to hold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§5 "Put–Call Forward Parity", Equation 3, Exhibits 7–8 and Example 4, printed pp. 207–209.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 commodities, currencies and shares with awkward carry, traders price options off the forward rather than the spot.</a:t>
            </a:r>
            <a:endParaRPr lang="en-US" sz="1300" dirty="0"/>
          </a:p>
        </p:txBody>
      </p:sp>
      <p:sp>
        <p:nvSpPr>
          <p:cNvPr id="9" name="Shape 7"/>
          <p:cNvSpPr/>
          <p:nvPr/>
        </p:nvSpPr>
        <p:spPr>
          <a:xfrm>
            <a:off x="320040" y="1143000"/>
            <a:ext cx="8503920" cy="658368"/>
          </a:xfrm>
          <a:prstGeom prst="rect">
            <a:avLst/>
          </a:prstGeom>
          <a:solidFill>
            <a:srgbClr val="1B2A4A"/>
          </a:solidFill>
          <a:ln/>
        </p:spPr>
      </p:sp>
      <p:sp>
        <p:nvSpPr>
          <p:cNvPr id="10" name="Text 8"/>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F₀(T)(1+r)⁻ᵀ + p₀  =  c₀ + X(1+r)⁻ᵀ</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   p₀ − c₀  =  [X − F₀(T)](1+r)⁻ᵀ</a:t>
            </a:r>
            <a:endParaRPr lang="en-US" sz="1800" dirty="0"/>
          </a:p>
        </p:txBody>
      </p:sp>
      <p:sp>
        <p:nvSpPr>
          <p:cNvPr id="11" name="Text 9"/>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 forward purchase plus a bond of face F₀(T) replicates the underlying. When F₀(T) = X the right side is zero, so p₀ = c₀ — the at-the-money-forward equivalence.</a:t>
            </a:r>
            <a:endParaRPr lang="en-US" sz="1100" dirty="0"/>
          </a:p>
        </p:txBody>
      </p:sp>
      <p:sp>
        <p:nvSpPr>
          <p:cNvPr id="12" name="Shape 10"/>
          <p:cNvSpPr/>
          <p:nvPr/>
        </p:nvSpPr>
        <p:spPr>
          <a:xfrm>
            <a:off x="320040" y="2148840"/>
            <a:ext cx="8503920" cy="2148840"/>
          </a:xfrm>
          <a:prstGeom prst="rect">
            <a:avLst/>
          </a:prstGeom>
          <a:solidFill>
            <a:srgbClr val="FEF0E7"/>
          </a:solidFill>
          <a:ln w="9525">
            <a:solidFill>
              <a:srgbClr val="E8600A"/>
            </a:solidFill>
            <a:prstDash val="solid"/>
          </a:ln>
        </p:spPr>
      </p:sp>
      <p:sp>
        <p:nvSpPr>
          <p:cNvPr id="13" name="Text 11"/>
          <p:cNvSpPr txBox="1"/>
          <p:nvPr/>
        </p:nvSpPr>
        <p:spPr>
          <a:xfrm>
            <a:off x="457200" y="21945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9 EXAMPLE 4 — VFO PUT–CALL FORWARD PARITY</a:t>
            </a:r>
            <a:endParaRPr lang="en-US" sz="1100" dirty="0"/>
          </a:p>
        </p:txBody>
      </p:sp>
      <p:sp>
        <p:nvSpPr>
          <p:cNvPr id="14" name="Text 12"/>
          <p:cNvSpPr txBox="1"/>
          <p:nvPr/>
        </p:nvSpPr>
        <p:spPr>
          <a:xfrm>
            <a:off x="457200" y="24871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same Biomian trade priced off the forward: S₀ = 295, r = 4%, T = 0.5, so F₀(T) = 295 × 1.04⁰·⁵ = INR 300.84. Still X = 265 and c₀ = INR 59.</a:t>
            </a:r>
            <a:endParaRPr lang="en-US" sz="1200" dirty="0"/>
          </a:p>
        </p:txBody>
      </p:sp>
      <p:sp>
        <p:nvSpPr>
          <p:cNvPr id="15" name="Text 13"/>
          <p:cNvSpPr txBox="1"/>
          <p:nvPr/>
        </p:nvSpPr>
        <p:spPr>
          <a:xfrm>
            <a:off x="457200" y="2999232"/>
            <a:ext cx="8229600" cy="78638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Rearranged forward parity: p₀ − c₀ = [X − F₀(T)](1 + r)⁻ᵀ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p₀ − 59 = (265 − 300.84) × 1.04⁻⁰·⁵ = −35.84 / 1.0198 = −35.14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p₀ = 59 − 35.14 = INR 23.86</a:t>
            </a:r>
            <a:endParaRPr lang="en-US" sz="120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INR 23.86 — the same put, to a rounding penny. Spot parity and forward parity are one equation.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Parity prices a levered firm: equity is a call on the assets, risky debt is a risk-free bond plus a sold put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9, §6 "Option Put–Call Parity Applications: Firm Value", Exhibit 9 and Equation 5, printed pp. 209–211.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V₀ + p₀ = c₀ + PV(D), so V₀ = c₀ + PV(D) − p₀. Substitute firm value for the underlying and debt face for the strike — parity does the rest.</a:t>
            </a:r>
            <a:endParaRPr lang="en-US" sz="1300" dirty="0"/>
          </a:p>
        </p:txBody>
      </p:sp>
      <p:sp>
        <p:nvSpPr>
          <p:cNvPr id="9" name="Shape 7"/>
          <p:cNvSpPr/>
          <p:nvPr/>
        </p:nvSpPr>
        <p:spPr>
          <a:xfrm>
            <a:off x="320040" y="1143000"/>
            <a:ext cx="4160520" cy="3154680"/>
          </a:xfrm>
          <a:prstGeom prst="rect">
            <a:avLst/>
          </a:prstGeom>
          <a:solidFill>
            <a:srgbClr val="FEF0E7"/>
          </a:solidFill>
          <a:ln/>
        </p:spPr>
      </p:sp>
      <p:sp>
        <p:nvSpPr>
          <p:cNvPr id="10" name="Shape 8"/>
          <p:cNvSpPr/>
          <p:nvPr/>
        </p:nvSpPr>
        <p:spPr>
          <a:xfrm>
            <a:off x="320040" y="1143000"/>
            <a:ext cx="73152" cy="3154680"/>
          </a:xfrm>
          <a:prstGeom prst="rect">
            <a:avLst/>
          </a:prstGeom>
          <a:solidFill>
            <a:srgbClr val="E8600A"/>
          </a:solidFill>
          <a:ln/>
        </p:spPr>
      </p:sp>
      <p:sp>
        <p:nvSpPr>
          <p:cNvPr id="11" name="Text 9"/>
          <p:cNvSpPr txBox="1"/>
          <p:nvPr/>
        </p:nvSpPr>
        <p:spPr>
          <a:xfrm>
            <a:off x="4572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EQUITYHOLDERS</a:t>
            </a:r>
            <a:endParaRPr lang="en-US" sz="1100" dirty="0"/>
          </a:p>
        </p:txBody>
      </p:sp>
      <p:sp>
        <p:nvSpPr>
          <p:cNvPr id="12" name="Text 10"/>
          <p:cNvSpPr txBox="1"/>
          <p:nvPr/>
        </p:nvSpPr>
        <p:spPr>
          <a:xfrm>
            <a:off x="502920" y="1600200"/>
            <a:ext cx="3794760" cy="260604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Payoff at T:  Max(0, VT − D)</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long firm assets + a LONG put struck at D</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a LONG CALL on firm value, strike D</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Unlimited upside — the residual claim</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Downside stops at zero: limited liability IS the put</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Both new projects and more volatility raise the call, which is the risk-shifting incentive in one line</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The put shareholders hold is written by the lenders. That single transfer is what leverage really is</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Raise leverage and the call moves closer to the money — good for equity, paid for by the other panel</a:t>
            </a:r>
            <a:endParaRPr lang="en-US" sz="1150" dirty="0"/>
          </a:p>
        </p:txBody>
      </p:sp>
      <p:sp>
        <p:nvSpPr>
          <p:cNvPr id="13" name="Shape 11"/>
          <p:cNvSpPr/>
          <p:nvPr/>
        </p:nvSpPr>
        <p:spPr>
          <a:xfrm>
            <a:off x="4663440" y="1143000"/>
            <a:ext cx="4160520" cy="3154680"/>
          </a:xfrm>
          <a:prstGeom prst="rect">
            <a:avLst/>
          </a:prstGeom>
          <a:solidFill>
            <a:srgbClr val="F5F7FA"/>
          </a:solidFill>
          <a:ln/>
        </p:spPr>
      </p:sp>
      <p:sp>
        <p:nvSpPr>
          <p:cNvPr id="14" name="Shape 12"/>
          <p:cNvSpPr/>
          <p:nvPr/>
        </p:nvSpPr>
        <p:spPr>
          <a:xfrm>
            <a:off x="4663440" y="1143000"/>
            <a:ext cx="73152" cy="3154680"/>
          </a:xfrm>
          <a:prstGeom prst="rect">
            <a:avLst/>
          </a:prstGeom>
          <a:solidFill>
            <a:srgbClr val="1B2A4A"/>
          </a:solidFill>
          <a:ln/>
        </p:spPr>
      </p:sp>
      <p:sp>
        <p:nvSpPr>
          <p:cNvPr id="15" name="Text 13"/>
          <p:cNvSpPr txBox="1"/>
          <p:nvPr/>
        </p:nvSpPr>
        <p:spPr>
          <a:xfrm>
            <a:off x="48006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DEBTHOLDERS</a:t>
            </a:r>
            <a:endParaRPr lang="en-US" sz="1100" dirty="0"/>
          </a:p>
        </p:txBody>
      </p:sp>
      <p:sp>
        <p:nvSpPr>
          <p:cNvPr id="16" name="Text 14"/>
          <p:cNvSpPr txBox="1"/>
          <p:nvPr/>
        </p:nvSpPr>
        <p:spPr>
          <a:xfrm>
            <a:off x="4846320" y="1600200"/>
            <a:ext cx="3794760" cy="260604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Payoff at T:  Min(VT, D) = D − Max(0, D − VT)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long risk-free bond of face D + a SHORT put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Upside capped at D — you can only be repaid</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Downside below D on default: that is the sold put</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The credit spread IS the premium on that put, and it widens with the volatility of firm value</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Recovery in default is VT, not D. The gap is the sold put paying out</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Subordinating the debt does not change the argument — it only moves the strike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One-period binomial</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18 of 20  ·  Studio Tonton Gug</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Options need a model of the future because the payoff is kinked — the binomial tree is the simplest honest one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10, §2 "Binomial Valuation" and §3 "The Binomial Model", Equations 1–2 and Exhibit 1, printed pp. 221–223.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forward payoff is linear, so it replicates without any view of the future. An option payoff bends at X, and that bend forces a model.</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S₁ᵘ = Rᵤ · S₀        S₁ᵈ = R_d · S₀        (Rᵤ &gt; 1 &gt; R_d)</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Rᵤ and R_d are gross returns. q is the real-world probability of an up move — it is never needed. The SPREAD Rᵤ − R_d is what carries the volatility assumption.</a:t>
            </a:r>
            <a:endParaRPr lang="en-US" sz="1100" dirty="0"/>
          </a:p>
        </p:txBody>
      </p:sp>
      <p:sp>
        <p:nvSpPr>
          <p:cNvPr id="12" name="Shape 10"/>
          <p:cNvSpPr/>
          <p:nvPr/>
        </p:nvSpPr>
        <p:spPr>
          <a:xfrm>
            <a:off x="320040" y="2286000"/>
            <a:ext cx="2743200" cy="2011680"/>
          </a:xfrm>
          <a:prstGeom prst="rect">
            <a:avLst/>
          </a:prstGeom>
          <a:solidFill>
            <a:srgbClr val="F5F7FA"/>
          </a:solidFill>
          <a:ln/>
        </p:spPr>
      </p:sp>
      <p:sp>
        <p:nvSpPr>
          <p:cNvPr id="13" name="Shape 11"/>
          <p:cNvSpPr/>
          <p:nvPr/>
        </p:nvSpPr>
        <p:spPr>
          <a:xfrm>
            <a:off x="320040" y="2286000"/>
            <a:ext cx="73152" cy="2011680"/>
          </a:xfrm>
          <a:prstGeom prst="rect">
            <a:avLst/>
          </a:prstGeom>
          <a:solidFill>
            <a:srgbClr val="1B2A4A"/>
          </a:solidFill>
          <a:ln/>
        </p:spPr>
      </p:sp>
      <p:sp>
        <p:nvSpPr>
          <p:cNvPr id="14" name="Text 12"/>
          <p:cNvSpPr txBox="1"/>
          <p:nvPr/>
        </p:nvSpPr>
        <p:spPr>
          <a:xfrm>
            <a:off x="45720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TWO OUTCOMES, NO MORE</a:t>
            </a:r>
            <a:endParaRPr lang="en-US" sz="1100" dirty="0"/>
          </a:p>
        </p:txBody>
      </p:sp>
      <p:sp>
        <p:nvSpPr>
          <p:cNvPr id="15" name="Text 13"/>
          <p:cNvSpPr txBox="1"/>
          <p:nvPr/>
        </p:nvSpPr>
        <p:spPr>
          <a:xfrm>
            <a:off x="457200" y="2606040"/>
            <a:ext cx="251460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Over one period the underlying goes to S₁ᵘ or S₁ᵈ. No third state. The curriculum calls it a Bernoulli trial. Everything else on the next four slides follows from arbitrage alone.</a:t>
            </a:r>
            <a:endParaRPr lang="en-US" sz="1200" dirty="0"/>
          </a:p>
        </p:txBody>
      </p:sp>
      <p:sp>
        <p:nvSpPr>
          <p:cNvPr id="16" name="Shape 14"/>
          <p:cNvSpPr/>
          <p:nvPr/>
        </p:nvSpPr>
        <p:spPr>
          <a:xfrm>
            <a:off x="3200400" y="2286000"/>
            <a:ext cx="2743200" cy="2011680"/>
          </a:xfrm>
          <a:prstGeom prst="rect">
            <a:avLst/>
          </a:prstGeom>
          <a:solidFill>
            <a:srgbClr val="FEF0E7"/>
          </a:solidFill>
          <a:ln/>
        </p:spPr>
      </p:sp>
      <p:sp>
        <p:nvSpPr>
          <p:cNvPr id="17" name="Shape 15"/>
          <p:cNvSpPr/>
          <p:nvPr/>
        </p:nvSpPr>
        <p:spPr>
          <a:xfrm>
            <a:off x="3200400" y="2286000"/>
            <a:ext cx="73152" cy="2011680"/>
          </a:xfrm>
          <a:prstGeom prst="rect">
            <a:avLst/>
          </a:prstGeom>
          <a:solidFill>
            <a:srgbClr val="E8600A"/>
          </a:solidFill>
          <a:ln/>
        </p:spPr>
      </p:sp>
      <p:sp>
        <p:nvSpPr>
          <p:cNvPr id="18" name="Text 16"/>
          <p:cNvSpPr txBox="1"/>
          <p:nvPr/>
        </p:nvSpPr>
        <p:spPr>
          <a:xfrm>
            <a:off x="333756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SPREAD = VOLATILITY</a:t>
            </a:r>
            <a:endParaRPr lang="en-US" sz="1100" dirty="0"/>
          </a:p>
        </p:txBody>
      </p:sp>
      <p:sp>
        <p:nvSpPr>
          <p:cNvPr id="19" name="Text 17"/>
          <p:cNvSpPr txBox="1"/>
          <p:nvPr/>
        </p:nvSpPr>
        <p:spPr>
          <a:xfrm>
            <a:off x="3337560" y="2606040"/>
            <a:ext cx="251460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Rᵤ − R_d is the model’s entire view of volatility. Widen it — raise Rᵤ, lower R_d, or both — and the range of possible payoffs widens, so BOTH the call and the put get more valuable.</a:t>
            </a:r>
            <a:endParaRPr lang="en-US" sz="1200" dirty="0"/>
          </a:p>
        </p:txBody>
      </p:sp>
      <p:sp>
        <p:nvSpPr>
          <p:cNvPr id="20" name="Shape 18"/>
          <p:cNvSpPr/>
          <p:nvPr/>
        </p:nvSpPr>
        <p:spPr>
          <a:xfrm>
            <a:off x="6080760" y="2286000"/>
            <a:ext cx="2743200" cy="2011680"/>
          </a:xfrm>
          <a:prstGeom prst="rect">
            <a:avLst/>
          </a:prstGeom>
          <a:solidFill>
            <a:srgbClr val="F5F7FA"/>
          </a:solidFill>
          <a:ln/>
        </p:spPr>
      </p:sp>
      <p:sp>
        <p:nvSpPr>
          <p:cNvPr id="21" name="Shape 19"/>
          <p:cNvSpPr/>
          <p:nvPr/>
        </p:nvSpPr>
        <p:spPr>
          <a:xfrm>
            <a:off x="6080760" y="2286000"/>
            <a:ext cx="73152" cy="2011680"/>
          </a:xfrm>
          <a:prstGeom prst="rect">
            <a:avLst/>
          </a:prstGeom>
          <a:solidFill>
            <a:srgbClr val="1B2A4A"/>
          </a:solidFill>
          <a:ln/>
        </p:spPr>
      </p:sp>
      <p:sp>
        <p:nvSpPr>
          <p:cNvPr id="22" name="Text 20"/>
          <p:cNvSpPr txBox="1"/>
          <p:nvPr/>
        </p:nvSpPr>
        <p:spPr>
          <a:xfrm>
            <a:off x="621792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ONE STEP → A TREE</a:t>
            </a:r>
            <a:endParaRPr lang="en-US" sz="1100" dirty="0"/>
          </a:p>
        </p:txBody>
      </p:sp>
      <p:sp>
        <p:nvSpPr>
          <p:cNvPr id="23" name="Text 21"/>
          <p:cNvSpPr txBox="1"/>
          <p:nvPr/>
        </p:nvSpPr>
        <p:spPr>
          <a:xfrm>
            <a:off x="6217920" y="2606040"/>
            <a:ext cx="251460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Chain N one-period steps and you have an N-period tree with N + 1 terminal nodes. The curriculum stops at one period at Level I, but the machinery is identical at every node.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Buy h shares against one short call and the portfolio stops caring which branch the tree takes</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10, §4 "Pricing a European Call Option", Equations 3–7 and Exhibits 2–3, printed pp. 223–226.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hedge ratio is the binomial-world delta: the exact share count that makes a long-stock / short-call portfolio worth the same in both states.</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h*  =  (c₁ᵘ − c₁ᵈ) / (S₁ᵘ − S₁ᵈ)</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V₁  =  h*S₁ᵘ − c₁ᵘ  =  h*S₁ᵈ − c₁ᵈ</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Choose h* so the portfolio is worth the same either way. It is then riskless, so it must earn r — which gives c₀ = h*S₀ − V₁(1 + r)⁻¹.</a:t>
            </a:r>
            <a:endParaRPr lang="en-US" sz="1100" dirty="0"/>
          </a:p>
        </p:txBody>
      </p:sp>
      <p:sp>
        <p:nvSpPr>
          <p:cNvPr id="12" name="Shape 10"/>
          <p:cNvSpPr/>
          <p:nvPr/>
        </p:nvSpPr>
        <p:spPr>
          <a:xfrm>
            <a:off x="320040" y="2286000"/>
            <a:ext cx="8503920" cy="2011680"/>
          </a:xfrm>
          <a:prstGeom prst="rect">
            <a:avLst/>
          </a:prstGeom>
          <a:solidFill>
            <a:srgbClr val="FEF0E7"/>
          </a:solidFill>
          <a:ln/>
        </p:spPr>
      </p:sp>
      <p:sp>
        <p:nvSpPr>
          <p:cNvPr id="13" name="Shape 11"/>
          <p:cNvSpPr/>
          <p:nvPr/>
        </p:nvSpPr>
        <p:spPr>
          <a:xfrm>
            <a:off x="320040" y="2286000"/>
            <a:ext cx="73152" cy="2011680"/>
          </a:xfrm>
          <a:prstGeom prst="rect">
            <a:avLst/>
          </a:prstGeom>
          <a:solidFill>
            <a:srgbClr val="E8600A"/>
          </a:solidFill>
          <a:ln/>
        </p:spPr>
      </p:sp>
      <p:sp>
        <p:nvSpPr>
          <p:cNvPr id="14" name="Text 12"/>
          <p:cNvSpPr txBox="1"/>
          <p:nvPr/>
        </p:nvSpPr>
        <p:spPr>
          <a:xfrm>
            <a:off x="457200" y="2331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FOUR-STEP RECIPE</a:t>
            </a:r>
            <a:endParaRPr lang="en-US" sz="1100" dirty="0"/>
          </a:p>
        </p:txBody>
      </p:sp>
      <p:sp>
        <p:nvSpPr>
          <p:cNvPr id="15" name="Text 13"/>
          <p:cNvSpPr txBox="1"/>
          <p:nvPr/>
        </p:nvSpPr>
        <p:spPr>
          <a:xfrm>
            <a:off x="457200" y="2606040"/>
            <a:ext cx="82753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Tree the underlying: S₁ᵘ = RᵤS₀ and S₁ᵈ = R_dS₀.</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Tree the option: c₁ᵘ = Max(0, S₁ᵘ − X) and c₁ᵈ = Max(0, S₁ᵈ − X). For a put, Max(0, X − S₁).</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Compute h* from the payoff ratio, then V₁ = h*S₁ᵘ − c₁ᵘ (or the down branch — equal by construction).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V₁ is certain, so discount it at r and solve c₀ = h*S₀ − V₁(1 + r)⁻¹.</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No probability appears anywhere. Only Rᵤ, R_d, r and the option payoff.</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For a PUT, h* comes out negative — the curriculum notes that you then buy the option AND buy the underlying, rather than one against the other.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 10: S₀ = 80, X = 100, up to 110 or down to 60, r = 5% — the delta hedge prices the call at EUR 4.57</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10, §4, Exhibits 2–3 and Equation 7, printed pp. 223–226.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Deliberately chosen numbers: the call is out of the money today (S₀ &lt; X) but in the money in the up state. Every step of the recipe fires.</a:t>
            </a:r>
            <a:endParaRPr lang="en-US" sz="1300" dirty="0"/>
          </a:p>
        </p:txBody>
      </p:sp>
      <p:sp>
        <p:nvSpPr>
          <p:cNvPr id="9" name="Shape 7"/>
          <p:cNvSpPr/>
          <p:nvPr/>
        </p:nvSpPr>
        <p:spPr>
          <a:xfrm>
            <a:off x="320040" y="1097280"/>
            <a:ext cx="8503920" cy="2514600"/>
          </a:xfrm>
          <a:prstGeom prst="rect">
            <a:avLst/>
          </a:prstGeom>
          <a:solidFill>
            <a:srgbClr val="FEF0E7"/>
          </a:solidFill>
          <a:ln w="9525">
            <a:solidFill>
              <a:srgbClr val="E8600A"/>
            </a:solidFill>
            <a:prstDash val="solid"/>
          </a:ln>
        </p:spPr>
      </p:sp>
      <p:sp>
        <p:nvSpPr>
          <p:cNvPr id="10" name="Text 8"/>
          <p:cNvSpPr txBox="1"/>
          <p:nvPr/>
        </p:nvSpPr>
        <p:spPr>
          <a:xfrm>
            <a:off x="457200" y="1143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ONE-YEAR EUROPEAN CALL · THE DELTA-HEDGE ROUTE</a:t>
            </a:r>
            <a:endParaRPr lang="en-US" sz="1100" dirty="0"/>
          </a:p>
        </p:txBody>
      </p:sp>
      <p:sp>
        <p:nvSpPr>
          <p:cNvPr id="11" name="Text 9"/>
          <p:cNvSpPr txBox="1"/>
          <p:nvPr/>
        </p:nvSpPr>
        <p:spPr>
          <a:xfrm>
            <a:off x="457200" y="1435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S₀ = EUR 80, X = EUR 100, S₁ᵘ = EUR 110 (Rᵤ = 1.375), S₁ᵈ = EUR 60 (R_d = 0.75), r = 5%, T = 1.</a:t>
            </a:r>
            <a:endParaRPr lang="en-US" sz="1200" dirty="0"/>
          </a:p>
        </p:txBody>
      </p:sp>
      <p:sp>
        <p:nvSpPr>
          <p:cNvPr id="12" name="Text 10"/>
          <p:cNvSpPr txBox="1"/>
          <p:nvPr/>
        </p:nvSpPr>
        <p:spPr>
          <a:xfrm>
            <a:off x="457200" y="1947672"/>
            <a:ext cx="8229600" cy="11521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Option payoffs: c₁ᵘ = Max(0, 110 − 100) = EUR 10;  c₁ᵈ = Max(0, 60 − 100) = 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Hedge ratio: h* = (10 − 0) / (110 − 60) = 10 / 50 = 0.20 shares per call sold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Portfolio at T: V₁ᵘ = 0.20 × 110 − 10 = 12;  V₁ᵈ = 0.20 × 60 − 0 = 12 ✓ equal by construction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That 12 is certain, so discount it at r: V₀ = 12 / 1.05 = EUR 11.43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c₀ = h*S₀ − V₀ = 0.20 × 80 − 11.43 = 16.00 − 11.43 = EUR 4.57</a:t>
            </a:r>
            <a:endParaRPr lang="en-US" sz="1150" dirty="0"/>
          </a:p>
        </p:txBody>
      </p:sp>
      <p:sp>
        <p:nvSpPr>
          <p:cNvPr id="13" name="Shape 11"/>
          <p:cNvSpPr/>
          <p:nvPr/>
        </p:nvSpPr>
        <p:spPr>
          <a:xfrm>
            <a:off x="411480" y="3172968"/>
            <a:ext cx="8321040" cy="365760"/>
          </a:xfrm>
          <a:prstGeom prst="rect">
            <a:avLst/>
          </a:prstGeom>
          <a:solidFill>
            <a:srgbClr val="E8600A"/>
          </a:solidFill>
          <a:ln/>
        </p:spPr>
      </p:sp>
      <p:sp>
        <p:nvSpPr>
          <p:cNvPr id="14" name="Text 12"/>
          <p:cNvSpPr txBox="1"/>
          <p:nvPr/>
        </p:nvSpPr>
        <p:spPr>
          <a:xfrm>
            <a:off x="457200" y="31729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c₀ = EUR 4.57. Check: the 11.43 invested grows to 12 — exactly 5%, the risk-free rate.</a:t>
            </a:r>
            <a:endParaRPr lang="en-US" sz="1150" dirty="0"/>
          </a:p>
        </p:txBody>
      </p:sp>
      <p:sp>
        <p:nvSpPr>
          <p:cNvPr id="15" name="Shape 13"/>
          <p:cNvSpPr/>
          <p:nvPr/>
        </p:nvSpPr>
        <p:spPr>
          <a:xfrm>
            <a:off x="320040" y="3703320"/>
            <a:ext cx="8503920" cy="548640"/>
          </a:xfrm>
          <a:prstGeom prst="rect">
            <a:avLst/>
          </a:prstGeom>
          <a:solidFill>
            <a:srgbClr val="F5F7FA"/>
          </a:solidFill>
          <a:ln/>
        </p:spPr>
      </p:sp>
      <p:sp>
        <p:nvSpPr>
          <p:cNvPr id="16" name="Shape 14"/>
          <p:cNvSpPr/>
          <p:nvPr/>
        </p:nvSpPr>
        <p:spPr>
          <a:xfrm>
            <a:off x="320040" y="3703320"/>
            <a:ext cx="73152" cy="548640"/>
          </a:xfrm>
          <a:prstGeom prst="rect">
            <a:avLst/>
          </a:prstGeom>
          <a:solidFill>
            <a:srgbClr val="1B2A4A"/>
          </a:solidFill>
          <a:ln/>
        </p:spPr>
      </p:sp>
      <p:sp>
        <p:nvSpPr>
          <p:cNvPr id="17" name="Text 15"/>
          <p:cNvSpPr txBox="1"/>
          <p:nvPr/>
        </p:nvSpPr>
        <p:spPr>
          <a:xfrm>
            <a:off x="457200" y="3776472"/>
            <a:ext cx="8275320" cy="4389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Notice what never appears: no expected return on the stock, no risk premium, no view. The price came out of a hedge.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The same 4.57 falls out of a risk-neutral expectation — π is a pricing weight, not a forecast</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10, §5 "Risk Neutrality", Equations 9–10, printed pp. 230–231.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π is built out of Rᵤ, R_d and r alone. Nobody’s opinion about the stock enters it, which is exactly why everyone can agree on it.</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π  =  (1 + r − R_d) / (Rᵤ − R_d)</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c₀  =  [ π·c₁ᵘ + (1 − π)·c₁ᵈ ] / (1 + r)ᵀ</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π is the risk-neutral probability of an up move; 1 − π of a down move. It sits strictly between 0 and 1 whenever R_d − 1 &lt; r &lt; Rᵤ − 1, which is the no-arbitrage condition itself.</a:t>
            </a:r>
            <a:endParaRPr lang="en-US" sz="1100" dirty="0"/>
          </a:p>
        </p:txBody>
      </p:sp>
      <p:sp>
        <p:nvSpPr>
          <p:cNvPr id="12" name="Shape 10"/>
          <p:cNvSpPr/>
          <p:nvPr/>
        </p:nvSpPr>
        <p:spPr>
          <a:xfrm>
            <a:off x="320040" y="2212848"/>
            <a:ext cx="8503920" cy="2084832"/>
          </a:xfrm>
          <a:prstGeom prst="rect">
            <a:avLst/>
          </a:prstGeom>
          <a:solidFill>
            <a:srgbClr val="FEF0E7"/>
          </a:solidFill>
          <a:ln w="9525">
            <a:solidFill>
              <a:srgbClr val="E8600A"/>
            </a:solidFill>
            <a:prstDash val="solid"/>
          </a:ln>
        </p:spPr>
      </p:sp>
      <p:sp>
        <p:nvSpPr>
          <p:cNvPr id="13" name="Text 11"/>
          <p:cNvSpPr txBox="1"/>
          <p:nvPr/>
        </p:nvSpPr>
        <p:spPr>
          <a:xfrm>
            <a:off x="457200" y="2258568"/>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SAME TREE — THE RISK-NEUTRAL ROUTE</a:t>
            </a:r>
            <a:endParaRPr lang="en-US" sz="1100" dirty="0"/>
          </a:p>
        </p:txBody>
      </p:sp>
      <p:sp>
        <p:nvSpPr>
          <p:cNvPr id="14" name="Text 12"/>
          <p:cNvSpPr txBox="1"/>
          <p:nvPr/>
        </p:nvSpPr>
        <p:spPr>
          <a:xfrm>
            <a:off x="457200" y="2551176"/>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Reuse the canonical example: S₀ = EUR 80, X = EUR 100, Rᵤ = 1.375, R_d = 0.75, r = 5%, c₁ᵘ = EUR 10, c₁ᵈ = 0.</a:t>
            </a:r>
            <a:endParaRPr lang="en-US" sz="1200" dirty="0"/>
          </a:p>
        </p:txBody>
      </p:sp>
      <p:sp>
        <p:nvSpPr>
          <p:cNvPr id="15" name="Text 13"/>
          <p:cNvSpPr txBox="1"/>
          <p:nvPr/>
        </p:nvSpPr>
        <p:spPr>
          <a:xfrm>
            <a:off x="457200" y="3063240"/>
            <a:ext cx="8229600" cy="722376"/>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π = (1 + 0.05 − 0.75) / (1.375 − 0.75) = 0.30 / 0.625 = 0.48,  so 1 − π = 0.52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Risk-neutral expected payoff = 0.48 × 10 + 0.52 × 0 = EUR 4.80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Discount one period at r: c₀ = 4.80 / 1.05 = EUR 4.57</a:t>
            </a:r>
            <a:endParaRPr lang="en-US" sz="11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Same 4.57. Faster route, and the only one that scales to an N-period tree.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Real-world probabilities do not move the price; the width of the tree and the risk-free rate do</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7, Learning Module 10, §4 Example 1 "Hightest Capital", printed pp. 226–228, and §5 Example 2 "Hightest Capital (revisited)", printed pp. 231–232.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One-year options on a non-dividend stock: S₀ = USD 50, X = USD 55, r = 5%. Puts follow from parity. Only the first two rows differ.</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651760"/>
                <a:gridCol w="868680"/>
                <a:gridCol w="868680"/>
                <a:gridCol w="914400"/>
                <a:gridCol w="960120"/>
                <a:gridCol w="1097280"/>
                <a:gridCol w="1143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S₁ᵘ</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S₁ᵈ</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π</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Call c₀</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Put p₀</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 move — base case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±40% move — tree twice as wide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 bullish view q = 0.80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 bearish view q = 0.20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43200"/>
            <a:ext cx="8503920" cy="1554480"/>
          </a:xfrm>
          <a:prstGeom prst="rect">
            <a:avLst/>
          </a:prstGeom>
          <a:solidFill>
            <a:srgbClr val="FEF0E7"/>
          </a:solidFill>
          <a:ln/>
        </p:spPr>
      </p:sp>
      <p:sp>
        <p:nvSpPr>
          <p:cNvPr id="11" name="Shape 8"/>
          <p:cNvSpPr/>
          <p:nvPr/>
        </p:nvSpPr>
        <p:spPr>
          <a:xfrm>
            <a:off x="320040" y="2743200"/>
            <a:ext cx="73152" cy="1554480"/>
          </a:xfrm>
          <a:prstGeom prst="rect">
            <a:avLst/>
          </a:prstGeom>
          <a:solidFill>
            <a:srgbClr val="E8600A"/>
          </a:solidFill>
          <a:ln/>
        </p:spPr>
      </p:sp>
      <p:sp>
        <p:nvSpPr>
          <p:cNvPr id="12" name="Text 9"/>
          <p:cNvSpPr txBox="1"/>
          <p:nvPr/>
        </p:nvSpPr>
        <p:spPr>
          <a:xfrm>
            <a:off x="457200" y="27889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TABLE</a:t>
            </a:r>
            <a:endParaRPr lang="en-US" sz="1100" dirty="0"/>
          </a:p>
        </p:txBody>
      </p:sp>
      <p:sp>
        <p:nvSpPr>
          <p:cNvPr id="13" name="Text 10"/>
          <p:cNvSpPr txBox="1"/>
          <p:nvPr/>
        </p:nvSpPr>
        <p:spPr>
          <a:xfrm>
            <a:off x="457200" y="3063240"/>
            <a:ext cx="82753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Rows 1 → 2: doubling the width of the tree lifts the call 2.7x, from 2.98 to 8.04, and the put from 5.36 to 10.42. Volatility is the factor that pays.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Rows 1, 3, 4: changing the real-world probability q from 0.50 to 0.80 to 0.20 leaves every price untouched — because q appears nowhere in either pricing route. The curriculum is blunt about it: a more optimistic outlook does not change the option price, because the seller can hedge the risk away with h* units of stock.</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Puts here come straight from parity: p₀ = c₀ − S₀ + X(1 + r)⁻ᵀ, and the risk-neutral route confirms them.</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Push the steps to infinity and the tree becomes Black-Scholes — context beyond Vol 7, examined at Level II</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Black-Scholes does not appear in CFA Vol 7. Level I examines only the one-period binomial model.
</a:t>
            </a:r>
            <a:pPr indent="0" marL="0">
              <a:buNone/>
            </a:pPr>
            <a:r>
              <a:rPr lang="en-US" sz="1000" dirty="0">
                <a:solidFill>
                  <a:srgbClr val="6B7A8D"/>
                </a:solidFill>
                <a:latin typeface="Calibri" pitchFamily="34" charset="0"/>
                <a:ea typeface="Calibri" pitchFamily="34" charset="-122"/>
                <a:cs typeface="Calibri" pitchFamily="34" charset="-120"/>
              </a:rPr>
              <a:t>² Trees remain standard for American exercise and discrete dividends; Black-Scholes admits neither.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The formula and the up/down factors are NOT in CFA Vol 7 — shown as context. Curriculum note extended here: Learning Module 10, §5, printed p. 231.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Set Rᵤ = e^(σ√Δt) and R_d = e^(−σ√Δt) at every step, let Δt → 0, and the N-period tree converges to the closed-form price.</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c₀  =  S₀·N(d₁)  −  X·e^(−rT)·N(d₂)</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d₁,₂  =  [ ln(S₀/X) + (r ± σ²/2)T ] / (σ√T)</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 is the standard normal CDF; σ is the annualised volatility of continuously compounded returns. N(d₂) is the continuous-time cousin of π.</a:t>
            </a:r>
            <a:endParaRPr lang="en-US" sz="1100" dirty="0"/>
          </a:p>
        </p:txBody>
      </p:sp>
      <p:sp>
        <p:nvSpPr>
          <p:cNvPr id="13" name="Shape 11"/>
          <p:cNvSpPr/>
          <p:nvPr/>
        </p:nvSpPr>
        <p:spPr>
          <a:xfrm>
            <a:off x="320040" y="2286000"/>
            <a:ext cx="4160520" cy="1828800"/>
          </a:xfrm>
          <a:prstGeom prst="rect">
            <a:avLst/>
          </a:prstGeom>
          <a:solidFill>
            <a:srgbClr val="FEF0E7"/>
          </a:solidFill>
          <a:ln/>
        </p:spPr>
      </p:sp>
      <p:sp>
        <p:nvSpPr>
          <p:cNvPr id="14" name="Shape 12"/>
          <p:cNvSpPr/>
          <p:nvPr/>
        </p:nvSpPr>
        <p:spPr>
          <a:xfrm>
            <a:off x="320040" y="2286000"/>
            <a:ext cx="73152" cy="1828800"/>
          </a:xfrm>
          <a:prstGeom prst="rect">
            <a:avLst/>
          </a:prstGeom>
          <a:solidFill>
            <a:srgbClr val="E8600A"/>
          </a:solidFill>
          <a:ln/>
        </p:spPr>
      </p:sp>
      <p:sp>
        <p:nvSpPr>
          <p:cNvPr id="15" name="Text 13"/>
          <p:cNvSpPr txBox="1"/>
          <p:nvPr/>
        </p:nvSpPr>
        <p:spPr>
          <a:xfrm>
            <a:off x="4572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TREE COMES FIRST</a:t>
            </a:r>
            <a:endParaRPr lang="en-US" sz="1100" dirty="0"/>
          </a:p>
        </p:txBody>
      </p:sp>
      <p:sp>
        <p:nvSpPr>
          <p:cNvPr id="16" name="Text 14"/>
          <p:cNvSpPr txBox="1"/>
          <p:nvPr/>
        </p:nvSpPr>
        <p:spPr>
          <a:xfrm>
            <a:off x="457200" y="260604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tree is pedagogy: every step is a visible replication and arbitrage argument. Black-Scholes is the same argument taken to a continuous limit — much harder to see, much cheaper to compute. Level I stops where the argument is still visible.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And the direction matters: the tree is not an approximation to Black-Scholes. Black-Scholes is a limit of the tree.</a:t>
            </a:r>
            <a:endParaRPr lang="en-US" sz="1200" dirty="0"/>
          </a:p>
        </p:txBody>
      </p:sp>
      <p:sp>
        <p:nvSpPr>
          <p:cNvPr id="17" name="Shape 15"/>
          <p:cNvSpPr/>
          <p:nvPr/>
        </p:nvSpPr>
        <p:spPr>
          <a:xfrm>
            <a:off x="4663440" y="2286000"/>
            <a:ext cx="4160520" cy="1828800"/>
          </a:xfrm>
          <a:prstGeom prst="rect">
            <a:avLst/>
          </a:prstGeom>
          <a:solidFill>
            <a:srgbClr val="F5F7FA"/>
          </a:solidFill>
          <a:ln/>
        </p:spPr>
      </p:sp>
      <p:sp>
        <p:nvSpPr>
          <p:cNvPr id="18" name="Shape 16"/>
          <p:cNvSpPr/>
          <p:nvPr/>
        </p:nvSpPr>
        <p:spPr>
          <a:xfrm>
            <a:off x="4663440" y="2286000"/>
            <a:ext cx="73152" cy="1828800"/>
          </a:xfrm>
          <a:prstGeom prst="rect">
            <a:avLst/>
          </a:prstGeom>
          <a:solidFill>
            <a:srgbClr val="1B2A4A"/>
          </a:solidFill>
          <a:ln/>
        </p:spPr>
      </p:sp>
      <p:sp>
        <p:nvSpPr>
          <p:cNvPr id="19" name="Text 17"/>
          <p:cNvSpPr txBox="1"/>
          <p:nvPr/>
        </p:nvSpPr>
        <p:spPr>
          <a:xfrm>
            <a:off x="48006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WHERE TREES STILL WIN</a:t>
            </a:r>
            <a:endParaRPr lang="en-US" sz="1100" dirty="0"/>
          </a:p>
        </p:txBody>
      </p:sp>
      <p:sp>
        <p:nvSpPr>
          <p:cNvPr id="20" name="Text 18"/>
          <p:cNvSpPr txBox="1"/>
          <p:nvPr/>
        </p:nvSpPr>
        <p:spPr>
          <a:xfrm>
            <a:off x="4800600" y="260604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American and Bermudan exercise, path-dependent payoffs, discrete dividend dates — none of these fit a closed form. Plain European options get Black-Scholes; almost everything else on a real book gets a tree or a Monte Carlo.</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Which is why the model you have just learned is not the toy version of the real one. It IS the real one, at N = 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18 — Derivatives II: Options — Payoffs, Strategies &amp; Pricing</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Payoffs at expiry: cT = Max(0, ST − X), pT = Max(0, X − ST). Profit subtracts the premium. Only the short call can lose an unlimited amount.</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Price = exercise value + time value. Exercise value discounts X to PV(X). Time value is positive and decays to zero at T.</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Moneyness is the holder's view: a call is ITM when S &gt; X, a put when S &lt; X. Bounds: Max(0, S − PV(X)) &lt; c ≤ S and Max(0, PV(X) − S) &lt; p ≤ X.</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Six factors. Volatility and time to expiration move calls and puts the SAME way; S, X, r and income/carry move them opposite ways.</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Put-call parity: S₀ + p₀ = c₀ + X(1+r)⁻ᵀ. It is a no-arbitrage identity, so it prices any one of the four positions from the other three.</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Synthetics: long stock = call − put + PV(X); covered call = long bond − put; equity in a levered firm = a call on the assets.</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Binomial: h* = (c₁ᵘ − c₁ᵈ)/(S₁ᵘ − S₁ᵈ) builds a riskless portfolio; its discounted cost pins c₀. h* is negative for a put.</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Risk-neutral π = (1 + r − R_d)/(Rᵤ − R_d) gives the same price in one step. The real probability q never appears. Canonical answer: EUR 4.57.</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18 · Derivatives II: Options — Payoffs, Strategies &amp; Pricing</dc:title>
  <dc:subject>PptxGenJS Presentation</dc:subject>
  <dc:creator>Studio Tonton Gug</dc:creator>
  <cp:lastModifiedBy>Studio Tonton Gug</cp:lastModifiedBy>
  <cp:revision>1</cp:revision>
  <dcterms:created xsi:type="dcterms:W3CDTF">2026-09-02T14:15:20Z</dcterms:created>
  <dcterms:modified xsi:type="dcterms:W3CDTF">2026-09-02T14:15:20Z</dcterms:modified>
</cp:coreProperties>
</file>