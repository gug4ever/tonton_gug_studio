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 payoff</c:v>
                </c:pt>
              </c:strCache>
            </c:strRef>
          </c:tx>
          <c:spPr>
            <a:solidFill>
              <a:srgbClr val="1B2A4A">
                <a:alpha val="90000"/>
              </a:srgbClr>
            </a:solidFill>
            <a:ln w="25400" cap="flat">
              <a:solidFill>
                <a:srgbClr val="1B2A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B2A4A"/>
              </a:solidFill>
              <a:ln w="9525" cap="flat">
                <a:solidFill>
                  <a:srgbClr val="1B2A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60</c:v>
                  </c:pt>
                  <c:pt idx="1">
                    <c:v>70</c:v>
                  </c:pt>
                  <c:pt idx="2">
                    <c:v>80</c:v>
                  </c:pt>
                  <c:pt idx="3">
                    <c:v>90</c:v>
                  </c:pt>
                  <c:pt idx="4">
                    <c:v>100</c:v>
                  </c:pt>
                  <c:pt idx="5">
                    <c:v>110</c:v>
                  </c:pt>
                  <c:pt idx="6">
                    <c:v>120</c:v>
                  </c:pt>
                  <c:pt idx="7">
                    <c:v>130</c:v>
                  </c:pt>
                  <c:pt idx="8">
                    <c:v>140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10</c:v>
                </c:pt>
                <c:pt idx="6">
                  <c:v>20</c:v>
                </c:pt>
                <c:pt idx="7">
                  <c:v>30</c:v>
                </c:pt>
                <c:pt idx="8">
                  <c:v>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8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A8D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A8D"/>
                    </a:solidFill>
                    <a:latin typeface="Arial"/>
                  </a:rPr>
                  <a:t>Payoff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8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3341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Put payoff</c:v>
                </c:pt>
              </c:strCache>
            </c:strRef>
          </c:tx>
          <c:spPr>
            <a:solidFill>
              <a:srgbClr val="1B2A4A">
                <a:alpha val="90000"/>
              </a:srgbClr>
            </a:solidFill>
            <a:ln w="25400" cap="flat">
              <a:solidFill>
                <a:srgbClr val="1B2A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B2A4A"/>
              </a:solidFill>
              <a:ln w="9525" cap="flat">
                <a:solidFill>
                  <a:srgbClr val="1B2A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60</c:v>
                  </c:pt>
                  <c:pt idx="1">
                    <c:v>70</c:v>
                  </c:pt>
                  <c:pt idx="2">
                    <c:v>80</c:v>
                  </c:pt>
                  <c:pt idx="3">
                    <c:v>90</c:v>
                  </c:pt>
                  <c:pt idx="4">
                    <c:v>100</c:v>
                  </c:pt>
                  <c:pt idx="5">
                    <c:v>110</c:v>
                  </c:pt>
                  <c:pt idx="6">
                    <c:v>120</c:v>
                  </c:pt>
                  <c:pt idx="7">
                    <c:v>130</c:v>
                  </c:pt>
                  <c:pt idx="8">
                    <c:v>140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40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8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A8D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A8D"/>
                    </a:solidFill>
                    <a:latin typeface="Arial"/>
                  </a:rPr>
                  <a:t>Payoff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8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3341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18  ·  WEEK 5  ·  AFTERNOON 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Options — Payoffs,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Strategies &amp; Pricing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one-line payoffs to a discretized Black-Scholes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Level I · Vol 7 Learning Modules 8–10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— Derivatives II: Options — Payoffs, Strategies &amp; Pricing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sections · ~2 hours · Built bottom-up from CFA readings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850392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207008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207008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252728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payoffs &amp; positions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1593799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Call/put payoffs · long vs short · covered call · protective put · VFO Biomian hedge examples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103120"/>
            <a:ext cx="8503920" cy="85953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2103120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2103120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2148840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 drivers &amp; moneyness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2489911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+ time value split · ITM/ATM/OTM · no-arbitrage bounds · six-factor sensitivity table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999232"/>
            <a:ext cx="850392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999232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999232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3044952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Put-call parity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3386023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Protective put = fiduciary call · S + p = c + PV(X) · synthetics · arbitrage trade · forward parity · firm value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3895344"/>
            <a:ext cx="8503920" cy="85953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3895344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0040" y="3895344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3941064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One-period binomial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4282135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u/d factors · hedge ratio · risk-neutral probability · Hightest Capital example · Black-Scholes as limit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822960"/>
            <a:ext cx="8503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deck you should be able to: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1188720"/>
            <a:ext cx="8503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payoff diagrams for long/short calls and puts, and for the two most-traded overlays: the covered call and the protective put.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any option premium into exercise value and time value, classify it as ITM / ATM / OTM, and verify it respects the no-arbitrage bounds.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six factors that move option value and recite the sign of each effect for calls and for puts.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 put-call parity from a protective-put vs fiduciary-call no-arbitrage argument, exploit a parity violation for a riskless profit, and build a synthetic long stock from the other three positions.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a European option on a one-period binomial tree via both the delta-hedge approach and the risk-neutral expectation, and explain why the actual probability is irrelevant to the price.
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 payoffs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positions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4  ·  Deck 18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option's payoff at expiry is Max(0, intrinsic value) — asymmetric, not linear like a forward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8, Exhibit 3 and pp. 180–182.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kink at the strike is the entire source of option-market richness: below it the payoff is flat, above it grows one-for-one.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  =  Max(0, ST − X)           pT  =  Max(0, X − ST)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ST = underlying spot at expiry T; X = exercise (strike) price. The premium paid at t = 0 offsets the payoff to give the profit.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0040" y="2331720"/>
            <a:ext cx="4160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 call — strike 100</a:t>
            </a:r>
            <a:endParaRPr lang="en-US" sz="1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320040" y="2606040"/>
          <a:ext cx="416052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663440" y="2331720"/>
            <a:ext cx="4160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 put — strike 100</a:t>
            </a:r>
            <a:endParaRPr lang="en-US" sz="12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663440" y="2606040"/>
          <a:ext cx="416052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 and short positions are mirror images around the premium — the buyer's max loss equals the seller's max gain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8, pp. 180–184.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option writer's P&amp;L is the counterparty of the buyer's: sum of the two profits is always exactly zero, minus transaction costs.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1417320"/>
                <a:gridCol w="1463040"/>
                <a:gridCol w="15087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Position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Payoff at 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Max loss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Max gain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Breakeven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Max(0, ST − X)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Premium c₀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Unlimited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 + c₀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−Max(0, ST − X)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Unlimited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Premium c₀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 + c₀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Max(0, X − ST)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Premium p₀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 − p₀  (if ST = 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 − p₀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−Max(0, X − ST)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 − p₀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Premium p₀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 − p₀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108960"/>
            <a:ext cx="8503920" cy="11887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108960"/>
            <a:ext cx="73152" cy="11887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1546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INTUITIONS TO LOCK IN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429000"/>
            <a:ext cx="82753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Long options have capped downside (the premium) and, for calls, uncapped upside — you pay for the optionality.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Short options have capped upside (the premium) and, for calls, uncapped downside — you are selling insurance.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Short puts are the trade with the worst tail: you can lose X − p₀ if the underlying drops to zero.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premium is never part of the payoff at T — it's a sunk cost paid at t = 0 that shifts profit vertically.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covered call sells upside in exchange for option income — the most widely used option overlay in asset management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9, Example 3 "VFO Covered Call", pp. 204–206.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stock + short call: if ST ≤ X, keep the stock and the premium; if ST &gt; X, forfeit upside beyond X but still collect the premium.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Covered-call payoff  =  ST  −  Max(0, ST − X)  =  Min(ST, X)          (plus premium c₀ received at t = 0)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9 EXAMPLE 3 — VISWAN FAMILY OFFICE BIOMIAN COVERED CALL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VFO holds non-dividend Biomian stock at S₀ = INR 295. CIO sells a 6-month call at X = INR 325 to generate income. Risk-free rate 4%; put (same X, T) priced at INR 56.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call position = S₀ − c₀ (long stock, short call)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put-call parity: S₀ − c₀ = X(1+r)⁻ᵀ − p₀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Substitute: 295 − c₀ = 325 × 1.04⁻⁰·⁵ − 56 = 318.69 − 56 = 262.69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Solve: c₀ = 295 − 262.69 = INR 32.31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Sell 6-month X = 325 call for INR 32.31; total income = premium. Max payoff at T capped at 325 + 32.31 = 357.31.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protective put buys insurance against downside at a known upfront cost — the floor everyone wants and few want to pay for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9, Example 1 "Biomian Put-Call Parity", pp. 202–203.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stock + long put: if ST ≥ X, let the put lapse; if ST &lt; X, exercise and sell at X — a floor at X, paid for with premium p₀.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Protective-put payoff  =  ST  +  Max(0, X − ST)  =  Max(ST, X)          (less premium p₀ paid at t = 0)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9 EXAMPLE 1 — VFO HEDGING BIOMIAN WITH A 6-MONTH PUT AT X = 265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S₀ = INR 295, X = INR 265, observed 6-month call at same X priced at c₀ = INR 59, r = 4%, T = 0.5.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Put-call parity: S₀ + p₀ = c₀ + X(1 + r)⁻ᵀ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PV(X) = 265 × 1.04⁻⁰·⁵ = INR 259.85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Solve: 295 + p₀ = 59 + 259.85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p₀ = 318.85 − 295 = INR 23.85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 premium INR 23.85 ⇒ hedged floor at 265; VFO caps downside while retaining upside above 265.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collar stacks a protective put and a covered call on the same stock — floor plus cap, funded cheaply by the call premium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9, §3 Option Strategies, pp. 204–206.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call premium collected roughly equals the put premium paid, it's a zero-cost collar — a favourite of founders hedging concentrated equity.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Collar payoff at T  =  Max(X_put,  Min(ST,  X_call))          (+ net premium, usually ≈ 0)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X_put &lt; S₀ &lt; X_call. Downside floored at X_put, upside capped at X_call; profile is a "squashed stock".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ZERO-COST COLLAR — BIOMIAN CEO HEDGING A CONCENTRATED HOLDING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long 100k shares at S₀ = INR 295. Wants to lock in a 10% downside floor and fund it by capping upside. r = 4%, T = 1y.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6-month put at X_put = 265 ⇒ pay p₀ = INR 23.85 per share (from parity example)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6-month call at X_call = 325 ⇒ receive c₀ = INR 32.31 per share (from covered-call example)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premium = +32.31 − 23.85 = +INR 8.46 per share INFLOW (collar earns carry)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at T: floored at 265. Upside at T: capped at 325. P&amp;L band: −30 / +30 per share before premium.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 cash-positive collar: floor 265, cap 325, fat INR 8.46/share credit. Works when OTM calls trade rich vs OTM puts.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 drivers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moneyness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4  ·  Deck 18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option's price decomposes exactly into exercise value plus time value — the sum must equal the traded premium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8, §3 &amp; §5 and Self-Assessment Q3, pp. 175–180.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value uses the PV of X (not X itself) — this difference is the first and most common mark-to-market error in practice.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  =  Max(0, St − X(1+r)^(−(T−t)))  +  Time Valuet       (analogue for puts with X and St swapped)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Time value ≥ 0 always, decays to zero at t = T. A deep-OTM option has price ≈ time value only.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8 SELF-ASSESSMENT Q3 — GBP EUROPEAN CALL DECOMPOSITION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3-month European call on a no-dividend stock. X = GBP 50, r = 2%, St = GBP 57.50. Observed call premium ct = GBP 10.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of exercise price: X(1 + r)⁻⁰·²⁵ = 50 × 1.02⁻⁰·²⁵ = GBP 49.75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value = Max(0, St − PV(X)) = Max(0, 57.50 − 49.75) = GBP 7.75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value = ct − exercise value = 10.00 − 7.75 = GBP 2.25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7.75 + 2.25 = 10.00 ✓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Exercise value GBP 7.75 + time value GBP 2.25 = traded premium GBP 10.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Moneyness classifies options as ITM, ATM, or OTM — and drives how sensitive the option is to the underlying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8, §4 "Option Moneyness", pp. 176–178.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(∂c/∂S or ∂p/∂S) ≈ likelihood of ending in the money. Deep-ITM calls track the stock one-for-one; deep-OTM options barely move.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554480"/>
                <a:gridCol w="1554480"/>
                <a:gridCol w="192024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Moneyness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Call condition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Put condition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Delta intuition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Typical use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In-the-money (ITM)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 &gt; 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 &lt; 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Approaches ±1 when deep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Substitute for the underlying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At-the-money (ATM)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 = 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 = 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≈ ±0.5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Most sensitive to volatility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Out-of-the-money (OTM)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 &lt; 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 &gt; 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Approaches 0 when deep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Cheap tail-risk insurance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560320"/>
            <a:ext cx="4160520" cy="16916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2560320"/>
            <a:ext cx="73152" cy="16916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26060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ITM CALLS BEHAVE LIKE STOCK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880360"/>
            <a:ext cx="393192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 30% in-the-money with a week to expiry has delta near 1. A 10c move in the stock ⇒ ~10c move in the call. Useful for leveraged long exposure at controlled cost.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663440" y="2560320"/>
            <a:ext cx="4160520" cy="16916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2"/>
          <p:cNvSpPr/>
          <p:nvPr/>
        </p:nvSpPr>
        <p:spPr>
          <a:xfrm>
            <a:off x="4663440" y="2560320"/>
            <a:ext cx="73152" cy="16916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00600" y="26060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OTM OPTIONS ARE ALL TIME VALUE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800600" y="2880360"/>
            <a:ext cx="393192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 30% out-of-the-money with a week to expiry has delta ≈ 0.02. It's a lottery ticket — cheap per share, but the expected payoff is tiny. Most OTM options expire worthless.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No-arbitrage bounds pin option prices: between Max(0, S − PV(X)) and S for a call, between Max(0, PV(X) − S) and X for a put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8, §6 "Arbitrage", Example 4, pp. 180–184.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a call above S and I buy the stock / sell the call for free money. Price a call below S − PV(X) and I buy the call / short-synthetic-the-stock for free money.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Max(0, St − PV(X))  ≤  ct  ≤  St             Max(0, PV(X) − St)  ≤  pt  ≤  X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8 EXAMPLE 4 — ONE-YEAR EUR CALL BOUNDS AT T − t = 0.5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price X = EUR 1,000. Six-month forward spot St = EUR 1,050. Risk-free rate r = 1%.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PV(X) over remaining 0.5y: 1,000 × 1.01⁻⁰·⁵ = EUR 995.04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bound: Max(0, 1,050 − 995.04) = EUR 54.96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bound: St = EUR 1,050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traded call price outside [54.96, 1,050] offers a riskless arbitrage.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54.96 ≤ ct ≤ 1,050. At-the-money → lower bound small; deep-ITM → lower bound dominates.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 factors drive option value; all six signs are known, and volatility is the only factor whose sign is identical for calls and puts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325112"/>
            <a:ext cx="8503920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Longer time to expiration usually increases put value, but can lower it for deep-ITM puts because the payoff X − ST is discounted.
</a:t>
            </a:r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 Income (dividends, coupons, convenience yield) lowers call value because it accrues to the holder of the underlying, not the option.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8, §8 "Factors Affecting Option Value", Exhibit 9, pp. 186–190.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Memorize this table once. The CFA L1 exam tests a sign-flip from it every single sitting — typically risk-free rate or income on underlying.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188720"/>
                <a:gridCol w="1188720"/>
                <a:gridCol w="30175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Factor (increase in ...)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Call value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Put value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One-line intuition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Underlying price (S)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Calls gain, puts lose as S rises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Exercise price (X)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Calls are cheaper to exercise when X is low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expiration (T)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+/−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More time → wider distribution; put exception¹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Risk-free rate (r)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Higher r ⇒ lower PV(X) ⇒ calls up, puts down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Volatility (σ)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Both sides: asymmetric payoff likes wide tails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 on underlying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Div/yield accrues to holder, not to call²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Put-call parity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of 4  ·  Deck 18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protective put and a fiduciary call share every future cash flow — so no-arbitrage forces S₀ + p₀ = c₀ + X(1+r)⁻ᵀ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9, §2 "Put-Call Parity", Exhibits 1–4, pp. 200–203.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portfolios that pay the same thing in every state of the world must cost the same today — otherwise, arbitrage.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4300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Protective put:   S₀ + p₀           ≡           Fiduciary call:   c₀ + X(1 + r)⁻ᵀ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2880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European options, same X, same T, no dividends on the underlying, one risk-free rate r.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240280"/>
          <a:ext cx="85039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463040"/>
                <a:gridCol w="146304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Portfolio @ t = 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 &lt; X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 = X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 &gt; X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Protective put: S + 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 + (X − ST) = 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 = 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 + 0 = 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Fiduciary call: c + PV(X)→X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+ X = 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 − X + X = 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Cash-flow difference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Therefore prices must match at t = 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 + p = c + PV(X)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(parity)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9 Example 1 prices a put directly off a traded call — parity is a pricing engine, not just an identity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9, Example 1 "Biomian Put-Call Parity", pp. 202–203.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Whenever a liquid call and illiquid put exist on the same name and strike, parity gives the put's mark — instantly.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56692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43000"/>
            <a:ext cx="832104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p₀  =  c₀  +  X(1 + r)⁻ᵀ  −  S₀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" y="1828800"/>
            <a:ext cx="8503920" cy="24688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18745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BIOMIAN 6-MONTH PUT FROM TRADED CALL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Biomian shares S₀ = INR 295. Observed 6-month European call at X = INR 265 trades at c₀ = INR 59. r = 4%, T = 0.5. No dividends.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9192"/>
            <a:ext cx="8229600" cy="11064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PV of strike: X(1 + r)⁻ᵀ = 265 × 1.04⁻⁰·⁵ = 265 / 1.0198 = INR 259.85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into rearranged parity: p₀ = c₀ + PV(X) − S₀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p₀ = 59 + 259.85 − 295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p₀ = 318.85 − 295 = INR 23.85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Cross-check: S₀ + p₀ = 295 + 23.85 = 318.85  =  c₀ + PV(X) = 59 + 259.85 = 318.85 ✓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No-arbitrage 6-month put premium = INR 23.85.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9 Example 2 locks in a riskless INR 6.15 per share when the traded put is too rich vs parity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9, Example 2 "VFO Parity Arbitrage", pp. 203–204.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 + p &gt; c + PV(X), the expensive side is sold and the cheap side is bought. Cash flows net to zero at T; the initial surplus is pure profit.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97280"/>
          <a:ext cx="8503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188720"/>
                <a:gridCol w="1188720"/>
                <a:gridCol w="13716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Leg @ t = 0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Cash flow @ t = 0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 &lt; X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 = X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 &gt; X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 stock at S₀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+295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−ST (=−X)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 put at p₀ (traded, overpriced)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+30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−(X−ST) = ST−X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 call at c₀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−59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 − 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 risk-free bond to receive X @ 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−259.85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+6.15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246120"/>
            <a:ext cx="8503920" cy="10515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246120"/>
            <a:ext cx="73152" cy="10515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2918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READING THE GRID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566160"/>
            <a:ext cx="8275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 = 0 the investor pockets INR 6.15 in cash. At t = T, in every possible ending price ST, the four legs net to exactly zero — there's no residual exposure. This is the textbook definition of a riskless arbitrage: positive cash today, no risk tomorrow.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Parity rearranges into a synthetic-position cookbook — each position is replicable from the other three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9, §3 Exhibit 6 "Replication of Positions", pp. 204–205.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rows: to synthesize the position on the left, build the combination on the right.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280160"/>
                <a:gridCol w="1554480"/>
                <a:gridCol w="109728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Target position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Underlying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Risk-free bond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Call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Put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underlying (S₀)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 X·PV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Short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risk-free bond (PV(X))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Short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call (c₀)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Short X·PV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put (p₀)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Short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 X·PV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246120"/>
            <a:ext cx="8503920" cy="10515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246120"/>
            <a:ext cx="73152" cy="10515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2918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MATTERS IN PRACTICE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566160"/>
            <a:ext cx="8275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Dealers synthesize stock exposure from options daily — because the option market can be deeper and cheaper to finance than the cash market. An equity-like payoff built from call − put + bond is the single most common use of put-call parity in sell-side flow desks.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synthetic long stock is +call − put + cash — identical payoff to owning the underlying outright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9, §3 Synthetic Positions, pp. 204–206.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when direct share purchase is expensive (dividends to miss, short-borrow to avoid, regulatory capital). The replicating portfolio bypasses the cash market entirely.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4300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S₀  =  c₀  −  p₀  +  X(1 + r)⁻ᵀ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" y="1920240"/>
            <a:ext cx="8503920" cy="23774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19659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SYNTHETIC LONG STOCK — BIOMIAN NUMBERS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2585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inputs as parity example: 6-month options at X = INR 265, c₀ = 59, p₀ = 23.85, r = 4%, T = 0.5, S₀ = INR 295.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70632"/>
            <a:ext cx="8229600" cy="10149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call: −INR 59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put: +INR 23.85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zero-coupon bond maturing at X = 265: −PV(X) = −INR 259.85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initial outlay: 59 − 23.85 + 259.85 = INR 295  ⇒  equal to buying stock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T: if ST &gt; 265, call pays ST − 265 + bond 265 = ST; if ST &lt; 265, assigned on put: pay ST − 265 + bond 265 = ST. Payoff = ST either way.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Synthetic long stock costs exactly S₀ = 295 today and pays ST at expiry — indistinguishable from the cash stock.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Put-call forward parity replaces S₀ with PV of the forward price — useful when the cash asset is hard to hold but the forward is liquid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9, §5 Example 4 "VFO Put-Call Forward Parity", pp. 207–209.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commodities, currencies, or shares with complex carry, traders often start pricing options from the forward, not the spot.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4300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F₀(T)·(1 + r)⁻ᵀ  +  p₀   =   c₀  +  X(1 + r)⁻ᵀ       ⇒       p₀ − c₀  =  [X − F₀(T)]·(1 + r)⁻ᵀ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2880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F₀(T) = no-arbitrage forward price. When F₀(T) = X, p₀ = c₀ — the famous at-the-money-forward equivalence.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286000"/>
            <a:ext cx="8503920" cy="2011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31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9 EXAMPLE 4 — BIOMIAN FROM FORWARD + BOND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2432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S₀ = 295, r = 4%, T = 0.5  ⇒  forward F₀(T) = 295 × 1.04⁰·⁵ = INR 300.84. Same X = 265, c₀ = 59.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36392"/>
            <a:ext cx="8229600" cy="649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Forward-parity form: p₀ − c₀ = (X − F₀(T)) · (1 + r)⁻ᵀ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p₀ − 59 = (265 − 300.84) × 1.04⁻⁰·⁵ = −35.84 / 1.0198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p₀ − 59 = −35.14   ⇒   p₀ = INR 23.86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 INR 23.86 answer — confirms forward and spot parities are algebraically equivalent.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Put-call parity prices claims on a levered firm: equity is a long call on assets, risky debt is a risk-free bond minus a short put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9, §6 "Firm Value Application", pp. 209–212.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Merton (1974): treat the firm as assets V, a zero-coupon debt face D, and equity as the residual — the option analogy falls out.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4160520" cy="3154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73152" cy="3154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EQUITYHOLDERS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1600200"/>
            <a:ext cx="379476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Payoff at T: Max(0, VT − D)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Long call on firm value with strike D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Unlimited upside (residual claim)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Downside limited to zero (limited liability)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Value-creating projects &amp; vol both boost equity — textbook risk-shifting incentive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63440" y="1143000"/>
            <a:ext cx="416052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43000"/>
            <a:ext cx="73152" cy="3154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DEBTHOLDERS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600200"/>
            <a:ext cx="379476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Payoff at T: Min(VT, D)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Risk-free bond of face D  −  Short put on VT with strike D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Upside capped at D (face amount)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Downside when VT &lt; D (default)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Credit spread = price of the sold put — and grows with firm volatility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One-period binomial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of 4  ·  Deck 18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 a contingent claim requires a model of future prices — the binomial tree gives the simplest honest one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10, §2–3 "The Binomial Model", pp. 221–223.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Forwards need no model of the future (payoff is linear). Options do (payoff has a kink) — the binomial tree is the MVP of that model class.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S_u  =  R_u · S₀       S_d  =  R_d · S₀      (R_u &gt; 1 &gt; R_d;  spread R_u − R_d = volatility proxy)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q = real-world probability of an up move; 1 − q = probability of a down move. q turns out to be irrelevant for the price.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2743200" cy="1965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65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OUTCOMES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25146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one period, the underlying goes from S₀ to either S_u or S_d. No third state. That's it — everything else follows from arbitrage.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331720"/>
            <a:ext cx="2743200" cy="1965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0" y="2331720"/>
            <a:ext cx="73152" cy="1965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3756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VOLATILITY = SPREAD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2651760"/>
            <a:ext cx="25146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S_u and S_d is the model's view of volatility. Doubling the spread doubles range of possible payoffs ⇒ option value rises.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80760" y="2331720"/>
            <a:ext cx="2743200" cy="1965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1" name="Shape 19"/>
          <p:cNvSpPr/>
          <p:nvPr/>
        </p:nvSpPr>
        <p:spPr>
          <a:xfrm>
            <a:off x="6080760" y="2331720"/>
            <a:ext cx="73152" cy="1965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MULTI-PERIOD → TREE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651760"/>
            <a:ext cx="25146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N one-period steps ⇒ N-period binomial tree with N+1 terminal nodes. As N → ∞, approaches the Black-Scholes continuous-time model.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portfolio of h shares minus one call can be made risk-free — h is the option's payoff range divided by the asset's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10, §4 "Pricing a European Call Option", pp. 223–226.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hedge ratio is the binomial-world delta: the exact share count that makes a short-call / long-stock portfolio invariant to which branch the tree takes.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h*  =  (c_u − c_d) / (S_u − S_d)          ⇒         V_u  =  h*·S_u − c_u  =  V_d  =  h*·S_d − c_d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Choose h* so portfolio value is identical in both states ⇒ portfolio earns r ⇒ c₀ = h*·S₀ − V₁/(1 + r).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65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THREE-STEP RECIPE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827532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Tree the underlying: compute S_u and S_d from R_u, R_d.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Tree the option payoffs: c_u = Max(0, S_u − X), c_d = Max(0, S_d − X).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Compute h* from the payoff ratio, then V₁ = h*·S_u − c_u (or − c_d, they're equal by construction).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Discount V₁ at r to get V₀; solve c₀ = h*·S₀ − V₀.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 No probabilities appear anywhere. Just R_u, R_d, r and the option payoff.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10 §4 canonical example: S₀ = 80, X = 100, up to 110 / down to 60, r = 5% — delta-hedge gives c₀ = 4.57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10, §4 Exhibit 2–3 worked case, pp. 223–226.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chosen deliberately: option is OTM today (S₀ &lt; X) but ITM in the up state. Walks through every step of the recipe.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097280"/>
            <a:ext cx="8503920" cy="320040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14300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ONE-YEAR EUROPEAN CALL · DELTA-HEDGE METHOD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4356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S₀ = 80, X = 100, S_u = 110 (R_u = 1.375), S_d = 60 (R_d = 0.75), r = 5%, T = 1.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947672"/>
            <a:ext cx="8229600" cy="1837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payoffs: c_u = Max(0, 110 − 100) = 10, c_d = Max(0, 60 − 100) = 0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Hedge ratio h* = (c_u − c_d)/(S_u − S_d) = (10 − 0)/(110 − 60) = 10/50 = 0.20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value at T (both branches): V_u = 0.20·110 − 10 = 12; V_d = 0.20·60 − 0 = 12. ✓ Equal by construction.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the certain V₁ = 12: V₀ = 12 / 1.05 = 11.43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price: c₀ = h*·S₀ − V₀ = 0.20·80 − 11.43 = 16.00 − 11.43 = 4.57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Fair 1-year call price = 4.57. Check: short 1 call, buy 0.20 stock ⇒ invests 11.43, grows to 12 ⇒ earns exactly 5% ✓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same price falls out of a risk-neutral expectation — π acts as if investors were risk-neutral, even though they're not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10, §5 "Risk Neutrality", pp. 230–233.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 is a computation tool, not a real probability. It makes the discounted underlying a martingale — the mathematical magic trick of derivatives pricing.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π  =  (1 + r − R_d) / (R_u − R_d)         c₀  =  [ π · c_u  +  (1 − π) · c_d ]  /  (1 + r)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π = risk-neutral probability of an up move. Always 0 &lt; π &lt; 1 if r is between R_d − 1 and R_u − 1.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SAME NUMBERS — RISK-NEUTRAL METHOD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the canonical example: S₀ = 80, X = 100, R_u = 1.375, R_d = 0.75, r = 5%, c_u = 10, c_d = 0.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 = (1 + 0.05 − 0.75) / (1.375 − 0.75) = 0.30 / 0.625 = 0.48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1 − π = 0.52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payoff = 0.48 · 10 + 0.52 · 0 = 4.80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Discount: c₀ = 4.80 / 1.05 = 4.57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the delta-hedge answer exactly — as it must, both follow from the same no-arbitrage condition.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c₀ = 4.57 ✓  Same number, faster route. Risk-neutral pricing scales directly to N-period trees &amp; Black-Scholes.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Actual probabilities do not affect the price — only volatility and the risk-free rate do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10, §4 Example 1 "Hightest Capital", pp. 226–228.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CIO's bullish view is irrelevant to the premium. Doubling the move width (from ±20% to ±40%) roughly doubles the call premium.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822960"/>
                <a:gridCol w="822960"/>
                <a:gridCol w="777240"/>
                <a:gridCol w="777240"/>
                <a:gridCol w="822960"/>
                <a:gridCol w="822960"/>
                <a:gridCol w="14173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Scenario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S_u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S_d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R_u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R_d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h*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π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c₀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±20% move (S₀=50, X=55, r=5%)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0.625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2.98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±40% move (same)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0.60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0.375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0.5625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8.04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±20% + bullish view (q=0.80)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0.625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2.98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±20% + bearish view (q=0.20)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0.625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2.98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200400"/>
            <a:ext cx="8503920" cy="10972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200400"/>
            <a:ext cx="73152" cy="10972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2461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READING THE TABLE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520440"/>
            <a:ext cx="827532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1→2: doubling volatility lifts call price 2.7x (2.98 → 8.04). Rows 1, 3, 4: changing the real-world probability q from 50% to 80% to 20% leaves the price unchanged at 2.98 — because q does not appear anywhere in the pricing formula. This is the single most counter-intuitive fact in options pricing.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 the number of steps grows, the binomial model converges to Black-Scholes — the continuous-time limit that prices most traded options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325112"/>
            <a:ext cx="8503920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CFA L1 formula sheet only requires the one-period binomial. Black-Scholes is introduced conceptually here and priced in L2.
</a:t>
            </a:r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 Trees remain the industry standard for pricing American options and any feature with early exercise — Black-Scholes doesn't admit early-exercise directly.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10, §5 closing discussion; LM 8 volatility factor, pp. 232–234.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R_u = e^(σ√Δt) and R_d = e^(−σ√Δt) at each step, let Δt → 0, and the N-period tree's price converges to the Black-Scholes formula.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c₀  =  S₀ · N(d₁)  −  X · e^(−rT) · N(d₂)            d₁,₂  =  [ ln(S₀/X) + (r ± σ²/2)·T ] / (σ·√T)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N(·) = standard normal CDF; σ = annualized volatility of continuously compounded returns. Continuous analogue of π.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331720"/>
            <a:ext cx="4160520" cy="1965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2331720"/>
            <a:ext cx="73152" cy="1965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BINOMIAL FIRST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51760"/>
            <a:ext cx="393192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 are pedagogy: every step is a replication / arbitrage argument in full view. Black-Scholes is the same argument taken to the continuous-time limit — harder to see but cheaper to compute.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63440" y="2331720"/>
            <a:ext cx="4160520" cy="1965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4663440" y="2331720"/>
            <a:ext cx="73152" cy="1965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006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TREES WIN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800600" y="2651760"/>
            <a:ext cx="393192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options, Bermudan exercise, path-dependent payoffs, dividends at discrete dates — these need a tree (or Monte Carlo). Plain European options get Black-Scholes; everything else gets a tree.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2860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82296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18 — Derivatives II: Options — Payoffs, Strategies &amp; Pricing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7" name="Shape 5"/>
          <p:cNvSpPr/>
          <p:nvPr/>
        </p:nvSpPr>
        <p:spPr>
          <a:xfrm>
            <a:off x="62179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payoffs at expiry: cT = Max(0, ST − X), pT = Max(0, X − ST) — asymmetric, kinked, the source of everything that follows.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4058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0" name="Shape 8"/>
          <p:cNvSpPr/>
          <p:nvPr/>
        </p:nvSpPr>
        <p:spPr>
          <a:xfrm>
            <a:off x="480517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634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option price = exercise value + time value; exercise uses PV(X) not X; time value always ≥ 0 and decays to zero at 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Six-factor sensitivity memorised: S, X, T, r, σ, income. Volatility is the only factor with the same sign for calls and puts.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058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6" name="Shape 14"/>
          <p:cNvSpPr/>
          <p:nvPr/>
        </p:nvSpPr>
        <p:spPr>
          <a:xfrm>
            <a:off x="480517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0634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Put-call parity: S₀ + p₀ = c₀ + X(1+r)⁻ᵀ — derives from a two-portfolio arbitrage, prices any of the four positions from the other three.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Synthetics: long stock = +call − put + cash at PV(X); covered call = S₀ − c₀ = long bond − short put; protective put = long call + long bond.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4058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517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634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Binomial hedge ratio h* = (c_u − c_d)/(S_u − S_d) builds a risk-free portfolio; its discounted cost pins the option price.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Risk-neutral probability π = (1+r − R_d)/(R_u − R_d) gives the same price in one expected-value step; actual probability q is irrelevant.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4058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517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0634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answer (CFA LM10): S₀=80, X=100, up 37.5% / down 25%, r=5% ⇒ c₀ = 4.57. Black-Scholes is the continuous-time limit of this tree.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Studio Tonton Gug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 v2 · Deck 18 · Derivatives II: Options — Payoffs, Strategies &amp; Pricing</dc:title>
  <dc:subject>PptxGenJS Presentation</dc:subject>
  <dc:creator>Studio Tonton Gug</dc:creator>
  <cp:lastModifiedBy>Studio Tonton Gug</cp:lastModifiedBy>
  <cp:revision>1</cp:revision>
  <dcterms:created xsi:type="dcterms:W3CDTF">2026-04-23T09:32:13Z</dcterms:created>
  <dcterms:modified xsi:type="dcterms:W3CDTF">2026-04-23T09:32:13Z</dcterms:modified>
</cp:coreProperties>
</file>