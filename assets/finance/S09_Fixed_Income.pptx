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0584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E860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SESSION 5  —  MORNING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1481328"/>
            <a:ext cx="8229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Fixed Income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457200" y="349300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Bond mechanics, pricing, duration &amp; credit analysis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46177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 TONTON GUG  •  Finance Fundamentals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21792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7772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Objectives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7223760" y="0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S5 AM  •  Session 9 of 10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92040"/>
            <a:ext cx="82296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 TONTON GUG  |  Finance Fundamentals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320040" y="1188720"/>
            <a:ext cx="4187952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9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1188720"/>
            <a:ext cx="91440" cy="1572768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21208" y="128016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Bond Features &amp; Types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21208" y="1645920"/>
            <a:ext cx="38404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par value, coupon, maturity, embedded options. Distinguish government, corporate, high-yield bonds.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27448" y="1188720"/>
            <a:ext cx="4187952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9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27448" y="1188720"/>
            <a:ext cx="91440" cy="1572768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28616" y="128016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Bond Pricing &amp; Yields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928616" y="1645920"/>
            <a:ext cx="38404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a bond as PV of cash flows. Calculate YTM, current yield and yield spreads. Explain price-yield relationship.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" y="2852928"/>
            <a:ext cx="4187952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9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2852928"/>
            <a:ext cx="91440" cy="1572768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21208" y="294436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Duration &amp; Convexity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21208" y="3310128"/>
            <a:ext cx="38404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Macaulay and Modified Duration. Apply convexity correction. Use for interest rate risk management.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27448" y="2852928"/>
            <a:ext cx="4187952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9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27448" y="2852928"/>
            <a:ext cx="91440" cy="1572768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28616" y="294436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Credit Analysis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928616" y="3310128"/>
            <a:ext cx="38404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 credit ratings, spreads, PD, LGD. Understand credit cycle dynamics.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21792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7772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Anatomy of a Bond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7223760" y="0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S5 AM  •  Session 9 of 10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92040"/>
            <a:ext cx="82296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 TONTON GUG  |  Finance Fundamentals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320040" y="777240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bond is a loan from investor to issuer. The issuer commits to pay regular coupons and return principal at maturity.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0040" y="1261872"/>
            <a:ext cx="4187952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9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1261872"/>
            <a:ext cx="91440" cy="1572768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21208" y="135331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 Value (Face Value)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21208" y="1719072"/>
            <a:ext cx="38404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Principal amount repaid at maturity. Typically £1,000 per bond (institutional) or £100 (gilts). All prices quoted as % of par.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27448" y="1261872"/>
            <a:ext cx="4187952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9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27448" y="1261872"/>
            <a:ext cx="91440" cy="1572768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28616" y="135331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Coupon Rate &amp; Frequency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928616" y="1719072"/>
            <a:ext cx="38404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interest rate as % of par. 5% on £1,000 par = £50/yr.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Frequency: semi-annual (US), annual (Europe), quarterly. More frequent = slightly higher effective rate.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" y="2926080"/>
            <a:ext cx="4187952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9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2926080"/>
            <a:ext cx="91440" cy="1572768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21208" y="301752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Maturity &amp; Duration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21208" y="3383280"/>
            <a:ext cx="38404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Maturity = date principal repaid. Short (&lt;3yr), medium (3-10yr), long (&gt;10yr).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 ≠ Maturity: duration is weighted average time to receive all cash flows.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727448" y="2926080"/>
            <a:ext cx="4187952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9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27448" y="2926080"/>
            <a:ext cx="91440" cy="1572768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28616" y="301752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Embedded Options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928616" y="3383280"/>
            <a:ext cx="38404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Call: issuer can repay early (limits upside for investors — negative convexity).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Put: investor can demand early repayment (valuable floor — positive convexity).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20040" y="4645152"/>
            <a:ext cx="8503920" cy="457200"/>
          </a:xfrm>
          <a:prstGeom prst="rect">
            <a:avLst/>
          </a:prstGeom>
          <a:solidFill>
            <a:srgbClr val="FEF0E7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471830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60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EXAMPLE BOND TERMS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7200" y="5029200"/>
            <a:ext cx="8229600" cy="-18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 annual coupon, £1,000 par, maturity 3 years. Bond pays: £50 (yr1), £50 (yr2), £1,050 (yr3). Coupon yield = 5%. If market requires 6%, the bond is priced BELOW par (discount bond).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21792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7772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Bond Pricing — Present Value of Cash Flows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7223760" y="0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S5 AM  •  Session 9 of 10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92040"/>
            <a:ext cx="82296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 TONTON GUG  |  Finance Fundamentals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320040" y="749808"/>
            <a:ext cx="850392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749808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Price  =  Σ  Coupon/(1+y)ᵗ  +  Par/(1+y)ⁿ     where y = yield per period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320040" y="1508760"/>
            <a:ext cx="8503920" cy="1755648"/>
          </a:xfrm>
          <a:prstGeom prst="rect">
            <a:avLst/>
          </a:prstGeom>
          <a:solidFill>
            <a:srgbClr val="FEF0E7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58191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60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WORKED EXAMPLE — Price a 5% annual coupon bond, £1,000 par, 3 years to maturity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1892808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1: YTM = 5% (at par):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= 50/1.05 + 50/1.05² + 1,050/1.05³ = 47.62 + 45.35 + 907.03 = £1,000.00 ✓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2: YTM rises to 7% (above coupon → discount bond):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= 50/1.07 + 50/1.07² + 1,050/1.07³ = 46.73 + 43.67 + 857.96 = £948.36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3: YTM falls to 3% (below coupon → premium bond):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= 50/1.03 + 50/1.03² + 1,050/1.03³ = 48.54 + 47.13 + 961.50 = £1,057.17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0040" y="3401568"/>
            <a:ext cx="85039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3401568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Price = Par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057400" y="340156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60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Coupon = YTM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069080" y="3401568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 bond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20040" y="3840480"/>
            <a:ext cx="8503920" cy="384048"/>
          </a:xfrm>
          <a:prstGeom prst="rect">
            <a:avLst/>
          </a:prstGeom>
          <a:solidFill>
            <a:srgbClr val="E8F5E9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84048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Price &gt; Par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057400" y="384048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60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Coupon &gt; YTM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069080" y="3840480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bond — YTM below coupon rate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20040" y="4279392"/>
            <a:ext cx="8503920" cy="384048"/>
          </a:xfrm>
          <a:prstGeom prst="rect">
            <a:avLst/>
          </a:prstGeom>
          <a:solidFill>
            <a:srgbClr val="FFEBEE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4279392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Price &lt; Par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057400" y="427939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60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Coupon &lt; YTM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069080" y="4279392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 bond — YTM above coupon rate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20040" y="4681728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60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RULE: Price and yield always move in OPPOSITE directions. This is the most fundamental rule of fixed income.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21792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7772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Yield Measures — Which Yield to Use When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7223760" y="0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S5 AM  •  Session 9 of 10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92040"/>
            <a:ext cx="82296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 TONTON GUG  |  Finance Fundamentals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320040" y="777240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yield measures capture different aspects of return. Selecting the right one for each context is critical.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0040" y="1261872"/>
            <a:ext cx="4187952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9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1261872"/>
            <a:ext cx="91440" cy="1572768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21208" y="135331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Yield to Maturity (YTM)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21208" y="1719072"/>
            <a:ext cx="38404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 assuming held to maturity and coupons reinvested at YTM. The standard benchmark measure.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WARNING: reinvestment assumption often unrealistic.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27448" y="1261872"/>
            <a:ext cx="4187952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9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27448" y="1261872"/>
            <a:ext cx="91440" cy="1572768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28616" y="135331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Yield to Call (YTC)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928616" y="1719072"/>
            <a:ext cx="38404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YTM calculated to the first call date at call price. Use when bond trades significantly above par and call is likely to be exercised by issuer.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" y="2926080"/>
            <a:ext cx="4187952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9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2926080"/>
            <a:ext cx="91440" cy="1572768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21208" y="301752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Current Yield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21208" y="3383280"/>
            <a:ext cx="38404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coupon / Current price. Simple but ignores price appreciation/depreciation and time value. Only useful as quick income screen.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727448" y="2926080"/>
            <a:ext cx="4187952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9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27448" y="2926080"/>
            <a:ext cx="91440" cy="1572768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28616" y="301752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Yield Spread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928616" y="3383280"/>
            <a:ext cx="38404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YTM premium over a risk-free benchmark (government bond same maturity).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 = compensation for credit risk + liquidity risk + optionality.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20040" y="4645152"/>
            <a:ext cx="8503920" cy="457200"/>
          </a:xfrm>
          <a:prstGeom prst="rect">
            <a:avLst/>
          </a:prstGeom>
          <a:solidFill>
            <a:srgbClr val="FEF0E7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471830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60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EXAMPLE — Yield Spread Calculation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7200" y="5029200"/>
            <a:ext cx="8229600" cy="-18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BBB-rated corporate bond YTM = 5.8%. 10-year Gilt YTM = 4.0%.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spread = 5.8% − 4.0% = 180 basis points (bps).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this: default risk premium ≈ 120 bps, liquidity premium ≈ 60 bps.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13716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500" kern="0" dirty="0">
                <a:solidFill>
                  <a:srgbClr val="E860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SECTION 03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200400" y="1920240"/>
            <a:ext cx="2743200" cy="50292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011680"/>
            <a:ext cx="7315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Duration &amp;</a:t>
            </a:r>
            <a:endParaRPr lang="en-US" sz="3200" dirty="0"/>
          </a:p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Convexity</a:t>
            </a:r>
            <a:endParaRPr lang="en-US" sz="3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21792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7772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Duration — Measuring Interest Rate Sensitivity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7223760" y="0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S5 AM  •  Session 9 of 10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92040"/>
            <a:ext cx="82296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 TONTON GUG  |  Finance Fundamentals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320040" y="749808"/>
            <a:ext cx="850392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749808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% Δ Price  ≈  − Modified Duration × Δ yield     (for small yield changes)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320040" y="1508760"/>
            <a:ext cx="8503920" cy="1965960"/>
          </a:xfrm>
          <a:prstGeom prst="rect">
            <a:avLst/>
          </a:prstGeom>
          <a:solidFill>
            <a:srgbClr val="FEF0E7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58191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60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WORKED EXAMPLE — Duration calculation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1892808"/>
            <a:ext cx="8229600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Bond: 5% coupon, 3-year, YTM=5%, Par=£1,000, Price=£1,000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1: Cash flow £50, PV=47.62, Weight = 47.62/1000 = 4.76%, Weighted time = 1×4.76% = 0.0476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2: Cash flow £50, PV=45.35, Weight = 4.54%, Weighted time = 2×4.54% = 0.0907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3: Cash flow £1,050, PV=907.03, Weight = 90.70%, Weighted time = 3×90.70% = 2.7210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Macaulay Duration = 0.0476 + 0.0907 + 2.7210 = 2.86 years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Modified Duration = 2.86/1.05 = 2.724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If yield rises 1%, price falls approximately 2.724%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0040" y="3611880"/>
            <a:ext cx="8503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Duration rules of thumb: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38912" y="4032504"/>
            <a:ext cx="128016" cy="128016"/>
          </a:xfrm>
          <a:prstGeom prst="ellipse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400507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Zero-coupon bond: Macaulay Duration = Maturity (all cash flow at the end)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38912" y="4215384"/>
            <a:ext cx="128016" cy="128016"/>
          </a:xfrm>
          <a:prstGeom prst="ellipse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418795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coupon → lower duration (more cash flows arrive early)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38912" y="4398264"/>
            <a:ext cx="128016" cy="128016"/>
          </a:xfrm>
          <a:prstGeom prst="ellipse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" y="437083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Longer maturity → higher duration (cash flows further away)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38912" y="4581144"/>
            <a:ext cx="128016" cy="128016"/>
          </a:xfrm>
          <a:prstGeom prst="ellipse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" y="455371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yield → lower duration (future cash flows discounted more heavily)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21792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7772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Convexity — Improving the Duration Estimate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7223760" y="0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S5 AM  •  Session 9 of 10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92040"/>
            <a:ext cx="82296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 TONTON GUG  |  Finance Fundamentals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320040" y="777240"/>
            <a:ext cx="8503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 provides a LINEAR approximation of price change. For large yield moves, we need convexity to correct for the curve: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0040" y="1298448"/>
            <a:ext cx="850392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298448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% Δ Price  ≈  −Duration × Δy  +  ½ × Convexity × (Δy)²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320040" y="2084832"/>
            <a:ext cx="8503920" cy="1554480"/>
          </a:xfrm>
          <a:prstGeom prst="rect">
            <a:avLst/>
          </a:prstGeom>
          <a:solidFill>
            <a:srgbClr val="FEF0E7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15798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60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EXAMPLE — Duration vs Convexity Correction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2468880"/>
            <a:ext cx="822960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Bond: Modified Duration=7.0, Convexity=65. Yield rises 200 bps (0.02).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Duration-only estimate: −7.0 × 0.02 = −14.0%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Convexity correction: +½ × 65 × (0.02)² = +½ × 65 × 0.0004 = +0.013 = +1.3%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estimate: −14.0% + 1.3% = −12.7%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Convexity always helps — it reduces price fall in a rising rate environment and increases price gain in a falling rate environment.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0040" y="3822192"/>
            <a:ext cx="4187952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9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3822192"/>
            <a:ext cx="91440" cy="1572768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21208" y="391363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Convexity is always positive for standard bonds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21208" y="4279392"/>
            <a:ext cx="38404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rises more than duration predicts when yields fall. Falls less than duration predicts when yields rise. This asymmetry is valuable.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27448" y="3822192"/>
            <a:ext cx="4187952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9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27448" y="3822192"/>
            <a:ext cx="91440" cy="1572768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28616" y="391363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Callable bonds have negative convexity at low yields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928616" y="4279392"/>
            <a:ext cx="38404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rates fall, issuer calls the bond → investors lose the upside. Price is capped. Duration estimate can overstate price gains.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21792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7772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Credit Risk — Ratings, Spreads &amp; Default Analysis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7223760" y="0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S5 AM  •  Session 9 of 10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92040"/>
            <a:ext cx="82296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 TONTON GUG  |  Finance Fundamentals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320040" y="777240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risk is the probability of default or rating deterioration. It is the primary risk for investment-grade bond investors.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0040" y="1261872"/>
            <a:ext cx="8503920" cy="62179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261872"/>
            <a:ext cx="8503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Expected Loss  =  PD × LGD × EAD     Spread ≈ EL + Liquidity Premium</a:t>
            </a:r>
            <a:endParaRPr lang="en-US" sz="2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993392"/>
          <a:ext cx="850392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1828800"/>
                <a:gridCol w="1371600"/>
                <a:gridCol w="1554480"/>
                <a:gridCol w="21945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S&amp;P / Moody's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Category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Annual PD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Typical Spread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Context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AAA / Aaa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Prime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&lt; 0.01%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&lt; 50 bps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Government, top-tier blue chips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AA / Aa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High Grade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~0.01-0.03%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50-80 bps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Strong corporates, agencies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A / A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Upper Medium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~0.05-0.10%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80-120 bps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Most investment grade corporates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BBB / Baa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Lower Medium (IG)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~0.20-0.50%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120-250 bps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IG minimum (many mandates)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BB / Ba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Speculative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~1-3%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300-500 bps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High yield — below IG threshold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B / B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Highly Speculative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~3-8%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500-800 bps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Leveraged finance / LBO bonds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CCC / Caa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Substantial Risk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~10-25%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800-1,500 bps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Near-distressed situations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D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In Default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100%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Varies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</a:rPr>
                        <a:t>Bond has defaulted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53A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5603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E860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PRACTICE PROBLEMS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before turning the page.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024128"/>
            <a:ext cx="8321040" cy="649224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024128"/>
            <a:ext cx="594360" cy="649224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024128"/>
            <a:ext cx="59436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61288" y="1078992"/>
            <a:ext cx="7452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a 6% semi-annual coupon, £1,000 par bond with 2 years to maturity at YTM of (a) 6% and (b) 8%.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200" y="1773936"/>
            <a:ext cx="8321040" cy="649224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1773936"/>
            <a:ext cx="594360" cy="649224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1773936"/>
            <a:ext cx="59436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61288" y="1828800"/>
            <a:ext cx="7452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Bond has Modified Duration=5.5. Yield rises from 4.0% to 4.75%. Estimate the % price change.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57200" y="2523744"/>
            <a:ext cx="8321040" cy="649224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2523744"/>
            <a:ext cx="594360" cy="649224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523744"/>
            <a:ext cx="59436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61288" y="2578608"/>
            <a:ext cx="7452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Bond: Macaulay Duration=3.8, YTM=5%. Calculate Modified Duration. If yield falls 50bps, what happens to price?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57200" y="3273552"/>
            <a:ext cx="8321040" cy="649224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3273552"/>
            <a:ext cx="594360" cy="649224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273552"/>
            <a:ext cx="59436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161288" y="3328416"/>
            <a:ext cx="7452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 bond yields 7.2%. 5-year gilt yields 4.5%. Credit spread = ? If LGD=45%, what does this imply about PD?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57200" y="4023360"/>
            <a:ext cx="8321040" cy="649224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4023360"/>
            <a:ext cx="594360" cy="649224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4023360"/>
            <a:ext cx="59436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Q5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161288" y="4078224"/>
            <a:ext cx="7452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does a zero-coupon bond have higher duration than a coupon bond of the same maturity? Which is more sensitive to rate changes?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621792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0"/>
            <a:ext cx="7772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Practice — Answers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7223760" y="0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S5 AM  •  Session 9 of 10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92040"/>
            <a:ext cx="82296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 TONTON GUG  |  Finance Fundamentals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320040" y="777240"/>
            <a:ext cx="8503920" cy="694944"/>
          </a:xfrm>
          <a:prstGeom prst="rect">
            <a:avLst/>
          </a:prstGeom>
          <a:solidFill>
            <a:srgbClr val="E8F5E9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777240"/>
            <a:ext cx="594360" cy="694944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777240"/>
            <a:ext cx="594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05840" y="777240"/>
            <a:ext cx="76809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(a) YTM=6%: P = 30/1.03+30/1.03²+30/1.03³+1,030/1.03⁴ = 29.13+28.28+27.45+914.87 = £999.73 ≈ £1,000 (par). (b) YTM=8%: use 4%/period: P = 30/1.04+30/1.04²+30/1.04³+1,030/1.04⁴ = 28.85+27.74+26.67+880.77 = £964.03 (discount bond)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0040" y="1581912"/>
            <a:ext cx="850392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" y="1581912"/>
            <a:ext cx="594360" cy="694944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1581912"/>
            <a:ext cx="594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05840" y="1581912"/>
            <a:ext cx="76809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Δ Price ≈ −5.5 × 0.0075 = −4.13%. Price falls approximately 4.1%.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0040" y="2386584"/>
            <a:ext cx="8503920" cy="694944"/>
          </a:xfrm>
          <a:prstGeom prst="rect">
            <a:avLst/>
          </a:prstGeom>
          <a:solidFill>
            <a:srgbClr val="E8F5E9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" y="2386584"/>
            <a:ext cx="594360" cy="694944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2386584"/>
            <a:ext cx="594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05840" y="2386584"/>
            <a:ext cx="76809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Modified Duration = 3.8/1.05 = 3.619. Yield falls 50bps (0.005): % Δ Price ≈ +3.619×0.005 = +1.81%. Price rises ~1.81%.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20040" y="3191256"/>
            <a:ext cx="850392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" y="3191256"/>
            <a:ext cx="594360" cy="694944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3191256"/>
            <a:ext cx="594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05840" y="3191256"/>
            <a:ext cx="76809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spread = 7.2−4.5 = 270 bps = 2.7%. EL ≈ PD × LGD: 2.7% ≈ PD × 45%. Implied PD ≈ 6.0% annual (this is speculative/BB range territory).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20040" y="3995928"/>
            <a:ext cx="8503920" cy="694944"/>
          </a:xfrm>
          <a:prstGeom prst="rect">
            <a:avLst/>
          </a:prstGeom>
          <a:solidFill>
            <a:srgbClr val="E8F5E9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0040" y="3995928"/>
            <a:ext cx="594360" cy="694944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" y="3995928"/>
            <a:ext cx="5943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005840" y="3995928"/>
            <a:ext cx="76809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zero-coupon bond has ALL cash flow at maturity → Macaulay Duration = Maturity exactly. A coupon bond receives cash earlier (coupons), pulling duration below maturity. Zero-coupon has higher duration = much more sensitive to rate changes. A 10-year zero behaves like a 10-year modified duration; a 10-year coupon bond might have 7-8 year duration.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5603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860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TAKEAWAYS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Session 9 — Fixed Income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457200" y="1298448"/>
            <a:ext cx="4160520" cy="1078992"/>
          </a:xfrm>
          <a:prstGeom prst="rect">
            <a:avLst/>
          </a:prstGeom>
          <a:solidFill>
            <a:srgbClr val="253A5E"/>
          </a:solidFill>
          <a:ln w="12700">
            <a:solidFill>
              <a:srgbClr val="253A5E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9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03504" y="1719072"/>
            <a:ext cx="128016" cy="128016"/>
          </a:xfrm>
          <a:prstGeom prst="ellipse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1371600"/>
            <a:ext cx="363931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= PV of all cash flows at YTM. Price and yield move in opposite directions.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846320" y="1298448"/>
            <a:ext cx="4160520" cy="1078992"/>
          </a:xfrm>
          <a:prstGeom prst="rect">
            <a:avLst/>
          </a:prstGeom>
          <a:solidFill>
            <a:srgbClr val="253A5E"/>
          </a:solidFill>
          <a:ln w="12700">
            <a:solidFill>
              <a:srgbClr val="253A5E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9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992624" y="1719072"/>
            <a:ext cx="128016" cy="128016"/>
          </a:xfrm>
          <a:prstGeom prst="ellipse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230368" y="1371600"/>
            <a:ext cx="363931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Par: coupon=YTM. Premium: coupon&gt;YTM. Discount: coupon&lt;YTM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57200" y="2468880"/>
            <a:ext cx="4160520" cy="1078992"/>
          </a:xfrm>
          <a:prstGeom prst="rect">
            <a:avLst/>
          </a:prstGeom>
          <a:solidFill>
            <a:srgbClr val="253A5E"/>
          </a:solidFill>
          <a:ln w="12700">
            <a:solidFill>
              <a:srgbClr val="253A5E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9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03504" y="2889504"/>
            <a:ext cx="128016" cy="128016"/>
          </a:xfrm>
          <a:prstGeom prst="ellipse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1248" y="2542032"/>
            <a:ext cx="363931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 ≈ % price change per 1% yield move. Longer duration = more rate risk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846320" y="2468880"/>
            <a:ext cx="4160520" cy="1078992"/>
          </a:xfrm>
          <a:prstGeom prst="rect">
            <a:avLst/>
          </a:prstGeom>
          <a:solidFill>
            <a:srgbClr val="253A5E"/>
          </a:solidFill>
          <a:ln w="12700">
            <a:solidFill>
              <a:srgbClr val="253A5E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9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992624" y="2889504"/>
            <a:ext cx="128016" cy="128016"/>
          </a:xfrm>
          <a:prstGeom prst="ellipse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230368" y="2542032"/>
            <a:ext cx="363931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Convexity always benefits bondholder: improves duration estimate for large moves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57200" y="3639312"/>
            <a:ext cx="4160520" cy="1078992"/>
          </a:xfrm>
          <a:prstGeom prst="rect">
            <a:avLst/>
          </a:prstGeom>
          <a:solidFill>
            <a:srgbClr val="253A5E"/>
          </a:solidFill>
          <a:ln w="12700">
            <a:solidFill>
              <a:srgbClr val="253A5E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9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03504" y="4059936"/>
            <a:ext cx="128016" cy="128016"/>
          </a:xfrm>
          <a:prstGeom prst="ellipse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1248" y="3712464"/>
            <a:ext cx="363931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spread = PD × LGD + liquidity premium. BBB = IG floor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846320" y="3639312"/>
            <a:ext cx="4160520" cy="1078992"/>
          </a:xfrm>
          <a:prstGeom prst="rect">
            <a:avLst/>
          </a:prstGeom>
          <a:solidFill>
            <a:srgbClr val="253A5E"/>
          </a:solidFill>
          <a:ln w="12700">
            <a:solidFill>
              <a:srgbClr val="253A5E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9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992624" y="4059936"/>
            <a:ext cx="128016" cy="128016"/>
          </a:xfrm>
          <a:prstGeom prst="ellipse">
            <a:avLst/>
          </a:prstGeom>
          <a:solidFill>
            <a:srgbClr val="E8600A"/>
          </a:solidFill>
          <a:ln w="12700">
            <a:solidFill>
              <a:srgbClr val="E8600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230368" y="3712464"/>
            <a:ext cx="363931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Modified Duration = Macaulay / (1+y/m) — the practical risk measure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57200" y="46177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 TONTON GUG  •  Finance Fundamentals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2026-04-06T18:21:04Z</dcterms:created>
  <dcterms:modified xsi:type="dcterms:W3CDTF">2026-04-06T18:21:04Z</dcterms:modified>
</cp:coreProperties>
</file>