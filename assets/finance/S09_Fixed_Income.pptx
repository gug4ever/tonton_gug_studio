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Spot</c:v>
                </c:pt>
              </c:strCache>
            </c:strRef>
          </c:tx>
          <c:spPr>
            <a:solidFill>
              <a:srgbClr val="1B2A4A"/>
            </a:solidFill>
            <a:ln w="25400" cap="flat">
              <a:solidFill>
                <a:srgbClr val="1B2A4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A4A"/>
              </a:solidFill>
              <a:ln w="9525" cap="flat">
                <a:solidFill>
                  <a:srgbClr val="1B2A4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1Y</c:v>
                  </c:pt>
                  <c:pt idx="1">
                    <c:v>2Y</c:v>
                  </c:pt>
                  <c:pt idx="2">
                    <c:v>3Y</c:v>
                  </c:pt>
                  <c:pt idx="3">
                    <c:v>4Y</c:v>
                  </c:pt>
                  <c:pt idx="4">
                    <c:v>5Y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3.5</c:v>
                </c:pt>
                <c:pt idx="2">
                  <c:v>4</c:v>
                </c:pt>
                <c:pt idx="3">
                  <c:v>4.4</c:v>
                </c:pt>
                <c:pt idx="4">
                  <c:v>4.7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Forward</c:v>
                </c:pt>
              </c:strCache>
            </c:strRef>
          </c:tx>
          <c:spPr>
            <a:solidFill>
              <a:srgbClr val="E8600A"/>
            </a:solidFill>
            <a:ln w="25400" cap="flat">
              <a:solidFill>
                <a:srgbClr val="E860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600A"/>
              </a:solidFill>
              <a:ln w="9525" cap="flat">
                <a:solidFill>
                  <a:srgbClr val="E860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1Y</c:v>
                  </c:pt>
                  <c:pt idx="1">
                    <c:v>2Y</c:v>
                  </c:pt>
                  <c:pt idx="2">
                    <c:v>3Y</c:v>
                  </c:pt>
                  <c:pt idx="3">
                    <c:v>4Y</c:v>
                  </c:pt>
                  <c:pt idx="4">
                    <c:v>5Y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5.6</c:v>
                </c:pt>
                <c:pt idx="4">
                  <c:v>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Price</c:v>
                </c:pt>
              </c:strCache>
            </c:strRef>
          </c:tx>
          <c:spPr>
            <a:solidFill>
              <a:srgbClr val="E8600A"/>
            </a:solidFill>
            <a:ln w="25400" cap="flat">
              <a:solidFill>
                <a:srgbClr val="E860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600A"/>
              </a:solidFill>
              <a:ln w="9525" cap="flat">
                <a:solidFill>
                  <a:srgbClr val="E860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1%</c:v>
                  </c:pt>
                  <c:pt idx="1">
                    <c:v>2%</c:v>
                  </c:pt>
                  <c:pt idx="2">
                    <c:v>3%</c:v>
                  </c:pt>
                  <c:pt idx="3">
                    <c:v>4%</c:v>
                  </c:pt>
                  <c:pt idx="4">
                    <c:v>5%</c:v>
                  </c:pt>
                  <c:pt idx="5">
                    <c:v>6%</c:v>
                  </c:pt>
                  <c:pt idx="6">
                    <c:v>7%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140</c:v>
                </c:pt>
                <c:pt idx="1">
                  <c:v>130</c:v>
                </c:pt>
                <c:pt idx="2">
                  <c:v>120</c:v>
                </c:pt>
                <c:pt idx="3">
                  <c:v>110.5</c:v>
                </c:pt>
                <c:pt idx="4">
                  <c:v>100</c:v>
                </c:pt>
                <c:pt idx="5">
                  <c:v>90.5</c:v>
                </c:pt>
                <c:pt idx="6">
                  <c:v>82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Duration Linear</c:v>
                </c:pt>
              </c:strCache>
            </c:strRef>
          </c:tx>
          <c:spPr>
            <a:solidFill>
              <a:srgbClr val="6B7A99"/>
            </a:solidFill>
            <a:ln w="25400" cap="flat">
              <a:solidFill>
                <a:srgbClr val="6B7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7A99"/>
              </a:solidFill>
              <a:ln w="9525" cap="flat">
                <a:solidFill>
                  <a:srgbClr val="6B7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1%</c:v>
                  </c:pt>
                  <c:pt idx="1">
                    <c:v>2%</c:v>
                  </c:pt>
                  <c:pt idx="2">
                    <c:v>3%</c:v>
                  </c:pt>
                  <c:pt idx="3">
                    <c:v>4%</c:v>
                  </c:pt>
                  <c:pt idx="4">
                    <c:v>5%</c:v>
                  </c:pt>
                  <c:pt idx="5">
                    <c:v>6%</c:v>
                  </c:pt>
                  <c:pt idx="6">
                    <c:v>7%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140</c:v>
                </c:pt>
                <c:pt idx="1">
                  <c:v>128</c:v>
                </c:pt>
                <c:pt idx="2">
                  <c:v>116</c:v>
                </c:pt>
                <c:pt idx="3">
                  <c:v>110</c:v>
                </c:pt>
                <c:pt idx="4">
                  <c:v>100</c:v>
                </c:pt>
                <c:pt idx="5">
                  <c:v>90</c:v>
                </c:pt>
                <c:pt idx="6">
                  <c:v>80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Credit Spread (bps)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E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B2A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600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00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C2200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AAA</c:v>
                  </c:pt>
                  <c:pt idx="1">
                    <c:v>AA</c:v>
                  </c:pt>
                  <c:pt idx="2">
                    <c:v>A</c:v>
                  </c:pt>
                  <c:pt idx="3">
                    <c:v>BBB</c:v>
                  </c:pt>
                  <c:pt idx="4">
                    <c:v>BB</c:v>
                  </c:pt>
                  <c:pt idx="5">
                    <c:v>B</c:v>
                  </c:pt>
                  <c:pt idx="6">
                    <c:v>CCC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40</c:v>
                </c:pt>
                <c:pt idx="2">
                  <c:v>80</c:v>
                </c:pt>
                <c:pt idx="3">
                  <c:v>150</c:v>
                </c:pt>
                <c:pt idx="4">
                  <c:v>350</c:v>
                </c:pt>
                <c:pt idx="5">
                  <c:v>600</c:v>
                </c:pt>
                <c:pt idx="6">
                  <c:v>1100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E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0F1E35"/>
          </a:solidFill>
          <a:ln w="12700">
            <a:solidFill>
              <a:srgbClr val="0F1E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4663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D0D8E8"/>
                </a:solidFill>
              </a:rPr>
              <a:t>STUDIO TONTON GUG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0040" y="1645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E8600A"/>
                </a:solidFill>
              </a:rPr>
              <a:t>FINANCE FUNDAMENTALS · CFA LEVEL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1005840"/>
            <a:ext cx="8412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Income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20040" y="2651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markets, valuation, risk &amp; credit analysis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99"/>
                </a:solidFill>
              </a:rPr>
              <a:t>S09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0D8E8"/>
                </a:solidFill>
              </a:rPr>
              <a:t>S09 · FIXED INCOME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Features &amp; Types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06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LM1–3 · Instrument design, cash flows, issuance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BOND ANATOMY: KEY FEATURES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20116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Structural Elements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2542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Par (face) value — repaid at maturity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Coupon rate — % of par paid periodically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Maturity date — when principal is due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Issue / clean price at issuance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804672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804672"/>
            <a:ext cx="64008" cy="20116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8961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Coupon Types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37560" y="1188720"/>
            <a:ext cx="25420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Fixed-rate: same coupon every period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Floating-rate: reference + spread (e.g. SOFR+150bp)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Zero-coupon: no coupons, deep discount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Step-up: coupon rises over time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804672"/>
            <a:ext cx="28346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804672"/>
            <a:ext cx="64008" cy="20116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8961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Embedded Options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1188720"/>
            <a:ext cx="26334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Callable: issuer may redeem early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Putable: holder may sell back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Convertible: exchange for equity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Options affect yield &amp; duration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" y="292608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99"/>
                </a:solidFill>
              </a:rPr>
              <a:t>A bond is a promise to pay coupons + par. Each feature directly affects valuation and risk.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657600"/>
            <a:ext cx="64008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041648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99"/>
                </a:solidFill>
              </a:rPr>
              <a:t>ISSUE DATE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188720" y="3822192"/>
            <a:ext cx="804672" cy="0"/>
          </a:xfrm>
          <a:prstGeom prst="line">
            <a:avLst/>
          </a:prstGeom>
          <a:noFill/>
          <a:ln w="19050">
            <a:solidFill>
              <a:srgbClr val="D0D8E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2103120" y="3657600"/>
            <a:ext cx="640080" cy="32004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20240" y="4041648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99"/>
                </a:solidFill>
              </a:rPr>
              <a:t>COUPON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743200" y="3822192"/>
            <a:ext cx="804672" cy="0"/>
          </a:xfrm>
          <a:prstGeom prst="line">
            <a:avLst/>
          </a:prstGeom>
          <a:noFill/>
          <a:ln w="19050">
            <a:solidFill>
              <a:srgbClr val="D0D8E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3840480" y="3657600"/>
            <a:ext cx="640080" cy="32004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0" y="4041648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99"/>
                </a:solidFill>
              </a:rPr>
              <a:t>COUPON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480560" y="3822192"/>
            <a:ext cx="804672" cy="0"/>
          </a:xfrm>
          <a:prstGeom prst="line">
            <a:avLst/>
          </a:prstGeom>
          <a:noFill/>
          <a:ln w="19050">
            <a:solidFill>
              <a:srgbClr val="D0D8E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577840" y="3657600"/>
            <a:ext cx="640080" cy="32004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94960" y="4041648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99"/>
                </a:solidFill>
              </a:rPr>
              <a:t>COUPON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6217920" y="3822192"/>
            <a:ext cx="804672" cy="0"/>
          </a:xfrm>
          <a:prstGeom prst="line">
            <a:avLst/>
          </a:prstGeom>
          <a:noFill/>
          <a:ln w="19050">
            <a:solidFill>
              <a:srgbClr val="D0D8E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223760" y="3657600"/>
            <a:ext cx="640080" cy="320040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0" y="4041648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99"/>
                </a:solidFill>
              </a:rPr>
              <a:t>MATURITY + PAR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BOND TYPES BY ISSUER &amp; STRUCTURE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393192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2743200"/>
                <a:gridCol w="164592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Issuer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 Level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Government Bond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Sovereign / Treasury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AAA benchmark, liquid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Agency Bond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Govt-sponsored entity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Implicit/explicit guarantee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Low–Med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Municipal Bond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State / city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Often tax-exempt income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Low–Med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Corporate Bond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Public company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Credit spread over govt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Med–High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High Yield Bond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Sub-investment grade co.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Higher coupon, higher 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Covered Bond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Bank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Dual recourse to issuer + pool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Low–Med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ABS / MBS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SPV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Backed by asset pool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B2A4A"/>
                          </a:solidFill>
                        </a:rPr>
                        <a:t>Variable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BOND ISSUANCE &amp; MARKET STRUCTURE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7373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Primary Market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Public offering via syndicate (bookbuilding)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Private placement: direct to investors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Auction: governments sell T-bills/bonds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Shelf registration: pre-approved issuance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804672"/>
            <a:ext cx="4206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804672"/>
            <a:ext cx="64008" cy="17373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896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Secondary Market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1188720"/>
            <a:ext cx="4005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OTC dealer market: most bonds trade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Exchange-traded: smaller corporate issues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Repo market: short-term secured financing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Bid-ask spread = dealer's compensation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14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64008" cy="16459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8346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Bond Indenture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3127248"/>
            <a:ext cx="39136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Legal contract: trustee protects holders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Affirmative covenants: must maintain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Negative covenants: must not do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Cross-default: linked to other obligations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743200"/>
            <a:ext cx="42062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743200"/>
            <a:ext cx="64008" cy="16459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8346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Short-Term Instruments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127248"/>
            <a:ext cx="4005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Commercial paper: &lt; 270 days, no coupons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Banker's acceptances: trade finance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Certificates of deposit (CD)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Repurchase agreements (repos)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0D8E8"/>
                </a:solidFill>
              </a:rPr>
              <a:t>S09 · FIXED INCOME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 Valuation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06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LM4 · Pricing, yield measures &amp; clean/dirty price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BOND PRICING: PRESENT VALUE OF CASH FLOWS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8595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896112"/>
            <a:ext cx="8229600" cy="777240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896112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C/(1+r)¹ + C/(1+r)² + … + (C+FV)/(1+r)ⁿ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2331720"/>
            <a:ext cx="26517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2331720"/>
            <a:ext cx="64008" cy="2331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423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At Par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2715768"/>
            <a:ext cx="2450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Coupon rate = YTM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Price = 100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Bond priced at face value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Yield = quoted coupon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2331720"/>
            <a:ext cx="26517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08960" y="2331720"/>
            <a:ext cx="64008" cy="23317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46120" y="2423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At Discount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46120" y="2715768"/>
            <a:ext cx="2450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YTM &gt; coupon rate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Price &lt; 100 (par)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Investor gains capital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Higher required return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0" y="2331720"/>
            <a:ext cx="28346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0" y="2331720"/>
            <a:ext cx="64008" cy="2331720"/>
          </a:xfrm>
          <a:prstGeom prst="rect">
            <a:avLst/>
          </a:prstGeom>
          <a:solidFill>
            <a:srgbClr val="4A7EC2"/>
          </a:solidFill>
          <a:ln w="12700">
            <a:solidFill>
              <a:srgbClr val="4A7EC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24231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At Premium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80760" y="2715768"/>
            <a:ext cx="263347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YTM &lt; coupon rate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Price &gt; 100 (par)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Investor loses capital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Lower required return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YIELD MEASURES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206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4173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Current Yield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4005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CY = Annual Coupon / Price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Ignores time value and capital gain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Quick approximation only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804672"/>
            <a:ext cx="4206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804672"/>
            <a:ext cx="64008" cy="14173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896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Yield to Maturity (YTM)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1188720"/>
            <a:ext cx="4005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IRR of buying bond at P and holding to maturity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Assumes coupons reinvested at YTM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Most widely quoted yield measure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4206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377440"/>
            <a:ext cx="64008" cy="14173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4688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Yield to Call (YTC)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2761488"/>
            <a:ext cx="4005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IRR assuming bond called at first call date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Relevant when bond trades at premium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YTC &lt; YTM if premium bond is callable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377440"/>
            <a:ext cx="42062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377440"/>
            <a:ext cx="64008" cy="14173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4688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Yield Spread Measures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2761488"/>
            <a:ext cx="4005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G-spread: vs govt benchmark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I-spread: vs swap rate curve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Z-spread: constant OAS vs spot curve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OAS: after stripping embedded option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74320" y="39319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9"/>
                </a:solidFill>
              </a:rPr>
              <a:t>YTM implicitly assumes reinvestment at YTM — violated in practice. Use horizon return for more realistic analysis.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CLEAN PRICE, FULL PRICE &amp; ACCRUED INTEREST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8595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841248"/>
            <a:ext cx="8229600" cy="566928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8412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Price (Dirty) = Clean Price + Accrued Interest   |   AI = Coupon × (Days since last coupon / Days in period)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600200"/>
            <a:ext cx="42062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600200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6916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Clean Price (Flat Price)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1984248"/>
            <a:ext cx="4005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Quoted price in the market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Excludes accrued interest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Allows comparison across settlement dates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Does NOT change on coupon date itself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1600200"/>
            <a:ext cx="42062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600200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6916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Full Price (Invoice / Dirty)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984248"/>
            <a:ext cx="4005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Actual cash paid to seller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Includes accrued interest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Clean price + AI = full price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Drops sharply on ex-coupon date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383280"/>
            <a:ext cx="8595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23360"/>
            <a:ext cx="8046720" cy="0"/>
          </a:xfrm>
          <a:prstGeom prst="line">
            <a:avLst/>
          </a:prstGeom>
          <a:noFill/>
          <a:ln w="25400">
            <a:solidFill>
              <a:srgbClr val="1B2A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3959352"/>
            <a:ext cx="219456" cy="21945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" y="4206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99"/>
                </a:solidFill>
              </a:rPr>
              <a:t>Last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A99"/>
                </a:solidFill>
              </a:rPr>
              <a:t>Coupon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53712" y="3959352"/>
            <a:ext cx="219456" cy="21945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06240" y="4206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99"/>
                </a:solidFill>
              </a:rPr>
              <a:t>Settlement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A99"/>
                </a:solidFill>
              </a:rPr>
              <a:t>Date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577072" y="3959352"/>
            <a:ext cx="219456" cy="219456"/>
          </a:xfrm>
          <a:prstGeom prst="ellipse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0" y="4206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99"/>
                </a:solidFill>
              </a:rPr>
              <a:t>Next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7A99"/>
                </a:solidFill>
              </a:rPr>
              <a:t>Coupon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0080" y="3456432"/>
            <a:ext cx="4023360" cy="164592"/>
          </a:xfrm>
          <a:prstGeom prst="rect">
            <a:avLst/>
          </a:prstGeom>
          <a:solidFill>
            <a:srgbClr val="E8600A">
              <a:alpha val="40000"/>
            </a:srgbClr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493008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600A"/>
                </a:solidFill>
              </a:rPr>
              <a:t>Accrued Interest Period →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MATRIX PRICING &amp; INTERPOLATION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5029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5544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What is Matrix Pricing?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4828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Used when bond lacks recent market trade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Estimate YTM by interpolating between comparable bonds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Comparable bonds: similar issuer, maturity, credit rating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Then back-solve for estimated price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94960" y="804672"/>
            <a:ext cx="3474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896112"/>
          <a:ext cx="3291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Bond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Maturity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YTM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A52"/>
                          </a:solidFill>
                        </a:rPr>
                        <a:t>Bond A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A52"/>
                          </a:solidFill>
                        </a:rPr>
                        <a:t>3 yr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A52"/>
                          </a:solidFill>
                        </a:rPr>
                        <a:t>4.20%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600A"/>
                          </a:solidFill>
                        </a:rPr>
                        <a:t>Target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600A"/>
                          </a:solidFill>
                        </a:rPr>
                        <a:t>5 yr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8600A"/>
                          </a:solidFill>
                        </a:rPr>
                        <a:t>?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A52"/>
                          </a:solidFill>
                        </a:rPr>
                        <a:t>Bond B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A52"/>
                          </a:solidFill>
                        </a:rPr>
                        <a:t>7 yr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D3A52"/>
                          </a:solidFill>
                        </a:rPr>
                        <a:t>5.60%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486400" y="2560320"/>
            <a:ext cx="3291840" cy="594360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577840" y="25603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YTM* ≈ 4.20 + (5.60−4.20) × 2/4 = 4.90%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40680" y="3218688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B7A99"/>
                </a:solidFill>
              </a:rPr>
              <a:t>Linear interpolation between 3yr and 7yr benchmarks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74320" y="2514600"/>
            <a:ext cx="49377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4320" y="2514600"/>
            <a:ext cx="64008" cy="17830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26060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Steps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11480" y="2898648"/>
            <a:ext cx="4736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1. Identify nearest comparable bonds (above &amp; below maturity)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2. Interpolate YTM proportionally by maturity gap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3. Calculate estimated price using interpolated YTM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4. Adjust for any differences in coupon, credit, liquidity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0D8E8"/>
                </a:solidFill>
              </a:rPr>
              <a:t>S09 · FIXED INCOME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&amp; Forward Rates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06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LM9 · Zero rates, bootstrapping &amp; forward curve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SPOT RATE CURVE &amp; BOOTSTRAPPING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20624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Spot Rate (Zero Rate)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40050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Rate for a single cash flow at time 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Derived from zero-coupon bonds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S₁, S₂, S₃ ... = spot rate curve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Used to price any cash flow stream precisely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542032"/>
            <a:ext cx="4206240" cy="594360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54203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CF₁/(1+S₁)¹ + CF₂/(1+S₂)² + … + CFₙ/(1+Sₙ)ⁿ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804672"/>
            <a:ext cx="4206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Bootstrapping Example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Year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Par Bond YTM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Spot Rate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3.00%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3.00%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3.50%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3.52%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4.00%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4.04%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4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4.40%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4.46%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754880" y="312724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A99"/>
                </a:solidFill>
              </a:rPr>
              <a:t>Spot rates exceed par rates when curve is upward-sloping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74320" y="3273552"/>
            <a:ext cx="4206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74320" y="3273552"/>
            <a:ext cx="64008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1480" y="33649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Key Insight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11480" y="365760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Bootstrapping extracts spot rates from coupon bond prices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Each new spot rate solved sequentially using known earlier spots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FORWARD RATES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What Is a Forward Rate?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Rate agreed today for lending/borrowing in the future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Notation: f(T*, T) = forward for T years starting in T*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Derived from spot rate curve (no-arbitrage)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Forward curve &gt; spot curve when spot is rising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542032"/>
            <a:ext cx="4114800" cy="594360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542032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(1+S₂)² = (1+S₁)¹ × (1+f(1,1))¹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3264408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264408"/>
            <a:ext cx="64008" cy="10972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3558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Example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3648456"/>
            <a:ext cx="3913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S₁=3%, S₂=4% → f(1,1) = (1.04²/1.03)−1 ≈ 5.01%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Implied 1-year rate, 1 year from now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3440" y="804672"/>
            <a:ext cx="42062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Spot vs Forward Curve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663440" y="118872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PAR RATES &amp; YIELD CURVE THEORIES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5544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Par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Coupon rate making bond price = par (100)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Par curve is built from spot curve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When curve is upward-sloping: spot &gt; par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Useful for swap pricing (par swap rate)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5544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Yield Curve Shapes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Normal (upward): long &gt; short rates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Inverted: short &gt; long (recession signal)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Flat: rates equal across maturities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Humped: mid-term rates highest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514600"/>
            <a:ext cx="8595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56946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00A"/>
                </a:solidFill>
              </a:rPr>
              <a:t>Expectations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286000" y="2569464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Forward rates are unbiased predictors of future spot rates. Curve shape driven purely by rate expectations.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3099816"/>
            <a:ext cx="8595360" cy="530352"/>
          </a:xfrm>
          <a:prstGeom prst="rect">
            <a:avLst/>
          </a:prstGeom>
          <a:solidFill>
            <a:srgbClr val="EDF0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54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00A"/>
                </a:solidFill>
              </a:rPr>
              <a:t>Liquidity Preference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286000" y="315468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Long-term investors demand a premium. Curve normally upward-sloping. Forward rate = expected + liquidity premium.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685032"/>
            <a:ext cx="8595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73989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00A"/>
                </a:solidFill>
              </a:rPr>
              <a:t>Market Segmentation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286000" y="3739896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Supply and demand within maturity segments determine rates. No spillover between segments.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4270248"/>
            <a:ext cx="8595360" cy="530352"/>
          </a:xfrm>
          <a:prstGeom prst="rect">
            <a:avLst/>
          </a:prstGeom>
          <a:solidFill>
            <a:srgbClr val="EDF0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32511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600A"/>
                </a:solidFill>
              </a:rPr>
              <a:t>Preferred Habitat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286000" y="4325112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Investors prefer certain maturities but will move for sufficient premium. Combines segmentation with arbitrage.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0D8E8"/>
                </a:solidFill>
              </a:rPr>
              <a:t>S09 · FIXED INCOME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&amp; Convexity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06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LM6, LM12 · Interest rate risk, DV01 &amp; portfolio hedging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DURATION: MEASURING INTEREST RATE SENSITIVITY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265176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2020824"/>
            <a:ext cx="2651760" cy="640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8961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8E8"/>
                </a:solidFill>
              </a:rPr>
              <a:t>Macaulay Duration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124712"/>
            <a:ext cx="2505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Weighted avg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" y="162763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600A"/>
                </a:solidFill>
              </a:rPr>
              <a:t>Time to recoup PV of CFs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108960" y="804672"/>
            <a:ext cx="265176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08960" y="2020824"/>
            <a:ext cx="2651760" cy="640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8961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8E8"/>
                </a:solidFill>
              </a:rPr>
              <a:t>Modified Duration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82112" y="1124712"/>
            <a:ext cx="2505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%ΔP / Δy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182112" y="162763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600A"/>
                </a:solidFill>
              </a:rPr>
              <a:t>Price % change per 1% yield 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3600" y="804672"/>
            <a:ext cx="2834640" cy="12801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2020824"/>
            <a:ext cx="2834640" cy="64008"/>
          </a:xfrm>
          <a:prstGeom prst="rect">
            <a:avLst/>
          </a:prstGeom>
          <a:solidFill>
            <a:srgbClr val="4A7EC2"/>
          </a:solidFill>
          <a:ln w="12700">
            <a:solidFill>
              <a:srgbClr val="4A7E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8961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8E8"/>
                </a:solidFill>
              </a:rPr>
              <a:t>Effective Duration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16752" y="1124712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For embedded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16752" y="16276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600A"/>
                </a:solidFill>
              </a:rPr>
              <a:t>options — ΔP / (2×Δy×P)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2240280"/>
            <a:ext cx="8595360" cy="566928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2402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ModDur = MacDur / (1 + y/m)   |   %ΔP ≈ −ModDur × Δy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4320" y="2926080"/>
            <a:ext cx="4206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2926080"/>
            <a:ext cx="64008" cy="14630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017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Duration Rules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" y="3310128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Duration ↑ as maturity ↑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Duration ↓ as coupon rate ↑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Duration ↓ as yield ↑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Zero-coupon: Duration = Maturity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2926080"/>
            <a:ext cx="4206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2926080"/>
            <a:ext cx="64008" cy="14630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017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Dollar Duration (DV01)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00600" y="3310128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DV01 = ModDur × Price × 0.0001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$ price change for 1bp yield change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Portfolio DV01 = sum of bond DV01s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Used for hedging and position sizing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MACAULAY DURATION: WORKED EXAMPLE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</a:rPr>
              <a:t>3-Year Bond | 6% Annual Coupon | YTM = 5% | Par = 100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34440"/>
          <a:ext cx="8595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2011680"/>
                <a:gridCol w="237744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Period (t)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CF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PV of CF @ 5%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Weight (PV/Price)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 × weight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1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6.00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5.714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0.0541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0.054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2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6.00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5.442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0.0515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0.103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3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106.00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91.568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0.8675 (incl FV)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2.602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Total (Price)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102.723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1.0000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MacDur = 2.759 yrs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520440"/>
            <a:ext cx="4206240" cy="594360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" y="352044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ModDur = 2.759 / 1.05 = 2.628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3520440"/>
            <a:ext cx="4206240" cy="594360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54880" y="352044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%ΔP ≈ −2.628 × 0.01 = −2.63%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274320" y="422452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9"/>
                </a:solidFill>
              </a:rPr>
              <a:t>If yields rise by 100bp, price falls approximately 2.63%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PORTFOLIO DURATION &amp; HEDGING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5029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5544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Portfolio Duration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4828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Weighted average of individual bond durations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Weight = market value of bond / total portfolio MV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Portfolio DurP = Σ (wᵢ × MDᵢ)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Adding short-duration bonds lowers portfolio risk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94960" y="804672"/>
            <a:ext cx="3474720" cy="640080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80467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DurP = Σ wᵢ × MDᵢ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14600"/>
          <a:ext cx="8595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828800"/>
                <a:gridCol w="2651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Bond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MV ($M)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Weight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Mod Duration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Contribution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T-Bill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40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40%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0.5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0.20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Corp 5yr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35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35%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4.2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1.47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Corp 10yr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25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25%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7.8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D3A52"/>
                          </a:solidFill>
                        </a:rPr>
                        <a:t>1.95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Portfolio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100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100%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600A"/>
                          </a:solidFill>
                        </a:rPr>
                        <a:t>3.62 yrs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274320" y="440740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9"/>
                </a:solidFill>
              </a:rPr>
              <a:t>DV01 Hedge: To reduce DV01 by $X, short (or sell) bonds with offsetting DV01. Futures also used.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CONVEXITY: IMPROVING THE DURATION APPROXIMATION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5029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5087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Why Convexity Matters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4828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Duration is a linear approximation — price-yield is curved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Convexity measures the curvature of the price-yield relationship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Bonds with higher convexity: better price performance both up &amp; down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Convexity is always positive for straight (option-free) bonds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441448"/>
            <a:ext cx="5029200" cy="594360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44144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%ΔP ≈ −ModDur×Δy + ½×Convexity×(Δy)²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3154680"/>
            <a:ext cx="50292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3154680"/>
            <a:ext cx="64008" cy="11887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3246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Convexity Rules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353872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Higher for longer maturity, lower coupon bonds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Negative convexity: callables near par (price capped by call)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MBS have negative convexity due to prepayment risk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0" y="804672"/>
            <a:ext cx="34747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868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A"/>
                </a:solidFill>
              </a:rPr>
              <a:t>Price vs Yield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32120" y="11887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9"/>
                </a:solidFill>
              </a:rPr>
              <a:t>↑ Price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3891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9"/>
                </a:solidFill>
              </a:rPr>
              <a:t>Yield →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486400" y="1234440"/>
          <a:ext cx="34747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0D8E8"/>
                </a:solidFill>
              </a:rPr>
              <a:t>S09 · FIXED INCOME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Asset-Backed Securities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06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LM5 · Securitisation, MBS, prepayment risk &amp; tranching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SECURITISATION PROCESS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548640" cy="6400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80467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14400" y="804672"/>
            <a:ext cx="7955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859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Originator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11247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Bank originates loans (mortgages, auto, credit cards)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" y="1444752"/>
            <a:ext cx="0" cy="182880"/>
          </a:xfrm>
          <a:prstGeom prst="line">
            <a:avLst/>
          </a:prstGeom>
          <a:noFill/>
          <a:ln w="19050">
            <a:solidFill>
              <a:srgbClr val="E8600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627632"/>
            <a:ext cx="548640" cy="6400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62763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14400" y="1627632"/>
            <a:ext cx="7955280" cy="640080"/>
          </a:xfrm>
          <a:prstGeom prst="rect">
            <a:avLst/>
          </a:prstGeom>
          <a:solidFill>
            <a:srgbClr val="EDF0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16824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SPV (Issuer)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19476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Special Purpose Vehicle buys loans from originator (true sale)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0352" y="2267712"/>
            <a:ext cx="0" cy="182880"/>
          </a:xfrm>
          <a:prstGeom prst="line">
            <a:avLst/>
          </a:prstGeom>
          <a:noFill/>
          <a:ln w="19050">
            <a:solidFill>
              <a:srgbClr val="E860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2450592"/>
            <a:ext cx="548640" cy="6400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45059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14400" y="2450592"/>
            <a:ext cx="7955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Structuring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277063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Loans pooled; securities issued in tranches (AAA→equity)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30352" y="3090672"/>
            <a:ext cx="0" cy="182880"/>
          </a:xfrm>
          <a:prstGeom prst="line">
            <a:avLst/>
          </a:prstGeom>
          <a:noFill/>
          <a:ln w="19050">
            <a:solidFill>
              <a:srgbClr val="E8600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3273552"/>
            <a:ext cx="548640" cy="6400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27355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14400" y="3273552"/>
            <a:ext cx="7955280" cy="640080"/>
          </a:xfrm>
          <a:prstGeom prst="rect">
            <a:avLst/>
          </a:prstGeom>
          <a:solidFill>
            <a:srgbClr val="EDF0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33284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Credit Support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359359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Overcollateralisation, excess spread, reserve account, guarantees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0352" y="3913632"/>
            <a:ext cx="0" cy="182880"/>
          </a:xfrm>
          <a:prstGeom prst="line">
            <a:avLst/>
          </a:prstGeom>
          <a:noFill/>
          <a:ln w="19050">
            <a:solidFill>
              <a:srgbClr val="E860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" y="4096512"/>
            <a:ext cx="548640" cy="64008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096512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14400" y="4096512"/>
            <a:ext cx="79552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5840" y="4151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Investors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05840" y="441655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Buy ABS tranches matching their risk/return appetite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MORTGAGE-BACKED SECURITIES &amp; PREPAYMENT RISK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8288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Mortgage Pass-Through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Investors receive pro-rata share of pool payments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Payments = principal + interest + prepayments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WAM (weighted avg maturity) changes with prepayments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PSA benchmark: prepayment speed assumption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8288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CMO Tranches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Sequential pay: A tranche paid first (shortest duration)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PAC (Planned Amortisation Class): stable cash flows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Support/Companion: absorbs variability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Z-tranche: no cash flows till others paid (long duration)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788920"/>
            <a:ext cx="8595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8529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Prepayment Risk Components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200400"/>
            <a:ext cx="4114800" cy="1188720"/>
          </a:xfrm>
          <a:prstGeom prst="rect">
            <a:avLst/>
          </a:prstGeom>
          <a:solidFill>
            <a:srgbClr val="FFF3EC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200400"/>
            <a:ext cx="64008" cy="11887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32644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</a:rPr>
              <a:t>Contraction Risk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0352" y="358444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Rates ↓ → prepayments accelerate → investor receives principal early at low rates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3200400"/>
            <a:ext cx="4114800" cy="1188720"/>
          </a:xfrm>
          <a:prstGeom prst="rect">
            <a:avLst/>
          </a:prstGeom>
          <a:solidFill>
            <a:srgbClr val="EDF0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3200400"/>
            <a:ext cx="64008" cy="118872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28032" y="32644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</a:rPr>
              <a:t>Extension Risk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28032" y="358444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Rates ↑ → prepayments slow → investor stuck in low-coupon pool longer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60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0D8E8"/>
                </a:solidFill>
              </a:rPr>
              <a:t>S09 · FIXED INCOME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Analysis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606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LM7, LM15–16 · Ratings, sovereign &amp; corporate credit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CREDIT RISK: COMPONENTS &amp; MEASUREMENT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265176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2112264"/>
            <a:ext cx="2651760" cy="640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8961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8E8"/>
                </a:solidFill>
              </a:rPr>
              <a:t>Probability of Default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124712"/>
            <a:ext cx="2505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7472" y="162763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600A"/>
                </a:solidFill>
              </a:rPr>
              <a:t>Likelihood issuer fails to pay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108960" y="804672"/>
            <a:ext cx="265176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08960" y="2112264"/>
            <a:ext cx="2651760" cy="6400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8961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8E8"/>
                </a:solidFill>
              </a:rPr>
              <a:t>Loss Given Default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82112" y="1124712"/>
            <a:ext cx="2505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LGD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182112" y="162763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600A"/>
                </a:solidFill>
              </a:rPr>
              <a:t>= 1 − Recovery Rate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3600" y="804672"/>
            <a:ext cx="2834640" cy="1371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2112264"/>
            <a:ext cx="2834640" cy="64008"/>
          </a:xfrm>
          <a:prstGeom prst="rect">
            <a:avLst/>
          </a:prstGeom>
          <a:solidFill>
            <a:srgbClr val="4A7EC2"/>
          </a:solidFill>
          <a:ln w="12700">
            <a:solidFill>
              <a:srgbClr val="4A7E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8961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0D8E8"/>
                </a:solidFill>
              </a:rPr>
              <a:t>Expected Loss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016752" y="1124712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EL = PD × LGD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16752" y="16276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600A"/>
                </a:solidFill>
              </a:rPr>
              <a:t>Annual loss estimate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2331720"/>
            <a:ext cx="8595360" cy="566928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33172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Spread ≈ PD × LGD   (simplified)   |   Yield = Risk-free rate + Credit spread + Liquidity premium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74320" y="3017520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017520"/>
            <a:ext cx="64008" cy="1371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108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Rating Agencies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" y="3401568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Moody's: Aaa, Aa, A, Baa / Ba, B, Caa, Ca, C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S&amp;P/Fitch: AAA→D scale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Investment Grade: BBB−/Baa3 and above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High Yield (junk): BB+/Ba1 and below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3017520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3017520"/>
            <a:ext cx="64008" cy="13716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108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Rating vs Market Spread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00600" y="3401568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Ratings: backward-looking opinion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Spreads: market's current view (forward-looking)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Fallen angels: IG downgraded to HY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Rising stars: HY upgraded to IG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THE 4 CS OF CREDIT ANALYSIS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411480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8503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Capacity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261872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Ability to service debt from cash flows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Leverage: Net Debt/EBITDA, Debt/Equity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Coverage: EBITDA/Interest expense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Free cash flow generation consistency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804672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804672"/>
            <a:ext cx="411480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503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Collateral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09160" y="1261872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Assets securing the debt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Seniority: secured vs unsecured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Recovery rates: senior secured ~70%, senior unsecured ~40%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Asset quality, liquidity of collateral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8892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88920"/>
            <a:ext cx="411480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834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Covenants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5760" y="3246120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Affirmative: maintain insurance, pay taxes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Negative: no add'l debt, dividend restrictions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Maintenance: test quarterly (bank debt)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Incurrence: test only on trigger event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278892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17720" y="2788920"/>
            <a:ext cx="4114800" cy="41148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2834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Character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09160" y="3246120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Management quality &amp; track record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Shareholder vs bondholder-friendly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History of meeting obligations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D3A52"/>
                </a:solidFill>
              </a:rPr>
              <a:t>Strategy: growth vs capital return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SOVEREIGN CREDIT ANALYSIS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7373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Unique Sovereign Features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Sovereigns can default despite printing own currency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Local currency debt: lower default risk (can print)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Foreign currency debt: higher risk (cannot print FX)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IMF and Paris Club as lenders of last resort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7373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Willingness vs Ability to Pay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Ability: fiscal space, reserve levels, debt/GDP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Willingness: political will, investor relations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Ecuador 2008: chose to default on external debt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Analysing both is essential for sovereign credit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4320" y="269748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Key Sovereign Rating Factors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017520"/>
            <a:ext cx="8595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054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00A"/>
                </a:solidFill>
              </a:rPr>
              <a:t>Economic Strength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51760" y="305409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GDP growth, diversification, per capita income, external trade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401568"/>
            <a:ext cx="8595360" cy="347472"/>
          </a:xfrm>
          <a:prstGeom prst="rect">
            <a:avLst/>
          </a:prstGeom>
          <a:solidFill>
            <a:srgbClr val="EDF0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4381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00A"/>
                </a:solidFill>
              </a:rPr>
              <a:t>Fiscal Strength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1760" y="343814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Revenue/GDP, deficit, debt/GDP, debt structure (FX vs local)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3785616"/>
            <a:ext cx="8595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00A"/>
                </a:solidFill>
              </a:rPr>
              <a:t>External Position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51760" y="382219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Current account, FX reserves vs imports, external debt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4169664"/>
            <a:ext cx="8595360" cy="347472"/>
          </a:xfrm>
          <a:prstGeom prst="rect">
            <a:avLst/>
          </a:prstGeom>
          <a:solidFill>
            <a:srgbClr val="EDF0F7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4206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00A"/>
                </a:solidFill>
              </a:rPr>
              <a:t>Institutional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51760" y="4206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Rule of law, corruption, central bank independence, political risk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553712"/>
            <a:ext cx="8595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5902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600A"/>
                </a:solidFill>
              </a:rPr>
              <a:t>Event Risk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651760" y="459028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A52"/>
                </a:solidFill>
              </a:rPr>
              <a:t>Contingent liabilities, banking sector exposure, geopolitical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CORPORATE CREDIT ANALYSIS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920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Industry Analysis First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Cyclical vs non-cyclical (defensive sectors)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Competitive dynamics: Porter's 5 forces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Capital intensity &amp; asset tangibility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Regulatory environment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Industry credit profile = baseline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920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Key Credit Metrics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Leverage: Net Debt / EBITDA (&lt; 2x = low, &gt; 5x = high)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Coverage: EBIT / Interest expense (&gt; 3x healthy)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FCF yield: FCF / Total debt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Debt / Capital ratio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Return on invested capital (ROIC)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4320" y="28346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Corporate Credit: Waterfall of Claims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8595360" cy="347472"/>
          </a:xfrm>
          <a:prstGeom prst="rect">
            <a:avLst/>
          </a:prstGeom>
          <a:solidFill>
            <a:srgbClr val="4A7EC2"/>
          </a:solidFill>
          <a:ln w="12700">
            <a:solidFill>
              <a:srgbClr val="4A7E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2783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Senior Secured  —  First lien on specific assets. ~65–80% recovery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60120" y="3602736"/>
            <a:ext cx="722376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6301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Senior Unsecured  —  Claim on all assets after secured. ~35–50% recovery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645920" y="4005072"/>
            <a:ext cx="5852160" cy="347472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37360" y="403250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Subordinated  —  Behind senior unsecured. ~15–25% recovery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331720" y="4407408"/>
            <a:ext cx="4480560" cy="347472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3160" y="44348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Equity / Hybrid  —  Last in priority. Typically ~0% in distress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HIGH YIELD VS INVESTMENT GRADE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00400"/>
                <a:gridCol w="32004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Investment Grade (IG)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High Yield (HY)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Rating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BBB−/Baa3 and above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B2500"/>
                          </a:solidFill>
                        </a:rPr>
                        <a:t>BB+/Ba1 and below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Typical spread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50–200 bps over govt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B2500"/>
                          </a:solidFill>
                        </a:rPr>
                        <a:t>300–1,000+ bps over govt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Coupon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Lower, more stable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B2500"/>
                          </a:solidFill>
                        </a:rPr>
                        <a:t>Higher; compensates for credit 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Leverage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&lt; 3x Net Debt/EBITDA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B2500"/>
                          </a:solidFill>
                        </a:rPr>
                        <a:t>&gt; 4–6x Net Debt/EBITDA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Covenant protection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Weak (incurrence only)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B2500"/>
                          </a:solidFill>
                        </a:rPr>
                        <a:t>Stronger (maintenance covenants)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Main risk driver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Interest rate duration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B2500"/>
                          </a:solidFill>
                        </a:rPr>
                        <a:t>Credit / default risk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Investor base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Insurance, pension funds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B2500"/>
                          </a:solidFill>
                        </a:rPr>
                        <a:t>Hedge funds, credit specialists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Correlation with equities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Low–moderate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B2500"/>
                          </a:solidFill>
                        </a:rPr>
                        <a:t>High (behaves like equity in stress)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CREDIT SPREAD ANALYSIS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What Drives Credit Spreads?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PD and LGD expectations (fundamentals)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Economic cycle: spreads widen in recession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Liquidity: wider in stress / thin markets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Supply / demand for credit risk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Market volatility (VIX correlates with spreads)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Spread Measures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Nominal spread: YTM bond − YTM benchmark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G-spread: vs govt curve interpolated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I-spread: vs swap curve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Z-spread: constant shift to spot curve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OAS: Z-spread minus option value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274320" y="2542032"/>
          <a:ext cx="85953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FLOATING-RATE BONDS &amp; INFLATION-LINKED SECURITIES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920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Floating-Rate Notes (FRN)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Coupon = reference rate + quoted margin (QM)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Typical reference: SOFR, EURIBOR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Duration ≈ time to next reset (very short)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FRN risks: credit risk of issuer, floor/cap features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Discount margin (DM): spread vs reference rate given price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920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Inflation-Linked Bonds (ILBs)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Principal indexed to CPI; coupons based on indexed principal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TIPS (USA): most liquid global ILB market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Real yield = nominal yield − breakeven inflation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Deflation floor on TIPS: no loss of initial par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Duration: longer than comparable nominal bonds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852928"/>
            <a:ext cx="4114800" cy="566928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8529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FRN Price: if QM = DM → price = par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852928"/>
            <a:ext cx="4297680" cy="566928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285292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Yield = Nominal − BEI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3547872"/>
            <a:ext cx="8595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547872"/>
            <a:ext cx="64008" cy="82296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6393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Key Comparison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3931920"/>
            <a:ext cx="8394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FRNs hedge interest-rate risk; ILBs hedge inflation risk. Both are valuable in diversified fixed income portfolios.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CALLABLE, PUTABLE &amp; CONVERTIBLE BONDS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Callable Bond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Issuer can redeem at specified price before maturity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Call protects issuer vs falling rates (refinancing benefit)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Investor requires higher yield (yield to worst = min yield)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Negative convexity near par: price capped by call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OAS removes option value from Z-spread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Putable Bond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Holder can sell back at specified price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Put protects investor vs rising rates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Lower yield than equivalent straight bond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Positive convexity enhanced by put floor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Typically putable once or periodically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542032"/>
            <a:ext cx="8595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Value of Options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880360"/>
          <a:ext cx="8595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22860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Bond Type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Yield vs Straight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OAS vs Z-spread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Convexity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Straight bond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Reference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Equal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Positive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Standard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Callable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Higher (issuer-friendly)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OAS &lt; Z-spread (option costs investor)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Negative at low yields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Shorter (callable = lower)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Putable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Lower (investor-friendly)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OAS &gt; Z-spread (put adds value)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More positive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3A52"/>
                          </a:solidFill>
                        </a:rPr>
                        <a:t>Shorter at high yields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EUROBONDS &amp; GLOBAL FIXED INCOME MARKETS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Eurobond Market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Bonds issued outside issuer's home country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Denominated in foreign currency (e.g. USD Eurobond from EUR issuer)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Bearer bonds historically; now immobilised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Less regulatory oversight; attractive for issuers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6002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Global Bond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Issued simultaneously in domestic + Euro markets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Higher liquidity and investor base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Requires multi-jurisdiction registration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Tight pricing due to demand breadth</a:t>
            </a:r>
            <a:endParaRPr lang="en-US" sz="10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42032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402336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Market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Size (approx.)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Key Issuers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US Treasury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$28 trillion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US Federal Government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Euro Government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€12 trillion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EZ sovereign issuers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US Corporate IG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$6 trillion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Investment grade US corps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US High Yield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$1.5 trillion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Sub-IG US corps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EM Hard Currency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$2.5 trillion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3A52"/>
                          </a:solidFill>
                        </a:rPr>
                        <a:t>EM sovereigns &amp; corps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INTEREST RATE RISK: FULL FRAMEWORK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7373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Sources of Interest Rate Risk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Level risk: parallel shift in yield curve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Slope risk: flattening / steepening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Curvature risk: butterfly shifts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Volatility risk: affects option-embedded bonds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Spread duration: spread change on credit bonds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73736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Risk Measures Summary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Macaulay Duration: weighted time to CFs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Modified Duration: %ΔP per %Δyield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Effective Duration: for optionality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Key Rate Duration: single tenor sensitivity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DV01: $ change per bp change in yield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679192"/>
            <a:ext cx="8595360" cy="566928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6791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 Price Δ ≈ −MD × P × Δy + ½ × Convexity × P × (Δy)²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4320" y="3364992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64992"/>
            <a:ext cx="64008" cy="1005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456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Reinvestment Risk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3749040"/>
            <a:ext cx="3913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If yields fall after purchase, reinvested coupons earn less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Macaulay duration = horizon where both risks offset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0" y="3364992"/>
            <a:ext cx="4297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0" y="3364992"/>
            <a:ext cx="64008" cy="10058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34564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Immunisation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4096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Duration-match assets to liability horizon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Single-period: set MacDur = investment horizon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CDOS, CLOS &amp; STRUCTURED CREDIT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5029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920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Collateralised Debt Obligations (CDO)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4828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Pool of bonds/loans tranched into AAA→equity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Cash flow CDO: backed by actual assets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Synthetic CDO: backed by CDS on reference assets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CDO² (re-securitisation of CDO tranches)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Pre-GFC proliferation led to systemic risk 2007–08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94960" y="804672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394960" y="804672"/>
            <a:ext cx="64008" cy="19202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32120" y="8961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CLO Specifics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32120" y="1188720"/>
            <a:ext cx="3273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Backed by leveraged loans (not bonds)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Active manager selects/trades loan pool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AAA tranches: ~60–65% of structure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Equity tranche: ~9–10%; residual return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4320" y="28346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Waterfall &amp; Credit Enhancement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182112"/>
            <a:ext cx="8595360" cy="320040"/>
          </a:xfrm>
          <a:prstGeom prst="rect">
            <a:avLst/>
          </a:prstGeom>
          <a:solidFill>
            <a:srgbClr val="4A7EC2"/>
          </a:solidFill>
          <a:ln w="12700">
            <a:solidFill>
              <a:srgbClr val="4A7EC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0954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AAA (65%) — SOFR+120bp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547872"/>
            <a:ext cx="7955280" cy="3200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75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 (10%) — SOFR+185bp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14400" y="3913632"/>
            <a:ext cx="7315200" cy="320040"/>
          </a:xfrm>
          <a:prstGeom prst="rect">
            <a:avLst/>
          </a:prstGeom>
          <a:solidFill>
            <a:srgbClr val="6B7A99"/>
          </a:solidFill>
          <a:ln w="12700">
            <a:solidFill>
              <a:srgbClr val="6B7A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394106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 (6%) — SOFR+260bp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234440" y="4279392"/>
            <a:ext cx="6675120" cy="32004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25880" y="4306824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BBB (5%) — SOFR+400bp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554480" y="4645152"/>
            <a:ext cx="6035040" cy="320040"/>
          </a:xfrm>
          <a:prstGeom prst="rect">
            <a:avLst/>
          </a:prstGeom>
          <a:solidFill>
            <a:srgbClr val="CC2200"/>
          </a:solidFill>
          <a:ln w="12700">
            <a:solidFill>
              <a:srgbClr val="CC22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645920" y="4672584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Equity (9%) — Residual return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CONVERTIBLE BONDS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5029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8288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Convertible Bond Features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4828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Holder may convert into issuer's equity at conversion price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Conversion ratio = par value / conversion price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Conversion value = conversion ratio × stock price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Minimum value = max(straight value, conversion value)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Busted convertible: equity option deep out-of-the-money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0" y="804672"/>
            <a:ext cx="33832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804672"/>
            <a:ext cx="64008" cy="18288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23560" y="8961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Conversion Metrics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23560" y="1188720"/>
            <a:ext cx="3182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Conversion price: pre-set strike price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Market conversion price = Bond / Conversion ratio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Conversion premium = Mkt conv. price − Stock price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Premium over straight: cost of equity option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5029200" cy="566928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7432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Conversion Value = Conversion Ratio × Stock Price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0" y="2743200"/>
            <a:ext cx="3383280" cy="566928"/>
          </a:xfrm>
          <a:prstGeom prst="rect">
            <a:avLst/>
          </a:prstGeom>
          <a:solidFill>
            <a:srgbClr val="0F1E35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2743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 Value = max(SV, CV)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3447288"/>
            <a:ext cx="8595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447288"/>
            <a:ext cx="64008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5387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Investment Characteristics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3831336"/>
            <a:ext cx="8394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Hybrid instrument: bond floor (downside protection) + equity call (upside capture)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Busted convertibles trade like straight bonds; equity-sensitive convertibles trade like stock with income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FIXED INCOME PORTFOLIO CONSTRUCTION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804672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804672"/>
            <a:ext cx="64008" cy="18288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961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Portfolio Objectives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1188720"/>
            <a:ext cx="3913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Liability matching (ALM): pension, insurance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Return maximisation within risk budget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Income generation: coupon cash flows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Capital preservation: short duration, high grade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Benchmark relative: tracking error management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0" y="804672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804672"/>
            <a:ext cx="64008" cy="1828800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961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Strategies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09160" y="1188720"/>
            <a:ext cx="4096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Passive indexing: replicate benchmark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Duration management: active duration tilts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Sector rotation: shift allocation by cycle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Credit tilts: overweight IG or HY vs benchmark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2D3A52"/>
                </a:solidFill>
              </a:rPr>
              <a:t>Yield curve positioning: bullet, barbell, ladder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4320" y="27432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A"/>
                </a:solidFill>
              </a:rPr>
              <a:t>Yield Curve Structures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063240"/>
            <a:ext cx="27889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3063240"/>
            <a:ext cx="2788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0906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Bullet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4747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A52"/>
                </a:solidFill>
              </a:rPr>
              <a:t>Concentrated around one maturity. Maximises curve bet exposure.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72968" y="3063240"/>
            <a:ext cx="27889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2968" y="3063240"/>
            <a:ext cx="2788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64408" y="30906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Barbell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64408" y="34747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A52"/>
                </a:solidFill>
              </a:rPr>
              <a:t>Short + long maturities only. More convexity than bullet at same duration.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71616" y="3063240"/>
            <a:ext cx="27889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1616" y="3063240"/>
            <a:ext cx="2788920" cy="3474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63056" y="30906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Ladder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63056" y="347472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3A52"/>
                </a:solidFill>
              </a:rPr>
              <a:t>Equally spaced maturities. Reinvestment diversification, predictable income.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FIXED INCOME FORMULA REFERENCE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E8600A"/>
          </a:solidFill>
          <a:ln w="12700">
            <a:solidFill>
              <a:srgbClr val="E860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FIXED INCOME — FORMULA REFERENCE SHEET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492861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0D8E8"/>
                </a:solidFill>
              </a:rPr>
              <a:t>Finance Fundamentals · S09 Fixed Income · Studio Tonton Gug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82880" y="777240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Bond Price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4320" y="10332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Σ CFₜ/(1+y)ᵗ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2880" y="1444752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4904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Accrued Interest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74320" y="17007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= C × t/T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82880" y="2112264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15798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Full Price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74320" y="23682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PFull = PClean + AI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82880" y="2779776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8254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Current Yield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74320" y="30358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 = Annual Coupon / 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82880" y="3447288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4930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Macaulay Duration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74320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MacDur = Σ [t × PV(CFₜ)] / 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82880" y="4114800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1605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Modified Duration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74320" y="4370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ModDur = MacDur / (1+y/m)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663440" y="777240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%ΔP (Duration)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54880" y="10332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%ΔP ≈ −ModDur × Δy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663440" y="1444752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149047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%ΔP (Duration+Convex)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54880" y="17007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%ΔP ≈ −MD×Δy + ½×Cx×(Δy)²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663440" y="2112264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215798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Forward Rate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54880" y="23682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(1+Sₙ)ⁿ = (1+Sₘ)ᵐ × (1+fₘ,ₙ)ⁿ⁻ᵐ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663440" y="2779776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28254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Expected Loss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54880" y="30358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= PD × LGD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663440" y="3447288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34930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Portfolio Duration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754880" y="3703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DurP = Σ wᵢ × MDᵢ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663440" y="4114800"/>
            <a:ext cx="4297680" cy="594360"/>
          </a:xfrm>
          <a:prstGeom prst="rect">
            <a:avLst/>
          </a:prstGeom>
          <a:solidFill>
            <a:srgbClr val="1A2A3A"/>
          </a:solidFill>
          <a:ln w="12700">
            <a:solidFill>
              <a:srgbClr val="2D40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416052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0D8E8"/>
                </a:solidFill>
              </a:rPr>
              <a:t>Conversion Value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754880" y="4370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 = Ratio × Stock Price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S09 – Fixed Income</dc:title>
  <dc:subject>Finance Fundamentals – CFA Level 1</dc:subject>
  <dc:creator>Studio Tonton Gug</dc:creator>
  <cp:lastModifiedBy>Studio Tonton Gug</cp:lastModifiedBy>
  <cp:revision>1</cp:revision>
  <dcterms:created xsi:type="dcterms:W3CDTF">2026-04-11T21:45:36Z</dcterms:created>
  <dcterms:modified xsi:type="dcterms:W3CDTF">2026-04-11T21:45:36Z</dcterms:modified>
</cp:coreProperties>
</file>