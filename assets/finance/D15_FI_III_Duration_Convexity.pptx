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3% coupon (discount)</c:v>
                </c:pt>
              </c:strCache>
            </c:strRef>
          </c:tx>
          <c:spPr>
            <a:solidFill>
              <a:srgbClr val="1B2A4A">
                <a:alpha val="90000"/>
              </a:srgbClr>
            </a:solidFill>
            <a:ln w="25400" cap="flat">
              <a:solidFill>
                <a:srgbClr val="1B2A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2A4A"/>
              </a:solidFill>
              <a:ln w="9525" cap="flat">
                <a:solidFill>
                  <a:srgbClr val="1B2A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5</c:v>
                  </c:pt>
                  <c:pt idx="4">
                    <c:v>7</c:v>
                  </c:pt>
                  <c:pt idx="5">
                    <c:v>10</c:v>
                  </c:pt>
                  <c:pt idx="6">
                    <c:v>15</c:v>
                  </c:pt>
                  <c:pt idx="7">
                    <c:v>20</c:v>
                  </c:pt>
                  <c:pt idx="8">
                    <c:v>25</c:v>
                  </c:pt>
                  <c:pt idx="9">
                    <c:v>30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0.95</c:v>
                </c:pt>
                <c:pt idx="1">
                  <c:v>1.88</c:v>
                </c:pt>
                <c:pt idx="2">
                  <c:v>2.77</c:v>
                </c:pt>
                <c:pt idx="3">
                  <c:v>4.48</c:v>
                </c:pt>
                <c:pt idx="4">
                  <c:v>6.07</c:v>
                </c:pt>
                <c:pt idx="5">
                  <c:v>8.25</c:v>
                </c:pt>
                <c:pt idx="6">
                  <c:v>11.33</c:v>
                </c:pt>
                <c:pt idx="7">
                  <c:v>13.78</c:v>
                </c:pt>
                <c:pt idx="8">
                  <c:v>15.69</c:v>
                </c:pt>
                <c:pt idx="9">
                  <c:v>17.14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5% coupon (par)</c:v>
                </c:pt>
              </c:strCache>
            </c:strRef>
          </c:tx>
          <c:spPr>
            <a:solidFill>
              <a:srgbClr val="E8600A">
                <a:alpha val="90000"/>
              </a:srgbClr>
            </a:solidFill>
            <a:ln w="25400" cap="flat">
              <a:solidFill>
                <a:srgbClr val="E860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600A"/>
              </a:solidFill>
              <a:ln w="9525" cap="flat">
                <a:solidFill>
                  <a:srgbClr val="E860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5</c:v>
                  </c:pt>
                  <c:pt idx="4">
                    <c:v>7</c:v>
                  </c:pt>
                  <c:pt idx="5">
                    <c:v>10</c:v>
                  </c:pt>
                  <c:pt idx="6">
                    <c:v>15</c:v>
                  </c:pt>
                  <c:pt idx="7">
                    <c:v>20</c:v>
                  </c:pt>
                  <c:pt idx="8">
                    <c:v>25</c:v>
                  </c:pt>
                  <c:pt idx="9">
                    <c:v>30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0.95</c:v>
                </c:pt>
                <c:pt idx="1">
                  <c:v>1.86</c:v>
                </c:pt>
                <c:pt idx="2">
                  <c:v>2.72</c:v>
                </c:pt>
                <c:pt idx="3">
                  <c:v>4.33</c:v>
                </c:pt>
                <c:pt idx="4">
                  <c:v>5.79</c:v>
                </c:pt>
                <c:pt idx="5">
                  <c:v>7.72</c:v>
                </c:pt>
                <c:pt idx="6">
                  <c:v>10.38</c:v>
                </c:pt>
                <c:pt idx="7">
                  <c:v>12.46</c:v>
                </c:pt>
                <c:pt idx="8">
                  <c:v>14.09</c:v>
                </c:pt>
                <c:pt idx="9">
                  <c:v>15.37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8% coupon (premium)</c:v>
                </c:pt>
              </c:strCache>
            </c:strRef>
          </c:tx>
          <c:spPr>
            <a:solidFill>
              <a:srgbClr val="1A6B3C">
                <a:alpha val="90000"/>
              </a:srgbClr>
            </a:solidFill>
            <a:ln w="25400" cap="flat">
              <a:solidFill>
                <a:srgbClr val="1A6B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6B3C"/>
              </a:solidFill>
              <a:ln w="9525" cap="flat">
                <a:solidFill>
                  <a:srgbClr val="1A6B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5</c:v>
                  </c:pt>
                  <c:pt idx="4">
                    <c:v>7</c:v>
                  </c:pt>
                  <c:pt idx="5">
                    <c:v>10</c:v>
                  </c:pt>
                  <c:pt idx="6">
                    <c:v>15</c:v>
                  </c:pt>
                  <c:pt idx="7">
                    <c:v>20</c:v>
                  </c:pt>
                  <c:pt idx="8">
                    <c:v>25</c:v>
                  </c:pt>
                  <c:pt idx="9">
                    <c:v>30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0.95</c:v>
                </c:pt>
                <c:pt idx="1">
                  <c:v>1.84</c:v>
                </c:pt>
                <c:pt idx="2">
                  <c:v>2.66</c:v>
                </c:pt>
                <c:pt idx="3">
                  <c:v>4.15</c:v>
                </c:pt>
                <c:pt idx="4">
                  <c:v>5.47</c:v>
                </c:pt>
                <c:pt idx="5">
                  <c:v>7.18</c:v>
                </c:pt>
                <c:pt idx="6">
                  <c:v>9.52</c:v>
                </c:pt>
                <c:pt idx="7">
                  <c:v>11.38</c:v>
                </c:pt>
                <c:pt idx="8">
                  <c:v>12.88</c:v>
                </c:pt>
                <c:pt idx="9">
                  <c:v>14.12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8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A8D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A8D"/>
                    </a:solidFill>
                    <a:latin typeface="Arial"/>
                  </a:rPr>
                  <a:t>Modified duration (years)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8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15  ·  WEEK 4  ·  MORNING 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Duration, Convexity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Interest Rate Risk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heaviest math block of the course — duration measures, convexity, and curve-based risk for option-free and callable bonds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6 Learning Modules 10–13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Fixed Income III: Duration, Convexity &amp; Interest Rate Risk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Interest rate risk &amp; horizon yield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593799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sources of return · reinvestment vs price risk · BRWA VFO / Baywhite examples · duration gap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103120"/>
            <a:ext cx="8503920" cy="85953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2103120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2103120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2148840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Duration: Macaulay, modified, money, PVBP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489911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MacDur weight tables · ModDur = MacDur/(1+r) · approximation · money duration · PVBP / DV01 · duration drivers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999232"/>
            <a:ext cx="850392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999232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99232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3044952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Convexity &amp; the convexity adjustment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3386023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second-order effect · −MD·Δy + ½·C·Δy² · money convexity · portfolio duration &amp; convexity under parallel shifts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3895344"/>
            <a:ext cx="8503920" cy="85953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895344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" y="3895344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3941064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Curve-based, effective &amp; key rate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4282135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callables need effective duration · Viviyu negative convexity · key rate duration for curve shape · empirical vs analytical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holding-period return on a fixed-rate bond into coupon, reinvestment, and capital-gain components, and explain how reinvestment and price risk offset each other at the Macaulay duration horizon.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and interpret Macaulay, modified, money duration and PVBP for a coupon bond, and know when each is the right tool to reach for.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how duration moves with coupon, yield, maturity, and time since the last coupon, and rank bonds on interest rate risk without a calculator.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convexity adjustment to a duration-based price estimate and quantify, in both percent and currency terms, how much accuracy that second-order term buys.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portfolio duration and convexity as market-value-weighted averages, and state the key assumption (parallel yield-curve shift) and its limits.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between yield duration, effective duration, key rate duration, and empirical duration for option-free bonds, callables / MBS, curve-shape views, and credit-risky portfolios.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Interest rate risk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horizon yield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4  ·  Deck 15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fixed-rate bond's total return decomposes into three building blocks: coupon income, reinvestment income, and capital gain or loss on sale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10, "Sources of Return from Investing in a Fixed-Rate Bond", pp. 235–244.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yield = the compounded annual rate that equates what you pay at t=0 to the total you end up with at horizon T (reinvested coupons + sale price).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r_horizon  =  [ (FV_coupons + Sale_price)  /  Purchase_price ]^(1/T)  −  1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FV_coupons = future value of reinvested coupons at the reinvestment rate; Sale_price = bond price at horizon; T = years held.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057400"/>
            <a:ext cx="850392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05740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205740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209397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Coupon &amp; principal payments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235366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 itself — promised on scheduled dates. Drops out of interest rate risk as long as the issuer does not default.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2788920"/>
            <a:ext cx="8503920" cy="65836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278892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2920" y="278892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282549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Reinvestment of coupons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308518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Coupons earn the prevailing reinvestment rate until horizon. Rising rates help this leg; falling rates hurt it.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3520440"/>
            <a:ext cx="850392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" y="352044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2920" y="352044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355701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 gain / loss on sale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381670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the bond is sold before maturity. Rising rates push the price down (loss); falling rates push it up (gain) — the opposite of reinvestment.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Holding a bond to maturity strips out price risk but doubles down on reinvestment risk — the buy-and-hold investor wins from rate rises, loses from rate falls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10, Examples 1–3 (VFO), pp. 239–242.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VFO buys BRWA 10-year 6.2% annual-coupon bond at par. Bond held to maturity → no capital gain / loss. Only reinvestment rate moves.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34440"/>
          <a:ext cx="850392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554480"/>
                <a:gridCol w="137160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Scenario (rates shift immediately after purchase)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FV of coupons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Redemption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Horizon yield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Rates stable at 6.20% (base case)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82.493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6.20%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Rates rise +100 bp → 7.20%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86.475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6.43%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Rates fall −100 bp → 5.20%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78.715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5.98%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560320"/>
            <a:ext cx="8503920" cy="17373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6060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VFO HORIZON YIELD IF RATES RISE TO 7.20%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28986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6.2% annual bond, purchase price 100, coupons reinvested at 7.2% for 10 years, redemption at par.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410712"/>
            <a:ext cx="8229600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FV of coupons: =FV(7.2%, 10, 6.2, 0) = 86.475 per 100 par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ending cash: 86.475 + 100 = 186.475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yield: (186.475 / 100)^(1/10) − 1 = 6.43%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Horizon yield = 6.43% (+23 bp vs base case — the gain is pure reinvestment benefit).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Selling before maturity exposes the investor to price risk that can swamp the reinvestment gain — Baywhite sells at year 4 and ends up losing on a rate rise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10, Examples 2 &amp; 4 (Baywhite), pp. 240–242.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BRWA 10-year 6.2% bond, but Baywhite has a 4-year horizon. On sale there are 6 years left to maturity.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737360"/>
                <a:gridCol w="137160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Scenario (rate moves immediately after purchase)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FV of coupons (4y)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Sale price at t=4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Horizon yield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Rates stable at 6.20%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27.203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6.20%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Rates rise +100 bp → 7.20%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27.609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95.263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5.28%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Rates fall −100 bp → 5.20%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26.802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105.043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7.16%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560320"/>
            <a:ext cx="8503920" cy="17373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6060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BAYWHITE WITH RATES UP 100 BP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28986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Coupons reinvested at 7.2% for 4 years (FV = 27.609). Bond sold at t = 4 with 6 years to go, priced off 7.2% YTM.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410712"/>
            <a:ext cx="8229600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price: =PV(7.2%, 6, 6.2, 100) = 95.263 per 100 par (capital loss 4.737)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ending cash: 27.609 + 95.263 = 122.872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yield: (122.872 / 100)^(1/4) − 1 = 5.28%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Horizon yield 5.28% — reinvestment gain of 0.406 is swamped by the 4.737 capital loss.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duration gap — Macaulay duration minus horizon — tells you which side of interest rate risk dominates for a given investor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10, §3 "Investment Horizon &amp; Interest Rate Risk", pp. 244–250.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horizon = MacDur the two offset exactly. Shorter horizon: price risk dominates. Longer horizon: reinvestment risk dominates.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Duration gap  =  Macaulay duration  −  Investment horizon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Gap &gt; 0 → price risk dominates (rising rates hurt). Gap &lt; 0 → reinvestment risk dominates (falling rates hurt). Gap = 0 → nearly hedged.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05740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828800"/>
                <a:gridCol w="137160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Investor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Horizon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MacDur (bond)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Duration gap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Dominant risk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VFO (buy-and-hold)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7.74y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−2.26 (negative)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Falling rates (reinvestment)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Hightest (8y horizon)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7.74y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−0.26 (near zero)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Largely hedged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Baywhite (4y horizon)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7.74y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+3.74 (positive)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Rising rates (price)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20040" y="3794760"/>
            <a:ext cx="8503920" cy="5486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" y="3794760"/>
            <a:ext cx="73152" cy="5486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8404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IMMUNISATION TAKEAWAY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114800"/>
            <a:ext cx="82753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the Macaulay duration of a bond (or portfolio) to the investor's horizon produces a single-period immunised position against a one-time parallel shift in the yield curve.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Duration: Macaulay,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modified, money &amp; PVBP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4  ·  Deck 15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Macaulay duration is the present-value-weighted average time-to-receipt of a bond's cash flows, expressed in years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10, §3 / Learning Module 11, §1, pp. 248–266.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sum to 1 because the sum of the PV of cash flows equals the full bond price. MacDur is in units of periods; divide by periods per year to annualise.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MacDur  =  Σ  t × [ PV(CF_t) / PV_full ]           Annualised MacDur  =  MacDur / m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476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t = time to each cash flow in periods; PV(CF_t) = present value of that cash flow; PV_full = dirty price; m = coupon periods per year.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194560"/>
            <a:ext cx="4160520" cy="2103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194560"/>
            <a:ext cx="73152" cy="2103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24028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ZERO-COUPON BONDS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514600"/>
            <a:ext cx="393192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cash flow at maturity with weight 1.0. Macaulay duration = time-to-maturity exactly.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5-year zero has MacDur = 5y regardless of yield.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194560"/>
            <a:ext cx="4160520" cy="21031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2194560"/>
            <a:ext cx="73152" cy="21031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0600" y="224028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PERPETUAL BONDS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514600"/>
            <a:ext cx="393192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maturity, just infinite coupons. Closed form: MacDur = (1+r) / r.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r = 6%, a perpetual has MacDur = 1.06 / 0.06 = 17.67y — longest duration of any plain-vanilla fixed income.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Macaulay duration worked example — the 5-year 3.2% semi-annual BRWA bond has an annualised Macaulay duration of 4.66 years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11, Example 1, pp. 267–269.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priced at par so weight of each CF = its PV directly. Ten semi-annual periods of 1.6 coupon + 100 face at t=10. Periodic YTM = 1.6%.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737360"/>
                <a:gridCol w="16459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Period 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Cash flow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PV @ 1.6%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Weight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 × Weight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1–9 (coupons)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 each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1.57 … 1.39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0.0157 … 0.0139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0.016 … 0.125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(coupon + par)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101.6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86.69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0.8669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8.669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9.320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743200"/>
            <a:ext cx="8503920" cy="15544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7889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COMPUTE MACDUR (IN PERIODS, THEN ANNUALISED)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0815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(time × weight) across all 10 periods = 9.3203 semi-annual periods. Periods per year m = 2.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593592"/>
            <a:ext cx="82296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Semi-annual MacDur = 9.3203 periods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MacDur = 9.3203 / 2 = 4.6601 years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check: Macaulay duration of a 5y par bond is always a bit less than 5y — a 6% coupon par bond has MacDur ≈ 4.44y, lower-coupon 3.2% lands a bit higher (as expected).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Annualised Macaulay duration = 4.66 years.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Modified duration is Macaulay divided by (1 + r) and measures percentage price change per unit yield change — the first-order sensitivity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11, §2 "Modified Duration", pp. 266–272.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sign: price and yield move in opposite directions. Linear (tangent) approximation — accurate for small yield moves, off for large ones.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ModDur  =  MacDur / (1 + r)            %ΔPV_full  ≈  −AnnModDur × Δy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476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r = yield per period; Δy = change in annualised YTM (decimal). Linear estimate: doubles the error for larger |Δy| because price-yield curve is convex.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240280"/>
            <a:ext cx="8503920" cy="205740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28600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BRWA 5y 3.2% BOND AT 3.2% YTM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786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MacDur (periods) = 9.3203. Periodic YTM r = 0.016. Annualised modified duration sought.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090672"/>
            <a:ext cx="8229600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ModDur (periods) = 9.3203 / (1 + 0.016) = 9.17351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AnnModDur = 9.17351 / 2 = 4.58676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%ΔPV_full for +80 bp YTM rise: −4.58676 × 0.0080 = −3.67%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%ΔPV_full for −80 bp YTM fall: −4.58676 × (−0.0080) = +3.67%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AnnModDur = 4.587. A 100 bp YTM rise implies ≈ −4.59% price (before convexity).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Approximate modified duration bumps the yield up and down by a few basis points and reads the slope directly off the price curve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11, §2 "Approximate Modified Duration", pp. 270–272.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preferred method when MacDur is hard to obtain (contingent cash flows, default risk). Yields results essentially identical to the exact computation for small bumps.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AnnModDur  ≈  (PV−  −  PV+)  /  [ 2 × Δyield × PV_0 ]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476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PV_0 = current full price; PV+ / PV− = full prices after raising / lowering YTM by Δyield (annualised).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240280"/>
            <a:ext cx="8503920" cy="205740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28600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BRWA 5y 3.2% BOND, 5 BP BUMP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786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PV_0 = 100.00 (priced at par). Δyield = 0.0005 (5 bp). Compute PV+ at 3.25% YTM and PV− at 3.15% YTM.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090672"/>
            <a:ext cx="8229600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PV+ at 3.25% = 99.770965 per 100 par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PV− at 3.15% = 100.229641 per 100 par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AnnModDur ≈ (100.229641 − 99.770965) / (2 × 0.0005 × 100.00)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= 0.458676 / 0.100000  =  4.58676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Approximate AnnModDur = 4.587 — indistinguishable from the exact 4.58675 above.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Money duration converts modified duration into a currency figure — the dollar price change per unit yield move on an actual position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11, §3 "Money Duration", pp. 278–284.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markets call this "dollar duration". Drops the percentage scaling so P&amp;L attribution is in the local currency directly.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MoneyDur  =  AnnModDur × PV_full            ΔPV_full  ≈  −MoneyDur × Δy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476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PV_full can be in percent-of-par (per 100) or in the actual currency position. Output matches the input unit.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240280"/>
            <a:ext cx="8503920" cy="205740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28600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USD 100M BRWA 5y BOND POSITION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786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USD 100M. Settlement 57 days into first coupon period → PV_full = 100.504 per 100 par. AnnModDur = 4.43092 (settlement-adjusted).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090672"/>
            <a:ext cx="8229600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value = USD 100,000,000 × 100.504/100 = USD 100,503,921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MoneyDur = 4.43092 × USD 100,503,921 = USD 445,324,719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P&amp;L for +100 bp YTM move: −USD 445,324,719 × 0.0100 = −USD 4,453,247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P&amp;L for −100 bp YTM move: +USD 4,453,247 (linear / pre-convexity)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Money duration USD 445.3M. A 100 bp yield rise costs the investor ~USD 4.45M.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PVBP (the "dollar value of an 01") is the currency price change per 1 basis point — the bond-market standard risk number for trading desks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Also called "PV01" and, in the US, "DV01" (dollar value of 1 bp). BPV (basis-point value) is the same as money duration × 0.0001.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11, §3 "Price Value of a Basis Point", pp. 278–284.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desks typically quote risk in PVBP/DV01 because it scales linearly with notional and lines up with quoted bid-offer in basis points.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11480" y="118872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PVBP  =  (PV−  −  PV+)  /  2                 where PV± are full prices at YTM ∓ 1 bp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" y="19476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Per 100 of par or on the actual position notional. PVBP is essentially (MoneyDur × 0.0001) up to convexity rounding.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240280"/>
            <a:ext cx="8503920" cy="205740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28600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BRWA 5y 3.2% BOND, PVBP PER 100 PAR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5786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PV_0 = 100.504. Bump YTM by ±1 bp (i.e. 3.19% and 3.21%). Use PRICE function for both.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90672"/>
            <a:ext cx="8229600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PV+ at 3.21% YTM = 100.459400 per 100 par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PV− at 3.19% YTM = 100.548465 per 100 par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PVBP = (100.548465 − 100.459400) / 2 = 0.044532 per 100 par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USD 30M par: DV01 ≈ USD 30,000,000 × 0.000445 = USD 13,359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PVBP = 0.0445 per 100 par. A single basis point is worth ~USD 13k on a USD 30M BRWA position.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Duration's four drivers — coupon, yield, maturity, and position within the coupon period — each pull in a specific, predictable direction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11, §4 "Properties of Duration", pp. 284–288.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coupon or yield shifts more weight onto distant cash flows, lengthening duration. Longer maturity does the same via the par payment.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201168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Feature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Change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Effect on duration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Intuition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rate 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 ↑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Duration ↓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 early cash flows pull the PV-weighted average time shorter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Yield-to-maturity 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 ↑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Duration ↓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 discount rate deflates distant cash flows more → weights shift to near term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Time-to-maturity 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↑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Duration ↑ (par/premium)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Longer life = more distant cash flows with meaningful weight (discount bonds can invert at very long 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elapsed in coupon period t/T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t/T ↑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Duration ↓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Each day closer to the next coupon shortens the weighted average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42900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42900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4747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RANKING RULE OF THUMB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4904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two otherwise identical bonds: lower coupon → higher duration; lower yield → higher duration; longer maturity → higher duration (except deep-discount long bonds). Combine these and rank without a calculator.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Duration rises with maturity, falls with coupon, and falls with yield — visualised on one chart across 30 maturities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11, Exhibit 5 "Properties of Macaulay Duration", p. 285.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curves share a 5% YTM. Par bond (c = r = 5%) sits between the two. At long maturities the curves asymptote toward (1+r)/r = 21y for 5% YTM.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11887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Modified duration vs maturity at 5% YTM — three coupon levels</a:t>
            </a:r>
            <a:endParaRPr lang="en-US" sz="1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320040" y="1463040"/>
          <a:ext cx="850392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320040" y="4069080"/>
            <a:ext cx="8503920" cy="4114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040" y="4069080"/>
            <a:ext cx="73152" cy="4114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7200" y="41148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 THE CHART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389120"/>
            <a:ext cx="8275320" cy="45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any given maturity, lower-coupon bond sits above — confirming the coupon effect. All three curves converge toward (1+r)/r = 21y as maturity extends.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Cross-section stress test: three bonds, same currency, different durations — the expected loss on a 100 bp move scales by more than 20×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11, §3 Question Set, pp. 281–284.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Chowdhury holds USD 30M par in each. Same 100 bp yield move — radically different dollar P&amp;L because durations differ by order of magnitude.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783080"/>
                <a:gridCol w="178308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Metric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BRWA 5y 3.2%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Australian 1y 0%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Romanian 30y 4.625%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price (per 100 par)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100.815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99.262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107.429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Annualised modified duration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4.335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0.737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16.248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PVBP (per 100 par)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0.044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0.007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0.175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value (USD 30M par)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30,244,381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29,778,597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32,228,627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duration (per 100 par)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437.054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73.163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1745.518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loss, 100 bp YTM rise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−USD 1,311,163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−USD 219,490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−USD 5,236,553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657600"/>
            <a:ext cx="8503920" cy="777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657600"/>
            <a:ext cx="73152" cy="777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7033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THE ROMANIAN LOSS IS 24× LARGER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977640"/>
            <a:ext cx="82753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 difference is only ~8%; the driver is modified duration (16.25 vs 0.74). Investor expecting rates to rise would underweight the Romanian; expecting rates to fall, overweight it.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Convexity &amp;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convexity adjustment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4  ·  Deck 15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Duration is a linear approximation; real bond prices curve away from the tangent line — convexity measures that second-order effect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12, §2 "Bond Convexity", pp. 297–303.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small Δy, duration alone is fine. For large Δy, the tangent line under-estimates the gain when rates fall and over-estimates the loss when rates rise — convexity corrects both.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DURATION (FIRST-ORDER)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 of the price-yield curve at the current YTM. Straight line. Works well for small Δy.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Δy = 25 bp on a 5y bond, the error is negligible. For Δy = 100 bp on a 30y bond it's material.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CONVEXITY (SECOND-ORDER)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Curvature of the price-yield curve. Always positive for an option-free bond.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like convexity: for a given duration, more convexity = bigger upside from rate falls and smaller downside from rate rises. A free lunch in theory — so priced in.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4389120"/>
            <a:ext cx="8503920" cy="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4389120"/>
            <a:ext cx="73152" cy="0"/>
          </a:xfrm>
          <a:prstGeom prst="rect">
            <a:avLst/>
          </a:prstGeom>
          <a:solidFill>
            <a:srgbClr val="E8600A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convexity-adjusted price change formula adds one-half times convexity times the squared yield change to the duration estimate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12, Equation 1 &amp; §2, pp. 297–300.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Second-order Taylor expansion of price(yield). Always makes the estimated price higher (for option-free bonds) vs the linear estimate — regardless of direction.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%ΔPV_full  ≈  −AnnModDur × Δy  +  ½ × AnnConvexity × (Δy)²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476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Δy = change in annualised YTM (decimal). First term is duration (linear). Second is the convexity adjustment (always ≥ 0 for option-free fixed-rate bonds).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10312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11480" y="210312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AnnConvexity  ≈  [ PV−  +  PV+  −  2 × PV_0 ]  /  [ (Δy)²  ×  PV_0 ]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" y="28620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Approximation via the same PV+ / PV− used for approximate modified duration — adds the sum instead of the difference.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3063240"/>
            <a:ext cx="2743200" cy="12344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3063240"/>
            <a:ext cx="73152" cy="12344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1089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LOWER COUPON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383280"/>
            <a:ext cx="25146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Pushes weight to the par payment → higher convexity.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0" y="3063240"/>
            <a:ext cx="2743200" cy="12344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0" y="3063240"/>
            <a:ext cx="73152" cy="12344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37560" y="31089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LONGER MATURITY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337560" y="3383280"/>
            <a:ext cx="25146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(Δt)² terms dominate → convexity rises faster than duration with 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080760" y="3063240"/>
            <a:ext cx="2743200" cy="12344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6080760" y="3063240"/>
            <a:ext cx="73152" cy="12344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17920" y="31089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LOWER YIELD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383280"/>
            <a:ext cx="25146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factors closer to 1 → weights further out, higher curvature.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example — BRWA 5y 3.2% bond: duration alone misses the 100 bp price change by 12 bp; the convexity adjustment closes the gap to less than 0.3 bp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12, Exhibit 4, pp. 304–305.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AnnModDur = 4.58676. AnnConvexity = 24.23895. Δy = ±0.01. Compare linear, convexity-adjusted, and exact PRICE-function values.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645920"/>
                <a:gridCol w="1554480"/>
                <a:gridCol w="1097280"/>
                <a:gridCol w="219456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Δy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Exact %ΔPV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ModDur only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Err (bp)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ModDur + ½·Con·Δy²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Err (bp)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 bp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−4.46788%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−4.58676%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−11.89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−4.46556%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+0.23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−100 bp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+4.71035%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+4.58676%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−12.36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+4.70795%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−0.24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468880"/>
            <a:ext cx="8503920" cy="182880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51460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WALK-THROUGH — Δy = +100 BP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28072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Linear: −4.58676 × 0.01 = −4.587%. Convexity adjustment: ½ × 24.23895 × (0.01)² = +0.00121 = +12.1 bp.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319272"/>
            <a:ext cx="822960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contribution: −4.58676 × 0.0100  =  −0.045868  =  −4.587%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Convexity contribution: ½ × 24.23895 × (0.0100)² = +0.001212 = +0.121%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estimate: −4.587% + 0.121% = −4.466%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(PRICE function at 4.20% YTM): 95.53212 → −4.468% → error only 0.2 bp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Duration + convexity lands within 0.3 bp of exact; duration alone off by 12 bp in both directions.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Money convexity scales convexity to currency units — the extra dollar adjustment on a position's price change over what money duration predicts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12, Equations 3–4, pp. 304–305.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second-order logic, now in currency. Adds precision to P&amp;L forecasting on large positions where the convexity term becomes material.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MoneyCon  =  AnnConvexity × PV_full             ΔPV_full  ≈  −MoneyDur × Δy  +  ½ × MoneyCon × (Δy)²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2240280"/>
            <a:ext cx="8503920" cy="205740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28600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USD 100M BRWA POSITION, Δy = +100 BP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5786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AnnModDur = 4.58676, AnnConvexity = 24.23895, PV_full at par = USD 100,000,000.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090672"/>
            <a:ext cx="8229600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MoneyDur = 4.58676 × 100,000,000 = USD 458,675,875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MoneyCon = 24.23895 × 100,000,000 = USD 2,423,894,503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leg: −458,675,875 × 0.01 = −USD 4,586,759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Convexity leg: ½ × 2,423,894,503 × (0.01)² = +USD 121,195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estimate: −USD 4,465,564. Actual price drop: −USD 4,467,884. Error: −USD 2,320.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Convexity term trims the duration-only over-estimate by ~USD 121k, closing 98% of the error.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Convexity is always positive for an option-free bond and rises with maturity, falls with coupon and yield — the same drivers as duration but amplified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12, Example 1, pp. 300–301.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convexity formula involves t × (t+1), the maturity effect scales like T² — long bonds have enormously more convexity than short ones.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914400"/>
                <a:gridCol w="914400"/>
                <a:gridCol w="1280160"/>
                <a:gridCol w="155448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Bond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Maturity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Coupon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YTM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AnnModDur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AnnConvexity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Ratio Con / Dur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BRWA (semi)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3.20%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3.20%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4.59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24.24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Romanian (annual)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4.625%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4.75%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15.91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369.64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23.2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×6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×3.5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×15.3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×4.4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108960"/>
            <a:ext cx="8503920" cy="12344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108960"/>
            <a:ext cx="73152" cy="12344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1546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THIS MEANS FOR A LONG-BOND PORTFOLIO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429000"/>
            <a:ext cx="82753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100 bp yield shift on the Romanian bond is: duration piece −15.91%, convexity piece +1.85%, net −14.06%. The Romanian convexity term is 15× BRWA's — the convexity adjustment is no longer a tiny correction but a material component of the price change. For long-duration books, ignoring convexity is a systematic mis-estimation, not a rounding error.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Portfolio duration is the market-value-weighted average of constituent durations — straightforward to compute, but assumes parallel yield curve shifts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Theoretically correct method is to compute duration from the aggregate portfolio cash flows. MV-weighting is standard practice but baked-in to it is the parallel-shift assumption.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12, §4 "Portfolio Duration and Convexity", pp. 307–311.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are market values (not par, not face). Formula below extends identically to convexity. Bonds ought to share the same reporting currency.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11480" y="118872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AnnModDur_port  =  Σᵢ wᵢ · AnnModDurᵢ          AnnConvexity_port  =  Σᵢ wᵢ · AnnConvexityᵢ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" y="19476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wᵢ = MV(bond i) / MV(portfolio); weights sum to 1. Same price-change formula applies with these portfolio-level measures.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286000"/>
            <a:ext cx="8503920" cy="2011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331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BRWA + ROMANIAN TWO-BOND PORTFOLIO (USD 100M PAR EACH)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243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BRWA MV = USD 50.0M (w = 0.5050), Romanian MV = USD 49.01M (w = 0.4950). Durations and convexities as on the previous slide.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36392"/>
            <a:ext cx="8229600" cy="649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AnnModDur = 4.58676 × 0.5050 + 15.90637 × 0.4950 = 10.19004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AnnConvexity = 24.23896 × 0.5050 + 369.64203 × 0.4950 = 195.21581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bp parallel UP shift: %ΔPV = −10.190 × 0.01 + ½ × 195.216 × (0.01)² = −9.214%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steepener (short rates up, long rates flat) would hit Romanian harder — MV-weighted duration understates this scenario.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Portfolio value falls ~USD 9.12M on a 100 bp parallel rise in yields — provided the curve shifts parallel.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GBP 50M position, 10-year 3.50% bond — investor expects a 100 bp rate decline; the full duration-plus-convexity estimate is +8.78%, not +8.38% from duration alone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12, Self-assessment Q3–4, pp. 295–297.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100 bp move the convexity term is 40 bp of the total estimate — large enough to matter for position sizing and stop-loss setting.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6400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43000"/>
            <a:ext cx="832104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%ΔPV_full  =  (−8.376 × −0.01)  +  ½ × 81.701 × (−0.01)²  =  0.08376  +  0.004085  =  +8.78%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1920240"/>
            <a:ext cx="8503920" cy="23774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19659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— GBP 50M POSITION · ANNMODDUR 8.376 · ANNCONVEXITY 81.701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2585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10y 3.50% semi-annual coupon bond, priced at par. Investor's view: −100 bp parallel rate decline. Compute both the percent price change and the money convexity adjustment.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70632"/>
            <a:ext cx="8229600" cy="10149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leg: −8.376 × (−0.01) = +0.08376 = +8.376%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Convexity leg: ½ × 81.701 × (−0.01)² = +0.004085 = +0.409%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estimate: +8.78%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MoneyDur = 8.376 × GBP 50,000,000 = GBP 418,800,000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MoneyCon = 81.701 × GBP 50,000,000 = GBP 4,085,033,604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convexity adjustment: ½ × 4,085,033,604 × (0.01)² = +GBP 204,252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expected gain ≈ GBP 4.39M (duration) + GBP 204k (convexity) = GBP 4.59M on a −100 bp move.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Curve-based,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 &amp; key rate duration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4  ·  Deck 15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Yield-based duration assumes cash flows are certain — it breaks down for callable, puttable, or mortgage-backed securities whose cash flows depend on rates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13, §2 "Curve-Based Interest Rate Risk Measures", pp. 320–326.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callable bond has no single well-defined YTM because the issuer can redeem early at the call price if rates fall — so MacDur and ModDur lose meaning. Cue effective duration.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2743200" cy="3246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73152" cy="3246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18872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CALLABLE BOND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463040"/>
            <a:ext cx="2514600" cy="2880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holds a call option. When rates FALL far enough, issuer redeems at call price → investor loses upside.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Curve: tangent flattens as yields fall, then curve becomes NEGATIVELY convex. Effective duration &lt; straight-bond duration when rates are low.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43000"/>
            <a:ext cx="2743200" cy="32461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43000"/>
            <a:ext cx="73152" cy="32461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18872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PUTABLE BOND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463040"/>
            <a:ext cx="2514600" cy="2880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holds the put option. When rates RISE far enough, investor sells back at par → downside truncated.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Curve: flattens on the rising-rate side. Effective duration &lt; straight-bond duration when rates are high. Convexity stays positive.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43000"/>
            <a:ext cx="2743200" cy="3246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43000"/>
            <a:ext cx="73152" cy="3246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8872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MBS / ABS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463040"/>
            <a:ext cx="2514600" cy="2880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 option held by homeowners. Falling rates → refinance wave → early principal return → same flattening + negative convexity as callables.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duration from an OAS model is the only usable risk number.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 duration and effective convexity measure price sensitivity to a parallel shift of the benchmark yield curve — valid whether cash flows are certain or not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13, §2 Equations 1–2, pp. 322–324.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look like the approximate-duration ones — but the bump is on the benchmark curve, not on the bond's own YTM. PV± come from an option-valuation model.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EffDur  =  (PV−  −  PV+)  /  [ 2 × ΔCurve × PV_0 ]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476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ΔCurve = parallel shift of the benchmark (e.g. government par) curve. PV± re-priced with the full option-pricing model under the shifted curve.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10312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11480" y="210312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EffCon  =  [ PV−  +  PV+  −  2 × PV_0 ]  /  [ (ΔCurve)²  ×  PV_0 ]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" y="28620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Can be negative for callables / MBS. %ΔPV_full  =  −EffDur × ΔCurve  +  ½ × EffCon × (ΔCurve)².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3063240"/>
            <a:ext cx="8503920" cy="12344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3063240"/>
            <a:ext cx="73152" cy="12344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1089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MODDUR ≠ EFFDUR (EVEN FOR OPTION-FREE BONDS)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383280"/>
            <a:ext cx="82753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parallel shift in the government PAR curve does not produce a parallel shift in the SPOT curve. The bond's own YTM moves by a slightly different amount than the par-curve bump. So EffDur and ModDur differ a little even for a plain bond. The gap shrinks when the yield curve is flatter, the maturity shorter, and the bond closer to par. Only a flat yield curve makes them identical.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Callable bonds can have negative effective convexity when rates fall below the coupon — the issuer's call option truncates the upside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13, Example 1 "Viviyu Inc. callable bond", pp. 324–325.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targets duration between 7 and 8 with positive convexity. Callable bond passes the duration screen but fails on convexity — recommend not to buy.</a:t>
            </a:r>
            <a:endParaRPr lang="en-US" sz="13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737360"/>
                <a:gridCol w="28346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Scenario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Curve move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Full price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Computation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case (today)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101.060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PV_0 — observed market price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par curve +25 bp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+0.0025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99.050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PV+ — from option pricing model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par curve −25 bp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−0.0025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102.891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PV− — from option pricing model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560320"/>
            <a:ext cx="8503920" cy="17373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6060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 DURATION AND CONVEXITY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28986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PV_0 = 101.060, PV+ = 99.050, PV− = 102.891, ΔCurve = 0.0025 into the formulas.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410712"/>
            <a:ext cx="8229600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EffDur = (102.891 − 99.050) / (2 × 0.0025 × 101.060)  =  3.841 / 0.5053  =  7.601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EffCon = (102.891 + 99.050 − 2 × 101.060) / [(0.0025)² × 101.060]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= (−0.179) / 0.000631625  =  −283.4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duration is in the PM's 7–8 range, but negative convexity means a falling-rate rally delivers LESS than duration suggests. Decline.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EffDur = 7.60, EffCon = −283. Negative convexity — skip.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rate duration (partial duration) is the bond's sensitivity to a change in one point on the benchmark curve — how the bond responds to a steepening or twist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13, §4 "Key Rate Duration", pp. 329–333.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EffDur compresses the whole curve into one number. KRD breaks it apart by tenor, letting a manager diagnose "shaping risk" and tilt against a view of the curve shape.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KeyRateDur_k  =  −(1 / PV) × (∂PV / ∂r_k)        Σₖ KeyRateDur_k  =  EffDur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476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r_k = benchmark yield at the kth key maturity (e.g. 2y, 5y, 10y, 30y). Sum of key rate durations across the curve = effective duration (parallel shift).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14884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00200"/>
                <a:gridCol w="1600200"/>
                <a:gridCol w="1600200"/>
                <a:gridCol w="16002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Tenor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2y bond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5y bond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10y bond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Portfolio (EW)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rate 2y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1.990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0.711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rate 5y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4.938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1.675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rate 10y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9.828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2.981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= Effective duration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1.990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4.938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9.828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5.368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20040" y="3840480"/>
            <a:ext cx="8503920" cy="5029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" y="3840480"/>
            <a:ext cx="73152" cy="5029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8862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CASE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160520"/>
            <a:ext cx="8275320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steepening view, over-weight short-KRD bonds and under-weight long-KRD bonds; the portfolio loses less (or gains more) than a pure duration-matched index.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rate duration worked example — a portfolio of two bonds facing a curve steepening: sell the bond whose key tenor suffers the most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13, §4 Question Set, pp. 332–333.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steepens: short rates up 100 bp, 5y up 150 bp, 10y up 200 bp, 20y up 250 bp, 30y up 300 bp. Equal-weight portfolio of two bonds — keep one, sell the other.</a:t>
            </a:r>
            <a:endParaRPr lang="en-US" sz="13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1554480"/>
                <a:gridCol w="1920240"/>
                <a:gridCol w="19202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Bond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Key tenor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KeyRateDur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Shift at tenor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Estimated %ΔPV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 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2.702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+150 bp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−2.702 × 0.015 = −4.05%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3.953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+200 bp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−3.953 × 0.020 = −7.91%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514600"/>
            <a:ext cx="8503920" cy="182880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5603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— WHICH BOND TO SELL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28529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bonds lose under the steepener; the question is magnitude. Use KRD × shift at each bond's key tenor.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364992"/>
            <a:ext cx="822960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A: −2.702 × 0.0150 = −4.05%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B: −3.953 × 0.0200 = −7.91%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B's losses are ≈ 2× Bond A's — sell Bond B first.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action: pair-trade the steepener — receive 5y (long Bond A), pay 10y (short Bond B).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11480" y="39044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 Bond B. KRD isolates the bond's exposure to the specific tenor that's moving most.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Empirical duration replaces mathematical formulas with historical data; it's the right measure for credit-risky bonds in market stress, where yields and spreads move in opposite directions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13, §5 "Empirical Duration", pp. 333–336.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(MacDur, ModDur, EffDur, KRD) assumes yields and spreads are independent. Empirical regression picks up the real-world correlation — usually negative in flight-to-quality episodes.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4160520" cy="3200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73152" cy="3200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18872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ANALYTICAL DURATION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463040"/>
            <a:ext cx="3931920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Formula-based from a bond's own cash flows or an OAS model. Assumes spreads uncorrelated with the benchmark.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well for: governments, high-IG corporates, benign regimes.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when: credit spreads widen as benchmarks rally (e.g. Mar 2020 — the COVID flight-to-quality episode).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43000"/>
            <a:ext cx="4160520" cy="32004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43000"/>
            <a:ext cx="73152" cy="32004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18872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EMPIRICAL DURATION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463040"/>
            <a:ext cx="3931920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of HISTORICAL bond returns on benchmark yield changes. Captures the spread-yield correlation directly.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HY bonds during market stress, empirical duration is MATERIALLY LOWER than analytical — because widening spreads partly offset falling benchmarks on the bond price.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Challenges: factor choice, sample window, regime stability.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4434840"/>
            <a:ext cx="8503920" cy="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4434840"/>
            <a:ext cx="73152" cy="0"/>
          </a:xfrm>
          <a:prstGeom prst="rect">
            <a:avLst/>
          </a:prstGeom>
          <a:solidFill>
            <a:srgbClr val="E8600A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15 — Fixed Income III: Duration, Convexity &amp; Interest Rate Risk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total return = coupon + reinvested-coupon income + capital gain/loss on sale. Reinvestment and price risks are inverse in rate direction.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gap = MacDur − horizon. Negative → falling-rate risk. Positive → rising-rate risk. Zero → nearly immunised against one-time parallel shifts.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family: MacDur (time, in years) → ModDur = MacDur / (1+r) (% per Δy) → MoneyDur = ModDur × PV_full (currency per Δy) → PVBP = MoneyDur × 0.0001 (currency per 1 bp).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drivers: lower coupon, lower yield, longer maturity → higher duration. Durations are reliable rankings without a calculator once those rules are internalised.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Convexity adjustment %ΔPV ≈ −MD·Δy + ½·C·Δy² closes the residual linearisation error; for BRWA at 100 bp it cuts the 12 bp duration-only error down to &lt;0.3 bp.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duration/convexity = MV-weighted averages. Fast and practical but implicitly assumes a PARALLEL curve shift — mask steepening / twisting risk.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duration / convexity are curve-based and valid for callables, puttables, MBS. Callables can go NEGATIVELY CONVEX when rates fall (Viviyu EffDur = 7.60, EffCon = −283).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rate duration isolates exposure to individual tenors (sum = EffDur) and drives steepener/flattener trades. Empirical duration is the correct measure for credit-risky bonds in stress — yields and spreads become negatively correlated.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15 · Fixed Income III: Duration, Convexity &amp; Interest Rate Risk</dc:title>
  <dc:subject>PptxGenJS Presentation</dc:subject>
  <dc:creator>Studio Tonton Gug</dc:creator>
  <cp:lastModifiedBy>Studio Tonton Gug</cp:lastModifiedBy>
  <cp:revision>1</cp:revision>
  <dcterms:created xsi:type="dcterms:W3CDTF">2026-04-23T09:32:54Z</dcterms:created>
  <dcterms:modified xsi:type="dcterms:W3CDTF">2026-04-23T09:32:54Z</dcterms:modified>
</cp:coreProperties>
</file>