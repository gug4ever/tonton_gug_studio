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3% coupon (discount)</c:v>
                </c:pt>
              </c:strCache>
            </c:strRef>
          </c:tx>
          <c:spPr>
            <a:solidFill>
              <a:srgbClr val="1B2A4A">
                <a:alpha val="90000"/>
              </a:srgbClr>
            </a:solidFill>
            <a:ln w="25400" cap="flat">
              <a:solidFill>
                <a:srgbClr val="1B2A4A"/>
              </a:solidFill>
              <a:prstDash val="solid"/>
              <a:round/>
            </a:ln>
            <a:effectLst/>
          </c:spPr>
          <c:invertIfNegative val="0"/>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c:symbol val="circle"/>
            <c:size val="6"/>
            <c:spPr>
              <a:solidFill>
                <a:srgbClr val="1B2A4A"/>
              </a:solidFill>
              <a:ln w="9525" cap="flat">
                <a:solidFill>
                  <a:srgbClr val="1B2A4A"/>
                </a:solidFill>
                <a:prstDash val="solid"/>
                <a:round/>
              </a:ln>
              <a:effectLst/>
            </c:spPr>
          </c:marker>
          <c:cat>
            <c:multiLvlStrRef>
              <c:f>Sheet1!$A$2:$A$11</c:f>
              <c:multiLvlStrCache>
                <c:ptCount val="10"/>
                <c:lvl>
                  <c:pt idx="0">
                    <c:v>1</c:v>
                  </c:pt>
                  <c:pt idx="1">
                    <c:v>2</c:v>
                  </c:pt>
                  <c:pt idx="2">
                    <c:v>3</c:v>
                  </c:pt>
                  <c:pt idx="3">
                    <c:v>5</c:v>
                  </c:pt>
                  <c:pt idx="4">
                    <c:v>7</c:v>
                  </c:pt>
                  <c:pt idx="5">
                    <c:v>10</c:v>
                  </c:pt>
                  <c:pt idx="6">
                    <c:v>15</c:v>
                  </c:pt>
                  <c:pt idx="7">
                    <c:v>20</c:v>
                  </c:pt>
                  <c:pt idx="8">
                    <c:v>25</c:v>
                  </c:pt>
                  <c:pt idx="9">
                    <c:v>30</c:v>
                  </c:pt>
                </c:lvl>
              </c:multiLvlStrCache>
            </c:multiLvlStrRef>
          </c:cat>
          <c:val>
            <c:numRef>
              <c:f>Sheet1!$B$2:$B$11</c:f>
              <c:numCache>
                <c:formatCode>General</c:formatCode>
                <c:ptCount val="10"/>
                <c:pt idx="0">
                  <c:v>0.95</c:v>
                </c:pt>
                <c:pt idx="1">
                  <c:v>1.88</c:v>
                </c:pt>
                <c:pt idx="2">
                  <c:v>2.77</c:v>
                </c:pt>
                <c:pt idx="3">
                  <c:v>4.48</c:v>
                </c:pt>
                <c:pt idx="4">
                  <c:v>6.07</c:v>
                </c:pt>
                <c:pt idx="5">
                  <c:v>8.25</c:v>
                </c:pt>
                <c:pt idx="6">
                  <c:v>11.33</c:v>
                </c:pt>
                <c:pt idx="7">
                  <c:v>13.78</c:v>
                </c:pt>
                <c:pt idx="8">
                  <c:v>15.69</c:v>
                </c:pt>
                <c:pt idx="9">
                  <c:v>17.14</c:v>
                </c:pt>
              </c:numCache>
            </c:numRef>
          </c:val>
          <c:smooth val="0"/>
        </c:ser>
        <c:ser>
          <c:idx val="1"/>
          <c:order val="1"/>
          <c:tx>
            <c:strRef>
              <c:f>Sheet1!$C$1</c:f>
              <c:strCache>
                <c:ptCount val="1"/>
                <c:pt idx="0">
                  <c:v>5% coupon (par)</c:v>
                </c:pt>
              </c:strCache>
            </c:strRef>
          </c:tx>
          <c:spPr>
            <a:solidFill>
              <a:srgbClr val="E8600A">
                <a:alpha val="90000"/>
              </a:srgbClr>
            </a:solidFill>
            <a:ln w="25400" cap="flat">
              <a:solidFill>
                <a:srgbClr val="E8600A"/>
              </a:solidFill>
              <a:prstDash val="solid"/>
              <a:round/>
            </a:ln>
            <a:effectLst/>
          </c:spPr>
          <c:invertIfNegative val="0"/>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c:symbol val="circle"/>
            <c:size val="6"/>
            <c:spPr>
              <a:solidFill>
                <a:srgbClr val="E8600A"/>
              </a:solidFill>
              <a:ln w="9525" cap="flat">
                <a:solidFill>
                  <a:srgbClr val="E8600A"/>
                </a:solidFill>
                <a:prstDash val="solid"/>
                <a:round/>
              </a:ln>
              <a:effectLst/>
            </c:spPr>
          </c:marker>
          <c:cat>
            <c:multiLvlStrRef>
              <c:f>Sheet1!$A$2:$A$11</c:f>
              <c:multiLvlStrCache>
                <c:ptCount val="10"/>
                <c:lvl>
                  <c:pt idx="0">
                    <c:v>1</c:v>
                  </c:pt>
                  <c:pt idx="1">
                    <c:v>2</c:v>
                  </c:pt>
                  <c:pt idx="2">
                    <c:v>3</c:v>
                  </c:pt>
                  <c:pt idx="3">
                    <c:v>5</c:v>
                  </c:pt>
                  <c:pt idx="4">
                    <c:v>7</c:v>
                  </c:pt>
                  <c:pt idx="5">
                    <c:v>10</c:v>
                  </c:pt>
                  <c:pt idx="6">
                    <c:v>15</c:v>
                  </c:pt>
                  <c:pt idx="7">
                    <c:v>20</c:v>
                  </c:pt>
                  <c:pt idx="8">
                    <c:v>25</c:v>
                  </c:pt>
                  <c:pt idx="9">
                    <c:v>30</c:v>
                  </c:pt>
                </c:lvl>
              </c:multiLvlStrCache>
            </c:multiLvlStrRef>
          </c:cat>
          <c:val>
            <c:numRef>
              <c:f>Sheet1!$C$2:$C$11</c:f>
              <c:numCache>
                <c:formatCode>General</c:formatCode>
                <c:ptCount val="10"/>
                <c:pt idx="0">
                  <c:v>0.95</c:v>
                </c:pt>
                <c:pt idx="1">
                  <c:v>1.86</c:v>
                </c:pt>
                <c:pt idx="2">
                  <c:v>2.72</c:v>
                </c:pt>
                <c:pt idx="3">
                  <c:v>4.33</c:v>
                </c:pt>
                <c:pt idx="4">
                  <c:v>5.79</c:v>
                </c:pt>
                <c:pt idx="5">
                  <c:v>7.72</c:v>
                </c:pt>
                <c:pt idx="6">
                  <c:v>10.38</c:v>
                </c:pt>
                <c:pt idx="7">
                  <c:v>12.46</c:v>
                </c:pt>
                <c:pt idx="8">
                  <c:v>14.09</c:v>
                </c:pt>
                <c:pt idx="9">
                  <c:v>15.37</c:v>
                </c:pt>
              </c:numCache>
            </c:numRef>
          </c:val>
          <c:smooth val="0"/>
        </c:ser>
        <c:ser>
          <c:idx val="2"/>
          <c:order val="2"/>
          <c:tx>
            <c:strRef>
              <c:f>Sheet1!$D$1</c:f>
              <c:strCache>
                <c:ptCount val="1"/>
                <c:pt idx="0">
                  <c:v>8% coupon (premium)</c:v>
                </c:pt>
              </c:strCache>
            </c:strRef>
          </c:tx>
          <c:spPr>
            <a:solidFill>
              <a:srgbClr val="1A6B3C">
                <a:alpha val="90000"/>
              </a:srgbClr>
            </a:solidFill>
            <a:ln w="25400" cap="flat">
              <a:solidFill>
                <a:srgbClr val="1A6B3C"/>
              </a:solidFill>
              <a:prstDash val="solid"/>
              <a:round/>
            </a:ln>
            <a:effectLst/>
          </c:spPr>
          <c:invertIfNegative val="0"/>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c:symbol val="circle"/>
            <c:size val="6"/>
            <c:spPr>
              <a:solidFill>
                <a:srgbClr val="1A6B3C"/>
              </a:solidFill>
              <a:ln w="9525" cap="flat">
                <a:solidFill>
                  <a:srgbClr val="1A6B3C"/>
                </a:solidFill>
                <a:prstDash val="solid"/>
                <a:round/>
              </a:ln>
              <a:effectLst/>
            </c:spPr>
          </c:marker>
          <c:cat>
            <c:multiLvlStrRef>
              <c:f>Sheet1!$A$2:$A$11</c:f>
              <c:multiLvlStrCache>
                <c:ptCount val="10"/>
                <c:lvl>
                  <c:pt idx="0">
                    <c:v>1</c:v>
                  </c:pt>
                  <c:pt idx="1">
                    <c:v>2</c:v>
                  </c:pt>
                  <c:pt idx="2">
                    <c:v>3</c:v>
                  </c:pt>
                  <c:pt idx="3">
                    <c:v>5</c:v>
                  </c:pt>
                  <c:pt idx="4">
                    <c:v>7</c:v>
                  </c:pt>
                  <c:pt idx="5">
                    <c:v>10</c:v>
                  </c:pt>
                  <c:pt idx="6">
                    <c:v>15</c:v>
                  </c:pt>
                  <c:pt idx="7">
                    <c:v>20</c:v>
                  </c:pt>
                  <c:pt idx="8">
                    <c:v>25</c:v>
                  </c:pt>
                  <c:pt idx="9">
                    <c:v>30</c:v>
                  </c:pt>
                </c:lvl>
              </c:multiLvlStrCache>
            </c:multiLvlStrRef>
          </c:cat>
          <c:val>
            <c:numRef>
              <c:f>Sheet1!$D$2:$D$11</c:f>
              <c:numCache>
                <c:formatCode>General</c:formatCode>
                <c:ptCount val="10"/>
                <c:pt idx="0">
                  <c:v>0.95</c:v>
                </c:pt>
                <c:pt idx="1">
                  <c:v>1.84</c:v>
                </c:pt>
                <c:pt idx="2">
                  <c:v>2.66</c:v>
                </c:pt>
                <c:pt idx="3">
                  <c:v>4.15</c:v>
                </c:pt>
                <c:pt idx="4">
                  <c:v>5.47</c:v>
                </c:pt>
                <c:pt idx="5">
                  <c:v>7.18</c:v>
                </c:pt>
                <c:pt idx="6">
                  <c:v>9.52</c:v>
                </c:pt>
                <c:pt idx="7">
                  <c:v>11.38</c:v>
                </c:pt>
                <c:pt idx="8">
                  <c:v>12.88</c:v>
                </c:pt>
                <c:pt idx="9">
                  <c:v>14.12</c:v>
                </c:pt>
              </c:numCache>
            </c:numRef>
          </c:val>
          <c:smooth val="0"/>
        </c:ser>
        <c:dLbls>
          <c:numFmt formatCode="#,##0" sourceLinked="0"/>
          <c:txPr>
            <a:bodyPr/>
            <a:lstStyle/>
            <a:p>
              <a:pPr>
                <a:defRPr b="0" i="0" strike="noStrike" sz="800" u="none">
                  <a:solidFill>
                    <a:srgbClr val="334155"/>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A8D"/>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title>
          <c:tx>
            <c:rich>
              <a:bodyPr/>
              <a:lstStyle/>
              <a:p>
                <a:pPr>
                  <a:defRPr sz="900" b="0" i="0" u="none" strike="noStrike">
                    <a:solidFill>
                      <a:srgbClr val="6B7A8D"/>
                    </a:solidFill>
                    <a:latin typeface="Arial"/>
                  </a:defRPr>
                </a:pPr>
                <a:r>
                  <a:rPr sz="900" b="0" i="0" u="none" strike="noStrike">
                    <a:solidFill>
                      <a:srgbClr val="6B7A8D"/>
                    </a:solidFill>
                    <a:latin typeface="Arial"/>
                  </a:rPr>
                  <a:t>Modified duration (years)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D"/>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maths-heaviest morning of the course. Set the tone: every number on every slide is computable by hand.
•  Two hours, four sections, thirteen worked examples — say so up front
•  Warn them: calculators out, this deck is not a spectator sport
•  One promise: by lunch they can price a 100 bp move on any book
•  Pace target — 3 min on cover + agenda + objectives, then straight in
NEXT — Roadmap, then the three places a bond return actually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four sections are one escalator: risk → measure it → correct the measure → measure it when the formula breaks.
•  §1 asks WHY rates hurt; §2 puts a number on it; §3 fixes the number; §4 handles bonds the number cannot describe
•  Flag the through-line bond: BRWA appears in all four sections — same issuer, different question
•  Say the trap out loud now: there are six "durations" and they are not interchangeable
•  Timing — 30 / 40 / 30 / 20 minutes across the four sections
NEXT — Objectives, then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objectives, but objective 6 is the one that survives the exam: knowing WHICH duration to reach for.
•  Read 2 and 6 aloud; skim the rest — do not narrate the slide
•  Objective 4 is where the money is: convexity in currency, not just percent
•  Objective 5 carries the trap — market-value weights, and the parallel-shift assumption hiding inside
•  Tell them the exam tests 2 and 3 arithmetically, 6 conceptually
NEXT — Section 1 — where does a bond return actually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Before any formula, they must feel that two investors in the SAME bond can want opposite things from rates.
•  ~30 minutes for this section, four content slides
•  One-line set-up: "same bond, three investors, three different fears"
•  Do not define duration yet — let it fall out of the horizon story
NEXT — Start with the return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sources, and only two of them are exposed to rates — but they are exposed in OPPOSITE directions. That tension is the whole section.
•  Cover the formula first: it is just an IRR on total ending cash vs price paid
•  Source 1 (the coupons themselves) is a credit question, not a rates question — park it
•  Sources 2 and 3 both move with rates and they fight each other. Write ↑ and ↓ on the board
•  Horizon yield ≠ YTM unless coupons reinvest at YTM AND you sell on the constant-yield trajectory
•  Land it: interest rate risk is not "rates up = bad" — it depends entirely on when you need the money
FROM THE DESK — Reinvestment risk is the leg that quietly disappears from most classroom models and most pitch books. In a real ALM or insurance book it is the dominant risk, because the liabilities run 20 years and the coupons have to be put somewhere every six months.
ASK THE ROOM — Rates jump 100 bp tomorrow. Who in this room is happy — the pension fund or the hedge fund with a three-month view?
NEXT — Take the extreme case first: hold to maturity, no sale, no price risk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Buy-and-hold does not remove interest rate risk. It removes ONE of the two — and doubles your bet on the other.
•  Set it up: VFO holds 10 years, so redemption is always 100. Only the FV of coupons moves
•  Walk the +100 bp column live on the calculator: FV(7.2%, 10, 6.2) = 86.475
•  Note the asymmetry: +23 bp of gain on the way up, −22 bp of pain on the way down
•  Ask them to name the risk VFO still carries — reinvestment, and nothing else
•  Footnote is worth 20 seconds: 20.493 of the 82.493 is interest-on-interest, not coupons
FROM THE DESK — "Held to maturity so we are fine" is the most expensive sentence in fixed income. It is true for the redemption amount and false for everything you do with the coupons — which is exactly why insurers hedge reinvestment risk with forward-starting swaps.
NEXT — Now change one thing only — the horizon — and the sign of the answer flips.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bond, same rate move, opposite outcome — because Baywhite has to sell into the price it created.
•  Put VFO and Baywhite side by side on the board: +100 bp gives 6.43% vs 5.28%
•  Force the comparison of magnitudes: reinvestment gain 0.406 vs capital loss 4.737 — 12× bigger
•  Why? Four years of coupon interest-on-interest cannot outrun six years of remaining discounting
•  Then flip it: −100 bp gives Baywhite 7.16%, better than the stable case. Price risk cuts both ways
•  Do NOT say "duration" yet — but they should already be feeling that a horizon exists where these cancel
ASK THE ROOM — At what horizon would the reinvestment gain exactly cancel the capital loss? Take a guess before we compute it.
NEXT — That horizon has a name and a number. Meet the duration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Macaulay duration is not introduced here as a formula — it is introduced as the ANSWER to the question the last two slides posed.
•  Reveal: the BRWA bond has MacDur 7.7429y. Hightest chose 8y and got 6.20 / 6.24 / 6.17 across all three scenarios
•  Sign rule, say it twice: gap POSITIVE (short horizon) → price risk → fear rising rates
•  Gap NEGATIVE (long horizon) → reinvestment risk → fear falling rates
•  Note it decays: as time passes BOTH horizon and MacDur fall, so the gap does not stay put
•  Immunisation is a one-shot, one-parallel-shift result — flag the caveat now, revisit in §3
FROM THE DESK — Every liability-driven mandate you will ever see is this slide industrialised. The pension fund does not want a view on rates; it wants duration gap ≈ 0 against its liability cash flows, and it rebalances quarterly because the gap drifts.
NEXT — So we need to actually compute MacDur.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The longest section — nine slides, four duration measures, one chain of conversions.
•  Draw the chain on the board NOW and leave it up: MacDur → ModDur → MoneyDur → PVBP
•  Each arrow is one operation: ÷(1+r), ×PV_full, ×0.0001
•  Units change at every arrow: years → % per unit yield → currency → currency per bp
•  ~40 minutes. Calculators out from here.
NEXT — Start at the left of the chain — Macaulay.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MacDur is a weighted AVERAGE TIME, measured in years. Everything else in this section is derived from it — get the units right here or nothing downstream works.
•  Stress "weights sum to 1" — they are shares of the full (dirty) price, so this is a genuine average
•  Units trap: the Σ gives PERIODS. Divide by m to get years. Semi-annual bond → divide by 2
•  Zero-coupon: one cash flow, weight 1.0, MacDur = maturity exactly. Use it as the anchor case
•  Perpetual: (1+r)/r — no maturity at all, yet a finite duration. That surprises people, let it
•  Second use of MacDur, from §1: it is also the horizon that neutralises rate risk. Same number, two jobs
FROM THE DESK — Nobody on a desk quotes Macaulay duration. It survives because it is the only duration with an intuitive unit — time — and because it is what an ALM team matches against liabilities. Everything a trader quotes is downstream of it.
NEXT — Compute it once, properly, on the bond we will use all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this one on the board, slowly. It is the only time all morning they see every weight — after this the number just appears.
•  Bond is at par, so PV of each cash flow IS its weight (×100). Point that shortcut out
•  Period 10 carries 86.7% of the price — that single row supplies 8.669 of the 9.320
•  Sum the t×weight column, get 9.3203 PERIODS. Pause. Ask for the annualised figure before revealing 4.66
•  The ÷2 is the single most-failed step in this whole deck. Make them say it
•  Contrast row 4: 6% coupon → 4.393y. Higher coupon pulls weight forward, duration falls
ASK THE ROOM — A 5-year zero at the same yield — what is its Macaulay duration? Why is it longer than 4.66?
NEXT — Weighted average time is not yet a price sensitivity. One division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things happen in one line and students routinely do only one of them: divide by (1 + r per period), THEN divide by m.
•  Write the denominator wrong on purpose first — 9.3203 / 1.032 — and let them catch it. r is PER PERIOD, 1.6%
•  Result 9.17351 is still in periods. Divide by 2 → 4.58676 years. Two divisions, two different reasons
•  Sign convention, drill it: ModDur is +4.587. The price change is −4.587 × Δy. Never a negative duration
•  Interpretation in words: "a 1% rise in yield costs about 4.59% of full price"
•  Note the symmetry in steps 3 and 4: ±80 bp gives ∓3.67%. Flag it as WRONG — real bonds are not symmetric. That is §3
FROM THE DESK — When a risk system says "duration 4.59" it almost always means modified, annualised, on full price. But it can also mean effective, or key-rate-summed, or the OAS-model number. Ask which before you trade off it — two systems reporting "duration" on the same bond can disagree by 5%.
NEXT — MacDur is not always available. Bump the yield instead and read the slope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number, no Macaulay duration required. This is the method that survives when cash flows stop being certain — and the template for effective duration in §4.
•  Point at the geometry: PV− and PV+ are two points on the price curve; the formula is rise over run
•  Note the shape of it — DIFFERENCE of the two prices, divided by 2 × Δy × PV_0. Convexity will reuse the SUM
•  The bump is on the bond's own YTM here. In §4 the same shape reappears with a CURVE shift. Foreshadow it
•  Why it matters: callables, MBS and defaultable bonds have no clean MacDur, so this is the only route
•  Smaller bump = better approximation, for yield duration. That stops being true for option models in §4
FROM THE DESK — This is literally what a risk system does overnight: reprice the book at ±1 bp and difference it. Nobody is summing t×weight columns — they are running the pricer twice.
NEXT — A percentage is not a P&amp;L. Multiply by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moment duration stops being an exam statistic and becomes a P&amp;L number the desk head recognises.
•  Note the settlement adjustment: 57 days in, PV_full is 100.504 and AnnModDur has fallen to 4.43092
•  Duration DECAYS as the coupon period elapses — that is the t/T effect, we formalise it two slides on
•  MoneyDur = 445.3M looks absurd until you remember it is per 1.00 of yield, i.e. 100%
•  Divide by 100 for a 1% move, by 10,000 for a basis point — that is the whole of PVBP
•  Units discipline: MoneyDur takes the unit of whatever PV_full you fed it. Say it, then say it again
FROM THE DESK — US desks say dollar duration, European desks say money duration, and risk reports often show "DV01" which is the same thing scaled to one basis point. Same quantity, three names, and the first thing to check on a new system is which scaling it uses.
ASK THE ROOM — The position is USD 100M par but money duration is USD 445M. Is the investor levered?
NEXT — Desks do not quote risk per 1% move. They quote it per basis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PVBP is the only duration measure that gets quoted out loud on a trading floor. It is also the one where the units bite hardest.
•  Default unit: per 100 of PAR, per 1 basis point. Say both halves — students drop one or the other
•  Cross-check against money duration: 445.32 × 0.0001 = 0.0445. Same number, two routes
•  Note the bump is ±1 bp here, not ±5 bp — the definition is anchored to one basis point
•  Scaling to the position is a division by 100, not a multiplication. Do it on the board
•  Order of magnitude to memorise: ~USD 450 per bp per USD 1M of a 5-year bond
FROM THE DESK — Risk limits on a rates desk are set in DV01, not notional — "you are running 250k of DV01" tells you the loss on a 1 bp move, whatever the instruments are. It is also the natural unit for hedging: match the DV01, not the notional, when you offset a bond with a future.
NEXT — You now have all four measures. Next: what actually drives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drivers, three of which are memorisable rules and one of which (t/T) is the reason a duration number goes stale within a week.
•  Common thread for coupon and yield: both change how much WEIGHT sits on the final par payment
•  Lower coupon or lower yield → fatter weight at maturity → longer duration. Everything else follows
•  Maturity is the only one with an exception — flag the asterisk and let them read the callout
•  The exception needs c well below r AND a very long N. Rare, but it is examinable
•  Footnote: the saw-tooth. Duration drifts down inside a coupon period and jumps on the coupon date
FROM THE DESK — The t/T effect is why "our duration is 4.6" is only true on the day it was struck. On a hedged book you rebalance on coupon dates precisely because the duration jumps back up — the hedge ratio that was right on Friday is wrong on Monday.
ASK THE ROOM — Two 30-year bonds, one at a 2% coupon, one at 8%, both yielding 5%. Which one hurts more if rates rise 50 bp?
NEXT — Put those three rules on one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picture for all three rules — and the shape that explains why the long end of a curve is where the risk lives.
•  Read it vertically first: at any maturity, 3% sits above 5% sits above 8%. That is the coupon rule
•  Read it horizontally: every curve rises, but with a decaying slope — the 5th year adds more than the 25th
•  Say why: adding maturity only adds cash flows whose present value is already small
•  The ceiling: modified duration of a perpetuity is 1/r = 20y at a 5% yield. Nothing plain-vanilla goes above it here
•  Do NOT claim 21 — that is the Macaulay ceiling, (1+r)/r. This chart is modified
FROM THE DESK — This shape is why duration extension gets expensive: to add 2 years of duration at the front you buy a couple of years of maturity, at the back you buy fifteen. It is also why 30-year issuance is the cheapest way for a treasurer to sell a lot of duration to the market.
NEXT — Same three rules, now in dollars, on three real bonds.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Everything from §2 lands on one page, in currency, on positions of identical par. Same money in, wildly different risk.
•  Set it up: USD 30M PAR in each, same currency, so nothing but the bond features differs
•  Walk one column end to end — full price → ModDur → PVBP → market value → money duration → loss
•  Make them do the last step: 437.054 × 0.01 × 300,000. The /100 scaling is the trap, see the footnote
•  The Australian is a 1-year zero: duration 0.737 ≈ its maturity. Ties back to the zero-coupon rule
•  CFA's own comparison: the BRWA loss is already ~6× the Australian, before you even reach Romania
FROM THE DESK — This is a risk report. Nobody sizes a bond book by notional; they size it by contribution to portfolio DV01. USD 30M of the Romanian is not "the same trade" as USD 30M of the Australian — it is roughly twenty-four of them.
ASK THE ROOM — You must cut 20% of the portfolio DV01 and can only sell one line. Which, and how much of it?
NEXT — Every number so far assumed the price-yield line is straight. It is not.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Duration was the first derivative. This section is the second — and the correction is always in the investor's favour, which is exactly why it is not free.
•  ~30 minutes, seven content slides
•  Frame it as an error-correction section, not a new topic
•  Preview the punchline: 12 bp of error at 100 bp on a 5-year bond; far more on a 30-year
•  Portfolio duration and convexity close the section — that is where the parallel-shift assumption gets named
NEXT — Why the straight line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Duration is a tangent line to a curved function. Every error it makes points the same way — and that direction favours the bondholder.
•  Draw it: convex curve, straight tangent touching at today's yield. The gap IS the convexity term
•  Rates fall → true price is ABOVE the line → duration UNDER-states the gain
•  Rates rise → true price is ABOVE the line again → duration OVER-states the loss
•  So the correction is positive in both directions. That asymmetry is the "value" of convexity
•  Footnote is the exam point: equal duration, more convexity wins both ways — so you pay for it in yield
FROM THE DESK — Convexity is a real position, not a footnote. Long-dated receivers and mortgage hedgers trade it explicitly, and in a violent rate move the convexity of a book explains more of the P&amp;L than the duration does. The other side of that: in a quiet year you pay for convexity in carry and get nothing back.
ASK THE ROOM — If convexity is good in both directions, why does anyone ever sell it?
NEXT — Put a number on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formulas, one shape. Approximate duration used the DIFFERENCE of PV− and PV+; convexity uses their SUM. Point at that and the second formula stops being scary.
•  Equation 1 is just a Taylor expansion truncated at the second term — say it, then move on
•  The ½ is not decoration: it is the 1/2! from the Taylor series. Dropping it is a classic slip
•  Δy is SQUARED, so the adjustment is positive whichever way rates move. Reinforce from the last slide
•  Annualisation: convexity in periods ÷ m², not ÷ m. Duration ÷ 2, convexity ÷ 4 for a semi-annual bond
•  Three drivers below are the SAME three as duration — plus dispersion, in the footnote
FROM THE DESK — The m² is the single most common error when someone builds their own convexity in a spreadsheet: duration comes out right, convexity comes out four times too big, and the price estimate looks fine at 10 bp and absurd at 200.
NEXT — Now watch the correction close a 12 bp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payoff slide of the section: a 50× reduction in error for one extra term. Make them see the two rows side by side.
•  Read the +100 bp row across: exact −4.468, duration says −4.587, adjusted says −4.466
•  Now read the −100 bp row: exact +4.710, duration STILL says 4.587 — the same number both ways
•  That symmetry is the tell. Duration cannot know which way rates went; convexity can
•  The adjustment is +12.1 bp in BOTH rows: it reduces the estimated loss and increases the estimated gain
•  Residual error 0.23 bp — that is the third-order term, and nobody at Level I cares about it
FROM THE DESK — On a 5-year bond at 100 bp, 12 bp of error is a rounding difference. On a 30-year book at 200 bp it is percentage points of NAV — and it is always in the same direction, so it does not average out over a year.
ASK THE ROOM — Duration alone gives the same magnitude up and down. Which of the two estimates is it wrong about by more?
NEXT — Same correction, now in 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Percent errors become P&amp;L errors. USD 119k of over-stated loss on a USD 100M position — that is the size of the mistake duration alone makes.
•  MoneyCon = AnnConvexity × PV_full. Exactly the same move as MoneyDur, one line up
•  Note the units again: convexity has no unit, so MoneyCon carries the currency of PV_full
•  Duration-only estimate: −4,586,759. Actual: −4,467,884. Gap: 118,875 of phantom loss
•  Convexity leg puts +121,195 back. Residual error 2,320 on a USD 100M position
•  Ask them to redo it at −100 bp before you show it: actual +4,710,348, estimate +4,707,953
FROM THE DESK — If your P&amp;L attribution shows a consistent unexplained residual on rate moves, the first place to look is a missing convexity term — the sign is a giveaway, because it is always the same way round.
NEXT — Now scale up the maturity and watch that "small correction" stop being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Convexity does not scale with duration — it scales with duration SQUARED. That is why the long end behaves differently in kind, not just in degree.
•  Maturity 6× longer, duration only 3.5× larger, convexity 15× larger. Say those three numbers in order
•  Reason: the convexity column weights by t × (t+1), so it grows roughly with T²
•  Last column is the diagnostic: convexity per unit of duration goes from 5.3 to 23.2
•  Callout: on the Romanian, the convexity adjustment is 1.85% of price — bigger than most people's whole P&amp;L target
•  Note the Romanian has a HIGHER coupon and yield, which should shorten it — maturity still wins by miles
FROM THE DESK — This is the barbell trade in one table: two short bonds plus one long bond can match the duration of a bullet portfolio while carrying far more convexity. You outperform on any large move in either direction — and pay for it in yield every day nothing happens.
NEXT — Combine bonds and you need portfolio-level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arithmetic takes ten seconds. The assumption hidden inside it is what the rest of the deck spends its time attacking.
•  Weights are MARKET VALUE, never par and never face. Equal par here gives 50.50 / 49.50, not 50/50
•  Same weights apply to convexity — one weighting scheme, two statistics
•  Note how the Romanian dominates: half the market value, but 77% of the portfolio duration (7.874 of 10.190)
•  Name the limitation out loud: this number is only right for a PARALLEL shift
•  Real curves steepen, flatten and twist. A bear steepener would hurt this book far more than −9.21%
FROM THE DESK — Every fixed-income factsheet you will read quotes a single portfolio duration computed exactly this way. It is a perfectly good summary and a terrible risk model — which is why the same desk also runs key rate durations, and why §4 exists.
ASK THE ROOM — Which bond would you sell to cut portfolio duration by 2, and how much of it?
NEXT — One more worked example, then curve-based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whole §3 toolkit on one position, in both units — and a reminder that the two legs must be added in the SAME unit before you quote a total.
•  Watch the double negative in the duration leg: −8.376 × (−0.01) is POSITIVE. Half the room gets this wrong
•  Convexity leg is positive too — Δy is squared, so the sign of the move never reaches it
•  Percent route: 8.376% + 0.409% = 8.785%. Currency route: 4.188M + 0.204M = 4.392M. Same answer
•  Have them check: 8.785% × GBP 50M = GBP 4.392M. If the two routes disagree, a unit slipped
•  40 bp of the estimate comes from convexity — on this size, GBP 204k
FROM THE DESK — Position sizing and stop-losses get set off the duration number alone, which quietly biases the stop too tight on a rally and too loose on a sell-off. On a long-duration book that bias is worth real money over a year.
NEXT — Everything so far assumed the cash flows are known. Section 4 breaks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Divider. Three assumptions get dismantled here: that cash flows are certain, that the curve moves in parallel, and that spreads are independent of benchmark yields.
•  ~20 minutes, six content slides — pace it, this is the last block before lunch
•  Map the three fixes: effective duration (uncertain cash flows), key rate (non-parallel), empirical (spread correlation)
•  Every formula here is a re-skin of one they already know — say so, it lowers the wall
•  The examinable line: bonds with embedded options need EFFECTIVE duration, always
NEXT — Why yield duration breaks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structural point in three costumes: whenever somebody else can change your cash flows, a yield-based duration is measuring a bond that does not exist.
•  Start from the failure, not the fix: the cash flow schedule is a function of rates, so the YTM is not a single number
•  Callable — issuer owns the option, exercises when rates FALL, upside truncated
•  Putable — investor owns the option, exercises when rates RISE, downside truncated, convexity stays POSITIVE
•  MBS — prepayment is a call option written by the investor to every homeowner in the pool
•  Common consequence: effective duration is always LOWER than the comparable straight bond, on the side where the option bites
FROM THE DESK — The whole US mortgage market is a giant short-convexity position held by investors, and the hedging of it is why 10-year swap rates can accelerate in one direction — convexity hedgers are forced to sell duration into a sell-off. That is a market-structure fact, not a textbook one.
ASK THE ROOM — Putable bond, rates spike 300 bp. Whose option is in the money, and what does that do to the price floor?
NEXT — So we shift the CURVE instead of the yield.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two formulas as §2 and §3 with one substitution: Δy becomes ΔCurve. The substitution is small; what it buys is enormous.
•  Put them side by side on the board with approximate ModDur and ApproxCon — identical shape
•  Only two things change: the denominator bump is a CURVE shift, and PV± come from a model, not a price formula
•  The model inputs matter: call schedule, credit spread assumption, rate volatility. Hold those fixed, move only the curve
•  Counter-intuitive point from the source: a SMALLER curve bump does not necessarily improve accuracy here
•  Read the callout — even a plain vanilla bond gives EffDur ≠ ModDur, see the footnote for the actual numbers
FROM THE DESK — The number your risk system reports for a callable is only as good as the vol surface behind the option model. Two banks quoting effective duration on the same bond will differ, and the difference is a volatility disagreement, not a maths error.
NEXT — Run it on a real callable and watch convexity go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Negative convexity is the one sign flip in the whole deck — and it inverts everything §3 taught them about convexity being a gift.
•  Do the EffDur first: 3.841 / 0.5053 = 7.601. Nothing new, it is the approximate-duration formula
•  Then EffCon. Force them to look at the numerator: 201.941 − 202.120 = −0.179. NEGATIVE
•  What negative means physically: the average of the up and down prices is BELOW today's price
•  Translation: the bond loses more on a sell-off than it gains on an identical rally
•  Read the footnote figures: −9.03% vs +6.17% on ±100 bp. That is the whole recommendation
FROM THE DESK — This is what "the bond is called away just as it was about to work" looks like on a risk screen, before it happens. The issuer holds the option and prices it into the coupon — you are being paid for the negative convexity, so the question is never "is it bad" but "is the spread pickup enough".
ASK THE ROOM — The PM only screens on duration. What does she own, and what does she think she owns?
NEXT — One duration number for the whole curve is still too blunt. Break it apart by tenor.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Effective duration answers "what if the whole curve moves". Key rate duration answers the question anyone actually has: "what if only the long end moves".
•  Mechanically identical to effective duration — bump ONE point on the curve, hold the rest, reprice
•  Each of these three bonds is a zero, so its whole duration sits at a single tenor. That is why the individual columns are clean
•  Portfolio column: weight × duration. 1.990 × 35.7% = 0.711. Do that one live
•  The sum identity, Σ KRD = EffDur, is the check: 0.711 + 1.675 + 2.981 ≈ 5.368 (unrounded)
•  Weights are market value again — equal PAR, unequal weights, see the footnote
FROM THE DESK — Key rate durations are how a real portfolio expresses a curve view without taking a directional rates bet: match the index duration overall, but run +0.3 at the 2y and −0.3 at the 30y. Parallel moves wash out; a steepening pays.
NEXT — Put a steepening scenario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trap on this slide is the exam answer, not the arithmetic: the curve rises at EVERY tenor, so the answer is not "rotate", it is "get out of both".
•  Have them compute both lines before you reveal anything — 30 seconds, it is one multiplication each
•  Then ask "so which do we sell?" and let the room say Bond B. Then show the CFA answer: both
•  Why both: every point on the forecast curve is HIGHER. There is no tenor that pays here
•  Bond B is worse only because 3.953 × 200 bp beats 2.702 × 150 bp — two effects compounding
•  Contrast with §3: a portfolio duration would have applied ONE shift to both and mis-ranked them
FROM THE DESK — A real desk would express this as a curve trade rather than a liquidation — short the 10y point, keep the 5y — but that is a relative-value view, and it only exists because you can see the exposures tenor by tenor.
NEXT — Last problem: even the right duration is the wrong number when spreads move against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 duration measure so far assumes benchmark yields and credit spreads are independent. In a crisis they are strongly NEGATIVELY correlated — and that is exactly when you need the number.
•  Set up the mechanism: flight to quality → Treasuries rally AND credit spreads widen, simultaneously
•  The high-yield bond therefore does NOT rally the way analytical duration says it should
•  Empirical duration is a regression on realised returns, so it picks that relationship up automatically
•  Rule of thumb: government bond → the two measures agree. Deep high yield → empirical is far lower
•  Name the caveats: which factors, how long a window, and does the regime still hold
FROM THE DESK — Push it far enough and the empirical duration of a stressed CCC bond goes to zero or negative — it trades like equity, not like a bond. That is when a duration-hedged credit book discovers its hedge was the position.
ASK THE ROOM — You are long high-yield and short Treasury futures as a duration hedge. What happens to you in March 2020?
NEXT — Recap — the whole duration family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Close on the decision tree, not the formulas: option-free → yield duration; embedded options → effective; curve view → key rate; credit in stress → empirical.
•  Do not re-teach — read four of the eight and let them photograph the slide
•  Force the two units answers: MacDur in years, ModDur in % per unit yield, PVBP in currency per bp
•  Repeat the two error traps one last time: the ÷m on annualising, and the sign on −ModDur × Δy
•  Say what carries into Deck 16: spread duration is the same machinery pointed at credit spreads
•  Leave 5 minutes for questions — this deck always generates them
FROM THE DESK — 2022 is the exam question nobody set: books whose duration was measured to three decimals and never felt. The number was right; the tolerance for it was not.
NEXT — Deck 16 — credit risk and securitisation.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15  ·  WEEK 4  ·  MORNING 3</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Duration, Convexity</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&amp; Interest Rate Risk</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The heaviest math block of the course — duration measures, convexity, and curve-based risk for option-free and callable bonds</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6 Learning Modules 10–13</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Fixed Income III: Duration, Convexity &amp; Interest Rate Risk</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4 sections · ~2 hours · Built bottom-up from CFA readings</a:t>
            </a:r>
            <a:endParaRPr lang="en-US" sz="1300" dirty="0"/>
          </a:p>
        </p:txBody>
      </p:sp>
      <p:sp>
        <p:nvSpPr>
          <p:cNvPr id="8" name="Shape 6"/>
          <p:cNvSpPr/>
          <p:nvPr/>
        </p:nvSpPr>
        <p:spPr>
          <a:xfrm>
            <a:off x="320040" y="1207008"/>
            <a:ext cx="8503920" cy="859536"/>
          </a:xfrm>
          <a:prstGeom prst="rect">
            <a:avLst/>
          </a:prstGeom>
          <a:solidFill>
            <a:srgbClr val="FFFFFF"/>
          </a:solidFill>
          <a:ln/>
        </p:spPr>
      </p:sp>
      <p:sp>
        <p:nvSpPr>
          <p:cNvPr id="9" name="Shape 7"/>
          <p:cNvSpPr/>
          <p:nvPr/>
        </p:nvSpPr>
        <p:spPr>
          <a:xfrm>
            <a:off x="320040" y="1207008"/>
            <a:ext cx="594360" cy="859536"/>
          </a:xfrm>
          <a:prstGeom prst="rect">
            <a:avLst/>
          </a:prstGeom>
          <a:solidFill>
            <a:srgbClr val="1B2A4A"/>
          </a:solidFill>
          <a:ln/>
        </p:spPr>
      </p:sp>
      <p:sp>
        <p:nvSpPr>
          <p:cNvPr id="10" name="Text 8"/>
          <p:cNvSpPr txBox="1"/>
          <p:nvPr/>
        </p:nvSpPr>
        <p:spPr>
          <a:xfrm>
            <a:off x="320040" y="1207008"/>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Interest rate risk &amp; horizon yield</a:t>
            </a:r>
            <a:endParaRPr lang="en-US" sz="1200" dirty="0"/>
          </a:p>
        </p:txBody>
      </p:sp>
      <p:sp>
        <p:nvSpPr>
          <p:cNvPr id="12" name="Text 10"/>
          <p:cNvSpPr txBox="1"/>
          <p:nvPr/>
        </p:nvSpPr>
        <p:spPr>
          <a:xfrm>
            <a:off x="1024128" y="1593799"/>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three sources of return · reinvestment vs price risk · BRWA VFO / Baywhite examples · duration gap</a:t>
            </a:r>
            <a:endParaRPr lang="en-US" sz="1100" dirty="0"/>
          </a:p>
        </p:txBody>
      </p:sp>
      <p:sp>
        <p:nvSpPr>
          <p:cNvPr id="13" name="Shape 11"/>
          <p:cNvSpPr/>
          <p:nvPr/>
        </p:nvSpPr>
        <p:spPr>
          <a:xfrm>
            <a:off x="320040" y="2103120"/>
            <a:ext cx="8503920" cy="859536"/>
          </a:xfrm>
          <a:prstGeom prst="rect">
            <a:avLst/>
          </a:prstGeom>
          <a:solidFill>
            <a:srgbClr val="F5F7FA"/>
          </a:solidFill>
          <a:ln/>
        </p:spPr>
      </p:sp>
      <p:sp>
        <p:nvSpPr>
          <p:cNvPr id="14" name="Shape 12"/>
          <p:cNvSpPr/>
          <p:nvPr/>
        </p:nvSpPr>
        <p:spPr>
          <a:xfrm>
            <a:off x="320040" y="2103120"/>
            <a:ext cx="594360" cy="859536"/>
          </a:xfrm>
          <a:prstGeom prst="rect">
            <a:avLst/>
          </a:prstGeom>
          <a:solidFill>
            <a:srgbClr val="1B2A4A"/>
          </a:solidFill>
          <a:ln/>
        </p:spPr>
      </p:sp>
      <p:sp>
        <p:nvSpPr>
          <p:cNvPr id="15" name="Text 13"/>
          <p:cNvSpPr txBox="1"/>
          <p:nvPr/>
        </p:nvSpPr>
        <p:spPr>
          <a:xfrm>
            <a:off x="320040" y="2103120"/>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148840"/>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Duration: Macaulay, modified, money, PVBP</a:t>
            </a:r>
            <a:endParaRPr lang="en-US" sz="1200" dirty="0"/>
          </a:p>
        </p:txBody>
      </p:sp>
      <p:sp>
        <p:nvSpPr>
          <p:cNvPr id="17" name="Text 15"/>
          <p:cNvSpPr txBox="1"/>
          <p:nvPr/>
        </p:nvSpPr>
        <p:spPr>
          <a:xfrm>
            <a:off x="1024128" y="2489911"/>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MacDur weight tables · ModDur = MacDur/(1+r) · approximation · money duration · PVBP / DV01 · duration drivers</a:t>
            </a:r>
            <a:endParaRPr lang="en-US" sz="1100" dirty="0"/>
          </a:p>
        </p:txBody>
      </p:sp>
      <p:sp>
        <p:nvSpPr>
          <p:cNvPr id="18" name="Shape 16"/>
          <p:cNvSpPr/>
          <p:nvPr/>
        </p:nvSpPr>
        <p:spPr>
          <a:xfrm>
            <a:off x="320040" y="2999232"/>
            <a:ext cx="8503920" cy="859536"/>
          </a:xfrm>
          <a:prstGeom prst="rect">
            <a:avLst/>
          </a:prstGeom>
          <a:solidFill>
            <a:srgbClr val="FFFFFF"/>
          </a:solidFill>
          <a:ln/>
        </p:spPr>
      </p:sp>
      <p:sp>
        <p:nvSpPr>
          <p:cNvPr id="19" name="Shape 17"/>
          <p:cNvSpPr/>
          <p:nvPr/>
        </p:nvSpPr>
        <p:spPr>
          <a:xfrm>
            <a:off x="320040" y="2999232"/>
            <a:ext cx="594360" cy="859536"/>
          </a:xfrm>
          <a:prstGeom prst="rect">
            <a:avLst/>
          </a:prstGeom>
          <a:solidFill>
            <a:srgbClr val="1B2A4A"/>
          </a:solidFill>
          <a:ln/>
        </p:spPr>
      </p:sp>
      <p:sp>
        <p:nvSpPr>
          <p:cNvPr id="20" name="Text 18"/>
          <p:cNvSpPr txBox="1"/>
          <p:nvPr/>
        </p:nvSpPr>
        <p:spPr>
          <a:xfrm>
            <a:off x="320040" y="2999232"/>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044952"/>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Convexity &amp; the convexity adjustment</a:t>
            </a:r>
            <a:endParaRPr lang="en-US" sz="1200" dirty="0"/>
          </a:p>
        </p:txBody>
      </p:sp>
      <p:sp>
        <p:nvSpPr>
          <p:cNvPr id="22" name="Text 20"/>
          <p:cNvSpPr txBox="1"/>
          <p:nvPr/>
        </p:nvSpPr>
        <p:spPr>
          <a:xfrm>
            <a:off x="1024128" y="3386023"/>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second-order effect · −MD·Δy + ½·C·Δy² · money convexity · portfolio duration &amp; convexity under parallel shifts</a:t>
            </a:r>
            <a:endParaRPr lang="en-US" sz="1100" dirty="0"/>
          </a:p>
        </p:txBody>
      </p:sp>
      <p:sp>
        <p:nvSpPr>
          <p:cNvPr id="23" name="Shape 21"/>
          <p:cNvSpPr/>
          <p:nvPr/>
        </p:nvSpPr>
        <p:spPr>
          <a:xfrm>
            <a:off x="320040" y="3895344"/>
            <a:ext cx="8503920" cy="859536"/>
          </a:xfrm>
          <a:prstGeom prst="rect">
            <a:avLst/>
          </a:prstGeom>
          <a:solidFill>
            <a:srgbClr val="F5F7FA"/>
          </a:solidFill>
          <a:ln/>
        </p:spPr>
      </p:sp>
      <p:sp>
        <p:nvSpPr>
          <p:cNvPr id="24" name="Shape 22"/>
          <p:cNvSpPr/>
          <p:nvPr/>
        </p:nvSpPr>
        <p:spPr>
          <a:xfrm>
            <a:off x="320040" y="3895344"/>
            <a:ext cx="594360" cy="859536"/>
          </a:xfrm>
          <a:prstGeom prst="rect">
            <a:avLst/>
          </a:prstGeom>
          <a:solidFill>
            <a:srgbClr val="1B2A4A"/>
          </a:solidFill>
          <a:ln/>
        </p:spPr>
      </p:sp>
      <p:sp>
        <p:nvSpPr>
          <p:cNvPr id="25" name="Text 23"/>
          <p:cNvSpPr txBox="1"/>
          <p:nvPr/>
        </p:nvSpPr>
        <p:spPr>
          <a:xfrm>
            <a:off x="320040" y="3895344"/>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941064"/>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Curve-based, effective &amp; key rate</a:t>
            </a:r>
            <a:endParaRPr lang="en-US" sz="1200" dirty="0"/>
          </a:p>
        </p:txBody>
      </p:sp>
      <p:sp>
        <p:nvSpPr>
          <p:cNvPr id="27" name="Text 25"/>
          <p:cNvSpPr txBox="1"/>
          <p:nvPr/>
        </p:nvSpPr>
        <p:spPr>
          <a:xfrm>
            <a:off x="1024128" y="4282135"/>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callables need effective duration · negative convexity · key rate duration for curve shape · empirical vs analytical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Decompose the holding-period return on a fixed-rate bond into coupon, reinvestment, and capital-gain components, and explain how reinvestment and price risk offset each other at the Macaulay duration horizon.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Compute and interpret Macaulay, modified, money duration and PVBP for a coupon bond, and know when each is the right tool to reach for.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Predict how duration moves with coupon, yield, maturity, and time since the last coupon, and rank bonds on interest rate risk without a calculator.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Add a convexity adjustment to a duration-based price estimate and quantify, in both percent and currency terms, how much accuracy that second-order term buys.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Calculate portfolio duration and convexity as market-value-weighted averages, and state the key assumption (parallel yield-curve shift) and its limits.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Decide between yield duration, effective duration, key rate duration, and empirical duration for option-free bonds, callables / MBS, curve-shape views, and credit-risky portfolios.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Interest rate risk</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horizon yield</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4  ·  Deck 15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fixed-rate bond's total return decomposes into three building blocks: coupon income, reinvestment income, and capital gain or loss on sale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10, §2 "Sources of Return from Investing in a Fixed-Rate Bond", pp. 239–244.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Horizon yield = the compounded annual rate that equates what you pay at t=0 to the total you end up with at horizon T (reinvested coupons + sale price).</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r_horizon  =  [ (FV_coupons + Sale_price) / Purchase_price ]^(1/T)  −  1</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FV_coupons = future value of reinvested coupons; Sale_price = price at horizon (or par at maturity); T = years held.</a:t>
            </a:r>
            <a:endParaRPr lang="en-US" sz="1100" dirty="0"/>
          </a:p>
        </p:txBody>
      </p:sp>
      <p:sp>
        <p:nvSpPr>
          <p:cNvPr id="12" name="Shape 10"/>
          <p:cNvSpPr/>
          <p:nvPr/>
        </p:nvSpPr>
        <p:spPr>
          <a:xfrm>
            <a:off x="320040" y="2240280"/>
            <a:ext cx="8503920" cy="640080"/>
          </a:xfrm>
          <a:prstGeom prst="rect">
            <a:avLst/>
          </a:prstGeom>
          <a:solidFill>
            <a:srgbClr val="FFFFFF"/>
          </a:solidFill>
          <a:ln/>
        </p:spPr>
      </p:sp>
      <p:sp>
        <p:nvSpPr>
          <p:cNvPr id="13" name="Shape 11"/>
          <p:cNvSpPr/>
          <p:nvPr/>
        </p:nvSpPr>
        <p:spPr>
          <a:xfrm>
            <a:off x="320040" y="2240280"/>
            <a:ext cx="91440" cy="640080"/>
          </a:xfrm>
          <a:prstGeom prst="rect">
            <a:avLst/>
          </a:prstGeom>
          <a:solidFill>
            <a:srgbClr val="E8600A"/>
          </a:solidFill>
          <a:ln/>
        </p:spPr>
      </p:sp>
      <p:sp>
        <p:nvSpPr>
          <p:cNvPr id="14" name="Text 12"/>
          <p:cNvSpPr txBox="1"/>
          <p:nvPr/>
        </p:nvSpPr>
        <p:spPr>
          <a:xfrm>
            <a:off x="502920" y="2240280"/>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5" name="Text 13"/>
          <p:cNvSpPr txBox="1"/>
          <p:nvPr/>
        </p:nvSpPr>
        <p:spPr>
          <a:xfrm>
            <a:off x="868680" y="2276856"/>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Coupon &amp; principal payments</a:t>
            </a:r>
            <a:endParaRPr lang="en-US" sz="1200" dirty="0"/>
          </a:p>
        </p:txBody>
      </p:sp>
      <p:sp>
        <p:nvSpPr>
          <p:cNvPr id="16" name="Text 14"/>
          <p:cNvSpPr txBox="1"/>
          <p:nvPr/>
        </p:nvSpPr>
        <p:spPr>
          <a:xfrm>
            <a:off x="868680" y="2528316"/>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cash itself — promised on scheduled dates. Drops out of interest rate risk as long as the issuer does not default.</a:t>
            </a:r>
            <a:endParaRPr lang="en-US" sz="1200" dirty="0"/>
          </a:p>
        </p:txBody>
      </p:sp>
      <p:sp>
        <p:nvSpPr>
          <p:cNvPr id="17" name="Shape 15"/>
          <p:cNvSpPr/>
          <p:nvPr/>
        </p:nvSpPr>
        <p:spPr>
          <a:xfrm>
            <a:off x="320040" y="2944368"/>
            <a:ext cx="8503920" cy="640080"/>
          </a:xfrm>
          <a:prstGeom prst="rect">
            <a:avLst/>
          </a:prstGeom>
          <a:solidFill>
            <a:srgbClr val="F5F7FA"/>
          </a:solidFill>
          <a:ln/>
        </p:spPr>
      </p:sp>
      <p:sp>
        <p:nvSpPr>
          <p:cNvPr id="18" name="Shape 16"/>
          <p:cNvSpPr/>
          <p:nvPr/>
        </p:nvSpPr>
        <p:spPr>
          <a:xfrm>
            <a:off x="320040" y="2944368"/>
            <a:ext cx="91440" cy="640080"/>
          </a:xfrm>
          <a:prstGeom prst="rect">
            <a:avLst/>
          </a:prstGeom>
          <a:solidFill>
            <a:srgbClr val="E8600A"/>
          </a:solidFill>
          <a:ln/>
        </p:spPr>
      </p:sp>
      <p:sp>
        <p:nvSpPr>
          <p:cNvPr id="19" name="Text 17"/>
          <p:cNvSpPr txBox="1"/>
          <p:nvPr/>
        </p:nvSpPr>
        <p:spPr>
          <a:xfrm>
            <a:off x="502920" y="2944368"/>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20" name="Text 18"/>
          <p:cNvSpPr txBox="1"/>
          <p:nvPr/>
        </p:nvSpPr>
        <p:spPr>
          <a:xfrm>
            <a:off x="868680" y="2980944"/>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Reinvestment of coupons</a:t>
            </a:r>
            <a:endParaRPr lang="en-US" sz="1200" dirty="0"/>
          </a:p>
        </p:txBody>
      </p:sp>
      <p:sp>
        <p:nvSpPr>
          <p:cNvPr id="21" name="Text 19"/>
          <p:cNvSpPr txBox="1"/>
          <p:nvPr/>
        </p:nvSpPr>
        <p:spPr>
          <a:xfrm>
            <a:off x="868680" y="3232404"/>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Coupons earn the prevailing reinvestment rate until horizon. Rising rates help this leg; falling rates hurt it.</a:t>
            </a:r>
            <a:endParaRPr lang="en-US" sz="1200" dirty="0"/>
          </a:p>
        </p:txBody>
      </p:sp>
      <p:sp>
        <p:nvSpPr>
          <p:cNvPr id="22" name="Shape 20"/>
          <p:cNvSpPr/>
          <p:nvPr/>
        </p:nvSpPr>
        <p:spPr>
          <a:xfrm>
            <a:off x="320040" y="3648456"/>
            <a:ext cx="8503920" cy="640080"/>
          </a:xfrm>
          <a:prstGeom prst="rect">
            <a:avLst/>
          </a:prstGeom>
          <a:solidFill>
            <a:srgbClr val="FFFFFF"/>
          </a:solidFill>
          <a:ln/>
        </p:spPr>
      </p:sp>
      <p:sp>
        <p:nvSpPr>
          <p:cNvPr id="23" name="Shape 21"/>
          <p:cNvSpPr/>
          <p:nvPr/>
        </p:nvSpPr>
        <p:spPr>
          <a:xfrm>
            <a:off x="320040" y="3648456"/>
            <a:ext cx="91440" cy="640080"/>
          </a:xfrm>
          <a:prstGeom prst="rect">
            <a:avLst/>
          </a:prstGeom>
          <a:solidFill>
            <a:srgbClr val="E8600A"/>
          </a:solidFill>
          <a:ln/>
        </p:spPr>
      </p:sp>
      <p:sp>
        <p:nvSpPr>
          <p:cNvPr id="24" name="Text 22"/>
          <p:cNvSpPr txBox="1"/>
          <p:nvPr/>
        </p:nvSpPr>
        <p:spPr>
          <a:xfrm>
            <a:off x="502920" y="3648456"/>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5" name="Text 23"/>
          <p:cNvSpPr txBox="1"/>
          <p:nvPr/>
        </p:nvSpPr>
        <p:spPr>
          <a:xfrm>
            <a:off x="868680" y="3685032"/>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Capital gain / loss on sale</a:t>
            </a:r>
            <a:endParaRPr lang="en-US" sz="1200" dirty="0"/>
          </a:p>
        </p:txBody>
      </p:sp>
      <p:sp>
        <p:nvSpPr>
          <p:cNvPr id="26" name="Text 24"/>
          <p:cNvSpPr txBox="1"/>
          <p:nvPr/>
        </p:nvSpPr>
        <p:spPr>
          <a:xfrm>
            <a:off x="868680" y="3936492"/>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Only if the bond is sold before maturity. Rising rates push the price down (loss); falling rates push it up (gain) — the opposite of reinvestment.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Holding a bond to maturity strips out price risk but doubles down on reinvestment risk — the buy-and-hold investor wins from rate rises, loses from rate falls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Total coupons received = 62.0 (10 × 6.2). In the base case the FV is 82.493 — the extra 20.493 is pure interest-on-interest.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10, Examples 1 and 3 plus the Knowledge Check (VFO), pp. 239–242.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VFO buys BRWA 10-year 6.2% annual-coupon bond at par. Bond held to maturity → no capital gain / loss. Only reinvestment rate moves.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234440"/>
          <a:ext cx="8503920" cy="914400"/>
        </p:xfrm>
        <a:graphic>
          <a:graphicData uri="http://schemas.openxmlformats.org/drawingml/2006/table">
            <a:tbl>
              <a:tblPr/>
              <a:tblGrid>
                <a:gridCol w="4206240"/>
                <a:gridCol w="1554480"/>
                <a:gridCol w="137160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 (rates shift immediately after purchase)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FV of coupons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Redemption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Horizon yield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Rates stable at 6.20% (base case)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82.493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Rates rise +100 bp → 7.20%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86.475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Rates fall −100 bp → 5.20%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78.715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423160"/>
            <a:ext cx="8503920" cy="1874520"/>
          </a:xfrm>
          <a:prstGeom prst="rect">
            <a:avLst/>
          </a:prstGeom>
          <a:solidFill>
            <a:srgbClr val="FEF0E7"/>
          </a:solidFill>
          <a:ln w="9525">
            <a:solidFill>
              <a:srgbClr val="E8600A"/>
            </a:solidFill>
            <a:prstDash val="solid"/>
          </a:ln>
        </p:spPr>
      </p:sp>
      <p:sp>
        <p:nvSpPr>
          <p:cNvPr id="12" name="Text 9"/>
          <p:cNvSpPr txBox="1"/>
          <p:nvPr/>
        </p:nvSpPr>
        <p:spPr>
          <a:xfrm>
            <a:off x="457200" y="24688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VFO HORIZON YIELD IF RATES RISE TO 7.20%</a:t>
            </a:r>
            <a:endParaRPr lang="en-US" sz="1100" dirty="0"/>
          </a:p>
        </p:txBody>
      </p:sp>
      <p:sp>
        <p:nvSpPr>
          <p:cNvPr id="13" name="Text 10"/>
          <p:cNvSpPr txBox="1"/>
          <p:nvPr/>
        </p:nvSpPr>
        <p:spPr>
          <a:xfrm>
            <a:off x="457200" y="27614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10-year 6.2% annual bond, purchase price 100, coupons reinvested at 7.2% for 10 years, redemption at par.</a:t>
            </a:r>
            <a:endParaRPr lang="en-US" sz="1200" dirty="0"/>
          </a:p>
        </p:txBody>
      </p:sp>
      <p:sp>
        <p:nvSpPr>
          <p:cNvPr id="14" name="Text 11"/>
          <p:cNvSpPr txBox="1"/>
          <p:nvPr/>
        </p:nvSpPr>
        <p:spPr>
          <a:xfrm>
            <a:off x="457200" y="3273552"/>
            <a:ext cx="8229600" cy="5120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FV of coupons: =FV(7.2%, 10, 6.2, 0) = 86.475 per 100 par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Total ending cash: 86.475 + 100 = 186.475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Horizon yield: (186.475 / 100)^(1/10) − 1 = 6.43%</a:t>
            </a:r>
            <a:endParaRPr lang="en-US" sz="1100" dirty="0"/>
          </a:p>
        </p:txBody>
      </p:sp>
      <p:sp>
        <p:nvSpPr>
          <p:cNvPr id="15" name="Shape 12"/>
          <p:cNvSpPr/>
          <p:nvPr/>
        </p:nvSpPr>
        <p:spPr>
          <a:xfrm>
            <a:off x="411480" y="3858768"/>
            <a:ext cx="8321040" cy="365760"/>
          </a:xfrm>
          <a:prstGeom prst="rect">
            <a:avLst/>
          </a:prstGeom>
          <a:solidFill>
            <a:srgbClr val="E8600A"/>
          </a:solidFill>
          <a:ln/>
        </p:spPr>
      </p:sp>
      <p:sp>
        <p:nvSpPr>
          <p:cNvPr id="16"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Horizon yield = 6.43% (+23 bp vs base case — the gain is pure reinvestment benefit).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Selling before maturity exposes the investor to price risk that can swamp the reinvestment gain — Baywhite sells at year 4 and ends up losing on a rate rise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10, Examples 2 and 4 plus the Knowledge Check (Baywhite), pp. 240–243.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BRWA 10-year 6.2% bond, but Baywhite has a 4-year horizon. On sale there are 6 years left to maturity.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931920"/>
                <a:gridCol w="1645920"/>
                <a:gridCol w="1645920"/>
                <a:gridCol w="1280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 (rate moves immediately after purchase)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FV of coupons (4y)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Sale price at t=4</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Horizon yield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Rates stable at 6.20%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27.203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Rates rise +100 bp → 7.20%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27.609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95.263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Rates fall −100 bp → 5.20%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26.802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105.043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423160"/>
            <a:ext cx="8503920" cy="1874520"/>
          </a:xfrm>
          <a:prstGeom prst="rect">
            <a:avLst/>
          </a:prstGeom>
          <a:solidFill>
            <a:srgbClr val="FEF0E7"/>
          </a:solidFill>
          <a:ln w="9525">
            <a:solidFill>
              <a:srgbClr val="E8600A"/>
            </a:solidFill>
            <a:prstDash val="solid"/>
          </a:ln>
        </p:spPr>
      </p:sp>
      <p:sp>
        <p:nvSpPr>
          <p:cNvPr id="11" name="Text 8"/>
          <p:cNvSpPr txBox="1"/>
          <p:nvPr/>
        </p:nvSpPr>
        <p:spPr>
          <a:xfrm>
            <a:off x="457200" y="24688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BAYWHITE WITH RATES UP 100 BP</a:t>
            </a:r>
            <a:endParaRPr lang="en-US" sz="1100" dirty="0"/>
          </a:p>
        </p:txBody>
      </p:sp>
      <p:sp>
        <p:nvSpPr>
          <p:cNvPr id="12" name="Text 9"/>
          <p:cNvSpPr txBox="1"/>
          <p:nvPr/>
        </p:nvSpPr>
        <p:spPr>
          <a:xfrm>
            <a:off x="457200" y="27614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Coupons reinvested at 7.2% for 4 years (FV = 27.609). Bond sold at t = 4 with 6 years to go, priced off 7.2% YTM.</a:t>
            </a:r>
            <a:endParaRPr lang="en-US" sz="1200" dirty="0"/>
          </a:p>
        </p:txBody>
      </p:sp>
      <p:sp>
        <p:nvSpPr>
          <p:cNvPr id="13" name="Text 10"/>
          <p:cNvSpPr txBox="1"/>
          <p:nvPr/>
        </p:nvSpPr>
        <p:spPr>
          <a:xfrm>
            <a:off x="457200" y="3273552"/>
            <a:ext cx="8229600" cy="5120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Sale price: =PV(7.2%, 6, 6.2, 100) = 95.263 per 100 par (capital loss 4.737)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Total ending cash: 27.609 + 95.263 = 122.872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Horizon yield: (122.872 / 100)^(1/4) − 1 = 5.28%</a:t>
            </a:r>
            <a:endParaRPr lang="en-US" sz="1100" dirty="0"/>
          </a:p>
        </p:txBody>
      </p:sp>
      <p:sp>
        <p:nvSpPr>
          <p:cNvPr id="14" name="Shape 11"/>
          <p:cNvSpPr/>
          <p:nvPr/>
        </p:nvSpPr>
        <p:spPr>
          <a:xfrm>
            <a:off x="411480" y="3858768"/>
            <a:ext cx="8321040" cy="365760"/>
          </a:xfrm>
          <a:prstGeom prst="rect">
            <a:avLst/>
          </a:prstGeom>
          <a:solidFill>
            <a:srgbClr val="E8600A"/>
          </a:solidFill>
          <a:ln/>
        </p:spPr>
      </p:sp>
      <p:sp>
        <p:nvSpPr>
          <p:cNvPr id="15" name="Text 12"/>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Horizon yield 5.28% — reinvestment gain of 0.406 is swamped by the 4.737 capital loss.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duration gap — Macaulay duration minus horizon — tells you which side of interest rate risk dominates for a given investor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Hightest's realised 8y horizon yield: 6.20% stable, 6.24% at +100 bp, 6.17% at −100 bp — near-identical because horizon ≈ MacDur 7.74y.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10, §3 "Investment Horizon and Interest Rate Risk", Exhibit 3 and Equation 1, pp. 245–250.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At horizon = MacDur the two offset exactly. Shorter horizon: price risk dominates. Longer horizon: reinvestment risk dominates.</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Duration gap  =  Macaulay duration  −  Investment horizon</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Gap &gt; 0 → price risk dominates (rising rates hurt). Gap &lt; 0 → reinvestment risk dominates. Gap = 0 → nearly hedged.</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2194560"/>
          <a:ext cx="8503920" cy="914400"/>
        </p:xfrm>
        <a:graphic>
          <a:graphicData uri="http://schemas.openxmlformats.org/drawingml/2006/table">
            <a:tbl>
              <a:tblPr/>
              <a:tblGrid>
                <a:gridCol w="2011680"/>
                <a:gridCol w="1005840"/>
                <a:gridCol w="1280160"/>
                <a:gridCol w="1554480"/>
                <a:gridCol w="2651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Investor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Horizon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MacDur (bond)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Duration gap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Dominant risk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VFO (buy-and-hold)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7.74y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−2.26 (neg.)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Falling rates (reinvestment)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Hightest (8y horizon)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7.74y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−0.26 (≈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Largely hedged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Baywhite (4y horizon)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7.74y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+3.74 (pos.)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Rising rates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4" name="Shape 11"/>
          <p:cNvSpPr/>
          <p:nvPr/>
        </p:nvSpPr>
        <p:spPr>
          <a:xfrm>
            <a:off x="320040" y="3611880"/>
            <a:ext cx="8503920" cy="594360"/>
          </a:xfrm>
          <a:prstGeom prst="rect">
            <a:avLst/>
          </a:prstGeom>
          <a:solidFill>
            <a:srgbClr val="FEF0E7"/>
          </a:solidFill>
          <a:ln/>
        </p:spPr>
      </p:sp>
      <p:sp>
        <p:nvSpPr>
          <p:cNvPr id="15" name="Shape 12"/>
          <p:cNvSpPr/>
          <p:nvPr/>
        </p:nvSpPr>
        <p:spPr>
          <a:xfrm>
            <a:off x="320040" y="3611880"/>
            <a:ext cx="73152" cy="594360"/>
          </a:xfrm>
          <a:prstGeom prst="rect">
            <a:avLst/>
          </a:prstGeom>
          <a:solidFill>
            <a:srgbClr val="E8600A"/>
          </a:solidFill>
          <a:ln/>
        </p:spPr>
      </p:sp>
      <p:sp>
        <p:nvSpPr>
          <p:cNvPr id="16" name="Text 13"/>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IMMUNISATION TAKEAWAY</a:t>
            </a:r>
            <a:endParaRPr lang="en-US" sz="1100" dirty="0"/>
          </a:p>
        </p:txBody>
      </p:sp>
      <p:sp>
        <p:nvSpPr>
          <p:cNvPr id="17" name="Text 14"/>
          <p:cNvSpPr txBox="1"/>
          <p:nvPr/>
        </p:nvSpPr>
        <p:spPr>
          <a:xfrm>
            <a:off x="457200" y="3931920"/>
            <a:ext cx="8275320" cy="228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Matching the Macaulay duration of a bond (or portfolio) to the investor's horizon produces a single-period immunised position against a one-time parallel shift in the yield curve.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Duration: Macaulay,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modified, money &amp; PVBP</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4  ·  Deck 15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Macaulay duration is the present-value-weighted average time-to-receipt of a bond's cash flows, expressed in years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10, §4 "Macaulay Duration", Equation 2, pp. 251–255; zero-coupon and perpetual duration, Learning Module 11 §3, pp. 279–280.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Weights sum to 1 because the sum of the PV of cash flows equals the full bond price. MacDur is in units of periods; divide by periods per year to annualise.</a:t>
            </a:r>
            <a:endParaRPr lang="en-US" sz="1300" dirty="0"/>
          </a:p>
        </p:txBody>
      </p:sp>
      <p:sp>
        <p:nvSpPr>
          <p:cNvPr id="9" name="Shape 7"/>
          <p:cNvSpPr/>
          <p:nvPr/>
        </p:nvSpPr>
        <p:spPr>
          <a:xfrm>
            <a:off x="320040" y="1188720"/>
            <a:ext cx="8503920" cy="731520"/>
          </a:xfrm>
          <a:prstGeom prst="rect">
            <a:avLst/>
          </a:prstGeom>
          <a:solidFill>
            <a:srgbClr val="1B2A4A"/>
          </a:solidFill>
          <a:ln/>
        </p:spPr>
      </p:sp>
      <p:sp>
        <p:nvSpPr>
          <p:cNvPr id="10" name="Text 8"/>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MacDur  =  Σ  t × [ PV(CF_t) / PV_full ]</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Annualised MacDur  =  MacDur / m</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 = time to each cash flow, in periods; PV_full = full (dirty) price; m = coupon periods per year.</a:t>
            </a:r>
            <a:endParaRPr lang="en-US" sz="1100" dirty="0"/>
          </a:p>
        </p:txBody>
      </p:sp>
      <p:sp>
        <p:nvSpPr>
          <p:cNvPr id="12" name="Shape 10"/>
          <p:cNvSpPr/>
          <p:nvPr/>
        </p:nvSpPr>
        <p:spPr>
          <a:xfrm>
            <a:off x="320040" y="2286000"/>
            <a:ext cx="4160520" cy="2011680"/>
          </a:xfrm>
          <a:prstGeom prst="rect">
            <a:avLst/>
          </a:prstGeom>
          <a:solidFill>
            <a:srgbClr val="FEF0E7"/>
          </a:solidFill>
          <a:ln/>
        </p:spPr>
      </p:sp>
      <p:sp>
        <p:nvSpPr>
          <p:cNvPr id="13" name="Shape 11"/>
          <p:cNvSpPr/>
          <p:nvPr/>
        </p:nvSpPr>
        <p:spPr>
          <a:xfrm>
            <a:off x="320040" y="2286000"/>
            <a:ext cx="73152" cy="2011680"/>
          </a:xfrm>
          <a:prstGeom prst="rect">
            <a:avLst/>
          </a:prstGeom>
          <a:solidFill>
            <a:srgbClr val="E8600A"/>
          </a:solidFill>
          <a:ln/>
        </p:spPr>
      </p:sp>
      <p:sp>
        <p:nvSpPr>
          <p:cNvPr id="14" name="Text 12"/>
          <p:cNvSpPr txBox="1"/>
          <p:nvPr/>
        </p:nvSpPr>
        <p:spPr>
          <a:xfrm>
            <a:off x="4572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ZERO-COUPON BONDS</a:t>
            </a:r>
            <a:endParaRPr lang="en-US" sz="1100" dirty="0"/>
          </a:p>
        </p:txBody>
      </p:sp>
      <p:sp>
        <p:nvSpPr>
          <p:cNvPr id="15" name="Text 13"/>
          <p:cNvSpPr txBox="1"/>
          <p:nvPr/>
        </p:nvSpPr>
        <p:spPr>
          <a:xfrm>
            <a:off x="457200" y="260604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Only one cash flow at maturity with weight 1.0. Macaulay duration = time-to-maturity exactly.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 5-year zero has MacDur = 5y regardless of yield.</a:t>
            </a:r>
            <a:endParaRPr lang="en-US" sz="1200" dirty="0"/>
          </a:p>
        </p:txBody>
      </p:sp>
      <p:sp>
        <p:nvSpPr>
          <p:cNvPr id="16" name="Shape 14"/>
          <p:cNvSpPr/>
          <p:nvPr/>
        </p:nvSpPr>
        <p:spPr>
          <a:xfrm>
            <a:off x="4663440" y="2286000"/>
            <a:ext cx="4160520" cy="2011680"/>
          </a:xfrm>
          <a:prstGeom prst="rect">
            <a:avLst/>
          </a:prstGeom>
          <a:solidFill>
            <a:srgbClr val="F5F7FA"/>
          </a:solidFill>
          <a:ln/>
        </p:spPr>
      </p:sp>
      <p:sp>
        <p:nvSpPr>
          <p:cNvPr id="17" name="Shape 15"/>
          <p:cNvSpPr/>
          <p:nvPr/>
        </p:nvSpPr>
        <p:spPr>
          <a:xfrm>
            <a:off x="4663440" y="2286000"/>
            <a:ext cx="73152" cy="2011680"/>
          </a:xfrm>
          <a:prstGeom prst="rect">
            <a:avLst/>
          </a:prstGeom>
          <a:solidFill>
            <a:srgbClr val="1B2A4A"/>
          </a:solidFill>
          <a:ln/>
        </p:spPr>
      </p:sp>
      <p:sp>
        <p:nvSpPr>
          <p:cNvPr id="18" name="Text 16"/>
          <p:cNvSpPr txBox="1"/>
          <p:nvPr/>
        </p:nvSpPr>
        <p:spPr>
          <a:xfrm>
            <a:off x="48006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PERPETUAL BONDS</a:t>
            </a:r>
            <a:endParaRPr lang="en-US" sz="1100" dirty="0"/>
          </a:p>
        </p:txBody>
      </p:sp>
      <p:sp>
        <p:nvSpPr>
          <p:cNvPr id="19" name="Text 17"/>
          <p:cNvSpPr txBox="1"/>
          <p:nvPr/>
        </p:nvSpPr>
        <p:spPr>
          <a:xfrm>
            <a:off x="4800600" y="260604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No maturity, just infinite coupons. Closed form: MacDur = (1+r) / 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At r = 6%, a perpetual has MacDur = 1.06 / 0.06 = 17.67y — longest duration of any plain-vanilla fixed income.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Macaulay duration worked example — the 5-year 3.2% semi-annual BRWA bond has an annualised Macaulay duration of 4.66 years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Coupon effect, same bond otherwise: a 5y par bond with a 6.0% semi-annual coupon has MacDur 4.393y. Higher coupon, shorter duration.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Example 1 "Modified Duration for the BRWA Bond", pp. 268–269.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Bond priced at par so weight of each CF = its PV directly. Ten semi-annual periods of 1.6 coupon + 100 face at t=10. Periodic YTM = 1.6%.</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463040"/>
                <a:gridCol w="1828800"/>
                <a:gridCol w="1828800"/>
                <a:gridCol w="1737360"/>
                <a:gridCol w="16459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Period 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 flow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PV @ 1.6%</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 × 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1–9 (coupons)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 each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1.57 … 1.39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0.0157 … 0.0139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0.016 … 0.125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 (coupon + par)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86.69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0.8669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8.669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Totals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9.320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331720"/>
            <a:ext cx="8503920" cy="1965960"/>
          </a:xfrm>
          <a:prstGeom prst="rect">
            <a:avLst/>
          </a:prstGeom>
          <a:solidFill>
            <a:srgbClr val="FEF0E7"/>
          </a:solidFill>
          <a:ln w="9525">
            <a:solidFill>
              <a:srgbClr val="E8600A"/>
            </a:solidFill>
            <a:prstDash val="solid"/>
          </a:ln>
        </p:spPr>
      </p:sp>
      <p:sp>
        <p:nvSpPr>
          <p:cNvPr id="12" name="Text 9"/>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COMPUTE MACDUR (IN PERIODS, THEN ANNUALISED)</a:t>
            </a:r>
            <a:endParaRPr lang="en-US" sz="1100" dirty="0"/>
          </a:p>
        </p:txBody>
      </p:sp>
      <p:sp>
        <p:nvSpPr>
          <p:cNvPr id="13" name="Text 10"/>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Sum of (time × weight) across all 10 periods = 9.3203 semi-annual periods. Periods per year m = 2.</a:t>
            </a:r>
            <a:endParaRPr lang="en-US" sz="1200" dirty="0"/>
          </a:p>
        </p:txBody>
      </p:sp>
      <p:sp>
        <p:nvSpPr>
          <p:cNvPr id="14" name="Text 11"/>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Semi-annual MacDur = 9.3203 periods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Annualised MacDur = 9.3203 / 2 = 4.6601 years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Sanity check: MacDur &lt; 5y because 13.3% of the price sits in coupons paid before maturity</a:t>
            </a:r>
            <a:endParaRPr lang="en-US" sz="1100" dirty="0"/>
          </a:p>
        </p:txBody>
      </p:sp>
      <p:sp>
        <p:nvSpPr>
          <p:cNvPr id="15" name="Shape 12"/>
          <p:cNvSpPr/>
          <p:nvPr/>
        </p:nvSpPr>
        <p:spPr>
          <a:xfrm>
            <a:off x="411480" y="3858768"/>
            <a:ext cx="8321040" cy="365760"/>
          </a:xfrm>
          <a:prstGeom prst="rect">
            <a:avLst/>
          </a:prstGeom>
          <a:solidFill>
            <a:srgbClr val="E8600A"/>
          </a:solidFill>
          <a:ln/>
        </p:spPr>
      </p:sp>
      <p:sp>
        <p:nvSpPr>
          <p:cNvPr id="16"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Annualised Macaulay duration = 4.66 years (9.3203 semi-annual periods ÷ 2).</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Modified duration is Macaulay divided by (1 + r) and measures percentage price change per unit yield change — the first-order sensitivity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§2 "Modified Duration", Equations 2–3, pp. 266–270.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Duration is quoted as a POSITIVE number; the minus sign lives in the price-change formula. Linear (tangent) approximation — accurate for small yield moves, off for large ones.</a:t>
            </a:r>
            <a:endParaRPr lang="en-US" sz="1300" dirty="0"/>
          </a:p>
        </p:txBody>
      </p:sp>
      <p:sp>
        <p:nvSpPr>
          <p:cNvPr id="9" name="Shape 7"/>
          <p:cNvSpPr/>
          <p:nvPr/>
        </p:nvSpPr>
        <p:spPr>
          <a:xfrm>
            <a:off x="320040" y="1188720"/>
            <a:ext cx="8503920" cy="731520"/>
          </a:xfrm>
          <a:prstGeom prst="rect">
            <a:avLst/>
          </a:prstGeom>
          <a:solidFill>
            <a:srgbClr val="1B2A4A"/>
          </a:solidFill>
          <a:ln/>
        </p:spPr>
      </p:sp>
      <p:sp>
        <p:nvSpPr>
          <p:cNvPr id="10" name="Text 8"/>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ModDur  =  MacDur / (1 + r)</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%ΔPV_full  ≈  −AnnModDur × Δy</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 = yield PER PERIOD (0.032/2 = 1.6% here); annualise by dividing by m. The error grows with (Δy)², not with Δy.</a:t>
            </a:r>
            <a:endParaRPr lang="en-US" sz="1100" dirty="0"/>
          </a:p>
        </p:txBody>
      </p:sp>
      <p:sp>
        <p:nvSpPr>
          <p:cNvPr id="12" name="Shape 10"/>
          <p:cNvSpPr/>
          <p:nvPr/>
        </p:nvSpPr>
        <p:spPr>
          <a:xfrm>
            <a:off x="320040" y="2240280"/>
            <a:ext cx="8503920" cy="2057400"/>
          </a:xfrm>
          <a:prstGeom prst="rect">
            <a:avLst/>
          </a:prstGeom>
          <a:solidFill>
            <a:srgbClr val="FEF0E7"/>
          </a:solidFill>
          <a:ln w="9525">
            <a:solidFill>
              <a:srgbClr val="E8600A"/>
            </a:solidFill>
            <a:prstDash val="solid"/>
          </a:ln>
        </p:spPr>
      </p:sp>
      <p:sp>
        <p:nvSpPr>
          <p:cNvPr id="13" name="Text 11"/>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BRWA 5y 3.2% BOND AT 3.2% YTM</a:t>
            </a:r>
            <a:endParaRPr lang="en-US" sz="1100" dirty="0"/>
          </a:p>
        </p:txBody>
      </p:sp>
      <p:sp>
        <p:nvSpPr>
          <p:cNvPr id="14" name="Text 12"/>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MacDur (periods) = 9.3203. Periodic YTM r = 0.016. Annualised modified duration sought.</a:t>
            </a:r>
            <a:endParaRPr lang="en-US" sz="1200" dirty="0"/>
          </a:p>
        </p:txBody>
      </p:sp>
      <p:sp>
        <p:nvSpPr>
          <p:cNvPr id="15" name="Text 13"/>
          <p:cNvSpPr txBox="1"/>
          <p:nvPr/>
        </p:nvSpPr>
        <p:spPr>
          <a:xfrm>
            <a:off x="457200" y="3090672"/>
            <a:ext cx="8229600" cy="69494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ModDur (periods) = 9.3203 / (1 + 0.016) = 9.17351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AnnModDur = 9.17351 / 2 = 4.58676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Estimated %ΔPV_full for +80 bp YTM rise: −4.58676 × 0.0080 = −3.67%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Estimated %ΔPV_full for −80 bp YTM fall: −4.58676 × (−0.0080) = +3.67%</a:t>
            </a:r>
            <a:endParaRPr lang="en-US" sz="110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AnnModDur = 4.587. A 100 bp YTM rise implies ≈ −4.59% price (before convexity).</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Approximate modified duration bumps the yield up and down by a few basis points and reads the slope directly off the price curve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§2 "Approximate Modified Duration", Equation 4 and Example 2, pp. 270–272.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preferred method when MacDur is hard to obtain (contingent cash flows, default risk). Yields results essentially identical to the exact computation for small bumps.</a:t>
            </a:r>
            <a:endParaRPr lang="en-US" sz="1300" dirty="0"/>
          </a:p>
        </p:txBody>
      </p:sp>
      <p:sp>
        <p:nvSpPr>
          <p:cNvPr id="9" name="Shape 7"/>
          <p:cNvSpPr/>
          <p:nvPr/>
        </p:nvSpPr>
        <p:spPr>
          <a:xfrm>
            <a:off x="320040" y="1188720"/>
            <a:ext cx="8503920" cy="731520"/>
          </a:xfrm>
          <a:prstGeom prst="rect">
            <a:avLst/>
          </a:prstGeom>
          <a:solidFill>
            <a:srgbClr val="1B2A4A"/>
          </a:solidFill>
          <a:ln/>
        </p:spPr>
      </p:sp>
      <p:sp>
        <p:nvSpPr>
          <p:cNvPr id="10" name="Text 8"/>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AnnModDur  ≈  (PV−  −  PV+)  /  [ 2 × Δyield × PV_0 ]</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PV_0 = current full price; PV+ / PV− = full prices after raising / lowering YTM by Δyield (annualised).</a:t>
            </a:r>
            <a:endParaRPr lang="en-US" sz="1100" dirty="0"/>
          </a:p>
        </p:txBody>
      </p:sp>
      <p:sp>
        <p:nvSpPr>
          <p:cNvPr id="12" name="Shape 10"/>
          <p:cNvSpPr/>
          <p:nvPr/>
        </p:nvSpPr>
        <p:spPr>
          <a:xfrm>
            <a:off x="320040" y="2240280"/>
            <a:ext cx="8503920" cy="2057400"/>
          </a:xfrm>
          <a:prstGeom prst="rect">
            <a:avLst/>
          </a:prstGeom>
          <a:solidFill>
            <a:srgbClr val="FEF0E7"/>
          </a:solidFill>
          <a:ln w="9525">
            <a:solidFill>
              <a:srgbClr val="E8600A"/>
            </a:solidFill>
            <a:prstDash val="solid"/>
          </a:ln>
        </p:spPr>
      </p:sp>
      <p:sp>
        <p:nvSpPr>
          <p:cNvPr id="13" name="Text 11"/>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BRWA 5y 3.2% BOND, 5 BP BUMP</a:t>
            </a:r>
            <a:endParaRPr lang="en-US" sz="1100" dirty="0"/>
          </a:p>
        </p:txBody>
      </p:sp>
      <p:sp>
        <p:nvSpPr>
          <p:cNvPr id="14" name="Text 12"/>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PV_0 = 100.00 (priced at par). Δyield = 0.0005 (5 bp). Compute PV+ at 3.25% YTM and PV− at 3.15% YTM.</a:t>
            </a:r>
            <a:endParaRPr lang="en-US" sz="1200" dirty="0"/>
          </a:p>
        </p:txBody>
      </p:sp>
      <p:sp>
        <p:nvSpPr>
          <p:cNvPr id="15" name="Text 13"/>
          <p:cNvSpPr txBox="1"/>
          <p:nvPr/>
        </p:nvSpPr>
        <p:spPr>
          <a:xfrm>
            <a:off x="457200" y="3090672"/>
            <a:ext cx="8229600" cy="69494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PV+ at 3.25% = 99.770965 per 100 par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PV− at 3.15% = 100.229641 per 100 par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AnnModDur ≈ (100.229641 − 99.770965) / (2 × 0.0005 × 100.00)  =  0.458676 / 0.100000  =  4.58676</a:t>
            </a:r>
            <a:endParaRPr lang="en-US" sz="115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Approximate AnnModDur = 4.5868 — matches the exact MacDur/(1+r)/m result to four decimals.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Money duration converts modified duration into a currency figure — the dollar price change per unit yield move on an actual position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MoneyDur inherits the unit of PV_full: 445.32 per 100 of par, or USD 445.3M on the position. Mixing the two is the classic units error.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§3 "Money Duration and Price Value of a Basis Point", Equations 6–7, p. 278.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US markets call this "dollar duration". Drops the percentage scaling so P&amp;L attribution is in the local currency directly.</a:t>
            </a:r>
            <a:endParaRPr lang="en-US" sz="1300" dirty="0"/>
          </a:p>
        </p:txBody>
      </p:sp>
      <p:sp>
        <p:nvSpPr>
          <p:cNvPr id="10" name="Shape 8"/>
          <p:cNvSpPr/>
          <p:nvPr/>
        </p:nvSpPr>
        <p:spPr>
          <a:xfrm>
            <a:off x="320040" y="1188720"/>
            <a:ext cx="8503920" cy="731520"/>
          </a:xfrm>
          <a:prstGeom prst="rect">
            <a:avLst/>
          </a:prstGeom>
          <a:solidFill>
            <a:srgbClr val="1B2A4A"/>
          </a:solidFill>
          <a:ln/>
        </p:spPr>
      </p:sp>
      <p:sp>
        <p:nvSpPr>
          <p:cNvPr id="11" name="Text 9"/>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MoneyDur  =  AnnModDur × PV_full</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ΔPV_full  ≈  −MoneyDur × Δy</a:t>
            </a:r>
            <a:endParaRPr lang="en-US" sz="1800" dirty="0"/>
          </a:p>
        </p:txBody>
      </p:sp>
      <p:sp>
        <p:nvSpPr>
          <p:cNvPr id="12" name="Text 10"/>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PV_full can be in percent-of-par (per 100) or in the actual currency position. Output matches the input unit.</a:t>
            </a:r>
            <a:endParaRPr lang="en-US" sz="1100" dirty="0"/>
          </a:p>
        </p:txBody>
      </p:sp>
      <p:sp>
        <p:nvSpPr>
          <p:cNvPr id="13" name="Shape 11"/>
          <p:cNvSpPr/>
          <p:nvPr/>
        </p:nvSpPr>
        <p:spPr>
          <a:xfrm>
            <a:off x="320040" y="2240280"/>
            <a:ext cx="8503920" cy="2057400"/>
          </a:xfrm>
          <a:prstGeom prst="rect">
            <a:avLst/>
          </a:prstGeom>
          <a:solidFill>
            <a:srgbClr val="FEF0E7"/>
          </a:solidFill>
          <a:ln w="9525">
            <a:solidFill>
              <a:srgbClr val="E8600A"/>
            </a:solidFill>
            <a:prstDash val="solid"/>
          </a:ln>
        </p:spPr>
      </p:sp>
      <p:sp>
        <p:nvSpPr>
          <p:cNvPr id="14" name="Text 12"/>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USD 100M BRWA 5y BOND POSITION</a:t>
            </a:r>
            <a:endParaRPr lang="en-US" sz="1100" dirty="0"/>
          </a:p>
        </p:txBody>
      </p:sp>
      <p:sp>
        <p:nvSpPr>
          <p:cNvPr id="15" name="Text 13"/>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Par USD 100M. Settlement 57 days into first coupon period → PV_full = 100.504 per 100 par. AnnModDur = 4.43092 (settlement-adjusted).</a:t>
            </a:r>
            <a:endParaRPr lang="en-US" sz="1200" dirty="0"/>
          </a:p>
        </p:txBody>
      </p:sp>
      <p:sp>
        <p:nvSpPr>
          <p:cNvPr id="16" name="Text 14"/>
          <p:cNvSpPr txBox="1"/>
          <p:nvPr/>
        </p:nvSpPr>
        <p:spPr>
          <a:xfrm>
            <a:off x="457200" y="3090672"/>
            <a:ext cx="8229600" cy="69494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Market value = USD 100,000,000 × 100.504/100 = USD 100,503,921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MoneyDur = 4.43092 × USD 100,503,921 = USD 445,324,719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Estimated P&amp;L for +100 bp YTM move: −USD 445,324,719 × 0.0100 = −USD 4,453,247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Estimated P&amp;L for −100 bp YTM move: +USD 4,453,247 (linear / pre-convexity)</a:t>
            </a:r>
            <a:endParaRPr lang="en-US" sz="110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Money duration USD 445.3M. A 100 bp yield rise costs the investor ~USD 4.45M.</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PVBP (the "dollar value of an 01") is the currency price change per 1 basis point — the bond-market standard risk number for trading desks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Also called "PV01" and, in the US, "DV01" (dollar value of 1 bp). BPV (basis-point value) is money duration × 0.0001.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§3 "Price Value of a Basis Point", Equation 8, pp. 278–279.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Trading desks typically quote risk in PVBP/DV01 because it scales linearly with notional and lines up with quoted bid-offer in basis points.</a:t>
            </a:r>
            <a:endParaRPr lang="en-US" sz="1300" dirty="0"/>
          </a:p>
        </p:txBody>
      </p:sp>
      <p:sp>
        <p:nvSpPr>
          <p:cNvPr id="10" name="Shape 8"/>
          <p:cNvSpPr/>
          <p:nvPr/>
        </p:nvSpPr>
        <p:spPr>
          <a:xfrm>
            <a:off x="320040" y="1188720"/>
            <a:ext cx="8503920" cy="731520"/>
          </a:xfrm>
          <a:prstGeom prst="rect">
            <a:avLst/>
          </a:prstGeom>
          <a:solidFill>
            <a:srgbClr val="1B2A4A"/>
          </a:solidFill>
          <a:ln/>
        </p:spPr>
      </p:sp>
      <p:sp>
        <p:nvSpPr>
          <p:cNvPr id="11" name="Text 9"/>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PVBP  =  (PV−  −  PV+)  /  2</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where PV± are full prices at YTM ∓ 1 bp</a:t>
            </a:r>
            <a:endParaRPr lang="en-US" sz="1800" dirty="0"/>
          </a:p>
        </p:txBody>
      </p:sp>
      <p:sp>
        <p:nvSpPr>
          <p:cNvPr id="12" name="Text 10"/>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Per 100 of par or on the actual position notional. PVBP is essentially (MoneyDur × 0.0001) up to convexity rounding.</a:t>
            </a:r>
            <a:endParaRPr lang="en-US" sz="1100" dirty="0"/>
          </a:p>
        </p:txBody>
      </p:sp>
      <p:sp>
        <p:nvSpPr>
          <p:cNvPr id="13" name="Shape 11"/>
          <p:cNvSpPr/>
          <p:nvPr/>
        </p:nvSpPr>
        <p:spPr>
          <a:xfrm>
            <a:off x="320040" y="2240280"/>
            <a:ext cx="8503920" cy="2057400"/>
          </a:xfrm>
          <a:prstGeom prst="rect">
            <a:avLst/>
          </a:prstGeom>
          <a:solidFill>
            <a:srgbClr val="FEF0E7"/>
          </a:solidFill>
          <a:ln w="9525">
            <a:solidFill>
              <a:srgbClr val="E8600A"/>
            </a:solidFill>
            <a:prstDash val="solid"/>
          </a:ln>
        </p:spPr>
      </p:sp>
      <p:sp>
        <p:nvSpPr>
          <p:cNvPr id="14" name="Text 12"/>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BRWA 5y 3.2% BOND, PVBP PER 100 PAR</a:t>
            </a:r>
            <a:endParaRPr lang="en-US" sz="1100" dirty="0"/>
          </a:p>
        </p:txBody>
      </p:sp>
      <p:sp>
        <p:nvSpPr>
          <p:cNvPr id="15" name="Text 13"/>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PV_0 = 100.504. Bump YTM by ±1 bp (i.e. 3.19% and 3.21%). Use PRICE function for both.</a:t>
            </a:r>
            <a:endParaRPr lang="en-US" sz="1200" dirty="0"/>
          </a:p>
        </p:txBody>
      </p:sp>
      <p:sp>
        <p:nvSpPr>
          <p:cNvPr id="16" name="Text 14"/>
          <p:cNvSpPr txBox="1"/>
          <p:nvPr/>
        </p:nvSpPr>
        <p:spPr>
          <a:xfrm>
            <a:off x="457200" y="3090672"/>
            <a:ext cx="8229600" cy="69494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 at 3.21% YTM = 100.459400 per 100 par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 at 3.19% YTM = 100.548465 per 100 par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PVBP = (100.548465 − 100.459400) / 2 = 0.044532 per 100 of par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Scale to a position: USD 30M par × 0.044532 / 100 = USD 13,360 per bp</a:t>
            </a:r>
            <a:endParaRPr lang="en-US" sz="110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PVBP = 0.0445 per 100 of par → DV01 ≈ USD 13.4k on a USD 30M par BRWA position.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Duration's four drivers — coupon, yield, maturity, and position within the coupon period — each pull in a specific, predictable direction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Duration is not static: it falls smoothly through the coupon period, then jumps up on the coupon date — the "saw-tooth" of LM 11 Exhibit 6, p. 286.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§4 "Properties of Duration", Exhibit 4, pp. 284–286.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Lower coupon or yield shifts more weight onto distant cash flows, lengthening duration. Longer maturity does the same via the par payment.</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20240"/>
                <a:gridCol w="822960"/>
                <a:gridCol w="1463040"/>
                <a:gridCol w="4297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Change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Effect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Intuition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Coupon rate 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Duration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Early cash flows pull the average time 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Yield-to-maturity 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Duration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Distant flows deflate more; weight moves near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Time-to-maturity 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Duration ↑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par payment sits further out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Time elapsed, t/T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t/T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Duration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Each day, the next coupon is one day closer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017520"/>
            <a:ext cx="8503920" cy="1143000"/>
          </a:xfrm>
          <a:prstGeom prst="rect">
            <a:avLst/>
          </a:prstGeom>
          <a:solidFill>
            <a:srgbClr val="FEF0E7"/>
          </a:solidFill>
          <a:ln/>
        </p:spPr>
      </p:sp>
      <p:sp>
        <p:nvSpPr>
          <p:cNvPr id="12" name="Shape 9"/>
          <p:cNvSpPr/>
          <p:nvPr/>
        </p:nvSpPr>
        <p:spPr>
          <a:xfrm>
            <a:off x="320040" y="3017520"/>
            <a:ext cx="73152" cy="1143000"/>
          </a:xfrm>
          <a:prstGeom prst="rect">
            <a:avLst/>
          </a:prstGeom>
          <a:solidFill>
            <a:srgbClr val="E8600A"/>
          </a:solidFill>
          <a:ln/>
        </p:spPr>
      </p:sp>
      <p:sp>
        <p:nvSpPr>
          <p:cNvPr id="13" name="Text 10"/>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RANKING RULE OF THUMB — AND THE ONE EXCEPTION (*)</a:t>
            </a:r>
            <a:endParaRPr lang="en-US" sz="1100" dirty="0"/>
          </a:p>
        </p:txBody>
      </p:sp>
      <p:sp>
        <p:nvSpPr>
          <p:cNvPr id="14" name="Text 11"/>
          <p:cNvSpPr txBox="1"/>
          <p:nvPr/>
        </p:nvSpPr>
        <p:spPr>
          <a:xfrm>
            <a:off x="457200" y="333756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For two otherwise identical bonds: lower coupon → higher duration; lower yield → higher duration; longer maturity → higher duration. The exception: for a DEEP-DISCOUNT bond (c well below r) at very long maturity, MacDur passes (1+r)/r, peaks, then FALLS — so a 100-year discount bond can carry less rate risk than a 30-year one.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Duration rises with maturity, falls with coupon, and falls with yield — visualised on one chart across 30 maturities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Exhibit 5 "Properties of Macaulay Duration", p. 285. Curves computed from the closed-form Macaulay equation, LM 10 Equation 3, p. 254.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All three curves share a 5% YTM; the par bond (c = r = 5%) sits between the other two. Plotted in MODIFIED duration, so the long-maturity ceiling is 1/r = 20y, not the Macaulay ceiling (1+r)/r = 21y.</a:t>
            </a:r>
            <a:endParaRPr lang="en-US" sz="1300" dirty="0"/>
          </a:p>
        </p:txBody>
      </p:sp>
      <p:sp>
        <p:nvSpPr>
          <p:cNvPr id="9" name="Text 7"/>
          <p:cNvSpPr txBox="1"/>
          <p:nvPr/>
        </p:nvSpPr>
        <p:spPr>
          <a:xfrm>
            <a:off x="320040" y="1170432"/>
            <a:ext cx="8503920" cy="256032"/>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Modified duration vs maturity at 5% YTM — three coupon levels</a:t>
            </a:r>
            <a:endParaRPr lang="en-US" sz="1200" dirty="0"/>
          </a:p>
        </p:txBody>
      </p:sp>
      <p:graphicFrame>
        <p:nvGraphicFramePr>
          <p:cNvPr id="10" name="Chart 0" descr=""/>
          <p:cNvGraphicFramePr/>
          <p:nvPr/>
        </p:nvGraphicFramePr>
        <p:xfrm>
          <a:off x="320040" y="1444752"/>
          <a:ext cx="8503920" cy="219456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320040" y="3730752"/>
            <a:ext cx="8503920" cy="658368"/>
          </a:xfrm>
          <a:prstGeom prst="rect">
            <a:avLst/>
          </a:prstGeom>
          <a:solidFill>
            <a:srgbClr val="FEF0E7"/>
          </a:solidFill>
          <a:ln/>
        </p:spPr>
      </p:sp>
      <p:sp>
        <p:nvSpPr>
          <p:cNvPr id="12" name="Shape 9"/>
          <p:cNvSpPr/>
          <p:nvPr/>
        </p:nvSpPr>
        <p:spPr>
          <a:xfrm>
            <a:off x="320040" y="3730752"/>
            <a:ext cx="73152" cy="658368"/>
          </a:xfrm>
          <a:prstGeom prst="rect">
            <a:avLst/>
          </a:prstGeom>
          <a:solidFill>
            <a:srgbClr val="E8600A"/>
          </a:solidFill>
          <a:ln/>
        </p:spPr>
      </p:sp>
      <p:sp>
        <p:nvSpPr>
          <p:cNvPr id="13" name="Text 10"/>
          <p:cNvSpPr txBox="1"/>
          <p:nvPr/>
        </p:nvSpPr>
        <p:spPr>
          <a:xfrm>
            <a:off x="457200" y="377647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READING THE CHART</a:t>
            </a:r>
            <a:endParaRPr lang="en-US" sz="1100" dirty="0"/>
          </a:p>
        </p:txBody>
      </p:sp>
      <p:sp>
        <p:nvSpPr>
          <p:cNvPr id="14" name="Text 11"/>
          <p:cNvSpPr txBox="1"/>
          <p:nvPr/>
        </p:nvSpPr>
        <p:spPr>
          <a:xfrm>
            <a:off x="457200" y="4050792"/>
            <a:ext cx="8275320" cy="2926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At every maturity the lower-coupon curve sits above — that is the coupon effect. All three flatten toward the perpetuity ceiling, 1/r = 20 years.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Cross-section stress test: three bonds, same currency, different durations — the expected loss on a 100 bp move scales by more than 20×</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Loss = MoneyDur × Δy × (par / 100): 437.054 × 0.01 × 300,000 = USD 1,311,163. The per-100 scaling is where this calculation usually breaks.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11, §3 Question Set (Chowdhury), pp. 281–284.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Chowdhury holds USD 30M par in each. Same 100 bp yield move — radically different dollar P&amp;L because durations differ by order of magnitude.</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3108960"/>
                <a:gridCol w="1783080"/>
                <a:gridCol w="178308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Metric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BRWA 5y 3.2%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Australian 1y 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Romanian 30y 4.625%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Full price (per 100 par)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100.815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99.262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107.429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Annualised modified duration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4.335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0.737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16.248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PVBP (per 100 par)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 value (USD 30M par)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30,244,381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29,778,597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32,228,627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Money duration (per 100 par)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437.054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73.163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1745.518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Expected loss, 100 bp YTM rise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1,311,163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219,490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5,236,553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657600"/>
            <a:ext cx="8503920" cy="731520"/>
          </a:xfrm>
          <a:prstGeom prst="rect">
            <a:avLst/>
          </a:prstGeom>
          <a:solidFill>
            <a:srgbClr val="FEF0E7"/>
          </a:solidFill>
          <a:ln/>
        </p:spPr>
      </p:sp>
      <p:sp>
        <p:nvSpPr>
          <p:cNvPr id="12" name="Shape 9"/>
          <p:cNvSpPr/>
          <p:nvPr/>
        </p:nvSpPr>
        <p:spPr>
          <a:xfrm>
            <a:off x="320040" y="3657600"/>
            <a:ext cx="73152" cy="731520"/>
          </a:xfrm>
          <a:prstGeom prst="rect">
            <a:avLst/>
          </a:prstGeom>
          <a:solidFill>
            <a:srgbClr val="E8600A"/>
          </a:solidFill>
          <a:ln/>
        </p:spPr>
      </p:sp>
      <p:sp>
        <p:nvSpPr>
          <p:cNvPr id="13" name="Text 10"/>
          <p:cNvSpPr txBox="1"/>
          <p:nvPr/>
        </p:nvSpPr>
        <p:spPr>
          <a:xfrm>
            <a:off x="457200" y="37033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ROMANIAN LOSS IS 24× THE AUSTRALIAN</a:t>
            </a:r>
            <a:endParaRPr lang="en-US" sz="1100" dirty="0"/>
          </a:p>
        </p:txBody>
      </p:sp>
      <p:sp>
        <p:nvSpPr>
          <p:cNvPr id="14" name="Text 11"/>
          <p:cNvSpPr txBox="1"/>
          <p:nvPr/>
        </p:nvSpPr>
        <p:spPr>
          <a:xfrm>
            <a:off x="457200" y="3977640"/>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three positions differ in market value by only ~8%. The loss ratio is 24× because it is driven almost entirely by modified duration (16.25 vs 0.74). Expecting rates to rise, underweight the Romanian; expecting them to fall, overweight 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Convexity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the convexity adjustment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4  ·  Deck 15 of 20  ·  Studio Tonton Gug</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Duration is a linear approximation; real bond prices curve away from the tangent line — convexity measures that second-order effect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Same price, maturity, YTM and duration: the more convex bond wins in BOTH directions — which is why convexity is priced, not free (Exhibit 3, p. 300).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§2 "Bond Convexity and Convexity Adjustment", Exhibits 1 and 3, pp. 297–300.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 small Δy, duration alone is fine. For large Δy, the tangent line under-estimates the gain when rates fall and over-estimates the loss when rates rise — convexity corrects both.</a:t>
            </a:r>
            <a:endParaRPr lang="en-US" sz="1300" dirty="0"/>
          </a:p>
        </p:txBody>
      </p:sp>
      <p:sp>
        <p:nvSpPr>
          <p:cNvPr id="10" name="Shape 8"/>
          <p:cNvSpPr/>
          <p:nvPr/>
        </p:nvSpPr>
        <p:spPr>
          <a:xfrm>
            <a:off x="320040" y="1188720"/>
            <a:ext cx="4160520" cy="1965960"/>
          </a:xfrm>
          <a:prstGeom prst="rect">
            <a:avLst/>
          </a:prstGeom>
          <a:solidFill>
            <a:srgbClr val="FEF0E7"/>
          </a:solidFill>
          <a:ln/>
        </p:spPr>
      </p:sp>
      <p:sp>
        <p:nvSpPr>
          <p:cNvPr id="11" name="Shape 9"/>
          <p:cNvSpPr/>
          <p:nvPr/>
        </p:nvSpPr>
        <p:spPr>
          <a:xfrm>
            <a:off x="320040" y="1188720"/>
            <a:ext cx="73152" cy="1965960"/>
          </a:xfrm>
          <a:prstGeom prst="rect">
            <a:avLst/>
          </a:prstGeom>
          <a:solidFill>
            <a:srgbClr val="E8600A"/>
          </a:solidFill>
          <a:ln/>
        </p:spPr>
      </p:sp>
      <p:sp>
        <p:nvSpPr>
          <p:cNvPr id="12" name="Text 10"/>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DURATION (FIRST-ORDER)</a:t>
            </a:r>
            <a:endParaRPr lang="en-US" sz="1100" dirty="0"/>
          </a:p>
        </p:txBody>
      </p:sp>
      <p:sp>
        <p:nvSpPr>
          <p:cNvPr id="13" name="Text 11"/>
          <p:cNvSpPr txBox="1"/>
          <p:nvPr/>
        </p:nvSpPr>
        <p:spPr>
          <a:xfrm>
            <a:off x="457200" y="1508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Slope of the price-yield curve at the current YTM. Straight line. Works well for small Δy.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For Δy = 25 bp on a 5y bond, the error is negligible. For Δy = 100 bp on a 30y bond it's material.</a:t>
            </a:r>
            <a:endParaRPr lang="en-US" sz="1200" dirty="0"/>
          </a:p>
        </p:txBody>
      </p:sp>
      <p:sp>
        <p:nvSpPr>
          <p:cNvPr id="14" name="Shape 12"/>
          <p:cNvSpPr/>
          <p:nvPr/>
        </p:nvSpPr>
        <p:spPr>
          <a:xfrm>
            <a:off x="4663440" y="1188720"/>
            <a:ext cx="4160520" cy="1965960"/>
          </a:xfrm>
          <a:prstGeom prst="rect">
            <a:avLst/>
          </a:prstGeom>
          <a:solidFill>
            <a:srgbClr val="F5F7FA"/>
          </a:solidFill>
          <a:ln/>
        </p:spPr>
      </p:sp>
      <p:sp>
        <p:nvSpPr>
          <p:cNvPr id="15" name="Shape 13"/>
          <p:cNvSpPr/>
          <p:nvPr/>
        </p:nvSpPr>
        <p:spPr>
          <a:xfrm>
            <a:off x="4663440" y="1188720"/>
            <a:ext cx="73152" cy="1965960"/>
          </a:xfrm>
          <a:prstGeom prst="rect">
            <a:avLst/>
          </a:prstGeom>
          <a:solidFill>
            <a:srgbClr val="1B2A4A"/>
          </a:solidFill>
          <a:ln/>
        </p:spPr>
      </p:sp>
      <p:sp>
        <p:nvSpPr>
          <p:cNvPr id="16" name="Text 14"/>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CONVEXITY (SECOND-ORDER)</a:t>
            </a:r>
            <a:endParaRPr lang="en-US" sz="1100" dirty="0"/>
          </a:p>
        </p:txBody>
      </p:sp>
      <p:sp>
        <p:nvSpPr>
          <p:cNvPr id="17" name="Text 15"/>
          <p:cNvSpPr txBox="1"/>
          <p:nvPr/>
        </p:nvSpPr>
        <p:spPr>
          <a:xfrm>
            <a:off x="4800600" y="1508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Curvature of the price-yield curve. Always positive for an option-free bond.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Investors like convexity: for a given duration, more convexity = bigger upside from rate falls and smaller downside from rate rises. A free lunch in theory — so priced in.</a:t>
            </a:r>
            <a:endParaRPr lang="en-US" sz="1200" dirty="0"/>
          </a:p>
        </p:txBody>
      </p:sp>
      <p:sp>
        <p:nvSpPr>
          <p:cNvPr id="18" name="Shape 16"/>
          <p:cNvSpPr/>
          <p:nvPr/>
        </p:nvSpPr>
        <p:spPr>
          <a:xfrm>
            <a:off x="320040" y="3246120"/>
            <a:ext cx="8503920" cy="1097280"/>
          </a:xfrm>
          <a:prstGeom prst="rect">
            <a:avLst/>
          </a:prstGeom>
          <a:solidFill>
            <a:srgbClr val="FEF0E7"/>
          </a:solidFill>
          <a:ln/>
        </p:spPr>
      </p:sp>
      <p:sp>
        <p:nvSpPr>
          <p:cNvPr id="19" name="Shape 17"/>
          <p:cNvSpPr/>
          <p:nvPr/>
        </p:nvSpPr>
        <p:spPr>
          <a:xfrm>
            <a:off x="320040" y="3246120"/>
            <a:ext cx="73152" cy="1097280"/>
          </a:xfrm>
          <a:prstGeom prst="rect">
            <a:avLst/>
          </a:prstGeom>
          <a:solidFill>
            <a:srgbClr val="E8600A"/>
          </a:solidFill>
          <a:ln/>
        </p:spPr>
      </p:sp>
      <p:sp>
        <p:nvSpPr>
          <p:cNvPr id="20" name="Text 18"/>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WHICH WAY DOES DURATION GET IT WRONG? ALWAYS THE SAME WAY</a:t>
            </a:r>
            <a:endParaRPr lang="en-US" sz="1100" dirty="0"/>
          </a:p>
        </p:txBody>
      </p:sp>
      <p:sp>
        <p:nvSpPr>
          <p:cNvPr id="21" name="Text 19"/>
          <p:cNvSpPr txBox="1"/>
          <p:nvPr/>
        </p:nvSpPr>
        <p:spPr>
          <a:xfrm>
            <a:off x="457200" y="3566160"/>
            <a:ext cx="82753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Rates FALL — the true price sits ABOVE the tangent line, so duration UNDER-states the gain. Rates RISE — the true price sits ABOVE the tangent line again, so duration OVER-states the loss. Both errors favour the holder of an option-free bond, and both are corrected by the SAME positive term, ½ × Convexity × (Δy)².</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convexity-adjusted price change formula adds one-half times convexity times the squared yield change to the duration estimate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Fourth driver — dispersion: of two bonds with the same duration, the one whose cash flows are more spread out has the higher convexity (LM 12, p. 300).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§2 Equations 1–2 and Exhibit 2, pp. 298–300.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Second-order Taylor expansion of price(yield). Always makes the estimated price higher (for option-free bonds) vs the linear estimate — regardless of direction.</a:t>
            </a:r>
            <a:endParaRPr lang="en-US" sz="1300" dirty="0"/>
          </a:p>
        </p:txBody>
      </p:sp>
      <p:sp>
        <p:nvSpPr>
          <p:cNvPr id="10" name="Shape 8"/>
          <p:cNvSpPr/>
          <p:nvPr/>
        </p:nvSpPr>
        <p:spPr>
          <a:xfrm>
            <a:off x="320040" y="1143000"/>
            <a:ext cx="8503920" cy="658368"/>
          </a:xfrm>
          <a:prstGeom prst="rect">
            <a:avLst/>
          </a:prstGeom>
          <a:solidFill>
            <a:srgbClr val="1B2A4A"/>
          </a:solidFill>
          <a:ln/>
        </p:spPr>
      </p:sp>
      <p:sp>
        <p:nvSpPr>
          <p:cNvPr id="11" name="Text 9"/>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%ΔPV_full  ≈  −AnnModDur × Δy  +  ½ × AnnConvexity × (Δy)²</a:t>
            </a:r>
            <a:endParaRPr lang="en-US" sz="1800" dirty="0"/>
          </a:p>
        </p:txBody>
      </p:sp>
      <p:sp>
        <p:nvSpPr>
          <p:cNvPr id="12" name="Text 10"/>
          <p:cNvSpPr txBox="1"/>
          <p:nvPr/>
        </p:nvSpPr>
        <p:spPr>
          <a:xfrm>
            <a:off x="320040" y="182880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Δy = change in annualised YTM, in decimal. First term is duration; the bracket is the convexity adjustment.</a:t>
            </a:r>
            <a:endParaRPr lang="en-US" sz="1100" dirty="0"/>
          </a:p>
        </p:txBody>
      </p:sp>
      <p:sp>
        <p:nvSpPr>
          <p:cNvPr id="13" name="Shape 11"/>
          <p:cNvSpPr/>
          <p:nvPr/>
        </p:nvSpPr>
        <p:spPr>
          <a:xfrm>
            <a:off x="320040" y="2148840"/>
            <a:ext cx="8503920" cy="658368"/>
          </a:xfrm>
          <a:prstGeom prst="rect">
            <a:avLst/>
          </a:prstGeom>
          <a:solidFill>
            <a:srgbClr val="1B2A4A"/>
          </a:solidFill>
          <a:ln/>
        </p:spPr>
      </p:sp>
      <p:sp>
        <p:nvSpPr>
          <p:cNvPr id="14" name="Text 12"/>
          <p:cNvSpPr txBox="1"/>
          <p:nvPr/>
        </p:nvSpPr>
        <p:spPr>
          <a:xfrm>
            <a:off x="411480" y="21488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AnnConvexity  ≈  [ PV− + PV+ − 2×PV_0 ]  /  [ (Δy)² × PV_0 ]</a:t>
            </a:r>
            <a:endParaRPr lang="en-US" sz="1800" dirty="0"/>
          </a:p>
        </p:txBody>
      </p:sp>
      <p:sp>
        <p:nvSpPr>
          <p:cNvPr id="15" name="Text 13"/>
          <p:cNvSpPr txBox="1"/>
          <p:nvPr/>
        </p:nvSpPr>
        <p:spPr>
          <a:xfrm>
            <a:off x="320040" y="2834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Same PV+ / PV− inputs as approximate modified duration — this one ADDS them instead of differencing them.</a:t>
            </a:r>
            <a:endParaRPr lang="en-US" sz="1100" dirty="0"/>
          </a:p>
        </p:txBody>
      </p:sp>
      <p:sp>
        <p:nvSpPr>
          <p:cNvPr id="16" name="Shape 14"/>
          <p:cNvSpPr/>
          <p:nvPr/>
        </p:nvSpPr>
        <p:spPr>
          <a:xfrm>
            <a:off x="320040" y="3200400"/>
            <a:ext cx="2743200" cy="1097280"/>
          </a:xfrm>
          <a:prstGeom prst="rect">
            <a:avLst/>
          </a:prstGeom>
          <a:solidFill>
            <a:srgbClr val="F5F7FA"/>
          </a:solidFill>
          <a:ln/>
        </p:spPr>
      </p:sp>
      <p:sp>
        <p:nvSpPr>
          <p:cNvPr id="17" name="Shape 15"/>
          <p:cNvSpPr/>
          <p:nvPr/>
        </p:nvSpPr>
        <p:spPr>
          <a:xfrm>
            <a:off x="320040" y="3200400"/>
            <a:ext cx="73152" cy="1097280"/>
          </a:xfrm>
          <a:prstGeom prst="rect">
            <a:avLst/>
          </a:prstGeom>
          <a:solidFill>
            <a:srgbClr val="1B2A4A"/>
          </a:solidFill>
          <a:ln/>
        </p:spPr>
      </p:sp>
      <p:sp>
        <p:nvSpPr>
          <p:cNvPr id="18" name="Text 16"/>
          <p:cNvSpPr txBox="1"/>
          <p:nvPr/>
        </p:nvSpPr>
        <p:spPr>
          <a:xfrm>
            <a:off x="457200" y="32461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LOWER COUPON</a:t>
            </a:r>
            <a:endParaRPr lang="en-US" sz="1100" dirty="0"/>
          </a:p>
        </p:txBody>
      </p:sp>
      <p:sp>
        <p:nvSpPr>
          <p:cNvPr id="19" name="Text 17"/>
          <p:cNvSpPr txBox="1"/>
          <p:nvPr/>
        </p:nvSpPr>
        <p:spPr>
          <a:xfrm>
            <a:off x="457200" y="3520440"/>
            <a:ext cx="251460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Pushes weight to the par payment → higher convexity.</a:t>
            </a:r>
            <a:endParaRPr lang="en-US" sz="1200" dirty="0"/>
          </a:p>
        </p:txBody>
      </p:sp>
      <p:sp>
        <p:nvSpPr>
          <p:cNvPr id="20" name="Shape 18"/>
          <p:cNvSpPr/>
          <p:nvPr/>
        </p:nvSpPr>
        <p:spPr>
          <a:xfrm>
            <a:off x="3200400" y="3200400"/>
            <a:ext cx="2743200" cy="1097280"/>
          </a:xfrm>
          <a:prstGeom prst="rect">
            <a:avLst/>
          </a:prstGeom>
          <a:solidFill>
            <a:srgbClr val="FEF0E7"/>
          </a:solidFill>
          <a:ln/>
        </p:spPr>
      </p:sp>
      <p:sp>
        <p:nvSpPr>
          <p:cNvPr id="21" name="Shape 19"/>
          <p:cNvSpPr/>
          <p:nvPr/>
        </p:nvSpPr>
        <p:spPr>
          <a:xfrm>
            <a:off x="3200400" y="3200400"/>
            <a:ext cx="73152" cy="1097280"/>
          </a:xfrm>
          <a:prstGeom prst="rect">
            <a:avLst/>
          </a:prstGeom>
          <a:solidFill>
            <a:srgbClr val="E8600A"/>
          </a:solidFill>
          <a:ln/>
        </p:spPr>
      </p:sp>
      <p:sp>
        <p:nvSpPr>
          <p:cNvPr id="22" name="Text 20"/>
          <p:cNvSpPr txBox="1"/>
          <p:nvPr/>
        </p:nvSpPr>
        <p:spPr>
          <a:xfrm>
            <a:off x="3337560" y="32461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LONGER MATURITY</a:t>
            </a:r>
            <a:endParaRPr lang="en-US" sz="1100" dirty="0"/>
          </a:p>
        </p:txBody>
      </p:sp>
      <p:sp>
        <p:nvSpPr>
          <p:cNvPr id="23" name="Text 21"/>
          <p:cNvSpPr txBox="1"/>
          <p:nvPr/>
        </p:nvSpPr>
        <p:spPr>
          <a:xfrm>
            <a:off x="3337560" y="3520440"/>
            <a:ext cx="251460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(Δt)² terms dominate → convexity rises faster than duration with T.</a:t>
            </a:r>
            <a:endParaRPr lang="en-US" sz="1200" dirty="0"/>
          </a:p>
        </p:txBody>
      </p:sp>
      <p:sp>
        <p:nvSpPr>
          <p:cNvPr id="24" name="Shape 22"/>
          <p:cNvSpPr/>
          <p:nvPr/>
        </p:nvSpPr>
        <p:spPr>
          <a:xfrm>
            <a:off x="6080760" y="3200400"/>
            <a:ext cx="2743200" cy="1097280"/>
          </a:xfrm>
          <a:prstGeom prst="rect">
            <a:avLst/>
          </a:prstGeom>
          <a:solidFill>
            <a:srgbClr val="F5F7FA"/>
          </a:solidFill>
          <a:ln/>
        </p:spPr>
      </p:sp>
      <p:sp>
        <p:nvSpPr>
          <p:cNvPr id="25" name="Shape 23"/>
          <p:cNvSpPr/>
          <p:nvPr/>
        </p:nvSpPr>
        <p:spPr>
          <a:xfrm>
            <a:off x="6080760" y="3200400"/>
            <a:ext cx="73152" cy="1097280"/>
          </a:xfrm>
          <a:prstGeom prst="rect">
            <a:avLst/>
          </a:prstGeom>
          <a:solidFill>
            <a:srgbClr val="1B2A4A"/>
          </a:solidFill>
          <a:ln/>
        </p:spPr>
      </p:sp>
      <p:sp>
        <p:nvSpPr>
          <p:cNvPr id="26" name="Text 24"/>
          <p:cNvSpPr txBox="1"/>
          <p:nvPr/>
        </p:nvSpPr>
        <p:spPr>
          <a:xfrm>
            <a:off x="6217920" y="32461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LOWER YIELD</a:t>
            </a:r>
            <a:endParaRPr lang="en-US" sz="1100" dirty="0"/>
          </a:p>
        </p:txBody>
      </p:sp>
      <p:sp>
        <p:nvSpPr>
          <p:cNvPr id="27" name="Text 25"/>
          <p:cNvSpPr txBox="1"/>
          <p:nvPr/>
        </p:nvSpPr>
        <p:spPr>
          <a:xfrm>
            <a:off x="6217920" y="3520440"/>
            <a:ext cx="251460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Discount factors closer to 1 → weights further out, higher curvature.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Worked example — BRWA 5y 3.2% bond: duration alone misses the 100 bp price change by 12 bp; the convexity adjustment closes the gap to less than 0.3 bp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§3 "Bond Risk and Return Using Duration and Convexity", Exhibit 4, pp. 303–304.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AnnModDur = 4.58676. AnnConvexity = 24.23895. Δy = ±0.01. Compare linear, convexity-adjusted, and exact PRICE-function values.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005840"/>
                <a:gridCol w="1645920"/>
                <a:gridCol w="1554480"/>
                <a:gridCol w="1097280"/>
                <a:gridCol w="2194560"/>
                <a:gridCol w="10058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Δy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Exact %ΔPV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ModDur only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Err (bp)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ModDur + ½·Con·Δy²</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Err (bp)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 bp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−4.46788%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−4.58676%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−11.89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−4.46556%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 bp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+4.71035%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+4.58676%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+4.70795%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103120"/>
            <a:ext cx="8503920" cy="2194560"/>
          </a:xfrm>
          <a:prstGeom prst="rect">
            <a:avLst/>
          </a:prstGeom>
          <a:solidFill>
            <a:srgbClr val="FEF0E7"/>
          </a:solidFill>
          <a:ln w="9525">
            <a:solidFill>
              <a:srgbClr val="E8600A"/>
            </a:solidFill>
            <a:prstDash val="solid"/>
          </a:ln>
        </p:spPr>
      </p:sp>
      <p:sp>
        <p:nvSpPr>
          <p:cNvPr id="11" name="Text 8"/>
          <p:cNvSpPr txBox="1"/>
          <p:nvPr/>
        </p:nvSpPr>
        <p:spPr>
          <a:xfrm>
            <a:off x="457200" y="21488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WALK-THROUGH — Δy = +100 BP</a:t>
            </a:r>
            <a:endParaRPr lang="en-US" sz="1100" dirty="0"/>
          </a:p>
        </p:txBody>
      </p:sp>
      <p:sp>
        <p:nvSpPr>
          <p:cNvPr id="12" name="Text 9"/>
          <p:cNvSpPr txBox="1"/>
          <p:nvPr/>
        </p:nvSpPr>
        <p:spPr>
          <a:xfrm>
            <a:off x="457200" y="24414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Linear: −4.58676 × 0.01 = −4.587%. Convexity adjustment: ½ × 24.23895 × (0.01)² = +0.00121 = +12.1 bp.</a:t>
            </a:r>
            <a:endParaRPr lang="en-US" sz="1200" dirty="0"/>
          </a:p>
        </p:txBody>
      </p:sp>
      <p:sp>
        <p:nvSpPr>
          <p:cNvPr id="13" name="Text 10"/>
          <p:cNvSpPr txBox="1"/>
          <p:nvPr/>
        </p:nvSpPr>
        <p:spPr>
          <a:xfrm>
            <a:off x="457200" y="2953512"/>
            <a:ext cx="8229600" cy="83210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Duration contribution: −4.58676 × 0.0100  =  −0.045868  =  −4.587%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Convexity contribution: ½ × 24.23895 × (0.0100)² = +0.001212 = +0.121%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Total estimate: −4.587% + 0.121% = −4.466%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Exact (PRICE function at 4.20% YTM): 95.53212 → −4.468% → error only 0.2 bp</a:t>
            </a:r>
            <a:endParaRPr lang="en-US" sz="1150" dirty="0"/>
          </a:p>
        </p:txBody>
      </p:sp>
      <p:sp>
        <p:nvSpPr>
          <p:cNvPr id="14" name="Shape 11"/>
          <p:cNvSpPr/>
          <p:nvPr/>
        </p:nvSpPr>
        <p:spPr>
          <a:xfrm>
            <a:off x="411480" y="3858768"/>
            <a:ext cx="8321040" cy="365760"/>
          </a:xfrm>
          <a:prstGeom prst="rect">
            <a:avLst/>
          </a:prstGeom>
          <a:solidFill>
            <a:srgbClr val="E8600A"/>
          </a:solidFill>
          <a:ln/>
        </p:spPr>
      </p:sp>
      <p:sp>
        <p:nvSpPr>
          <p:cNvPr id="15" name="Text 12"/>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Duration + convexity lands within 0.3 bp of exact; duration alone off by 12 bp in both directions.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Money convexity scales convexity to currency units — the extra dollar adjustment on a position's price change over what money duration predicts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§3 Equations 3–4 and Exhibit 5, pp. 304–305.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second-order logic, now in currency. Adds precision to P&amp;L forecasting on large positions where the convexity term becomes material.</a:t>
            </a:r>
            <a:endParaRPr lang="en-US" sz="1300" dirty="0"/>
          </a:p>
        </p:txBody>
      </p:sp>
      <p:sp>
        <p:nvSpPr>
          <p:cNvPr id="9" name="Shape 7"/>
          <p:cNvSpPr/>
          <p:nvPr/>
        </p:nvSpPr>
        <p:spPr>
          <a:xfrm>
            <a:off x="320040" y="1188720"/>
            <a:ext cx="8503920" cy="731520"/>
          </a:xfrm>
          <a:prstGeom prst="rect">
            <a:avLst/>
          </a:prstGeom>
          <a:solidFill>
            <a:srgbClr val="1B2A4A"/>
          </a:solidFill>
          <a:ln/>
        </p:spPr>
      </p:sp>
      <p:sp>
        <p:nvSpPr>
          <p:cNvPr id="10" name="Text 8"/>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MoneyCon  =  AnnConvexity × PV_full</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ΔPV_full  ≈  −MoneyDur × Δy  +  ½ × MoneyCon × (Δy)²</a:t>
            </a:r>
            <a:endParaRPr lang="en-US" sz="1800" dirty="0"/>
          </a:p>
        </p:txBody>
      </p:sp>
      <p:sp>
        <p:nvSpPr>
          <p:cNvPr id="11" name="Shape 9"/>
          <p:cNvSpPr/>
          <p:nvPr/>
        </p:nvSpPr>
        <p:spPr>
          <a:xfrm>
            <a:off x="320040" y="2057400"/>
            <a:ext cx="8503920" cy="2240280"/>
          </a:xfrm>
          <a:prstGeom prst="rect">
            <a:avLst/>
          </a:prstGeom>
          <a:solidFill>
            <a:srgbClr val="FEF0E7"/>
          </a:solidFill>
          <a:ln w="9525">
            <a:solidFill>
              <a:srgbClr val="E8600A"/>
            </a:solidFill>
            <a:prstDash val="solid"/>
          </a:ln>
        </p:spPr>
      </p:sp>
      <p:sp>
        <p:nvSpPr>
          <p:cNvPr id="12" name="Text 10"/>
          <p:cNvSpPr txBox="1"/>
          <p:nvPr/>
        </p:nvSpPr>
        <p:spPr>
          <a:xfrm>
            <a:off x="457200" y="21031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USD 100M BRWA POSITION, Δy = +100 BP</a:t>
            </a:r>
            <a:endParaRPr lang="en-US" sz="1100" dirty="0"/>
          </a:p>
        </p:txBody>
      </p:sp>
      <p:sp>
        <p:nvSpPr>
          <p:cNvPr id="13" name="Text 11"/>
          <p:cNvSpPr txBox="1"/>
          <p:nvPr/>
        </p:nvSpPr>
        <p:spPr>
          <a:xfrm>
            <a:off x="457200" y="23957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AnnModDur = 4.58676, AnnConvexity = 24.23895, PV_full at par = USD 100,000,000.</a:t>
            </a:r>
            <a:endParaRPr lang="en-US" sz="1200" dirty="0"/>
          </a:p>
        </p:txBody>
      </p:sp>
      <p:sp>
        <p:nvSpPr>
          <p:cNvPr id="14" name="Text 12"/>
          <p:cNvSpPr txBox="1"/>
          <p:nvPr/>
        </p:nvSpPr>
        <p:spPr>
          <a:xfrm>
            <a:off x="457200" y="290779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MoneyDur = 4.58676 × 100,000,000 = USD 458,675,875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MoneyCon = 24.23895 × 100,000,000 = USD 2,423,894,503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Duration leg: −458,675,875 × 0.01 = −USD 4,586,759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Convexity leg: ½ × 2,423,894,503 × (0.01)² = +USD 121,195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Net estimate: −USD 4,465,564. Actual price drop: −USD 4,467,884. Error: −USD 2,320.</a:t>
            </a:r>
            <a:endParaRPr lang="en-US" sz="1100" dirty="0"/>
          </a:p>
        </p:txBody>
      </p:sp>
      <p:sp>
        <p:nvSpPr>
          <p:cNvPr id="15" name="Shape 13"/>
          <p:cNvSpPr/>
          <p:nvPr/>
        </p:nvSpPr>
        <p:spPr>
          <a:xfrm>
            <a:off x="411480" y="3858768"/>
            <a:ext cx="8321040" cy="365760"/>
          </a:xfrm>
          <a:prstGeom prst="rect">
            <a:avLst/>
          </a:prstGeom>
          <a:solidFill>
            <a:srgbClr val="E8600A"/>
          </a:solidFill>
          <a:ln/>
        </p:spPr>
      </p:sp>
      <p:sp>
        <p:nvSpPr>
          <p:cNvPr id="16" name="Text 14"/>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Convexity term trims the duration-only over-estimate by ~USD 121k, closing 98% of the error.</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Convexity is always positive for an option-free bond and rises with maturity, falls with coupon and yield — the same drivers as duration but amplified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Example 1 "Duration and Convexity of 30-Year Romanian Bond", pp. 300–301.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Because the convexity formula involves t × (t+1), the maturity effect scales like T² — long bonds have enormously more convexity than short ones.</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554480"/>
                <a:gridCol w="1097280"/>
                <a:gridCol w="914400"/>
                <a:gridCol w="914400"/>
                <a:gridCol w="1280160"/>
                <a:gridCol w="1554480"/>
                <a:gridCol w="1188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Maturity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Coupon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YTM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AnnModDur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AnnConvexity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 / Dur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BRWA (semi)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Romanian (annual)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4.625%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369.64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697480"/>
            <a:ext cx="8503920" cy="1417320"/>
          </a:xfrm>
          <a:prstGeom prst="rect">
            <a:avLst/>
          </a:prstGeom>
          <a:solidFill>
            <a:srgbClr val="FEF0E7"/>
          </a:solidFill>
          <a:ln/>
        </p:spPr>
      </p:sp>
      <p:sp>
        <p:nvSpPr>
          <p:cNvPr id="11" name="Shape 8"/>
          <p:cNvSpPr/>
          <p:nvPr/>
        </p:nvSpPr>
        <p:spPr>
          <a:xfrm>
            <a:off x="320040" y="2697480"/>
            <a:ext cx="73152" cy="1417320"/>
          </a:xfrm>
          <a:prstGeom prst="rect">
            <a:avLst/>
          </a:prstGeom>
          <a:solidFill>
            <a:srgbClr val="E8600A"/>
          </a:solidFill>
          <a:ln/>
        </p:spPr>
      </p:sp>
      <p:sp>
        <p:nvSpPr>
          <p:cNvPr id="12" name="Text 9"/>
          <p:cNvSpPr txBox="1"/>
          <p:nvPr/>
        </p:nvSpPr>
        <p:spPr>
          <a:xfrm>
            <a:off x="457200" y="27432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THIS MEANS FOR A LONG-BOND PORTFOLIO</a:t>
            </a:r>
            <a:endParaRPr lang="en-US" sz="1100" dirty="0"/>
          </a:p>
        </p:txBody>
      </p:sp>
      <p:sp>
        <p:nvSpPr>
          <p:cNvPr id="13" name="Text 10"/>
          <p:cNvSpPr txBox="1"/>
          <p:nvPr/>
        </p:nvSpPr>
        <p:spPr>
          <a:xfrm>
            <a:off x="457200" y="3017520"/>
            <a:ext cx="8275320" cy="10515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100 bp yield rise on the Romanian bond: duration piece −15.91%, convexity piece +1.85%, net −14.06%. The convexity term is 15× BRWA's — no longer a tiny correction but a material component of the price change. Note that the Romanian carries the HIGHER coupon and the HIGHER yield, both of which shorten duration and cut convexity; its 30-year maturity overwhelms them regardless. For long-duration books, ignoring convexity is a systematic mis-estimation, not a rounding error.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Portfolio duration is the market-value-weighted average of constituent durations — straightforward to compute, but assumes parallel yield curve shifts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theoretically correct method uses the aggregate portfolio cash flows. MV-weighting is standard practice, and the parallel-shift assumption is baked into it.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§4 "Portfolio Duration and Convexity", Exhibit 6, pp. 307–308.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Weights are market values (not par, not face). Formula below extends identically to convexity. Bonds ought to share the same reporting currency.</a:t>
            </a:r>
            <a:endParaRPr lang="en-US" sz="1300" dirty="0"/>
          </a:p>
        </p:txBody>
      </p:sp>
      <p:sp>
        <p:nvSpPr>
          <p:cNvPr id="10" name="Shape 8"/>
          <p:cNvSpPr/>
          <p:nvPr/>
        </p:nvSpPr>
        <p:spPr>
          <a:xfrm>
            <a:off x="320040" y="1188720"/>
            <a:ext cx="8503920" cy="731520"/>
          </a:xfrm>
          <a:prstGeom prst="rect">
            <a:avLst/>
          </a:prstGeom>
          <a:solidFill>
            <a:srgbClr val="1B2A4A"/>
          </a:solidFill>
          <a:ln/>
        </p:spPr>
      </p:sp>
      <p:sp>
        <p:nvSpPr>
          <p:cNvPr id="11" name="Text 9"/>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AnnModDur_port  =  Σᵢ wᵢ · AnnModDurᵢ</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AnnConvexity_port  =  Σᵢ wᵢ · AnnConvexityᵢ</a:t>
            </a:r>
            <a:endParaRPr lang="en-US" sz="1800" dirty="0"/>
          </a:p>
        </p:txBody>
      </p:sp>
      <p:sp>
        <p:nvSpPr>
          <p:cNvPr id="12" name="Text 10"/>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wᵢ = MV(bond i) / MV(portfolio); weights sum to 1. Same price-change formula applies with these portfolio-level measures.</a:t>
            </a:r>
            <a:endParaRPr lang="en-US" sz="1100" dirty="0"/>
          </a:p>
        </p:txBody>
      </p:sp>
      <p:sp>
        <p:nvSpPr>
          <p:cNvPr id="13" name="Shape 11"/>
          <p:cNvSpPr/>
          <p:nvPr/>
        </p:nvSpPr>
        <p:spPr>
          <a:xfrm>
            <a:off x="320040" y="2286000"/>
            <a:ext cx="8503920" cy="2011680"/>
          </a:xfrm>
          <a:prstGeom prst="rect">
            <a:avLst/>
          </a:prstGeom>
          <a:solidFill>
            <a:srgbClr val="FEF0E7"/>
          </a:solidFill>
          <a:ln w="9525">
            <a:solidFill>
              <a:srgbClr val="E8600A"/>
            </a:solidFill>
            <a:prstDash val="solid"/>
          </a:ln>
        </p:spPr>
      </p:sp>
      <p:sp>
        <p:nvSpPr>
          <p:cNvPr id="14" name="Text 12"/>
          <p:cNvSpPr txBox="1"/>
          <p:nvPr/>
        </p:nvSpPr>
        <p:spPr>
          <a:xfrm>
            <a:off x="457200" y="2331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BRWA + ROMANIAN TWO-BOND PORTFOLIO (USD 50M PAR EACH)</a:t>
            </a:r>
            <a:endParaRPr lang="en-US" sz="1100" dirty="0"/>
          </a:p>
        </p:txBody>
      </p:sp>
      <p:sp>
        <p:nvSpPr>
          <p:cNvPr id="15" name="Text 13"/>
          <p:cNvSpPr txBox="1"/>
          <p:nvPr/>
        </p:nvSpPr>
        <p:spPr>
          <a:xfrm>
            <a:off x="457200" y="2624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BRWA priced at 100.000 → MV USD 50.00M (w = 0.5050). Romanian priced at 98.022 → MV USD 49.01M (w = 0.4950). Total MV USD 99.01M.</a:t>
            </a:r>
            <a:endParaRPr lang="en-US" sz="1200" dirty="0"/>
          </a:p>
        </p:txBody>
      </p:sp>
      <p:sp>
        <p:nvSpPr>
          <p:cNvPr id="16" name="Text 14"/>
          <p:cNvSpPr txBox="1"/>
          <p:nvPr/>
        </p:nvSpPr>
        <p:spPr>
          <a:xfrm>
            <a:off x="457200" y="3136392"/>
            <a:ext cx="8229600" cy="64922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Portfolio AnnModDur = 4.58676 × 0.5050 + 15.90637 × 0.4950 = 10.19004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Portfolio AnnConvexity = 24.23896 × 0.5050 + 369.64203 × 0.4950 = 195.21581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100 bp parallel UP shift: %ΔPV = −10.190 × 0.01 + ½ × 195.216 × (0.01)² = −9.214%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Equal PAR does not mean equal weight: the weights above are MARKET values, and they differ by 1 pt</a:t>
            </a:r>
            <a:endParaRPr lang="en-US" sz="105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Portfolio value falls ~USD 9.12M on a 100 bp parallel rise — provided the shift really is parallel.</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GBP 50M position, 10-year 3.50% bond — investor expects a 100 bp rate decline; the full duration-plus-convexity estimate is +8.78%, not +8.38% from duration alone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12, Learning Module Self-Assessment Q3 and Q4, pp. 295–296.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 a 100 bp move the convexity term is 40 bp of the total estimate — large enough to matter for position sizing and stop-loss setting.</a:t>
            </a:r>
            <a:endParaRPr lang="en-US" sz="1300" dirty="0"/>
          </a:p>
        </p:txBody>
      </p:sp>
      <p:sp>
        <p:nvSpPr>
          <p:cNvPr id="9" name="Shape 7"/>
          <p:cNvSpPr/>
          <p:nvPr/>
        </p:nvSpPr>
        <p:spPr>
          <a:xfrm>
            <a:off x="320040" y="1143000"/>
            <a:ext cx="8503920" cy="640080"/>
          </a:xfrm>
          <a:prstGeom prst="rect">
            <a:avLst/>
          </a:prstGeom>
          <a:solidFill>
            <a:srgbClr val="1B2A4A"/>
          </a:solidFill>
          <a:ln/>
        </p:spPr>
      </p:sp>
      <p:sp>
        <p:nvSpPr>
          <p:cNvPr id="10" name="Text 8"/>
          <p:cNvSpPr txBox="1"/>
          <p:nvPr/>
        </p:nvSpPr>
        <p:spPr>
          <a:xfrm>
            <a:off x="411480" y="1143000"/>
            <a:ext cx="8321040" cy="64008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%ΔPV_full  =  (−8.376 × −0.01)  +  ½ × 81.701 × (−0.01)²  =  0.08376  +  0.004085  =  +8.78%</a:t>
            </a:r>
            <a:endParaRPr lang="en-US" sz="1800" dirty="0"/>
          </a:p>
        </p:txBody>
      </p:sp>
      <p:sp>
        <p:nvSpPr>
          <p:cNvPr id="11" name="Shape 9"/>
          <p:cNvSpPr/>
          <p:nvPr/>
        </p:nvSpPr>
        <p:spPr>
          <a:xfrm>
            <a:off x="320040" y="1920240"/>
            <a:ext cx="8503920" cy="2377440"/>
          </a:xfrm>
          <a:prstGeom prst="rect">
            <a:avLst/>
          </a:prstGeom>
          <a:solidFill>
            <a:srgbClr val="FEF0E7"/>
          </a:solidFill>
          <a:ln w="9525">
            <a:solidFill>
              <a:srgbClr val="E8600A"/>
            </a:solidFill>
            <a:prstDash val="solid"/>
          </a:ln>
        </p:spPr>
      </p:sp>
      <p:sp>
        <p:nvSpPr>
          <p:cNvPr id="12" name="Text 10"/>
          <p:cNvSpPr txBox="1"/>
          <p:nvPr/>
        </p:nvSpPr>
        <p:spPr>
          <a:xfrm>
            <a:off x="457200" y="196596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WORKED — GBP 50M POSITION · ANNMODDUR 8.376 · ANNCONVEXITY 81.701</a:t>
            </a:r>
            <a:endParaRPr lang="en-US" sz="1100" dirty="0"/>
          </a:p>
        </p:txBody>
      </p:sp>
      <p:sp>
        <p:nvSpPr>
          <p:cNvPr id="13" name="Text 11"/>
          <p:cNvSpPr txBox="1"/>
          <p:nvPr/>
        </p:nvSpPr>
        <p:spPr>
          <a:xfrm>
            <a:off x="457200" y="225856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10y 3.50% semi-annual coupon bond, priced at par. Investor's view: −100 bp parallel rate decline. Compute both the percent price change and the money convexity adjustment.</a:t>
            </a:r>
            <a:endParaRPr lang="en-US" sz="1200" dirty="0"/>
          </a:p>
        </p:txBody>
      </p:sp>
      <p:sp>
        <p:nvSpPr>
          <p:cNvPr id="14" name="Text 12"/>
          <p:cNvSpPr txBox="1"/>
          <p:nvPr/>
        </p:nvSpPr>
        <p:spPr>
          <a:xfrm>
            <a:off x="457200" y="277063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Duration leg: −8.376 × (−0.01) = +0.08376 = +8.376%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Convexity leg: ½ × 81.701 × (−0.01)² = +0.004085 = +0.409%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Combined estimate: +8.785%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MoneyDur = 8.376 × GBP 50,000,000 = GBP 418,800,000 → duration leg = GBP 4,188,000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MoneyCon = 81.701 × GBP 50,000,000 = GBP 4,085,033,604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Money convexity adjustment: ½ × 4,085,033,604 × (0.01)² = +GBP 204,252</a:t>
            </a:r>
            <a:endParaRPr lang="en-US" sz="1100" dirty="0"/>
          </a:p>
        </p:txBody>
      </p:sp>
      <p:sp>
        <p:nvSpPr>
          <p:cNvPr id="15" name="Shape 13"/>
          <p:cNvSpPr/>
          <p:nvPr/>
        </p:nvSpPr>
        <p:spPr>
          <a:xfrm>
            <a:off x="411480" y="3858768"/>
            <a:ext cx="8321040" cy="365760"/>
          </a:xfrm>
          <a:prstGeom prst="rect">
            <a:avLst/>
          </a:prstGeom>
          <a:solidFill>
            <a:srgbClr val="E8600A"/>
          </a:solidFill>
          <a:ln/>
        </p:spPr>
      </p:sp>
      <p:sp>
        <p:nvSpPr>
          <p:cNvPr id="16" name="Text 14"/>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GBP 4.188M (duration) + GBP 0.204M (convexity) = GBP 4.39M expected gain on −100 bp.</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Curve-based,</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effective &amp; key rate duration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4  ·  Deck 15 of 20  ·  Studio Tonton Gug</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Yield-based duration assumes cash flows are certain — it breaks down for callable, puttable, or mortgage-backed securities whose cash flows depend on rates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 callable bond has no well-defined YTM — yield-to-worst prices just one of many rate paths, so MacDur and ModDur lose their meaning (LM 13, p. 321).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13, §2 "Curve-Based Interest Rate Risk Measures", Exhibits 1–2, pp. 320–322.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callable bond has no single well-defined YTM because the issuer can redeem early at the call price if rates fall — so MacDur and ModDur lose meaning. Cue effective duration.</a:t>
            </a:r>
            <a:endParaRPr lang="en-US" sz="1300" dirty="0"/>
          </a:p>
        </p:txBody>
      </p:sp>
      <p:sp>
        <p:nvSpPr>
          <p:cNvPr id="10" name="Shape 8"/>
          <p:cNvSpPr/>
          <p:nvPr/>
        </p:nvSpPr>
        <p:spPr>
          <a:xfrm>
            <a:off x="320040" y="1143000"/>
            <a:ext cx="2743200" cy="3200400"/>
          </a:xfrm>
          <a:prstGeom prst="rect">
            <a:avLst/>
          </a:prstGeom>
          <a:solidFill>
            <a:srgbClr val="FEF0E7"/>
          </a:solidFill>
          <a:ln/>
        </p:spPr>
      </p:sp>
      <p:sp>
        <p:nvSpPr>
          <p:cNvPr id="11" name="Shape 9"/>
          <p:cNvSpPr/>
          <p:nvPr/>
        </p:nvSpPr>
        <p:spPr>
          <a:xfrm>
            <a:off x="320040" y="1143000"/>
            <a:ext cx="73152" cy="3200400"/>
          </a:xfrm>
          <a:prstGeom prst="rect">
            <a:avLst/>
          </a:prstGeom>
          <a:solidFill>
            <a:srgbClr val="E8600A"/>
          </a:solidFill>
          <a:ln/>
        </p:spPr>
      </p:sp>
      <p:sp>
        <p:nvSpPr>
          <p:cNvPr id="12" name="Text 10"/>
          <p:cNvSpPr txBox="1"/>
          <p:nvPr/>
        </p:nvSpPr>
        <p:spPr>
          <a:xfrm>
            <a:off x="457200" y="1188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CALLABLE BOND</a:t>
            </a:r>
            <a:endParaRPr lang="en-US" sz="1100" dirty="0"/>
          </a:p>
        </p:txBody>
      </p:sp>
      <p:sp>
        <p:nvSpPr>
          <p:cNvPr id="13" name="Text 11"/>
          <p:cNvSpPr txBox="1"/>
          <p:nvPr/>
        </p:nvSpPr>
        <p:spPr>
          <a:xfrm>
            <a:off x="457200" y="1463040"/>
            <a:ext cx="2514600" cy="2834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Issuer holds a call option. When rates FALL far enough, issuer redeems at call price → investor loses upside.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Curve: tangent flattens as yields fall, then curve becomes NEGATIVELY convex. Effective duration &lt; straight-bond duration when rates are low.</a:t>
            </a:r>
            <a:endParaRPr lang="en-US" sz="1200" dirty="0"/>
          </a:p>
        </p:txBody>
      </p:sp>
      <p:sp>
        <p:nvSpPr>
          <p:cNvPr id="14" name="Shape 12"/>
          <p:cNvSpPr/>
          <p:nvPr/>
        </p:nvSpPr>
        <p:spPr>
          <a:xfrm>
            <a:off x="3200400" y="1143000"/>
            <a:ext cx="2743200" cy="3200400"/>
          </a:xfrm>
          <a:prstGeom prst="rect">
            <a:avLst/>
          </a:prstGeom>
          <a:solidFill>
            <a:srgbClr val="F5F7FA"/>
          </a:solidFill>
          <a:ln/>
        </p:spPr>
      </p:sp>
      <p:sp>
        <p:nvSpPr>
          <p:cNvPr id="15" name="Shape 13"/>
          <p:cNvSpPr/>
          <p:nvPr/>
        </p:nvSpPr>
        <p:spPr>
          <a:xfrm>
            <a:off x="3200400" y="1143000"/>
            <a:ext cx="73152" cy="3200400"/>
          </a:xfrm>
          <a:prstGeom prst="rect">
            <a:avLst/>
          </a:prstGeom>
          <a:solidFill>
            <a:srgbClr val="1B2A4A"/>
          </a:solidFill>
          <a:ln/>
        </p:spPr>
      </p:sp>
      <p:sp>
        <p:nvSpPr>
          <p:cNvPr id="16" name="Text 14"/>
          <p:cNvSpPr txBox="1"/>
          <p:nvPr/>
        </p:nvSpPr>
        <p:spPr>
          <a:xfrm>
            <a:off x="3337560" y="1188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PUTABLE BOND</a:t>
            </a:r>
            <a:endParaRPr lang="en-US" sz="1100" dirty="0"/>
          </a:p>
        </p:txBody>
      </p:sp>
      <p:sp>
        <p:nvSpPr>
          <p:cNvPr id="17" name="Text 15"/>
          <p:cNvSpPr txBox="1"/>
          <p:nvPr/>
        </p:nvSpPr>
        <p:spPr>
          <a:xfrm>
            <a:off x="3337560" y="1463040"/>
            <a:ext cx="2514600" cy="2834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Investor holds the put option. When rates RISE far enough, investor sells back at par → downside truncated.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Curve: flattens on the rising-rate side. Effective duration &lt; straight-bond duration when rates are high. Convexity stays positive.</a:t>
            </a:r>
            <a:endParaRPr lang="en-US" sz="1200" dirty="0"/>
          </a:p>
        </p:txBody>
      </p:sp>
      <p:sp>
        <p:nvSpPr>
          <p:cNvPr id="18" name="Shape 16"/>
          <p:cNvSpPr/>
          <p:nvPr/>
        </p:nvSpPr>
        <p:spPr>
          <a:xfrm>
            <a:off x="6080760" y="1143000"/>
            <a:ext cx="2743200" cy="3200400"/>
          </a:xfrm>
          <a:prstGeom prst="rect">
            <a:avLst/>
          </a:prstGeom>
          <a:solidFill>
            <a:srgbClr val="FEF0E7"/>
          </a:solidFill>
          <a:ln/>
        </p:spPr>
      </p:sp>
      <p:sp>
        <p:nvSpPr>
          <p:cNvPr id="19" name="Shape 17"/>
          <p:cNvSpPr/>
          <p:nvPr/>
        </p:nvSpPr>
        <p:spPr>
          <a:xfrm>
            <a:off x="6080760" y="1143000"/>
            <a:ext cx="73152" cy="3200400"/>
          </a:xfrm>
          <a:prstGeom prst="rect">
            <a:avLst/>
          </a:prstGeom>
          <a:solidFill>
            <a:srgbClr val="E8600A"/>
          </a:solidFill>
          <a:ln/>
        </p:spPr>
      </p:sp>
      <p:sp>
        <p:nvSpPr>
          <p:cNvPr id="20" name="Text 18"/>
          <p:cNvSpPr txBox="1"/>
          <p:nvPr/>
        </p:nvSpPr>
        <p:spPr>
          <a:xfrm>
            <a:off x="6217920" y="118872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MBS / ABS</a:t>
            </a:r>
            <a:endParaRPr lang="en-US" sz="1100" dirty="0"/>
          </a:p>
        </p:txBody>
      </p:sp>
      <p:sp>
        <p:nvSpPr>
          <p:cNvPr id="21" name="Text 19"/>
          <p:cNvSpPr txBox="1"/>
          <p:nvPr/>
        </p:nvSpPr>
        <p:spPr>
          <a:xfrm>
            <a:off x="6217920" y="1463040"/>
            <a:ext cx="2514600" cy="2834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Prepayment option held by homeowners. Falling rates → refinance wave → early principal return → same flattening + negative convexity as callables.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Effective duration from an OAS model is the only usable risk number.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Effective duration and effective convexity measure price sensitivity to a parallel shift of the benchmark yield curve — valid whether cash flows are certain or not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BRWA 5y, ±5 bp: a YTM bump gives ModDur 4.587 / Con 24.24; the same bump to the par CURVE gives EffDur 4.816 / EffCon 40.0 (LM 13, pp. 323–324).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13, §2 Equations 1–2 and §3 Equation 3, pp. 322–327.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Formulas look like the approximate-duration ones — but the bump is on the benchmark curve, not on the bond's own YTM. PV± come from an option-valuation model.</a:t>
            </a:r>
            <a:endParaRPr lang="en-US" sz="1300" dirty="0"/>
          </a:p>
        </p:txBody>
      </p:sp>
      <p:sp>
        <p:nvSpPr>
          <p:cNvPr id="10" name="Shape 8"/>
          <p:cNvSpPr/>
          <p:nvPr/>
        </p:nvSpPr>
        <p:spPr>
          <a:xfrm>
            <a:off x="320040" y="1143000"/>
            <a:ext cx="8503920" cy="658368"/>
          </a:xfrm>
          <a:prstGeom prst="rect">
            <a:avLst/>
          </a:prstGeom>
          <a:solidFill>
            <a:srgbClr val="1B2A4A"/>
          </a:solidFill>
          <a:ln/>
        </p:spPr>
      </p:sp>
      <p:sp>
        <p:nvSpPr>
          <p:cNvPr id="11" name="Text 9"/>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EffDur  =  (PV−  −  PV+)  /  [ 2 × ΔCurve × PV_0 ]</a:t>
            </a:r>
            <a:endParaRPr lang="en-US" sz="1800" dirty="0"/>
          </a:p>
        </p:txBody>
      </p:sp>
      <p:sp>
        <p:nvSpPr>
          <p:cNvPr id="12" name="Text 10"/>
          <p:cNvSpPr txBox="1"/>
          <p:nvPr/>
        </p:nvSpPr>
        <p:spPr>
          <a:xfrm>
            <a:off x="320040" y="182880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ΔCurve = parallel shift of the benchmark (e.g. government par) curve. PV± come from an option-pricing model.</a:t>
            </a:r>
            <a:endParaRPr lang="en-US" sz="1100" dirty="0"/>
          </a:p>
        </p:txBody>
      </p:sp>
      <p:sp>
        <p:nvSpPr>
          <p:cNvPr id="13" name="Shape 11"/>
          <p:cNvSpPr/>
          <p:nvPr/>
        </p:nvSpPr>
        <p:spPr>
          <a:xfrm>
            <a:off x="320040" y="2148840"/>
            <a:ext cx="8503920" cy="658368"/>
          </a:xfrm>
          <a:prstGeom prst="rect">
            <a:avLst/>
          </a:prstGeom>
          <a:solidFill>
            <a:srgbClr val="1B2A4A"/>
          </a:solidFill>
          <a:ln/>
        </p:spPr>
      </p:sp>
      <p:sp>
        <p:nvSpPr>
          <p:cNvPr id="14" name="Text 12"/>
          <p:cNvSpPr txBox="1"/>
          <p:nvPr/>
        </p:nvSpPr>
        <p:spPr>
          <a:xfrm>
            <a:off x="411480" y="21488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EffCon  =  [ PV−  +  PV+  −  2 × PV_0 ]  /  [ (ΔCurve)²  ×  PV_0 ]</a:t>
            </a:r>
            <a:endParaRPr lang="en-US" sz="1800" dirty="0"/>
          </a:p>
        </p:txBody>
      </p:sp>
      <p:sp>
        <p:nvSpPr>
          <p:cNvPr id="15" name="Text 13"/>
          <p:cNvSpPr txBox="1"/>
          <p:nvPr/>
        </p:nvSpPr>
        <p:spPr>
          <a:xfrm>
            <a:off x="320040" y="2834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Can be negative for callables / MBS. %ΔPV_full  ≈  −EffDur × ΔCurve  +  ½ × EffCon × (ΔCurve)².</a:t>
            </a:r>
            <a:endParaRPr lang="en-US" sz="1100" dirty="0"/>
          </a:p>
        </p:txBody>
      </p:sp>
      <p:sp>
        <p:nvSpPr>
          <p:cNvPr id="16" name="Shape 14"/>
          <p:cNvSpPr/>
          <p:nvPr/>
        </p:nvSpPr>
        <p:spPr>
          <a:xfrm>
            <a:off x="320040" y="3154680"/>
            <a:ext cx="8503920" cy="1143000"/>
          </a:xfrm>
          <a:prstGeom prst="rect">
            <a:avLst/>
          </a:prstGeom>
          <a:solidFill>
            <a:srgbClr val="FEF0E7"/>
          </a:solidFill>
          <a:ln/>
        </p:spPr>
      </p:sp>
      <p:sp>
        <p:nvSpPr>
          <p:cNvPr id="17" name="Shape 15"/>
          <p:cNvSpPr/>
          <p:nvPr/>
        </p:nvSpPr>
        <p:spPr>
          <a:xfrm>
            <a:off x="320040" y="3154680"/>
            <a:ext cx="73152" cy="1143000"/>
          </a:xfrm>
          <a:prstGeom prst="rect">
            <a:avLst/>
          </a:prstGeom>
          <a:solidFill>
            <a:srgbClr val="E8600A"/>
          </a:solidFill>
          <a:ln/>
        </p:spPr>
      </p:sp>
      <p:sp>
        <p:nvSpPr>
          <p:cNvPr id="18" name="Text 16"/>
          <p:cNvSpPr txBox="1"/>
          <p:nvPr/>
        </p:nvSpPr>
        <p:spPr>
          <a:xfrm>
            <a:off x="457200" y="32004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MODDUR ≠ EFFDUR (EVEN FOR OPTION-FREE BONDS)</a:t>
            </a:r>
            <a:endParaRPr lang="en-US" sz="1100" dirty="0"/>
          </a:p>
        </p:txBody>
      </p:sp>
      <p:sp>
        <p:nvSpPr>
          <p:cNvPr id="19" name="Text 17"/>
          <p:cNvSpPr txBox="1"/>
          <p:nvPr/>
        </p:nvSpPr>
        <p:spPr>
          <a:xfrm>
            <a:off x="457200" y="347472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parallel shift in the government PAR curve does not produce a parallel shift in the SPOT curve, so the bond's own YTM moves by a slightly different amount than the par-curve bump. EffDur and ModDur therefore differ a little even for a plain bond. The gap narrows when the curve is flatter, the maturity shorter and the bond closer to par — and disappears only for a flat curve.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Callable bonds can have negative effective convexity when rates fall below the coupon — the issuer's call option truncates the upside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Example 2, p. 328, at ±100 bp on the same bond: −7.601 × 0.01 + ½(−285.168)(0.01)² = −9.03%, while the same shift down gives only +6.17%.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13, Example 1 "Effective Duration and Convexity", p. 324; the ±100 bp asymmetry is Example 2, p. 328.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PM targets duration between 7 and 8 with positive convexity. The bond passes the duration screen but fails on convexity — recommend not to buy.</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560320"/>
                <a:gridCol w="1371600"/>
                <a:gridCol w="1737360"/>
                <a:gridCol w="28346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Curve move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Full 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From the model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Base case (today)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101.060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PV_0 — observed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Benchmark par curve +25 bp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99.050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 option model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Benchmark par curve −25 bp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102.891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 option model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331720"/>
            <a:ext cx="8503920" cy="1965960"/>
          </a:xfrm>
          <a:prstGeom prst="rect">
            <a:avLst/>
          </a:prstGeom>
          <a:solidFill>
            <a:srgbClr val="FEF0E7"/>
          </a:solidFill>
          <a:ln w="9525">
            <a:solidFill>
              <a:srgbClr val="E8600A"/>
            </a:solidFill>
            <a:prstDash val="solid"/>
          </a:ln>
        </p:spPr>
      </p:sp>
      <p:sp>
        <p:nvSpPr>
          <p:cNvPr id="12" name="Text 9"/>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EFFECTIVE DURATION AND CONVEXITY</a:t>
            </a:r>
            <a:endParaRPr lang="en-US" sz="1100" dirty="0"/>
          </a:p>
        </p:txBody>
      </p:sp>
      <p:sp>
        <p:nvSpPr>
          <p:cNvPr id="13" name="Text 10"/>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Plug PV_0 = 101.060, PV+ = 99.050, PV− = 102.891, ΔCurve = 0.0025 into the formulas.</a:t>
            </a:r>
            <a:endParaRPr lang="en-US" sz="1200" dirty="0"/>
          </a:p>
        </p:txBody>
      </p:sp>
      <p:sp>
        <p:nvSpPr>
          <p:cNvPr id="14" name="Text 11"/>
          <p:cNvSpPr txBox="1"/>
          <p:nvPr/>
        </p:nvSpPr>
        <p:spPr>
          <a:xfrm>
            <a:off x="457200" y="3182112"/>
            <a:ext cx="8229600" cy="60350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EffDur = (102.891 − 99.050) / (2 × 0.0025 × 101.060) = 3.841 / 0.5053 = 7.601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EffCon = (102.891 + 99.050 − 202.120) / [(0.0025)² × 101.060] = −0.179 / 0.00063163 = −283.4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Duration clears the 7–8 screen; negative convexity means a rally delivers LESS than duration suggests</a:t>
            </a:r>
            <a:endParaRPr lang="en-US" sz="1100" dirty="0"/>
          </a:p>
        </p:txBody>
      </p:sp>
      <p:sp>
        <p:nvSpPr>
          <p:cNvPr id="15" name="Shape 12"/>
          <p:cNvSpPr/>
          <p:nvPr/>
        </p:nvSpPr>
        <p:spPr>
          <a:xfrm>
            <a:off x="411480" y="3858768"/>
            <a:ext cx="8321040" cy="365760"/>
          </a:xfrm>
          <a:prstGeom prst="rect">
            <a:avLst/>
          </a:prstGeom>
          <a:solidFill>
            <a:srgbClr val="E8600A"/>
          </a:solidFill>
          <a:ln/>
        </p:spPr>
      </p:sp>
      <p:sp>
        <p:nvSpPr>
          <p:cNvPr id="16"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EffDur 7.60, EffCon −283. At ±100 bp: −9.03% down vs only +6.17% up. Decline.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Key rate duration (partial duration) is the bond's sensitivity to a change in one point on the benchmark curve — how the bond responds to a steepening or twist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USD 100M par of each zero → MV 99.0 / 94.0 / 84.0M, weights 35.7 / 33.9 / 30.3%. Portfolio KRD at a tenor = that bond's MV weight × its own duration.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13, §4 "Key Rate Duration as a Measure of Yield Curve Risk", Equations 4–6 and Exhibit 5, pp. 329–331.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EffDur compresses the whole curve into one number. KRD breaks it apart by tenor, letting a manager diagnose "shaping risk" and tilt against a view of the curve shape.</a:t>
            </a:r>
            <a:endParaRPr lang="en-US" sz="1300" dirty="0"/>
          </a:p>
        </p:txBody>
      </p:sp>
      <p:sp>
        <p:nvSpPr>
          <p:cNvPr id="10" name="Shape 8"/>
          <p:cNvSpPr/>
          <p:nvPr/>
        </p:nvSpPr>
        <p:spPr>
          <a:xfrm>
            <a:off x="320040" y="1143000"/>
            <a:ext cx="8503920" cy="658368"/>
          </a:xfrm>
          <a:prstGeom prst="rect">
            <a:avLst/>
          </a:prstGeom>
          <a:solidFill>
            <a:srgbClr val="1B2A4A"/>
          </a:solidFill>
          <a:ln/>
        </p:spPr>
      </p:sp>
      <p:sp>
        <p:nvSpPr>
          <p:cNvPr id="11" name="Text 9"/>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KeyRateDur_k  =  −(1 / PV) × (∂PV / ∂r_k)</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Σₖ KeyRateDur_k  =  EffDur</a:t>
            </a:r>
            <a:endParaRPr lang="en-US" sz="1800" dirty="0"/>
          </a:p>
        </p:txBody>
      </p:sp>
      <p:sp>
        <p:nvSpPr>
          <p:cNvPr id="12" name="Text 10"/>
          <p:cNvSpPr txBox="1"/>
          <p:nvPr/>
        </p:nvSpPr>
        <p:spPr>
          <a:xfrm>
            <a:off x="320040" y="182880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r_k = benchmark yield at the kth key maturity (2y, 5y, 10y, 30y…). Summed across the curve, key rate durations give back effective duration.</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2240280"/>
          <a:ext cx="8503920" cy="914400"/>
        </p:xfrm>
        <a:graphic>
          <a:graphicData uri="http://schemas.openxmlformats.org/drawingml/2006/table">
            <a:tbl>
              <a:tblPr/>
              <a:tblGrid>
                <a:gridCol w="2103120"/>
                <a:gridCol w="1463040"/>
                <a:gridCol w="1463040"/>
                <a:gridCol w="1554480"/>
                <a:gridCol w="1920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Tenor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2y 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5y 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10y 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Portfolio (MV wts)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Key rate 2y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Key rate 5y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Key rate 10y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9.828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2.981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Sum = Effective duration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9.828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5.368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4" name="Shape 11"/>
          <p:cNvSpPr/>
          <p:nvPr/>
        </p:nvSpPr>
        <p:spPr>
          <a:xfrm>
            <a:off x="320040" y="3794760"/>
            <a:ext cx="8503920" cy="548640"/>
          </a:xfrm>
          <a:prstGeom prst="rect">
            <a:avLst/>
          </a:prstGeom>
          <a:solidFill>
            <a:srgbClr val="FEF0E7"/>
          </a:solidFill>
          <a:ln/>
        </p:spPr>
      </p:sp>
      <p:sp>
        <p:nvSpPr>
          <p:cNvPr id="15" name="Shape 12"/>
          <p:cNvSpPr/>
          <p:nvPr/>
        </p:nvSpPr>
        <p:spPr>
          <a:xfrm>
            <a:off x="320040" y="3794760"/>
            <a:ext cx="73152" cy="548640"/>
          </a:xfrm>
          <a:prstGeom prst="rect">
            <a:avLst/>
          </a:prstGeom>
          <a:solidFill>
            <a:srgbClr val="E8600A"/>
          </a:solidFill>
          <a:ln/>
        </p:spPr>
      </p:sp>
      <p:sp>
        <p:nvSpPr>
          <p:cNvPr id="16" name="Text 13"/>
          <p:cNvSpPr txBox="1"/>
          <p:nvPr/>
        </p:nvSpPr>
        <p:spPr>
          <a:xfrm>
            <a:off x="457200" y="38404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USE CASE</a:t>
            </a:r>
            <a:endParaRPr lang="en-US" sz="1100" dirty="0"/>
          </a:p>
        </p:txBody>
      </p:sp>
      <p:sp>
        <p:nvSpPr>
          <p:cNvPr id="17" name="Text 14"/>
          <p:cNvSpPr txBox="1"/>
          <p:nvPr/>
        </p:nvSpPr>
        <p:spPr>
          <a:xfrm>
            <a:off x="457200" y="4114800"/>
            <a:ext cx="8275320" cy="1828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Expect the long end to sell off? Cut 10y key rate duration and add at the front. A single portfolio duration cannot express that trade.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Key rate duration worked example — under a bear steepening BOTH bonds lose, but the 10-year loses roughly twice as much</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13, §4 Question Set, Questions 1–3, pp. 332–333.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Bear steepener: 1y up 100 bp, 5y up 150 bp, 10y up 200 bp, 20y up 250 bp, 30y up 300 bp. Equal positions in two bonds — what do you do?</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280160"/>
                <a:gridCol w="1463040"/>
                <a:gridCol w="1463040"/>
                <a:gridCol w="1828800"/>
                <a:gridCol w="24688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Key tenor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KeyRateDur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Shift at tenor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Estimated %ΔPV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Bond 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+150 bp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−2.702 × 0.015 = −4.05%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Bond 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+200 bp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−3.953 × 0.020 = −7.91%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240280"/>
            <a:ext cx="8503920" cy="2057400"/>
          </a:xfrm>
          <a:prstGeom prst="rect">
            <a:avLst/>
          </a:prstGeom>
          <a:solidFill>
            <a:srgbClr val="FEF0E7"/>
          </a:solidFill>
          <a:ln w="9525">
            <a:solidFill>
              <a:srgbClr val="E8600A"/>
            </a:solidFill>
            <a:prstDash val="solid"/>
          </a:ln>
        </p:spPr>
      </p:sp>
      <p:sp>
        <p:nvSpPr>
          <p:cNvPr id="11" name="Text 8"/>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DECISION — WHAT THE KRDs ACTUALLY TELL YOU</a:t>
            </a:r>
            <a:endParaRPr lang="en-US" sz="1100" dirty="0"/>
          </a:p>
        </p:txBody>
      </p:sp>
      <p:sp>
        <p:nvSpPr>
          <p:cNvPr id="12" name="Text 9"/>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Multiply each bond's key rate duration by the forecast shift AT ITS OWN TENOR — not by a single parallel number.</a:t>
            </a:r>
            <a:endParaRPr lang="en-US" sz="1200" dirty="0"/>
          </a:p>
        </p:txBody>
      </p:sp>
      <p:sp>
        <p:nvSpPr>
          <p:cNvPr id="13" name="Text 10"/>
          <p:cNvSpPr txBox="1"/>
          <p:nvPr/>
        </p:nvSpPr>
        <p:spPr>
          <a:xfrm>
            <a:off x="457200" y="3090672"/>
            <a:ext cx="8229600" cy="69494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Bond A: −2.702 × 0.0150 = −4.05%.   Bond B: −3.953 × 0.0200 = −7.91%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CFA answer: sell BOTH — every tenor is forecast higher, so both positions lose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If only one can go, it is Bond B: the bigger KRD is hit by the bigger shift, ≈ 2× the loss</a:t>
            </a:r>
            <a:endParaRPr lang="en-US" sz="1150" dirty="0"/>
          </a:p>
        </p:txBody>
      </p:sp>
      <p:sp>
        <p:nvSpPr>
          <p:cNvPr id="14" name="Shape 11"/>
          <p:cNvSpPr/>
          <p:nvPr/>
        </p:nvSpPr>
        <p:spPr>
          <a:xfrm>
            <a:off x="411480" y="3858768"/>
            <a:ext cx="8321040" cy="365760"/>
          </a:xfrm>
          <a:prstGeom prst="rect">
            <a:avLst/>
          </a:prstGeom>
          <a:solidFill>
            <a:srgbClr val="E8600A"/>
          </a:solidFill>
          <a:ln/>
        </p:spPr>
      </p:sp>
      <p:sp>
        <p:nvSpPr>
          <p:cNvPr id="15" name="Text 12"/>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Both bonds lose. Sell both; if forced to choose one, Bond B at −7.91%.</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Empirical duration replaces mathematical formulas with historical data; it's the right measure for credit-risky bonds in market stress, where yields and spreads move in opposite directions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13, §5 "Empirical Duration", Exhibits 6–7 and Example 4, pp. 333–336.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Analytical (MacDur, ModDur, EffDur, KRD) assumes yields and spreads are independent. Empirical regression picks up the real-world correlation — usually negative in flight-to-quality episodes.</a:t>
            </a:r>
            <a:endParaRPr lang="en-US" sz="1300" dirty="0"/>
          </a:p>
        </p:txBody>
      </p:sp>
      <p:sp>
        <p:nvSpPr>
          <p:cNvPr id="9" name="Shape 7"/>
          <p:cNvSpPr/>
          <p:nvPr/>
        </p:nvSpPr>
        <p:spPr>
          <a:xfrm>
            <a:off x="320040" y="1143000"/>
            <a:ext cx="4160520" cy="2331720"/>
          </a:xfrm>
          <a:prstGeom prst="rect">
            <a:avLst/>
          </a:prstGeom>
          <a:solidFill>
            <a:srgbClr val="FEF0E7"/>
          </a:solidFill>
          <a:ln/>
        </p:spPr>
      </p:sp>
      <p:sp>
        <p:nvSpPr>
          <p:cNvPr id="10" name="Shape 8"/>
          <p:cNvSpPr/>
          <p:nvPr/>
        </p:nvSpPr>
        <p:spPr>
          <a:xfrm>
            <a:off x="320040" y="1143000"/>
            <a:ext cx="73152" cy="2331720"/>
          </a:xfrm>
          <a:prstGeom prst="rect">
            <a:avLst/>
          </a:prstGeom>
          <a:solidFill>
            <a:srgbClr val="E8600A"/>
          </a:solidFill>
          <a:ln/>
        </p:spPr>
      </p:sp>
      <p:sp>
        <p:nvSpPr>
          <p:cNvPr id="11" name="Text 9"/>
          <p:cNvSpPr txBox="1"/>
          <p:nvPr/>
        </p:nvSpPr>
        <p:spPr>
          <a:xfrm>
            <a:off x="457200" y="1188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ANALYTICAL DURATION</a:t>
            </a:r>
            <a:endParaRPr lang="en-US" sz="1100" dirty="0"/>
          </a:p>
        </p:txBody>
      </p:sp>
      <p:sp>
        <p:nvSpPr>
          <p:cNvPr id="12" name="Text 10"/>
          <p:cNvSpPr txBox="1"/>
          <p:nvPr/>
        </p:nvSpPr>
        <p:spPr>
          <a:xfrm>
            <a:off x="457200" y="1463040"/>
            <a:ext cx="3931920" cy="1965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Formula-based from a bond's own cash flows or an OAS model. Assumes spreads are uncorrelated with the benchmark.</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Works well for: governments, high-IG corporates, benign regimes.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Fails when: credit spreads widen as benchmarks rally — late Feb to Mar 2020, the COVID flight-to-quality episode.</a:t>
            </a:r>
            <a:endParaRPr lang="en-US" sz="1200" dirty="0"/>
          </a:p>
        </p:txBody>
      </p:sp>
      <p:sp>
        <p:nvSpPr>
          <p:cNvPr id="13" name="Shape 11"/>
          <p:cNvSpPr/>
          <p:nvPr/>
        </p:nvSpPr>
        <p:spPr>
          <a:xfrm>
            <a:off x="4663440" y="1143000"/>
            <a:ext cx="4160520" cy="2331720"/>
          </a:xfrm>
          <a:prstGeom prst="rect">
            <a:avLst/>
          </a:prstGeom>
          <a:solidFill>
            <a:srgbClr val="F5F7FA"/>
          </a:solidFill>
          <a:ln/>
        </p:spPr>
      </p:sp>
      <p:sp>
        <p:nvSpPr>
          <p:cNvPr id="14" name="Shape 12"/>
          <p:cNvSpPr/>
          <p:nvPr/>
        </p:nvSpPr>
        <p:spPr>
          <a:xfrm>
            <a:off x="4663440" y="1143000"/>
            <a:ext cx="73152" cy="2331720"/>
          </a:xfrm>
          <a:prstGeom prst="rect">
            <a:avLst/>
          </a:prstGeom>
          <a:solidFill>
            <a:srgbClr val="1B2A4A"/>
          </a:solidFill>
          <a:ln/>
        </p:spPr>
      </p:sp>
      <p:sp>
        <p:nvSpPr>
          <p:cNvPr id="15" name="Text 13"/>
          <p:cNvSpPr txBox="1"/>
          <p:nvPr/>
        </p:nvSpPr>
        <p:spPr>
          <a:xfrm>
            <a:off x="4800600" y="1188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EMPIRICAL DURATION</a:t>
            </a:r>
            <a:endParaRPr lang="en-US" sz="1100" dirty="0"/>
          </a:p>
        </p:txBody>
      </p:sp>
      <p:sp>
        <p:nvSpPr>
          <p:cNvPr id="16" name="Text 14"/>
          <p:cNvSpPr txBox="1"/>
          <p:nvPr/>
        </p:nvSpPr>
        <p:spPr>
          <a:xfrm>
            <a:off x="4800600" y="1463040"/>
            <a:ext cx="3931920" cy="1965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Regression of HISTORICAL bond returns on benchmark yield changes. Captures the spread-yield correlation directly.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For HY bonds during market stress, empirical duration is MATERIALLY LOWER than analytical — because widening spreads partly offset falling benchmarks on the bond price.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Challenges: factor choice, sample window, regime stability.</a:t>
            </a:r>
            <a:endParaRPr lang="en-US" sz="1200" dirty="0"/>
          </a:p>
        </p:txBody>
      </p:sp>
      <p:sp>
        <p:nvSpPr>
          <p:cNvPr id="17" name="Shape 15"/>
          <p:cNvSpPr/>
          <p:nvPr/>
        </p:nvSpPr>
        <p:spPr>
          <a:xfrm>
            <a:off x="320040" y="3584448"/>
            <a:ext cx="8503920" cy="804672"/>
          </a:xfrm>
          <a:prstGeom prst="rect">
            <a:avLst/>
          </a:prstGeom>
          <a:solidFill>
            <a:srgbClr val="FEF0E7"/>
          </a:solidFill>
          <a:ln/>
        </p:spPr>
      </p:sp>
      <p:sp>
        <p:nvSpPr>
          <p:cNvPr id="18" name="Shape 16"/>
          <p:cNvSpPr/>
          <p:nvPr/>
        </p:nvSpPr>
        <p:spPr>
          <a:xfrm>
            <a:off x="320040" y="3584448"/>
            <a:ext cx="73152" cy="804672"/>
          </a:xfrm>
          <a:prstGeom prst="rect">
            <a:avLst/>
          </a:prstGeom>
          <a:solidFill>
            <a:srgbClr val="E8600A"/>
          </a:solidFill>
          <a:ln/>
        </p:spPr>
      </p:sp>
      <p:sp>
        <p:nvSpPr>
          <p:cNvPr id="19" name="Text 17"/>
          <p:cNvSpPr txBox="1"/>
          <p:nvPr/>
        </p:nvSpPr>
        <p:spPr>
          <a:xfrm>
            <a:off x="457200" y="363016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HOW TO CHOOSE — IT IS A CORRELATION QUESTION, NOT A MATHS ONE</a:t>
            </a:r>
            <a:endParaRPr lang="en-US" sz="1100" dirty="0"/>
          </a:p>
        </p:txBody>
      </p:sp>
      <p:sp>
        <p:nvSpPr>
          <p:cNvPr id="20" name="Text 18"/>
          <p:cNvSpPr txBox="1"/>
          <p:nvPr/>
        </p:nvSpPr>
        <p:spPr>
          <a:xfrm>
            <a:off x="457200" y="3904488"/>
            <a:ext cx="8275320" cy="43891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benchmark yields and the bond's spread are effectively uncorrelated — governments, high-grade credit, calm markets — analytical duration is fine. Where they move against each other — high yield, stressed markets — empirical duration is the more accurate forecast of the price change.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15 — Fixed Income III: Duration, Convexity &amp; Interest Rate Risk</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Total return = coupons + reinvestment income + capital gain/loss on sale. Reinvestment and price risk move in OPPOSITE directions with rates.</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Duration gap = MacDur − horizon. Positive → price risk, fear rising rates. Negative → reinvestment risk, fear falling rates. Zero → nearly immunised.</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The chain: MacDur in PERIODS → ÷(1+r per period) → ÷m → AnnModDur (% per Δy) → ×PV_full → MoneyDur (currency) → ×0.0001 → PVBP (currency per bp).</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Duration is quoted POSITIVE; the minus lives in the formula: %ΔPV ≈ −ModDur × Δy. Lower coupon, lower yield, longer maturity → higher duration.</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Convexity adjustment %ΔPV ≈ −MD·Δy + ½·C·Δy². On BRWA at 100 bp it cuts a 12 bp duration-only error to under 0.3 bp — and it is positive both ways.</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Portfolio duration and convexity are MARKET-VALUE-weighted averages. Fast, standard, and silently assuming a PARALLEL shift — which masks steepening risk.</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Bonds with embedded options need EFFECTIVE duration: bump the benchmark CURVE, reprice with an option model. Callables can go negatively convex (EffDur 7.60, EffCon −283).</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Key rate durations split exposure by tenor and sum back to EffDur. Empirical duration beats analytical for credit-risky bonds in stress, where spreads and benchmark yields move opposite ways.</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15 · Fixed Income III: Duration, Convexity &amp; Interest Rate Risk</dc:title>
  <dc:subject>PptxGenJS Presentation</dc:subject>
  <dc:creator>Studio Tonton Gug</dc:creator>
  <cp:lastModifiedBy>Studio Tonton Gug</cp:lastModifiedBy>
  <cp:revision>1</cp:revision>
  <dcterms:created xsi:type="dcterms:W3CDTF">2026-09-02T13:36:14Z</dcterms:created>
  <dcterms:modified xsi:type="dcterms:W3CDTF">2026-09-02T13:36:14Z</dcterms:modified>
</cp:coreProperties>
</file>