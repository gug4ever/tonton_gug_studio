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05  ·  WEEK 3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Macro Policy,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Geopolitics, Trade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FX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CFA modules on the macro forces that drive every cross-border price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2 Learning Modules 3–8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Macro Policy, Geopolitics, Trade &amp; FX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policy toolkit + multipliers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5938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automatic stabilizers · multiplier 1/[1−c(1−t)] · debt sustainability · implementation lags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04416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850136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policy transmission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056790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 · policy rate · reserve req · 4 channels · inflation targeting · Taylor rule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401824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447544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Geopolitics for investors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654198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vs non-state actors · cooperation spectrum · event / exogenous / thematic risk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044952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 theory + BoP basics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251606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advantage · tariffs &amp; deadweight loss · trading blocs · BoP identity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596640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642360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market structure &amp; quoting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49014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7.5tn daily · USD dominance · price/base convention · bid-offer · 8 regimes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94048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23976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arithmetic: cross-rates, IRP, PPP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444642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Cross-rate chain · triangular arb · covered IRP · PPP · forward premium/discount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Keynesian fiscal multiplier for a given MPC and tax rate and explain why it collapses toward one as slack in the economy disappears.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three monetary-policy tools and the four transmission channels, and apply the Taylor rule to infer an appropriate policy rate.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country on the political-cooperation spectrum and distinguish event, exogenous, and thematic geopolitical risks for portfolio monitoring.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principle of comparative advantage and calculate the consumer-surplus, producer-surplus, revenue, and deadweight-loss components of a tariff.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 FX quote using the price-currency / base-currency convention, derive a cross-rate through the USD, and spot a triangular-arbitrage opportunity.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the covered interest-rate-parity condition, compute a forward rate from spot and two interest rates, and explain why PPP is a long-run anchor only.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policy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toolkit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policy uses government spending and taxation to steer aggregate demand, redistribute income, and allocate resources across sectors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3, §1 "Roles and Objectives of Fiscal Policy", pp. 82–90.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deficit widens in downturns (expansionary), narrows in booms (contractionary). Automatic stabilizers do this without any policy-maker decision.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274320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23444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 1  ·  DEMAND MANAGEMENT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5448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aggregate demand through higher G or lower T when output is below potential. Contractionary policy cools an overheating economy.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234440"/>
            <a:ext cx="2743200" cy="1554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234440"/>
            <a:ext cx="73152" cy="1554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 2  ·  REDISTRIBUTION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5448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income taxes and targeted transfers compress the income distribution; regressive VAT widens it. Political choice, not pure macro.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234440"/>
            <a:ext cx="274320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23444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 3  ·  ALLOCATION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5448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Subsidies, carbon taxes, infrastructure spending steer resources toward favored sectors — externality correction or industrial policy.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926080"/>
            <a:ext cx="8503920" cy="13716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73152" cy="1371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718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STABILIZERS  ·  KEYNESIAN vs MONETARIST DEBATE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82753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taxes and unemployment benefits cushion shocks without any policy decision — the deficit widens automatically when GDP falls. Keynesians argue fiscal stimulus is powerful when there is slack; monetarists argue it is temporary and monetary policy is the superior stabilization tool. The 2008–09 GFC response and post-pandemic stimulus reignited this long-running debate.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fiscal multiplier scales every dollar of government spending into a larger change in aggregate output — but only when there is slack in the economy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3, §2 "The Fiscal Multiplier", pp. 102–106.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full employment the multiplier shrinks toward 1 as extra G crowds out private investment and raises prices rather than real output.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Multiplier  =  1  /  [ 1  −  c × (1 − t)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 = marginal propensity to consume (MPC) out of disposable income;  t = marginal tax rate on income.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UK FISCAL STIMULUS — KEYNESIAN MULTIPLIER CALCULATION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UK Treasury announces a GBP 10 billion infrastructure package. With MPC c = 0.9 and tax rate t = 0.2, what is the total impact on aggregate output?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Disposable-income leakage: each GBP 1 of income keeps (1 − t) = 0.80 after tax.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out of disposable: c × (1 − t) = 0.9 × 0.8 = 0.72.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= 1 / (1 − 0.72) = 1 / 0.28 = 3.57.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ΔY = 3.57 × GBP 10 bn = GBP 35.7 bn of additional aggregate output.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ΔY ≈ GBP 35.7 bn — provided there is idle capacity; if full employment, the real-output boost collapses and extra G leaks into inflation.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Fiscal policy operates through four tools with very different lags and effectiveness — spending, transfers, direct taxes, and indirect taxes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3, §2 "Fiscal Policy Tools", pp. 94–102.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has the largest multiplier (direct demand) but the longest implementation lag; tax cuts are fastest to implement but leakiest (savings).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  <a:gridCol w="173736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Tool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multiplier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Lag to implement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Main drawback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government spending (G)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 – 2.5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 – 24 months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Slow — planning, procurement, political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Transfers (unemployment, pensions)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 – 1.5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Weeks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Leaks into saving by high-income recipients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taxes (income / corporate)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 – 1.2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– 9 months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Weak for cash-constrained consumers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taxes (VAT, excise)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 – 0.9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Weeks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Regressive; distorts relative prices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IMPLEMENTATION LAGS  ·  RECOGNITION → ACTION → IMPACT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lag: time to realize a shock has occurred. Action lag: time for legislatures to pass policy. Impact lag: time for private agents to respond. Each is 3–12 months — by the time discretionary stimulus arrives, the shock it was meant to address may have passed.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Debt sustainability depends on whether real GDP growth exceeds the real interest rate on outstanding government debt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Ricardian equivalence: forward-looking households save 100% of a tax cut to offset future tax rises — implies a zero multiplier. Empirical evidence is mixed.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All values are OECD general-government gross debt as percent of GDP.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3, §1 "Deficits and the National Debt", pp. 88–94.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real g &gt; real r, the debt-to-GDP ratio stabilizes or falls even with primary deficits. Japan has sustained 237% debt-to-GDP precisely because r is near zero.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 (Debt / GDP)  ≈  (r − g) × (Debt / GDP)  −  Primary surplus / GDP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 = real interest rate on debt; g = real GDP growth; primary surplus excludes interest payments.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  <a:gridCol w="1645920"/>
                <a:gridCol w="1417320"/>
                <a:gridCol w="1325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Country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Debt/GDP 1995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Debt/GDP 2015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Current-year Δ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Stance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94.7%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237.4%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+15 p.p.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Unsustainable on face; BoJ holds ~50% of JGBs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83.2%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+42 p.p.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Dollar privilege insulates financing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Kingdom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+60 p.p.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Post-GFC + Covid stimulus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54.1%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78.9%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+25 p.p.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Anchored by debt-brake rule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57.3%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+7 p.p.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Commodity cycle + fiscal discipline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policy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banks manipulate money and credit through three tools — open-market operations, the policy rate, and reserve requirements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4, §1 "Monetary Policy Tools and Transmission", pp. 118–132.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 is the day-to-day workhorse in developed markets. Reserve requirements are rarely changed in the US/EZ but are still actively used in China.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1148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Tool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Mechanism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Open-market operations (OMO)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Buy/sell govt securities → inject or drain reserves, moves overnight rate toward target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Fed Open Market Desk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rate (repo rate)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Rate at which CB lends short-term money to banks — anchors the yield curve short end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BoE 2-week repo · ECB MRO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requirements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Minimum share of deposits banks must hold — higher ratio → less lending capacity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PBoC RRR tool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743200"/>
            <a:ext cx="274320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74320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7889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UNCONVENTIONAL  ·  QE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0632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asset purchases flatten the yield curve when short rates hit zero. Balance sheets of Fed, ECB, BoJ ballooned 4–8× post-2008.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2743200"/>
            <a:ext cx="2743200" cy="1554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3200400" y="2743200"/>
            <a:ext cx="73152" cy="1554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337560" y="27889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UNCONVENTIONAL  ·  NIRP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337560" y="30632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interest-rate policy: ECB (2014–22) and BoJ (2016–24) charged banks on excess reserves to push lending.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2743200"/>
            <a:ext cx="274320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6"/>
          <p:cNvSpPr/>
          <p:nvPr/>
        </p:nvSpPr>
        <p:spPr>
          <a:xfrm>
            <a:off x="6080760" y="274320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17920" y="278892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UNCONVENTIONAL  ·  FORWARD GUIDANCE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063240"/>
            <a:ext cx="251460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"Rates will stay low until inflation is durably at 2%" — shapes expectations without changing the current rate.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policy rate propagates through four channels — short rates, asset prices, the exchange rate, and expectations — to influence real activity and inflation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4, §1 "Monetary Policy Tools and Transmission", pp. 128–132.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transmission takes 12–24 months. This lag is why central banks must act on forecasts of inflation, not realized inflation.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22529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Short-term interest rates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8498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rate → interbank rate → bank lending rates → corporate &amp; household borrowing costs → consumption and investment.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92024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92024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92024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95681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 prices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1650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rates raise equity, bond, and real-estate prices → wealth effect on consumption; lower cost of capital for firms.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65176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65176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65176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68833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Exchange rate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94802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domestic rate → weaker currency → higher net exports and imported inflation; stronger currency works in reverse.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38328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38328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38328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41985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Expectations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67954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credible central bank shifts the inflation expectations of firms and households, which feed into wage- and price-setting.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Inflation targeting anchors expectations by committing the central bank to a public, numerical inflation goal — now the global standard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4, §2 "Monetary Policy Objectives", pp. 132–142.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Zealand Reserve Bank pioneered a 2% inflation target in 1990. By 2025, 40+ central banks have adopted a formal numerical target.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1645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645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2%  ·  NOT 0%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positive target creates a buffer against deflationary traps, allows real wages to adjust downward when needed, and avoids the zero lower bound on nominal rates.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1645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1645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CREDIBILITY  ·  THE ANCHOR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commitment + operational independence + accountability framework. Once inflation expectations anchor at 2%, wage- and price-setting behave as if inflation will be 2%.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971800"/>
          <a:ext cx="8503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Central bank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Target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Mandate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"Below, but close to, 2%" HICP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stability (primary)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of England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 CPI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stability (primary)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RBNZ (pioneer)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1–3% CPI, midpoint 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stability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Federal Reserve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 PCE (flexible, avg)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DUAL — prices + max employment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of Japan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2% CPI (no hard target historically)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stability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Taylor rule implies a policy rate equal to the neutral rate plus a weighted response to inflation and output gaps — the workhorse reaction function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The original Taylor (1993) weights are 0.5 on each gap. Modified Taylor rules use higher inflation weights (1.5) to satisfy the Taylor principle.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4, §2 "The Neutral Rate", pp. 138–142; Taylor (1993).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rate ≈ real trend g + inflation target. Above this rate policy is contractionary; below it, expansionary.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i*  =  r_neutral + π*  +  0.5 × (π − π*)  +  0.5 × (y − y*)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i* = implied policy rate; r_neutral = neutral real rate; π* = inflation target; (π − π*) = inflation gap; (y − y*) = output gap (% of potential).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7744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TAYLOR RULE — IMPLIED POLICY RATE CALCULATION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real trend growth g = 2.5%, inflation target π* = 2%, observed inflation π = 3%, output gap y − y* = +1%. What policy rate does the Taylor rule prescribe?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2783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nominal rate = r_neutral + π* = 2.5% + 2.0% = 4.5%.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gap response: 0.5 × (3% − 2%) = 0.5%.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gap response: 0.5 × (+1%) = 0.5%.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i* = 4.5% + 0.5% + 0.5% = 5.5%.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Implied policy rate = 5.50% — tighter than neutral, because both inflation and output are above target.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Geopolitics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investors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actors cooperate or compete along a spectrum driven by national security, economic interest, and soft-power considerations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5, §1 "Introduction to Geopolitics", pp. 144–156.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Cooperation emerges where the national interest aligns — rules standardization, free movement of goods/people/capital, technology exchange. Its opposite: sanctions, tariffs, capital controls, retaliation.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1554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554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ACTORS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governments, central banks, finance ministries, legislatures — entities that wield formal sovereignty over security and resources.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1554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15544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NON-STATE ACTORS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NGOs, multinationals, rating agencies, media, influential individuals — no sovereignty but material influence over flows, narratives, and standards.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88036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Cooperation driver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action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 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Alliance treaties, joint exercises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NATO Article 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interest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Free-trade agreements, tariff harmonization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EU single market · USMCA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endowment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Strategic partnerships on food, energy, minerals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IEA · Saudi–US oil pact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Common protocols reduce friction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Basel III · SWIFT · ISO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 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Cultural export, education exchange, tourism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Erasmus+ · K-pop diplomacy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Geopolitical risk for investors splits into three types — event, exogenous, and thematic — each demanding a different monitoring cadence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5, §3 "Geopolitical Risk", pp. 180–194.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BlackRock/Caldara GPR index shows high geopolitical risk depresses investment, employment, and equity prices — the threat is often more damaging than the event itself.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017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 RISK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246888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Date-driven, calendar-observable.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Elections, referenda, summits, legislative deadlines, policy reviews.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UK 2016 Brexit referendum — GBP dropped 8% in one session.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political calendar, week-level.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01752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EXOGENOUS RISK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45920"/>
            <a:ext cx="246888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Sudden, unanticipated shocks.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Invasions, coups, terrorist attacks, natural disasters, pandemic onset.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2022 Russia–Ukraine invasion — European gas tripled in weeks.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tail-risk scenarios, hedging overlays.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017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THEMATIC RISK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45920"/>
            <a:ext cx="246888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Known, slow-moving, evolving.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change, populism, migration, US–China strategic rivalry, cyber.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2018– US–China tariff cycle — 40% of trade reshored or diverted.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strategic review, quarter-level.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 &amp; BoP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Countries gain from trade by specializing according to comparative advantage — the Ricardian insight is that absolute productivity is irrelevant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6, §2 "Benefits and Costs of Trade", pp. 196–200.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Heckscher–Ohlin extension: a country exports the good that intensively uses its abundant factor (capital-abundant → capital-intensive exports).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Specialize where opportunity cost is lowest  →  trade gains both countries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Opportunity cost of good X in country A = units of good Y given up to produce one more X.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TWO-COUNTRY, TWO-GOOD RICARDIAN EXAMPLE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produces 10 cloth OR 5 wine per hour; Foreign produces 4 cloth OR 4 wine per hour. Home has absolute advantage in both — should they still trade?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opportunity cost of 1 cloth = 0.5 wine; Foreign opp. cost of 1 cloth = 1 wine.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opportunity cost of 1 wine = 1 cloth; Home opp. cost of 1 wine = 2 cloth.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has comparative advantage in cloth (0.5 &lt; 1); Foreign has comparative advantage in wine (1 &lt; 2).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trade at e.g. 1 cloth = 0.75 wine, both are strictly better off than in autarky.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Specialization + trade ⇒ combined output rises even though Home has absolute advantage in both goods.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Tariffs, quotas, VERs, and export subsidies all protect domestic producers at the cost of a larger consumer-surplus loss — the net effect is a deadweight loss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6, §3 "Trade Restrictions", pp. 199–212.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math: ΔConsumer Surplus = −(A+B+C+D). ΔProducer Surplus = +A. Government revenue = +C. Net national welfare = −(B+D) — the deadweight loss triangles.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Instrument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Who collects the rent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 welfare vs tariff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Tariff (import tax)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Importing government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Baseline: −(B+D)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Ambiguous — importer or foreign seller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Worse if rent goes abroad: −(B+C+D)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Voluntary export restraint (VER)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Exporting country captures the rent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Strictly worse: −(B+C+D)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subsidy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Foreign consumers benefit; home loses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Clear welfare loss for exporter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63240"/>
            <a:ext cx="8503920" cy="1280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1089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SOUTH AFRICA PAPER — 20% TARIFF WELFARE DECOMPOSITION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4015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Pre-tariff: world price USD 5.00, domestic supply 110k tons, demand 200k tons (imports 90k). Tariff 20% raises domestic price to USD 6.00; supply rises to 130k, demand falls to 170k.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|ΔCS| = 185k · |ΔPS| = 120k · Govt revenue = 40k  →  Deadweight loss = 185 − 120 − 40 = USD 25,000.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Regional trade blocs range from free-trade areas to full economic unions, each removing a different layer of friction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6, §4 "Trading Blocs", pp. 206–214.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creation (low-cost imports replace high-cost domestic production) is welfare-enhancing. Trade diversion (non-member low-cost imports replaced by member higher-cost imports) can be welfare-reducing.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9319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Bloc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Removes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Free-trade area (FTA)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Internal tariffs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USMCA (US·MX·CA)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Customs union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Internal tariffs + common external tariff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Mercosur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Above + free movement of labor &amp;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EEA (EU-27 + 3)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union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Above + harmonized economic policy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EU single market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union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Above + shared currency and central bank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Eurozone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 CREATION vs TRADE DIVERSION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Creation: Mexican avocados replacing higher-cost California avocados inside USMCA — welfare gain. Diversion: Mexican textiles replacing lower-cost Vietnamese textiles inside USMCA because of the external tariff on Vietnam — welfare loss if diversion dominates creation.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balance of payments decomposes into a current account, a capital account, and a financial account — which must sum to zero in theory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In practice a "net errors and omissions" item closes the identity because measurement is imperfect.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"FX and the Trade Balance", pp. 240–254.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with a current-account deficit must fund it with a financial-account surplus — i.e. net foreign capital inflows. The US has run this pattern continuously since 1982.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Account  +  Capital Account  +  Financial Account  =  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CA captures trade, services, income, transfers. KA captures non-produced, non-financial capital. FA captures portfolio + FDI + reserves.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ACCOUNT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balance (goods) + services + primary income (dividends, interest on foreign assets) + secondary income (transfers, remittances).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2024 CA ≈ −3% of GDP.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2331720"/>
            <a:ext cx="274320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ACCOUNT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forgiveness, inheritance/migrant transfers, sale of non-produced assets (patents, land rights).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&lt;0.1% of GDP for developed economies.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80760" y="2331720"/>
            <a:ext cx="274320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608076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ACCOUNT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651760"/>
            <a:ext cx="251460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 + portfolio flows (equity, debt) + other investment (bank loans) + reserve assets (central bank FX intervention).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2024 FA ≈ +3% of GDP.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market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FX market is the world's largest — about USD 7.5 trillion daily turnover — and it never sleeps, with most trades involving the US dollar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"The Foreign Exchange Market", pp. 216–230; BIS Triennial Survey 2022.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is a minority of volume; FX swaps (spot + offsetting forward) dominate because they roll and finance positions. Most flow is buy-side (financial clients), not interbank.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160520" cy="914400"/>
        </p:xfrm>
        <a:graphic>
          <a:graphicData uri="http://schemas.openxmlformats.org/drawingml/2006/table">
            <a:tbl>
              <a:tblPr/>
              <a:tblGrid>
                <a:gridCol w="2579522"/>
                <a:gridCol w="158099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Instrument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Share of daily FX turnover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Outright forwards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 swaps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&amp; other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160520" cy="914400"/>
        </p:xfrm>
        <a:graphic>
          <a:graphicData uri="http://schemas.openxmlformats.org/drawingml/2006/table">
            <a:tbl>
              <a:tblPr/>
              <a:tblGrid>
                <a:gridCol w="2579522"/>
                <a:gridCol w="158099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Top-5 pair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Share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JPY/USD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USD/GBP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USD/AUD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CAD/USD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20040" y="2971800"/>
            <a:ext cx="8503920" cy="13258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8"/>
          <p:cNvSpPr/>
          <p:nvPr/>
        </p:nvSpPr>
        <p:spPr>
          <a:xfrm>
            <a:off x="320040" y="2971800"/>
            <a:ext cx="73152" cy="13258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7200" y="30175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STRUCTURE  ·  BUY SIDE vs SELL SIDE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291840"/>
            <a:ext cx="82753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side: tier-1 money-center banks (Deutsche, Citi, UBS, HSBC, JPM). Buy side: corporates (trade-flow hedging), real-money (pension, insurance, mutual funds), leveraged accounts (hedge funds, HFT algos), retail (10%+ of some pairs), SWFs, central banks. Trading hubs: London (~40%), New York, Tokyo, Singapore.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quotes follow a strict price-currency / base-currency convention — "USD/EUR 1.17" means one euro buys 1.17 US dollars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"Exchange Rate Quotations", pp. 228–234.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EUR &gt; GBP &gt; AUD/NZD &gt; USD &gt; others. Whichever currency is higher in the hierarchy becomes the base (denominator-like). Yen rates quoted to 2dp; non-yen majors to 4dp.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B  means:   number of units of A (price currency) per one unit of B (base currency)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Direct quote = domestic is the price currency. Indirect = domestic is the base. Professional FX avoids "direct/indirect" language.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4114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Market name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Professional quote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 at 1.1701 / 130.98 / 0.8752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USD/EUR = 1.1701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EUR buys 1.1701 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Dollar–yen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JPY/USD = 130.98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USD buys 130.98 JPY (2dp only)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Sterling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USD/GBP = 1.2850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GBP buys 1.2850 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Euro–sterling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GBP/EUR = 0.8752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EUR buys 0.8752 GBP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Dollar–Canada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CAD/USD = 1.3020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USD buys 1.3020 CAD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Bid-offer spreads compensate dealers for inventory and adverse-selection risk — banks buy the base currency at the bid and sell it at the offer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"Exchange Rate Quotations", pp. 228–234.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trading has compressed top-of-book spreads for EUR/USD to a fraction of a pip (≈USD 0.00002). Emerging-market pairs remain 10–100× wider.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16459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MXN/USD BID-OFFER MECHANICS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NY dealer quotes 18.8580 – 18.8600 MXN/USD to a Mexico-based client. Interpret the quote and compute the inverted USD/MXN bid-offer.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currency = USD; price currency = MXN. Dealer BUYS USD at 18.8580 MXN (client sells USD).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SELLS USD at 18.8600 MXN (client buys USD). Spread = 20 pips = 0.0020 MXN.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Invert: dealer's bid for MXN = 1/18.8600 = 0.05302 USD. Dealer's offer for MXN = 1/18.8580 = 0.05303 USD.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39572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USD/MXN = 0.05302 – 0.05303. Rule: bid always &lt; offer, regardless of quote direction.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017520"/>
            <a:ext cx="850392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01752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0632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SPREADS EXIST  ·  THREE FRICTIONS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37560"/>
            <a:ext cx="8275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Inventory risk — dealer holds a position while searching for the other side. (2) Adverse selection — informed flow picks off stale quotes. (3) Operational and credit costs. Liquidity is deepest during overlapping London–New York hours (approx. 08:00–11:00 NY time).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country can credibly choose any two of — fixed FX, free capital mobility, and independent monetary policy — but not all three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§3 "Exchange Rate Regimes", pp. 234–240.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Mundell–Fleming trilemma. Most flexible-FX economies (US, UK, JP) choose free capital + autonomy. Hong Kong pegs + free capital, gives up monetary autonomy. China historically picks autonomy + managed FX, restricts capital.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1645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645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FLOAT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determined by market supply/demand.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USD, EUR, JPY, GBP, AUD.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Gain: full monetary autonomy. Cost: FX volatility.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16459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1645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MANAGED FLOAT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intervention smooths moves without defending a specific rate.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CNY, INR, BRL.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ground.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1645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1645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 PEG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fixed by law (currency board) or dollarization.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HKD/USD, BHD/USD, dollarized Ecuador.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Gain: stability. Cost: imports the anchor's monetary policy.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97180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Regime spectrum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 currency pair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Trilemma corner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USD/EUR, JPY/USD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Free K + autonomy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CNY/USD (PBoC band)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Partial trade-off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Crawling peg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EGP/USD (pre-2022)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autonomy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Currency board / hard peg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HKD/USD (7.75–7.85 band)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Free K + fixed FX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union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EUR across eurozone members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Shared autonomy, fixed internal FX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arithmetic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 IRP, PPP, cross-rates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6  ·  Deck 5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exchange rates deflate nominal FX by the price-level ratio — they measure relative purchasing power, not a tradeable quote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"Real Exchange Rates", pp. 218–224.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rising real exchange rate (in domestic-per-foreign terms) means it takes more domestic real income to buy a given foreign basket — your purchasing power abroad falls.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R_d/f  =  S_d/f × (P_f / P_d)            %ΔR  ≈  %ΔS  +  %ΔP_f  −  %ΔP_d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S_d/f = nominal spot (units of domestic per one foreign); P_f, P_d = foreign / domestic price levels.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UK CONSUMER BUYING EUROZONE GOODS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one year, nominal S_GBP/EUR rises 10%, Eurozone CPI rises 5%, UK CPI rises 2%. How much does the real cost of EZ goods change for a UK consumer?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%ΔR_GBP/EUR ≈ %ΔS + %ΔP_EUR − %ΔP_UK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+10% + 5% − 2% = +13%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UK consumer pays 13% more in real terms for the same EZ basket.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statement: UK real purchasing power over EZ goods fell ≈ 13%.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ΔR ≈ +13%  →  UK real PP over EZ goods down ~13%.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Cross-rates between two non-USD currencies are derived by chaining through the USD quote and inverting where needed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8, §1 "Cross-Rate Calculations", pp. 254–258.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the quote convention. To get X/Y from A/Y and A/X, you multiply (A/Y) × (X/A) = X/Y — i.e. one of the two must be inverted.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CAD/EUR  =  (CAD/USD)  ×  (USD/EUR)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Units check: (CAD / USD) × (USD / EUR) → CAD / EUR. The USDs cancel, leaving the desired cross.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USD/EUR 1.1701 and CAD/USD 1.3020 → COMPUTE CAD/EUR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USD/EUR = 1.1701 (1 EUR buys 1.1701 USD). Spot CAD/USD = 1.3020 (1 USD buys 1.3020 CAD). What is the CAD/EUR cross-rate?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Desired = CAD per 1 EUR.  Chain: EUR → USD → CAD.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EUR = 1.1701 USD  →  1.1701 USD × 1.3020 CAD/USD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CAD/EUR = 1.3020 × 1.1701 = 1.5236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a European tourist exchanges 1 EUR, expects ~CAD 1.52 — higher than each single leg because both currencies are weak vs EUR.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CAD/EUR  =  1.5236  (1 EUR buys 1.5236 CAD)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a dealer's cross-rate drifts from the chain-implied value, triangular arbitrage locks in a riskless profit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8, §1 Practice Problem, pp. 254–258.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liquid markets algo desks arb the gap in milliseconds. In illiquid EM pairs, windows can persist — hence the CFA emphasis.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PRACTICE — ZAR/SEK TRIANGULAR ARB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A quotes CNY/ZAR = 0.9149 and CNY/SEK = 1.0218, implying ZAR/SEK = 1.0218 / 0.9149 = 1.1168. Dealer B quotes ZAR/SEK = 1.1210. Construct the arbitrage on SEK 1 million.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ZAR/SEK via Dealer A = 1.1168 (lower — SEK is cheaper in ZAR via A).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B quote 1.1210 is HIGHER — Dealer B pays more ZAR per SEK.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SEK from A at 1.1168 (pay ZAR 1,116,800 for SEK 1m) → sell SEK to B at 1.1210 (receive ZAR 1,121,000).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= SEK 1,000,000 × (1.1210 − 1.1168) = ZAR 4,200.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15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Riskless profit = ZAR 4,200 per SEK 1 million, no capital at risk.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ARBITRAGE DISCIPLINE  ·  CHECK THE CHAIN BEFORE YOU TRADE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compute chain-implied cross from the liquid quotes. Step 2 — compare to any direct cross quote. Step 3 — if gap exceeds round-trip transaction cost, execute in the direction that buys the currency cheap in one venue and sells it dear in the other. Close the triangle.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exchange rates are pinned by a no-arbitrage condition linking spot, forward, and the two risk-free rates — covered interest-rate parity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8, §2 "Forward Rate Calculations", pp. 258–264.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points are scaled differences (F − S). Non-yen majors × 10,000 (4 dp). Yen × 100 (2 dp). Day count Actual/360 for most Libor/SOFR conventions.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F_f/d  =  S_f/d × (1 + r_f × τ) / (1 + r_d × τ)           F_f/d − S_f/d  =  S_f/d × (r_f − r_d) × τ / (1 + r_d × τ)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Quote f/d: units of foreign per one domestic; τ = actual days / 360; r_d, r_f = domestic / foreign risk-free rates.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6032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Condition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Base currency is trading at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r_f  &gt;  r_d (foreign rate higher)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Forward PREMIUM (F &gt; 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Arbitrage equalizes returns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r_f  &lt;  r_d (foreign rate lower)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Forward DISCOUNT (F &lt; 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Base currency forwards cheaper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r_f  =  r_d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  =  S (flat points)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 interest-rate wedge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61188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61188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TESTABLE RULE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93192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currency with the HIGHER interest rate always trades at a forward DISCOUNT vs the lower-rate currency — otherwise a riskless arbitrage exists. This single rule answers most CFA IRP questions.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 interest-rate-parity violations open a riskless arbitrage — borrow in the low-yield currency, swap, lend in the high-yield currency, unwind via the forward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8, §2 Forward Rate Arbitrage Example, pp. 260–264.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CIP deviations (widen post-2008 because of bank-balance-sheet costs) are measured by the "cross-currency basis" — a Nobel-worthy empirical puzzle.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— COVERED IRP ARBITRAGE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S_f/d = 1.6535. Domestic 12m rate r_d = 3.50%. Foreign 12m rate r_f = 5.00%. A dealer misquotes the 12m forward at F = 1.6900 (vs correct F_theor = 1.6535 × 1.05 / 1.035 = 1.6775).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IRP: theoretical F_f/d = 1.6535 × (1.05/1.035) = 1.6775.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quote 1.6900 &gt; 1.6775  →  forward is over-priced (foreign currency too strong in the forward).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Trade: BORROW 1 unit in foreign currency at 5%, sell it spot for 1/1.6535 = 0.6048 domestic units, invest at 3.5% → 0.6048 × 1.035 = 0.6260 in 1 year.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Repurchase foreign via forward at 1.6900 → 0.6260 × 1.6900 = 1.0580 foreign — repay 1.05 owed, keep 0.0080.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761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61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Riskless profit ≈ 0.77% of notional (3.50% − 2.73% swap-financed return) per unit — no capital committed.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38328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38328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OPPORTUNITY CLOSES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0332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arbitrageurs borrow the foreign currency and sell it spot, they push the spot down and the forward up until F satisfies IRP. In real markets, this adjustment takes milliseconds and the wedge is capped by transaction costs — but the threat of arbitrage is what anchors forwards to the rate differential.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Purchasing power parity posits that identical goods should cost the same everywhere — a useful long-run anchor, but a poor short-run predictor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7, §2 "Purchasing Power Parity", pp. 218–222.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Economist's Big Mac index — a single standardized good — routinely shows 20–50% deviations from PPP across major economies. Arbitrage is blocked by non-tradability.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Absolute PPP:   S_d/f  =  P_d / P_f            Relative PPP:   %ΔS_d/f  ≈  π_d − π_f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Absolute PPP requires identical baskets and no frictions. Relative PPP only constrains changes — cannot pin the level.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PPP FAILS SHORT RUN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Non-tradable goods (haircuts, housing, local services) dominate most CPI baskets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Transport costs and tariffs (&gt; 10% for many goods)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Baskets differ across countries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Capital flows are 50× trade flows and ignore PPP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PPP MATTERS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 10+ year horizons real FX reverts (half-life ~4 years)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 high-inflation regimes, relative PPP pins nominal FX tightly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 back-of-envelope "fair-value" screens on EM currencies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Big Mac / iPhone indices as communication tools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currency with the higher interest rate trades at a forward discount — this is the single most-tested FX relationship in CFA Level 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Drills use 4-decimal quoting and annual rates. Points: Δ × 10,000 for non-yen, × 100 for yen.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2, Learning Module 8, §2 "Arbitrage Relationships", pp. 260–266.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drills for intuition — memorise "base currency with higher rate ⇒ forward discount" and you already pass 80% of FX questions.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1280160"/>
                <a:gridCol w="210312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Spot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r_d (domestic)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r_f (foreign)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Forward 12m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Points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USD/EUR = 1.1000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1.1000 × 1.02/1.05 = 1.0686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−314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GBP/EUR = 0.8500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0.8500 × 1.03/1.04 = 0.8418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−82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JPY/USD = 150.00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150 × 1.0025/1.05 = 143.22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−678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CHF/EUR = 0.9500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0.9500 × 1.035/1.015 = 0.9687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+187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THREE-LINE IRP CHEATSHEET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Identify which is base (denominator): the "B" in A/B.  2. Compare r_base vs r_price: if r_base &gt; r_price ⇒ forward DISCOUNT (F &lt; S); if &lt;, forward PREMIUM.  3. Compute F = S × (1 + r_price·τ) / (1 + r_base·τ). Points = (F − S) × 10,000 (× 100 for yen).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5 — Macro Policy, Geopolitics, Trade &amp; FX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multiplier = 1 / [1 − c(1 − t)]; at c = 0.9 and t = 0.2 it is 3.57 in slack — collapses toward 1 at full employment.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Debt-to-GDP is sustainable when real g &gt; real r; otherwise the primary surplus must absorb the (r − g) drag.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banks use OMO + policy rate + reserve requirements; transmission runs via short rates, asset prices, FX, expectations — 12–24 months lag.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 rule i* = r_neutral + π* + 0.5(π − π*) + 0.5(y − y*) — benchmark for evaluating whether a central bank is tight or loose.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advantage drives specialization regardless of absolute productivity; tariffs create deadweight loss = (B + D) triangles.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of payments identity: Current Account + Capital Account + Financial Account = 0 — a CA deficit must be financed by FA inflows.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quoting convention A/B: units of A (price) per one unit of B (base). Cross-rates chain through USD; triangular arbitrage closes any gap.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IRP: F/S = (1 + r_price·τ) / (1 + r_base·τ); currency with the higher interest rate always trades at a forward DISCOUNT.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5 · Macro Policy, Geopolitics, Trade &amp; FX</dc:title>
  <dc:subject>PptxGenJS Presentation</dc:subject>
  <dc:creator>Studio Tonton Gug</dc:creator>
  <cp:lastModifiedBy>Studio Tonton Gug</cp:lastModifiedBy>
  <cp:revision>1</cp:revision>
  <dcterms:created xsi:type="dcterms:W3CDTF">2026-04-23T09:29:19Z</dcterms:created>
  <dcterms:modified xsi:type="dcterms:W3CDTF">2026-04-23T09:29:19Z</dcterms:modified>
</cp:coreProperties>
</file>