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Longest deck in the series — set the pace before the first slide, not halfway through.
•  Two hours, six modules, one spine: policy sets rates, rates set FX, FX prices every cross-border decision.
•  Warn them: the back half is arithmetic. Calculators out from section 5.
•  Say what will NOT be examined at Level I (Taylor rule) so they trust the rest.
NEXT — Straight into the roadmap — do not linger on the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Show them the shape of the morning so nobody panics when the maths arrives.
•  Sections 1–4 are conceptual and fast. Sections 5–6 are where the marks are.
•  Flag the two multipliers up front — money vs fiscal — so the confusion never starts.
•  Break after section 3 (geopolitics). Tell them now.
NEXT — Objectives — read them once,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Six objectives, one per section — this is the marking scheme, not a wish list.
•  Point at objective 5 and 6: that is where Level I actually tests this material.
•  Objective 1 doubles as the money-vs-fiscal multiplier warning.
•  Do not read all six aloud. Read two, summarise the rest.
NEXT — Section 1 — fiscal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slides, 20 minutes. Fiscal is the easy section — do not overspend here.
•  One line only: governments move demand with spending and taxes.
•  The examinable content is the multiplier formula and the three lags.
NEXT — Start with what fiscal policy is actually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Students think fiscal policy = stimulus. It is three jobs, and only one of them is about the cycle.
•  Land the shared goal first: stable growth, stable low inflation. Both policies, one target.
•  Three roles — demand, redistribution, allocation. Only the first is macro stabilization.
•  Automatic stabilizers: the deficit moves before any politician does anything.
•  Therefore the headline deficit lies. Structural deficit strips the cycle out — that is the fiscal stance.
•  Do not run the Keynesian vs monetarist debate to the ground. One minute, move on.
FROM THE DESK — When a rating committee looks at a sovereign, the headline deficit is almost noise — they want the structural balance and the interest bill. Same instinct as adjusting EBITDA: you are trying to see through the cycle to the run-rate.
NEXT — If a dollar of spending moves output by MORE than a dollar, how much more? The multiplier.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multiplier is a geometric series, not magic. Show them the leakage and the formula stops being something to memorise.
•  Put c = 0.9, no tax on the board first. 1/(1 − 0.9) = 10. Let them react to how big that is.
•  Then add tax. 10 → 3.57. THAT is the whole lesson — tax is the leak in the bucket.
•  Careful: c is measured out of DISPOSABLE income (CFA Exhibit 9: 72/80 = 0.9), not gross.
•  Every step of the chain is taxed again — hence c(1−t), not c − t.
•  Balanced-budget multiplier = 1. Worth 20 seconds, it surprises people.
FROM THE DESK — Nobody in the market believes 3.57. Empirical estimates cluster nearer 0.5–1.5 and go lower still when the economy is at capacity or the central bank is offsetting. Treat the formula as the mechanism, not the magnitude.
ASK THE ROOM — If households expect the tax to come back and save the whole cheque, what does the multiplier become?
NEXT — Which spending or tax lever you pull matters — and so does how long it takes to pull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Speed, not size, is what separates these tools in practice — and the exam tests the taxonomy.
•  Five tools, and the curriculum names them explicitly: current spending, capex, transfers, direct taxes, indirect taxes.
•  Rank them by speed, left to right in the table. Indirect tax fastest, capex slowest.
•  Capex is the only one that also shifts the supply side. Flag it — it is a distractor magnet.
•  Three lags: recognition, action, impact. Make them say the order back to you.
•  Close the loop to slide 5: lags are exactly why automatic stabilizers matter.
FROM THE DESK — Watch what an infrastructure announcement actually does to a financing calendar: the headline lands years before the cash does, but credit spreads for the contractors move on the announcement. The lag is real for GDP and near-zero for asset prices.
NEXT — All of this is debt-financed. When does that stop being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Debt/GDP is a level; (r − g) is the derivative. Only one of them tells you where the ratio is going.
•  Ask for the "dangerous" number before showing the table. They will say 100%. Then show Japan at 237%.
•  The reconciliation is the last column: Japan pays 0.4% of GDP in net interest, the US 2.8%.
•  r &gt; g and the ratio compounds upward even with a balanced primary budget. r &lt; g and it melts.
•  Curriculum nuance worth 30 seconds: inflation erodes the real debt, deflation keeps the ratio elevated.
•  Who holds it matters too — the curriculum notes ~93% of Japanese debt is held domestically vs ~53% for the US.
•  Ricardian equivalence: state it, say the evidence is mixed, move on.
FROM THE DESK — This is the whole sovereign rating conversation in one row. Committees spend far less time on the debt stock than on the interest-to-revenue ratio and the maturity profile — because that is what actually forces a default, not a number on a chart.
ASK THE ROOM — If r and g are both 3%, what has to be true of the primary balance for the ratio to stay flat?
NEXT — Fiscal sets the borrowing. Monetary sets the r in that equation.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slides. The examinable core is: three tools, four channels, neutral rate.
•  Tell them the money multiplier lives here and the fiscal multiplier lived in section 1. Different animals.
•  Timing check — should be ~35 minutes in.
NEXT — Three tools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tools is the examinable list. The unconventional row is context — do not let it eat the slide.
•  Name the three from the curriculum: open market operations, refinancing/policy rate, reserve requirements.
•  STOP here and separate the two multipliers. Money multiplier = base → broad money. Fiscal = spending → output.
•  Reserve requirements are largely dormant in DM — the BoE sets no minimum. Still live in China.
•  QE / negative rates / forward guidance: one line each, they are context not curriculum.
•  Guidance only works with credibility — that is the bridge to slide 12.
FROM THE DESK — From a financing seat, the policy rate is almost secondary — what opens or shuts a primary window is the expected PATH and the volatility around it. A stable 4% is a far better issuance environment than a jumpy 2%.
NEXT — The bank moves one overnight rate. How does that reach a mortgage, an export order, a wage negotiation?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channels is a list they can memorise. The point worth teaching is that the lag forces forecast-based policy.
•  Walk the four in order — rates, asset prices, FX, expectations. Curriculum order, Bank of England diagram.
•  Channel 3 is the one they get backwards: HIGHER domestic rate → STRONGER currency → cheaper imports → LOWER inflation.
•  Channel 4 is the cheapest for the central bank and the first to break if credibility goes.
•  The channels reinforce and offset each other — do not present them as four separate pipes.
•  Land the lag: policy set today is aimed at inflation a year or more out.
FROM THE DESK — The curriculum stops at the four channels. Add a fifth that markets watch closely: the bank lending channel — how much of a hike banks actually pass through depends on their capital and deposit competition, and in a stressed system very little of it arrives.
ASK THE ROOM — The central bank hikes and the currency strengthens. Good news or bad news for a domestic exporter?
NEXT — Channel 4 only works if the bank is believed. Which brings us to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examinable facts are the three pillars and the two exceptions. Get the New Zealand dates right — the old version of this slide had them wrong.
•  New Zealand: announced 1988, legislated 1989, original range 0–2%. Not "2% in 1990".
•  Three pillars, curriculum wording: independence, credibility, transparency. Make them repeat it.
•  Why 2% and not 0%: deflation buffer, downward real-wage flexibility, distance from the rate floor.
•  The two exceptions are the classic question: Bank of Japan and the Federal Reserve.
•  Vintage caveat, say it out loud: the Fed adopted an explicit 2% PCE goal in 2012 and a flexible-average form in 2020; the BoJ set 2% CPI in 2013. The exam still reflects the older text.
FROM THE DESK — Credibility is a balance-sheet item you cannot see. When a central bank loses it, the long end stops responding to the front end — hikes push the curve steeper instead of flatter. That is when cross-border issuers quietly stop pricing in that currency.
NEXT — Given a target, is a given policy rate tight or loose? You need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ideas, one slide. The neutral rate IS examinable. The Taylor rule is not — but it is how the room will meet this material at work.
•  Say the exam boundary out loud: neutral rate = curriculum. Taylor rule = supplementary. They will thank you.
•  Build neutral first: 2.5% + 2.0% = 4.5%. Two components only — trend growth and the inflation target.
•  Now the trap. A 1% inflation overshoot does NOT add 0.5%. It adds 1.5%, because π also sits in the level term.
•  That 1.5 IS the Taylor principle: the nominal rate must move more than one-for-one or real rates FALL as inflation rises.
•  Answer 6.50%, not 5.50%. Make them find the missing 100 bp themselves.
FROM THE DESK — Every rates desk runs some version of this and every one of them disagrees on r_trend. That single unobservable is where most of the dispersion in published rate forecasts actually comes from — not the inflation view.
ASK THE ROOM — If you respond to a 1% inflation overshoot with only 0.5%, what happens to the REAL policy rate?
NEXT — Enough of the models. Section 3 — the risks that no reaction function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Shortest section — two slides, ten minutes. It is qualitative and the exam tests vocabulary.
•  Two lists to own: four archetypes, three risk types.
•  Natural coffee break after this section.
NEXT — Actors first, then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a vocabulary slide. Four archetypes plus the state/non-state split — that is the whole examinable payload.
•  State vs non-state: the dividing line is sovereignty over security and resources, not size or influence.
•  A rating agency is a non-state actor with enormous influence and zero sovereignty. Useful example for this room.
•  Four archetypes: autarky, hegemony, multilateralism, bilateralism. Make them say all four back.
•  They are a spectrum, not boxes — countries sit between bilateralism and multilateralism.
•  Three toolkits: national security, economic, financial. Each has a cooperative and non-cooperative face.
FROM THE DESK — Where this becomes concrete in a deal: the financial toolkit. Restricting access to local currency markets or blocking foreign investment kills a cross-border acquisition faster than any tariff — and it can be switched on overnight.
NEXT — Archetypes describe the state of the world. Now: how do you monitor changes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risk types, three axes of assessment. The examinable trick is that a KNOWN date does not make a risk small.
•  Event = dated. Exogenous = sudden. Thematic = slow and known. Brexit and Fukushima are the curriculum’s own cases.
•  Push on the Brexit numbers: GBP kept falling for a year while the FTSE recovered. Different assets, different horizons.
•  Key line: predictability changes your PREPARATION TIME, not the likelihood or the size of the impact.
•  Three assessment axes — likelihood, velocity, size and nature. Never use likelihood on its own.
•  Correct attribution: the GPR index is the Fed Board 2019 paper, not a bank product.
•  Because the paths are non-linear: scenarios and signposts, not point forecasts.
FROM THE DESK — On a live cross-border deal the geopolitical question is never "will it happen" — it is "can we close before it does". Velocity is the axis that actually decides whether you add a MAC clause, pre-hedge the currency, or walk.
ASK THE ROOM — Sanctions risk on a target you are acquiring — event, exogenous, or thematic?
NEXT — Trade is where geopolitics stops being abstract.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slides. The tariff welfare decomposition is the one that gets examined numerically.
•  Comparative advantage is intuition; the tariff areas are arithmetic. Spend the time on the second.
•  End the section on the trade balance identity — it is the bridge into FX.
NEXT — Start with why trade happens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counter-intuitive result: being better at everything is not a reason to make everything.
•  Put Home’s 10 and 5 against Foreign’s 4 and 4 on the board and ask "why would Home ever trade?" first.
•  Then compute opportunity costs. That is the whole trick — ratios within a country, compared across.
•  The trade price must land BETWEEN the two opportunity costs (0.5 and 1.0). Outside that band, someone refuses.
•  Ricardo = technology differences. Heckscher–Ohlin = factor endowments. Know which is which.
•  Modern additions the curriculum flags: economies of scale, product variety, more competition, intra-industry trade.
NEXT — That is the case FOR trade. Now what a tariff actually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numbers, and the fourth is just the first minus the other two. Teach it as a bookkeeping identity, not four separate area formulas.
•  Draw the four areas before any arithmetic. A = producers, C = government, B and D = lost to nobody.
•  Rectangle plus triangle each time: the price rise times the old quantity, plus half the price rise times the change.
•  Shortcut worth having: DWL = |ΔCS| − ΔPS − revenue = 185 − 120 − 40 = 25. Always reconcile this way.
•  Two triangles, two distinct inefficiencies: B is inefficient domestic production, D is consumption forgone.
•  Instrument ranking: a VER is strictly worse than a tariff because area C leaves the country.
•  Say "small country" out loud — a large country that moves the world price can gain.
FROM THE DESK — Tariffs are rarely modelled as welfare in a deal room — they are modelled as a margin shock to a specific line of the P&amp;L, and the second-order question is always retaliation. The curriculum assumes no retaliation. Real trade wars do not.
ASK THE ROOM — Same 20% protection, delivered as a VER instead. Who is better off and who is worse off than under the tariff?
NEXT — Blocs are how countries make tariffs disappear — for some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ladder, not a list. Each rung is defined by exactly one addition to the rung below — that is how they should memorise it.
•  Walk up one rung at a time and say only what is NEW: external policy, then factors, then institutions, then currency.
•  The examinable confusion is FTA vs customs union: the difference is the common EXTERNAL tariff, nothing else.
•  Correct the common slip: MERCOSUR is the curriculum’s COMMON MARKET example. Benelux is the customs union.
•  Creation vs diversion — the classic exam trap is assuming any bloc raises welfare.
•  Monetary union is a choice made by members of an economic union, not a separate structure.
FROM THE DESK — For a corporate client the rung that changes behaviour is the common market, not the currency. Free movement of capital and labour is what lets you consolidate a plant footprint across four countries — tariff removal alone rarely justifies a restructuring.
NEXT — Trade flows have a financial mirror image. That identity is the doorway into FX.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Kill the "trade deficit weakens the currency" reflex here, before the FX section, or it will contaminate everything after it.
•  Family analogy from the curriculum: spend more than you earn, you borrow or sell assets. A country is no different.
•  Write X − M = (S − I) + (T − G). A trade deficit means the country does not save enough for its own investment.
•  The mirror is definitional, not causal. Neither side "causes" the other.
•  Then the payoff line: capital flows dominate FX in the short run, trade flows only in the long run.
•  Why? Portfolio decisions and asset prices move in seconds; saving decisions and goods prices move in years.
•  The three-account BPM6 identity is in the footnote. Say the sign conventions differ and move on.
FROM THE DESK — This is why current-account data almost never trades. The market prices rate differentials and risk appetite, because that is what actually moves capital — the trade print is a slow-moving confirmation of something already in the price.
NEXT — So if capital flows set the rate, we had better understand the market they flow through.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From here on it is precision work. Slow down.
•  One rule dominates the rest of the deck: A/B means units of A per ONE unit of B. A is price, B is base.
•  Write it on the whiteboard and leave it there for the remaining twelve slides.
•  Calculators out now.
NEXT — Size and shape of the market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numbers destroy the beginner’s mental model of FX: swaps are half the volume, and trade-related flow is 8%.
•  Turnover: the curriculum says ~USD 6.6tn for 2019; BIS 2022 says ~7.5tn. Quote both, own the difference.
•  Instrument mix — swaps 49%, spot only 33%. Ask why BEFORE explaining: swaps finance and roll, they are not directional.
•  Every top-5 pair contains USD. That is the dollar’s vehicle-currency role, not a coincidence.
•  Counterparty split 42 / 51 / 8. The 8% is the entire real economy.
•  Hubs: London, then New York, then Tokyo. Deepest liquidity 08:00–11:30 NY.
FROM THE DESK — The 08:00–11:30 NY window is not trivia — it is when you execute a large corporate hedge if you care about slippage. Push a size ticket into the Asia afternoon and you will pay for it in the fix.
ASK THE ROOM — Why would half of all FX volume be swaps rather than outright positions?
NEXT — Now the single convention everything else in this deck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If they leave with one thing today, it is A/B = price per one base. Everything from here fails without it.
•  Write A/B on the board. A = price = numerator = what you PAY. B = base = one unit = what you BUY.
•  Go round the table row by row and make THEM read the quote aloud. Do not read it for them.
•  The hierarchy: EUR, then GBP, then USD — with AUD/NZD as the exception against the dollar.
•  Yen to 2 dp, everything else to 4. It matters for points scaling later.
•  Then the asymmetry: +4.35% one way, −4.17% the other. Have them verify it before you show the number.
•  Say why the professional market dropped "direct/indirect": it depends on where you are sitting.
FROM THE DESK — The asymmetry is not academic. Report a hedge P&amp;L on the wrong side of a quote and the number is wrong by tens of basis points — enough to turn a reported gain into a loss on a large notional.
ASK THE ROOM — USD/EUR falls from 1.2000 to 1.1500. Which currency appreciated, and by exactly how much?
NEXT — Now put two prices on it, because no dealer quotes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Everyone gets bid &lt; offer. Almost nobody gets the inversion right first time. Spend the slide on the inversion.
•  Both sides of any FX quote describe the BASE currency changing hands. Say it twice.
•  From the client’s side, the dealer’s bid is where the client SELLS. Flip the perspective explicitly.
•  Now the inversion: 1/offer becomes the new bid, 1/bid becomes the new offer. Flip AND cross.
•  The self-check is free: if bid &gt; offer after inverting, you crossed nothing.
•  Three frictions: inventory, adverse selection, operational and credit cost.
•  Note that spreads widen with volatility, size, and tenor — not just with the currency pair.
FROM THE DESK — A corporate hedging a cross-border acquisition is not really paying the screen spread — they are paying for size and for the option-like risk that the deal breaks. Which is exactly why deal-contingent hedges are priced so far wide of vanilla forwards.
ASK THE ROOM — The client wants to BUY dollars. Which side of 18.8580 – 18.8600 do they deal on?
NEXT — One more piece of structure: what regime is the currency in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trilemma is the idea; the eight IMF categories are the examinable list. Teach the idea, then hang the list on it.
•  Three properties of the ideal regime: credibly fixed, fully convertible, independent monetary policy. Any two.
•  Say why the third fails: with fixed rates and free capital, the domestic rate is set abroad, not at home.
•  Then run the eight top to bottom. The direction of travel is: giving up autonomy → getting it back.
•  Currency board is the one worth defining precisely: 100% FX reserve backing of the monetary base. Hong Kong.
•  Curriculum caveat, repeat it: the classifications are arbitrary at the edges and change over time.
•  Even independent floaters intervene. "Float" is not "hands off".
FROM THE DESK — For a borrower, the regime IS the risk. A pegged currency looks stable right up to the moment it is not, and the devaluation and the funding squeeze always arrive on the same day. Pegged-currency revenue against hard-currency debt is the single most reliable way to blow up an EM balance sheet.
NEXT — That is the structure. Section 6 is the arithmetic — and it is where the marks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Seven slides, and every one is a calculation they will be asked to do. Protect the time for this section.
•  Discipline for the whole section: write the units, cancel the units, then compute.
•  If they are behind, drop slide 33 (PPP) rather than rushing 31, 32 or 34.
NEXT — Warm up on real exchange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sign confusion here is universal: a RISING real exchange rate is BAD for your purchasing power. Fix the intuition, not the formula.
•  Frame it as a price: R is the real price you pay for the foreign basket. Prices going up is bad for the buyer.
•  Convention check first — GBP/EUR puts sterling as the PRICE currency. State it before any arithmetic.
•  Do the exact calculation, then the approximation. Show them the 0.24% they lose by approximating.
•  The approximation degrades fast at high inflation. Flag it for anyone thinking about EM.
•  Curriculum’s second case is India 2018: +6.7% nominal, +2.5% US inflation, +4.7% Indian inflation → ~+4.5%.
•  Say clearly: real exchange rates are constructed indices. There is no market in them.
NEXT — From indices back to real prices — how do you build a rate that nobody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mechanical habit fixes every cross-rate question: write the units as fractions and cancel them on the page.
•  Do the multiply case first. (CAD/USD) × (USD/EUR) — cross out the USD with a pen where they can see it.
•  Answer 1.5235, not 1.5236. Rounding discipline matters when the next slide is an arbitrage.
•  Now the inversion case. Ask them to try (CAD/USD) × (JPY/USD) and watch nothing cancel.
•  Then invert: 1/1.3020 = 0.7680, and the USD finally cancels. That is the whole trick.
•  Sanity check every answer: does the magnitude make sense for these two currencies?
•  Yen output goes to 2 dp. Everything else to 4.
FROM THE DESK — A client asking for a cross never gets handed two dollar legs — the dealer quotes the cross directly. The reason you still do this by hand is that the two legs often live on different desks, and the cross is where a stale price hides.
NEXT — And if the dealer’s direct cross does not match your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arithmetic is trivial. The marks are lost on units — which currency the profit is denominated in.
•  Chain first: 1.0218 / 0.9149 = 1.1168. Then compare to the 1.1210 direct quote.
•  Direction rule: buy the base (SEK) where it is cheap, sell it where it is dear.
•  Work the cash flows in full — 1,116,800 out, 1,121,000 back. Do not shortcut to the difference.
•  Now the trap: ZAR per SEK means notional in SEK, profit in ZAR. Say it twice.
•  Real markets: algos close this in milliseconds in majors; it can persist in illiquid EM crosses.
•  Add the practical caveat — the gap must beat the round trip, and you cross a spread on every leg.
FROM THE DESK — The textbook version is frictionless. Live, you cross a bid-offer three times and you need credit lines with both dealers before the trade exists at all. Which is why the surviving arbitrages are found by people with the shortest latency and the widest counterparty list, not the best maths.
NEXT — Spot arbitrage is one dimension. Add time and interest rates and you get forwards.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things to land: the formula follows from two equivalent investments, and the sign is knowable without arithmetic.
•  Derive it in one line: invest domestically at r_d, or convert → invest at r_f → sell forward. Both risk-free, so both must return the same.
•  Under f/d the DOMESTIC currency is the base. Say it explicitly or the table reads backwards.
•  The sign rule: higher rate → forward DISCOUNT. Have them say it back before moving on.
•  Points scaling: ×10,000 non-yen, ×100 yen. Tie it to the decimal places from slide 24.
•  Points grow with tenor but not proportionally — the denominator (1 + r_d·τ) is doing work.
•  Hard stop: the forward is arbitrage-derived. The curriculum is explicit that forwards are poor predictors of future spot.
FROM THE DESK — What this rule really prices for a treasurer: hedging a high-yield currency receivable always looks like it "costs" you, because the forward is at a discount. That is not a cost of hedging — it is the interest differential you were already earning. Confusing the two is how hedging programmes get cancelled at the worst moment.
ASK THE ROOM — Sterling pays 5%, the euro 2%. Which one is at a forward discount — and did you need a calculator?
NEXT — So what happens when a dealer quotes a forward that breaks the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slide exists to break one bad reflex. The direction of a CIP arbitrage comes from the forward quote, never from the rate ranking.
•  Ask them first: "rates are 5% foreign, 3.5% domestic — which one do you borrow?" Most will say the domestic. Let them.
•  Then compute F = 1.6775 vs the quoted 1.6900 and show the trade borrows the 5% currency.
•  The reason: at 1.6900 you buy the foreign currency back too cheaply forward. The FX leg pays for the rate leg.
•  Separate the two ideas explicitly — carry is unhedged and risky, arbitrage is hedged and riskless.
•  Two ways to state the profit: 77 bp on the return comparison, or ~0.0078 foreign units per unit borrowed. Same trade.
•  Method to hand them: compute the theoretical F, compare to the quote, THEN pick the direction.
FROM THE DESK — Since 2008 covered parity does not hold cleanly even in the majors — the residual is the cross-currency basis, and it is a real cost of balance sheet, not free money. When you see a "CIP arbitrage" in live pricing, you are almost always looking at a funding or capital constraint someone else is being paid to absorb.
ASK THE ROOM — Same rates, but the dealer quotes F = 1.6600 instead. Which currency do you borrow now?
NEXT — Rates anchor the forward. What, if anything, anchors the spot in the long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oversell PPP. The curriculum does not, and students who over-trust it get the exam questions wrong.
•  Absolute vs relative: one pins the level, one only pins the change. That distinction is the examinable bit.
•  Run the failure list — non-identical goods, different baskets, non-traded goods, frictions, capital flows.
•  Quote the text’s own verdict: a weak, if any, tendency toward long-run equalisation. Resist the urge to soften it.
•  The one regime where relative PPP really bites is high inflation — there the price effect swamps everything else.
•  Big Mac index: a teaching device. Never a trade.
FROM THE DESK — PPP shows up in real work as a valuation sanity check on a long-dated cross-border cash flow, not as a rate view. If your model needs a currency to revert to PPP inside five years to clear its hurdle, the model is the problem.
NEXT — Last slide of the section — drill the forward relationship until it is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Repetition slide. Have them work the rows live — do not walk through the answers yourself.
•  Cover the right two columns first. Give them ninety seconds on row one, then reveal.
•  Row 3 is the one to dwell on: yen, so 2 dp and points scale by 100, not 10,000. Answer 143.21 and −678.6.
•  The base rate is the DENOMINATOR. Row 3: USD is the base at 5%, so 1.05 goes underneath.
•  Notice the pattern across the four rows: EUR is the base in three of them, and its rate decides the sign each time.
•  Rows 1 and 2 are premiums, rows 3 and 4 discounts. Ask them to explain each sign in one sentence.
•  Then the cheatsheet, four steps. Step 3 is where the marks are lost — price currency on top.
ASK THE ROOM — Without computing: EUR/USD-style quote, base pays 6%, price pays 1%. Premium or discount?
NEXT — Pull the whole morning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Eight lines, and four of them are FX. That weighting is deliberate — say so.
•  Do not read all eight. Pick the two multipliers and the A/B convention and land those.
•  Homework: LM 8 practice problems 1–7 — they are pure arithmetic and self-marking.
•  Flag the two traps one last time: money vs fiscal multiplier, and inverting a two-sided quote.
•  Next deck picks up where the trade balance left off.
NEXT — Questions — leave five minutes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05  ·  WEEK 3  ·  MORNING 1</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Macro Policy,</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Geopolitics, Trade</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&amp; FX</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Six CFA modules on the macro forces that drive every cross-border price</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2 Learning Modules 3–8</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Macro Policy, Geopolitics, Trade &amp; FX</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6 sections · ~2 hours · Built bottom-up from CFA readings</a:t>
            </a:r>
            <a:endParaRPr lang="en-US" sz="1300" dirty="0"/>
          </a:p>
        </p:txBody>
      </p:sp>
      <p:sp>
        <p:nvSpPr>
          <p:cNvPr id="8" name="Shape 6"/>
          <p:cNvSpPr/>
          <p:nvPr/>
        </p:nvSpPr>
        <p:spPr>
          <a:xfrm>
            <a:off x="320040" y="1207008"/>
            <a:ext cx="8503920" cy="560832"/>
          </a:xfrm>
          <a:prstGeom prst="rect">
            <a:avLst/>
          </a:prstGeom>
          <a:solidFill>
            <a:srgbClr val="FFFFFF"/>
          </a:solidFill>
          <a:ln/>
        </p:spPr>
      </p:sp>
      <p:sp>
        <p:nvSpPr>
          <p:cNvPr id="9" name="Shape 7"/>
          <p:cNvSpPr/>
          <p:nvPr/>
        </p:nvSpPr>
        <p:spPr>
          <a:xfrm>
            <a:off x="320040" y="1207008"/>
            <a:ext cx="594360" cy="560832"/>
          </a:xfrm>
          <a:prstGeom prst="rect">
            <a:avLst/>
          </a:prstGeom>
          <a:solidFill>
            <a:srgbClr val="1B2A4A"/>
          </a:solidFill>
          <a:ln/>
        </p:spPr>
      </p:sp>
      <p:sp>
        <p:nvSpPr>
          <p:cNvPr id="10" name="Text 8"/>
          <p:cNvSpPr txBox="1"/>
          <p:nvPr/>
        </p:nvSpPr>
        <p:spPr>
          <a:xfrm>
            <a:off x="320040" y="120700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Fiscal policy toolkit + multipliers</a:t>
            </a:r>
            <a:endParaRPr lang="en-US" sz="1200" dirty="0"/>
          </a:p>
        </p:txBody>
      </p:sp>
      <p:sp>
        <p:nvSpPr>
          <p:cNvPr id="12" name="Text 10"/>
          <p:cNvSpPr txBox="1"/>
          <p:nvPr/>
        </p:nvSpPr>
        <p:spPr>
          <a:xfrm>
            <a:off x="1024128" y="145938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Roles · automatic stabilizers · multiplier 1/[1−c(1−t)] · five fiscal tools · debt dynamics · three lags</a:t>
            </a:r>
            <a:endParaRPr lang="en-US" sz="1100" dirty="0"/>
          </a:p>
        </p:txBody>
      </p:sp>
      <p:sp>
        <p:nvSpPr>
          <p:cNvPr id="13" name="Shape 11"/>
          <p:cNvSpPr/>
          <p:nvPr/>
        </p:nvSpPr>
        <p:spPr>
          <a:xfrm>
            <a:off x="320040" y="1804416"/>
            <a:ext cx="8503920" cy="560832"/>
          </a:xfrm>
          <a:prstGeom prst="rect">
            <a:avLst/>
          </a:prstGeom>
          <a:solidFill>
            <a:srgbClr val="F5F7FA"/>
          </a:solidFill>
          <a:ln/>
        </p:spPr>
      </p:sp>
      <p:sp>
        <p:nvSpPr>
          <p:cNvPr id="14" name="Shape 12"/>
          <p:cNvSpPr/>
          <p:nvPr/>
        </p:nvSpPr>
        <p:spPr>
          <a:xfrm>
            <a:off x="320040" y="1804416"/>
            <a:ext cx="594360" cy="560832"/>
          </a:xfrm>
          <a:prstGeom prst="rect">
            <a:avLst/>
          </a:prstGeom>
          <a:solidFill>
            <a:srgbClr val="1B2A4A"/>
          </a:solidFill>
          <a:ln/>
        </p:spPr>
      </p:sp>
      <p:sp>
        <p:nvSpPr>
          <p:cNvPr id="15" name="Text 13"/>
          <p:cNvSpPr txBox="1"/>
          <p:nvPr/>
        </p:nvSpPr>
        <p:spPr>
          <a:xfrm>
            <a:off x="320040" y="1804416"/>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1850136"/>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Monetary policy transmission</a:t>
            </a:r>
            <a:endParaRPr lang="en-US" sz="1200" dirty="0"/>
          </a:p>
        </p:txBody>
      </p:sp>
      <p:sp>
        <p:nvSpPr>
          <p:cNvPr id="17" name="Text 15"/>
          <p:cNvSpPr txBox="1"/>
          <p:nvPr/>
        </p:nvSpPr>
        <p:spPr>
          <a:xfrm>
            <a:off x="1024128" y="2056790"/>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OMO · policy rate · reserve requirements · 4 channels · inflation targeting · the neutral rate</a:t>
            </a:r>
            <a:endParaRPr lang="en-US" sz="1100" dirty="0"/>
          </a:p>
        </p:txBody>
      </p:sp>
      <p:sp>
        <p:nvSpPr>
          <p:cNvPr id="18" name="Shape 16"/>
          <p:cNvSpPr/>
          <p:nvPr/>
        </p:nvSpPr>
        <p:spPr>
          <a:xfrm>
            <a:off x="320040" y="2401824"/>
            <a:ext cx="8503920" cy="560832"/>
          </a:xfrm>
          <a:prstGeom prst="rect">
            <a:avLst/>
          </a:prstGeom>
          <a:solidFill>
            <a:srgbClr val="FFFFFF"/>
          </a:solidFill>
          <a:ln/>
        </p:spPr>
      </p:sp>
      <p:sp>
        <p:nvSpPr>
          <p:cNvPr id="19" name="Shape 17"/>
          <p:cNvSpPr/>
          <p:nvPr/>
        </p:nvSpPr>
        <p:spPr>
          <a:xfrm>
            <a:off x="320040" y="2401824"/>
            <a:ext cx="594360" cy="560832"/>
          </a:xfrm>
          <a:prstGeom prst="rect">
            <a:avLst/>
          </a:prstGeom>
          <a:solidFill>
            <a:srgbClr val="1B2A4A"/>
          </a:solidFill>
          <a:ln/>
        </p:spPr>
      </p:sp>
      <p:sp>
        <p:nvSpPr>
          <p:cNvPr id="20" name="Text 18"/>
          <p:cNvSpPr txBox="1"/>
          <p:nvPr/>
        </p:nvSpPr>
        <p:spPr>
          <a:xfrm>
            <a:off x="320040" y="2401824"/>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2447544"/>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Geopolitics for investors</a:t>
            </a:r>
            <a:endParaRPr lang="en-US" sz="1200" dirty="0"/>
          </a:p>
        </p:txBody>
      </p:sp>
      <p:sp>
        <p:nvSpPr>
          <p:cNvPr id="22" name="Text 20"/>
          <p:cNvSpPr txBox="1"/>
          <p:nvPr/>
        </p:nvSpPr>
        <p:spPr>
          <a:xfrm>
            <a:off x="1024128" y="2654198"/>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State vs non-state actors · autarky / hegemony / multilateralism / bilateralism · event, exogenous, thematic risk</a:t>
            </a:r>
            <a:endParaRPr lang="en-US" sz="1100" dirty="0"/>
          </a:p>
        </p:txBody>
      </p:sp>
      <p:sp>
        <p:nvSpPr>
          <p:cNvPr id="23" name="Shape 21"/>
          <p:cNvSpPr/>
          <p:nvPr/>
        </p:nvSpPr>
        <p:spPr>
          <a:xfrm>
            <a:off x="320040" y="2999232"/>
            <a:ext cx="8503920" cy="560832"/>
          </a:xfrm>
          <a:prstGeom prst="rect">
            <a:avLst/>
          </a:prstGeom>
          <a:solidFill>
            <a:srgbClr val="F5F7FA"/>
          </a:solidFill>
          <a:ln/>
        </p:spPr>
      </p:sp>
      <p:sp>
        <p:nvSpPr>
          <p:cNvPr id="24" name="Shape 22"/>
          <p:cNvSpPr/>
          <p:nvPr/>
        </p:nvSpPr>
        <p:spPr>
          <a:xfrm>
            <a:off x="320040" y="2999232"/>
            <a:ext cx="594360" cy="560832"/>
          </a:xfrm>
          <a:prstGeom prst="rect">
            <a:avLst/>
          </a:prstGeom>
          <a:solidFill>
            <a:srgbClr val="1B2A4A"/>
          </a:solidFill>
          <a:ln/>
        </p:spPr>
      </p:sp>
      <p:sp>
        <p:nvSpPr>
          <p:cNvPr id="25" name="Text 23"/>
          <p:cNvSpPr txBox="1"/>
          <p:nvPr/>
        </p:nvSpPr>
        <p:spPr>
          <a:xfrm>
            <a:off x="320040" y="2999232"/>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044952"/>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Trade theory + the trade balance</a:t>
            </a:r>
            <a:endParaRPr lang="en-US" sz="1200" dirty="0"/>
          </a:p>
        </p:txBody>
      </p:sp>
      <p:sp>
        <p:nvSpPr>
          <p:cNvPr id="27" name="Text 25"/>
          <p:cNvSpPr txBox="1"/>
          <p:nvPr/>
        </p:nvSpPr>
        <p:spPr>
          <a:xfrm>
            <a:off x="1024128" y="3251606"/>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Comparative advantage · tariff welfare and deadweight loss · five bloc types · X−M = (S−I)+(T−G)</a:t>
            </a:r>
            <a:endParaRPr lang="en-US" sz="1100" dirty="0"/>
          </a:p>
        </p:txBody>
      </p:sp>
      <p:sp>
        <p:nvSpPr>
          <p:cNvPr id="28" name="Shape 26"/>
          <p:cNvSpPr/>
          <p:nvPr/>
        </p:nvSpPr>
        <p:spPr>
          <a:xfrm>
            <a:off x="320040" y="3596640"/>
            <a:ext cx="8503920" cy="560832"/>
          </a:xfrm>
          <a:prstGeom prst="rect">
            <a:avLst/>
          </a:prstGeom>
          <a:solidFill>
            <a:srgbClr val="FFFFFF"/>
          </a:solidFill>
          <a:ln/>
        </p:spPr>
      </p:sp>
      <p:sp>
        <p:nvSpPr>
          <p:cNvPr id="29" name="Shape 27"/>
          <p:cNvSpPr/>
          <p:nvPr/>
        </p:nvSpPr>
        <p:spPr>
          <a:xfrm>
            <a:off x="320040" y="3596640"/>
            <a:ext cx="594360" cy="560832"/>
          </a:xfrm>
          <a:prstGeom prst="rect">
            <a:avLst/>
          </a:prstGeom>
          <a:solidFill>
            <a:srgbClr val="1B2A4A"/>
          </a:solidFill>
          <a:ln/>
        </p:spPr>
      </p:sp>
      <p:sp>
        <p:nvSpPr>
          <p:cNvPr id="30" name="Text 28"/>
          <p:cNvSpPr txBox="1"/>
          <p:nvPr/>
        </p:nvSpPr>
        <p:spPr>
          <a:xfrm>
            <a:off x="320040" y="3596640"/>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1" name="Text 29"/>
          <p:cNvSpPr txBox="1"/>
          <p:nvPr/>
        </p:nvSpPr>
        <p:spPr>
          <a:xfrm>
            <a:off x="1024128" y="3642360"/>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FX market structure &amp; quoting</a:t>
            </a:r>
            <a:endParaRPr lang="en-US" sz="1200" dirty="0"/>
          </a:p>
        </p:txBody>
      </p:sp>
      <p:sp>
        <p:nvSpPr>
          <p:cNvPr id="32" name="Text 30"/>
          <p:cNvSpPr txBox="1"/>
          <p:nvPr/>
        </p:nvSpPr>
        <p:spPr>
          <a:xfrm>
            <a:off x="1024128" y="3849014"/>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Turnover and instrument mix · price/base convention · bid-offer and inversion · the IMF eight regimes</a:t>
            </a:r>
            <a:endParaRPr lang="en-US" sz="1100" dirty="0"/>
          </a:p>
        </p:txBody>
      </p:sp>
      <p:sp>
        <p:nvSpPr>
          <p:cNvPr id="33" name="Shape 31"/>
          <p:cNvSpPr/>
          <p:nvPr/>
        </p:nvSpPr>
        <p:spPr>
          <a:xfrm>
            <a:off x="320040" y="4194048"/>
            <a:ext cx="8503920" cy="560832"/>
          </a:xfrm>
          <a:prstGeom prst="rect">
            <a:avLst/>
          </a:prstGeom>
          <a:solidFill>
            <a:srgbClr val="F5F7FA"/>
          </a:solidFill>
          <a:ln/>
        </p:spPr>
      </p:sp>
      <p:sp>
        <p:nvSpPr>
          <p:cNvPr id="34" name="Shape 32"/>
          <p:cNvSpPr/>
          <p:nvPr/>
        </p:nvSpPr>
        <p:spPr>
          <a:xfrm>
            <a:off x="320040" y="4194048"/>
            <a:ext cx="594360" cy="560832"/>
          </a:xfrm>
          <a:prstGeom prst="rect">
            <a:avLst/>
          </a:prstGeom>
          <a:solidFill>
            <a:srgbClr val="1B2A4A"/>
          </a:solidFill>
          <a:ln/>
        </p:spPr>
      </p:sp>
      <p:sp>
        <p:nvSpPr>
          <p:cNvPr id="35" name="Text 33"/>
          <p:cNvSpPr txBox="1"/>
          <p:nvPr/>
        </p:nvSpPr>
        <p:spPr>
          <a:xfrm>
            <a:off x="320040" y="419404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06</a:t>
            </a:r>
            <a:endParaRPr lang="en-US" sz="1300" dirty="0"/>
          </a:p>
        </p:txBody>
      </p:sp>
      <p:sp>
        <p:nvSpPr>
          <p:cNvPr id="36" name="Text 34"/>
          <p:cNvSpPr txBox="1"/>
          <p:nvPr/>
        </p:nvSpPr>
        <p:spPr>
          <a:xfrm>
            <a:off x="1024128" y="423976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FX arithmetic: cross-rates, IRP, PPP</a:t>
            </a:r>
            <a:endParaRPr lang="en-US" sz="1200" dirty="0"/>
          </a:p>
        </p:txBody>
      </p:sp>
      <p:sp>
        <p:nvSpPr>
          <p:cNvPr id="37" name="Text 35"/>
          <p:cNvSpPr txBox="1"/>
          <p:nvPr/>
        </p:nvSpPr>
        <p:spPr>
          <a:xfrm>
            <a:off x="1024128" y="444642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Real FX · cross-rate chain · triangular arb · covered IRP and forward points · PPP as a long-run anchor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Compute the fiscal multiplier 1/[1 − c(1 − t)] for a given MPC and tax rate, explain the tax rate as the leakage, and distinguish it from the money multiplier.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Describe the three monetary-policy tools and the four transmission channels, and build the neutral rate from trend growth plus the inflation target.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Place a country on the four-archetype framework (autarky, hegemony, multilateralism, bilateralism) and classify a risk as event, exogenous, or thematic.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Apply comparative advantage from opportunity costs, and decompose a tariff into consumer surplus, producer surplus, revenue, and deadweight loss.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Read an FX quote in price/base terms, invert a two-sided quote correctly, and derive a cross-rate through the USD — inverting a leg where required.
</a:t>
            </a:r>
            <a:pPr indent="0" marL="0">
              <a:buNone/>
            </a:pPr>
            <a:r>
              <a:rPr lang="en-US" sz="1200" b="1" dirty="0">
                <a:solidFill>
                  <a:srgbClr val="E8600A"/>
                </a:solidFill>
                <a:latin typeface="Trebuchet MS" pitchFamily="34" charset="0"/>
                <a:ea typeface="Trebuchet MS" pitchFamily="34" charset="-122"/>
                <a:cs typeface="Trebuchet MS" pitchFamily="34" charset="-120"/>
              </a:rPr>
              <a:t>6. </a:t>
            </a:r>
            <a:pPr indent="0" marL="0">
              <a:buNone/>
            </a:pPr>
            <a:r>
              <a:rPr lang="en-US" sz="1200" dirty="0">
                <a:solidFill>
                  <a:srgbClr val="334155"/>
                </a:solidFill>
                <a:latin typeface="Calibri" pitchFamily="34" charset="0"/>
                <a:ea typeface="Calibri" pitchFamily="34" charset="-122"/>
                <a:cs typeface="Calibri" pitchFamily="34" charset="-120"/>
              </a:rPr>
              <a:t>Compute a forward rate and forward points from spot and two interest rates, and identify the arbitrage direction when a dealer misquotes the forward.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Fiscal policy</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toolkit</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6  ·  Deck 5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Fiscal policy uses government spending and taxation to steer aggregate demand, redistribute income, and allocate resources across sectors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3 §1 "Introduction to Monetary and Fiscal Policy" and "Roles and Objectives of Fiscal Policy", pp. 80–88.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states one shared goal for both fiscal and monetary policy: stable positive growth with stable low inflation. Everything below is a means to that end.</a:t>
            </a:r>
            <a:endParaRPr lang="en-US" sz="1300" dirty="0"/>
          </a:p>
        </p:txBody>
      </p:sp>
      <p:sp>
        <p:nvSpPr>
          <p:cNvPr id="9" name="Shape 7"/>
          <p:cNvSpPr/>
          <p:nvPr/>
        </p:nvSpPr>
        <p:spPr>
          <a:xfrm>
            <a:off x="320040" y="1234440"/>
            <a:ext cx="2743200" cy="1554480"/>
          </a:xfrm>
          <a:prstGeom prst="rect">
            <a:avLst/>
          </a:prstGeom>
          <a:solidFill>
            <a:srgbClr val="FEF0E7"/>
          </a:solidFill>
          <a:ln/>
        </p:spPr>
      </p:sp>
      <p:sp>
        <p:nvSpPr>
          <p:cNvPr id="10" name="Shape 8"/>
          <p:cNvSpPr/>
          <p:nvPr/>
        </p:nvSpPr>
        <p:spPr>
          <a:xfrm>
            <a:off x="320040" y="1234440"/>
            <a:ext cx="73152" cy="1554480"/>
          </a:xfrm>
          <a:prstGeom prst="rect">
            <a:avLst/>
          </a:prstGeom>
          <a:solidFill>
            <a:srgbClr val="E8600A"/>
          </a:solidFill>
          <a:ln/>
        </p:spPr>
      </p:sp>
      <p:sp>
        <p:nvSpPr>
          <p:cNvPr id="11" name="Text 9"/>
          <p:cNvSpPr txBox="1"/>
          <p:nvPr/>
        </p:nvSpPr>
        <p:spPr>
          <a:xfrm>
            <a:off x="457200" y="1280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ROLE 1  ·  DEMAND MANAGEMENT</a:t>
            </a:r>
            <a:endParaRPr lang="en-US" sz="1100" dirty="0"/>
          </a:p>
        </p:txBody>
      </p:sp>
      <p:sp>
        <p:nvSpPr>
          <p:cNvPr id="12" name="Text 10"/>
          <p:cNvSpPr txBox="1"/>
          <p:nvPr/>
        </p:nvSpPr>
        <p:spPr>
          <a:xfrm>
            <a:off x="457200" y="1554480"/>
            <a:ext cx="2514600" cy="1188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Raise G or cut T when output is below potential; do the reverse to cool an overheating economy. The deficit is the instrument, not the objective.</a:t>
            </a:r>
            <a:endParaRPr lang="en-US" sz="1200" dirty="0"/>
          </a:p>
        </p:txBody>
      </p:sp>
      <p:sp>
        <p:nvSpPr>
          <p:cNvPr id="13" name="Shape 11"/>
          <p:cNvSpPr/>
          <p:nvPr/>
        </p:nvSpPr>
        <p:spPr>
          <a:xfrm>
            <a:off x="3200400" y="1234440"/>
            <a:ext cx="2743200" cy="1554480"/>
          </a:xfrm>
          <a:prstGeom prst="rect">
            <a:avLst/>
          </a:prstGeom>
          <a:solidFill>
            <a:srgbClr val="F5F7FA"/>
          </a:solidFill>
          <a:ln/>
        </p:spPr>
      </p:sp>
      <p:sp>
        <p:nvSpPr>
          <p:cNvPr id="14" name="Shape 12"/>
          <p:cNvSpPr/>
          <p:nvPr/>
        </p:nvSpPr>
        <p:spPr>
          <a:xfrm>
            <a:off x="3200400" y="1234440"/>
            <a:ext cx="73152" cy="1554480"/>
          </a:xfrm>
          <a:prstGeom prst="rect">
            <a:avLst/>
          </a:prstGeom>
          <a:solidFill>
            <a:srgbClr val="1B2A4A"/>
          </a:solidFill>
          <a:ln/>
        </p:spPr>
      </p:sp>
      <p:sp>
        <p:nvSpPr>
          <p:cNvPr id="15" name="Text 13"/>
          <p:cNvSpPr txBox="1"/>
          <p:nvPr/>
        </p:nvSpPr>
        <p:spPr>
          <a:xfrm>
            <a:off x="3337560" y="1280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ROLE 2  ·  REDISTRIBUTION</a:t>
            </a:r>
            <a:endParaRPr lang="en-US" sz="1100" dirty="0"/>
          </a:p>
        </p:txBody>
      </p:sp>
      <p:sp>
        <p:nvSpPr>
          <p:cNvPr id="16" name="Text 14"/>
          <p:cNvSpPr txBox="1"/>
          <p:nvPr/>
        </p:nvSpPr>
        <p:spPr>
          <a:xfrm>
            <a:off x="3337560" y="1554480"/>
            <a:ext cx="2514600" cy="1188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Progressive income taxes and targeted transfers compress the income distribution; indirect taxes on spending tend to widen it. A political choice, not a macro one.</a:t>
            </a:r>
            <a:endParaRPr lang="en-US" sz="1200" dirty="0"/>
          </a:p>
        </p:txBody>
      </p:sp>
      <p:sp>
        <p:nvSpPr>
          <p:cNvPr id="17" name="Shape 15"/>
          <p:cNvSpPr/>
          <p:nvPr/>
        </p:nvSpPr>
        <p:spPr>
          <a:xfrm>
            <a:off x="6080760" y="1234440"/>
            <a:ext cx="2743200" cy="1554480"/>
          </a:xfrm>
          <a:prstGeom prst="rect">
            <a:avLst/>
          </a:prstGeom>
          <a:solidFill>
            <a:srgbClr val="FEF0E7"/>
          </a:solidFill>
          <a:ln/>
        </p:spPr>
      </p:sp>
      <p:sp>
        <p:nvSpPr>
          <p:cNvPr id="18" name="Shape 16"/>
          <p:cNvSpPr/>
          <p:nvPr/>
        </p:nvSpPr>
        <p:spPr>
          <a:xfrm>
            <a:off x="6080760" y="1234440"/>
            <a:ext cx="73152" cy="1554480"/>
          </a:xfrm>
          <a:prstGeom prst="rect">
            <a:avLst/>
          </a:prstGeom>
          <a:solidFill>
            <a:srgbClr val="E8600A"/>
          </a:solidFill>
          <a:ln/>
        </p:spPr>
      </p:sp>
      <p:sp>
        <p:nvSpPr>
          <p:cNvPr id="19" name="Text 17"/>
          <p:cNvSpPr txBox="1"/>
          <p:nvPr/>
        </p:nvSpPr>
        <p:spPr>
          <a:xfrm>
            <a:off x="6217920" y="1280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ROLE 3  ·  ALLOCATION</a:t>
            </a:r>
            <a:endParaRPr lang="en-US" sz="1100" dirty="0"/>
          </a:p>
        </p:txBody>
      </p:sp>
      <p:sp>
        <p:nvSpPr>
          <p:cNvPr id="20" name="Text 18"/>
          <p:cNvSpPr txBox="1"/>
          <p:nvPr/>
        </p:nvSpPr>
        <p:spPr>
          <a:xfrm>
            <a:off x="6217920" y="1554480"/>
            <a:ext cx="2514600" cy="1188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Subsidies, excise duties and infrastructure spending steer resources toward chosen sectors — externality correction, or industrial policy under another name.</a:t>
            </a:r>
            <a:endParaRPr lang="en-US" sz="1200" dirty="0"/>
          </a:p>
        </p:txBody>
      </p:sp>
      <p:sp>
        <p:nvSpPr>
          <p:cNvPr id="21" name="Shape 19"/>
          <p:cNvSpPr/>
          <p:nvPr/>
        </p:nvSpPr>
        <p:spPr>
          <a:xfrm>
            <a:off x="320040" y="2926080"/>
            <a:ext cx="8503920" cy="1371600"/>
          </a:xfrm>
          <a:prstGeom prst="rect">
            <a:avLst/>
          </a:prstGeom>
          <a:solidFill>
            <a:srgbClr val="FEF0E7"/>
          </a:solidFill>
          <a:ln/>
        </p:spPr>
      </p:sp>
      <p:sp>
        <p:nvSpPr>
          <p:cNvPr id="22" name="Shape 20"/>
          <p:cNvSpPr/>
          <p:nvPr/>
        </p:nvSpPr>
        <p:spPr>
          <a:xfrm>
            <a:off x="320040" y="2926080"/>
            <a:ext cx="73152" cy="1371600"/>
          </a:xfrm>
          <a:prstGeom prst="rect">
            <a:avLst/>
          </a:prstGeom>
          <a:solidFill>
            <a:srgbClr val="E8600A"/>
          </a:solidFill>
          <a:ln/>
        </p:spPr>
      </p:sp>
      <p:sp>
        <p:nvSpPr>
          <p:cNvPr id="23" name="Text 21"/>
          <p:cNvSpPr txBox="1"/>
          <p:nvPr/>
        </p:nvSpPr>
        <p:spPr>
          <a:xfrm>
            <a:off x="457200" y="2971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AUTOMATIC STABILIZERS  ·  AND THE ARGUMENT THAT NEVER ENDS</a:t>
            </a:r>
            <a:endParaRPr lang="en-US" sz="1100" dirty="0"/>
          </a:p>
        </p:txBody>
      </p:sp>
      <p:sp>
        <p:nvSpPr>
          <p:cNvPr id="24" name="Text 22"/>
          <p:cNvSpPr txBox="1"/>
          <p:nvPr/>
        </p:nvSpPr>
        <p:spPr>
          <a:xfrm>
            <a:off x="457200" y="3246120"/>
            <a:ext cx="8275320" cy="10058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Progressive taxes and unemployment benefits cushion a shock with no policy decision at all — the deficit widens as GDP falls and narrows as it recovers. The curriculum is explicit that their great advantage is exactly this: they are automatic, so they escape every implementation lag. Discretionary policy does not. Keynesians argue stimulus is powerful when there is slack; the opposing view is that it is temporary and monetary policy is the better stabilization tool. Because automatic stabilizers move the deficit on their own, economists strip them out and look at the STRUCTURAL budget deficit to read a government’s true fiscal stance.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fiscal multiplier turns one unit of government spending into a larger change in output — and the tax rate is the leakage that shrinks it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Balanced-budget multiplier: raise G and taxes by the same amount and output still rises, because consumption falls only by c × ΔT. Its value is always exactly one.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3 §2 "Fiscal Policy Tools" — the fiscal multiplier and the balanced budget multiplier, pp. 96–97.</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formula assumes idle capacity. At full employment extra G bids up prices and crowds out private investment rather than adding real output.</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Multiplier  =  1  /  [ 1  −  c × (1 − t) ]</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c = marginal propensity to consume out of DISPOSABLE income;  t = marginal tax rate.  With no tax the expression collapses to the familiar 1/(1 − c).</a:t>
            </a:r>
            <a:endParaRPr lang="en-US" sz="1100" dirty="0"/>
          </a:p>
        </p:txBody>
      </p:sp>
      <p:sp>
        <p:nvSpPr>
          <p:cNvPr id="13" name="Shape 11"/>
          <p:cNvSpPr/>
          <p:nvPr/>
        </p:nvSpPr>
        <p:spPr>
          <a:xfrm>
            <a:off x="320040" y="2377440"/>
            <a:ext cx="8503920" cy="1965960"/>
          </a:xfrm>
          <a:prstGeom prst="rect">
            <a:avLst/>
          </a:prstGeom>
          <a:solidFill>
            <a:srgbClr val="FEF0E7"/>
          </a:solidFill>
          <a:ln w="9525">
            <a:solidFill>
              <a:srgbClr val="E8600A"/>
            </a:solidFill>
            <a:prstDash val="solid"/>
          </a:ln>
        </p:spPr>
      </p:sp>
      <p:sp>
        <p:nvSpPr>
          <p:cNvPr id="14" name="Text 12"/>
          <p:cNvSpPr txBox="1"/>
          <p:nvPr/>
        </p:nvSpPr>
        <p:spPr>
          <a:xfrm>
            <a:off x="457200" y="242316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FISCAL STIMULUS — WHAT THE TAX RATE COSTS YOU</a:t>
            </a:r>
            <a:endParaRPr lang="en-US" sz="1100" dirty="0"/>
          </a:p>
        </p:txBody>
      </p:sp>
      <p:sp>
        <p:nvSpPr>
          <p:cNvPr id="15" name="Text 13"/>
          <p:cNvSpPr txBox="1"/>
          <p:nvPr/>
        </p:nvSpPr>
        <p:spPr>
          <a:xfrm>
            <a:off x="457200" y="271576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GBP 10 bn infrastructure package. MPC out of disposable income c = 0.9, marginal tax rate t = 0.2. With no tax at all the multiplier would be 1/(1 − 0.9) = 10. What does tax do to that?</a:t>
            </a:r>
            <a:endParaRPr lang="en-US" sz="1200" dirty="0"/>
          </a:p>
        </p:txBody>
      </p:sp>
      <p:sp>
        <p:nvSpPr>
          <p:cNvPr id="16" name="Text 14"/>
          <p:cNvSpPr txBox="1"/>
          <p:nvPr/>
        </p:nvSpPr>
        <p:spPr>
          <a:xfrm>
            <a:off x="457200" y="322783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Tax is the leakage: each extra GBP 1 of income leaves only (1 − t) = GBP 0.80 as disposable income.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Effective propensity to consume out of pre-tax income = c(1 − t) = 0.9 × 0.8 = 0.72.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Multiplier = 1 / (1 − 0.72) = 1 / 0.28 = 3.57 — a 20% tax rate alone cuts 10 down to 3.57.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ΔY = 3.57 × GBP 10 bn = GBP 35.7 bn of additional aggregate output.</a:t>
            </a:r>
            <a:endParaRPr lang="en-US" sz="1050" dirty="0"/>
          </a:p>
        </p:txBody>
      </p:sp>
      <p:sp>
        <p:nvSpPr>
          <p:cNvPr id="17" name="Shape 15"/>
          <p:cNvSpPr/>
          <p:nvPr/>
        </p:nvSpPr>
        <p:spPr>
          <a:xfrm>
            <a:off x="411480" y="3904488"/>
            <a:ext cx="8321040" cy="365760"/>
          </a:xfrm>
          <a:prstGeom prst="rect">
            <a:avLst/>
          </a:prstGeom>
          <a:solidFill>
            <a:srgbClr val="E8600A"/>
          </a:solidFill>
          <a:ln/>
        </p:spPr>
      </p:sp>
      <p:sp>
        <p:nvSpPr>
          <p:cNvPr id="18" name="Text 16"/>
          <p:cNvSpPr txBox="1"/>
          <p:nvPr/>
        </p:nvSpPr>
        <p:spPr>
          <a:xfrm>
            <a:off x="457200" y="39044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Multiplier = 3.57   →   ΔY ≈ GBP 35.7 bn, provided there is slack in the economy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curriculum lists five fiscal tools, and they differ far more in how fast you can deploy them than in how hard they hit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Capital expenditure is the odd one out: unlike a change in personal or indirect taxes, it can raise the productive potential of the economy, not just current demand.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3 §2 "Fiscal Policy Tools", pp. 92–96; §3 on implementation lags, p. 100.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Indirect taxes can be changed almost the moment they are announced; direct taxes usually need a year of notice; capital projects need a parliament and a planning system.</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240280"/>
                <a:gridCol w="2103120"/>
                <a:gridCol w="1417320"/>
                <a:gridCol w="27432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Fiscal tool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Route to demand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Speed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Main limitation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Current government spending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Direct, full value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Months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Hard to reverse once legislated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Capital expenditure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Direct + supply side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1–3 years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Planning and procurement lags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Transfer payments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Indirect — via MPC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Weeks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Leaks into saving; hard to undo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Direct taxes (income)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Indirect — disposable 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Up to a year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Weak if the cut is saved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Indirect taxes (VAT, excise)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Indirect — via prices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Almost immediate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Regressive; distorts prices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3017520"/>
            <a:ext cx="8503920" cy="1234440"/>
          </a:xfrm>
          <a:prstGeom prst="rect">
            <a:avLst/>
          </a:prstGeom>
          <a:solidFill>
            <a:srgbClr val="FEF0E7"/>
          </a:solidFill>
          <a:ln/>
        </p:spPr>
      </p:sp>
      <p:sp>
        <p:nvSpPr>
          <p:cNvPr id="12" name="Shape 9"/>
          <p:cNvSpPr/>
          <p:nvPr/>
        </p:nvSpPr>
        <p:spPr>
          <a:xfrm>
            <a:off x="320040" y="3017520"/>
            <a:ext cx="73152" cy="1234440"/>
          </a:xfrm>
          <a:prstGeom prst="rect">
            <a:avLst/>
          </a:prstGeom>
          <a:solidFill>
            <a:srgbClr val="E8600A"/>
          </a:solidFill>
          <a:ln/>
        </p:spPr>
      </p:sp>
      <p:sp>
        <p:nvSpPr>
          <p:cNvPr id="13" name="Text 10"/>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THREE IMPLEMENTATION LAGS  ·  RECOGNITION → ACTION → IMPACT</a:t>
            </a:r>
            <a:endParaRPr lang="en-US" sz="1100" dirty="0"/>
          </a:p>
        </p:txBody>
      </p:sp>
      <p:sp>
        <p:nvSpPr>
          <p:cNvPr id="14" name="Text 11"/>
          <p:cNvSpPr txBox="1"/>
          <p:nvPr/>
        </p:nvSpPr>
        <p:spPr>
          <a:xfrm>
            <a:off x="457200" y="3337560"/>
            <a:ext cx="8275320" cy="8686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RECOGNITION lag — the data arrive late and get revised, so it takes time to even see the shock. ACTION lag — legislatures must debate and pass the measure. IMPACT lag — households and firms then take time to respond. Stack the three and discretionary stimulus routinely lands after the shock it was written for has passed, which is the strongest single argument for leaning on automatic stabilizers instead.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Debt is sustainable when real growth outruns the real interest rate on the debt — which is why the interest bill tells you more than the debt stock</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Ricardian equivalence: if households anticipate the taxes needed to repay debt, they save the cut and the multiplier goes to zero.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3 §1 "Deficits and the National Debt", pp. 88–90, Exhibits 7 and 8 (OECD general government data).</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Read the last two columns together. Japan carries 237% of GDP in debt and pays 0.4% of GDP to service it; the US carries half the debt and pays seven times the interest. The rate is the story.</a:t>
            </a:r>
            <a:endParaRPr lang="en-US" sz="1300" dirty="0"/>
          </a:p>
        </p:txBody>
      </p:sp>
      <p:sp>
        <p:nvSpPr>
          <p:cNvPr id="10" name="Shape 8"/>
          <p:cNvSpPr/>
          <p:nvPr/>
        </p:nvSpPr>
        <p:spPr>
          <a:xfrm>
            <a:off x="320040" y="1234440"/>
            <a:ext cx="8503920" cy="658368"/>
          </a:xfrm>
          <a:prstGeom prst="rect">
            <a:avLst/>
          </a:prstGeom>
          <a:solidFill>
            <a:srgbClr val="1B2A4A"/>
          </a:solidFill>
          <a:ln/>
        </p:spPr>
      </p:sp>
      <p:sp>
        <p:nvSpPr>
          <p:cNvPr id="11" name="Text 9"/>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Δ (Debt / GDP)  ≈  (r − g) × (Debt / GDP)  −  Primary surplus / GDP</a:t>
            </a:r>
            <a:endParaRPr lang="en-US" sz="1800" dirty="0"/>
          </a:p>
        </p:txBody>
      </p:sp>
      <p:sp>
        <p:nvSpPr>
          <p:cNvPr id="12" name="Text 10"/>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 = real interest rate on the debt; g = real GDP growth. The curriculum states this verbally: if real growth is below the real rate on the debt, the ratio worsens even while the economy grows.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2286000"/>
          <a:ext cx="8503920" cy="914400"/>
        </p:xfrm>
        <a:graphic>
          <a:graphicData uri="http://schemas.openxmlformats.org/drawingml/2006/table">
            <a:tbl>
              <a:tblPr/>
              <a:tblGrid>
                <a:gridCol w="2011680"/>
                <a:gridCol w="1600200"/>
                <a:gridCol w="1600200"/>
                <a:gridCol w="1280160"/>
                <a:gridCol w="20116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General government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Debt/GDP 1995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Debt/GDP 2015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Δ (p.p.)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Net interest, % GDP 2015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Japan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94.7%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237.4%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+142.7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United States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83.2%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125.3%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+42.1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United Kingdom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111.7%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Germany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54.1%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78.9%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Australia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57.3%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64.1%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OECD average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85.3%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+19.5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Monetary policy</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transmission</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6  ·  Deck 5 of 20  ·  Studio Tonton Gug</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Central banks influence money and credit with three tools — open market operations, the official policy rate, and reserve requirements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MONEY multiplier: how far base money expands into broad money, governed by the reserve requirement. A monetary quantity.
</a:t>
            </a:r>
            <a:pPr indent="0" marL="0">
              <a:buNone/>
            </a:pPr>
            <a:r>
              <a:rPr lang="en-US" sz="1000" dirty="0">
                <a:solidFill>
                  <a:srgbClr val="6B7A8D"/>
                </a:solidFill>
                <a:latin typeface="Calibri" pitchFamily="34" charset="0"/>
                <a:ea typeface="Calibri" pitchFamily="34" charset="-122"/>
                <a:cs typeface="Calibri" pitchFamily="34" charset="-120"/>
              </a:rPr>
              <a:t>² FISCAL multiplier: 1/[1 − c(1 − t)], the output response to a spending change. Same word, unrelated mechanism — do not conflate them.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4 §1 "Monetary Policy Tools and the Monetary Transmission Mechanism", pp. 110–113.</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Open market operations are the day-to-day workhorse. Reserve requirements are barely touched in the US or the euro area — the Bank of England no longer even sets a minimum — but remain an active lever in China.</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377440"/>
                <a:gridCol w="4297680"/>
                <a:gridCol w="1828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Tool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Mechanism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 practice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Open market operations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Buy/sell govt securities to inject or drain reserves; broad money follows via the multiplier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Fed Open Market Desk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Policy / refinancing rate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Rate at which the central bank lends short-term to banks — anchors the front of the curve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BoE Bank Rate, ECB MRO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Reserve requirements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Minimum share of deposits banks must hold — a higher ratio shrinks lending capacity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PBoC RRR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2880360"/>
            <a:ext cx="2743200" cy="1280160"/>
          </a:xfrm>
          <a:prstGeom prst="rect">
            <a:avLst/>
          </a:prstGeom>
          <a:solidFill>
            <a:srgbClr val="FEF0E7"/>
          </a:solidFill>
          <a:ln/>
        </p:spPr>
      </p:sp>
      <p:sp>
        <p:nvSpPr>
          <p:cNvPr id="12" name="Shape 9"/>
          <p:cNvSpPr/>
          <p:nvPr/>
        </p:nvSpPr>
        <p:spPr>
          <a:xfrm>
            <a:off x="320040" y="2880360"/>
            <a:ext cx="73152" cy="1280160"/>
          </a:xfrm>
          <a:prstGeom prst="rect">
            <a:avLst/>
          </a:prstGeom>
          <a:solidFill>
            <a:srgbClr val="E8600A"/>
          </a:solidFill>
          <a:ln/>
        </p:spPr>
      </p:sp>
      <p:sp>
        <p:nvSpPr>
          <p:cNvPr id="13" name="Text 10"/>
          <p:cNvSpPr txBox="1"/>
          <p:nvPr/>
        </p:nvSpPr>
        <p:spPr>
          <a:xfrm>
            <a:off x="457200" y="292608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BEYOND THE THREE  ·  QE</a:t>
            </a:r>
            <a:endParaRPr lang="en-US" sz="1100" dirty="0"/>
          </a:p>
        </p:txBody>
      </p:sp>
      <p:sp>
        <p:nvSpPr>
          <p:cNvPr id="14" name="Text 11"/>
          <p:cNvSpPr txBox="1"/>
          <p:nvPr/>
        </p:nvSpPr>
        <p:spPr>
          <a:xfrm>
            <a:off x="457200" y="3200400"/>
            <a:ext cx="251460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Large-scale asset purchases push down long rates once the policy rate is at its floor. Balance sheets at the Fed, ECB and BoJ expanded several-fold after 2008.</a:t>
            </a:r>
            <a:endParaRPr lang="en-US" sz="1200" dirty="0"/>
          </a:p>
        </p:txBody>
      </p:sp>
      <p:sp>
        <p:nvSpPr>
          <p:cNvPr id="15" name="Shape 12"/>
          <p:cNvSpPr/>
          <p:nvPr/>
        </p:nvSpPr>
        <p:spPr>
          <a:xfrm>
            <a:off x="3200400" y="2880360"/>
            <a:ext cx="2743200" cy="1280160"/>
          </a:xfrm>
          <a:prstGeom prst="rect">
            <a:avLst/>
          </a:prstGeom>
          <a:solidFill>
            <a:srgbClr val="F5F7FA"/>
          </a:solidFill>
          <a:ln/>
        </p:spPr>
      </p:sp>
      <p:sp>
        <p:nvSpPr>
          <p:cNvPr id="16" name="Shape 13"/>
          <p:cNvSpPr/>
          <p:nvPr/>
        </p:nvSpPr>
        <p:spPr>
          <a:xfrm>
            <a:off x="3200400" y="2880360"/>
            <a:ext cx="73152" cy="1280160"/>
          </a:xfrm>
          <a:prstGeom prst="rect">
            <a:avLst/>
          </a:prstGeom>
          <a:solidFill>
            <a:srgbClr val="1B2A4A"/>
          </a:solidFill>
          <a:ln/>
        </p:spPr>
      </p:sp>
      <p:sp>
        <p:nvSpPr>
          <p:cNvPr id="17" name="Text 14"/>
          <p:cNvSpPr txBox="1"/>
          <p:nvPr/>
        </p:nvSpPr>
        <p:spPr>
          <a:xfrm>
            <a:off x="3337560" y="292608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BEYOND THE THREE  ·  NEGATIVE RATES</a:t>
            </a:r>
            <a:endParaRPr lang="en-US" sz="1100" dirty="0"/>
          </a:p>
        </p:txBody>
      </p:sp>
      <p:sp>
        <p:nvSpPr>
          <p:cNvPr id="18" name="Text 15"/>
          <p:cNvSpPr txBox="1"/>
          <p:nvPr/>
        </p:nvSpPr>
        <p:spPr>
          <a:xfrm>
            <a:off x="3337560" y="3200400"/>
            <a:ext cx="251460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ECB (2014–22) and BoJ (2016–24) charged banks on excess reserves. Effective at the margin, corrosive for bank margins if held too long.</a:t>
            </a:r>
            <a:endParaRPr lang="en-US" sz="1200" dirty="0"/>
          </a:p>
        </p:txBody>
      </p:sp>
      <p:sp>
        <p:nvSpPr>
          <p:cNvPr id="19" name="Shape 16"/>
          <p:cNvSpPr/>
          <p:nvPr/>
        </p:nvSpPr>
        <p:spPr>
          <a:xfrm>
            <a:off x="6080760" y="2880360"/>
            <a:ext cx="2743200" cy="1280160"/>
          </a:xfrm>
          <a:prstGeom prst="rect">
            <a:avLst/>
          </a:prstGeom>
          <a:solidFill>
            <a:srgbClr val="FEF0E7"/>
          </a:solidFill>
          <a:ln/>
        </p:spPr>
      </p:sp>
      <p:sp>
        <p:nvSpPr>
          <p:cNvPr id="20" name="Shape 17"/>
          <p:cNvSpPr/>
          <p:nvPr/>
        </p:nvSpPr>
        <p:spPr>
          <a:xfrm>
            <a:off x="6080760" y="2880360"/>
            <a:ext cx="73152" cy="1280160"/>
          </a:xfrm>
          <a:prstGeom prst="rect">
            <a:avLst/>
          </a:prstGeom>
          <a:solidFill>
            <a:srgbClr val="E8600A"/>
          </a:solidFill>
          <a:ln/>
        </p:spPr>
      </p:sp>
      <p:sp>
        <p:nvSpPr>
          <p:cNvPr id="21" name="Text 18"/>
          <p:cNvSpPr txBox="1"/>
          <p:nvPr/>
        </p:nvSpPr>
        <p:spPr>
          <a:xfrm>
            <a:off x="6217920" y="292608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BEYOND THE THREE  ·  GUIDANCE</a:t>
            </a:r>
            <a:endParaRPr lang="en-US" sz="1100" dirty="0"/>
          </a:p>
        </p:txBody>
      </p:sp>
      <p:sp>
        <p:nvSpPr>
          <p:cNvPr id="22" name="Text 19"/>
          <p:cNvSpPr txBox="1"/>
          <p:nvPr/>
        </p:nvSpPr>
        <p:spPr>
          <a:xfrm>
            <a:off x="6217920" y="3200400"/>
            <a:ext cx="251460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“Rates stay here until inflation is durably at target.” Moves the expected path without moving today’s rate — it works only if the bank is believed.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policy rate reaches the real economy through four interconnected channels — short rates, asset prices, the exchange rate, and expectations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4 §1, Exhibit 3 "A Stylized Representation of the Monetary Transmission Mechanism" (after the Bank of England), pp. 113–114.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stresses these are interconnected, not parallel — and that full transmission takes many months. That lag is precisely why central banks must act on forecast inflation, never on realized inflation.</a:t>
            </a:r>
            <a:endParaRPr lang="en-US" sz="1300" dirty="0"/>
          </a:p>
        </p:txBody>
      </p:sp>
      <p:sp>
        <p:nvSpPr>
          <p:cNvPr id="9" name="Shape 7"/>
          <p:cNvSpPr/>
          <p:nvPr/>
        </p:nvSpPr>
        <p:spPr>
          <a:xfrm>
            <a:off x="320040" y="1188720"/>
            <a:ext cx="8503920" cy="658368"/>
          </a:xfrm>
          <a:prstGeom prst="rect">
            <a:avLst/>
          </a:prstGeom>
          <a:solidFill>
            <a:srgbClr val="FFFFFF"/>
          </a:solidFill>
          <a:ln/>
        </p:spPr>
      </p:sp>
      <p:sp>
        <p:nvSpPr>
          <p:cNvPr id="10" name="Shape 8"/>
          <p:cNvSpPr/>
          <p:nvPr/>
        </p:nvSpPr>
        <p:spPr>
          <a:xfrm>
            <a:off x="320040" y="1188720"/>
            <a:ext cx="91440" cy="658368"/>
          </a:xfrm>
          <a:prstGeom prst="rect">
            <a:avLst/>
          </a:prstGeom>
          <a:solidFill>
            <a:srgbClr val="E8600A"/>
          </a:solidFill>
          <a:ln/>
        </p:spPr>
      </p:sp>
      <p:sp>
        <p:nvSpPr>
          <p:cNvPr id="11" name="Text 9"/>
          <p:cNvSpPr txBox="1"/>
          <p:nvPr/>
        </p:nvSpPr>
        <p:spPr>
          <a:xfrm>
            <a:off x="502920" y="1188720"/>
            <a:ext cx="365760" cy="6583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2" name="Text 10"/>
          <p:cNvSpPr txBox="1"/>
          <p:nvPr/>
        </p:nvSpPr>
        <p:spPr>
          <a:xfrm>
            <a:off x="868680" y="1225296"/>
            <a:ext cx="7863840" cy="29626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Short-term interest rates</a:t>
            </a:r>
            <a:endParaRPr lang="en-US" sz="1200" dirty="0"/>
          </a:p>
        </p:txBody>
      </p:sp>
      <p:sp>
        <p:nvSpPr>
          <p:cNvPr id="13" name="Text 11"/>
          <p:cNvSpPr txBox="1"/>
          <p:nvPr/>
        </p:nvSpPr>
        <p:spPr>
          <a:xfrm>
            <a:off x="868680" y="1484986"/>
            <a:ext cx="7863840" cy="3621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Policy rate → interbank and bank base rates → household and corporate borrowing costs → consumption and investment. The most direct leg, and the fastest.</a:t>
            </a:r>
            <a:endParaRPr lang="en-US" sz="1200" dirty="0"/>
          </a:p>
        </p:txBody>
      </p:sp>
      <p:sp>
        <p:nvSpPr>
          <p:cNvPr id="14" name="Shape 12"/>
          <p:cNvSpPr/>
          <p:nvPr/>
        </p:nvSpPr>
        <p:spPr>
          <a:xfrm>
            <a:off x="320040" y="1920240"/>
            <a:ext cx="8503920" cy="658368"/>
          </a:xfrm>
          <a:prstGeom prst="rect">
            <a:avLst/>
          </a:prstGeom>
          <a:solidFill>
            <a:srgbClr val="F5F7FA"/>
          </a:solidFill>
          <a:ln/>
        </p:spPr>
      </p:sp>
      <p:sp>
        <p:nvSpPr>
          <p:cNvPr id="15" name="Shape 13"/>
          <p:cNvSpPr/>
          <p:nvPr/>
        </p:nvSpPr>
        <p:spPr>
          <a:xfrm>
            <a:off x="320040" y="1920240"/>
            <a:ext cx="91440" cy="658368"/>
          </a:xfrm>
          <a:prstGeom prst="rect">
            <a:avLst/>
          </a:prstGeom>
          <a:solidFill>
            <a:srgbClr val="E8600A"/>
          </a:solidFill>
          <a:ln/>
        </p:spPr>
      </p:sp>
      <p:sp>
        <p:nvSpPr>
          <p:cNvPr id="16" name="Text 14"/>
          <p:cNvSpPr txBox="1"/>
          <p:nvPr/>
        </p:nvSpPr>
        <p:spPr>
          <a:xfrm>
            <a:off x="502920" y="1920240"/>
            <a:ext cx="365760" cy="6583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7" name="Text 15"/>
          <p:cNvSpPr txBox="1"/>
          <p:nvPr/>
        </p:nvSpPr>
        <p:spPr>
          <a:xfrm>
            <a:off x="868680" y="1956816"/>
            <a:ext cx="7863840" cy="29626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Asset prices</a:t>
            </a:r>
            <a:endParaRPr lang="en-US" sz="1200" dirty="0"/>
          </a:p>
        </p:txBody>
      </p:sp>
      <p:sp>
        <p:nvSpPr>
          <p:cNvPr id="18" name="Text 16"/>
          <p:cNvSpPr txBox="1"/>
          <p:nvPr/>
        </p:nvSpPr>
        <p:spPr>
          <a:xfrm>
            <a:off x="868680" y="2216506"/>
            <a:ext cx="7863840" cy="3621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higher discount rate lowers bond, equity and real-estate prices and the value of capital projects. Falling wealth then feeds back into consumption growth.</a:t>
            </a:r>
            <a:endParaRPr lang="en-US" sz="1200" dirty="0"/>
          </a:p>
        </p:txBody>
      </p:sp>
      <p:sp>
        <p:nvSpPr>
          <p:cNvPr id="19" name="Shape 17"/>
          <p:cNvSpPr/>
          <p:nvPr/>
        </p:nvSpPr>
        <p:spPr>
          <a:xfrm>
            <a:off x="320040" y="2651760"/>
            <a:ext cx="8503920" cy="658368"/>
          </a:xfrm>
          <a:prstGeom prst="rect">
            <a:avLst/>
          </a:prstGeom>
          <a:solidFill>
            <a:srgbClr val="FFFFFF"/>
          </a:solidFill>
          <a:ln/>
        </p:spPr>
      </p:sp>
      <p:sp>
        <p:nvSpPr>
          <p:cNvPr id="20" name="Shape 18"/>
          <p:cNvSpPr/>
          <p:nvPr/>
        </p:nvSpPr>
        <p:spPr>
          <a:xfrm>
            <a:off x="320040" y="2651760"/>
            <a:ext cx="91440" cy="658368"/>
          </a:xfrm>
          <a:prstGeom prst="rect">
            <a:avLst/>
          </a:prstGeom>
          <a:solidFill>
            <a:srgbClr val="E8600A"/>
          </a:solidFill>
          <a:ln/>
        </p:spPr>
      </p:sp>
      <p:sp>
        <p:nvSpPr>
          <p:cNvPr id="21" name="Text 19"/>
          <p:cNvSpPr txBox="1"/>
          <p:nvPr/>
        </p:nvSpPr>
        <p:spPr>
          <a:xfrm>
            <a:off x="502920" y="2651760"/>
            <a:ext cx="365760" cy="6583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2" name="Text 20"/>
          <p:cNvSpPr txBox="1"/>
          <p:nvPr/>
        </p:nvSpPr>
        <p:spPr>
          <a:xfrm>
            <a:off x="868680" y="2688336"/>
            <a:ext cx="7863840" cy="29626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Exchange rate</a:t>
            </a:r>
            <a:endParaRPr lang="en-US" sz="1200" dirty="0"/>
          </a:p>
        </p:txBody>
      </p:sp>
      <p:sp>
        <p:nvSpPr>
          <p:cNvPr id="23" name="Text 21"/>
          <p:cNvSpPr txBox="1"/>
          <p:nvPr/>
        </p:nvSpPr>
        <p:spPr>
          <a:xfrm>
            <a:off x="868680" y="2948026"/>
            <a:ext cx="7863840" cy="3621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higher domestic rate tends to appreciate the currency: exports get dearer abroad, imports cheaper at home — so import prices pull measured inflation down.</a:t>
            </a:r>
            <a:endParaRPr lang="en-US" sz="1200" dirty="0"/>
          </a:p>
        </p:txBody>
      </p:sp>
      <p:sp>
        <p:nvSpPr>
          <p:cNvPr id="24" name="Shape 22"/>
          <p:cNvSpPr/>
          <p:nvPr/>
        </p:nvSpPr>
        <p:spPr>
          <a:xfrm>
            <a:off x="320040" y="3383280"/>
            <a:ext cx="8503920" cy="658368"/>
          </a:xfrm>
          <a:prstGeom prst="rect">
            <a:avLst/>
          </a:prstGeom>
          <a:solidFill>
            <a:srgbClr val="F5F7FA"/>
          </a:solidFill>
          <a:ln/>
        </p:spPr>
      </p:sp>
      <p:sp>
        <p:nvSpPr>
          <p:cNvPr id="25" name="Shape 23"/>
          <p:cNvSpPr/>
          <p:nvPr/>
        </p:nvSpPr>
        <p:spPr>
          <a:xfrm>
            <a:off x="320040" y="3383280"/>
            <a:ext cx="91440" cy="658368"/>
          </a:xfrm>
          <a:prstGeom prst="rect">
            <a:avLst/>
          </a:prstGeom>
          <a:solidFill>
            <a:srgbClr val="E8600A"/>
          </a:solidFill>
          <a:ln/>
        </p:spPr>
      </p:sp>
      <p:sp>
        <p:nvSpPr>
          <p:cNvPr id="26" name="Text 24"/>
          <p:cNvSpPr txBox="1"/>
          <p:nvPr/>
        </p:nvSpPr>
        <p:spPr>
          <a:xfrm>
            <a:off x="502920" y="3383280"/>
            <a:ext cx="365760" cy="6583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7" name="Text 25"/>
          <p:cNvSpPr txBox="1"/>
          <p:nvPr/>
        </p:nvSpPr>
        <p:spPr>
          <a:xfrm>
            <a:off x="868680" y="3419856"/>
            <a:ext cx="7863840" cy="29626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Expectations / confidence</a:t>
            </a:r>
            <a:endParaRPr lang="en-US" sz="1200" dirty="0"/>
          </a:p>
        </p:txBody>
      </p:sp>
      <p:sp>
        <p:nvSpPr>
          <p:cNvPr id="28" name="Text 26"/>
          <p:cNvSpPr txBox="1"/>
          <p:nvPr/>
        </p:nvSpPr>
        <p:spPr>
          <a:xfrm>
            <a:off x="868680" y="3679546"/>
            <a:ext cx="7863840" cy="3621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Firms and households extrapolate. If the market reads one hike as the start of a series, borrowing and asset prices adjust before any further move is made.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Inflation targeting anchors expectations by committing the central bank to a public numerical goal — and the curriculum names only two major holdouts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4 §2 "Monetary Policy Objectives", pp. 116–120, Exhibits 4 and 5. Fed and BoJ are the curriculum’s two stated exceptions.</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New Zealand pioneered the framework: announced in 1988, given legal force by the Reserve Bank of New Zealand Act 1989, with an original range of 0–2%. Chile, Canada, Israel and the UK had copied it within three years.</a:t>
            </a:r>
            <a:endParaRPr lang="en-US" sz="1300" dirty="0"/>
          </a:p>
        </p:txBody>
      </p:sp>
      <p:sp>
        <p:nvSpPr>
          <p:cNvPr id="9" name="Shape 7"/>
          <p:cNvSpPr/>
          <p:nvPr/>
        </p:nvSpPr>
        <p:spPr>
          <a:xfrm>
            <a:off x="320040" y="1170432"/>
            <a:ext cx="4160520" cy="1554480"/>
          </a:xfrm>
          <a:prstGeom prst="rect">
            <a:avLst/>
          </a:prstGeom>
          <a:solidFill>
            <a:srgbClr val="FEF0E7"/>
          </a:solidFill>
          <a:ln/>
        </p:spPr>
      </p:sp>
      <p:sp>
        <p:nvSpPr>
          <p:cNvPr id="10" name="Shape 8"/>
          <p:cNvSpPr/>
          <p:nvPr/>
        </p:nvSpPr>
        <p:spPr>
          <a:xfrm>
            <a:off x="320040" y="1170432"/>
            <a:ext cx="73152" cy="1554480"/>
          </a:xfrm>
          <a:prstGeom prst="rect">
            <a:avLst/>
          </a:prstGeom>
          <a:solidFill>
            <a:srgbClr val="E8600A"/>
          </a:solidFill>
          <a:ln/>
        </p:spPr>
      </p:sp>
      <p:sp>
        <p:nvSpPr>
          <p:cNvPr id="11" name="Text 9"/>
          <p:cNvSpPr txBox="1"/>
          <p:nvPr/>
        </p:nvSpPr>
        <p:spPr>
          <a:xfrm>
            <a:off x="457200" y="121615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2%  ·  NOT 0%</a:t>
            </a:r>
            <a:endParaRPr lang="en-US" sz="1100" dirty="0"/>
          </a:p>
        </p:txBody>
      </p:sp>
      <p:sp>
        <p:nvSpPr>
          <p:cNvPr id="12" name="Text 10"/>
          <p:cNvSpPr txBox="1"/>
          <p:nvPr/>
        </p:nvSpPr>
        <p:spPr>
          <a:xfrm>
            <a:off x="457200" y="1490472"/>
            <a:ext cx="3931920" cy="1188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Aiming at zero risks overshooting into deflation, which monetary policy handles badly. A small positive target buys a buffer, lets real wages fall without nominal cuts, and keeps the nominal rate off its floor. Banks are normally allowed roughly ±1 p.p. around the central number.</a:t>
            </a:r>
            <a:endParaRPr lang="en-US" sz="1200" dirty="0"/>
          </a:p>
        </p:txBody>
      </p:sp>
      <p:sp>
        <p:nvSpPr>
          <p:cNvPr id="13" name="Shape 11"/>
          <p:cNvSpPr/>
          <p:nvPr/>
        </p:nvSpPr>
        <p:spPr>
          <a:xfrm>
            <a:off x="4663440" y="1170432"/>
            <a:ext cx="4160520" cy="1554480"/>
          </a:xfrm>
          <a:prstGeom prst="rect">
            <a:avLst/>
          </a:prstGeom>
          <a:solidFill>
            <a:srgbClr val="F5F7FA"/>
          </a:solidFill>
          <a:ln/>
        </p:spPr>
      </p:sp>
      <p:sp>
        <p:nvSpPr>
          <p:cNvPr id="14" name="Shape 12"/>
          <p:cNvSpPr/>
          <p:nvPr/>
        </p:nvSpPr>
        <p:spPr>
          <a:xfrm>
            <a:off x="4663440" y="1170432"/>
            <a:ext cx="73152" cy="1554480"/>
          </a:xfrm>
          <a:prstGeom prst="rect">
            <a:avLst/>
          </a:prstGeom>
          <a:solidFill>
            <a:srgbClr val="1B2A4A"/>
          </a:solidFill>
          <a:ln/>
        </p:spPr>
      </p:sp>
      <p:sp>
        <p:nvSpPr>
          <p:cNvPr id="15" name="Text 13"/>
          <p:cNvSpPr txBox="1"/>
          <p:nvPr/>
        </p:nvSpPr>
        <p:spPr>
          <a:xfrm>
            <a:off x="4800600" y="121615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THREE PILLARS  ·  CURRICULUM LIST</a:t>
            </a:r>
            <a:endParaRPr lang="en-US" sz="1100" dirty="0"/>
          </a:p>
        </p:txBody>
      </p:sp>
      <p:sp>
        <p:nvSpPr>
          <p:cNvPr id="16" name="Text 14"/>
          <p:cNvSpPr txBox="1"/>
          <p:nvPr/>
        </p:nvSpPr>
        <p:spPr>
          <a:xfrm>
            <a:off x="4800600" y="1490472"/>
            <a:ext cx="3931920" cy="1188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success of an inflation-targeting regime is said to rest on exactly three things: INDEPENDENCE (free to set rates), CREDIBILITY (the market believes the target will be hit), and TRANSPARENCY (decisions explained and the bank held accountable). Lose any one and the expectations channel stops working.</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2880360"/>
          <a:ext cx="8503920" cy="914400"/>
        </p:xfrm>
        <a:graphic>
          <a:graphicData uri="http://schemas.openxmlformats.org/drawingml/2006/table">
            <a:tbl>
              <a:tblPr/>
              <a:tblGrid>
                <a:gridCol w="2194560"/>
                <a:gridCol w="4114800"/>
                <a:gridCol w="2194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Central bank</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Target as stated in the curriculum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Framework</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RBNZ (pioneer, 1989)</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1%–3% CPI, focused on an average near 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Formal target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Bank of England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 CPI within ±1.0 percentage point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Formal target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ECB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CPI close to, but below, a ceiling of 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Formal target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Bank of Japan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 explicit inflation measure targeted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EXCEPTION — deflation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US Federal Reserve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 formal target; statutory dual mandate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EXCEPTION — dual mandate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neutral rate is trend growth plus the inflation target — and a Taylor-type rule adds a response to the inflation and output gaps on top of it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Taylor (1993) puts ACTUAL inflation in the level term plus 0.5 on the gap — total response 1.5. That is the Taylor principle.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4 §2 "The Neutral Rate", pp. 125–126, for the neutral-rate decomposition. The reaction function itself is Taylor (1993) — supplementary, not CFA Level I content.</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Neutral rate = real trend growth + inflation target. Above it policy is contractionary; below it, expansionary. The curriculum is candid that estimating it is more art than science.</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i*  =  r_trend + π  +  0.5 (π − π*)  +  0.5 (y − y*)     ≡     (r_trend + π*)  +  1.5 (π − π*)  +  0.5 (y − y*)</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r_trend = real trend growth; π = observed inflation; π* = target; (y − y*) = output gap as % of potential. The two forms are algebraically identical — the second makes the 1.5 loading on inflation visible.</a:t>
            </a:r>
            <a:endParaRPr lang="en-US" sz="1100" dirty="0"/>
          </a:p>
        </p:txBody>
      </p:sp>
      <p:sp>
        <p:nvSpPr>
          <p:cNvPr id="13" name="Shape 11"/>
          <p:cNvSpPr/>
          <p:nvPr/>
        </p:nvSpPr>
        <p:spPr>
          <a:xfrm>
            <a:off x="320040" y="2377440"/>
            <a:ext cx="8503920" cy="1965960"/>
          </a:xfrm>
          <a:prstGeom prst="rect">
            <a:avLst/>
          </a:prstGeom>
          <a:solidFill>
            <a:srgbClr val="FEF0E7"/>
          </a:solidFill>
          <a:ln w="9525">
            <a:solidFill>
              <a:srgbClr val="E8600A"/>
            </a:solidFill>
            <a:prstDash val="solid"/>
          </a:ln>
        </p:spPr>
      </p:sp>
      <p:sp>
        <p:nvSpPr>
          <p:cNvPr id="14" name="Text 12"/>
          <p:cNvSpPr txBox="1"/>
          <p:nvPr/>
        </p:nvSpPr>
        <p:spPr>
          <a:xfrm>
            <a:off x="457200" y="242316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IMPLIED POLICY RATE — AND THE TRAP IN THE INFLATION WEIGHT</a:t>
            </a:r>
            <a:endParaRPr lang="en-US" sz="1100" dirty="0"/>
          </a:p>
        </p:txBody>
      </p:sp>
      <p:sp>
        <p:nvSpPr>
          <p:cNvPr id="15" name="Text 13"/>
          <p:cNvSpPr txBox="1"/>
          <p:nvPr/>
        </p:nvSpPr>
        <p:spPr>
          <a:xfrm>
            <a:off x="457200" y="271576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Real trend growth 2.5%, inflation target 2.0%, observed inflation 3.0%, output gap +1.0%. What rate does the rule prescribe?</a:t>
            </a:r>
            <a:endParaRPr lang="en-US" sz="1200" dirty="0"/>
          </a:p>
        </p:txBody>
      </p:sp>
      <p:sp>
        <p:nvSpPr>
          <p:cNvPr id="16" name="Text 14"/>
          <p:cNvSpPr txBox="1"/>
          <p:nvPr/>
        </p:nvSpPr>
        <p:spPr>
          <a:xfrm>
            <a:off x="457200" y="322783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Neutral NOMINAL rate = r_trend + π* = 2.5% + 2.0% = 4.5%. This part is straight from the curriculum.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Inflation gap = π − π* = +1.0%, but it is loaded 1.5× (1.0 from the π level term + 0.5 explicit) → +1.5%.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Output gap response = 0.5 × (+1.0%) = +0.5%.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i* = 4.5% + 1.5% + 0.5% = 6.50% — fully 2.0 p.p. above neutral.</a:t>
            </a:r>
            <a:endParaRPr lang="en-US" sz="1050" dirty="0"/>
          </a:p>
        </p:txBody>
      </p:sp>
      <p:sp>
        <p:nvSpPr>
          <p:cNvPr id="17" name="Shape 15"/>
          <p:cNvSpPr/>
          <p:nvPr/>
        </p:nvSpPr>
        <p:spPr>
          <a:xfrm>
            <a:off x="411480" y="3904488"/>
            <a:ext cx="8321040" cy="365760"/>
          </a:xfrm>
          <a:prstGeom prst="rect">
            <a:avLst/>
          </a:prstGeom>
          <a:solidFill>
            <a:srgbClr val="E8600A"/>
          </a:solidFill>
          <a:ln/>
        </p:spPr>
      </p:sp>
      <p:sp>
        <p:nvSpPr>
          <p:cNvPr id="18" name="Text 16"/>
          <p:cNvSpPr txBox="1"/>
          <p:nvPr/>
        </p:nvSpPr>
        <p:spPr>
          <a:xfrm>
            <a:off x="457200" y="39044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Implied rate = 6.50%, i.e. 200 bp above the 4.50% neutral rate — clearly restrictive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Geopolitics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for investors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6  ·  Deck 5 of 20  ·  Studio Tonton Gug</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curriculum frames geopolitics through four archetypes of country behaviour — autarky, hegemony, multilateralism and bilateralism</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5 §1 "State and Non-State Actors", pp. 144–145, and the archetype framework, pp. 167–172.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Cooperation is driven by national interest — military, economic or cultural. It is enforced through three toolkits: national security tools, economic tools and financial tools, each usable cooperatively or not.</a:t>
            </a:r>
            <a:endParaRPr lang="en-US" sz="1300" dirty="0"/>
          </a:p>
        </p:txBody>
      </p:sp>
      <p:sp>
        <p:nvSpPr>
          <p:cNvPr id="9" name="Shape 7"/>
          <p:cNvSpPr/>
          <p:nvPr/>
        </p:nvSpPr>
        <p:spPr>
          <a:xfrm>
            <a:off x="320040" y="1170432"/>
            <a:ext cx="4160520" cy="1417320"/>
          </a:xfrm>
          <a:prstGeom prst="rect">
            <a:avLst/>
          </a:prstGeom>
          <a:solidFill>
            <a:srgbClr val="FEF0E7"/>
          </a:solidFill>
          <a:ln/>
        </p:spPr>
      </p:sp>
      <p:sp>
        <p:nvSpPr>
          <p:cNvPr id="10" name="Shape 8"/>
          <p:cNvSpPr/>
          <p:nvPr/>
        </p:nvSpPr>
        <p:spPr>
          <a:xfrm>
            <a:off x="320040" y="1170432"/>
            <a:ext cx="73152" cy="1417320"/>
          </a:xfrm>
          <a:prstGeom prst="rect">
            <a:avLst/>
          </a:prstGeom>
          <a:solidFill>
            <a:srgbClr val="E8600A"/>
          </a:solidFill>
          <a:ln/>
        </p:spPr>
      </p:sp>
      <p:sp>
        <p:nvSpPr>
          <p:cNvPr id="11" name="Text 9"/>
          <p:cNvSpPr txBox="1"/>
          <p:nvPr/>
        </p:nvSpPr>
        <p:spPr>
          <a:xfrm>
            <a:off x="457200" y="121615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STATE ACTORS</a:t>
            </a:r>
            <a:endParaRPr lang="en-US" sz="1100" dirty="0"/>
          </a:p>
        </p:txBody>
      </p:sp>
      <p:sp>
        <p:nvSpPr>
          <p:cNvPr id="12" name="Text 10"/>
          <p:cNvSpPr txBox="1"/>
          <p:nvPr/>
        </p:nvSpPr>
        <p:spPr>
          <a:xfrm>
            <a:off x="457200" y="1490472"/>
            <a:ext cx="3931920" cy="10515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National governments, political leaders, central banks and finance ministries — they hold formal sovereignty over national security and national resources.</a:t>
            </a:r>
            <a:endParaRPr lang="en-US" sz="1200" dirty="0"/>
          </a:p>
        </p:txBody>
      </p:sp>
      <p:sp>
        <p:nvSpPr>
          <p:cNvPr id="13" name="Shape 11"/>
          <p:cNvSpPr/>
          <p:nvPr/>
        </p:nvSpPr>
        <p:spPr>
          <a:xfrm>
            <a:off x="4663440" y="1170432"/>
            <a:ext cx="4160520" cy="1417320"/>
          </a:xfrm>
          <a:prstGeom prst="rect">
            <a:avLst/>
          </a:prstGeom>
          <a:solidFill>
            <a:srgbClr val="F5F7FA"/>
          </a:solidFill>
          <a:ln/>
        </p:spPr>
      </p:sp>
      <p:sp>
        <p:nvSpPr>
          <p:cNvPr id="14" name="Shape 12"/>
          <p:cNvSpPr/>
          <p:nvPr/>
        </p:nvSpPr>
        <p:spPr>
          <a:xfrm>
            <a:off x="4663440" y="1170432"/>
            <a:ext cx="73152" cy="1417320"/>
          </a:xfrm>
          <a:prstGeom prst="rect">
            <a:avLst/>
          </a:prstGeom>
          <a:solidFill>
            <a:srgbClr val="1B2A4A"/>
          </a:solidFill>
          <a:ln/>
        </p:spPr>
      </p:sp>
      <p:sp>
        <p:nvSpPr>
          <p:cNvPr id="15" name="Text 13"/>
          <p:cNvSpPr txBox="1"/>
          <p:nvPr/>
        </p:nvSpPr>
        <p:spPr>
          <a:xfrm>
            <a:off x="4800600" y="121615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NON-STATE ACTORS</a:t>
            </a:r>
            <a:endParaRPr lang="en-US" sz="1100" dirty="0"/>
          </a:p>
        </p:txBody>
      </p:sp>
      <p:sp>
        <p:nvSpPr>
          <p:cNvPr id="16" name="Text 14"/>
          <p:cNvSpPr txBox="1"/>
          <p:nvPr/>
        </p:nvSpPr>
        <p:spPr>
          <a:xfrm>
            <a:off x="4800600" y="1490472"/>
            <a:ext cx="3931920" cy="10515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NGOs, multinationals, rating agencies, media and influential individuals. No sovereignty and no direct control of national resources — but real influence over flows and standards.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2743200"/>
          <a:ext cx="8503920" cy="914400"/>
        </p:xfrm>
        <a:graphic>
          <a:graphicData uri="http://schemas.openxmlformats.org/drawingml/2006/table">
            <a:tbl>
              <a:tblPr/>
              <a:tblGrid>
                <a:gridCol w="1828800"/>
                <a:gridCol w="4206240"/>
                <a:gridCol w="24688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Archetype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describes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Curriculum examples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Autarky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Self-sufficiency; little external exchange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North Korea, Venezuela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Hegemony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 leader using its weight to control resources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China in technology transfer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Multilateralism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Mutual trade with extensive rules harmonization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Germany, Singapore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Bilateralism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Country-to-country cooperation, deal by deal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Japan, historically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Geopolitical risk splits into three types — event, exogenous and thematic — and each one demands a completely different monitoring cadence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5 §3 "Geopolitical Risk and the Investment Process", pp. 179–181, Exhibits 11–13; Geopolitical Risk Index, p. 187.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Geopolitical Risk Index built by two Federal Reserve Board analysts in 2019 finds that high geopolitical risk depresses investment, employment and equity prices — and that the THREAT of an event has a larger cumulative impact than the event itself.</a:t>
            </a:r>
            <a:endParaRPr lang="en-US" sz="1300" dirty="0"/>
          </a:p>
        </p:txBody>
      </p:sp>
      <p:sp>
        <p:nvSpPr>
          <p:cNvPr id="9" name="Shape 7"/>
          <p:cNvSpPr/>
          <p:nvPr/>
        </p:nvSpPr>
        <p:spPr>
          <a:xfrm>
            <a:off x="320040" y="1170432"/>
            <a:ext cx="2743200" cy="2560320"/>
          </a:xfrm>
          <a:prstGeom prst="rect">
            <a:avLst/>
          </a:prstGeom>
          <a:solidFill>
            <a:srgbClr val="F5F7FA"/>
          </a:solidFill>
          <a:ln/>
        </p:spPr>
      </p:sp>
      <p:sp>
        <p:nvSpPr>
          <p:cNvPr id="10" name="Shape 8"/>
          <p:cNvSpPr/>
          <p:nvPr/>
        </p:nvSpPr>
        <p:spPr>
          <a:xfrm>
            <a:off x="320040" y="1170432"/>
            <a:ext cx="73152" cy="2560320"/>
          </a:xfrm>
          <a:prstGeom prst="rect">
            <a:avLst/>
          </a:prstGeom>
          <a:solidFill>
            <a:srgbClr val="E8600A"/>
          </a:solidFill>
          <a:ln/>
        </p:spPr>
      </p:sp>
      <p:sp>
        <p:nvSpPr>
          <p:cNvPr id="11" name="Text 9"/>
          <p:cNvSpPr txBox="1"/>
          <p:nvPr/>
        </p:nvSpPr>
        <p:spPr>
          <a:xfrm>
            <a:off x="457200" y="1261872"/>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EVENT RISK</a:t>
            </a:r>
            <a:endParaRPr lang="en-US" sz="1100" dirty="0"/>
          </a:p>
        </p:txBody>
      </p:sp>
      <p:sp>
        <p:nvSpPr>
          <p:cNvPr id="12" name="Text 10"/>
          <p:cNvSpPr txBox="1"/>
          <p:nvPr/>
        </p:nvSpPr>
        <p:spPr>
          <a:xfrm>
            <a:off x="457200" y="1627632"/>
            <a:ext cx="2468880" cy="201168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Built around set dates, known in advance.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Elections, referenda, new legislation, political anniversaries.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Curriculum case: UK EU referendum, 23 June 2016. GBP −8.1% day one, −11.9% at 30 days, −14.5% after a year.</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Monitor with a political calendar.</a:t>
            </a:r>
            <a:endParaRPr lang="en-US" sz="1100" dirty="0"/>
          </a:p>
        </p:txBody>
      </p:sp>
      <p:sp>
        <p:nvSpPr>
          <p:cNvPr id="13" name="Shape 11"/>
          <p:cNvSpPr/>
          <p:nvPr/>
        </p:nvSpPr>
        <p:spPr>
          <a:xfrm>
            <a:off x="3200400" y="1170432"/>
            <a:ext cx="2743200" cy="2560320"/>
          </a:xfrm>
          <a:prstGeom prst="rect">
            <a:avLst/>
          </a:prstGeom>
          <a:solidFill>
            <a:srgbClr val="F5F7FA"/>
          </a:solidFill>
          <a:ln/>
        </p:spPr>
      </p:sp>
      <p:sp>
        <p:nvSpPr>
          <p:cNvPr id="14" name="Shape 12"/>
          <p:cNvSpPr/>
          <p:nvPr/>
        </p:nvSpPr>
        <p:spPr>
          <a:xfrm>
            <a:off x="3200400" y="1170432"/>
            <a:ext cx="73152" cy="2560320"/>
          </a:xfrm>
          <a:prstGeom prst="rect">
            <a:avLst/>
          </a:prstGeom>
          <a:solidFill>
            <a:srgbClr val="B71C1C"/>
          </a:solidFill>
          <a:ln/>
        </p:spPr>
      </p:sp>
      <p:sp>
        <p:nvSpPr>
          <p:cNvPr id="15" name="Text 13"/>
          <p:cNvSpPr txBox="1"/>
          <p:nvPr/>
        </p:nvSpPr>
        <p:spPr>
          <a:xfrm>
            <a:off x="3337560" y="1261872"/>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EXOGENOUS RISK</a:t>
            </a:r>
            <a:endParaRPr lang="en-US" sz="1100" dirty="0"/>
          </a:p>
        </p:txBody>
      </p:sp>
      <p:sp>
        <p:nvSpPr>
          <p:cNvPr id="16" name="Text 14"/>
          <p:cNvSpPr txBox="1"/>
          <p:nvPr/>
        </p:nvSpPr>
        <p:spPr>
          <a:xfrm>
            <a:off x="3337560" y="1627632"/>
            <a:ext cx="2468880" cy="201168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Sudden and unanticipated.</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Uprisings, invasions, the aftermath of natural disasters.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Curriculum case: Fukushima, 11 March 2011. Nikkei −6.2% day one, and down to −20.4% by late November.</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Monitor with scenarios and hedging overlays.</a:t>
            </a:r>
            <a:endParaRPr lang="en-US" sz="1100" dirty="0"/>
          </a:p>
        </p:txBody>
      </p:sp>
      <p:sp>
        <p:nvSpPr>
          <p:cNvPr id="17" name="Shape 15"/>
          <p:cNvSpPr/>
          <p:nvPr/>
        </p:nvSpPr>
        <p:spPr>
          <a:xfrm>
            <a:off x="6080760" y="1170432"/>
            <a:ext cx="2743200" cy="2560320"/>
          </a:xfrm>
          <a:prstGeom prst="rect">
            <a:avLst/>
          </a:prstGeom>
          <a:solidFill>
            <a:srgbClr val="F5F7FA"/>
          </a:solidFill>
          <a:ln/>
        </p:spPr>
      </p:sp>
      <p:sp>
        <p:nvSpPr>
          <p:cNvPr id="18" name="Shape 16"/>
          <p:cNvSpPr/>
          <p:nvPr/>
        </p:nvSpPr>
        <p:spPr>
          <a:xfrm>
            <a:off x="6080760" y="1170432"/>
            <a:ext cx="73152" cy="2560320"/>
          </a:xfrm>
          <a:prstGeom prst="rect">
            <a:avLst/>
          </a:prstGeom>
          <a:solidFill>
            <a:srgbClr val="1B2A4A"/>
          </a:solidFill>
          <a:ln/>
        </p:spPr>
      </p:sp>
      <p:sp>
        <p:nvSpPr>
          <p:cNvPr id="19" name="Text 17"/>
          <p:cNvSpPr txBox="1"/>
          <p:nvPr/>
        </p:nvSpPr>
        <p:spPr>
          <a:xfrm>
            <a:off x="6217920" y="1261872"/>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THEMATIC RISK</a:t>
            </a:r>
            <a:endParaRPr lang="en-US" sz="1100" dirty="0"/>
          </a:p>
        </p:txBody>
      </p:sp>
      <p:sp>
        <p:nvSpPr>
          <p:cNvPr id="20" name="Text 18"/>
          <p:cNvSpPr txBox="1"/>
          <p:nvPr/>
        </p:nvSpPr>
        <p:spPr>
          <a:xfrm>
            <a:off x="6217920" y="1627632"/>
            <a:ext cx="2468880" cy="201168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Known, slow-moving, expanding over time.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Climate change, migration patterns, the rise of populism, terrorism, cyber threats.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No single date to trade around — the risk is a drift in the operating environment.</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Monitor at strategic-review cadence.</a:t>
            </a:r>
            <a:endParaRPr lang="en-US" sz="1100" dirty="0"/>
          </a:p>
        </p:txBody>
      </p:sp>
      <p:sp>
        <p:nvSpPr>
          <p:cNvPr id="21" name="Shape 19"/>
          <p:cNvSpPr/>
          <p:nvPr/>
        </p:nvSpPr>
        <p:spPr>
          <a:xfrm>
            <a:off x="320040" y="3840480"/>
            <a:ext cx="8503920" cy="731520"/>
          </a:xfrm>
          <a:prstGeom prst="rect">
            <a:avLst/>
          </a:prstGeom>
          <a:solidFill>
            <a:srgbClr val="FEF0E7"/>
          </a:solidFill>
          <a:ln/>
        </p:spPr>
      </p:sp>
      <p:sp>
        <p:nvSpPr>
          <p:cNvPr id="22" name="Shape 20"/>
          <p:cNvSpPr/>
          <p:nvPr/>
        </p:nvSpPr>
        <p:spPr>
          <a:xfrm>
            <a:off x="320040" y="3840480"/>
            <a:ext cx="73152" cy="731520"/>
          </a:xfrm>
          <a:prstGeom prst="rect">
            <a:avLst/>
          </a:prstGeom>
          <a:solidFill>
            <a:srgbClr val="E8600A"/>
          </a:solidFill>
          <a:ln/>
        </p:spPr>
      </p:sp>
      <p:sp>
        <p:nvSpPr>
          <p:cNvPr id="23" name="Text 21"/>
          <p:cNvSpPr txBox="1"/>
          <p:nvPr/>
        </p:nvSpPr>
        <p:spPr>
          <a:xfrm>
            <a:off x="457200" y="38862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ASSESS EVERY RISK ON THREE AXES  ·  LIKELIHOOD · VELOCITY · SIZE AND NATURE OF IMPACT</a:t>
            </a:r>
            <a:endParaRPr lang="en-US" sz="1100" dirty="0"/>
          </a:p>
        </p:txBody>
      </p:sp>
      <p:sp>
        <p:nvSpPr>
          <p:cNvPr id="24" name="Text 22"/>
          <p:cNvSpPr txBox="1"/>
          <p:nvPr/>
        </p:nvSpPr>
        <p:spPr>
          <a:xfrm>
            <a:off x="457200" y="4160520"/>
            <a:ext cx="8275320" cy="365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Likelihood alone is useless — the curriculum says to weigh it only alongside velocity (how fast it hits the portfolio) and the size and nature of the impact. Because these risks rarely develop in a straight line, the recommended response is scenario building and signposting rather than a single point forecast.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International</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trade &amp; the</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trade balance</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6  ·  Deck 5 of 20  ·  Studio Tonton Gug</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Countries gain by specializing according to comparative advantage — the Ricardian insight is that absolute productivity is beside the point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6 §2 "Benefits and Costs of International Trade", pp. 196–198 (Ricardian and Heckscher–Ohlin models).</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Ricardo explains trade through differences in technology; Heckscher–Ohlin through differences in factor endowments — a country exports the good that uses its abundant factor intensively. Newer models add scale, variety and competition.</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Specialize where your OPPORTUNITY COST is lowest  →  both countries gain</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Opportunity cost of one unit of X in country A = the units of Y that A must give up to make it. Compare opportunity costs ACROSS countries — never compare output levels.</a:t>
            </a:r>
            <a:endParaRPr lang="en-US" sz="1100" dirty="0"/>
          </a:p>
        </p:txBody>
      </p:sp>
      <p:sp>
        <p:nvSpPr>
          <p:cNvPr id="12" name="Shape 10"/>
          <p:cNvSpPr/>
          <p:nvPr/>
        </p:nvSpPr>
        <p:spPr>
          <a:xfrm>
            <a:off x="320040" y="2377440"/>
            <a:ext cx="8503920" cy="1920240"/>
          </a:xfrm>
          <a:prstGeom prst="rect">
            <a:avLst/>
          </a:prstGeom>
          <a:solidFill>
            <a:srgbClr val="FEF0E7"/>
          </a:solidFill>
          <a:ln w="9525">
            <a:solidFill>
              <a:srgbClr val="E8600A"/>
            </a:solidFill>
            <a:prstDash val="solid"/>
          </a:ln>
        </p:spPr>
      </p:sp>
      <p:sp>
        <p:nvSpPr>
          <p:cNvPr id="13" name="Text 11"/>
          <p:cNvSpPr txBox="1"/>
          <p:nvPr/>
        </p:nvSpPr>
        <p:spPr>
          <a:xfrm>
            <a:off x="457200" y="242316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TWO COUNTRIES, TWO GOODS — ABSOLUTE ADVANTAGE IS A RED HERRING</a:t>
            </a:r>
            <a:endParaRPr lang="en-US" sz="1100" dirty="0"/>
          </a:p>
        </p:txBody>
      </p:sp>
      <p:sp>
        <p:nvSpPr>
          <p:cNvPr id="14" name="Text 12"/>
          <p:cNvSpPr txBox="1"/>
          <p:nvPr/>
        </p:nvSpPr>
        <p:spPr>
          <a:xfrm>
            <a:off x="457200" y="271576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Per hour, Home makes 10 cloth OR 5 wine. Foreign makes 4 cloth OR 4 wine. Home is more productive at BOTH goods. Should they still trade?</a:t>
            </a:r>
            <a:endParaRPr lang="en-US" sz="1200" dirty="0"/>
          </a:p>
        </p:txBody>
      </p:sp>
      <p:sp>
        <p:nvSpPr>
          <p:cNvPr id="15" name="Text 13"/>
          <p:cNvSpPr txBox="1"/>
          <p:nvPr/>
        </p:nvSpPr>
        <p:spPr>
          <a:xfrm>
            <a:off x="457200" y="3227832"/>
            <a:ext cx="8229600" cy="55778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Home gives up 0.5 wine per cloth (5/10); Foreign gives up 1.0 wine per cloth (4/4).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Foreign gives up 1.0 cloth per wine (4/4); Home gives up 2.0 cloth per wine (10/5).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Comparative advantage: Home in cloth (0.5 &lt; 1.0), Foreign in wine (1.0 &lt; 2.0).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Any trade price between 0.5 and 1.0 wine per cloth — say 0.75 — leaves both strictly better off than autarky.</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Specialize and trade → combined output rises even though Home is better at everything</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tariff transfers surplus from consumers to producers and to the treasury — but consumers lose more than the other two gain, and the gap is pure deadweight loss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6 §3 "Trade Restrictions", pp. 200–204, Exhibits 1–3; worked Example 1 (South Africa paper), p. 202.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welfare arithmetic: ΔCS = −(A+B+C+D), ΔPS = +A, government revenue = +C, so national welfare = −(B+D). This is the SMALL-COUNTRY case — for a large country able to move the world price, national welfare could actually rise.</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331720"/>
                <a:gridCol w="3977640"/>
                <a:gridCol w="2194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Instrument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Who captures area C (the rent)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Welfare, small country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Tariff</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importing government, as tariff revenue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Falls by (B +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Import quota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Mixed — importer if licences sold, else foreign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Falls by (B + D), or more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Voluntary export restraint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foreign exporter — rent leaves the country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Worse than a tariff</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Export subsidy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EXPORTING country: govt spending rises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Falls (exporter loses)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743200"/>
            <a:ext cx="8503920" cy="1737360"/>
          </a:xfrm>
          <a:prstGeom prst="rect">
            <a:avLst/>
          </a:prstGeom>
          <a:solidFill>
            <a:srgbClr val="FEF0E7"/>
          </a:solidFill>
          <a:ln w="9525">
            <a:solidFill>
              <a:srgbClr val="E8600A"/>
            </a:solidFill>
            <a:prstDash val="solid"/>
          </a:ln>
        </p:spPr>
      </p:sp>
      <p:sp>
        <p:nvSpPr>
          <p:cNvPr id="11" name="Text 8"/>
          <p:cNvSpPr txBox="1"/>
          <p:nvPr/>
        </p:nvSpPr>
        <p:spPr>
          <a:xfrm>
            <a:off x="457200" y="27889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SOUTH AFRICA PAPER — 20% TARIFF, FULL WELFARE DECOMPOSITION</a:t>
            </a:r>
            <a:endParaRPr lang="en-US" sz="1100" dirty="0"/>
          </a:p>
        </p:txBody>
      </p:sp>
      <p:sp>
        <p:nvSpPr>
          <p:cNvPr id="12" name="Text 9"/>
          <p:cNvSpPr txBox="1"/>
          <p:nvPr/>
        </p:nvSpPr>
        <p:spPr>
          <a:xfrm>
            <a:off x="457200" y="30815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World price USD 5.00. Domestic supply 110,000 t, demand 200,000 t → imports 90,000 t. A 20% tariff lifts the domestic price to USD 6.00: supply rises to 130,000 t, demand falls to 170,000 t, imports collapse to 40,000 t.</a:t>
            </a:r>
            <a:endParaRPr lang="en-US" sz="1200" dirty="0"/>
          </a:p>
        </p:txBody>
      </p:sp>
      <p:sp>
        <p:nvSpPr>
          <p:cNvPr id="13" name="Text 10"/>
          <p:cNvSpPr txBox="1"/>
          <p:nvPr/>
        </p:nvSpPr>
        <p:spPr>
          <a:xfrm>
            <a:off x="457200" y="3593592"/>
            <a:ext cx="8229600" cy="3749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ΔCS = −(A+B+C+D) = −[ USD 1 × 170,000 + ½ × USD 1 × 30,000 ] = −USD 185,000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ΔPS = +A = USD 1 × 110,000 + ½ × USD 1 × 20,000 = +USD 120,000   ·   Revenue = +C = USD 1 × 40,000 = +USD 40,000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Deadweight loss = B + D = ½ × 1 × 20,000 + ½ × 1 × 30,000 = USD 25,000</a:t>
            </a:r>
            <a:endParaRPr lang="en-US" sz="1050" dirty="0"/>
          </a:p>
        </p:txBody>
      </p:sp>
      <p:sp>
        <p:nvSpPr>
          <p:cNvPr id="14" name="Shape 11"/>
          <p:cNvSpPr/>
          <p:nvPr/>
        </p:nvSpPr>
        <p:spPr>
          <a:xfrm>
            <a:off x="411480" y="4041648"/>
            <a:ext cx="8321040" cy="365760"/>
          </a:xfrm>
          <a:prstGeom prst="rect">
            <a:avLst/>
          </a:prstGeom>
          <a:solidFill>
            <a:srgbClr val="E8600A"/>
          </a:solidFill>
          <a:ln/>
        </p:spPr>
      </p:sp>
      <p:sp>
        <p:nvSpPr>
          <p:cNvPr id="15" name="Text 12"/>
          <p:cNvSpPr txBox="1"/>
          <p:nvPr/>
        </p:nvSpPr>
        <p:spPr>
          <a:xfrm>
            <a:off x="457200" y="404164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DWL = 185,000 − 120,000 − 40,000 = USD 25,000  (small-country case)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Trading blocs form a ladder of integration — each rung removes one more layer of friction, and the top rung gives up the currency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6 §4 "Types of Trading Blocs", pp. 205–206; trade creation vs trade diversion, p. 206.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Forming a bloc is not automatically welfare-improving. Trade CREATION (cheaper member imports replace costly domestic output) is a gain; trade DIVERSION (member imports replace cheaper non-member imports because of the external tariff) is a loss.</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783080"/>
                <a:gridCol w="4572000"/>
                <a:gridCol w="21488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Bloc 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adds to the rung below</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Curriculum example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Free trade area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Internal barriers removed; own external policy kept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USMCA — US, CA, MX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Customs union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 a COMMON trade policy against non-members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Benelux 1947 → EEC 1958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Common market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 free movement of factors (labour and capital)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MERCOSUR — AR, BR, PY, UY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Economic union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 common institutions and coordinated policy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European Union, from 1993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Monetary union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 a single shared currency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Eurozone — 19 EU members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017520"/>
            <a:ext cx="8503920" cy="1188720"/>
          </a:xfrm>
          <a:prstGeom prst="rect">
            <a:avLst/>
          </a:prstGeom>
          <a:solidFill>
            <a:srgbClr val="FEF0E7"/>
          </a:solidFill>
          <a:ln/>
        </p:spPr>
      </p:sp>
      <p:sp>
        <p:nvSpPr>
          <p:cNvPr id="11" name="Shape 8"/>
          <p:cNvSpPr/>
          <p:nvPr/>
        </p:nvSpPr>
        <p:spPr>
          <a:xfrm>
            <a:off x="320040" y="3017520"/>
            <a:ext cx="73152" cy="1188720"/>
          </a:xfrm>
          <a:prstGeom prst="rect">
            <a:avLst/>
          </a:prstGeom>
          <a:solidFill>
            <a:srgbClr val="E8600A"/>
          </a:solidFill>
          <a:ln/>
        </p:spPr>
      </p:sp>
      <p:sp>
        <p:nvSpPr>
          <p:cNvPr id="12" name="Text 9"/>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TRADE CREATION vs TRADE DIVERSION  ·  THE ONLY WELFARE TEST THAT MATTERS</a:t>
            </a:r>
            <a:endParaRPr lang="en-US" sz="1100" dirty="0"/>
          </a:p>
        </p:txBody>
      </p:sp>
      <p:sp>
        <p:nvSpPr>
          <p:cNvPr id="13" name="Text 10"/>
          <p:cNvSpPr txBox="1"/>
          <p:nvPr/>
        </p:nvSpPr>
        <p:spPr>
          <a:xfrm>
            <a:off x="457200" y="3337560"/>
            <a:ext cx="8275320" cy="822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CREATION: a member’s low-cost output displaces higher-cost domestic production inside the bloc — resources reallocate toward comparative advantage, and welfare rises. DIVERSION: a member’s HIGHER-cost output displaces a cheaper non-member supplier purely because the external tariff makes the efficient supplier look expensive — welfare falls. A customs union is welfare-improving only when creation dominates diversion, which is an empirical question every single time, not a theoretical result.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trade deficit is the accounting mirror of a capital account surplus — and it is capital flows, not trade flows, that move the exchange rate in the short run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Under BPM6 the identity is stated as current account + capital account = financial account, with net errors and omissions closing the gap.
</a:t>
            </a:r>
            <a:pPr indent="0" marL="0">
              <a:buNone/>
            </a:pPr>
            <a:r>
              <a:rPr lang="en-US" sz="1000" dirty="0">
                <a:solidFill>
                  <a:srgbClr val="6B7A8D"/>
                </a:solidFill>
                <a:latin typeface="Calibri" pitchFamily="34" charset="0"/>
                <a:ea typeface="Calibri" pitchFamily="34" charset="-122"/>
                <a:cs typeface="Calibri" pitchFamily="34" charset="-120"/>
              </a:rPr>
              <a:t>² Sign conventions differ across sources — check which side the financial account carries before you net anything to zero.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7 §2 "Exchange Rates and the Trade Balance", pp. 245–246.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country that imports more than it exports must borrow from foreigners or sell them assets. There is no third option — the identity is an accounting fact, not an economic theory.</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X  −  M   =   ( S − I )   +   ( T − G )</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X−M = trade balance; S = private saving; I = investment in plant and equipment; T = taxes net of transfers; G = government spending. A trade surplus therefore requires a fiscal surplus, an excess of private saving over investment, or both.</a:t>
            </a:r>
            <a:endParaRPr lang="en-US" sz="1100" dirty="0"/>
          </a:p>
        </p:txBody>
      </p:sp>
      <p:sp>
        <p:nvSpPr>
          <p:cNvPr id="13" name="Shape 11"/>
          <p:cNvSpPr/>
          <p:nvPr/>
        </p:nvSpPr>
        <p:spPr>
          <a:xfrm>
            <a:off x="320040" y="2331720"/>
            <a:ext cx="2743200" cy="1874520"/>
          </a:xfrm>
          <a:prstGeom prst="rect">
            <a:avLst/>
          </a:prstGeom>
          <a:solidFill>
            <a:srgbClr val="FEF0E7"/>
          </a:solidFill>
          <a:ln/>
        </p:spPr>
      </p:sp>
      <p:sp>
        <p:nvSpPr>
          <p:cNvPr id="14" name="Shape 12"/>
          <p:cNvSpPr/>
          <p:nvPr/>
        </p:nvSpPr>
        <p:spPr>
          <a:xfrm>
            <a:off x="320040" y="2331720"/>
            <a:ext cx="73152" cy="1874520"/>
          </a:xfrm>
          <a:prstGeom prst="rect">
            <a:avLst/>
          </a:prstGeom>
          <a:solidFill>
            <a:srgbClr val="E8600A"/>
          </a:solidFill>
          <a:ln/>
        </p:spPr>
      </p:sp>
      <p:sp>
        <p:nvSpPr>
          <p:cNvPr id="15" name="Text 13"/>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THE IDENTITY SAYS</a:t>
            </a:r>
            <a:endParaRPr lang="en-US" sz="1100" dirty="0"/>
          </a:p>
        </p:txBody>
      </p:sp>
      <p:sp>
        <p:nvSpPr>
          <p:cNvPr id="16" name="Text 14"/>
          <p:cNvSpPr txBox="1"/>
          <p:nvPr/>
        </p:nvSpPr>
        <p:spPr>
          <a:xfrm>
            <a:off x="457200" y="2651760"/>
            <a:ext cx="2514600" cy="1508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trade surplus means the country saves more than enough to fund its own investment; the excess buys financial claims on the rest of the world. A deficit means the reverse — it must run down those claims.</a:t>
            </a:r>
            <a:endParaRPr lang="en-US" sz="1200" dirty="0"/>
          </a:p>
        </p:txBody>
      </p:sp>
      <p:sp>
        <p:nvSpPr>
          <p:cNvPr id="17" name="Shape 15"/>
          <p:cNvSpPr/>
          <p:nvPr/>
        </p:nvSpPr>
        <p:spPr>
          <a:xfrm>
            <a:off x="3200400" y="2331720"/>
            <a:ext cx="2743200" cy="1874520"/>
          </a:xfrm>
          <a:prstGeom prst="rect">
            <a:avLst/>
          </a:prstGeom>
          <a:solidFill>
            <a:srgbClr val="F5F7FA"/>
          </a:solidFill>
          <a:ln/>
        </p:spPr>
      </p:sp>
      <p:sp>
        <p:nvSpPr>
          <p:cNvPr id="18" name="Shape 16"/>
          <p:cNvSpPr/>
          <p:nvPr/>
        </p:nvSpPr>
        <p:spPr>
          <a:xfrm>
            <a:off x="3200400" y="2331720"/>
            <a:ext cx="73152" cy="1874520"/>
          </a:xfrm>
          <a:prstGeom prst="rect">
            <a:avLst/>
          </a:prstGeom>
          <a:solidFill>
            <a:srgbClr val="1B2A4A"/>
          </a:solidFill>
          <a:ln/>
        </p:spPr>
      </p:sp>
      <p:sp>
        <p:nvSpPr>
          <p:cNvPr id="19" name="Text 17"/>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MIRROR IS EXACT</a:t>
            </a:r>
            <a:endParaRPr lang="en-US" sz="1100" dirty="0"/>
          </a:p>
        </p:txBody>
      </p:sp>
      <p:sp>
        <p:nvSpPr>
          <p:cNvPr id="20" name="Text 18"/>
          <p:cNvSpPr txBox="1"/>
          <p:nvPr/>
        </p:nvSpPr>
        <p:spPr>
          <a:xfrm>
            <a:off x="3337560" y="2651760"/>
            <a:ext cx="2514600" cy="1508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trade deficit (surplus) is matched exactly by a capital account surplus (deficit). Anything that moves one moves the other by construction — you cannot analyse the trade balance in isolation.</a:t>
            </a:r>
            <a:endParaRPr lang="en-US" sz="1200" dirty="0"/>
          </a:p>
        </p:txBody>
      </p:sp>
      <p:sp>
        <p:nvSpPr>
          <p:cNvPr id="21" name="Shape 19"/>
          <p:cNvSpPr/>
          <p:nvPr/>
        </p:nvSpPr>
        <p:spPr>
          <a:xfrm>
            <a:off x="6080760" y="2331720"/>
            <a:ext cx="2743200" cy="1874520"/>
          </a:xfrm>
          <a:prstGeom prst="rect">
            <a:avLst/>
          </a:prstGeom>
          <a:solidFill>
            <a:srgbClr val="FEF0E7"/>
          </a:solidFill>
          <a:ln/>
        </p:spPr>
      </p:sp>
      <p:sp>
        <p:nvSpPr>
          <p:cNvPr id="22" name="Shape 20"/>
          <p:cNvSpPr/>
          <p:nvPr/>
        </p:nvSpPr>
        <p:spPr>
          <a:xfrm>
            <a:off x="6080760" y="2331720"/>
            <a:ext cx="73152" cy="1874520"/>
          </a:xfrm>
          <a:prstGeom prst="rect">
            <a:avLst/>
          </a:prstGeom>
          <a:solidFill>
            <a:srgbClr val="E8600A"/>
          </a:solidFill>
          <a:ln/>
        </p:spPr>
      </p:sp>
      <p:sp>
        <p:nvSpPr>
          <p:cNvPr id="23" name="Text 21"/>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ACTUALLY MOVES FX</a:t>
            </a:r>
            <a:endParaRPr lang="en-US" sz="1100" dirty="0"/>
          </a:p>
        </p:txBody>
      </p:sp>
      <p:sp>
        <p:nvSpPr>
          <p:cNvPr id="24" name="Text 22"/>
          <p:cNvSpPr txBox="1"/>
          <p:nvPr/>
        </p:nvSpPr>
        <p:spPr>
          <a:xfrm>
            <a:off x="6217920" y="2651760"/>
            <a:ext cx="2514600" cy="1508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Capital flows, potential and actual, are the primary driver of exchange rates in the short to intermediate term. Trade flows matter only in the long run, once prices and saving decisions have adjusted.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FX market</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structure &amp;</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quoting</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5 of 6  ·  Deck 5 of 20  ·  Studio Tonton Gug</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FX is the largest market in the world, spot is a minority of it, and every one of the top five pairs has the US dollar on one side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7 §2, p. 216 and Exhibits 2–4, pp. 227–228 (BIS Triennial Survey, April 2016). The 2022 BIS survey put daily turnover near USD 7.5tn.</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puts daily turnover at roughly USD 6.6tn for 2019 — ten to fifteen times global fixed income and about fifty times global equities. Note what dominates: FX swaps, which roll and finance positions rather than take a directional view.</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4160520" cy="914400"/>
        </p:xfrm>
        <a:graphic>
          <a:graphicData uri="http://schemas.openxmlformats.org/drawingml/2006/table">
            <a:tbl>
              <a:tblPr/>
              <a:tblGrid>
                <a:gridCol w="2579522"/>
                <a:gridCol w="1580998"/>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Instrument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 of daily turnover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Spot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Outright forwards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FX and currency swaps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FX options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4663440" y="1188720"/>
          <a:ext cx="4160520" cy="914400"/>
        </p:xfrm>
        <a:graphic>
          <a:graphicData uri="http://schemas.openxmlformats.org/drawingml/2006/table">
            <a:tbl>
              <a:tblPr/>
              <a:tblGrid>
                <a:gridCol w="2579522"/>
                <a:gridCol w="1580998"/>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Top-5 pair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Share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USD/EUR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JPY/USD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USD/GBP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USD/AUD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CAD/USD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7"/>
          <p:cNvSpPr/>
          <p:nvPr/>
        </p:nvSpPr>
        <p:spPr>
          <a:xfrm>
            <a:off x="320040" y="2971800"/>
            <a:ext cx="8503920" cy="1325880"/>
          </a:xfrm>
          <a:prstGeom prst="rect">
            <a:avLst/>
          </a:prstGeom>
          <a:solidFill>
            <a:srgbClr val="FEF0E7"/>
          </a:solidFill>
          <a:ln/>
        </p:spPr>
      </p:sp>
      <p:sp>
        <p:nvSpPr>
          <p:cNvPr id="12" name="Shape 8"/>
          <p:cNvSpPr/>
          <p:nvPr/>
        </p:nvSpPr>
        <p:spPr>
          <a:xfrm>
            <a:off x="320040" y="2971800"/>
            <a:ext cx="73152" cy="1325880"/>
          </a:xfrm>
          <a:prstGeom prst="rect">
            <a:avLst/>
          </a:prstGeom>
          <a:solidFill>
            <a:srgbClr val="E8600A"/>
          </a:solidFill>
          <a:ln/>
        </p:spPr>
      </p:sp>
      <p:sp>
        <p:nvSpPr>
          <p:cNvPr id="13" name="Text 9"/>
          <p:cNvSpPr txBox="1"/>
          <p:nvPr/>
        </p:nvSpPr>
        <p:spPr>
          <a:xfrm>
            <a:off x="457200" y="30175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WHO IS ACTUALLY TRADING  ·  SELL SIDE, BUY SIDE, AND THE 8%</a:t>
            </a:r>
            <a:endParaRPr lang="en-US" sz="1100" dirty="0"/>
          </a:p>
        </p:txBody>
      </p:sp>
      <p:sp>
        <p:nvSpPr>
          <p:cNvPr id="14" name="Text 10"/>
          <p:cNvSpPr txBox="1"/>
          <p:nvPr/>
        </p:nvSpPr>
        <p:spPr>
          <a:xfrm>
            <a:off x="457200" y="3291840"/>
            <a:ext cx="82753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SELL SIDE: large money-centre banks acting as market makers, quoting a bid and an offer on the base currency. BUY SIDE: financial clients (real-money funds, leveraged accounts, sovereign wealth funds, central banks) and non-financial clients (corporates, retail, governments). The BIS split of daily flow is interbank 42%, financial clients 51%, non-financial clients 8% — financial-client flow overtook interbank volume for the first time in 2010. So only a small minority of FX turnover is anyone actually paying for goods. London is the largest trading hub, then New York, then Tokyo; liquidity is deepest between roughly 08:00 and 11:30 New York time, when London and New York are both open.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Every FX quote reads A/B: the number of units of A, the PRICE currency, that buys one unit of B, the BASE currency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7 §2 "Exchange Rate Quotations", pp. 229–232, Exhibit 5; percentage-change asymmetry, p. 232.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Hierarchy for the base currency: EUR outranks everything; then GBP where there is no euro; then USD where there is neither. AUD and NZD are the exceptions — they are the base against the dollar (USD/AUD, USD/NZD).</a:t>
            </a:r>
            <a:endParaRPr lang="en-US" sz="1300" dirty="0"/>
          </a:p>
        </p:txBody>
      </p:sp>
      <p:sp>
        <p:nvSpPr>
          <p:cNvPr id="9" name="Shape 7"/>
          <p:cNvSpPr/>
          <p:nvPr/>
        </p:nvSpPr>
        <p:spPr>
          <a:xfrm>
            <a:off x="320040" y="1115568"/>
            <a:ext cx="8503920" cy="603504"/>
          </a:xfrm>
          <a:prstGeom prst="rect">
            <a:avLst/>
          </a:prstGeom>
          <a:solidFill>
            <a:srgbClr val="1B2A4A"/>
          </a:solidFill>
          <a:ln/>
        </p:spPr>
      </p:sp>
      <p:sp>
        <p:nvSpPr>
          <p:cNvPr id="10" name="Text 8"/>
          <p:cNvSpPr txBox="1"/>
          <p:nvPr/>
        </p:nvSpPr>
        <p:spPr>
          <a:xfrm>
            <a:off x="411480" y="1115568"/>
            <a:ext cx="8321040" cy="603504"/>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A / B   =   units of A (PRICE currency)  per  ONE unit of B (BASE currency)</a:t>
            </a:r>
            <a:endParaRPr lang="en-US" sz="1800" dirty="0"/>
          </a:p>
        </p:txBody>
      </p:sp>
      <p:sp>
        <p:nvSpPr>
          <p:cNvPr id="11" name="Text 9"/>
          <p:cNvSpPr txBox="1"/>
          <p:nvPr/>
        </p:nvSpPr>
        <p:spPr>
          <a:xfrm>
            <a:off x="320040" y="174650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The base is always quantity one. Direct quote = your domestic currency is the price currency; indirect = it is the base. Most majors are quoted to 4 decimal places; the yen is the exception, at 2.</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20040" y="2121408"/>
          <a:ext cx="8503920" cy="914400"/>
        </p:xfrm>
        <a:graphic>
          <a:graphicData uri="http://schemas.openxmlformats.org/drawingml/2006/table">
            <a:tbl>
              <a:tblPr/>
              <a:tblGrid>
                <a:gridCol w="2011680"/>
                <a:gridCol w="2194560"/>
                <a:gridCol w="42976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Market name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Actual ratio quoted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How to read it out loud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Euro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USD/EUR = 1.1701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is the base — one euro costs USD 1.1701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Sterling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USD/GBP = 1.3118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GBP is the base — one pound costs USD 1.3118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Dollar–yen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JPY/USD = 111.94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is the base — one dollar costs JPY 111.94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Dollar–Canada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CAD/USD = 1.3020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is the base — one dollar costs CAD 1.3020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Euro–sterling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GBP/EUR = 0.8920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is the base — one euro costs GBP 0.8920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3" name="Shape 10"/>
          <p:cNvSpPr/>
          <p:nvPr/>
        </p:nvSpPr>
        <p:spPr>
          <a:xfrm>
            <a:off x="320040" y="3877056"/>
            <a:ext cx="8503920" cy="731520"/>
          </a:xfrm>
          <a:prstGeom prst="rect">
            <a:avLst/>
          </a:prstGeom>
          <a:solidFill>
            <a:srgbClr val="FEF0E7"/>
          </a:solidFill>
          <a:ln/>
        </p:spPr>
      </p:sp>
      <p:sp>
        <p:nvSpPr>
          <p:cNvPr id="14" name="Shape 11"/>
          <p:cNvSpPr/>
          <p:nvPr/>
        </p:nvSpPr>
        <p:spPr>
          <a:xfrm>
            <a:off x="320040" y="3877056"/>
            <a:ext cx="73152" cy="731520"/>
          </a:xfrm>
          <a:prstGeom prst="rect">
            <a:avLst/>
          </a:prstGeom>
          <a:solidFill>
            <a:srgbClr val="E8600A"/>
          </a:solidFill>
          <a:ln/>
        </p:spPr>
      </p:sp>
      <p:sp>
        <p:nvSpPr>
          <p:cNvPr id="15" name="Text 12"/>
          <p:cNvSpPr txBox="1"/>
          <p:nvPr/>
        </p:nvSpPr>
        <p:spPr>
          <a:xfrm>
            <a:off x="457200" y="3922776"/>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PERCENTAGE MOVES ARE NEVER SYMMETRIC</a:t>
            </a:r>
            <a:endParaRPr lang="en-US" sz="1100" dirty="0"/>
          </a:p>
        </p:txBody>
      </p:sp>
      <p:sp>
        <p:nvSpPr>
          <p:cNvPr id="16" name="Text 13"/>
          <p:cNvSpPr txBox="1"/>
          <p:nvPr/>
        </p:nvSpPr>
        <p:spPr>
          <a:xfrm>
            <a:off x="457200" y="4197096"/>
            <a:ext cx="8275320" cy="365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USD/EUR rising 1.1500 → 1.2000 is a +4.35% appreciation of the EURO (the base). The matching dollar move is 1.1500/1.2000 − 1 = −4.17%, not −4.35%. Mathematically these two can never be equal. Always compute the percentage change on the currency that is the BASE of the quote you were handed — then invert if you were asked about the other one.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two-sided price is always about buying and selling the BASE currency — and inverting a quote swaps the bid and the offer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7 §2 "Exchange Rate Quotations", pp. 229–231; Example 3 (MXN/USD), p. 232.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bank buys the base low and sells it high. The bid is therefore always below the offer — in EVERY quote, in EVERY direction. If your inversion breaks that, you inverted it wrong.</a:t>
            </a:r>
            <a:endParaRPr lang="en-US" sz="1300" dirty="0"/>
          </a:p>
        </p:txBody>
      </p:sp>
      <p:sp>
        <p:nvSpPr>
          <p:cNvPr id="9" name="Shape 7"/>
          <p:cNvSpPr/>
          <p:nvPr/>
        </p:nvSpPr>
        <p:spPr>
          <a:xfrm>
            <a:off x="320040" y="1188720"/>
            <a:ext cx="8503920" cy="1645920"/>
          </a:xfrm>
          <a:prstGeom prst="rect">
            <a:avLst/>
          </a:prstGeom>
          <a:solidFill>
            <a:srgbClr val="FEF0E7"/>
          </a:solidFill>
          <a:ln w="9525">
            <a:solidFill>
              <a:srgbClr val="E8600A"/>
            </a:solidFill>
            <a:prstDash val="solid"/>
          </a:ln>
        </p:spPr>
      </p:sp>
      <p:sp>
        <p:nvSpPr>
          <p:cNvPr id="10" name="Text 8"/>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MXN/USD TWO-SIDED PRICE — AND THE INVERSION TRAP</a:t>
            </a:r>
            <a:endParaRPr lang="en-US" sz="1100" dirty="0"/>
          </a:p>
        </p:txBody>
      </p:sp>
      <p:sp>
        <p:nvSpPr>
          <p:cNvPr id="11" name="Text 9"/>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New York dealer quotes 18.8580 – 18.8600 MXN/USD to a Mexico City client. Interpret it, then produce the inverted USD/MXN two-sided price.</a:t>
            </a:r>
            <a:endParaRPr lang="en-US" sz="1200" dirty="0"/>
          </a:p>
        </p:txBody>
      </p:sp>
      <p:sp>
        <p:nvSpPr>
          <p:cNvPr id="12" name="Text 10"/>
          <p:cNvSpPr txBox="1"/>
          <p:nvPr/>
        </p:nvSpPr>
        <p:spPr>
          <a:xfrm>
            <a:off x="457200" y="2039112"/>
            <a:ext cx="8229600" cy="28346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Base = USD, price = MXN. Both sides of the quote refer to the dealer buying or selling USD.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Dealer BUYS USD at its bid, 18.8580 (client sells USD); dealer SELLS USD at its offer, 18.8600. Spread = 20 pips.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To invert you must FLIP AND CROSS: bid(USD/MXN) = 1 / offer(MXN/USD) = 1/18.8600; offer(USD/MXN) = 1 / bid = 1/18.8580.</a:t>
            </a:r>
            <a:endParaRPr lang="en-US" sz="1050" dirty="0"/>
          </a:p>
        </p:txBody>
      </p:sp>
      <p:sp>
        <p:nvSpPr>
          <p:cNvPr id="13" name="Shape 11"/>
          <p:cNvSpPr/>
          <p:nvPr/>
        </p:nvSpPr>
        <p:spPr>
          <a:xfrm>
            <a:off x="411480" y="2395728"/>
            <a:ext cx="8321040" cy="365760"/>
          </a:xfrm>
          <a:prstGeom prst="rect">
            <a:avLst/>
          </a:prstGeom>
          <a:solidFill>
            <a:srgbClr val="E8600A"/>
          </a:solidFill>
          <a:ln/>
        </p:spPr>
      </p:sp>
      <p:sp>
        <p:nvSpPr>
          <p:cNvPr id="14" name="Text 12"/>
          <p:cNvSpPr txBox="1"/>
          <p:nvPr/>
        </p:nvSpPr>
        <p:spPr>
          <a:xfrm>
            <a:off x="457200" y="23957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USD/MXN = 0.053022 – 0.053028   ·   bid still below offer, as it must be</a:t>
            </a:r>
            <a:endParaRPr lang="en-US" sz="1150" dirty="0"/>
          </a:p>
        </p:txBody>
      </p:sp>
      <p:sp>
        <p:nvSpPr>
          <p:cNvPr id="15" name="Shape 13"/>
          <p:cNvSpPr/>
          <p:nvPr/>
        </p:nvSpPr>
        <p:spPr>
          <a:xfrm>
            <a:off x="320040" y="3017520"/>
            <a:ext cx="8503920" cy="1280160"/>
          </a:xfrm>
          <a:prstGeom prst="rect">
            <a:avLst/>
          </a:prstGeom>
          <a:solidFill>
            <a:srgbClr val="FEF0E7"/>
          </a:solidFill>
          <a:ln/>
        </p:spPr>
      </p:sp>
      <p:sp>
        <p:nvSpPr>
          <p:cNvPr id="16" name="Shape 14"/>
          <p:cNvSpPr/>
          <p:nvPr/>
        </p:nvSpPr>
        <p:spPr>
          <a:xfrm>
            <a:off x="320040" y="3017520"/>
            <a:ext cx="73152" cy="1280160"/>
          </a:xfrm>
          <a:prstGeom prst="rect">
            <a:avLst/>
          </a:prstGeom>
          <a:solidFill>
            <a:srgbClr val="E8600A"/>
          </a:solidFill>
          <a:ln/>
        </p:spPr>
      </p:sp>
      <p:sp>
        <p:nvSpPr>
          <p:cNvPr id="17" name="Text 15"/>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A SPREAD EXISTS AT ALL  ·  THREE FRICTIONS THE DEALER IS PRICING</a:t>
            </a:r>
            <a:endParaRPr lang="en-US" sz="1100" dirty="0"/>
          </a:p>
        </p:txBody>
      </p:sp>
      <p:sp>
        <p:nvSpPr>
          <p:cNvPr id="18" name="Text 16"/>
          <p:cNvSpPr txBox="1"/>
          <p:nvPr/>
        </p:nvSpPr>
        <p:spPr>
          <a:xfrm>
            <a:off x="457200" y="3337560"/>
            <a:ext cx="827532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INVENTORY RISK — the dealer holds the position while looking for the other side, and the market can move meanwhile. ADVERSE SELECTION — better-informed flow picks off a stale quote, so the dealer widens against the risk of being the last to know. OPERATIONAL AND CREDIT COST — settlement, capital, and counterparty lines all have to be paid for. Electronic dealing has compressed major-pair spreads to a fraction of a pip; emerging-market pairs remain an order of magnitude wider, and "spreading the client" is still how a dealer defends a margin.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IMF sorts exchange-rate regimes into eight categories, and where a country sits tells you exactly how much monetary autonomy it has surrendered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7 §3 "The Ideal Currency Regime", p. 233, and Exhibit 6 "A Taxonomy of Currency Regimes" (IMF classification as of 30 April 2008), pp. 237–238.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Regimes are read most-fixed at the top to most-flexible at the bottom. The curriculum warns the boundaries are somewhat arbitrary, they shift over time, and even an "independent float" gets intervened in occasionally.</a:t>
            </a:r>
            <a:endParaRPr lang="en-US" sz="1300" dirty="0"/>
          </a:p>
        </p:txBody>
      </p:sp>
      <p:sp>
        <p:nvSpPr>
          <p:cNvPr id="9" name="Shape 7"/>
          <p:cNvSpPr/>
          <p:nvPr/>
        </p:nvSpPr>
        <p:spPr>
          <a:xfrm>
            <a:off x="320040" y="1097280"/>
            <a:ext cx="8503920" cy="822960"/>
          </a:xfrm>
          <a:prstGeom prst="rect">
            <a:avLst/>
          </a:prstGeom>
          <a:solidFill>
            <a:srgbClr val="FEF0E7"/>
          </a:solidFill>
          <a:ln/>
        </p:spPr>
      </p:sp>
      <p:sp>
        <p:nvSpPr>
          <p:cNvPr id="10" name="Shape 8"/>
          <p:cNvSpPr/>
          <p:nvPr/>
        </p:nvSpPr>
        <p:spPr>
          <a:xfrm>
            <a:off x="320040" y="1097280"/>
            <a:ext cx="73152" cy="822960"/>
          </a:xfrm>
          <a:prstGeom prst="rect">
            <a:avLst/>
          </a:prstGeom>
          <a:solidFill>
            <a:srgbClr val="E8600A"/>
          </a:solidFill>
          <a:ln/>
        </p:spPr>
      </p:sp>
      <p:sp>
        <p:nvSpPr>
          <p:cNvPr id="11" name="Text 9"/>
          <p:cNvSpPr txBox="1"/>
          <p:nvPr/>
        </p:nvSpPr>
        <p:spPr>
          <a:xfrm>
            <a:off x="457200" y="11430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THERE CAN BE NO IDEAL CURRENCY REGIME  ·  PICK TWO OF THREE</a:t>
            </a:r>
            <a:endParaRPr lang="en-US" sz="1100" dirty="0"/>
          </a:p>
        </p:txBody>
      </p:sp>
      <p:sp>
        <p:nvSpPr>
          <p:cNvPr id="12" name="Text 10"/>
          <p:cNvSpPr txBox="1"/>
          <p:nvPr/>
        </p:nvSpPr>
        <p:spPr>
          <a:xfrm>
            <a:off x="457200" y="1417320"/>
            <a:ext cx="827532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ideal regime would need three things at once: exchange rates CREDIBLY FIXED between all currencies, every currency FULLY CONVERTIBLE, and each country free to run an INDEPENDENT MONETARY POLICY for its own domestic objectives. The curriculum is blunt — the third is impossible alongside the first two, because capital simply arbitrages away any rate the central bank tries to set independently. Every real regime below is a choice about which one to give up.</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2011680"/>
          <a:ext cx="8503920" cy="914400"/>
        </p:xfrm>
        <a:graphic>
          <a:graphicData uri="http://schemas.openxmlformats.org/drawingml/2006/table">
            <a:tbl>
              <a:tblPr/>
              <a:tblGrid>
                <a:gridCol w="2331720"/>
                <a:gridCol w="3611880"/>
                <a:gridCol w="25603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IMF regime (fixed → flexible)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means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Curriculum examples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 No separate legal tender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Dollarization, or a shared-currency union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Panama, Ecuador · the EMU</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 · Currency board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 FX reserve backing of the base money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Hong Kong SAR · Bulgaria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 · Fixed parity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Pegged to an anchor, narrow defended band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Saudi Arabia, Qatar, Denmark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 · Target zone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Wider band around a central parity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Slovak Republic (pre-euro)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 · Crawling peg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Parity reset on a pre-announced schedule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Nicaragua · Botswana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6 · Crawling band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Band around a parity that itself moves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China, Croatia, Switzerland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7 · Managed float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Intervention, but no announced target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Malaysia, Russia, Czech Rep.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8 · Independent float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Market-determined; rare intervention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 UK, Japan, Canada, Chile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06</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FX arithmetic</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 cross-rates,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IRP, PPP</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6 of 6  ·  Deck 5 of 20  ·  Studio Tonton Gug</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Real exchange rates deflate the nominal quote by relative price levels — they are an analyst’s index of purchasing power, never a tradeable price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7 §2 "The Foreign Exchange Market and Exchange Rates" — real exchange rates, pp. 218–220.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Stated with the DOMESTIC currency as the price currency, the real exchange rate is simply the real price you face for a foreign basket. The higher it goes, the less your purchasing power abroad. And it is an index — nobody trades it.</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R_d/f  =  S_d/f × ( P_f / P_d )          %ΔR  ≈  %ΔS  +  %ΔP_f  −  %ΔP_d</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S_d/f = nominal spot, domestic per one foreign unit; P_f, P_d = foreign and domestic price levels. The right-hand expression is the additive APPROXIMATION of the exact product form.</a:t>
            </a:r>
            <a:endParaRPr lang="en-US" sz="1100" dirty="0"/>
          </a:p>
        </p:txBody>
      </p:sp>
      <p:sp>
        <p:nvSpPr>
          <p:cNvPr id="12" name="Shape 10"/>
          <p:cNvSpPr/>
          <p:nvPr/>
        </p:nvSpPr>
        <p:spPr>
          <a:xfrm>
            <a:off x="320040" y="2377440"/>
            <a:ext cx="8503920" cy="1920240"/>
          </a:xfrm>
          <a:prstGeom prst="rect">
            <a:avLst/>
          </a:prstGeom>
          <a:solidFill>
            <a:srgbClr val="FEF0E7"/>
          </a:solidFill>
          <a:ln w="9525">
            <a:solidFill>
              <a:srgbClr val="E8600A"/>
            </a:solidFill>
            <a:prstDash val="solid"/>
          </a:ln>
        </p:spPr>
      </p:sp>
      <p:sp>
        <p:nvSpPr>
          <p:cNvPr id="13" name="Text 11"/>
          <p:cNvSpPr txBox="1"/>
          <p:nvPr/>
        </p:nvSpPr>
        <p:spPr>
          <a:xfrm>
            <a:off x="457200" y="242316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 UK CONSUMER BUYING EUROZONE GOODS</a:t>
            </a:r>
            <a:endParaRPr lang="en-US" sz="1100" dirty="0"/>
          </a:p>
        </p:txBody>
      </p:sp>
      <p:sp>
        <p:nvSpPr>
          <p:cNvPr id="14" name="Text 12"/>
          <p:cNvSpPr txBox="1"/>
          <p:nvPr/>
        </p:nvSpPr>
        <p:spPr>
          <a:xfrm>
            <a:off x="457200" y="271576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Over one year the nominal GBP/EUR rate rises 10%, Eurozone prices rise 5%, and UK prices rise 2%. What happens to the real cost of the same Eurozone basket for a UK buyer?</a:t>
            </a:r>
            <a:endParaRPr lang="en-US" sz="1200" dirty="0"/>
          </a:p>
        </p:txBody>
      </p:sp>
      <p:sp>
        <p:nvSpPr>
          <p:cNvPr id="15" name="Text 13"/>
          <p:cNvSpPr txBox="1"/>
          <p:nvPr/>
        </p:nvSpPr>
        <p:spPr>
          <a:xfrm>
            <a:off x="457200" y="3227832"/>
            <a:ext cx="8229600" cy="55778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Note the convention: in GBP/EUR the UK’s own currency is the PRICE currency, not the base. That is what makes the formula work.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Exact: (1 + 0.10) × (1.05 / 1.02) − 1 = +13.24%.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Approximation: +10% + 5% − 2% ≈ +13%. Close, because the cross terms are small at these magnitudes.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A HIGHER real exchange rate means a higher real price for the foreign basket — so UK purchasing power over Eurozone goods FELL by about 13%.</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ΔR ≈ +13% (13.24% exact)  →  UK real purchasing power over EZ goods down ~13%</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cross-rate is built by chaining two dollar quotes so the dollars cancel — and when the dollar sits on the same side of both, you must invert one first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8 §1 "Cross-Rate Calculations", pp. 254–255.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Write the units before you touch the calculator. If the shared currency does not cancel, you are about to get the wrong answer — invert a leg and try again.</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CAD/EUR = (CAD/USD) × (USD/EUR)          JPY/CAD = (CAD/USD)⁻¹ × (JPY/USD)</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Left: USD is the base of one quote and the price of the other, so it cancels directly. Right: USD is the BASE of both quotes, so one must be inverted before anything cancels.</a:t>
            </a:r>
            <a:endParaRPr lang="en-US" sz="1100" dirty="0"/>
          </a:p>
        </p:txBody>
      </p:sp>
      <p:sp>
        <p:nvSpPr>
          <p:cNvPr id="12" name="Shape 10"/>
          <p:cNvSpPr/>
          <p:nvPr/>
        </p:nvSpPr>
        <p:spPr>
          <a:xfrm>
            <a:off x="320040" y="2377440"/>
            <a:ext cx="8503920" cy="1920240"/>
          </a:xfrm>
          <a:prstGeom prst="rect">
            <a:avLst/>
          </a:prstGeom>
          <a:solidFill>
            <a:srgbClr val="FEF0E7"/>
          </a:solidFill>
          <a:ln w="9525">
            <a:solidFill>
              <a:srgbClr val="E8600A"/>
            </a:solidFill>
            <a:prstDash val="solid"/>
          </a:ln>
        </p:spPr>
      </p:sp>
      <p:sp>
        <p:nvSpPr>
          <p:cNvPr id="13" name="Text 11"/>
          <p:cNvSpPr txBox="1"/>
          <p:nvPr/>
        </p:nvSpPr>
        <p:spPr>
          <a:xfrm>
            <a:off x="457200" y="242316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BOTH CASES FROM ONE SET OF QUOTES</a:t>
            </a:r>
            <a:endParaRPr lang="en-US" sz="1100" dirty="0"/>
          </a:p>
        </p:txBody>
      </p:sp>
      <p:sp>
        <p:nvSpPr>
          <p:cNvPr id="14" name="Text 12"/>
          <p:cNvSpPr txBox="1"/>
          <p:nvPr/>
        </p:nvSpPr>
        <p:spPr>
          <a:xfrm>
            <a:off x="457200" y="271576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Market quotes: USD/EUR = 1.1701, CAD/USD = 1.3020, JPY/USD = 111.94. Build the euro–Canada and the Canada–yen crosses.</a:t>
            </a:r>
            <a:endParaRPr lang="en-US" sz="1200" dirty="0"/>
          </a:p>
        </p:txBody>
      </p:sp>
      <p:sp>
        <p:nvSpPr>
          <p:cNvPr id="15" name="Text 13"/>
          <p:cNvSpPr txBox="1"/>
          <p:nvPr/>
        </p:nvSpPr>
        <p:spPr>
          <a:xfrm>
            <a:off x="457200" y="3227832"/>
            <a:ext cx="8229600" cy="55778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CAD/EUR — chain EUR → USD → CAD: one euro buys USD 1.1701, and each of those buys CAD 1.3020.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CAD/EUR = 1.3020 × 1.1701 = 1.5235 CAD per EUR. (CAD)/(USD) × (USD)/(EUR): the USD cancels.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JPY/CAD — USD is the BASE in both quotes, so nothing cancels. Invert one: 1 / 1.3020 = 0.7680 USD/CAD.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JPY/CAD = 0.7680 × 111.94 = 85.97 JPY per CAD.</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CAD/EUR = 1.5235   ·   JPY/CAD = 85.97   (yen to 2 dp, the rest to 4)</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When a dealer’s cross-rate drifts from the chain-implied value, three trades close the triangle and lock in a riskless profit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8 §1 — the JPY/CAD triangular-arbitrage illustration, p. 255, and Practice Problems 1–2, pp. 266–268.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curriculum’s own illustration: chain-implied JPY/CAD of 85.97 against a misquote of 86.20 gives a riskless JPY 0.23 per CAD 1. Buy the currency cheap in one venue, sell it dear in the other, close the triangle.</a:t>
            </a:r>
            <a:endParaRPr lang="en-US" sz="1300" dirty="0"/>
          </a:p>
        </p:txBody>
      </p:sp>
      <p:sp>
        <p:nvSpPr>
          <p:cNvPr id="9" name="Shape 7"/>
          <p:cNvSpPr/>
          <p:nvPr/>
        </p:nvSpPr>
        <p:spPr>
          <a:xfrm>
            <a:off x="320040" y="1188720"/>
            <a:ext cx="8503920" cy="1965960"/>
          </a:xfrm>
          <a:prstGeom prst="rect">
            <a:avLst/>
          </a:prstGeom>
          <a:solidFill>
            <a:srgbClr val="FEF0E7"/>
          </a:solidFill>
          <a:ln w="9525">
            <a:solidFill>
              <a:srgbClr val="E8600A"/>
            </a:solidFill>
            <a:prstDash val="solid"/>
          </a:ln>
        </p:spPr>
      </p:sp>
      <p:sp>
        <p:nvSpPr>
          <p:cNvPr id="10" name="Text 8"/>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PRACTICE PROBLEM — ZAR/SEK ACROSS TWO DEALERS</a:t>
            </a:r>
            <a:endParaRPr lang="en-US" sz="1100" dirty="0"/>
          </a:p>
        </p:txBody>
      </p:sp>
      <p:sp>
        <p:nvSpPr>
          <p:cNvPr id="11" name="Text 9"/>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Dealer A quotes CNY/ZAR = 0.9149 and CNY/SEK = 1.0218. Dealer B quotes the ZAR/SEK cross directly at 1.1210. Construct the trade on SEK 1 million.</a:t>
            </a:r>
            <a:endParaRPr lang="en-US" sz="1200" dirty="0"/>
          </a:p>
        </p:txBody>
      </p:sp>
      <p:sp>
        <p:nvSpPr>
          <p:cNvPr id="12" name="Text 10"/>
          <p:cNvSpPr txBox="1"/>
          <p:nvPr/>
        </p:nvSpPr>
        <p:spPr>
          <a:xfrm>
            <a:off x="457200" y="2039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Chain-implied cross via Dealer A: ZAR/SEK = (CNY/SEK) / (CNY/ZAR) = 1.0218 / 0.9149 = 1.1168.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Dealer B is quoting 1.1210 — higher, so B pays MORE rand for each krona than A charges.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Buy SEK from A: pay ZAR 1,116,800 for SEK 1,000,000. Sell that SEK to B: receive ZAR 1,121,000.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Profit = SEK 1,000,000 × (1.1210 − 1.1168) = ZAR 4,200.</a:t>
            </a:r>
            <a:endParaRPr lang="en-US" sz="1050" dirty="0"/>
          </a:p>
        </p:txBody>
      </p:sp>
      <p:sp>
        <p:nvSpPr>
          <p:cNvPr id="13" name="Shape 11"/>
          <p:cNvSpPr/>
          <p:nvPr/>
        </p:nvSpPr>
        <p:spPr>
          <a:xfrm>
            <a:off x="411480" y="2715768"/>
            <a:ext cx="8321040" cy="365760"/>
          </a:xfrm>
          <a:prstGeom prst="rect">
            <a:avLst/>
          </a:prstGeom>
          <a:solidFill>
            <a:srgbClr val="E8600A"/>
          </a:solidFill>
          <a:ln/>
        </p:spPr>
      </p:sp>
      <p:sp>
        <p:nvSpPr>
          <p:cNvPr id="14" name="Text 12"/>
          <p:cNvSpPr txBox="1"/>
          <p:nvPr/>
        </p:nvSpPr>
        <p:spPr>
          <a:xfrm>
            <a:off x="457200" y="2715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ZAR 4,200 per SEK 1 million traded — riskless, and no capital committed</a:t>
            </a:r>
            <a:endParaRPr lang="en-US" sz="1150" dirty="0"/>
          </a:p>
        </p:txBody>
      </p:sp>
      <p:sp>
        <p:nvSpPr>
          <p:cNvPr id="15" name="Shape 13"/>
          <p:cNvSpPr/>
          <p:nvPr/>
        </p:nvSpPr>
        <p:spPr>
          <a:xfrm>
            <a:off x="320040" y="3337560"/>
            <a:ext cx="8503920" cy="960120"/>
          </a:xfrm>
          <a:prstGeom prst="rect">
            <a:avLst/>
          </a:prstGeom>
          <a:solidFill>
            <a:srgbClr val="FEF0E7"/>
          </a:solidFill>
          <a:ln/>
        </p:spPr>
      </p:sp>
      <p:sp>
        <p:nvSpPr>
          <p:cNvPr id="16" name="Shape 14"/>
          <p:cNvSpPr/>
          <p:nvPr/>
        </p:nvSpPr>
        <p:spPr>
          <a:xfrm>
            <a:off x="320040" y="3337560"/>
            <a:ext cx="73152" cy="960120"/>
          </a:xfrm>
          <a:prstGeom prst="rect">
            <a:avLst/>
          </a:prstGeom>
          <a:solidFill>
            <a:srgbClr val="E8600A"/>
          </a:solidFill>
          <a:ln/>
        </p:spPr>
      </p:sp>
      <p:sp>
        <p:nvSpPr>
          <p:cNvPr id="17" name="Text 15"/>
          <p:cNvSpPr txBox="1"/>
          <p:nvPr/>
        </p:nvSpPr>
        <p:spPr>
          <a:xfrm>
            <a:off x="457200" y="33832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DISTRACTOR TO WATCH  ·  PER MILLION OF WHICH CURRENCY?</a:t>
            </a:r>
            <a:endParaRPr lang="en-US" sz="1100" dirty="0"/>
          </a:p>
        </p:txBody>
      </p:sp>
      <p:sp>
        <p:nvSpPr>
          <p:cNvPr id="18" name="Text 16"/>
          <p:cNvSpPr txBox="1"/>
          <p:nvPr/>
        </p:nvSpPr>
        <p:spPr>
          <a:xfrm>
            <a:off x="457200" y="3657600"/>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profit is ZAR 4,200 per million SEK traded — NOT SEK 4,200, and not per million rand. The rate is quoted in rand per krona, so the notional is in krona and the profit lands in rand. Every one of the wrong answers in the curriculum’s question set is built on getting exactly that pairing backwards. Method, every time: chain the liquid quotes, compare to the direct cross, and trade only if the gap survives round-trip transaction costs.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forward rate is pinned by a no-arbitrage condition between two equivalent investments — this is covered interest rate parity, and it is not a forecast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8 §2 "Forward Rate Calculations" — arbitrage relationships and forward discounts/premiums, pp. 259–264.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Forward points are just (F − S) rescaled to the last decimal of the spot quote: × 10,000 for non-yen majors quoted to 4 dp, × 100 for the yen at 2 dp. Day count on the deposit legs is Actual/360.</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F_f/d = S_f/d × (1 + r_f τ) / (1 + r_d τ)          F_f/d − S_f/d = S_f/d × [ (r_f − r_d) / (1 + r_d τ) ] × τ</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Quoted f/d: units of foreign per ONE domestic unit, so the DOMESTIC currency is the base. τ = actual days / 360. Points are proportional to spot and to the rate differential, and only approximately proportional to tenor.</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20040" y="2286000"/>
          <a:ext cx="8503920" cy="914400"/>
        </p:xfrm>
        <a:graphic>
          <a:graphicData uri="http://schemas.openxmlformats.org/drawingml/2006/table">
            <a:tbl>
              <a:tblPr/>
              <a:tblGrid>
                <a:gridCol w="2697480"/>
                <a:gridCol w="1965960"/>
                <a:gridCol w="38404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Rates (f/d quote: base = 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Forward points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The BASE currency (d) is trading at 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r_f &gt; r_d — base rate is LOWER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Positive:  F &gt; 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PREMIUM — foreign currency at a discount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r_f &lt; r_d — base rate is HIGHER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Negative:  F &lt; 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DISCOUNT — foreign currency at a premium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r_f = r_d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Flat:  F = 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Neither — no interest wedge to arbitrage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3" name="Shape 10"/>
          <p:cNvSpPr/>
          <p:nvPr/>
        </p:nvSpPr>
        <p:spPr>
          <a:xfrm>
            <a:off x="320040" y="3566160"/>
            <a:ext cx="8503920" cy="731520"/>
          </a:xfrm>
          <a:prstGeom prst="rect">
            <a:avLst/>
          </a:prstGeom>
          <a:solidFill>
            <a:srgbClr val="FEF0E7"/>
          </a:solidFill>
          <a:ln/>
        </p:spPr>
      </p:sp>
      <p:sp>
        <p:nvSpPr>
          <p:cNvPr id="14" name="Shape 11"/>
          <p:cNvSpPr/>
          <p:nvPr/>
        </p:nvSpPr>
        <p:spPr>
          <a:xfrm>
            <a:off x="320040" y="3566160"/>
            <a:ext cx="73152" cy="731520"/>
          </a:xfrm>
          <a:prstGeom prst="rect">
            <a:avLst/>
          </a:prstGeom>
          <a:solidFill>
            <a:srgbClr val="E8600A"/>
          </a:solidFill>
          <a:ln/>
        </p:spPr>
      </p:sp>
      <p:sp>
        <p:nvSpPr>
          <p:cNvPr id="15" name="Text 12"/>
          <p:cNvSpPr txBox="1"/>
          <p:nvPr/>
        </p:nvSpPr>
        <p:spPr>
          <a:xfrm>
            <a:off x="457200" y="36118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ONE RULE THAT ANSWERS MOST FX QUESTIONS</a:t>
            </a:r>
            <a:endParaRPr lang="en-US" sz="1100" dirty="0"/>
          </a:p>
        </p:txBody>
      </p:sp>
      <p:sp>
        <p:nvSpPr>
          <p:cNvPr id="16" name="Text 13"/>
          <p:cNvSpPr txBox="1"/>
          <p:nvPr/>
        </p:nvSpPr>
        <p:spPr>
          <a:xfrm>
            <a:off x="457200" y="3886200"/>
            <a:ext cx="8275320" cy="365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Regardless of quoting convention, the currency with the HIGHER interest rate always trades at a forward DISCOUNT. Read the quote, identify the base, compare the two rates — and you already know the sign of the points before doing any arithmetic. Use the calculation to get the magnitude, and this rule to check you have not inverted it.</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When a dealer misquotes the forward, the arbitrage direction is set by where the mispricing sits — not by which currency pays the higher rate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8 §2 — the misquoted-forward arbitrage worked example, pp. 260–261.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Read the curriculum’s own conclusion carefully: the investor here BORROWS at the higher of the two rates and still profits, because the foreign currency is underpriced in the forward market.</a:t>
            </a:r>
            <a:endParaRPr lang="en-US" sz="1300" dirty="0"/>
          </a:p>
        </p:txBody>
      </p:sp>
      <p:sp>
        <p:nvSpPr>
          <p:cNvPr id="9" name="Shape 7"/>
          <p:cNvSpPr/>
          <p:nvPr/>
        </p:nvSpPr>
        <p:spPr>
          <a:xfrm>
            <a:off x="320040" y="1188720"/>
            <a:ext cx="8503920" cy="2011680"/>
          </a:xfrm>
          <a:prstGeom prst="rect">
            <a:avLst/>
          </a:prstGeom>
          <a:solidFill>
            <a:srgbClr val="FEF0E7"/>
          </a:solidFill>
          <a:ln w="9525">
            <a:solidFill>
              <a:srgbClr val="E8600A"/>
            </a:solidFill>
            <a:prstDash val="solid"/>
          </a:ln>
        </p:spPr>
      </p:sp>
      <p:sp>
        <p:nvSpPr>
          <p:cNvPr id="10" name="Text 8"/>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MISQUOTED 12-MONTH FORWARD — FIND THE 77 BASIS POINTS</a:t>
            </a:r>
            <a:endParaRPr lang="en-US" sz="1100" dirty="0"/>
          </a:p>
        </p:txBody>
      </p:sp>
      <p:sp>
        <p:nvSpPr>
          <p:cNvPr id="11" name="Text 9"/>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Spot S_f/d = 1.6535. Domestic 12-month rate r_d = 3.50%, foreign 12-month rate r_f = 5.00%. A dealer quotes the 12-month forward at F = 1.6900.</a:t>
            </a:r>
            <a:endParaRPr lang="en-US" sz="1200" dirty="0"/>
          </a:p>
        </p:txBody>
      </p:sp>
      <p:sp>
        <p:nvSpPr>
          <p:cNvPr id="12" name="Text 10"/>
          <p:cNvSpPr txBox="1"/>
          <p:nvPr/>
        </p:nvSpPr>
        <p:spPr>
          <a:xfrm>
            <a:off x="457200" y="2039112"/>
            <a:ext cx="8229600" cy="64922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No-arbitrage forward: F_f/d = 1.6535 × (1.0500 / 1.0350) = 1.6775.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The quote of 1.6900 is too HIGH — it takes more foreign currency per domestic unit forward, so the foreign currency is underpriced forward.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Return on the hedged foreign route: S(1 + r_f) × (1/F) = 1.6535 × 1.05 × (1/1.6900) = 1.0273, i.e. 2.73%.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The domestic-only route returns 3.50%. So: borrow foreign at 5%, sell it spot, lend domestic at 3.50%, buy the foreign back forward at 1.6900.</a:t>
            </a:r>
            <a:endParaRPr lang="en-US" sz="1050" dirty="0"/>
          </a:p>
        </p:txBody>
      </p:sp>
      <p:sp>
        <p:nvSpPr>
          <p:cNvPr id="13" name="Shape 11"/>
          <p:cNvSpPr/>
          <p:nvPr/>
        </p:nvSpPr>
        <p:spPr>
          <a:xfrm>
            <a:off x="411480" y="2761488"/>
            <a:ext cx="8321040" cy="365760"/>
          </a:xfrm>
          <a:prstGeom prst="rect">
            <a:avLst/>
          </a:prstGeom>
          <a:solidFill>
            <a:srgbClr val="E8600A"/>
          </a:solidFill>
          <a:ln/>
        </p:spPr>
      </p:sp>
      <p:sp>
        <p:nvSpPr>
          <p:cNvPr id="14" name="Text 12"/>
          <p:cNvSpPr txBox="1"/>
          <p:nvPr/>
        </p:nvSpPr>
        <p:spPr>
          <a:xfrm>
            <a:off x="457200" y="27614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Riskless spread = 3.50% − 2.73% = 77 bp per unit, with no capital committed</a:t>
            </a:r>
            <a:endParaRPr lang="en-US" sz="1150" dirty="0"/>
          </a:p>
        </p:txBody>
      </p:sp>
      <p:sp>
        <p:nvSpPr>
          <p:cNvPr id="15" name="Shape 13"/>
          <p:cNvSpPr/>
          <p:nvPr/>
        </p:nvSpPr>
        <p:spPr>
          <a:xfrm>
            <a:off x="320040" y="3383280"/>
            <a:ext cx="8503920" cy="914400"/>
          </a:xfrm>
          <a:prstGeom prst="rect">
            <a:avLst/>
          </a:prstGeom>
          <a:solidFill>
            <a:srgbClr val="FEF0E7"/>
          </a:solidFill>
          <a:ln/>
        </p:spPr>
      </p:sp>
      <p:sp>
        <p:nvSpPr>
          <p:cNvPr id="16" name="Shape 14"/>
          <p:cNvSpPr/>
          <p:nvPr/>
        </p:nvSpPr>
        <p:spPr>
          <a:xfrm>
            <a:off x="320040" y="3383280"/>
            <a:ext cx="73152" cy="914400"/>
          </a:xfrm>
          <a:prstGeom prst="rect">
            <a:avLst/>
          </a:prstGeom>
          <a:solidFill>
            <a:srgbClr val="E8600A"/>
          </a:solidFill>
          <a:ln/>
        </p:spPr>
      </p:sp>
      <p:sp>
        <p:nvSpPr>
          <p:cNvPr id="17" name="Text 15"/>
          <p:cNvSpPr txBox="1"/>
          <p:nvPr/>
        </p:nvSpPr>
        <p:spPr>
          <a:xfrm>
            <a:off x="457200" y="34290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“BORROW LOW, LEND HIGH” IS THE WRONG INSTINCT HERE</a:t>
            </a:r>
            <a:endParaRPr lang="en-US" sz="1100" dirty="0"/>
          </a:p>
        </p:txBody>
      </p:sp>
      <p:sp>
        <p:nvSpPr>
          <p:cNvPr id="18" name="Text 16"/>
          <p:cNvSpPr txBox="1"/>
          <p:nvPr/>
        </p:nvSpPr>
        <p:spPr>
          <a:xfrm>
            <a:off x="457200" y="370332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Look at what the trade actually does: it borrows at the HIGHER rate (5% foreign) and lends at the LOWER (3.50% domestic) — and still profits, because the mispricing is in the forward, not in the rates. Borrow-low-lend-high is the CARRY trade, which is unhedged and carries FX risk. This is arbitrage: fully hedged, and its direction is set purely by which side of the no-arbitrage forward the dealer has quoted. Compute F first, compare, then decide the direction.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Purchasing power parity says identical goods should cost the same everywhere — the curriculum is unusually blunt about how weakly that holds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7 §2 — purchasing power parity and the Big Mac index, pp. 218–219.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Economist’s Big Mac index takes a single standardised good and still shows wide international dispersion — the curriculum uses it precisely to make the point that this dispersion is typical of most goods and services.</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Absolute PPP:   S_d/f  =  P_d / P_f          Relative PPP:   %ΔS_d/f  ≈  π_d  −  π_f</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Absolute PPP needs identical baskets and no frictions, and pins the LEVEL. Relative PPP only constrains the CHANGE — it can never tell you whether today’s level is right.</a:t>
            </a:r>
            <a:endParaRPr lang="en-US" sz="1100" dirty="0"/>
          </a:p>
        </p:txBody>
      </p:sp>
      <p:sp>
        <p:nvSpPr>
          <p:cNvPr id="12" name="Shape 10"/>
          <p:cNvSpPr/>
          <p:nvPr/>
        </p:nvSpPr>
        <p:spPr>
          <a:xfrm>
            <a:off x="320040" y="2331720"/>
            <a:ext cx="4160520" cy="1965960"/>
          </a:xfrm>
          <a:prstGeom prst="rect">
            <a:avLst/>
          </a:prstGeom>
          <a:solidFill>
            <a:srgbClr val="FEF0E7"/>
          </a:solidFill>
          <a:ln/>
        </p:spPr>
      </p:sp>
      <p:sp>
        <p:nvSpPr>
          <p:cNvPr id="13" name="Shape 11"/>
          <p:cNvSpPr/>
          <p:nvPr/>
        </p:nvSpPr>
        <p:spPr>
          <a:xfrm>
            <a:off x="320040" y="2331720"/>
            <a:ext cx="73152" cy="1965960"/>
          </a:xfrm>
          <a:prstGeom prst="rect">
            <a:avLst/>
          </a:prstGeom>
          <a:solidFill>
            <a:srgbClr val="E8600A"/>
          </a:solidFill>
          <a:ln/>
        </p:spPr>
      </p:sp>
      <p:sp>
        <p:nvSpPr>
          <p:cNvPr id="14" name="Text 12"/>
          <p:cNvSpPr txBox="1"/>
          <p:nvPr/>
        </p:nvSpPr>
        <p:spPr>
          <a:xfrm>
            <a:off x="4572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IT FAILS — THE CURRICULUM’S OWN LIST</a:t>
            </a:r>
            <a:endParaRPr lang="en-US" sz="1100" dirty="0"/>
          </a:p>
        </p:txBody>
      </p:sp>
      <p:sp>
        <p:nvSpPr>
          <p:cNvPr id="15" name="Text 13"/>
          <p:cNvSpPr txBox="1"/>
          <p:nvPr/>
        </p:nvSpPr>
        <p:spPr>
          <a:xfrm>
            <a:off x="457200" y="2651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Goods and services are not identical across countries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Countries produce and consume genuinely different baskets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Many goods and services are never traded internationally at all</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Trade barriers and transaction costs — shipping, import taxes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Capital flows are at least as important as trade flows in setting nominal FX</a:t>
            </a:r>
            <a:endParaRPr lang="en-US" sz="1200" dirty="0"/>
          </a:p>
        </p:txBody>
      </p:sp>
      <p:sp>
        <p:nvSpPr>
          <p:cNvPr id="16" name="Shape 14"/>
          <p:cNvSpPr/>
          <p:nvPr/>
        </p:nvSpPr>
        <p:spPr>
          <a:xfrm>
            <a:off x="4663440" y="2331720"/>
            <a:ext cx="4160520" cy="1965960"/>
          </a:xfrm>
          <a:prstGeom prst="rect">
            <a:avLst/>
          </a:prstGeom>
          <a:solidFill>
            <a:srgbClr val="F5F7FA"/>
          </a:solidFill>
          <a:ln/>
        </p:spPr>
      </p:sp>
      <p:sp>
        <p:nvSpPr>
          <p:cNvPr id="17" name="Shape 15"/>
          <p:cNvSpPr/>
          <p:nvPr/>
        </p:nvSpPr>
        <p:spPr>
          <a:xfrm>
            <a:off x="4663440" y="2331720"/>
            <a:ext cx="73152" cy="1965960"/>
          </a:xfrm>
          <a:prstGeom prst="rect">
            <a:avLst/>
          </a:prstGeom>
          <a:solidFill>
            <a:srgbClr val="1B2A4A"/>
          </a:solidFill>
          <a:ln/>
        </p:spPr>
      </p:sp>
      <p:sp>
        <p:nvSpPr>
          <p:cNvPr id="18" name="Text 16"/>
          <p:cNvSpPr txBox="1"/>
          <p:nvPr/>
        </p:nvSpPr>
        <p:spPr>
          <a:xfrm>
            <a:off x="48006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SO WHAT IS IT STILL GOOD FOR?</a:t>
            </a:r>
            <a:endParaRPr lang="en-US" sz="1100" dirty="0"/>
          </a:p>
        </p:txBody>
      </p:sp>
      <p:sp>
        <p:nvSpPr>
          <p:cNvPr id="19" name="Text 17"/>
          <p:cNvSpPr txBox="1"/>
          <p:nvPr/>
        </p:nvSpPr>
        <p:spPr>
          <a:xfrm>
            <a:off x="4800600" y="2651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Be honest about the verdict: the text says relative purchasing power shows a weak — if any — tendency to equalise over the long run</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Under high inflation, relative PPP does pin the nominal rate tightly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A first-pass fair-value screen on EM currencies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Big Mac / iPhone indices: communication devices, not models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Drill the forward calculation until the sign is automatic — the base currency with the higher interest rate always trades at a discount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Drills use annual rates with τ = 1, so the day-count term drops out of both legs of the ratio.
</a:t>
            </a:r>
            <a:pPr indent="0" marL="0">
              <a:buNone/>
            </a:pPr>
            <a:r>
              <a:rPr lang="en-US" sz="1000" dirty="0">
                <a:solidFill>
                  <a:srgbClr val="6B7A8D"/>
                </a:solidFill>
                <a:latin typeface="Calibri" pitchFamily="34" charset="0"/>
                <a:ea typeface="Calibri" pitchFamily="34" charset="-122"/>
                <a:cs typeface="Calibri" pitchFamily="34" charset="-120"/>
              </a:rPr>
              <a:t>² For any other tenor use F = S × (1 + r_price·τ) / (1 + r_base·τ), with τ = actual days / 360.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2, LM 8 §2 "Forward Rate Calculations" — arbitrage relationships and points scaling, pp. 259–264.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Every quote below is written price/base. Cover the last two columns, work each row, then check both the number AND the sign of the points against the rule.</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783080"/>
                <a:gridCol w="1325880"/>
                <a:gridCol w="1325880"/>
                <a:gridCol w="2514600"/>
                <a:gridCol w="15544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Spot  (price / base)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 on price ccy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 on base ccy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Forward 12m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Points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USD/EUR = 1.1000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5.00% (USD)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2.00% (EUR)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1.1000 × 1.05/1.02 = 1.1324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+323.5 prem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GBP/EUR = 0.8500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4.00% (GBP)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3.00% (EUR)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0.8500 × 1.04/1.03 = 0.8583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+82.5 prem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JPY/USD = 150.00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0.25% (JPY)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5.00% (USD)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150.00 × 1.0025/1.05 = 143.21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−678.6 disc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CHF/EUR = 0.9500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1.50% (CHF)</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3.50% (EUR)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0.9500 × 1.015/1.035 = 0.9316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−183.6 disc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2743200"/>
            <a:ext cx="8503920" cy="1417320"/>
          </a:xfrm>
          <a:prstGeom prst="rect">
            <a:avLst/>
          </a:prstGeom>
          <a:solidFill>
            <a:srgbClr val="FEF0E7"/>
          </a:solidFill>
          <a:ln/>
        </p:spPr>
      </p:sp>
      <p:sp>
        <p:nvSpPr>
          <p:cNvPr id="12" name="Shape 9"/>
          <p:cNvSpPr/>
          <p:nvPr/>
        </p:nvSpPr>
        <p:spPr>
          <a:xfrm>
            <a:off x="320040" y="2743200"/>
            <a:ext cx="73152" cy="1417320"/>
          </a:xfrm>
          <a:prstGeom prst="rect">
            <a:avLst/>
          </a:prstGeom>
          <a:solidFill>
            <a:srgbClr val="E8600A"/>
          </a:solidFill>
          <a:ln/>
        </p:spPr>
      </p:sp>
      <p:sp>
        <p:nvSpPr>
          <p:cNvPr id="13" name="Text 10"/>
          <p:cNvSpPr txBox="1"/>
          <p:nvPr/>
        </p:nvSpPr>
        <p:spPr>
          <a:xfrm>
            <a:off x="457200" y="27889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FOUR-LINE FORWARD CHEATSHEET  ·  WORKS ON EVERY QUESTION</a:t>
            </a:r>
            <a:endParaRPr lang="en-US" sz="1100" dirty="0"/>
          </a:p>
        </p:txBody>
      </p:sp>
      <p:sp>
        <p:nvSpPr>
          <p:cNvPr id="14" name="Text 11"/>
          <p:cNvSpPr txBox="1"/>
          <p:nvPr/>
        </p:nvSpPr>
        <p:spPr>
          <a:xfrm>
            <a:off x="457200" y="3063240"/>
            <a:ext cx="8275320" cy="10515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Find the BASE — it is the second currency in the A/B label, and it is always quantity one.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2.  Compare the two rates. Base rate HIGHER ⇒ base at a forward DISCOUNT (F &lt; S). Base rate LOWER ⇒ PREMIUM. You now know the sign.</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3.  Compute F = S × (1 + r_price·τ) / (1 + r_base·τ). The PRICE currency’s rate goes on top — this is the step everyone inverts.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4.  Points = (F − S) × 10,000, or × 100 for the yen. Check the sign against step 2 before you write anything down.</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5 — Macro Policy, Geopolitics, Trade &amp; FX</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Fiscal multiplier = 1/[1 − c(1 − t)]. At c = 0.9, t = 0.2 it is 3.57 — the tax rate is the leakage that cuts it from 10. Never confuse it with the MONEY multiplier.</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Debt is sustainable while real g &gt; real r. Japan carries 237% of GDP and pays 0.4% of GDP in net interest — the rate matters more than the stock.</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Three monetary tools (OMO, policy rate, reserve requirements); four transmission channels (short rates, asset prices, FX, expectations); neutral rate = trend growth + inflation target.</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Inflation targeting rests on independence, credibility and transparency. The curriculum’s two named exceptions are the Bank of Japan and the Federal Reserve.</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Comparative advantage is about opportunity cost, not output. A tariff’s deadweight loss = |ΔCS| − ΔPS − revenue — in the South Africa case, 185 − 120 − 40 = USD 25,000.</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 trade deficit is the exact mirror of a capital account surplus. Capital flows drive FX in the short and intermediate run; trade flows only in the long run.</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Read every quote as A/B = units of A (price) per ONE unit of B (base). Inverting a two-sided quote flips AND crosses: new bid = 1/old offer.</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Covered IRP: F = S × (1 + r_price·τ)/(1 + r_base·τ). The higher-rate currency always trades at a forward DISCOUNT — but arbitrage DIRECTION comes from the forward quote, not the rate ranking.</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5 · Macro Policy, Geopolitics, Trade &amp; FX</dc:title>
  <dc:subject>PptxGenJS Presentation</dc:subject>
  <dc:creator>Studio Tonton Gug</dc:creator>
  <cp:lastModifiedBy>Studio Tonton Gug</cp:lastModifiedBy>
  <cp:revision>1</cp:revision>
  <dcterms:created xsi:type="dcterms:W3CDTF">2026-08-30T20:48:21Z</dcterms:created>
  <dcterms:modified xsi:type="dcterms:W3CDTF">2026-08-30T20:48:21Z</dcterms:modified>
</cp:coreProperties>
</file>