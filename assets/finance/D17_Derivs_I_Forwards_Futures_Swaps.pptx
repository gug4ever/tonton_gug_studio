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hours. One idea: a firm commitment has no value at inception, and everything after that is bookkeeping on carry.
•  Hold this slide ~40 seconds. Name the split: today firm commitments, tomorrow options.
•  Flag that nothing here needs a probability. Pricing is arbitrage, not forecasting.
•  Warn them: the whole deck lives or dies on getting long/short and add/subtract carry right.
NEXT — Roadmap — five blocks, the last two are where the marks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Set the clock so nobody is surprised when we spend an hour on §4 and §5.
•  §1–§2 fast (≈30 min) — vocabulary and market plumbing, low exam weight per minute.
•  §3 is the engine. If they only remember one slide today, make it the replication identity.
•  §4 and §5 are the calculation blocks — flag that every number we use is straight from the curriculum.
•  Tell them the arithmetic is checkable: I will cite the printed page for each worked example.
NEXT — Learning objectives — read them, then park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Do not read these aloud. Point at objectives 4–6 and say "this is the exam".
•  ≈45 seconds. Objectives 1–3 are recall; 4–6 are calculation.
•  Note the verbs: describe / distinguish / evaluate vs apply / price / value.
•  Tell them the LOS wording maps almost word-for-word onto the item-set stems.
NEXT — Section 1 — what a derivative actually is, in contract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Vocabulary block. Move briskly — the payoff is that later slides can use the words without stopping.
•  ≈20 minutes for four slides. Do not linger.
•  Land three words hard: underlying, notional, settlement.
NEXT — Start with the definition and the term sheet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long is the BUYER and gains when the price rises. Say it once here and you will not have to unpick it in the swap section.
•  Airbus example, printed p. 6: sell forward at EUR 30, spot lands at EUR 25 — settle EUR 5,000 in cash or deliver.
•  Force the sign: write S_T − F₀ on the board and ask which side that is.
•  "Derives its value from" — the derivative does NOT pass the underlying return through, it transforms it.
•  Notional is a calculation base, not an amount anyone pays. Repeat that later on swaps.
•  Stand-alone vs embedded: a convertible bond is a derivative inside a bond.
FROM THE DESK — On a real term sheet the fight is never over the payoff line — it is over business days, the fixing source and the settlement mechanic. Those three lines are what turns into a dispute three years later.
ASK THE ROOM — A hedger sells forward and the price rallies. Has the hedge failed?
NEXT — Where does that contract get traded? Two very different 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OTC vs ETD is a trade-off, not a ranking: you buy customization with credit risk, or you buy credit protection with standardization.
•  Walk the table left to right, one row at a time. Do not summarize it.
•  Novation (printed p. 16) is the exam word — CCP steps in between and becomes counterparty to both.
•  Push back on "CCP = no risk": the risk moved and concentrated, it did not vanish.
•  Self-assessment trap (printed p. 4): ETDs have LOWER transaction costs, not higher.
•  Footnote: Master Agreement / CSA / Dodd-Frank are mine, not the curriculum's.
FROM THE DESK — The ISDA is signed once and covers thousands of trades; the CSA underneath it is where the money is. Collateral terms — threshold, minimum transfer amount, eligible currency — move the price of a swap more than the credit view does.
NEXT — Now split the instrument universe: obligation on both sides, or a right on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Symmetric vs asymmetric is the whole taxonomy. Everything else on this slide follows from it.
•  Draw the two payoff lines on the board — straight line vs hockey stick. Ten seconds, worth more than the text.
•  V₀ = 0 for a firm commitment vs V₀ = premium for an option. That is why only one of them has an upfront cash flow.
•  Credit derivatives sit on the contingent side: payoff turns on a credit EVENT, not a price.
•  Deck 18 takes the right-hand column apart. Today we stay on the left.
•  Exam check (printed p. 26): which pair benefits from OPPOSITE moves? Short forward and short put.
ASK THE ROOM — Who bears counterparty credit risk on a purchased call once the premium is paid?
NEXT — Three firm commitments — same economics, three different cash-flow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Three instruments, one economics. The differences are all plumbing — and the plumbing is what shows up in a liquidity crisis.
•  Row "Initial value" is the row that matters: all three are V₀ = 0. Nobody pays anybody at inception.
•  Futures reset to zero EVERY DAY. That is what makes the MTM a realized cash flow rather than an unrealized one.
•  Read the mental-model box aloud — the strip-of-forwards line is the whole swap section in one sentence.
•  Cumulative P&amp;L on a future ≈ the forward's. Only the TIMING differs (printed p. 131).
FROM THE DESK — A corporate treasurer will pay a visible spread to stay in forwards rather than futures, purely to avoid daily variation margin. Cheap hedge, expensive liquidity line — the cost just moved to a different page of the accounts.
NEXT — Section 2 — why anyone bothers, and what it costs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Three slides, ≈12 minutes. High recall value, low calculation — but the risk list is a favourite for "which is NOT" questions.
•  Warn them: the curriculum names FOUR benefits and SIX risks. Counts get tested.
•  Keep the pace up; the maths starts in §3.
NEXT — Benefits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Four benefits, and the curriculum names them precisely. "Information discovery" — not just price discovery — is the Exhibit 1 wording.
•  Do the Procam arithmetic live: 4,950 × 5% ÷ 4 = 61.88 vs 177,000 × 5% ÷ 4 = 2,212.50.
•  Then immediately say what the comparison HIDES — margin calls, storage, and the fact that f₀ ≠ S₀.
•  WTI closing at −USD 37.63 on 20 April 2020 (printed p. 59): futures discovered a storage shortage before the cash market did.
•  Price discovery ≠ forecast. Futures reveal expectations; they are not an unbiased forecast of future spot.
•  Land: the same 36× that makes it efficient is the 36× that makes it dangerous — next slide.
FROM THE DESK — Capital efficiency is the pitch and the trap. What a treasury actually budgets for is the contingent liquidity line behind the margin account, not the margin itself.
NEXT — Flip it over: the six risks the curriculum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count matters. Four is the answer students give; the curriculum gives six, and the two they drop — opacity and systemic risk — are the two that caused 2008.
•  Read the six off Exhibit 3 (printed p. 66) and make them write the list.
•  Leverage number from Example 5: 23.5% loss on the futures vs 0.593% GAIN on the identical spot position. Same exposure, different denominator.
•  Basis vs liquidity — use the callout. This is the pair that gets confused in item sets.
•  Lack of transparency is about structured notes and embedded derivatives, not about market data.
•  Systemic risk is why the clearing mandate exists — closes the loop with slide 6.
FROM THE DESK — The hedge that looks free is the one to interrogate. If a structure costs nothing upfront, someone has sold optionality or accepted basis, and it is almost never the dealer.
NEXT — So who uses them, and for what? Issuers and investors want different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One test separates the two columns: is the exposure incidental to running a business, or is it the business?
•  Issuers OFFSET exposures that arrive from commerce and financing. Investors CREATE or MODIFY exposures deliberately.
•  Hedge accounting taxonomy (printed p. 69): cash-flow = variable cash flow; fair-value = fair value of an asset/liability; net-investment = FX on foreign equity.
•  Mnemonic: pay-fixed on floating debt = cash-flow hedge. Receive-fixed on fixed debt = fair-value hedge. Draw it if needed.
•  Note WHY issuers prefer OTC: hedge accounting needs dates and notionals to MATCH, and a standardized future will not (printed p. 69).
•  Montau again — the same name recurs across LM 3 and LM 4. Point that out so they track it.
FROM THE DESK — Hedge accounting drives the structure more than the risk does. A treasurer will hedge 80% of an exposure with a plain forward that qualifies rather than 100% with a structure that does not — the earnings volatility is the real constraint.
NEXT — Section 3 — now the engine. Where does the forward price actually come from?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most important section in the deck. Four slides, ≈25 minutes, and nobody leaves the room until the replication identity has landed.
•  Say up front: no probabilities, no expected returns, no risk premium. Only arbitrage.
•  This section is the reason a derivative price is a PRICE and not a FORECAST.
NEXT — Start with the one law that does all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F₀(T) is not a prediction of S_T. It is today's spot compounded at the carry — a number you can lock in, not a number you expect.
•  Say the "price vs forecast" line explicitly. It is the single most common conceptual error in this material.
•  Arbitrage has two conditions: riskless AND zero net investment. Drop either and it is a trade, not an arbitrage.
•  Cost of carry, sign discipline: costs ADD to F, income SUBTRACTS from F. Write "+C −I" on the board and leave it there.
•  Intuition for −I: the spot holder collects the dividend, the forward buyer does not, so the forward buyer pays less.
•  Intuition for +C: the spot holder pays for storage, so they demand more to deliver later.
ASK THE ROOM — If r is negative, is the forward above or below spot?
NEXT — Prove it with a trade. If F is wrong, here is the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formula is a consequence, not an assumption. Show them the cash and the formula becomes unforgettable.
•  Do NOT reveal 101.23. Give them S₀ = 100, r = 5%, T = 0.25 and let them compute it.
•  Then reveal F = 102 and ask which leg is rich. Sell the rich one.
•  Insist on the zero-net-investment point — they borrow the whole 100, so nothing of theirs is at risk.
•  Run the mirror case: if F were 100.50, reverse every leg — short spot, lend the proceeds, buy the forward.
•  Note this is a Question Set item, not an end-of-module Practice Problem. LM 4 has no Practice Problems.
FROM THE DESK — Real cash-and-carry dies on the details this example ignores: the short-borrow fee, the bid-offer on both legs, and the balance-sheet charge for holding the physical. That is why 77bp of theoretical edge is usually nobody's trade.
NEXT — Generalise the trade into an identity you can write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Make them watch S_T cancel. That cancellation is the entire reason a derivative can be priced without a view.
•  Read row 1 against row 2, then row 3 against row 4. Two comparisons, not four rows.
•  Circle S_T in the "Net at T" column and cross it out. No forecast survives.
•  The long is FINANCED — that is where r enters. Nobody is assuming a return on the asset.
•  Negative r (Question Set Q5, p. 88): (1+r)^T &lt; 1, so F₀ &lt; S₀. Not a trick, just arithmetic.
•  Flag that shorting is the awkward leg in practice — borrow cost is a real friction the identity ignores.
NEXT — Real assets pay dividends and cost money to store. Add the carry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This is the slide the exam inverts. Costs ADD, benefits SUBTRACT — and the FX row is the one that catches everybody.
•  Write "+C, −I" large. Then justify each sign from the spot holder's point of view, not from the formula.
•  Coupon bond row is counter-intuitive and IS in the curriculum (p. 95): a par bond with a coupon above r has F BELOW S.
•  FX row: with an f/d quote the underlying is the BASE currency, so r_d is the benefit and r_f is the opportunity cost. Hence F = S·e^((r_f − r_d)T).
•  Commodity row: convenience yield is a non-cash benefit — you hold the barrel because you might need the barrel.
•  Contango / backwardation are trading-floor words. Useful, but not curriculum vocabulary.
FROM THE DESK — On a commodity desk the convenience yield is not estimated, it is inferred: you observe the curve, back out carry, and whatever refuses to reconcile is called convenience yield. It is a residual with a name.
ASK THE ROOM — A stock's dividend yield exceeds the risk-free rate. Is its forward above or below spot?
NEXT — Section 4 — put the formula to work, contract by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Nine slides of calculation, ≈40 minutes. Everything from here is the same formula wearing different clothes.
•  Announce the running distinction now: PRICE is set at inception and never moves; VALUE moves every day.
•  Every worked example here is lifted from the curriculum with its printed page. Say so — it earns trust.
•  Keep a calculator visible. Make them compute alongside, not watch.
NEXT — Start at t = 0, where the value is zero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Price and value are two different objects with confusingly similar names. Separate them here or pay for it in the swap section.
•  PRICE = the number in the contract, agreed once. VALUE = what the contract is worth to you now.
•  V₀ = 0 does not mean the contract is worthless — it means neither side would pay to enter it.
•  The curriculum runs this backwards in Example 2: given 295 and 300.84, solve for r = 4%. Show that too.
•  Maturity check (Example 1, p. 105): VFO is SHORT, so it gains when the price FALLS. Make them state the sign.
•  Note the seller already owns 10,000 shares — this is a hedge, not a speculation.
ASK THE ROOM — If V₀ = 0 for both sides, why does the dealer bother doing the trade?
NEXT — Move the clock forward three months and the value stops being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drivers, not one. Spot moved AND the discount rate moved — students almost always see only the first.
•  Spot fell from 295 to 285. The short is winning — establish that before touching the formula.
•  Discounting: F₀ is a fixed future payment, so a higher r makes its PV smaller.
•  The short's value is PV(F₀) − S_t, so shrinking PV(F₀) shrinks the short's gain. That is the 12.90 → 10.11 move.
•  Same logic mirrored: a higher r HELPS the long, because the long owes that PV.
•  CFA wording (p. 108): higher r raises the opportunity cost of holding cash and lowers the PV of the forward price.
FROM THE DESK — On a real book the r that moves this is the discount curve, and post-CSA that is the collateral rate, not a textbook risk-free rate. Two dealers can mark the same forward differently purely on curve choice.
NEXT — Now add a dividend and watch the forward price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Do not teach this as a formula. Teach it as: the forward buyer misses two dividends, so they refuse to pay for them.
•  Compute the no-dividend case FIRST — 51.23 — then take the dividends off. The comparison is the lesson.
•  The curriculum frames it exactly that way (p. 90): carry drops from 1.23 to about 0.63.
•  Both dividends fall inside [0, T]. Ask what happens to one paid the day after maturity: nothing.
•  Discount each dividend at its OWN timing — 0.25 and 0.5, not both at 0.5.
•  Sanity check the direction: income lowers F. If your answer came out above 51.23, you added instead of subtracted.
NEXT — An index has hundreds of dividend dates. Switch to a yield.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Same cost-of-carry logic as the last slide, only the dividend is now a rate instead of two cash amounts.
•  Discrete vs continuous is a modelling convenience, not a different theory. Say that plainly.
•  Why continuous for an index: hundreds of constituents, payment dates scattered — a yield is simply tidier.
•  The whole calculation is the exponent. Get r − i right and the rest is a keystroke.
•  Ask what F would be if i = 5% and r = 4%. Below spot. Perfectly normal, no arbitrage.
•  Note the curriculum titles this "Stock Index Futures with Dividend Yield" — the formula is identical for futures.
FROM THE DESK — Index futures are how a fund gets invested on Monday when the cash arrives on Friday. The basis you pay is the price of not waiting — and it is usually cheaper than being out of the market.
NEXT — Same machinery in FX, where BOTH sides earn a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One rule survives every FX question: the lower-yielding currency trades at a forward PREMIUM. Everything else is quote convention.
•  Fix the convention first. AUD/USD here means AUD per one USD — price currency on top.
•  Do NOT start from the formula. Walk the four replication steps on p. 91 and let F fall out of them.
•  Then reconcile: AUD earns less, so you need fewer of them later. F falls from 1.3335 to 1.3325.
•  Exhibit 9 (p. 93) is the lookup table: (r_f − r_d) &lt; 0 ⇒ F &lt; S ⇒ foreign currency at a premium.
•  Say the "differential, not level" line twice. Rates at 0.2% or 20% — only the gap matters.
FROM THE DESK — Covered interest parity broke after 2008 and the residual has a name: the cross-currency basis. It is a balance-sheet cost, not a mispricing, and it is why "free" arbitrage in FX forwards is nobody's free lunch.
ASK THE ROOM — EUR rates are negative and USD rates are positive. Which currency is at a forward premium?
NEXT — Same trade, opposite sign — and this time a real commercial hedge.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Mirror image of the AUD slide, and deliberately so: same formula, higher-rate currency this time, opposite conclusion.
•  Anchor the commercial story: Montau sells a machine to a Korean buyer, gets paid in KRW in 75 days, has EUR costs.
•  Watch the double negative — subtracting −0.25% ADDS 25bp. That is where the arithmetic goes wrong.
•  The two proof legs are the payoff of the slide. Both start with the same value; both end at 1,302.67.
•  Contrast explicitly with slide 23: AUD lower rate → premium; KRW higher rate → discount. Same rule.
•  Day count 75/365, not 90/360. The curriculum uses actual days here.
FROM THE DESK — A corporate hedging a receivable is hedging a receivable, not taking a rate view. If the counterparty defaults the hedge survives and is now an outright FX position — which is why hedge ratios sit below 100%.
NEXT — Same instrument, exchange-traded: now the cash moves every single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Same P&amp;L as a forward, arriving on a completely different schedule. The schedule is what breaks people.
•  Force the convention before any arithmetic: long gains when price rises, short gains when price falls.
•  The price rose 1.99 — ask the room who is losing BEFORE showing the answer.
•  Note the CFA table also carries the spot column: on day T, spot and futures both print 70.03. Convergence, visible.
•  Contrast with slide 20: the forward accrued a paper MTM. The future just paid cash.
•  The forward's counterparty credit risk grows with its MTM. The future's does not — it is settled away nightly.
FROM THE DESK — This is exactly the mismatch that kills a hedge: physically correct, cash-flow fatal. A producer short futures into a rally faces real margin calls against a receivable that will not pay for months.
NEXT — Which raises the obvious question — how much cash, and when?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trigger is maintenance; the destination is initial. Get that backwards and every margin question in the item set falls over.
•  Storage is a COST, so it goes in with a PLUS — closes the loop with slide 17.
•  Do the trigger arithmetic slowly: 4,000 of room ÷ 25,000 lb = 16 cents per pound.
•  Then hammer the top-up: back to 10,000, not to 6,000. Ask the room before you say it.
•  Curriculum evidence (Procam, p. 32): balance falls to 4,362 against a 4,500 maintenance ⇒ call of 588 ⇒ back to 4,950 initial.
•  This is a LONG position, so the call comes on a price FALL. A short gets called on a rally.
•  Basis converges to zero at maturity — see the footnote for the curriculum's own data.
FROM THE DESK — Exchanges raise initial margin exactly when volatility spikes, which is exactly when funding is hardest. Margin is pro-cyclical by design, and that is a liquidity risk you model, not a fee you budget.
NEXT — If futures settle daily and forwards do not, should their prices even be the same?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independent mechanisms with one confusing name between them. Keep them in separate columns and separate sentences.
•  Left column is about the CORRELATION of daily MTM cash with the reinvestment rate. Any underlying.
•  Right column is about DISCOUNTING, and applies only to interest-rate contracts. Nothing to do with correlation.
•  Read the CFA numbers aloud: 497.50 on the gain vs 497.01 on the loss. The forward keeps more of its gain than of its loss.
•  That is positive convexity, and it is worth money — so the futures RATE must be higher to compensate.
•  Warn on the language: "futures price above forward" (left) and "futures rate above forward rate" (right) are different claims. Rate futures quote as 100 − rate.
•  Question Set Q4 (p. 144) tests exactly this direction. Falls, not rises.
FROM THE DESK — On a swaps desk the convexity adjustment is a line item, not a subtlety. Build a curve from unadjusted futures out past two years and your swap marks will be visibly wrong.
NEXT — Section 5 — string these single exchanges into a series and you have a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Seven slides, ≈35 minutes. Nothing new is introduced — a swap is a strip of forwards priced at one rate.
•  Promise them: if the forward section landed, this section is bookkeeping.
•  Two ideas only: the par rate that sets V₀ = 0, and the bond-pair equivalence.
NEXT — Start from the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Same cash flows, repackaged. The swap does not create exposure the FRA strip lacks — it makes it administrable.
•  Exhibit 2 (p. 153) is the picture: three FRAs at three different rates vs one swap at one rate.
•  Fixed-rate payer GAINS when MRR sets above the fixed rate. Establish that sign and reuse it all section.
•  Timing distinction (p. 152): an FRA settles at the START of its period discounted; the swap settles at the END, undiscounted.
•  Same three similarities as any forward: symmetric payoff, no upfront cash, counterparty credit risk.
•  Note "MRR" is generic — SOFR, SONIA, CORRA, EURIBOR all slot in.
ASK THE ROOM — If a swap is just a strip of forwards, why does anyone still trade FRAs?
NEXT — So how is that single fixed rate chosen?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V₀ = 0 for the swap as a whole, never for each exchange. That distinction is where the MTM comes from two slides later.
•  Both sides discount at the SAME zero rates. The only unknown is s_N, and it factors out of the right-hand side.
•  Hence s_N = PV(floating) ÷ Σ discount factors. One division, once you have the pieces.
•  Draw Exhibit 3 (p. 155): rising forward curve, flat swap-rate line cutting through it.
•  Curriculum wording: the fixed swap rate is the INTERNAL RATE OF RETURN on the implied forward rates.
•  Say the last box line out loud — early exchanges negative, late ones positive, sum zero. It sets up slide 32.
NEXT — Numbers. Three periods, one zero curve, one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Nothing new here — it is bootstrapping from fixed income plus one division. Say that before they panic at the table.
•  IFR₁ = z₁ always. Free marks; make sure they see why.
•  Derive IFR₂ live on the board: (1.034197)² / 1.02396 − 1 = 4.4536%.
•  Sense-check s₃ = 3.9641% BEFORE trusting it — it must sit inside the IFR range on an upward curve.
•  Point out it is close to the 3-year YTM of 3.9703% but NOT equal: the swap has no principal exchange.
•  If they get 2.396% or 5.172%, they have taken a single forward instead of the PV-weighted average.
ASK THE ROOM — On a downward-sloping curve, would s₃ sit above or below the first forward rate?
NEXT — Now let time pass and see what happens to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V₀ = 0 does not mean every quarter nets to zero. The early quarters are supposed to hurt the fixed payer on an upward curve.
•  Run period 1 on the calculator: (0.005 − 0.0205) × 250,000,000 × 0.25 = −968,750.
•  Then ask when the sign flips. Answer from the curriculum: period 8, at 2.18% vs 2.05%.
•  That crossover is the whole intuition — pay early, receive late, PV to zero on day one.
•  Time passing with an UNCHANGED curve still creates MTM. Nothing has to move for the payer to gain.
•  Reconnect to Example 2 (p. 156): with the loan spread, Esterr's all-in cost is a flat 3.55% whatever MRR does.
FROM THE DESK — Which is why swaps get unwound rather than held. Once the curve has moved, the MTM is a receivable you can monetise today, and the hedge it was protecting has often already been refinanced.
NEXT — There is a shortcut for all of this: stop thinking swap, start thinking bonds.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single highest-leverage idea in the swap section. Once they see the bond pair they stop memorising sign tables.
•  Build it on the board in the RECEIVE-fixed direction — buy the fixed bond, fund it with an FRN. Then flip.
•  Show the cash flows cancelling at both ends. That is why a swap has no principal exchange.
•  FRN duration ≈ the time to the next reset. Effectively zero, which is why the swap inherits the fixed bond's duration.
•  Hence: receive-fixed = positive duration (long bond); pay-fixed = negative duration (short bond).
•  Exhibit 4 (p. 157) is the lookup table for this — worth photographing.
FROM THE DESK — This is how a rates book is actually run: everything reduces to DV01 by bucket. Nobody asks "am I long or short the swap" — they ask what the DV01 is in the 5-year bucket.
ASK THE ROOM — A manager wants to extend portfolio duration without buying bonds. Which side of the swap?
NEXT — Put the equivalence to work on the four cases that get examined.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Four rows, but only one rule: receive-fixed is long a bond. Derive every row from that rather than memorising the grid.
•  Rows 1–2 are rate SHIFTS. Rows 3–4 are the passage of TIME with no shift at all.
•  Rows 3–4 are the ones that get missed — see Esterr on slide 32 for exactly why.
•  Cross-check with the fixed-income deck: long bond loses when rates rise. Receive-fixed loses when rates rise. Same thing.
•  Curriculum Q1 (p. 164): a rise in forwards increases PV(floating) and causes a fixed-rate RECEIVER to lose value.
•  Duration management is the practical takeaway — swaps move duration without touching the bond portfolio.
NEXT — One last worked example, from the investor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answers, not one. A big first receipt does NOT mean the position is winning — that is the trap in this example.
•  Compute the first settlement live: 1.67% × 200m × 0.5 = GBP 1,670,000. It looks like a great trade.
•  Then Case A: on an unchanged upward curve, Fyleton is at an MTM LOSS. Let that land before moving on.
•  The receipt was priced in at inception — it is exactly why 2.38% sits above the front MRR.
•  Case B is the reason the position exists: Fyleton bought duration and wants the curve to fall.
•  Bond analogy (p. 163): a par fixed bond prices at a discount as an upward curve rolls through; the FRN stays at par.
FROM THE DESK — The reason an investor uses a swap rather than buying gilts is balance sheet. Same duration, almost no cash, and it can be unwound in a morning — which is also why leverage builds up unnoticed in exactly these books.
NEXT — Wrap up — eight things to leave the room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Close on the two ideas that generalise: no-arbitrage pricing, and the bond-pair equivalence. The rest is application.
•  Do not read all eight. Pick bullets 3, 6 and 8 and say why they matter.
•  Repeat the price-vs-forecast line one final time. It is the idea that carries into option pricing.
•  Flag the two sign traps: carry (+C, −I) and margin (trigger at maintenance, restore to initial).
•  Preview deck 18: same no-arbitrage engine, asymmetric payoffs, and put-call parity as the new identity.
•  Take questions on the swap section first — that is where the hands go up.
NEXT — Deck 18 — Derivatives II: options, moneyness, and put-call parity.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 17  ·  WEEK 7  ·  MORNING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Derivatives I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Forwards, Futures &amp; Swaps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Firm-commitment instruments and their no-arbitrage pricing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Level I · Vol 7 Learning Modules 1–7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— Derivatives I: Forwards, Futures &amp; Swaps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· ~2 hours · Built bottom-up from CFA readings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680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07008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1207008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252728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Derivative markets &amp; instruments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513149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OTC vs ETD · ISDA · central clearing · firm commitments vs contingent claims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23898"/>
            <a:ext cx="8503920" cy="68031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923898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" y="1923898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1969618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Benefits, risks &amp; uses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230039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transfer · price discovery · ops efficiency · six curriculum risks · issuer vs investor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640787"/>
            <a:ext cx="8503920" cy="680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40787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0040" y="2640787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686507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Arbitrage, replication &amp; cost of carry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946928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one price · cash-and-carry arbitrage · replication identity · dividends / storage / income adjustments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57677"/>
            <a:ext cx="8503920" cy="68031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357677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0040" y="3357677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3403397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Forwards &amp; futures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3663818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F₀(T)=S₀(1+r)ᵀ · MTM over life · equity / FX / index forwards · IRP · daily margining · basis · convexity bias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074566"/>
            <a:ext cx="8503920" cy="680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074566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0040" y="4074566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120286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4380708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of forwards · par swap rate · PV(floating)=PV(fixed) · IRS = long FRN + short fixed bond · valuation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deck you should be able to: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188720"/>
            <a:ext cx="8503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basic features of a derivative and contrast OTC vs exchange-traded markets, including the role of ISDA, central clearing and margining.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firm commitments (forwards, futures, swaps) from contingent claims (options, credit derivatives) by their payoff profile and settlement mechanics.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benefits (risk transfer, information discovery, operational advantages, market efficiency) and the six curriculum risks of derivative use.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law of one price to price a forward via cash-and-carry arbitrage and adjust the formula for income, storage costs, and interest-rate differentials.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value forward contracts on equities (with discrete dividends and dividend yields), FX (via covered interest-rate parity), and interest rates (FRAs).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value plain-vanilla interest-rate swaps by solving for the par swap rate and by interpreting the swap as a pair of offsetting bond positions.
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Derivative markets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instruments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 ·  Deck 17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derivative is a contract whose value is derived from an underlying — the buyer gets a long-like exposure, the seller a short-like exposure, at a specified maturity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1, "Derivative Features", pp. 5–8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 on 1,000 Airbus shares at EUR 30/share settles either in physical delivery or in cash for the spot-vs-forward difference.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Payoff at T (long)   =  S_T − F_0(T)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Payoff at T (short)  =  F_0(T) − S_T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92024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S_T = underlying spot price at maturity; F_0(T) = forward price agreed at inception (t = 0). The long BUYS and gains when S_T rises.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2743200" cy="1554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331720"/>
            <a:ext cx="73152" cy="1554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UNDERLYING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51760"/>
            <a:ext cx="2514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Equities, fixed income (bonds, interest rates), FX, commodities, credit, volatility. May be a basket, an index or a variable — not necessarily a single asset.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331720"/>
            <a:ext cx="2743200" cy="15544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2331720"/>
            <a:ext cx="73152" cy="15544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3756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COUNTERPARTIES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651760"/>
            <a:ext cx="2514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entities with matching obligations. Almost always one end-user (issuer or investor) and a financial intermediary. Counterparty credit risk is a first-order concern.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331720"/>
            <a:ext cx="2743200" cy="1554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2331720"/>
            <a:ext cx="73152" cy="1554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&amp; MATURITY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651760"/>
            <a:ext cx="2514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(or contract size) agreed at outset. Maturity = time to settlement. Cash settlement = net difference; physical settlement = exchange of asset for cash.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OTC derivatives are customized bilateral contracts under an ISDA; exchange-traded derivatives are standardized, centrally cleared, and margined daily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471416"/>
            <a:ext cx="8503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Master Agreement, CSA, Dodd-Frank and EMIR are market context: Vol 7 names only the "ISDA Agreement" and a post-2008 central clearing mandate.
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1, "Derivative Markets", pp. 14–18 (printed).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post-2008 central clearing mandate pushed most standardized OTC rate and FX swaps onto CCPs, narrowing the structural gap with ETDs.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29000"/>
                <a:gridCol w="3063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Over-the-counter (OTC)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Exchange-traded (ETD)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Customized: size, maturity, underlying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Standardized contract spec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 credit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Bilateral — mitigated by ISDA + collateral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Borne by the CCP (novation)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Typically at maturity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Daily mark-to-market via margin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/ liquidity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Lower; dealer quotes, negotiated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Higher; public order book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FX forwards, IRS, credit default swaps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Futures, listed options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Clearing mandate if standardized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Exchange + national regulator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246120"/>
            <a:ext cx="8503920" cy="10972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" y="3246120"/>
            <a:ext cx="73152" cy="10972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329184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CLEARING BY NOVATION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66160"/>
            <a:ext cx="82753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executed on a swap execution facility is submitted to a central counterparty, which NOVATES it — replacing one bilateral contract with two identical contracts facing the CCP. Bilateral credit risk disappears; it is concentrated in the CCP instead, which is why CCP safeguards are themselves a systemic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commitments fix the terms today and settle in the future; contingent claims give the buyer an optional payoff — forwards, futures and swaps vs options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2, "Forwards, Futures, and Swaps" / "Contingent Claims", pp. 26–49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commitments have SYMMETRIC payoffs (buyer's gain = seller's loss). Contingent claims have ASYMMETRIC payoffs (buyer caps loss at premium).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60520" cy="2148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" cy="2148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 COMMITMENTS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600200"/>
            <a:ext cx="37947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are OBLIGED to transact at the pre-agreed terms.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Forward — OTC, one-shot, settled at maturity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 — ETD, one-shot at maturity but daily MTM in cash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Swap — OTC, periodic exchange (usually IRS fixed vs MRR)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V₀(T) = 0 at inception (no cash changes hands).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is SYMMETRIC: V_T(long) = S_T − F₀(T).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160520" cy="214884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188720"/>
            <a:ext cx="73152" cy="21488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CONTINGENT CLAIMS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00200"/>
            <a:ext cx="37947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party (the buyer) decides whether and when to exercise.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Call option — right to buy at X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Put option — right to sell at X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Credit derivative (CDS) — payoff contingent on a credit event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 a PREMIUM (c₀ or p₀) at inception → V₀ ≠ 0.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is ASYMMETRIC: buyer's loss is capped at premium.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Forwards, futures and swaps share a symmetric payoff profile and zero value at inception — they differ in settlement mechanics and in the cash-flow shape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2, "Forwards, Futures, and Swaps", pp. 26–37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economic exposure to the forward curve — very different daily cash-flow and credit-risk profiles.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Forward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Futures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Swap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Exchange-traded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(cleared if std)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Customized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Standardized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Customized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Single exchange at 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Single exchange + daily MTM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Periodic over life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Counterparty (bilateral)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CCP (very low)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Counterparty + margin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V₀ =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V₀ = 0 (resets daily)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V₀ =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Payoff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Symmetric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Symmetric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Symmetric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474720"/>
            <a:ext cx="8503920" cy="8686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474720"/>
            <a:ext cx="73152" cy="8686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52044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794760"/>
            <a:ext cx="8275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swap is economically a STRIP of forwards, but priced at a SINGLE fixed rate (the par swap rate) rather than at each period's own forward rate. A futures contract is a forward wrapped in a daily settlement mechanism that eliminates most counterparty credit risk.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Benefits, risks &amp; uses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 ·  Deck 17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Derivatives deliver four core benefits — risk transfer, information discovery, operational advantages, and market efficiency — that cash markets alone cannot match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3, "Derivative Benefits", Exhibit 1, pp. 55–62 (printed); Example 4, pp. 60–61.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exposure as the cash market, a fraction of the capital, and a bridge between an economic decision and the moment it can be transacted.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Benefit (CFA Exhibit 1)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Mechanism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Where LM 3 shows it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allocation /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Bridges decision-to-transaction timing gap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Montau KRW/EUR forward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Futures and implied vol reveal expectations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 3: WTI at −USD 37.63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advantages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outlay, low cost, liquid, easy to short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 4: Procam gold margin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Cheaper to arbitrage mispricings away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Printed pp. 61–62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651760"/>
            <a:ext cx="8503920" cy="178308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974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3 EXAMPLE 4 — PROCAM: GOLD FUTURES VS SPOT (pp. 60–61)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9900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100-oz long-gold exposure for three months; 5% borrowing rate.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02152"/>
            <a:ext cx="82296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route: post USD 4,950 initial margin → 4,950 × 5% ÷ 4 = USD 61.88 of interest.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route: pay 1,770 × 100 = USD 177,000 → 177,000 × 5% ÷ 4 = USD 2,212.50 of interest.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399592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99592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exposure: USD 61.88 of carry against USD 2,212.50 — roughly 36× less.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curriculum names SIX risks, not four — implicit leverage, opacity, basis, liquidity, counterparty credit, and destabilisation of the system as a whole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471416"/>
            <a:ext cx="8503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CFA LM 3 Ex 5 (p. 64): Procam controls USD 177,000 of gold risk on USD 61.88 of financing — a leverage ratio of 2,860.
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3, "Derivative Risks", Exhibit 3, p. 66 (printed); Example 5, pp. 63–64.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powerful because they are leveraged; the same property makes an unmanaged position a route to systemic stress.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 (CFA Exhibit 3)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is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Where it bites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use (leverage)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Small margin controls large notional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 calls, forced unwind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transparency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Complexity hides the true exposure profile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Stakeholders misprice risk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Derivative underlying is not the hedged item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Residual P&amp;L after hedging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Liquidity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Cash-flow TIMING mismatch vs hedged item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 call you cannot fund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 credit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OTC dealer may not perform on the contract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CCP, ISDA, collateral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Destabilisation / systemic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Leverage across the system amplifies stress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2008 — AIG, Lehman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246120"/>
            <a:ext cx="8503920" cy="105156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" y="3246120"/>
            <a:ext cx="73152" cy="10515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329184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BASIS VS LIQUIDITY — THE PAIR STUDENTS SWAP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66160"/>
            <a:ext cx="8275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risk is a mismatch of VALUE: the derivative's underlying is similar to but not identical to the exposure (a WTI future against a Brent cargo, one MRR against another). Liquidity risk is a mismatch of TIMING: daily variation margin on a multi-year hedge against an annual coupon. One leaves residual P&amp;L; the other can force you out of a hedge that was working.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Issuers use derivatives to hedge commercial and financing exposures; investors use them to modify portfolio cash flows and replicate exposures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3, "Issuer Use" / "Investor Use of Derivatives", pp. 67–72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 chase HEDGE ACCOUNTING — cash-flow, fair-value or net-investment — so the derivative's MTM lands in earnings alongside the item it hedges, not before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60520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" cy="3108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ISSUER USE CASES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600200"/>
            <a:ext cx="37947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FX export hedge — Montau's KRW/EUR forward locks EUR revenue → CASH-FLOW hedge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Commodity input hedge (airline buying jet-fuel swaps) → cash-flow hedge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Floating debt → fixed via pay-fixed IRS → CASH-FLOW hedge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Fixed debt → floating via receive-fixed IRS → FAIR-VALUE hedge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FX forward or swap against a foreign subsidiary's equity → NET-INVESTMENT hedge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160520" cy="310896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188720"/>
            <a:ext cx="73152" cy="31089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USE CASES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00200"/>
            <a:ext cx="37947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Modify portfolio duration: receive-fixed IRS lengthens, pay-fixed shortens — no bond trading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Covered call on existing long equity → extra yield, capped upside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Synthetic index exposure via futures (low capital, high liquidity)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Hedge FX exposure on foreign equities and bonds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 a credit view via CDS without owning the bond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Arbitrage, replication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cost of carry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 ·  Deck 17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Derivative pricing rests on a single engine — the law of one price enforced by riskless arbitrage between spot and forward positions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"Arbitrage" / "Replication", pp. 80–87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positions deliver the same future cash flows, they must have the same price today. Any deviation is arbitraged away in 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S_0 = F_0(T) / (1 + r)^T      ⇔      F_0(T) = S_0 (1 + r)^T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78308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S_0 = spot price today; F_0(T) = forward price agreed today for delivery at T; r = risk-free rate over horizon 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2743200" cy="1737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148840"/>
            <a:ext cx="73152" cy="1737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19456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ARBITRAGE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468880"/>
            <a:ext cx="25146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that makes a RISKLESS positive profit with ZERO net investment. Requires simultaneous positions. In efficient markets arbitrage is fleeting — but it is what enforces the no-arbitrage condition.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148840"/>
            <a:ext cx="2743200" cy="173736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2148840"/>
            <a:ext cx="73152" cy="17373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37560" y="219456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468880"/>
            <a:ext cx="25146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 derivative's cash flows with a spot position plus risk-free borrowing or lending. Long forward ≡ buy spot + borrow S₀. If replication and derivative prices differ, arbitrage opens.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148840"/>
            <a:ext cx="2743200" cy="1737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2148840"/>
            <a:ext cx="73152" cy="1737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219456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OF CARRY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468880"/>
            <a:ext cx="25146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cost of holding the underlying from 0 to T: opportunity cost r, PLUS costs C (storage, insurance), MINUS income I (dividends, coupons, convenience yield). F must cover the carry.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a forward is mispriced relative to spot plus carry, a cash-and-carry trade locks in a riskless profit — the arbitrage that pins F₀(T)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Question Set "Arbitrage and Replication", Q4, p. 87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rich leg, buy the cheap leg, carry to maturity. Every pricing formula in this deck is enforced by exactly this trade.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No-arb:  F_0(T)  =  S_0 (1+r)^T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 F &gt; No-arb  ⇒  SELL forward + BUY spot + BORROW S_0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8503920" cy="24231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— QUESTION SET Q4, PRINTED p. 87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S₀ = 100; observed 3-month forward F₀ = 102; risk-free rate r = 5% p.a.; T = 0.25y. No dividend, no storage.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24912"/>
            <a:ext cx="822960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No-arbitrage forward: F*₀(T) = 100 × (1.05)^0.25 = 101.23.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102 &gt; 101.23 ⇒ the forward is RICH. Sell the forward, buy the spot, borrow 100 at 5% to fund it.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T: deliver the asset you already hold and collect 102 under the forward.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 the loan: 100 × (1.05)^0.25 = 101.23.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= 102 − 101.23 = 0.77, riskless, with zero net investment at t = 0.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0.77 pins the forward at 101.23. This trade IS the proof of F₀(T) = S₀(1+r)^T.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long forward can be replicated by borrowing at r to buy the underlying at spot — the replication identity that gives F₀(T) = S₀(1+r)ᵀ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"Replication" + Question Set Q3 and Q5, pp. 83–88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forward ≡ LONG asset, financed. Short forward ≡ SHORT asset, proceeds lent. This identity is why a forward has V₀ = 0.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23160"/>
                <a:gridCol w="242316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Position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 = 0 cash flows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 = T cash flows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Net at 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(V₀ =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Receive asset, pay F₀(T)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S_T − F₀(T)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Replicate: buy spot + borrow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Buy S at S₀; borrow S₀ at 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 = S_T; repay S₀(1+r)ᵀ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S_T − S₀(1+r)ᵀ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(V₀ =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 asset, get F₀(T)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F₀(T) − S_T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Replicate: short spot + lend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 S at S₀; lend S₀ at 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 at S_T; get S₀(1+r)ᵀ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S₀(1+r)ᵀ − S_T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743200"/>
            <a:ext cx="8503920" cy="123444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2743200"/>
            <a:ext cx="73152" cy="12344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78892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IDENTITY THAT PRICES EVERY FORWARD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063240"/>
            <a:ext cx="82753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two long rows to be indifferent, S_T − F₀(T) must equal S_T − S₀(1+r)ᵀ, which forces F₀(T) = S₀(1+r)ᵀ. Note what falls out: S_T cancels, so the identity holds for ANY future spot price — that is what makes it riskless. A negative r flips the sign and puts F₀ below S₀. Add carry and the same identity prices every asset class in this deck.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of carry adjusts the replication formula: costs of ownership are ADDED and income benefits are SUBTRACTED before compounding at 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471416"/>
            <a:ext cx="8503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Contango (F &gt; S) / backwardation (F &lt; S) are market terms not used in Vol 7. A forward far below the no-arb price signals a convenience yield (p. 94).
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"Costs and Benefits of Owning the Underlying", Exhibits 8 and 10, pp. 88–96 (printed).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Dividends, coupons and convenience yields are BENEFITS the spot holder gets and the forward buyer does not. Storage, insurance and spoilage are added COSTS.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Discrete:    F_0(T) = [S_0 − PV(I) + PV(C)] (1 + r)^T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Continuous:  F_0(T) = S_0 · e^((r + c − i) T)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I, C = income and cost in present-value terms; i, c = income and cost as continuous rates; r = risk-free rate. Costs carry a PLUS, income a MINUS.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12848"/>
          <a:ext cx="85039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514600"/>
                <a:gridCol w="201168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Asset class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Benefit  (I, i)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  (C, c)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Forward vs spot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Non-dividend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&gt; S (carry = r only)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stock /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Dividend I or yield 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&gt; S iff r &gt; 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bond (at par)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Coupon income 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&lt; S iff coupon &gt; 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FX, quoted f/d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Base-ccy rate r_d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Price-ccy rate r_f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&gt; S iff r_f &gt; r_d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commodity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Convenience yield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Storage, insurance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&gt; S unless yield wins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3931920"/>
            <a:ext cx="8503920" cy="438912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" y="3931920"/>
            <a:ext cx="73152" cy="43891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4005072"/>
            <a:ext cx="8275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check: if F came out ABOVE spot on a high-dividend stock, you added the income instead of subtracting it.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Forwards &amp; futures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 ·  Deck 17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vs VALUE: F₀(T) is set at inception so that V₀(T) = 0 for both sides — the price never changes again, the value changes every 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5, Examples 1–2 (VFO / Biomian), pp. 104–107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changes hands at t = 0 because the contract price already embeds the carry. Value only becomes non-zero once S, r or time move.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F_0(T)  =  S_0 (1 + r)^T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V_0(T)  =  0   (to both long and short)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F₀(T) is the PRICE — fixed for the life of the contract. V_t(T) is the VALUE — marked to market continuously.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21031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5 — VFO SELLS BIOMIAN FORWARD (PRINTED pp. 104–107)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VFO sells 1,000 Biomian shares forward to an intermediary. S₀ = INR 295; T = 0.5y; no dividend; r = 4%.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44952"/>
            <a:ext cx="82296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F₀(T) = 295 × (1.04)^0.5 ; (1.04)^0.5 = 1.01980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F₀(T) = 295 × 1.01980 = INR 300.84 per share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V₀(T) = 0 for BOTH sides — the 4% is already inside the 300.84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maturity, S_T = 287 ⇒ VFO (short) gains 13.84; S_T = 312 ⇒ VFO loses 11.16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F₀(T) = INR 300.84. Contract size 1,000 × 300.84 = INR 300,840.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inception, the MTM of a long forward is current spot minus the PV of the original forward price — and a higher r shrinks the short's gain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5, Example 3 (VFO / Biomian MTM), pp. 106–108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forward is a PROMISE to pay F₀ at T. That promise re-values whenever the PV of F₀ drifts away from the current spot.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V_t(T) long   =  S_t − F_0(T)(1 + r)^−(T−t)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V_t(T) short  =  F_0(T)(1 + r)^−(T−t) − S_t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S_t = spot price now; T − t = remaining life; r = current risk-free rate. Note F₀(T) is unchanged — only its PV moves.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21031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5 EXAMPLE 3 — VFO MTM AT t = 0.25 (PRINTED p. 108)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VFO is SHORT: F₀ = INR 300.84, r = 4%, T = 0.5y. At t = 0.25 spot has fallen to S_t = INR 285.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44952"/>
            <a:ext cx="82296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F₀ at t: 300.84 × (1.04)^−0.25 = 300.84 × 0.99024 = INR 297.90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MTM: V_t = F₀(1+r)^−(T−t) − S_t = 297.90 − 285 = INR 12.90 per share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1,000 × 12.90 = INR 12,900 gain to VFO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double r to 8%: PV(F₀) = 300.84 × (1.08)^−0.25 = 295.11 → MTM 10.11, a fall of 2.79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gains 12.90/share at r = 4%, only 10.11/share at r = 8%.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 forwards with discrete dividends price at F₀(T) = [S₀ − PV(I)](1+r)ᵀ — the dividend accrues to the spot holder, not the forward buyer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Example 4 (Hightest / Unilever), p. 90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subtract the PV of every dividend paid BEFORE maturity from S₀ before compounding at r. Dividends paid AFTER T are irrelevant.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F_0(T)  =  [ S_0  −  PV_0(I) ] · (1 + r)^T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PV₀(I) = present value at t = 0 of every income payment (dividend, coupon) received over the interval [0, T].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21031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EXAMPLE 4 — HIGHTEST / UNILEVER, T = 0.5y (PRINTED p. 90)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Hightest delivers 1,000 UL shares in six months. S₀ = EUR 50. UL pays a EUR 0.30 dividend at t = 0.25 and again at t = 0.5. r = 5%.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44952"/>
            <a:ext cx="82296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PV(I) = 0.30 × (1.05)^−0.25 + 0.30 × (1.05)^−0.5 = 0.2964 + 0.2928 = EUR 0.5892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F₀(T) = (50 − 0.5892) × (1.05)^0.5 = 49.4108 × 1.02470 = EUR 50.6310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 = 1,000 × 50.6310 = EUR 50,631.00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dividends: 50 × (1.05)^0.5 = 51.23. Carry over spot falls from 1.23 to 0.63.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EUR 50.6310 — dividends cut the forward premium from EUR 1.23 to EUR 0.63.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an equity index, dividends are modelled as a continuous yield — the forward compounds spot at the NET carry, r minus i, not at r alone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Example 5 (VFO / NIFTY 50), p. 91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indexes, dividends are modelled as a CONTINUOUS yield i because the constituents smear payment dates across the whole year.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F_0(T)  =  S_0 · e^( ( r + c − i ) T 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 index c = 0   ⇒   F_0  =  S_0 · e^( ( r − i ) T 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i = dividend yield (continuous); c = carry cost rate (continuous); r = risk-free rate (continuous).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21031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EXAMPLE 5 — VFO NIFTY 50, 3 MONTHS (PRINTED p. 91)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NIFTY 50 = INR 15,200. Index dividend yield i = 2.2%. INR risk-free r = 4.0%. T = 0.25y.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44952"/>
            <a:ext cx="82296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carry rate = r − i = 4.0% − 2.2% = 1.8%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= 0.018 × 0.25 = 0.0045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e^0.0045 = 1.004510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 = 15,200 × 1.004510 = INR 15,268.55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INR 15,268.55. If i exceeded r the forward would sit BELOW spot.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FX forwards price off covered interest-rate parity — the forward is spot grown at the interest-rate DIFFERENTIAL, never at the level of rates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Example 6 (AUD/USD replication) and Exhibit 9, pp. 91–93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domestic, convert at spot, lend foreign, lock the rate forward. Two riskless strategies must return the same — that equality forces 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F_{0, f/d}(T)  =  S_{0, f/d}  ·  e^( ( r_f − r_d ) T 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f = PRICE currency (numerator); d = BASE currency (denominator). S = units of f per one unit of d. Forward quoted the same way as spot.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21031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EXAMPLE 6 — AUD/USD SIX-MONTH FORWARD (PRINTED pp. 91–92)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S₀ = 1.3335 AUD/USD (AUD is the price currency f, USD the base currency d). 6m AUD r_f = 0.05%; 6m USD r_d = 0.20%. T = 0.5y.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44952"/>
            <a:ext cx="82296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(r_f − r_d) = 0.0005 − 0.0020 = −0.0015 p.a.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= −0.0015 × 0.5 = −0.00075 ; e^−0.00075 = 0.999250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 = 1.3335 × 0.999250 = 1.3325 AUD/USD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by replication: borrow USD 1,000 → AUD 1,333.50 → lend → AUD 1,333.83 vs USD 1,001 repaid ⇒ 1.3325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1.3325. Fewer AUD buy a USD later ⇒ AUD at a forward PREMIUM — the LOWER-rate currency.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Montau: the higher-yielding KRW trades at a forward DISCOUNT — and a three-legged money-market trade proves the forward rate to the last won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4, Example 7 (Montau AG KRW/EUR), pp. 93–94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 deviates from S · e^((r_f − r_d)T), a three-legged trade — spot plus two money-market legs — locks in riskless profit. So it does not deviate.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F_{KRW/EUR}(T)  =  S_{KRW/EUR}  ·  e^( ( r_KRW − r_EUR ) T 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8503920" cy="24231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EXAMPLE 7 — MONTAU AG, KRW 650m RECEIVABLE IN 75 DAYS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S₀ = 1,300 KRW/EUR. r_KRW = 0.75% (price currency). r_EUR = −0.25% (base currency). T = 75/365 year.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24912"/>
            <a:ext cx="822960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(r_KRW − r_EUR) = 0.0075 − (−0.0025) = 0.0100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0.0100 × (75/365) = 0.002055 ⇒ F₀ = 1,300 × e^0.002055 = 1,302.67 KRW/EUR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EUR leg: KRW 650m ÷ 1,300 = EUR 500,000 grown at −0.25% → EUR 499,743.22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KRW leg: KRW 650m grown at 0.75% → KRW 651,002,484.59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forward = 651,002,484.59 / 499,743.22 = 1,302.67 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 = 1,302.67 KRW/EUR. More KRW per EUR later ⇒ KRW at a forward DISCOUNT (higher rate).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Futures are forwards with daily mark-to-market — cumulative P&amp;L matches a forward's, but the cash-flow timing is completely different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6, Question Set "Valuation and Pricing of Futures Contracts", Q2, pp. 139–140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evening the MTM is settled in cash and the contract value RESETS to zero. Cumulative MTM through T ≈ the forward's single payoff at 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MTM (long)  =  [ f_t(T)  −  f_{t−1}(T) ]  ×  contract size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f_t(T) = futures settlement price on day t. After settlement the contract is re-struck at f_t(T) and its value is zero again.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8503920" cy="21031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6 QUESTION SET Q2 — SHORT CRUDE OIL, DAY T−5 (pp. 139–140)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is SHORT 1,000 barrels of crude entered at f₀ = USD 69.00. Day T−6 settled at 66.02; day T−5 settled at 68.01.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44952"/>
            <a:ext cx="822960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futures price change: 68.01 − 66.02 = +1.99 per barrel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 to the LONG  = +1.99 × 1,000 = +USD 1,990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 to the SHORT = −1.99 × 1,000 = −USD 1,990, debited from margin that evening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ROSE, so the short loses. Sign follows the position, not the direction of the market.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loses USD 1,990 on day T−5 — realized that evening, not at maturity.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margin call triggers when the balance falls below MAINTENANCE margin — but the top-up must restore the account to INITIAL margin, not to maintenance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471416"/>
            <a:ext cx="8503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Basis (S − f) converges to zero at maturity: in the CFA crude-oil table, spot and futures both settle at USD 70.03 on day T (p. 139).
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6, Practice Problem 1 (CME copper), pp. 146 and 148 (printed); margin rule at p. 135.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 is the entry ticket. Maintenance margin is the trigger level. The gap between them is how far you can lose before the phone rings.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f_0(T)  =  [ S_0  +  PV_0(C) ]  (1 + r)^T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call when Balance &lt; Maintenance ⇒ restore to INITIAL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24231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6 PRACTICE PROBLEM 1 — CME COPPER, LONG POSITION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25,000 lb. S₀ = USD 4.25/lb. Storage USD 10/contract payable at T. r = 1.875%. T = 1/12. Initial margin 10,000; maintenance 6,000.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24912"/>
            <a:ext cx="822960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storage: PV₀(C) = 10 × (1.01875)^−(1/12) = USD 9.98 per contract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 = [(4.25 × 25,000) + 9.98] × (1.01875)^(1/12) = USD 106,425 ≈ USD 4.257/lb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triggers after a loss of 10,000 − 6,000 = USD 4,000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4,000 / 25,000 lb = USD 0.16/lb ⇒ call at 4.257 − 0.16 = USD 4.10/lb (= 102,425/contract)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CTA must then deposit enough to return the account to USD 10,000 — the INITIAL margin.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call below USD 4.10/lb; the top-up restores INITIAL margin, not maintenance.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and futures prices are equal if rates are constant or uncorrelated with price — correlation and, separately, convexity are what pull them apart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6, "Forward and Futures Price Differences" and "Interest Rate Forward and Futures Price Differences", pp. 141–143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Short-dated contracts: the gap is a rounding error. Multi-year rate contracts (SOFR futures vs IRS): it is a basis dealers quote and charge for.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60520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" cy="3108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1 — MTM CORRELATION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600200"/>
            <a:ext cx="37947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EQUAL if r is constant, OR if r is uncorrelated with the futures price.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Futures &gt; forward when f is POSITIVELY correlated with r — daily gains get reinvested at higher rates, losses financed at lower ones.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Futures &lt; forward when f is NEGATIVELY correlated with r — e.g. bond futures, where price falls as rates rise.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 of thumb: the more desirable contract carries the higher price.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160520" cy="310896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188720"/>
            <a:ext cx="73152" cy="31089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2 — CONVEXITY BIAS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00200"/>
            <a:ext cx="37947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 FUTURES settle linearly — a fixed BPV per basis point. An FRA settles on the PRESENT VALUE of the final cash flow.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CFA Ex 5: ±20bp on USD 1m of 3m MRR gives futures ±500 but FRA +497.50 / −497.01. Not symmetric.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That asymmetry is positive convexity and it favours the FORWARD holder. So the futures-implied RATE prints ABOVE the FRA/swap rate — subtract a convexity adjustment to get the forward rate.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bias grows with tenor and rate volatility. Central clearing narrows the cash-flow gap, not this one.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 ·  Deck 17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swap is a series of firm commitments — economically a strip of forwards, but with ONE constant fixed rate instead of period-specific forward rates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"Swaps vs. Forwards", Exhibits 1–2, pp. 152–154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with one fixed rate replaces N FRAs with N different fixed rates — fewer tickets, one credit line, the same aggregate exposure.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 (pay-fixed)  =  ( MRR − s_N ) × Notional × Period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s_N = the fixed swap rate for an N-period swap. MRR sets at the START of each period and is settled at the END of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4160520" cy="1417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331720"/>
            <a:ext cx="73152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 OF FRAs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51760"/>
            <a:ext cx="39319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 carries its OWN fixed rate — the implied forward rate for that period. N contracts, N rates, N credit exposures. And an FRA settles ONCE, at the START of its interest period, on a discounted basis.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160520" cy="141732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331720"/>
            <a:ext cx="73152" cy="14173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INTEREST-RATE SWAP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651760"/>
            <a:ext cx="39319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and ONE constant fixed rate s_N, set so that PV(fixed) = PV(floating) at t = 0. Same aggregate exposure, one ticket — and each settlement falls at the END of its period, undiscounted.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par swap rate is the ONE fixed rate that makes PV(expected floating) equal PV(fixed) at t = 0 — an internal rate of return on the forward curve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"Swaps vs. Forwards", Equation 3 and Exhibit 3, pp. 154–155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s_N is chosen precisely so the swap is worth nothing to either side on day one. That is what "priced at par" means.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IFR_i / (1+z_i)^i   =   s_N × Σ 1 / (1+z_i)^i     (i = 1…N)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IFR_i = implied forward rate for period i (derived from the zero curve); z_i = zero rate for maturity i; s_N = par swap rate.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286000"/>
            <a:ext cx="73152" cy="20116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33172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INTUITION IN THREE LINES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8275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PV(floating): each period's implied forward rate discounted at its matching zero rate.  RIGHT = PV(fixed): the level rate s_N multiplied by the sum of discount factors.  Set them equal, solve for s_N — and by construction V₀ = 0.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Geometrically, s_N is a horizontal line drawn through the forward curve so that the PV-weighted area above equals the PV-weighted area below. An upward-sloping curve pushes s_N above the first forward rate; a downward-sloping curve pulls it below.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Crucially, individual exchanges are NOT worth zero. The early ones are negative to the fixed payer and the late ones positive. Only the SUM is zero.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Worked: a 3-year IRS prices at s₃ = 3.9641% on a zero curve of 2.3960% / 3.4197% / 4.0005%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Example 1 (Swaps as a Combination of Forwards), pp. 153–155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bootstrap the implied forwards from the zero curve. Step 2: plug into the par-swap equation. Step 3: divide.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27432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Period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Zero rate z_i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Implied forward IFR_i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Derivation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2.3960%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2.3960%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IFR_{0,1} = z_1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3.4197%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4.4536%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(1.034197)² / (1.02396) − 1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4.0005%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5.1719%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(1.040005)³ / (1.034197)² − 1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377440"/>
            <a:ext cx="8503920" cy="192024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42316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 FOR s₃  (CFA PRINTED p. 155)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715768"/>
            <a:ext cx="822960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PV(float) = PV(fixed):  Σ IFR_i/(1+z_i)^i  =  s₃ × Σ 1/(1+z_i)^i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PV(float) = 2.3960/1.02396 + 4.4536/(1.034197)² + 5.1719/(1.040005)³ = 0.111017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factors: 0.976601 + 0.934962 + 0.888982 = 2.800545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s₃ = 0.111017 / 2.800545 = 3.9641%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s₃ = 3.9641% — between the 2.396% front IFR and the 5.172% back IFR, as an upward curve requires.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V₀(swap) = 0 by construction; on any settlement date the swap is worth the current settlement plus the PV of every remaining exchange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Example 3 (Esterr Inc. Swap Value and Price), pp. 160–162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 = 0 PV(fixed) = PV(floating) by design. As time passes and rates move, the legs drift apart — and that gap IS the swap MTM.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V_t (swap)  =  current period settlement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PV_t( all remaining fixed-vs-floating exchanges 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78308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Settlement = (MRR − s_N) × Notional × Period for the fixed-rate PAYER; the sign reverses for the receiver.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8503920" cy="21945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488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7 EXAMPLE 3 — ESTERR, CAD 250m PAY-FIXED AT 2.05%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414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Esterr pays fixed 2.05% quarterly and receives 3m CAD MRR on CAD 250m. Period = 0.25. The IFR curve rises ~0.24% per quarter from 0.50%.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53512"/>
            <a:ext cx="822960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1: (0.50% − 2.05%) × 250m × 0.25 = −CAD 968,750 — Esterr pays.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2: (0.74% − 2.05%) × 250m × 0.25 = −CAD 818,750 — Esterr still pays.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Esterr keeps paying through period 7 (1.94% &lt; 2.05%) and starts RECEIVING in period 8 (2.18% &gt; 2.05%).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forward with the curve unchanged: the loss-making quarters fall away, so PV(floating received) &gt; PV(fixed paid) ⇒ MTM gain.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V₀ = 0. Esterr pays through period 7, receives from period 8 — MTM gain as the payers roll off.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interest-rate swap is a pair of bonds — pay-fixed ≡ long FRN + short fixed bond; receive-fixed ≡ long fixed bond + short FRN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Exhibit 4 "Using Swaps to Manage Fixed-Income Exposure", p. 157, and p. 162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principals cancel at inception and again at maturity. Only the coupon legs survive — so a swap is two bond coupons traded with a partner.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173736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Swap side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Equivalent bond portfolio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Effective duration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When rates RISE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Pay-fixed / Receive-floating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FRN + SHORT fixed bond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Negative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MTM GAIN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Receive-fixed / Pay-floating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fixed bond + SHORT FRN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Positive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MTM LOSS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194560"/>
            <a:ext cx="8503920" cy="160020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2194560"/>
            <a:ext cx="73152" cy="16002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24028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PRINCIPALS CANCEL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514600"/>
            <a:ext cx="82753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RECEIVE-fixed side. At t = 0 the manager buys a fixed-rate bond for N (−N cash) and funds it by issuing an FRN at MRR (+N cash): net zero. At maturity the bond repays N (+N) and the FRN is redeemed at N (−N): net zero again. Only the coupon legs survive — receive fixed, pay MRR — which is exactly a receive-fixed swap. Flip every sign and you have pay-fixed. This is why a swap carries the DIFFERENCE in duration and DV01 between the two bonds, not the level of either, and why an FRN contributes almost no duration: it reprices to par at every reset.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Post-inception, a rise in expected forward rates raises PV(floating) — an MTM gain for the fixed-rate payer and a loss for the fixed-rate receiver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"Swap Values and Prices" and Question Set, pp. 159–165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Receive-fixed IS a long fixed-rate bond; pay-fixed IS a short one. Every row below follows from that one equivalence.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17320"/>
                <a:gridCol w="1691640"/>
                <a:gridCol w="132588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Event post-inception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 on PV(float)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 on PV(fixed)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Pay-fixed MTM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Receive-fixed MTM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curve shifts UP parallel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 (higher disc)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curve shifts DOWN parallel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 (lower disc)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passes, upward curve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 &gt; Fixed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passes, downward curve unchanged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 &lt; Fixed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926080"/>
            <a:ext cx="8503920" cy="114300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2926080"/>
            <a:ext cx="73152" cy="1143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97180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 INTUITION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46120"/>
            <a:ext cx="82753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receive-fixed swap behaves like a long fixed-rate bond — positive duration. A manager who wants MORE portfolio duration without buying bonds receives fixed; one who wants LESS pays fixed. Rows 3 and 4 are the ones students miss: on an unchanged upward-sloping curve, the mere passage of time hands the fixed payer a gain, because the cheap early periods have already been paid away.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Worked: Fyleton receives fixed 2.38% on GBP 200m — time on an upward curve costs it, a downward shift in the curve pays it, exactly like a long bond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7, Learning Module 7, Example 4 (Fyleton Investments), pp. 162–163 (printed).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Receive-fixed is a long-bond proxy. Rates fall, bonds rally, the swap gains — same directional exposure, far cheaper to put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 (receive-fixed)  =  ( s_N − MRR ) × Notional × Period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8503920" cy="24231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7 EXAMPLE 4 — FYLETON, RECEIVE-FIXED 5y GBP 200m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Fyleton receives fixed 2.38% semi-annually and pays 6m GBP MRR on GBP 200m, to lengthen portfolio duration. Initial MRR sets at 0.71%. Period = 0.5. Forward curve slopes UP.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24912"/>
            <a:ext cx="822960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settlement at t = 0.5: (2.38% − 0.71%) × 200m × 0.5 = +GBP 1,670,000 received.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time passes, curve unchanged: the MRRs Fyleton pays climb past 2.38%, so PV(floating paid) &gt; PV(fixed received) ⇒ MTM LOSS.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the forward curve shifts DOWN: PV(floating paid) falls while the fixed leg is unchanged ⇒ MTM GAIN.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signature as a long fixed-rate bond: it bleeds as an upward curve rolls through, and rallies when the curve drops.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exchange +GBP 1.67m. Time on an upward curve = LOSS; a downward curve shift = GAIN.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 17 — Derivatives I: Forwards, Futures &amp; Swaps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38988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3502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commitments (forwards, futures, swaps): symmetric payoff, V₀ = 0. Contingent claims (options, CDS): asymmetric, and cost a premium. The long is the BUYER.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40580" y="126187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4805172" y="138988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06340" y="133502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= customized and bilateral under an ISDA; ETD = standardized, novated to a CCP, margined daily. Post-2008 clearing of standardized OTC has narrowed the gap.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21284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15798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F₀(T) = S₀(1+r)^T is a PRICE, not a forecast. With carry: F₀ = [S₀ − PV(I) + PV(C)](1+r)^T — costs ADD, income SUBTRACTS.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0580" y="208483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5172" y="221284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06340" y="215798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fixed at inception so V₀ = 0; value moves later. Long MTM: V_t = S_t − F₀(T)(1+r)^−(T−t). Biomian: F₀ = 300.84, short gains 12.90 at t = 0.25 (10.11 if r doubles to 8%).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0779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03580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298094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parity: F_{f/d} = S_{f/d}·e^((r_f − r_d)T). The LOWER-rate currency trades at a forward PREMIUM. AUD/USD 1.3335 → 1.3325; Montau KRW/EUR 1,300 → 1,302.67.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40580" y="290779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5172" y="303580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06340" y="298094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Futures = forwards plus daily MTM; a call triggers at MAINTENANCE and restores to INITIAL. Prices split on MTM correlation and, for rate contracts, convexity.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73075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85876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380390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swap rate solves Σ IFR_i/(1+z_i)^i = s_N × Σ 1/(1+z_i)^i. Three-year example: s₃ = 3.9641% on a 2.396 / 3.4197 / 4.0005% zero curve. V₀ = 0 in aggregate, not per period.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40580" y="373075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5172" y="385876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06340" y="380390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≡ a pair of bonds: pay-fixed ≡ long FRN + short fixed bond (negative duration); receive-fixed ≡ long fixed bond + short FRN (positive duration). Rates up ⇒ pay-fixed gains.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Studio Tonton Gug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 v2 · Deck 17 · Derivatives I: Forwards, Futures &amp; Swaps</dc:title>
  <dc:subject>PptxGenJS Presentation</dc:subject>
  <dc:creator>Studio Tonton Gug</dc:creator>
  <cp:lastModifiedBy>Studio Tonton Gug</cp:lastModifiedBy>
  <cp:revision>1</cp:revision>
  <dcterms:created xsi:type="dcterms:W3CDTF">2026-09-02T18:51:13Z</dcterms:created>
  <dcterms:modified xsi:type="dcterms:W3CDTF">2026-09-02T18:51:13Z</dcterms:modified>
</cp:coreProperties>
</file>