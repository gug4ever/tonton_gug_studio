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17  ·  WEEK 7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Derivatives 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Forwards, Futures &amp; Swaps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Firm-commitment instruments and their no-arbitrage pricing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7 Learning Modules 1–7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Derivatives I: Forwards, Futures &amp; Swaps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 markets &amp; instruments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OTC vs ETD · ISDA · central clearing · firm commitments vs contingent claims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Benefits, risks &amp; uses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transfer · price discovery · ops efficiency · leverage / basis / liquidity / credit risk · issuer vs investor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Arbitrage, replication &amp; cost of carry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of one price · cash-and-carry arbitrage · replication identity · dividends / storage / income adjustments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 &amp; futures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F₀(T)=S₀(1+r)ᵀ · MTM over life · equity / FX / index forwards · IRP · daily margining · basis · convexity bias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Swaps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of forwards · par swap rate · PV(floating)=PV(fixed) · IRS = long FRN + short fixed bond · valuation over time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basic features of a derivative and contrast OTC vs exchange-traded markets, including the role of ISDA, central clearing and margining.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firm commitments (forwards, futures, swaps) from contingent claims (options, credit derivatives) by their payoff profile and settlement mechanics.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benefits (risk transfer, price discovery, operational efficiency) and risks (leverage, basis, liquidity, counterparty credit) of derivative use.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law of one price to price a forward via cash-and-carry arbitrage and adjust the formula for income, storage costs, and interest-rate differentials.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and value forward contracts on equities (with discrete dividends and dividend yields), FX (via covered interest-rate parity), and interest rates (FRAs).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and value plain-vanilla interest-rate swaps by solving for the par swap rate and by interpreting the swap as a pair of offsetting bond positions.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 markets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instruments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17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derivative is a contract whose value is derived from an underlying — the buyer gets a long-like exposure, the seller a short-like exposure, at a specified maturity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1, "Derivative Features", pp. 5–8.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forward on 1,000 Airbus shares at EUR 30/share settles either in physical delivery or in cash for the spot-vs-forward difference.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Payoff at T (long)  =  S_T − F_0(T)        Payoff at T (short)  =  F_0(T) − S_T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S_T = underlying spot price at maturity; F_0(T) = forward price agreed at inception (t = 0).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UNDERLYING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Equities, fixed income (bonds, interest rates), FX, commodities, credit, volatility. May be a basket or an index, not necessarily a single asset.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31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COUNTERPARTIES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entities with matching obligations. Almost always one end-user (issuer or investor) and a financial intermediary. Counterparty credit risk is a first-order concern.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31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377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SIZE &amp; MATURITY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51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Notional (or contract size) agreed at outset. Maturity = time to settlement. Cash settlement = net difference; physical settlement = exchange of asset for cash.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OTC derivatives are customized bilateral contracts under an ISDA; exchange-traded derivatives are standardized, centrally cleared, and margined daily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1, "Derivative Markets", pp. 14–18.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Dodd-Frank and EMIR pushed most OTC rate and FX swaps into central clearing, narrowing the structural gap with ETDs.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29000"/>
                <a:gridCol w="3063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Over-the-counter (OTC)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Exchange-traded (ETD)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terms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Customized (size, maturity, underlying, delivery)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Standardized contract spec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 credit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Bilateral — mitigated by ISDA + CSA collateral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Borne by the CCP (novation)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Typically at maturity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Daily mark-to-market via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 /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Lower; dealer quotes, negotiated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Higher; public order book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products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FX forwards, IRS, credit default swaps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Futures, listed options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Post-2010 central clearing for standardized OTC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Exchange + CFTC / ESMA / equivalent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ISDA MASTER AGREEMENT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standardized legal shell covering netting, default, early termination and collateral (via the Credit Support Annex). Enables one agreement to cover thousands of trades between two counterparties — the plumbing of OTC derivative markets.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 commitments fix the terms today and settle in the future; contingent claims give the buyer an optional payoff — forwards, futures and swaps vs options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2, "Forward Commitment vs Contingent Claim", pp. 26–49.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commitments have SYMMETRIC payoffs (buyer's gain = seller's loss). Contingent claims have ASYMMETRIC payoffs (buyer caps loss at premium).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 COMMITMENTS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parties are OBLIGED to transact at the pre-agreed terms.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Forward — OTC, one-shot, settled at maturity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Future — ETD, one-shot at maturity but daily MTM in cash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Swap — OTC, periodic exchange (usually IRS fixed vs MRR)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V₀(T) = 0 at inception (no cash changes hands).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 is SYMMETRIC: V_T(long) = S_T − F₀(T).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CONTINGENT CLAIMS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party (the buyer) decides whether and when to exercise.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Call option — right to buy at X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Put option — right to sell at X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Credit derivative (CDS) — payoff contingent on a credit event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pays a PREMIUM (c₀ or p₀) at inception → V₀ ≠ 0.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 is ASYMMETRIC: buyer's loss is capped at premium.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4343400"/>
            <a:ext cx="8503920" cy="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43400"/>
            <a:ext cx="73152" cy="0"/>
          </a:xfrm>
          <a:prstGeom prst="rect">
            <a:avLst/>
          </a:prstGeom>
          <a:solidFill>
            <a:srgbClr val="E8600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Forwards, futures and swaps share a symmetric payoff profile and zero value at inception — they differ in settlement mechanics and in the cash-flow shape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2, "Forwards, Futures, and Swaps", pp. 26–37.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economic exposure to the forward curve — very different daily cash-flow and credit-risk profiles.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237744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Forward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Futures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Swap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Exchange-traded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(centrally cleared std)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Customized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Standardized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Customized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flow profile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Single exchange at 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Single economic exchange + daily MTM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Periodic exchange over life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Counterparty (bilateral)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CCP (very low)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Counterparty +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V₀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V₀ = 0 (resets daily)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V₀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Payoff shape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Symmetric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Symmetric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Symmetric (strip of forwards)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7472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7472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MENTAL MODEL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9476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swap is economically a STRIP of forwards, but priced at a SINGLE fixed rate (the par swap rate) rather than at each period's own forward rate. A futures contract is a forward wrapped in a daily settlement mechanism that eliminates most counterparty credit risk.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Benefits, risks &amp; uses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17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Derivatives deliver four core benefits — risk transfer, price discovery, operational efficiency, and market efficiency — that cash markets alone cannot match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3, "Derivative Benefits", pp. 55–62.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exposure as the cash market, a fraction of the capital, and a bridge between economic decisions and the moment they can be transacted.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Benefit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Mechanism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CFA vignette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allocation / transfer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Bridge the timing gap between an economic decision and the ability to transact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Montau FX hedge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discovery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Derivative prices reveal expectations: index futures, rate futures, implied vol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 futures open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transaction costs, higher liquidity, small upfront cash, easy shorting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Procam gold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Cheaper to exploit mispricings → prices converge on fundamentals faster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Arbitrage enforcement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10515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33832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OPERATIONAL EFFICIENCY — PROCAM GOLD FUTURES VS SPOT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6758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100-oz long-gold exposure for 3 months; 5% funding cost.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395020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Futures: USD 4,950 margin → 3m interest USD 61.88. Spot: USD 177,000 → 3m interest USD 2,212.50. 36× capital efficiency.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same leverage that makes derivatives efficient also creates hidden risks — leverage, basis, liquidity, and counterparty credit risk demand explicit management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Excessive derivative leverage was a catalyst in the 2008 financial crisis (AIG CDS, Lehman bilateral exposures) — motivating post-crisis central clearing mandates.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3, "Derivative Risks", pp. 63–66.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are powerful because they are leveraged; the same property makes unmanaged positions a route to systemic stress.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91440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02920" y="1188720"/>
            <a:ext cx="3657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225296"/>
            <a:ext cx="7863840" cy="3086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Implicit leverage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1497330"/>
            <a:ext cx="7863840" cy="37719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margin → large notional. A 1% move can wipe out the margin — derivatives are often the cheapest way to take risk and the fastest way to blow 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1938528"/>
            <a:ext cx="8503920" cy="685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1938528"/>
            <a:ext cx="91440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1938528"/>
            <a:ext cx="3657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1975104"/>
            <a:ext cx="7863840" cy="3086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Basis 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247138"/>
            <a:ext cx="7863840" cy="37719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derivative's underlying does not perfectly match the hedged exposure (e.g. WTI future hedging Brent cargo). Residual P&amp;L = basis × notional.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2688336"/>
            <a:ext cx="8503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2688336"/>
            <a:ext cx="91440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2920" y="2688336"/>
            <a:ext cx="3657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2724912"/>
            <a:ext cx="7863840" cy="3086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Liquidity risk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2996946"/>
            <a:ext cx="7863840" cy="37719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 in cash-flow TIMING between hedge and hedged item: daily margin calls on a 5-year futures hedge vs annual coupon — can force early unwind.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0040" y="3438144"/>
            <a:ext cx="8503920" cy="685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" y="3438144"/>
            <a:ext cx="91440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2920" y="3438144"/>
            <a:ext cx="36576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474720"/>
            <a:ext cx="7863840" cy="3086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Counterparty credit risk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746754"/>
            <a:ext cx="7863840" cy="37719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the dealer fails to honor an OTC contract. Mitigated by CCP clearing, ISDA master + CSA collateral, netting.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Issuers use derivatives to hedge commercial and financing exposures; investors use them to modify portfolio cash flows and replicate exposures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3, "Issuer/Investor Use of Derivatives", pp. 67–72.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typically seek HEDGE ACCOUNTING (fair-value, cash-flow, or net-investment hedge) to minimize P&amp;L volatility from the derivative itself.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ISSUER USE CASES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FX export hedge (Montau KRW/EUR forward to lock revenue in EUR)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Commodity input hedge (airline buying jet-fuel swaps)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Convert floating-rate debt to fixed via pay-fixed IRS → cash-flow hedge accounting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Convert fixed-rate debt to floating via receive-fixed IRS → fair-value hedge accounting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Pre-issuance rate lock via forward-starting swap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 USE CASES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Modify portfolio duration via receive-fixed IRS (longer) or pay-fixed IRS (shorter) — no bond trading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Covered call on existing long equity → extra yield, capped upside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Synthetic index exposure via futures (low capital, high liquidity)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Hedge FX exposure on foreign equities / bonds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Express credit view via CDS without holding the bond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4389120"/>
            <a:ext cx="8503920" cy="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89120"/>
            <a:ext cx="73152" cy="0"/>
          </a:xfrm>
          <a:prstGeom prst="rect">
            <a:avLst/>
          </a:prstGeom>
          <a:solidFill>
            <a:srgbClr val="E8600A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Arbitrage, replication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cost of carry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17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Derivative pricing rests on a single engine — the law of one price enforced by riskless arbitrage between spot and forward positions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"Arbitrage and Replication", pp. 80–87.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positions deliver the same future cash flows, they must have the same price today. Any deviation is arbitraged away in seconds.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Law of one price:   S_0  =  F_0(T) / (1 + r)^T        ⇔        F_0(T)  =  S_0 (1 + r)^T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78308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S_0 = spot price today; F_0(T) = forward price agreed today for delivery at T; r = risk-free rate over horizon 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1920240"/>
            <a:ext cx="2743200" cy="2331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920240"/>
            <a:ext cx="73152" cy="2331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965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ARBITRAGE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240280"/>
            <a:ext cx="25146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that makes a RISKLESS positive profit with ZERO net investment. Requires simultaneous positions. In efficient markets, arbitrage is fleeting — but enforces the no-arb condition.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1920240"/>
            <a:ext cx="2743200" cy="23317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1920240"/>
            <a:ext cx="73152" cy="23317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1965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REPLICATION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240280"/>
            <a:ext cx="25146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a derivative's cash flows with a spot position + risk-free borrowing/lending. Long forward ≡ buy spot + borrow PV(F). If replication and derivative prices differ, arbitrage opens.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1920240"/>
            <a:ext cx="2743200" cy="2331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1920240"/>
            <a:ext cx="73152" cy="2331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19659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CARRY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240280"/>
            <a:ext cx="25146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cost of holding the underlying from 0 to T: opportunity cost r, plus C (storage), minus I (income earned). The forward price must cover this carry to prevent arbitrage.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a forward is mispriced relative to the no-arbitrage spot-plus-carry, a cash-and-carry trade locks in a riskless profit — the worked example that pins F₀(T)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Practice Problem 4, pp. 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rich leg, buy the cheap leg, carry to maturity — the textbook arbitrage mechanic that every pricing formula in this section enforces.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No-arb:  F_0(T) = S_0 (1+r)^T     Observed F &gt; No-arb ⇒ SELL forward  +  BUY spot  +  BORROW S_0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874520"/>
            <a:ext cx="8503920" cy="2423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4 PP#4 — CASH-AND-CARRY ARBITRAGE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S₀ = USD 100; observed 3-month forward F₀ = USD 102; risk-free rate r = 5% p.a.; T = 0.25y. Underlying has no dividend or storage.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24912"/>
            <a:ext cx="8229600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no-arbitrage forward: F*_0(T) = 100 × (1.05)^0.25 = USD 101.23.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102 &gt; 101.23 ⇒ forward is RICH. Sell forward at 102, buy spot at 100, finance purchase by borrowing 100 at 5%.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T: deliver the spot asset (held) and receive USD 102 under the forward.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 the loan: 100 × (1.05)^0.25 = USD 101.23. Keep the difference.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profit = 102 − 101.23 = USD 0.77 per contract, riskless, zero net investment at t = 0.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Riskless profit USD 0.77 pins the forward at 101.23 — this arbitrage is the proof of F₀(T) = S₀(1+r)^T.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long forward commitment can be replicated by borrowing at r to buy the underlying at spot — the replication identity that gives F₀(T) = S₀(1+r)ᵀ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"Replication", pp. 83–87.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forward ≡ LONG asset (financed) ; short forward ≡ SHORT asset (lend proceeds). This identity is why a forward has V₀ = 0.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  <a:gridCol w="25603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Position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 = 0 cash flows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 = T cash flows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Net at 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forward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(V₀ = 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Receive asset, pay F₀(T)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S_T − F₀(T)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 long: buy spot + borrow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Buy S at S₀; borrow S₀ at 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Own asset worth S_T; repay S₀(1+r)ᵀ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S_T − S₀(1+r)ᵀ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forward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(V₀ = 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Deliver asset, receive F₀(T)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F₀(T) − S_T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Replicate short: short spot + lend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Short-sell S at S₀; lend S₀ at 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Cover short at S_T; receive S₀(1+r)ᵀ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S₀(1+r)ᵀ − S_T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8328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29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IDENTITY THAT PRICES EVERY FORWARD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0332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two long columns to be indifferent, S_T − F₀(T) must equal S_T − S₀(1+r)ᵀ, which forces F₀(T) = S₀(1+r)ᵀ. Negative r flips the sign: F₀ &lt; S₀. The replication identity extends to any asset once cost of carry is added.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carry adjusts the replication formula for income earned (I) and costs incurred (C) while holding the underlying — dividends lower F, storage costs raise F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"Costs and Benefits of Ownership", pp. 88–97.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Dividends, coupons, and convenience yields are BENEFITS the spot holder gets that the forward holder does not; storage, insurance, spoilage are added COSTS.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4980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Discrete:  F_0(T) = [S_0 − PV(I) + PV(C)] (1 + r)^T      Continuous:  F_0(T) = S_0 · e^((r + c − i) T)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6596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I, C = income and cost as present values; i, c = income and cost expressed as continuous rates of return; r = risk-free rate.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031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192024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 class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Income benefit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Forward vs spot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Non-dividend equity / zero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 &gt; S  (carry = 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Dividend-paying stock /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Dividend I or yield 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 depends on (r − i)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bond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Coupon 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 usually &gt; S, less coupons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 (f/d pair)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Foreign r-free rate earned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Domestic r-free rate paid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Sign of (rf − rd) decides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commodity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Convenience yield (if scarce)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Storage, insurance, spoilage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Often F &gt; S (contango); F &lt; S backwardation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 &amp; futures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17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inception the forward price equates the discounted future value of spot plus carry — V₀(T) = 0 to both counterparties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5, "Pricing vs Valuation", pp. 102–106.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cash changes hands at t=0 because the contract price already embeds the carry. Valuation only becomes non-zero once S, r, or time move.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F_0(T)  =  S_0 (1 + r)^T           V_0(T)  =  0   (to both long and short)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F_0(T) = pre-agreed forward price; V_0(T) = MTM value at inception; r, T consistent units.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EXAMPLE — VFO BIOMIAN FORWARD AT INCEPTION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VFO sells 1,000 Biomian shares forward to an intermediary. Spot S₀ = INR 295; T = 0.5 year; no dividend; risk-free rate r = 4%.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forward: F₀(T) = 295 × (1.04)^0.5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(1.04)^0.5 = 1.01980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F₀(T) = 295 × 1.01980 = INR 300.84 per share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V₀(T) = 0: VFO has not yet gained or lost — the 4% r is already baked 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F₀(T) = INR 300.84  — contract size = 1,000 × 300.84 = INR 300,840.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inception, the MTM of a long forward is the current spot minus the PV of the original forward price — the position re-values as S and r move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5, "Pricing and Valuation over Life", pp. 106–110.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a forward is a PROMISE to pay F₀ at T; that promise re-values when the PV of F₀ moves away from the current spot.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V_t(T) long  =  S_t  −  F_0(T) (1 + r)^−(T − t)        V_t(T) short  =  F_0(T) (1 + r)^−(T − t)  −  S_t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S_t = spot price now; T − t = remaining life; r = current risk-free rate.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EXAMPLE 3 — VFO MTM AT t = 0.25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Biomian short forward (seller): F₀ = INR 300.84, r = 4%, T = 0.5y. At t = 0.25, spot has fallen to S_t = INR 285. Compute VFO's MTM.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F₀ at t: 300.84 × (1.04)^−0.25 = 300.84 × 0.99024 = INR 297.90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VFO short MTM: V_t = F₀(1+r)^−(T−t) − S_t = 297.90 − 285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V_t = INR 12.90 per share  →  total 1,000 × 12.90 = INR 12,900 gain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 had risen to 8%: PV(F₀) = 300.84 × (1.08)^−0.25 = 295.11 → MTM only 10.11 (higher r shrinks short's gain)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MTM gain = INR 12.90/share at r = 4%; falls to INR 10.11/share at r = 8%.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forwards with discrete dividends price at F₀(T) = [S₀ − PV(I)](1+r)ᵀ — the dividend accrues to the spot holder, not the forward buyer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Example 4 (Hightest / Unilever), pp. 90–91.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subtract the PV of every dividend paid BEFORE maturity from S₀ before capitalizing at r. Dividends paid AFTER T are irrelevant.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F_0(T)  =  [ S_0  −  PV_0(I) ] · (1 + r)^T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PV_0(I) = present value at t = 0 of every income (dividend/coupon) received over [0, T].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HIGHTEST / UNILEVER EQUITY FORWARD — T = 0.5y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Hightest delivers 1,000 UL shares in 6 months. S₀ = EUR 50. UL pays quarterly dividend 0.30 at t = 0.25 and t = 0.5. r = 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PV(I) = 0.30 × (1.05)^−0.25 + 0.30 × (1.05)^−0.5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0.2964 + 0.2928 = EUR 0.5892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F₀(T) = (50 − 0.5892) × (1.05)^0.5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49.4108 × 1.02470 = EUR 50.6310 per share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value = 1,000 × 50.6310 = EUR 50,631.00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 = EUR 50.6310. Without dividends F₀ would be 50 × (1.05)^0.5 = 51.23 → 0.60 lower because of PV(dividends).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equity index forward with continuous dividend yield uses F₀(T) = S₀ · e^((r − i) T) — the standard for index futures pricing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Example 5 (VFO / NIFTY 50), pp. 91.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indexes, dividends are treated as a CONTINUOUS yield i because the many constituents smear payment dates. r − i is the net carry.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F_0(T)  =  S_0 · e^( ( r + c − i ) T )          (for indexes c = 0  ⇒  F_0 = S_0 · e^((r − i)T))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 = dividend yield (continuous); c = carry cost rate (continuous); r = risk-free rate (continuous).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VFO NIFTY 50 THREE-MONTH INDEX FORWARD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NIFTY 50 = INR 15,200. Dividend yield i = 2.2%. INR risk-free r = 4.0%. T = 0.25y. Compute F₀.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carry rate = r − i = 4.0% − 2.2% = 1.8%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 = 0.018 × 0.25 = 0.0045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e^0.0045 ≈ 1.004510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 = 15,200 × 1.004510 = INR 15,268.55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 = INR 15,268.55. If i &gt; r, the forward would be BELOW spot — dividends outweigh opportunity cost.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FX forwards price off covered interest-rate parity — the forward exchange rate is the spot rate grown at the interest-rate differential, not the level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Example 6 (AUD/USD replication), pp. 91–93.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in domestic, convert spot, lend in foreign, lock the FX at forward — two risk-free strategies must return the same, which forces 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F_{0, f/d}(T)  =  S_{0, f/d}  ·  e^( ( r_f − r_d ) T 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 = price (foreign) currency (numerator); d = base (domestic) currency (denominator). Forward quote in same convention as spot.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AUD/USD 6-MONTH FORWARD — IRP IN ACTION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S₀ = 1.3335 AUD/USD (f = AUD, d = USD). 6m AUD r_f = 0.05%; 6m USD r_d = 0.20%. T = 0.5y.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Interest-rate differential (r_f − r_d) = 0.0005 − 0.0020 = −0.0015 p.a.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 = −0.0015 × 0.5 = −0.00075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e^−0.00075 ≈ 0.999250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 = 1.3335 × 0.999250 = 1.3325 AUD/USD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 = 1.3325. Fewer AUD are needed to buy USD in the future → AUD at a forward PREMIUM (the currency with the LOWER rate).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Interest-rate parity means the currency with the LOWER risk-free rate trades at a forward PREMIUM — arbitrage would eat any deviation in seconds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4, Example 7 (Montau KRW/EUR), pp. 93–94.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 deviates from spot × e^((rf − rd)T), a three-legged trade (spot + two money-market legs) locks in riskless profit.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F_{KRW/EUR}(T)  =  S_{KRW/EUR}  ·  e^( ( r_KRW − r_EUR ) T 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874520"/>
            <a:ext cx="8503920" cy="2423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MONTAU AG — KRW 650m EXPORT CONTRACT IN 75 DAYS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S₀ = 1,300 KRW/EUR. r_KRW = 0.75%. r_EUR = −0.25%. T = 75/365 year.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24912"/>
            <a:ext cx="8229600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differential (r_KRW − r_EUR) = 0.0075 − (−0.0025) = 0.0100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Exponent: 0.0100 × (75/365) = 0.002055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 = 1,300 × e^0.002055 = 1,300 × 1.002057 = 1,302.67 KRW/EUR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via arbitrage: convert KRW 650m at spot → EUR 500,000; grow at −0.25% for 75 days → EUR 499,743.22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grow KRW 650m at 0.75% for 75 days → KRW 651,002,484.59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forward = 651,002,484.59 / 499,743.22 = 1,302.67 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F₀ = 1,302.67 KRW/EUR. KRW trades at forward DISCOUNT (higher rate). Arbitrage pins it.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Futures are forwards with daily mark-to-market and margining — the cumulative P&amp;L matches a forward's, but the cash-flow profile is radically different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6, "Pricing of Futures Contracts", pp. 132–140.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the futures MTM is settled to cash and the contract value RESETS to zero. Cumulative MTM through T ≈ final forward payoff.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 MTM (long)  =  [ f_t(T)  −  f_{t−1}(T) ]  ×  contract size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f_t(T) = futures settlement price on day t; contract is re-struck to zero after settlement.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6 PP#2 — SHORT CRUDE OIL FUTURES, DAY T−5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is short 1,000 barrels of crude at initial futures price f₀ = USD 69.00. On day T−6 settlement was 66.02; on day T−5 it rose to 68.01.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futures price change: f_{T−5} − f_{T−6} = 68.01 − 66.02 = +1.99/bbl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MTM to LONG = +1.99 × 1,000 = +USD 1,990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MTM to SHORT = −1.99 × 1,000 = −USD 1,990 (paid out via margin)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Short's margin account is debited USD 1,990 that day; may trigger a margin call below maintenance level.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MTM loss on day T−5 = USD 1,990 — settled that evening, not at maturity.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maturity the futures price converges to spot — basis = S − F grinds to zero and the hedger's payoff is anchored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Basis risk = residual risk that the derivative underlying and the hedged exposure don't move in lockstep before maturity.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6, Practice Problem 1 (CME copper), pp. 146–148.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= S − F converges to 0 at T by no-arbitrage (for a cash-settled contract). Before T, basis moves with r and carry.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f_0(T)  =  [ S_0  +  PV_0(C) ]  (1 + r)^T             Basis_t  =  S_t  −  f_t(T)   →   0   as t → 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040" y="1874520"/>
            <a:ext cx="8503920" cy="2423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CME COPPER FUTURES — MARGIN-CALL TRIGGER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size 25,000 lb. S₀ = USD 4.25/lb. Storage cost USD 10/contract at T. r = 1.875%. T = 1/12. Initial margin USD 10,000; maintenance USD 6,000.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24912"/>
            <a:ext cx="8229600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PV(C) per contract: 10 × (1.01875)^−(1/12) = USD 9.98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futures price: f₀ = [(4.25 × 25,000) + 9.98] × (1.01875)^(1/12)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f₀ = (106,250 + 9.98) × 1.001549 = USD 106,425/contract  ≈  USD 4.257/lb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Margin-call triggered when loss = 10,000 − 6,000 = USD 4,000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4,000 / 25,000 lb = USD 0.16/lb  →  call at price 4.257 − 0.16 = USD 4.10/lb (≈ USD 102,425/contract)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 call if price drops below USD 4.10/lb — basis and storage built into the 4.257 no-arb price.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Forwards and futures prices match under constant or uncorrelated rates; they diverge via the convexity bias when rates and prices are correlated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6, "Forward and Futures Price Differences", pp. 140–144.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Practically tiny for short-dated contracts; non-trivial for multi-year interest-rate contracts (Eurodollar / SOFR futures vs IRS).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DO PRICES DIVERGE?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EQUAL when r is constant OR r uncorrelated with f.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Futures &gt; forward when f POSITIVE-correlated with r — long futures re-invests MTM gains at the higher rate.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Futures &lt; forward when f NEGATIVE-correlated with r — e.g., bond futures (bond price falls when r rises).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more desirable contract tends to have the higher price.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CONVEXITY BIAS  +  CCP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794760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FRA payoff is DISCOUNTED at MRR (PV); futures payoff is LINEAR in the quoted rate.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This convexity gap makes futures MORE attractive than FRAs for the long — futures prices above FRA-implied.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Central-counterparty clearing for standardized OTC swaps imposes futures-like daily margin → shrinks the practical gap between OTC forward and futures pricing.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Dealers pass margin requirements to end-users — financing and collateral costs matter.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Swaps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17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swap is a series of firm commitments — equivalent to a strip of forwards, but with a CONSTANT fixed rate instead of period-specific forward rates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"Swaps vs Forwards", pp. 152–155.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contract with ONE fixed rate replaces N FRAs with N different fixed rates — fewer tickets, same aggregate exposure.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Periodic settlement (pay-fixed)  =  ( MRR_{t−1}  −  s_N )  ×  Notional  ×  Period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s_N = fixed swap rate for N-period swap; MRR sets at start of period; paid at end.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STRIP OF FRAs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 has its OWN fixed rate equal to the implied forward rate for that period. Administrative burden: N contracts, N rates to monitor, N counterparty exposures.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INTEREST-RATE SWAP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contract with ONE constant fixed rate (s_N) that equates aggregate PV of fixed and floating legs at t = 0. Same economic exposure, far simpler to transact and manage.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par swap rate is the single fixed rate that makes PV of expected floating cash flows equal PV of fixed cash flows at t=0 — a breakeven IRR on the forward curve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"Par Swap Rate", pp. 155–158.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s_N is the internal rate of return that equates the forward-rate-implied floating stream to a level fixed stream over N periods.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84124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Σ_{i=1..N}  IFR_i / (1 + z_i)^i   =   s_N  ×  Σ_{i=1..N}  1 / (1 + z_i)^i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574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IFR_i = implied forward rate for period i (from the zero curve); z_i = zero rate for maturity i; s_N = par swap rate.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240280"/>
            <a:ext cx="73152" cy="2057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2860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INTUITION IN TWO LINES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560320"/>
            <a:ext cx="8275320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side = PV(floating) — each IFR_i discounted back at the matching zero rate.  RIGHT side = PV(fixed) — the level swap rate s_N multiplied by the sum of discount factors.  Setting left = right and solving for s_N gives the par swap rate.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Geometrically: s_N is a horizontal line drawn through the forward curve such that the PV-weighted area above equals the PV-weighted area below. Slope-up curves push s_N above the first IFR; slope-down curves pull it below.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Worked: a 3-year IRS prices at s₃ = 3.9641% given the zero curve 2.396% / 3.4197% / 4.0005%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Example 1 (Swaps as Combination of Forwards), pp. 153–156.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derive IFRs from zero curve. Step 2 plug into par-swap equation. Step 3 solve for s_N — the output equals the flat-coupon par bond yield.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2743200"/>
                <a:gridCol w="2834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Period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Zero rate z_i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Implied forward IFR_i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Derivation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2.3960%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2.3960%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IFR_{0,1} = z_1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3.4197%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4.4536%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(1.034197)² / (1.02396) − 1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4.0005%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5.1719%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(1.040005)³ / (1.034197)² − 1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788920"/>
            <a:ext cx="8503920" cy="15087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 FOR s₃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1272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PV(float) = Σ IFR_i / (1+z_i)^i ;  PV(fixed) = s₃ × Σ 1/(1+z_i)^i. Set equal, solve.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PV(float) = 2.3960/1.02396 + 4.4536/(1.034197)² + 5.1719/(1.040005)³ = 0.111017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discount factors Σ 1/(1+z_i)^i = 2.800545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s₃ = 0.111017 / 2.800545 = 3.9641%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s₃ = 3.9641%  —  note s₃ lies BETWEEN the 2.396% front IFR and the 5.172% back IFR, as expected on an upward curve.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inception V₀(swap) = 0; on any settlement date the swap is worth the current settlement plus the PV of all remaining future exchanges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Example 3 (Esterr Swap Value), pp. 159–162.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t=0 PV(fixed) = PV(floating) by construction. As time and rates move, the two legs drift apart — that delta is the swap MTM.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V_t (swap)  =  Current period settlement  +  PV_t(remaining fixed vs floating exchanges)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Settlement = (MRR − s_N) × Notional × Period  for pay-fixed; opposite sign for receive-fixed.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ESTERR INC. — CAD 250m PAY-FIXED IRS AT 2.05% Q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Esterr pays s = 2.05% quarterly, receives 3m CAD MRR. First MRR = 0.50%. Notional 250m. Period = 0.25.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Period-1 settlement = (0.50% − 2.05%) × 250m × 0.25 = −CAD 968,750 (Esterr pays)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Period-2 settlement (MRR = 0.74% expected) = (0.74% − 2.05%) × 250m × 0.25 = −CAD 818,750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forward curve is upward sloping, future expected MRRs exceed 2.05% → future settlements swing positive for Esterr.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time passes with unchanged forward curve, PV(floating received) &gt; PV(fixed paid) → Esterr MTM gain.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= 0 at inception; period-1 cash outflow CAD 968,750; but aggregate swap MTM turns positive as upward curve delivers rising MRRs.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interest-rate swap is economically equivalent to a pair of bonds — pay-fixed ≡ long FRN + short fixed-rate bond; receive-fixed ≡ long fixed + short FRN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"Using Swaps to Manage Fixed Income", pp. 157–158.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Principals cancel at inception and at maturity. Only the coupon legs remain — so a swap is simply two bond coupons swapped with a partner.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155448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Swap side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Equivalent bond portfolio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Effective duration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Higher rates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Pay-fixed / Receive-floating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FRN (priced at par at each reset) + SHORT fixed bond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 (~ short bond)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MTM GAIN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Receive-fixed / Pay-floating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fixed bond + SHORT FRN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Positive (~ long bond)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MTM 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468880"/>
            <a:ext cx="8503920" cy="1874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468880"/>
            <a:ext cx="73152" cy="1874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514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PRINCIPALS CANCEL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788920"/>
            <a:ext cx="8275320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a portfolio manager borrows notional N at MRR (short FRN = +N cash) AND lends N at the fixed swap rate (long fixed bond = −N cash). Net cash flow at t = 0 = 0.  Ditto at maturity: repay N at MRR (−N) and receive N at fixed (+N), net = 0. What remains between these dates is just the coupon leg exchange — identical to a pay-fixed swap. This is the bedrock intuition used across fixed-income trading: view an IRS as the rate differential between two bonds, and the duration / DV01 of the swap is the DIFFERENCE in duration / DV01 of those two bonds.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Post-inception, a rise in expected forward rates raises PV(floating), producing an MTM gain for the fixed-rate payer and a loss for the fixed-rate receiver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"Swap Values and Prices", pp. 159–165.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expected rates UP ⇒ pay-fixed WINS. Expected rates DOWN ⇒ receive-fixed WINS. Same sign as a position in a fixed-rate bond.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28016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Event post-inception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 on PV(float)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Effect on PV(fixed)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Pay-fixed MTM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Receive-fixed MTM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curve shifts UP parallel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Down (higher disc.)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curve shifts DOWN parallel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Down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 (lower disc.)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passes, upward curve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PV(float) &gt; PV(fix)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passes, downward curve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PV(float) &lt; PV(fix)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51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DURATION INTUITION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receive-fixed swap behaves like a long fixed-rate bond — positive duration. Active managers who want to INCREASE portfolio duration without buying more bonds go receive-fixed; managers who want to CUT duration go pay-fixed. The IRS has become the primary duration-management tool in institutional fixed-income books.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Worked: Fyleton receives fixed 2.38% on a 5y GBP 200m IRS and the forward curve falls — MTM gain equivalent to a long fixed-rate bond rallying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7, Learning Module 7, Example 4 (Fyleton Investments), pp. 162–164.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Receive-fixed = long-bond proxy. Rates fall → bond price rises → receive-fixed swap MTM positive. Same directional exposure, far cheaper to execute.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 settlement (receive-fixed)  =  ( s_N − MRR )  ×  Notional  ×  Period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874520"/>
            <a:ext cx="8503920" cy="24231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202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FYLETON INVESTMENTS — RECEIVE-FIXED 5y GBP 200m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Fyleton receives fixed s = 2.38% semi-annually, pays 6m GBP MRR. Initial MRR sets at 0.71%. Period = 0.5. Upward-sloping initial forward curve.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24912"/>
            <a:ext cx="8229600" cy="1060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settlement at t = 0.5: (2.38% − 0.71%) × 200m × 0.5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0.0167 × 200,000,000 × 0.5 = GBP 1,670,000 RECEIVED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forward curve shifts DOWN — PV(floating paid) falls faster than PV(fixed received).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Net: PV(fixed received) &gt; PV(floating paid) → MTM GAIN for Fyleton.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profile mirrors a LONG fixed-rate bond: rates fall → bond rallies → swap MTM gains.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exchange: +GBP 1,670,000 to Fyleton. Subsequent rate cuts compound the MTM gain — classic long-duration profile.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17 — Derivatives I: Forwards, Futures &amp; Swaps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Derivatives derive value from an underlying; firm commitments (forwards, futures, swaps) have symmetric payoffs and V₀ = 0, while contingent claims (options, CDS) have asymmetric payoffs and a premium.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= customized bilateral under ISDA, with counterparty risk; ETD = standardized, centrally cleared, margined daily. Post-crisis CCP clearing has narrowed the gap on standardized OTC.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No-arbitrage engine: F₀(T) = S₀(1+r)^T for assets without carry; extend to F₀ = [S₀ − PV(I) + PV(C)](1+r)^T for dividends, coupons, storage costs.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MTM over life: V_t = S_t − F₀(T)(1+r)^−(T−t) for long — sensitive to both S_t and r. Biomian: INR 300.84 forward → 12.90 MTM at t = 0.25 when S_t = 285.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covered interest-rate parity: F_{f/d} = S_{f/d} · e^((rf − rd)T). The currency with the LOWER risk-free rate trades at a forward PREMIUM. Montau KRW/EUR: 1,300 → 1,302.67.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Futures = forwards with daily MTM + margining. Basis S − F converges to 0 at T. Convexity bias makes futures &gt; forwards when f is positive-correlated with r; central clearing of OTC narrows the practical gap.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swap rate s_N solves Σ IFR_i / (1+z_i)^i = s_N × Σ 1/(1+z_i)^i. 3-year example: s₃ = 3.9641% on zero curve (2.396 / 3.4197 / 4.0005)%.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≡ pair of bonds: pay-fixed ≡ long FRN + short fixed bond (negative duration); receive-fixed ≡ long fixed + short FRN (positive duration). Fyleton receive-fixed on falling rates = bond rally.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17 · Derivatives I: Forwards, Futures &amp; Swaps</dc:title>
  <dc:subject>PptxGenJS Presentation</dc:subject>
  <dc:creator>Studio Tonton Gug</dc:creator>
  <cp:lastModifiedBy>Studio Tonton Gug</cp:lastModifiedBy>
  <cp:revision>1</cp:revision>
  <dcterms:created xsi:type="dcterms:W3CDTF">2026-04-23T14:07:39Z</dcterms:created>
  <dcterms:modified xsi:type="dcterms:W3CDTF">2026-04-23T14:07:39Z</dcterms:modified>
</cp:coreProperties>
</file>