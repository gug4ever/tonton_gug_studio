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  —  MORNING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Finance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structure • Capital allocation • WACC • Capital structure theory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 — 2 Hours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 bridges FSA and equity valuation. It explains how firms are structured, how they invest, and how they finance those investments.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252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508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forms • public vs private • going public (IPO) • going private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Stakeholders &amp; ESG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130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vs equity claims • agency conflicts • environmental, social and governance factors (CFA LM2)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Governance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7523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roles • conflicts of interest • mechanisms • executive compensation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72384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118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Allocation (CFA LM5)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337413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NPV: Gerhardt €13.136m • IRR: 19.52% vs 6.76% • multiple IRRs • ROIC: 8.73%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739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 &amp; Capital Costs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9959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formula • Nutry 8.2% (CFA LM6) • leverage comparison Firm A vs 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315968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361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Structure Theory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128" y="46177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propositions • Plover Corp V_L=€107m WACC=7.48% • trade-off • pecking order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3898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52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Organisational 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5179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sole proprietor, partnership, limited company. Explain key features of corporate issuers (legal identity, owner-manager separation, limited liability).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02996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892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Stakeholders, Governance &amp; ESG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1579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debt vs equity claims. Identify principal-agent conflicts. Describe ESG factors and how they affect investment decisions.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67004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532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Capital Allocation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7980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NPV and IRR. Resolve NPV-IRR conflicts. Recognise multiple IRRs. Compute ROIC and compare to required return (all CFA LM5 examples).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31012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WACC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34381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WACC formula. Solve Nutry Company (8.2%) from CFA LM6. Understand how leverage affects cost of equity.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95020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813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Leverage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07822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Firm A (20% debt, ROE=35%) vs Firm B (60% debt, ROE=53%) under different OI scenarios. Explain financial leverage risk-return trade-off.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45902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53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Capital Structure Theories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7183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MM Propositions I/II with and without taxes. Solve Plover Corp (V_L=€107m, WACC=7.48%). Contrast static trade-off with pecking order theory.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Structure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LM1)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Organisational Forms of Business — CFA LM1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choice of organisational form determines liability, taxation, access to capital and governance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Advantage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Sole Proprietorship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One owner, no legal separation from business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Simple, full control, no corporate tax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Unlimited liability, hard to raise capital, dies with owner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General Partnership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Two or more owners, share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Flexible profit sharing, pass-through tax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Unlimited joint liability, dissolution on partner exit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Limited Partnership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General + limited partners (passive investors)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Limited partners have limited liability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General partner still unlimited liability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Limited Liability Company (LLC)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Limited liability for all members, pass-through tax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Best of corporation + partnership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More complex to establish than partnership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Corporation (Limited Company)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Separate legal entity, shares issued to owners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Limited liability, perpetual, raises capital easily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Double taxation (corp + personal), governance costs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Public Company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Corporation with shares traded on public exchange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Maximum capital access, liquidity for owners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Regulatory burden, disclosure requirements, agency costs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vs Private Companies — CFA LM1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LM1 examines the distinction between publicly traded and privately held corporate issuers. Each model involves a different set of trade-offs.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148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Company Advantages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large amounts of capital through equity issuance and public debt markets.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have market price — liquidity for shareholders and for M&amp;A (stock deals).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profile, brand awareness, recruitment advantage.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diversification: founders can sell partial stake while retaining control.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148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Company Advantages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disclosure requirements: no quarterly reporting, no proxy statements.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shareholder activism or short-term market pressure.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governance costs (audit, board, compliance).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focus: management can invest without quarterly earnings pressure.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can provide expertise alongside capital.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 Public (IPO) vs Going Private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IPO: company files with regulator (SEC/FCA), issues new shares to public via underwriter bookbuild. Price set via demand discovery.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private: buyout firm acquires all shares (often with leverage — LBO). Public shareholders exit. Management gains flexibility away from markets.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LM1: SPAC (Special Purpose Acquisition Company) is an alternative route to public markets: a blank-cheque shell company raises capital via IPO to later acquire a private target.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of Corporate Issuers (CFA LM1)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features distinguish corporations from other business forms. Each has direct implications for investors and creditors.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640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16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Identity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corporation is a legal person distinct from its owners. It can own property, sue/be sued, enter contracts, and continue beyond the death of any shareholder. Unlike a sole proprietorship, the business does not end when an owner dies.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8503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93392"/>
            <a:ext cx="91440" cy="640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Owner-Manager Separation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3408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 own the firm but hire managers to run it. This creates AGENCY PROBLEM: managers’ interests may not align with shareholders’. Remedied by incentive alignment (stock options, performance pay), monitoring (board, auditors), and market discipline (takeover threat).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72491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24912"/>
            <a:ext cx="91440" cy="640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79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Liability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07238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Shareholders’ maximum loss = their investment. Creditors cannot pursue personal assets of shareholders. This enables risk-taking and broad equity ownership. Critical feature for attracting passive investors.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85039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56432"/>
            <a:ext cx="91440" cy="640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11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Financing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80390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Corporations can raise capital from a broad range of external investors via equity (IPO, SEO) and debt (bonds, loans). This is the fundamental advantage of incorporation over sole proprietorship.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87952"/>
            <a:ext cx="91440" cy="640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53542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Corporations face entity-level taxation on profits (corporation tax). Dividends paid to shareholders are often taxed again at personal level (double taxation). This creates incentive to distribute via buybacks instead of dividends.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Stakeholders &amp; ESG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LM2)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Claims — Debt vs Equity (CFA LM2)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Debt = fixed priority claim on cash flows.    Equity = residual claim after all obligations.    Higher risk = higher return.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Debt Investors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Equity Investors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Claim 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Fixed, contractual. Interest + principal repayment.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Residual. Only receive what remains after all debts paid.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Priority in liquidation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Priority claim on assets. Secured &gt; unsecured.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Receive value only AFTER all creditors are paid.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Return profile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Capped: maximum = promised interest. No upside.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Unlimited upside if company thrives. Full downside loss.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Risk level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Lower: contract limits loss to non-recovery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Higher: full loss of investment in bankruptcy possible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Governance rights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Covenants: restrictions on leverage, coverage, etc.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Voting rights on board elections and major transactions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Maturity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Finite: defined repayment schedule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Perpetual: no fixed maturity date for equity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45902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LM2: ‘Equity is a residual claim of indeterminate length’. Debt investors have lower required return because they take less risk — hence why WACC includes after-tax cost of debt.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Conflicts — Managers vs Shareholders (CFA LM2)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problem: managers (agents) act on behalf of shareholders (principals) but may have different interests. CFA LM2 presents multiple conflict types.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1031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Conflict 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Empire building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Managers expand assets beyond efficient size to increase power/comp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Acquisitions at excessive premium destroy shareholder value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Performance-based pay tied to ROIC not size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Entrenching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Managers make firm-specific investments that only they can manage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R&amp;D in technology CEO understands but no-one else does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Transparent strategy, board oversight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Risk aversion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Managers too conservative to protect their jobs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Pass on high-NPV projects due to career risk if project fails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Equity ownership aligns risk preferences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Excessive perks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Managers extract value via perquisites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Private jet, lavish offices, excessive comp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Audit, compensation committee oversight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Shareholders vs creditors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Shareholders encourage excessive risk at creditors’ expense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Issue debt, pay out cash dividend, leaving creditors with riskier firm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Debt covenants limiting distributions/extra debt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ESG Factors — Environmental, Social &amp; Governance (CFA LM2)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LM2 presents ESG as material factors affecting long-term corporate value. Not just ethics — ESG affects cash flows, cost of capital and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594360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98448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4128" y="1700784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645920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change: carbon emissions, physical risk, transition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" y="1828800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1773936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depletion: water, land, biodiversity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4128" y="1956816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1901952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Pollution: air, water, soil contamination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" y="2084832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029968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scope 3 emissions, sourcing practices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" y="2212848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2157984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carbon pricing, environmental permits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468880"/>
            <a:ext cx="850392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68880"/>
            <a:ext cx="59436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6888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2412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4128" y="2871216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2816352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practices: health &amp; safety, human rights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24128" y="2999232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2944368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relations: diversity, turnover, training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24128" y="3127248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3072384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labour standards in Tier 2/3 suppliers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4128" y="3255264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3200400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safety and quality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4128" y="3383280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3328416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relations and social licence to operate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639312"/>
            <a:ext cx="850392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639312"/>
            <a:ext cx="594360" cy="10515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639312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024128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24128" y="4041648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3986784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composition: independence, diversity, expertise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24128" y="4169664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4114800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compensation: alignment with long-term value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24128" y="4297680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88720" y="4242816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rights: voting, equal treatment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24128" y="4425696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8720" y="4370832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disclosure quality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24128" y="4553712"/>
            <a:ext cx="73152" cy="73152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88720" y="4498848"/>
            <a:ext cx="7296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and business ethics policies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Governance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LM3)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Governance Framework — Board of Directors (CFA LM3)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governance is the system by which companies are directed and controlled. The board is the primary mechanism protecting shareholders’ interests.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3317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Composition Requirements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executive (management) and non-executive (independent) directors.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directors: no material business relationship with company.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committees: Audit, Remuneration (Compensation), Nomination.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LM3: best practice = majority independent directors. Chair should be independent (not the CEO). Separate Chair/CEO roles prevent concentration of power.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3317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Board’s Core Responsibilities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Hire, monitor and replace CEO and senior management.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strategy, major capital allocation decisions, M&amp;A.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risk management and internal controls.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review executive compensation.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accurate and transparent financial reporting.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shareholder rights and engage with institutional investors.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67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Failure Example: Enron (2001)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78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Enron’s board approved related-party transactions that enriched executives at shareholder expense. Audit committee failed to challenge aggressive accounting (mark-to-market on speculative energy contracts). Auditor (Arthur Andersen) had conflicts of interest via consulting revenue.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USD 70bn shareholder loss. Led directly to Sarbanes-Oxley Act (2002): mandatory CEO/CFO certification of accounts, independent audit committees, criminal penalties.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Mechanisms — Internal and External Controls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LM3 distinguishes internal governance (structures within the firm) from external governance (market forces and regulation outside the firm).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Board of directors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Monitors management, approves strategy, sets exec comp. Independent directors reduce agency risk.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Executive compensation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Align manager incentives with shareholder returns via stock options, restricted stock, clawbacks.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Independent audit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Internal/External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External auditor verifies financial statements. Audit committee oversees independence.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Shareholder meetings / proxy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Annual vote on board, resolutions, major transactions. Activist shareholders can agitate for change.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Takeover market / M&amp;A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Poorly managed companies with depressed valuations become acquisition targets. Disciplines management.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Legal &amp; regulatory framework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Company law, securities regulation (SEC, FCA), stock exchange listing rules. Mandatory disclosures.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Debt covenants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External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Bondholders impose restrictions on leverage, capex, distributions. Limit manager risk-taking at creditor expense.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Compensation — Aligning Agent with Principal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compensation design: base salary + annual bonus (short-term) + long-term equity incentive (LTI). Vesting + clawback provisions.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LM3: executive compensation should balance short-term performance with long-term value creation. Misaligned comp is a root cause of agency problems.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46888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Potential Misalignment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Practice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Base salary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Attract and retain talent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Too high base = no performance incentive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Benchmark to peers; review regularly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Annual cash bonus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Reward short-term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Encourages short-termism, earnings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Cap bonus; tie to quality metrics; claw back if restated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Stock options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Align with shareholder returns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Options reward volatility, not just value creation. Out-of-money options worthless.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Restricted stock preferred: downside as well as upside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Restricted stock units (RSU)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Long-term retention + alignment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Value drops with market, not just company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Multi-year vesting (3-5 years). Performance conditions.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Clawback provisions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Recover comp if results misrepresented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Rare in practice. Legal enforcement complex.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Mandatory under SOX for certain violations. Expand scope.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Allocation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LM5)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Capital Investments — CFA LM5 Exhibit 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LM5 classifies all capital investments into four categories based on purpose and risk level. The type of project determines the risk-adjusted discount rate.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057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 Business — Going Concern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outdated facilities. Improve efficiency. Manage risk.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moderate risk — within existing operations.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upgrade ERP system, replace ageing machinery.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at standard WACC.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057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/ Compliance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Imposed by laws, regulators or safety standards.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optional — must be done regardless of NPV.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safety upgrades, environmental remediation, data protection compliance.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may be negative but project is mandatory.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41879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56432"/>
            <a:ext cx="91440" cy="2057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547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Existing Business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913632"/>
            <a:ext cx="38404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capacity or scope within known business lines.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— market is familiar.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open new factory, expand retail footprint, enter adjacent geography.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reflects existing business risk.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27448" y="3456432"/>
            <a:ext cx="41879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3456432"/>
            <a:ext cx="91440" cy="2057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547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Lines of Business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913632"/>
            <a:ext cx="38404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R&amp;D, acquisitions in new sectors, new products.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and uncertainty.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pharma clinical trial, tech startup acquisition.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HIGHER discount rate to reflect greater uncertainty.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709160"/>
            <a:ext cx="8503920" cy="5029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Allocation Process: 3 Steps (CFA LM5)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93208"/>
            <a:ext cx="8229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Idea generation. Step 2: Investment analysis — NPV/IRR/ROIC. Step 3: Planning and prioritisation. Ongoing: monitoring and post-investment review.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note: NPV ≥ 0 is necessary but NOT sufficient. Intangible factors, ESG, strategic fit also matter.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Present Value — CFA LM5 Gerhardt Corporation (Example 4)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 =  ∑ CFₜ / (1+r)ᵗ     Accept if NPV ≥ 0 (increases shareholder wealth)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3, LM5, Example 4. Standard conventional cash flow pattern — outflow today, inflows over 5 years.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6334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GERHARDT CORPORATION — EXAMPLE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€50 million today. Expected after-tax cash flows: €16 million per year for Years 1–4, plus €20 million in Year 5. Required rate of return: 10%.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−50 + 16/(1.10)¹ + 16/(1.10)² + 16/(1.10)³ + 16/(1.10)⁴ + 20/(1.10)⁵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−50 + 14.545 + 13.223 + 12.021 + 10.928 + 12.418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−50 + 63.136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€+13.136 million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ACCEPT. NPV ≥ 0. The investment increases shareholder wealth by €13.136m.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firm exchanges €50m today for an investment worth €63.136m. Net wealth gain = €13.136m.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=NPV(0.10, 16, 16, 16, 16, 20) − 50 = 13.136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Unconventional Cash Flows &amp; Multiple IRRs — CFA LM5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cash flow signs change more than once, multiple IRRs may exist. CFA LM5: in this case, NPV should ALWAYS be used — IRR is unreliable.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12618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GERHARDT EXAMPLE 5 — Unconventional CFs (NPV = €4.78m)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(in €m): t=0: −50  |  t=1: +10  |  t=1.5: −5  |  t=2: +13  |  t=3: +16  |  t=4: +19  |  t=5: +23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one NEGATIVE cash flow mid-stream (t=1.5). Must use XNPV (not NPV) function.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(at 10%) = €4.78 million. Since NPV ≥ 0, ACCEPT.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24912"/>
            <a:ext cx="8503920" cy="190195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98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— Multiple IRRs: When IRR Fails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cash flows change sign more than once, the IRR equation can have MULTIPLE solutions.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(CFA LM5): t=0: −1,000  |  t=1: +5,000  |  t=2: −6,000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TWO IRRs: 100% and 200%. Both mathematically satisfy the IRR equation =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IRR is correct? NEITHER tells you whether to accept or reject.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RULE: when unconventional cash flows create multiple IRRs, use NPV.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applies when IRR and NPV conflict on MUTUALLY EXCLUSIVE projects — always follow NPV.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Rate of Return — CFA LM5 Gerhardt (Examples 6 &amp; 7)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  =  discount rate that makes NPV = 0     Accept if IRR ≥ hurdle rate (required return)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3, LM5, Examples 6 and 7. Two different projects with SAME initial investment but different outcomes.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41879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29968"/>
            <a:ext cx="91440" cy="23957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Example 6 — ACCEPT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48716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−50, +16, +16, +16, +16, +20 (same as NPV example).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19.52%.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19.52% &gt; 10% hurdle rate → ACCEPT.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(€13.136m) and IRR (19.52%) both agree → accept.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=IRR(−50, 16, 16, 16, 16, 20) = 19.52%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27448" y="2029968"/>
            <a:ext cx="41879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2029968"/>
            <a:ext cx="91440" cy="23957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Example 7 — REJECT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28616" y="248716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−50, 0, 1, 2.5, 3, 16, 20, 25 (slower start, uneven timing)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6.76% (using XIRR function for uneven periods).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6.76% &lt; 10% hurdle rate → REJECT.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&lt; 0 (consistent with IRR rule here).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same initial investment, very different IRR.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 of IRR: assumes interim cash flows reinvested at IRR. If actual reinvestment rate &lt; IRR, true return &lt; IRR. NPV uses r (more realistic).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on Invested Capital — CFA LM5 Gerhardt (Example 8)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ROIC  =  After-tax operating profit / Average invested capital     Compare to WACC: ROIC &gt; WACC = value creating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is what analysts can compute from public filings. Unlike NPV/IRR, ROIC is an aggregate measure across ALL investments (not project-by-project).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48716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EXAMPLE 8 — ROIC CALCULATION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reports Year 2 after-tax operating profit = 24,395.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capital (long-term liabilities + equity):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Year 1 = 112,257 + 15,688 + 148,442 = 276,387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Year 2 = 106,597 + 15,688 + 159,995 = 282,280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invested capital = (276,387 + 282,280) / 2 = 279,333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= 24,395 / 279,333 = 8.73%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If investor requires 10% return, is this company a promising investment?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(CFA): NO. Although the company is profitable, ROIC (8.73%) &lt; required return (10%). Investor would be better off elsewhere. The company is DESTROYING value relative to opportunity cost.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decomposition: ROIC = After-tax margin × Capital turnover. Two routes to higher ROIC: higher margins or higher asset efficiency.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vs IRR — Conflict Resolution (CFA LM5)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NPV and IRR conflict for MUTUALLY EXCLUSIVE projects: ALWAYS follow NPV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LM5: NPV shows the actual increase in shareholder wealth in currency terms. IRR only shows a rate of return — it ignores scale and duration.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103120"/>
                <a:gridCol w="18288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Initial Investment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NPV at 7.5%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Decision (Choose One)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Project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$33m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Negative NPV (−0.38m)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7.04% &lt; 7.5% hurdle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REJECT (both NPV and IRR agree)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Project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$33m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NPV (+$1.12m)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8.97% &gt; 7.5% hurdle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ACCEPT (both agree)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Mutually Exclusive: H vs 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Different scales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H: higher NPV = $4m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L: higher IRR = 25%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Choose H: higher NPV adds more wealth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251960"/>
            <a:ext cx="8503920" cy="8686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25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Practice Q4 — Project B: CFs 0, 16, 24, 7 at 7.5% hurdle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3600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−33 + 0/(1.075) + 16/(1.075)² + 24/(1.075)³ + 7/(1.075)⁴ = $5.41m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= 8.97% (CFA answer: accept because IRR &gt; 7.5% hurdle rate)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CFA rule: when NPV and IRR conflict on mutually exclusive projects, choose HIGHER NPV project. IRR ignores project size. A project of $1m with 50% IRR adds less wealth than a $100m project with 15% IRR.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of Equity — CAPM Approach (CFA LM8 Equity / LM6 Corp Finance)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r_e  =  r_f  +  β × (r_m − r_f)     [risk-free + equity risk premium × beta]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equity is the return equity investors require. Unlike cost of debt (observable), equity cost is estimated — most commonly via the Capital Asset Pricing Model (CAPM).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8288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Typical Range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r_f  (Risk-free rate)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Return on risk-free asset (gov bond)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3–5% in normal times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Use long-dated bond matching investment horizon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β (Beta)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Sensitivity of stock to market moves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0.5x (low) to 2.5x+ (high)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Estimated from historical regression vs market 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(r_m − r_f) Market risk premium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Excess return of equity over risk-free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4–6% historically in developed markets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Long-run historical average or survey-based estimate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r_e (Cost of equity)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Minimum return equity holders require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6–15% typical range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Inputs must be forward-looking, not mechanical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224528"/>
            <a:ext cx="8503920" cy="8046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r_f=4%, β=1.2, ERP=5.5%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085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= 4% + 1.2 × 5.5% = 4% + 6.6% = 10.6%. This stock requires 10.6% return.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defensive utility (β=0.5): r_e = 4% + 0.5 × 5.5% = 6.75%. A volatile biotech (β=1.8): r_e = 4% + 1.8 × 5.5% = 13.9%.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Dividend Policy &amp; Capital Returns (CFA LM6 Context)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capital allocation is complete and WACC is set, the firm must decide how to return excess capital. Three primary mechanisms.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645920"/>
                <a:gridCol w="21031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Tax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 to Market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Regular cash dividend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Fixed per-share payment each period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Taxed as income in most jurisdictions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Commitment signal: hard to cut without negative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Mature, stable cash flow businesses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Special / extra dividend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One-off large distribution from windfall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Taxed as income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commitment. One-time event.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After asset sale, legal settlement win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Share buyback (repurchase)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Company buys own shares in open market or tender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Often taxed at lower capital gains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Management confident shares are undervalued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Tax-efficient return. Flexibility to vary amount.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950208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950208"/>
            <a:ext cx="91440" cy="11704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" y="4041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Dividend Irrelevance (Miller-Modigliani)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" y="44074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perfect markets, investors can manufacture their own dividend by selling shares. Policy doesn’t affect value — only cash flow timing. Reality: taxes, signalling and clientele effects matter.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27448" y="3950208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27448" y="3950208"/>
            <a:ext cx="91440" cy="11704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8616" y="4041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Pecking Order &amp; Dividends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28616" y="44074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set dividends at sustainable long-term earnings. Avoid cutting. Use excess FCF for buybacks (flexible). Dividends are sticky: a cut signals permanent earnings decline. Companies hate cutting.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 &amp; Cost of Capital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LM6)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 — Formula &amp; Nutry Company (CFA LM6)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  =  w₉ × k₉ × (1−t)  +  wₑ × kₑ     [after-tax cost of debt + cost of equity]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is the required return for capital allocation decisions. It blends the cost of each financing source weighted by its proportion in the capital structure.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2402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LM6 — NUTRY COMPANY WACC = 8.2%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Nutry Company: 30% debt at 5%, 70% equity at 10%, corporate tax rate = 20%.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= (0.30 × 5% × (1 − 0.20)) + (0.70 × 10%)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(0.30 × 4.0%) + 7.0%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1.2% + 7.0%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8.2% (CFA answer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after-tax cost of debt? Interest is tax-deductible. Every £1 of interest reduces taxable income by £1, saving t on tax. Net cost = k₉ × (1−t).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approach: use MARKET value weights (not book). Market weights reflect current opportunity cost for investors.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34840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Determined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Preference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Market weights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Current market price × outstanding shares / bonds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Preferred: reflects actual investor opportunity costs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Book weights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Balance sheet carrying values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Less accurate: historical, not forward-looking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Target weights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Management’s disclosed target capital structure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Useful if management clearly states target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Leverage &amp; Risk — Firm A vs Firm B (CFA LM6 Knowledge Check)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3, LM6. Both firms have Assets=100, Revenue=100, Operating expenses=70. Firm A is conservatively financed, Firm B is highly levered.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Firm A (20% debt)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Firm B (60% debt)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−25% OI: Firm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−25% OI: Firm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+25% OI: Firm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+25% OI: Firm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Operating Income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22.5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22.5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37.5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37.5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Interest expense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13.5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35.5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28.5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Total Equity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ROE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Interest Coverage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15.0x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3.3x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11.3x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2.5x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18.8x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4.2x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370832"/>
            <a:ext cx="8503920" cy="7498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Lesson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amplifies BOTH upside and downside. In the base case, Firm B has higher ROE (53% vs 35%), but when OI falls 25%, Firm B’s coverage ratio drops to 2.5x (distress territory) while Firm A’s remains comfortable at 11x. Firm A has greater stability and warrants lower costs of debt and equity.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Leverage — Fixed Costs Amplify Business Risk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leverage = proportion of FIXED costs in total costs.  High fixed costs → higher earnings volatility.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LM6: operating leverage is a key determinant of business risk. Firms with high operating leverage are riskier and warrant higher cost of capital.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 Fixed Cost Firm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Low Fixed Cost Firm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Revenue falls 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EBIT falls 50%+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EBIT falls ~20%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Fixed costs don’t move; hit EBIT hard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Revenue rises 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EBIT rises 50%+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EBIT rises ~20%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Operating leverage amplifies upside too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Breakeven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Higher: must cover large fixed base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Lower: covers as you go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Asset-heavy biz needs more volume to break even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Airlines, steel mills, chip fabs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Consulting, SaaS (variable server costs)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Capital-intensive = high op leverage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Capital structure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Lower financial leverage recommended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Can support more debt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Total leverage = Op leverage × Financial leverage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of Operating Leverage (DOL) = % change in EBIT / % change in Revenue. DOL = Contribution Margin / EBIT. CFA LM6 Oldtech example: high fixed costs + revenue slowdown = disproportionate earnings decline.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Reference Card — Session 7 Corporate Finance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formulas from this session.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15568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CF₀ + CF₁/(1+r) + CF₂/(1+r)² + ... + CFₜ/(1+r)ᵗ     Accept if NPV ≥ 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99032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9903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39903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r* where NPV = 0. Accept if IRR ≥ hurdle rate. Use NPV if multiple IRRs exist.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8249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682496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= After-tax operating profit / Average invested capital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965960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659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1965960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= w₉ × k₉ × (1−t) + wₑ × kₑ     Use market value weights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249424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494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CAPM (cost of equity)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2249424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rₑ = r_f + β × (r_m − r_f)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532888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328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 I (no taxes)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532888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 = V_U     (firm value independent of capital structure)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816352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163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 II (no taxes)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281635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rₑ = r₀ + (r₀ − r₉) × (D/E)     WACC unchanged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099816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998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 I (with taxes)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3099816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 = V_U + tD     (debt tax shield adds value)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383280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832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 II (with taxes)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3383280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rₑ = r₀ + (r₀ − r₉)(1−t)(D/E)     WACC falls with leverage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66744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667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trade-off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06040" y="3666744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 = V_U + tD − PV(Financial distress costs). Optimal at D*.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950208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502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Degree of Operating Leverage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6040" y="3950208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 = % ΔEBIT / % ΔRevenue = Contribution Margin / EBIT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233672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336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 coverage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4233672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/ Interest expense. &lt; 1.5x = concern.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517136"/>
            <a:ext cx="8503920" cy="2468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1713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debt / EBITDA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06040" y="4517136"/>
            <a:ext cx="6126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(LT Debt + ST Debt − Cash) / EBITDA. &lt; 2x low; &gt; 5x high.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Structure Theory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LM6)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Modigliani-Miller Propositions — Without Taxes (CFA LM6)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MM framework starts with a simplifying assumption: no taxes, no bankruptcy costs. Under these conditions, capital structure is IRRELEVANT.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4871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Proposition I (No Taxes)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 = V_U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a levered firm = value of unlevered firm.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value is determined SOLELY by future cash flows, not how they are financed.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in perfect capital markets, investors can replicate any capital structure themselves (home-made leverage). The firm adds no value by choosing debt vs equity.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4871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Proposition II (No Taxes)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= r_0 + (r_0 − r_d) × (D/E)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 equity cost RISES as leverage increases.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 debt is offset EXACTLY by higher-cost equity.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WACC is UNCHANGED regardless of capital structure.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adding cheap debt increases equity risk, so equity investors demand more. The two effects cancel perfectly.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950208"/>
            <a:ext cx="8503920" cy="102412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Gerhardt Under MM Prop I &amp; II (No Taxes) — CFA LM6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342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Gerhardt is all-equity, WACC=10%, perpetual CF=€5,000. V=€5,000/0.10=€50,000. Issues €15,000 debt at 5%, buys back equity.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Prop I: V stays at €50,000 (D=–15k, E=–35k).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Prop II: new re = 10% + (10%−5%) × 15,000/35,000 = 12.143%. WACC = (15/50)(5%) + (35/50)(12.143%) = 10% — unchanged. ✓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With Taxes — CFA LM6 Plover Corp (Practice Q5)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add corporate taxes, the analysis changes: interest is tax-deductible, so debt creates a tax shield that INCREASES firm value.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 Prop I with taxes:  V_L  =  V_U  +  tD    (debt tax shield increases firm value)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54203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LM6 PRACTICE Q5 — PLOVER INC.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Plover: unlevered firm, V_U = €100m, perpetual pre-tax CF = €10m/yr, t = 20%, r_0 = 8% (WACC = CF(1−t)/V = 8÷100 = 8.0%).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to issue €35m debt at r_d = 4.5% (financial distress costs ≈ zero).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V_L = V_U + tD = €100m + 0.20 × €35m = €107m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 = V_L − D = €107m − €35m = €72m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re = r_0 + (r_0 − r_d)(1−t)(D/E) = 8% + (8%−4.5%)(0.80)(€35m/€72m) = 9.36%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WACC = (35/107)(4.5%)(0.80) + (72/107)(9.36%) = 1.18% + 6.30% = 7.48% (CFA answer 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WACC fell from 8.0% (unlevered) to 7.48% (levered). Debt tax shield reduces WACC and increases firm value.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Trade-Off Theory — The Optimal Capital Structure (CFA LM6)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with taxes (no distress) implies 100% debt is optimal. Reality: financial distress costs grow non-linearly with debt. The static trade-off theory finds the optimal balance.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V_L  =  V_U  +  tD  −  PV(Financial Distress Costs)     Optimal D* maximises V_L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14884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Trade-Off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debt increases: (1) Tax shield rises (value +tD). (2) Financial distress probability increases (value −PV distress).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debt: tax shield &gt; distress cost → V_L rises. Add more debt.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D*: marginal tax benefit = marginal distress cost. This is the OPTIMAL capital structure.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D*: distress cost &gt; tax benefit → V_L falls. Reduce debt.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Boulder example: V_U=$45m, t=30%. Optimal D=$20m (where V_L=$49.5m is maximised). At D=$30m, distress cost swamps tax shield and V_L falls to $42m.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343400"/>
            <a:ext cx="4187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343400"/>
            <a:ext cx="91440" cy="8229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434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Distress Costs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legal fees, restructuring advisors, management time in bankruptcy.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customers leave (fear of bankruptcy), suppliers tighten terms, top talent exits, underinvestment as equity views projects as NPV negative for them.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4343400"/>
            <a:ext cx="41879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4343400"/>
            <a:ext cx="91440" cy="8229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4434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do NOT actually reach 100% debt. Static trade-off explains why optimal leverage differs by industry: stable, tangible-asset companies (utilities, real estate) carry more debt than high-growth intangible companies (pharma, tech).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Pecking Order Theory &amp; Real Options (CFA LM6 / LM5)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pecking order theory explains observed financing behaviour through information asymmetry. Real options add optionality value that NPV misses.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1879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24871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Pecking Order Theory (Myers-Majluf 1984)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5564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prefer financing with least information content: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1st: Internal funds (retained earnings) — no signal, no flotation cost.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2nd: Debt — signals confidence (commitment to fixed payments).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Last: Equity issuance — often seen as a NEGATIVE signal.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if managers issue equity, market infers shares are overvalued. Equity issuance → price drop.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 capital structure: firms just follow the hierarchy.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298448"/>
            <a:ext cx="41879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98448"/>
            <a:ext cx="91440" cy="24871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5564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options = right (not obligation) to take a future action that changes investment value.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to EXPAND: if demand is strong, invest more (e.g. build second factory)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to ABANDON: exit if project underperforms (limits downside)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to DELAY: wait for more information before committing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Flexibility option: change product mix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NPV + Real Option Value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LM5 on Real Options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options are similar to financial options but deal with real assets. They grant companies the right to make a decision in the future that alters the value of capital investments made today. By providing future decision-making flexibility, real options can be an important piece of the value in many capital investments.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each before checking answers.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" y="105156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Gerhardt Corp (CFA LM5 Ex4): Investment=€50m today. CFs: €16m/yr for Years 1-4, plus €20m in Year 5. Required return=10%. Calculate NPV. Should Gerhardt invest?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" y="184708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Gerhardt IRR (CFA LM5 Ex6): Same CFs as above: −50, +16, +16, +16, +16, +20. IRR=19.52%. If hurdle rate is 10%, should Gerhardt accept? What if hurdle rate is 20%?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" y="264261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Nutry WACC (CFA LM6): 30% debt at 5%, 70% equity at 10%, tax=20%. Calculate WACC. Identify which answer is correct: A. 5.9% B. 8.2% C. 8.5%.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" y="343814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Plover Corp (CFA LM6 Q5): V_U=€100m, t=20%, D=€35m, rd=4.5%, r_0=8%. (a) Calculate V_L. (b) Calculate equity value E. (c) Calculate re. (d) Calculate WACC.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" y="423367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(CFA LM5 Ex8): After-tax operating profit=24,395. Average invested capital=279,333. Calculate ROIC. If required return=10%, is this company a promising investment?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Worked Solutions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AM  •  Session 7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−50 + 16/1.10 + 16/1.10² + 16/1.10³ + 16/1.10⁴ + 20/1.10⁵ = −50 + 14.545+13.223+12.021+10.928+12.418 = −50 + 63.136 = +€13.136m. Decision: ACCEPT (NPV ≥ 0). Company increases shareholder wealth by €13.136m. Excel: =NPV(0.10,16,16,16,16,20)−50 = 13.136.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61848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61848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IRR=19.52% &gt; hurdle 10% → ACCEPT. If hurdle = 20%: IRR=19.52% &lt; 20% → REJECT. The IRR tells us the rate of return earned by the project. It only exceeds the required return when return is &lt; 19.52%. NPV and IRR agree here (both conventional CFs, single sign change).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45973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= (0.30 × 5% × 0.80) + (0.70 × 10%) = (0.30 × 4%) + 7% = 1.2% + 7.0% = 8.2%. Answer B. Not A (5.9% ignores equity). Not C (8.5% uses pre-tax debt cost of 5% not after-tax 4%).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0098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009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V_L = V_U + tD = 100 + 0.20 × 35 = €107m. (b) E = V_L − D = 107 − 35 = €72m. (c) re = 8% + (8%−4.5%)(1−0.20)(35/72) = 8% + 3.5% × 0.80 × 0.486 = 8% + 1.36% = 9.36%. (d) WACC = (35/107)(4.5%)(0.80) + (72/107)(9.36%) = 1.18% + 6.30% = 7.48%. CFA answer B confirmed.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422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= 24,395 / 279,333 = 8.73%. Since ROIC (8.73%) &lt; required return (10%), the company is NOT a promising investment. Despite being profitable, it generates less return than investors could earn elsewhere on a similar-risk investment. Management should improve margins or asset turnover, or return capital.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7 — Corporate Finance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Gerhardt NPV (CFA LM5): −50+PV(16 annuity)+PV(20)=+€13.136m. Accept. NPV Ex2=€4.78m (unconventional CFs).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Gerhardt IRR (CFA LM5): 19.52%&gt;10% → accept (Ex6). 6.76%&lt;10% → reject (Ex7). Multiple IRRs (−1000,+5000,−6000) → use NPV.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(CFA LM5): 24,395/279,333=8.73%&lt;10% required → not a promising investment (value destroying vs opportunity cost).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Nutry WACC (CFA LM6): (0.3)(5%)(0.8)+(0.70)(10%)=8.2%. Cost of debt is after-tax. Always use market value weights.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A (20% debt): ROE=35%, coverage=15x. Firm B (60% debt): ROE=53%, coverage=3.3x. OI−25%: Firm B coverage=2.5x.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Plover (CFA LM6): V_L=€107m=100+0.2×35. E=€72m. re=9.36%. WACC=7.48% (down from 8.0% unlevered).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519379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84632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MM: no taxes → V_L=V_U, WACC unchanged. With taxes → V_L=V_U+tD, WACC falls, 100% debt extreme → add distress costs.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77316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92624" y="519379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484632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trade-off: optimal D* where marginal tax shield=marginal distress cost. Pecking order: internal→debt→equity(last).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2026-04-11T21:18:46Z</dcterms:created>
  <dcterms:modified xsi:type="dcterms:W3CDTF">2026-04-11T21:18:46Z</dcterms:modified>
</cp:coreProperties>
</file>