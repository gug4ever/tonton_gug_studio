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4  —  MORNING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Finance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budgeting, WACC, capital structure &amp; leverage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Budgeting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NPV, IRR, payback and PI decision rules. Know which method to use and when they conflict.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27448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28616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WACC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28616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weighted average cost of capital from first principles. Apply CAPM for cost of equity.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Structure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M&amp;M theorem (with and without taxes). Apply the trade-off between tax shield and distress costs.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27448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28616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&amp; Financial Leverage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28616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DOL, DFL and DTL. Understand their impact on earnings volatility and risk.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Budgeting — The Investment Decision Framework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budgeting is the process of evaluating and selecting long-term investments. These decisions shape the firm's future.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6187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126187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8920" y="13075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method. Directly measures value created in £. Accounts for time value, risk and opportunity cost. Always choose highest NPV.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59168" y="1371600"/>
            <a:ext cx="1673352" cy="5303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9168" y="13716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 NPV &gt; 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157984"/>
            <a:ext cx="850392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15798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157984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8920" y="220370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Intuitively appealing. Conflicts with NPV for mutually exclusive projects (scale problem). Use as secondary check.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059168" y="2267712"/>
            <a:ext cx="1673352" cy="5303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59168" y="226771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 IRR &gt; hurdle rate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3054096"/>
            <a:ext cx="8503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05409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Payback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05409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★★☆☆☆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88920" y="309981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intuitive. Ignores time value of money and all cash flows beyond payback. Useful as quick liquidity screen only.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059168" y="3163824"/>
            <a:ext cx="1673352" cy="5303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16382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 payback &lt; target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950208"/>
            <a:ext cx="850392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950208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Profitability Index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71600" y="395020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★★★☆☆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88920" y="399592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= PV of inflows / Investment. Useful when capital is rationed — ranks projects by value per £ invested.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059168" y="4059936"/>
            <a:ext cx="1673352" cy="5303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59168" y="405993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 PI &gt;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WACC — The Corporate Hurdle Rate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1323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WACC  =  (E/V) × rₑ  +  (D/V) × rd × (1 − t)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0040" y="1600200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600200"/>
            <a:ext cx="621792" cy="7132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600200"/>
            <a:ext cx="621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24128" y="1655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structure weights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24128" y="19659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E/V = Equity/(Equity+Debt). D/V = Debt/(Equity+Debt). Use MARKET values, not book values.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2350008"/>
            <a:ext cx="8503920" cy="71323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350008"/>
            <a:ext cx="621792" cy="7132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350008"/>
            <a:ext cx="621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2404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debt (rd)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71576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on existing debt or marginal cost of new debt. Adjust for tax: after-tax cost = rd × (1−t).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099816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099816"/>
            <a:ext cx="621792" cy="7132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099816"/>
            <a:ext cx="621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24128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equity (rₑ) via CAPM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346557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rₑ = Rf + β × (Rm − Rf). Rf = risk-free rate (10yr Gilt). β = systematic risk. (Rm−Rf) = equity risk premium (~5-6%).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" y="3849624"/>
            <a:ext cx="8503920" cy="71323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3849624"/>
            <a:ext cx="621792" cy="71323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849624"/>
            <a:ext cx="621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24128" y="3904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421538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weighted average. Represents the minimum return the firm must earn on investments to create value.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4572000"/>
            <a:ext cx="8503920" cy="47548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645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956048"/>
            <a:ext cx="8229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Firm: E = £600m, D = £400m (total V = £1,000m). rd = 6%, Tax = 25%, Rf = 4%, β = 1.2, ERP = 5%.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rₑ = 4 + 1.2×5 = 10%. After-tax rd = 6%×0.75 = 4.5%.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(0.6×10%) + (0.4×4.5%) = 6.0% + 1.8% = 7.8%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project earning &gt; 7.8% creates value.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Modigliani-Miller — The Foundation of Capital Structure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749808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 taxes, capital structure is irrelevant. Value = PV of operating cash flows, not how you finance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0040" y="1627632"/>
            <a:ext cx="8503920" cy="71323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2763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M&amp;M I (No Tax)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31720" y="1737360"/>
            <a:ext cx="228600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17373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V(Levered) = V(Unlevered)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67335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analogy: slicing a pie differently doesn't change its size. Debt and equity just split the same cash flows.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43800" y="1673352"/>
            <a:ext cx="1143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doesn't create value on its own.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450592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4505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M&amp;M I (With Tax)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31720" y="2560320"/>
            <a:ext cx="228600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1720" y="2560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V(L) = V(U) + PV(Tax Shield)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73168" y="2496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is tax-deductible → debt creates a tax shield = t × D. This suggests 100% debt is optimal (in theory!).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2496312"/>
            <a:ext cx="1143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shield adds value but is bounded by distress costs.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273552"/>
            <a:ext cx="8503920" cy="71323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2735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M&amp;M II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331720" y="3383280"/>
            <a:ext cx="228600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31720" y="33832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rₑ = r₀ + (D/E)(r₀ − rd)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73168" y="331927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equity rises linearly with leverage. The benefit of cheaper debt is offset by rising equity risk.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543800" y="3319272"/>
            <a:ext cx="1143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is constant (no tax) — no free lunch.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096512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09651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 Theory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331720" y="4206240"/>
            <a:ext cx="228600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31720" y="42062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Optimal D/E where V is maximised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73168" y="41422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tax shield benefits against bankruptcy/distress costs. Optimal leverage is firm-specific.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543800" y="4142232"/>
            <a:ext cx="1143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why companies don't go 100% debt despite tax shield.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&amp; Financial Leverage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amplifies changes. Understand both types to model earnings volatility under different scenarios.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DOL  =  % Δ EBIT / % Δ Revenue        DFL  =  % Δ EPS / % Δ EBIT        DTL  =  DOL × DFL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40233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57400"/>
            <a:ext cx="402336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0574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Leverage (DOL)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5146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fixed vs variable cost mix.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FC → high DOL → revenue changes amplified into larger EBIT swings.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 = (Revenue − VC) / EBIT = Contribution / EBIT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DOL = 3.0 means 10% revenue rise → 30% EBIT rise (and vice versa).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DOL sectors: Airlines, hotels, car manufacturers.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17720" y="2057400"/>
            <a:ext cx="42062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057400"/>
            <a:ext cx="4206240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057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Leverage (DFL)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25146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fixed interest obligations.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DFL = EBIT / (EBIT − Interest)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EBIT=£100m, Interest=£20m → DFL = 100/80 = 1.25× EBIT changes amplified 25% into EPS.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DFL → higher EPS in good times, higher distress risk in downturns.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DFL sectors: Private equity-backed companies (LBOs), REITs, utilities.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before turning the page.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078992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invest £200,000. Cash flows: Yr1=£60k, Yr2=£75k, Yr3=£80k, Yr4=£70k. WACC=10%. Calculate NPV and IRR (approximate). Accept?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73936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1828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Firm: Equity=£500m (market), Debt=£300m, rd=5%, Tax=22%, Rf=3.5%, Beta=1.4, ERP=5.5%. Calculate WACC step by step.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2578608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£400k, VC = £240k, FC = £80k, Interest = £12k. Calculate EBIT, DOL, DFL and DTL.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73552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61288" y="3328416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 has EBIT=£50m and interest=£10m. Under M&amp;M with 25% tax, what is the annual tax shield benefit from the debt?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" y="4078224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company increases financial leverage, what happens to: (a) WACC, (b) cost of equity, (c) cost of debt per M&amp;M Prop II?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Answers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•  Session 7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inflows = 54,545+61,983+60,105+47,811 = £224,444. NPV = 224,444−200,000 = +£24,444 → ACCEPT. IRR ≈ 15-16% (trial: at 15% NPV≈+£8k, at 17% NPV≈−£2k → IRR ≈ 16.5%).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581912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58191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rₑ = 3.5+1.4×5.5 = 11.2%. After-tax rd = 5%×0.78 = 3.9%. E/V=500/800=62.5%, D/V=37.5%. WACC = 0.625×11.2 + 0.375×3.9 = 7.0+1.46 = 8.46%.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386584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386584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= 400−240 = £160k. EBIT = 160−80 = £80k. DOL = 160/80 = 2.0×. DFL = 80/(80−12) = 80/68 = 1.18×. DTL = 2.0×1.18 = 2.35×.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191256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191256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tax shield = Tax rate × Interest = 25% × (Debt × rd). If rd=6%, D=200m: Interest=12m → Tax shield = 0.25×12m = £3m/yr. PV(tax shield) = 3m/0.06 = £50m (assuming perpetual debt).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995928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399592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WACC: under M&amp;M no tax = unchanged (WACC constant). With taxes = falls (tax shield benefit). (b) Cost of equity: rises (more financial risk per M&amp;M Prop II). (c) Cost of debt: unchanged (debtholders' risk doesn't change).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7 — Corporate Finance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is the gold standard — always choose highest NPV for value creation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blended cost of debt+equity = corporate hurdle rate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rₑ = Rf + β×ERP — risk-free plus reward for systematic risk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M&amp;M: tax shield adds value; distress costs set the optimal leverage limit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 amplifies EBIT from revenue; DFL amplifies EPS from EBIT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theory: optimal D/E where tax shield PV = PV distress costs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2026-04-06T18:21:04Z</dcterms:created>
  <dcterms:modified xsi:type="dcterms:W3CDTF">2026-04-06T18:21:04Z</dcterms:modified>
</cp:coreProperties>
</file>