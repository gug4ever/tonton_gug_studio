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08  ·  WEEK 4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FSA III — Taxes,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Liabilities &amp; Quality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analyst toolkit that turns a set of statements into a view on the business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4 Learning Modules 8–12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FSA III — Taxes, Liabilities, Quality, Ratios &amp; Modeling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Long-term liabilities &amp; leases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45938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16 / ASC 842 · ROU asset + lease liability · finance vs operating P&amp;L shape · lessor accounting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804416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850136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Pensions &amp; share-based comp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056790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vs DB · PBO roll-forward · service / interest / actuarial · stock grants and options at grant-date FV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401824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447544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Income taxes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654198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profit vs taxable income · DTL / DTA · Reston Partners depreciation · effective-tax-rate walk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999232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044952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quality &amp; red flags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251606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spectrum · aggressive vs conservative · fraud triangle · accruals ratio · CFO / NI signal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596640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642360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 analysis &amp; DuPont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49014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· liquidity · solvency · profitability · 3-factor and 5-factor DuPont (Amsterdam PLC)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" y="4194048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23976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3-statement modeling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444642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sequence · working-capital drivers · CCC · base / bull / bear revenue scenarios · cash tie-out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Capitalise a lease under IFRS 16 and ASC 842 — compute the ROU asset, lease liability, and the P&amp;L and cash-flow impacts under finance vs operating classification.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defined-contribution from defined-benefit pensions, roll forward the defined-benefit obligation from its five sources, and read a share-based-compensation footnote.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deferred tax liability from accelerated tax depreciation, identify permanent vs temporary differences, and decompose an effective-tax-rate reconciliation.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 set of financial statements on the 5-tier reporting-quality spectrum and apply the accruals ratio and CFO-to-net-income to flag aggressive accounting.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full suite of activity / liquidity / solvency / profitability ratios and run a 3-factor and 5-factor DuPont decomposition of ROE.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skeleton of a 3-statement forecast model, link working-capital ratios to operating cash flow, and run a revenue-growth scenario analysis.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Long-term liabilities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leases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6  ·  Deck 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Long-term liabilities come in four flavours — bonds, leases, pensions, and deferred tax — and each must be translated into comparable economic debt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8, "Introduction", pp. 246–247.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"total debt" rarely equals economic debt. A careful analyst reaches for the footnotes and normalises lease liabilities, unfunded pensions, and deferred tax onto a single yardstick.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0312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Instrument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Where it sits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Cash nature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Analyst adjustment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Bonds payable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Balance sheet at amortised cost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Coupons + principal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Mark-to-market if yields have moved materially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ROU asset + lease liability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Fixed monthly payments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Include in debt; capitalise implicit-interest portion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Pensions (DB)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 funded status (A or L)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Future pension payouts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Treat underfunded amount as quasi-debt in EV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 tax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DTL / DTA line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 cash until differences reverse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Usually exclude DTL from debt, but flag reversals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08960"/>
            <a:ext cx="8503920" cy="11430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108960"/>
            <a:ext cx="73152" cy="11430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1546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ECONOMIC-DEBT LENS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29000"/>
            <a:ext cx="827532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debt = bonds + capitalised leases + underfunded pension − surplus cash. Reported debt (bonds only) can understate true leverage by 40%+ for airlines, retailers, and REIT tenants where operating leases used to sit off-balance-sheet before IFRS 16.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 IFRS 16 and ASC 842 every lease above 12 months lands on the balance sheet as a right-of-use asset and a lease liability equal to the PV of payments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8, "Lease Classification", pp. 249–251.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leases (&lt;12 months) and low-value assets (&lt;USD 5,000, IFRS only) can still be expensed straight-line — everything else capitalises.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 asset  =  Lease liability  =  Σ  Lease_Payment_t / (1 + r)ᵗ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 = rate implicit in the lease, or the lessee's incremental secured borrowing rate. t = 1 … lease term.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40280"/>
            <a:ext cx="4160520" cy="2057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240280"/>
            <a:ext cx="73152" cy="2057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3886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FINANCE-LEASE CRITERIA  (any one triggers)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743200"/>
            <a:ext cx="379476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Lease transfers title to lessee at end of term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Bargain purchase option the lessee is likely to exercise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Lease term covers a major part of asset's economic life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PV of payments ≥ substantially all of asset's fair value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Asset is specialised — no alternative use to lessor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240280"/>
            <a:ext cx="4160520" cy="2057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240280"/>
            <a:ext cx="73152" cy="2057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28600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IFRS 16 vs US GAAP IN ONE LINE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560320"/>
            <a:ext cx="393192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16 uses a SINGLE model for lessees — every lease is treated like a finance lease on the P&amp;L (separate interest + amortisation). US GAAP (ASC 842) preserves an "operating lease" category for lessees, where the lessee reports a single flat "lease expense" line and a flat cash outflow in CFO. Balance sheet impact is identical under both standards.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 US GAAP a finance lease front-loads total expense while an operating lease delivers a flat expense — same cash, different P&amp;L shape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8, Examples 2 &amp; 3 (Proton Enterprises), pp. 251–255.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Lease: 5y, EUR 100k annual payment, 10% implicit rate  →  ROU asset = lease liability = EUR 379,079 at inception under both classifications.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45920"/>
                <a:gridCol w="1645920"/>
                <a:gridCol w="1645920"/>
                <a:gridCol w="164592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Finance — interest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Finance — amort.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Finance — total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Operating — flat expense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Gap (F − O)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37,908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75,816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113,724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+13,724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31,699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75,816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107,515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+7,515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24,869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75,816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100,685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+685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17,355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75,816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93,171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−6,829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9,091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75,816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84,907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−15,093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 over 5y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120,921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379,079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29000"/>
            <a:ext cx="8503920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29000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INSIGHT — SAME CASH, DIFFERENT P&amp;L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49040"/>
            <a:ext cx="8275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cash outflow is EUR 500k in both classifications. Total expense is EUR 500k. But year-1 P&amp;L is EUR 13,724 worse under the finance lease, because interest declines faster than straight-line amortisation.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vs finance leases push EBITDA, asset turnover, leverage, and cash flow in opposite directions — analysts adjust before comparing peers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8, Example 3 Q2 solution, p. 255.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choice is a classification decision, not an economic one — but the reported ratios move enough to mislead a naive comparison.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13716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Formula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Finance lease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Operating lease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 it differs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EBITDA /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Finance: lease = interest + amort (below EBITDA). Operating: lease is op-ex (above EBITDA)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Operating income /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Same reason as EBITDA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turnover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Revenue / Total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Finance-lease ROU amortises faster → lower assets in mid-life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/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Lease liability counted as debt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Both now on balance sheet (identical BS effect)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from operations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Finance: only interest hits CFO; principal is CFF. Operating: full payment is CFO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66160"/>
            <a:ext cx="8503920" cy="731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66160"/>
            <a:ext cx="73152" cy="731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118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ANALYST ADJUSTMENT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86200"/>
            <a:ext cx="82753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compare an IFRS-reporting airline (everything looks finance-lease-ish) to a US-GAAP peer with operating-lease classification, strip lease expense out of op-ex on the GAAP firm and re-class as D&amp;A + interest. Put both on the same basis before computing multiples.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Lessor accounting is nearly identical under IFRS and US GAAP — finance leases derecognise the asset, operating leases keep it on-book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8, "Lessor Accounting", pp. 254–256.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analyst's question: is this lessor running a financing business (banks, aircraft-lessors) or a rental business (real-estate REITs)?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20440"/>
                <a:gridCol w="2606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Financial statement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Finance lease (lessor)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Operating lease (lessor)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sheet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De-recognise asset; recognise lease receivable at PV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Keep asset; continue depreciating 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income (as effective rate on receivable)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Straight-line lease revenue + depreciation expense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 / loss at inception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Recognise sale-type gain/loss (asset FV vs carrying)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— transaction is not a sale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 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Full cash receipt in CFO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Full cash receipt in CFO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vs interest disclosure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 leasing is primary business → shown as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Revenue line always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777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777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ILLUSTRATION — AERCAP (AIRCRAFT LESSOR)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AerCap owns ~1,500 aircraft leased to airlines. Under finance-lease classification (e.g. a 12-year lease on a 15-year-life A321), AerCap derecognises the aircraft and books a lease receivable. Under operating-lease classification (short operating-lease of ageing equipment) it keeps the plane on the balance sheet and books rental revenue.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Pensions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share-based comp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6  ·  Deck 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Defined-contribution plans shift investment and longevity risk to employees; defined-benefit plans keep that risk on the employer's balance sheet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8, "Financial Reporting for Postemployment Plans", pp. 262–266.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last 30 years DC plans have replaced DB plans almost universally in the private sector precisely because DC moves balance-sheet risk off the sponsor.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3200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Defined contribution (DC)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Defined benefit (DB)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promises what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Employer promises a fixed ANNUAL CONTRIBUTION to plan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Employer promises a fixed ANNUAL PENSION in retirement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bears investment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Employee — retirement income depends on plan performance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Employer — must top up shortfalls out of corporate cash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bears longevity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Employee (and annuity provider if annuitised)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Employer — pays until the last retiree dies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P&amp;L expense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contribution is pension expense, full stop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 cost + net interest + past-service cost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Balance-sheet 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beyond accrued payable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Net funded status (PBO − plan assets) as A or 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Disclosure 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Trivial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Extensive footnote — assumptions, sensitivities, cash funding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49040"/>
            <a:ext cx="8503920" cy="548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49040"/>
            <a:ext cx="73152" cy="548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947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ANALYST TELL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69080"/>
            <a:ext cx="8275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pension footnote is longer than one page, the firm sponsors a DB plan — and likely inherits a structurally unfunded liability from a pre-2000 workforce.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defined-benefit pension obligation rolls forward each year from five sources — service cost, interest, past-service, actuarial gains/losses, and benefits paid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8, "Financial Reporting for DB Pension Plans", pp. 266–271.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PBO roll-forward is the single most important pension footnote — it tells the analyst what's service cost (recurring) vs actuarial remeasurement (volatile, OCI).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HELMSAG  ·  DB PENSION ROLL-FORWARD  ·  YEAR ENDED 31 DEC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PBO: EUR 800m. Discount rate 4%. Service cost 35m. 20m of benefits paid. Actuarial loss 15m from lower discount rate. Past-service cost 5m from plan amendment.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PBO (Jan 1):                                          +800.0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cost (present value of benefits earned this year):    +35.0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cost (opening PBO × discount rate = 800 × 4.0%):     +32.0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Past-service cost (benefit-formula enhancement):              +5.0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Actuarial loss (change in discount rate / longevity):         +15.0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paid to retirees:                                    −32.0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PBO (Dec 31) = 800 + 35 + 32 + 5 + 15 − 32  →        +855.0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Closing PBO = EUR 855m. Service cost (35) + interest (32) + past-service (5) hit P&amp;L; actuarial loss (15) hits OCI under IFRS.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Share-based compensation is measured at grant-date fair value and expensed over the vesting period — no cash, but a real hit to earnings and dilution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8, "Share-Based Compensation", pp. 272–278.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SBC is the textbook example of a non-cash expense that is NOT a cash-flow adjustment to value — it transfers wealth from existing shareholders to employees.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1508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1508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 GRANTS / RSUs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value at grant = share price × shares granted. Expensed straight-line over vesting period. Cliff or graded vesting. No option-pricing model needed.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15087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1508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STOCK OPTIONS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value at grant requires an option-pricing model (Black-Scholes or binomial). Inputs: share price, strike, volatility, life, risk-free rate, dividend yield, expected forfeitures.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8503920" cy="14630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803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INDUSLTD  ·  100,000 RSUs  ·  3-YEAR GRADED VESTING  ·  SHARE AT USD 45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1729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is granted 100,000 RSUs vesting 1/3 per year at grant-date share price of USD 45.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85032"/>
            <a:ext cx="8229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Grant-date fair value = 100,000 × USD 45 = USD 4.5m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expense = 4.5m × (1/3) = USD 1.50m  →  recognised as SG&amp;A with offset to APIC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2: 1.50m, Year 3: 1.50m — total USD 4.5m non-cash expense over 3y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Cumulative SBC expense USD 4.5m. Zero cash outflow. Dilution = 100,000 new shares issued at vesting.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Income taxes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6  ·  Deck 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Accounting profit and taxable income diverge because accounting standards and tax laws allow different timing for the same economic transaction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9, "Differences between Accounting Profit and Taxable Income", pp. 282–287.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profit follows IFRS/US GAAP; taxable income follows the local tax code. Differences are either timing (temporary) or structural (permanent).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 tax expense  =  Taxes payable (current)  +  Δ Deferred tax liabilities  −  Δ Deferred tax assets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Taxes payable follows taxable income × statutory rate. The deferred-tax deltas reconcile accounting expense back to book profit × tax rate.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55448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Reconciling item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Direction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Accelerated tax depreciation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Temporary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DTL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Tax: 5y MACRS. Book: 10y straight-line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 for doubtful debts (IFRS only when paid)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Temporary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DTA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Expense booked now, tax-deductible only on write-off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Tax-loss carryforwards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Temporary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DTA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Prior losses usable against future taxable income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Municipal-bond coupon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Permanent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ETR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Non-taxable under US tax code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Fines, penalties, non-deductible entertainment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Permanent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ETR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Book expense but never tax-deductible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R&amp;D tax credits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Permanent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ETR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Direct reduction of taxes owed, no DTA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Temporary differences generate deferred tax assets or liabilities; permanent differences only move the effective tax rate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9, Exhibit 1, p. 285.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of thumb: compare carrying amount to tax base. An asset worth more on the books than on the tax return means future tax is owed — a DTL.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828800"/>
                <a:gridCol w="25603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Balance-sheet item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Carrying vs tax base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Gives rise to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Economic intuition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Carrying &gt; tax base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Deferred tax LIABILITY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You'll recover more book value than tax basis → future taxable income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Carrying &lt; tax base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Deferred tax ASSET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You've paid tax on more than book value → future tax relief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Carrying &gt; tax base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Deferred tax ASSET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You've expensed more than tax-deductible → future deduction available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Carrying &lt; tax base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Deferred tax LIABILITY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Future settlement will generate taxable income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017520"/>
            <a:ext cx="8503920" cy="12344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017520"/>
            <a:ext cx="73152" cy="12344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0632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 ALLOWANCE  (US GAAP) / DTA DE-RECOGNITION (IFRS)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37560"/>
            <a:ext cx="8275320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DTA is only useful if the firm will have taxable income against which to use it. If realisation is NOT more-likely-than-not, US GAAP establishes a valuation allowance that writes the DTA down; IFRS simply does not recognise it. Both treatments land at the same economic reality — a DTA whose realisation is in doubt is worth zero. A reversal of a valuation allowance (firm turns profitable) is a one-time EPS boost that analysts strip out.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Accelerated tax depreciation is the canonical DTL: tax base falls faster than book value, creating a growing deferred tax liability until the asset fully depreciates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9, Example 3 (Reston Partners), pp. 288–291.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economic asset, different schedules: book straight-line 10y, tax straight-line 7y. The tax authority gives you a cash advantage today and claws it back later.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371600"/>
                <a:gridCol w="137160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Item (GBP 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 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 2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 3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Carrying amount (10-yr book, 2,000/yr)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base (7-yr tax, 2,857/yr)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17,143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14,286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11,429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Temporary difference (carrying − tax 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857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1,714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2,571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 tax liability @ 30% tax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771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in DTL (added to tax expense)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+257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+257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+257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54680"/>
            <a:ext cx="8503920" cy="11430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2004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THE DTL IN YEAR 3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Pretax book income 26,700. Taxable income 25,843 (because tax depreciation is 2,857 vs book 2,000). Statutory rate 30%.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05072"/>
            <a:ext cx="8229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tax payable = 25,843 × 30% = 7,753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DTL this year = 771 − 514 = +257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income-tax expense on IS = 7,753 + 257 = 8,010  (= 26,700 × 30%)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Effective book rate reconciles back to 30% once the DTL movement is included.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effective-tax-rate reconciliation walks from statutory to reported line by line — analysts use it to sanity-check permanent items and jurisdiction mix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9, "Tax Rate Reconciliation", pp. 293–298.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NortCorp — hypothetical US-domiciled industrial with 40% of profit in Ireland (12.5%) and 20% in the UK (25%) — reconciling 21% statutory → 21.3% effective.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10312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Reconciling item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Δ ETR (pp)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USD m (on 1,000 pretax)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statutory federal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21.00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Base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rate differential (Ireland at 12.5%, UK at 25%)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−2.50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−25.0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and local taxes (net of federal benefit)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+3.20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Non-deductible expenses (M&amp;E, lobbying, fines)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+1.10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+11.0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&amp; development tax credits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−18.0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in uncertain tax positions (GILTI, BEAT)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Valuation-allowance release (loss carryforwards now useable)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Reported effective tax 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21.30%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213.0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886200"/>
            <a:ext cx="8503920" cy="457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886200"/>
            <a:ext cx="73152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9319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ANALYST FLAG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06240"/>
            <a:ext cx="8275320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single reconciling line &gt; 2% of pretax profit deserves a follow-up question — especially one-off items that could reverse next year.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quality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red flags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6  ·  Deck 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Financial-reporting quality and earnings quality are two separate axes — the worst companies score poorly on both simultaneously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10, Exhibit 1, pp. 319–320.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quality = are the numbers faithful? Earnings quality = are the economics sustainable? A firm can be honest about bad economics (top-left) — that is still a high-quality report.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32004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High earnings quality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Low earnings quality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reporting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✔ Ideal. Reports are faithful AND economics are sustainable. Valuation anchors here.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Reports faithful but economics weak — analysts can still value the firm, just at a lower multiple.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reporting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IMPOSSIBLE — if reports are unfaithful you cannot conclude earnings quality is high.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✘ Worst. Misleading numbers AND weak economics. Often precedes restatements and fraud.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017520"/>
            <a:ext cx="8503920" cy="13258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017520"/>
            <a:ext cx="73152" cy="13258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0632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TWO AXES MATTER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37560"/>
            <a:ext cx="82753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top-left quadrant (high reporting, low earnings) is perfectly legitimate — e.g. Toyota's FY14 report where a weak yen drove an 88% operating-profit increase was high-quality reporting of low-quality (unsustainable FX-driven) earnings. The bottom-right quadrant is where fraud lives — Enron, WorldCom, Wirecard. The analyst's job is to (1) establish reporting quality FIRST, then (2) form a view on earnings quality.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quality lives on a continuum from GAAP-faithful through biased choices to earnings management and finally fictitious transactions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10, Exhibit 2 (Quality Spectrum), p. 321.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jump from tier 3 to tier 4 is a jump across a legal boundary — earnings management within GAAP becomes misstatement outside 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91440" cy="5852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36576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225296"/>
            <a:ext cx="7863840" cy="26334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 — GAAP, decision-useful, sustainable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452067"/>
            <a:ext cx="7863840" cy="3218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 the spectrum. Reports conform to GAAP, provide decision-useful info, AND earnings are sustainable and deliver adequate returns on capital.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810512"/>
            <a:ext cx="8503920" cy="58521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810512"/>
            <a:ext cx="91440" cy="5852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810512"/>
            <a:ext cx="36576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47088"/>
            <a:ext cx="7863840" cy="26334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2 — GAAP, decision-useful, but sustainable?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073859"/>
            <a:ext cx="7863840" cy="3218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are fine; economics are not. E.g. reported earnings came from one-off FX, asset sales, or non-recurring items. Low earnings quality, not a reporting issue.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432304"/>
            <a:ext cx="850392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432304"/>
            <a:ext cx="91440" cy="5852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432304"/>
            <a:ext cx="36576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468880"/>
            <a:ext cx="7863840" cy="26334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3 — Within GAAP, but biased choices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2695651"/>
            <a:ext cx="7863840" cy="3218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picks accounting options (LIFO vs FIFO, capitalise vs expense, depreciable life) to flatter reported earnings. Includes earnings smoothing via reserves.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054096"/>
            <a:ext cx="8503920" cy="58521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054096"/>
            <a:ext cx="91440" cy="5852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3054096"/>
            <a:ext cx="36576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3090672"/>
            <a:ext cx="7863840" cy="26334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4 — Within GAAP, but earnings management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3317443"/>
            <a:ext cx="7863840" cy="3218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earnings management (cutting R&amp;D to hit a number) and accounting earnings management (aggressive estimates). Still technically GAAP-compliant but purposeful.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3675888"/>
            <a:ext cx="850392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3675888"/>
            <a:ext cx="91440" cy="5852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2920" y="3675888"/>
            <a:ext cx="36576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" y="3712464"/>
            <a:ext cx="7863840" cy="26334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5 — Non-compliant / fictitious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939235"/>
            <a:ext cx="7863840" cy="3218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Outright violation of GAAP. Fake revenue, hidden liabilities, off-balance-sheet SPVs used to conceal debt. Enron, WorldCom, Wirecard, Satyam.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fraud triangle — motivation, opportunity, rationalisation — explains why managers in legitimate companies issue low-quality reports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10, "Motivations and Conditions", pp. 330–340.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corners must be present for financial fraud to occur. Kill any one of them and the fraud doesn't start.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·  MOTIVATION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45920"/>
            <a:ext cx="246888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to hit a number: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Debt covenant close to trigger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Earnings-based exec compensation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Analyst consensus to beat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Stock-price-linked wealth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Regulatory capital threshold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motivation and fraud disappears — which is why long vesting periods for exec comp reduce fraud risk.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 ·  OPPORTUNITY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645920"/>
            <a:ext cx="246888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to perpetrate without detection: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Weak internal controls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Ineffective, captive board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Auditor tenure &gt; 10 yrs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Accounting judgement-heavy industry (software, insurance)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Complex group structure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Limited analyst coverage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Mechanisms that reduce opportunity: independent audit, PCAOB oversight, SOX 302/404, whistleblower hotlines.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·  RATIONALISATION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45920"/>
            <a:ext cx="246888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 justification to the self: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"Everyone in the industry does it"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"Bridge year — we'll true it up later"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"The accounting rules are unfair"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"Protecting jobs is the right thing"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"We deserved that bonus"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tell: management openly endorses "within-limits" discretion in reporting — that is the tone-at-the-top that enables fraud.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accruals ratio and CFO-to-net-income are the two simplest earnings-quality flags — both cheap to compute and alarmingly predictive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10, "Pay Attention to the Relationship between Cash Flow and Net Income", pp. 374–378.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Sloan (1996) showed firms with the highest accruals ratios under-performed the market by ~10% in the following year. The intuition: accruals that aren't backed by cash eventually reverse.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Accruals ratio (BS)  =  (NOA_end − NOA_begin) / ½(NOA_end + NOA_begin)        CFO / NI  →  should cluster near 1.0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NOA = net operating assets = (total assets − cash) − (total liabilities − total debt). An accruals ratio &gt; 10% is a red flag.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VENTARA INC.  ·  FY2024 EARNINGS-QUALITY CHECK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NOA_begin = USD 800m; NOA_end = USD 1,040m. Net income 180m. CFO reported at 95m.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NOA = ½(800 + 1,040) = 920m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Accruals ratio = (1,040 − 800) / 920 = 240 / 920 = +26.1%  →  well above 10% red-flag threshold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/ NI = 95 / 180 = 0.53  →  far below 1.0; accrual-heavy earnings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Cross-check: DSO up from 58 → 78 days (+34%) — classic channel-stuffing pattern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Ventara fails BOTH tests. The 26% accruals ratio and 0.53 CFO/NI together warrant a detailed AR and revenue-recognition review before any long position.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 analysis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DuPont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6  ·  Deck 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 analysis starts with four families — activity, liquidity, solvency, profitability — each answering a different question about the firm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11, "Ratio Analysis", pp. 400–432.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report a ratio in isolation. Every number needs (a) a history, (b) a peer comparable, and (c) an economic interpretation.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77440"/>
                <a:gridCol w="32004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Family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Question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Three canonical ratios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benchmark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 I using assets efficiently?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Inventory turnover · DSO · Asset turnover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Can I pay my bills in 12 months?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Current ratio · Quick ratio · Cash ratio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&gt;1.0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Can I survive the decade?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Debt / Equity · Debt / Assets · Interest coverage (EBIT/I)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&lt;2.0 / &gt;3×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 I generating returns on capital?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Gross margin · Operating margin · ROE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Peers / WACC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017520"/>
            <a:ext cx="8503920" cy="12801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017520"/>
            <a:ext cx="73152" cy="12801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0632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RATIO RULES OF THUMB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37560"/>
            <a:ext cx="82753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Always use AVERAGES of balance-sheet items (opening + closing / 2) when combining with a flow item (revenue, NI).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Beware quarter-end window dressing: balance-sheet date figures can be unrepresentative.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Normalise for leases, SBC, and restructurings before cross-comparing peers.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ratio only means something against a benchmark (history, peer group, or policy).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Liquidity ratios measure whether a firm can survive the next twelve months; solvency ratios whether it survives the next decade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11, "Liquidity Ratios" &amp; "Solvency Ratios", pp. 414–424.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IndusLtd (healthy industrial) vs StressCo (over-levered peer with covenant headroom collapsing). Same industry, same size, very different shape.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383280"/>
                <a:gridCol w="1097280"/>
                <a:gridCol w="109728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Ratio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Formula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IndusLtd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StressCo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Threshold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(Current assets) / (Current liabilities)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&gt;1.0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(Cash + AR + marketable securities) / CL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&gt;1.0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/ Current liabilities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&gt;0.2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/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 debt / Total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/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 debt / Total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&lt;0.50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EBIT / Interest expense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&gt;3.0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Fixed-charge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(EBIT + Lease exp) / (Interest + Lease exp)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97764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97764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40233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9768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StressCo fails every threshold. Even if it survives FY, the D/E of 3.4× and coverage of 1.6× leave almost no headroom for a margin slip.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Profitability ratios decompose into margin × turnover — the first question an analyst asks after computing ROA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11, "Profitability Ratios", pp. 425–432.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firms with identical 8% ROA can look very different: a grocer earns it via 25× turnover × 0.32% margin; a luxury-goods house via 0.8× turnover × 10% margin.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  =  Net profit margin  ×  Total asset turnover        ROE  =  ROA  ×  Leverage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Margin × turnover = ROA captures operating efficiency; layering leverage gets you to ROE (equity return).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97280"/>
                <a:gridCol w="1188720"/>
                <a:gridCol w="1188720"/>
                <a:gridCol w="146304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Firm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Revenue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Net income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Avg assets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NP margin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Asset turnover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Grocer (MassMart)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(CloudWare)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Luxury brand (MaisonM)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7,500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(IndusLtd)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1.33×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886200"/>
            <a:ext cx="8503920" cy="457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886200"/>
            <a:ext cx="73152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9319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06240"/>
            <a:ext cx="8275320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same-industry ROA. Different industries have structurally different margin-turnover curves — mixing them is a classic analyst mistake.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3-factor DuPont answers the question "why is ROE what it is?" — the three levers are margin, efficiency, and leverage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11, DuPont Analysis, pp. 433–438.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three-factor version is the fastest way to diagnose whether an ROE change is operating (margin, turnover) or financial (leverage).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ROE  =  (NI / Revenue)  ×  (Revenue / Avg assets)  ×  (Avg assets / Avg equity)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Net profit margin  ×  Total asset turnover  ×  Leverage  =  Return on equity.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47088"/>
                <a:gridCol w="1847088"/>
                <a:gridCol w="1847088"/>
                <a:gridCol w="184708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Net margin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Asset turnover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Leverage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−0.47%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0.84×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−0.62%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0.93×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1.54×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1.58×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1.11×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5.92%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Δ FY2 → FY5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+380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+0.27×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flat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+654 bps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931920"/>
            <a:ext cx="8503920" cy="4114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931920"/>
            <a:ext cx="73152" cy="4114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9776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NortCorp READING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51960"/>
            <a:ext cx="8275320" cy="45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ROE improvement came from operating drivers (margin and turnover) — leverage was flat. A genuinely improved business rather than a re-levering story.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5-factor DuPont separates taxes and interest from operations — the version Bloomberg ships and the one IB analysts use on earnings calls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11, Example 16 (Amsterdam PLC), pp. 436–438.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the question is "is this ROE move operating, financing, or tax?" — and it almost always is.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ROE  =  (NI/EBT)  ×  (EBT/EBIT)  ×  (EBIT/Rev)  ×  (Rev/Assets)  ×  (Assets/Equity)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Tax burden  ×  Interest burden  ×  EBIT margin  ×  Total asset turnover  ×  Leverage.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52728"/>
                <a:gridCol w="1252728"/>
                <a:gridCol w="1252728"/>
                <a:gridCol w="1252728"/>
                <a:gridCol w="1252728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Tax burden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Int. burden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EBIT margin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Asset TO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Leverage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58.96%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97.49%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13.98%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1.44×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2.14×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24.72%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63.12%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97.86%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13.98%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1.47×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2.10×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26.50%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52.10%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97.73%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11.04%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1.71×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2.17×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20.78%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60.50%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97.49%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7.56%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0.99×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2.15×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9.53%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886200"/>
            <a:ext cx="8503920" cy="457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886200"/>
            <a:ext cx="73152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9319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AMSTERDAM PLC DIAGNOSIS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206240"/>
            <a:ext cx="8275320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 ROE collapse (26.5% → 9.5%) came almost entirely from operations: EBIT margin −642 bps AND asset turnover −0.48×. Tax burden and leverage were stable — the story is operational, not financial.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3-statement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modeling basics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of 6  ·  Deck 8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3-statement model is an integrated forecast of the IS, BS, and CFS — built from revenue down and forced to balance every year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12, "Framework for Financial Statement Modeling", pp. 451–465.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statement feeds the next. The cash-flow statement is the integrator — it reconciles the change in cash on the balance sheet back to net income plus working capital.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4846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91440" cy="4846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365760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225296"/>
            <a:ext cx="7863840" cy="2180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 revenue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406804"/>
            <a:ext cx="7863840" cy="2665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 (market × share) or bottom-up (units × price). Anchor on consensus or management guidance for Yr 1.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709928"/>
            <a:ext cx="8503920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709928"/>
            <a:ext cx="91440" cy="4846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709928"/>
            <a:ext cx="365760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746504"/>
            <a:ext cx="7863840" cy="2180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 COGS, SG&amp;A, D&amp;A → EBITDA, EBIT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1928012"/>
            <a:ext cx="7863840" cy="2665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 usually held stable or mean-reverted to long-run average. D&amp;A linked to gross PP&amp;E schedule.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231136"/>
            <a:ext cx="8503920" cy="4846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31136"/>
            <a:ext cx="91440" cy="4846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231136"/>
            <a:ext cx="365760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267712"/>
            <a:ext cx="7863840" cy="2180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 interest (from debt schedule) → NI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2449220"/>
            <a:ext cx="7863840" cy="2665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= (average debt) × cost of debt. Tax expense = EBT × normalised effective rate.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2752344"/>
            <a:ext cx="8503920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2752344"/>
            <a:ext cx="91440" cy="4846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2752344"/>
            <a:ext cx="365760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2788920"/>
            <a:ext cx="7863840" cy="2180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working capital via DSO / DIO / DPO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2970428"/>
            <a:ext cx="7863840" cy="2665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AR, inventory, and AP on balance sheet. Captures cash absorption of revenue growth.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3273552"/>
            <a:ext cx="8503920" cy="4846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3273552"/>
            <a:ext cx="91440" cy="4846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2920" y="3273552"/>
            <a:ext cx="365760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" y="3310128"/>
            <a:ext cx="7863840" cy="2180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Capex schedule → PP&amp;E → net D&amp;A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491636"/>
            <a:ext cx="7863840" cy="2665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assumption (% of revenue) maintains asset base. Beginning PP&amp;E + capex − D&amp;A = ending PP&amp;E.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20040" y="3794760"/>
            <a:ext cx="8503920" cy="4846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5" name="Shape 33"/>
          <p:cNvSpPr/>
          <p:nvPr/>
        </p:nvSpPr>
        <p:spPr>
          <a:xfrm>
            <a:off x="320040" y="3794760"/>
            <a:ext cx="91440" cy="4846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2920" y="3794760"/>
            <a:ext cx="365760" cy="4846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3831336"/>
            <a:ext cx="7863840" cy="2180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 CFS; solve for cash; force BS to tie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" y="4012844"/>
            <a:ext cx="7863840" cy="2665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+ CFI + CFF = Δ cash. If BS doesn't balance, revisit the plug in debt or equity until it does.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Working-capital ratios — DSO, DIO, DPO — drive most of the movement between EBITDA and operating cash flow in any forecast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12, "Working Capital and CCC", pp. 466–472.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fast-growing firm with deteriorating DSO can have positive EBITDA and negative free cash flow simultaneously — the definition of a cash-hungry business.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CCC  =  DIO  +  DSO  −  DPO        where  DSO = (AR/Revenue)×365   DIO = (Inv/COGS)×365   DPO = (AP/COGS)×365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Lower CCC = faster cash conversion. A CCC below zero (Amazon, Apple pre-2016) means suppliers fund the working capital.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188720"/>
                <a:gridCol w="1188720"/>
                <a:gridCol w="118872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NortCorp forecast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Yr 0 actual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Yr 1 base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Yr 2 base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Yr 3 base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Driver assumption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(USD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1,081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1,125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+4% CAGR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DSO (days)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Flat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DIO (days)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−2 days/yr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DPO (days)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Flat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CCC (days)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Improving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working capital (USD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Tied to CCC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NWC absorbed by cash 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Headwind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growth is the single largest lever — +4% base vs +8% bull vs −2% bear deliver wildly different 3-statement outputs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12, "Scenario Analysis", pp. 478–484.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analysis is not the same as sensitivity: you move a bundle of coherent assumptions together (growth + margin + capex) to describe a plausible state of the world.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173736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NortCorp Yr 3 output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Bull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assumption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−2% CAGR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+4% CAGR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+8% CAGR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 assumption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% of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(USD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941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1,125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(USD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 (USD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 (USD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debt, end of Yr 3 (USD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3.4×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1.0×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97764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97764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40233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29768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scenarios span a 5× range of free cash flow — and the bear case tips NortCorp above the 3.0× covenant on net debt / EBITDA.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8 — FSA III — Taxes, Liabilities, Quality, Ratios &amp; Modeling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16 and ASC 842 capitalise every lease &gt; 12 months as ROU asset = lease liability = PV of payments; only P&amp;L shape differs (IFRS always front-loaded, US GAAP flat for operating).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plans move pension risk to employees; DB plans keep it with the employer — the PBO rolls forward each year from service + interest + past-service + actuarial + benefits paid.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differences generate DTL / DTA; permanent differences only move the effective tax rate; Reston Partners is the canonical accelerated-depreciation DTL worked example.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quality (are numbers faithful?) and earnings quality (are economics sustainable?) are independent axes; the 5-tier quality spectrum runs GAAP-faithful → biased → EM → fictitious.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Accruals ratio &gt; 10% and CFO/NI &lt; 1.0 are the two simplest earnings-quality red flags — Ventara's 26% / 0.53 combination is a classic pre-restatement pattern.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ratio families — activity, liquidity, solvency, profitability; DuPont decomposes ROE: 3-factor (margin × turnover × leverage) or 5-factor (adds tax burden × interest burden).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Amsterdam PLC 2017: ROE collapse from 26.5% to 9.5% traced to EBIT margin (−642 bps) and asset turnover (−0.48×) — operational, not financial.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3-statement model flows revenue → margins → NI → WC → capex → CFS plug; always scenario-analyse revenue growth × margin × capex together, not in isolation.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8 · FSA III — Taxes, Liabilities, Quality, Ratios &amp; Modeling</dc:title>
  <dc:subject>PptxGenJS Presentation</dc:subject>
  <dc:creator>Studio Tonton Gug</dc:creator>
  <cp:lastModifiedBy>Studio Tonton Gug</cp:lastModifiedBy>
  <cp:revision>1</cp:revision>
  <dcterms:created xsi:type="dcterms:W3CDTF">2026-04-23T09:33:29Z</dcterms:created>
  <dcterms:modified xsi:type="dcterms:W3CDTF">2026-04-23T09:33:29Z</dcterms:modified>
</cp:coreProperties>
</file>