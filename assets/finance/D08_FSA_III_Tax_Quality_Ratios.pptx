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Five learning modules in one morning. Set the frame: this is where accounting stops being bookkeeping and becomes a lens.
•  Two hours, six sections. Say so up front — they will pace themselves.
•  Every worked example here is a real CFA example. Say that too.
•  Three companies recur: Proton (leases), Reston (tax), Rémy Cointreau (the model).
•  Warn them the tax section is where people lose the thread. Questions welcome there.
NEXT — Straight into the roadmap — show them the shape of the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Give them the map once, properly, so nobody spends the morning wondering how much is left.
•  Sections 1–2 are balance-sheet plumbing, 3 is tax, 4–6 are the analyst toolkit.
•  Flag the two hinge slides: the DTL direction, and the five-way DuPont.
•  Say where the break falls — after income taxes is the natural halfway point.
•  Section 6 is the one they will use on the desk in week one.
NEXT — Objectives next — what they should be able to DO, not just recognise.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Six verbs, not six topics. Read them as promises you intend to keep by lunchtime.
•  Emphasise the verbs: classify, roll forward, separate, place, compute, build.
•  Objective 3 is the one they will be examined on hardest — say so.
•  Objective 6 is the one their first managing director will ask about.
•  Do not read all six aloud. Read two, point at the rest, move on.
NEXT — Section one. Start with the four things that count as long-term debt.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Divider — 25 minutes for this section, and the Proton table is the centrepiece.
•  Five content slides. The Proton example alone is worth eight minutes of them.
•  Ask before you start: how many of you think a lease is debt?
NEXT — Open with the four flavours of long-term liability.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Frame the section: the balance sheet under-reports what the company owes, and the analyst puts it back.
•  Walk the four rows, one line each. This is the map, not the terrain.
•  Only bonds arrive pre-labelled as debt. Everything else needs a decision.
•  Deferred tax is the odd one out — a liability that may never be paid in cash.
•  Land the callout formula; they reuse it in every leverage calculation this year.
FROM THE DESK — Rating agencies do exactly this and publish the recipe. Adjusted leverage adds capitalised leases and the pension deficit, and nets only cash they believe is genuinely available — cash trapped in a foreign subsidiary usually is not.
ASK THE ROOM — A retailer reports zero debt but leases 400 stores. Is it unlevered?
NEXT — Leases first, because that is where the standards moved most recently.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Classification comes BEFORE the accounting. Get them to see it as substance: is this a purchase dressed as a rental?
•  Read criterion 4 slowly — "substantially all" is where the judgement lives.
•  CFA Example 1: PV 186 against fair value 190 is 98%, so finance lease.
•  Same example with fair value 300: 186/300 = 62%, no criterion met, operating.
•  Hammer the right-hand box: balance sheet identical, income statement different.
•  The 12-month exemption is why one-year rolling leases are so popular.
FROM THE DESK — Watch for leases written at 11 months and renewed. That is not aggressive accounting, it is deliberate structuring — and if you see it across a whole store estate, capitalise it yourself before computing leverage.
NEXT — Now put numbers on it. Proton Enterprises, five years, EUR 100k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anchor example of the section. Make them find the crossover year before you reveal it.
•  Cover the last two columns. Ask: in which year do the two lines cross?
•  Answer is Year 4 — Year 3 is +685, a rounding hair above break-even.
•  Point at both totals: 500,000 and 500,000. Classification moves timing only.
•  Interest 37,908 = 10% × 379,079. Have someone do that one out loud.
•  Amortisation 379,079 ÷ 5 = 75,816. Straight line, no judgement involved.
FROM THE DESK — A borrower near an earnings covenant genuinely cares about this. Under IFRS every lease is finance-shaped, so a European issuer signing a large lease takes an operating-profit hit in year one that a US GAAP peer signing the identical lease does not.
ASK THE ROOM — Which classification would a CFO chasing this year's EPS prefer, and why does it stop mattering by year five?
NEXT — Now the consequence — what this does to the ratios you quote to a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Four "lower" answers and one that surprises them. Classification is not economic, but it is very visible.
•  Read the direction column first. Four rows say Lower. Then ask why.
•  Asset turnover trips people: operating keeps a BIGGER ROU asset, so turnover falls.
•  Cash flow per share is the row that matters for valuation — whole payment in CFO.
•  Debt/Equity: the LIABILITY is identical. Only retained earnings differ, and only early.
•  Close on the callout — this is a real adjustment, not a textbook one.
FROM THE DESK — When IFRS 16 landed, covenant headroom moved overnight at leverage-heavy retailers even though nothing about the business changed. Most credit agreements were re-cut on a frozen-GAAP basis precisely so the accounting change could not trigger a default.
NEXT — Flip the contract over. What does the lessor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Symmetry check. Everything the lessee did has a mirror image, and the mirror is not the obvious one.
•  Cash flow row first: identical under both. That always surprises them.
•  Revenue is the shock — 37,908 against 100,000 for the same machine and the same cash.
•  The finance-lease lessor INCREASES assets here, because PV 379k exceeds carrying 350k.
•  US GAAP splits finance leases into sales-type and direct financing; the curriculum says the distinction does not matter to an analyst.
FROM THE DESK — Aircraft lessors are the live case — the curriculum cites AerCap, with over 1,500 aircraft on lease. Whether a lease is finance or operating changes reported revenue by a factor of three on identical cash, which is why you compare lessors on cash yield rather than revenue growth.
NEXT — Second section. From a contract you can read to a promise nobody can price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Divider — short section, 15 minutes. Three slides, one of them a roll-forward they must reproduce from blank paper.
•  Warn them the vocabulary is heavier here than the arithmetic.
•  Ask: who in the room is in a defined-benefit scheme? Usually nobody. That is the story.
NEXT — Start with who carries the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idea, six consequences. Do not let them memorise the table before they can state the one-line distinction.
•  Make someone state the difference in one sentence before you reveal the rows.
•  IFRS profit or loss has TWO components: service cost (which includes past service cost) and net interest.
•  Remeasurements go to OCI and are never recycled into profit under IFRS.
•  Net funded status is a single net line — surplus is an asset, deficit a liability.
•  BT: 57,327 − 50,956 = 6,371, and 6,371 ÷ 22,270 = 29%. Worth writing up.
FROM THE DESK — On a leveraged transaction the pension trustee is a creditor in all but name, and often the one with the most negotiating leverage. A deficit of that size gets its own workstream, its own adviser, and can dictate dividend policy for years.
NEXT — Now the mechanics: how does that obligation move over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They must build this from a blank page. Everything else in pensions is vocabulary.
•  Two lines push the obligation up because the company promised more: service and past-service.
•  One line pushes it up because time passed: interest, 800 × 4%.
•  One line moves it because the ACTUARY changed their mind — the remeasurement.
•  One line takes it down because cash left: benefits paid.
•  Then the split. Ask which lines hit profit before you reveal the orange bar.
FROM THE DESK — A falling discount rate inflates the obligation without anything happening to the business, and under IFRS it lands in OCI so reported earnings never show it. Always check the discount-rate assumption against the corporate bond curve before believing a funded status.
ASK THE ROOM — If the discount rate had RISEN instead, which line flips sign and where does it land?
NEXT — The other deferred promise: paying people in shares rather than cash.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traps: the value is frozen at grant, and "non-cash" does not mean "free".
•  Say it twice — grant-date fair value. Later share-price moves change nothing in the P&amp;L.
•  The four option sensitivities are examinable: volatility, life and rate up; dividend yield down.
•  Walk the arithmetic: 4.5m over three years is 1.5m a year, offset to APIC.
•  Then the punchline — no cash left, but existing holders own a smaller slice.
•  Nuance if asked: with graded vesting IFRS attributes each tranche separately, so year one carries more.
FROM THE DESK — Treating SBC as a non-cash add-back is the most common mistake I see in a first-year model. The cost is real, it is just settled in equity rather than cash — add it back to EBITDA and you must charge the dilution somewhere else.
ASK THE ROOM — If the share price halves before vesting, what happens to next year's SBC expense?
NEXT — Section three. The hardest stretch of the morning: income taxes.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Divider — the section where attention drops. Say out loud that it is the hardest, and that it is worth it.
•  Four slides, 25 minutes. Do not rush the DTL direction slide.
•  Tell them the break comes at the end of this section.
•  One sentence to carry through: tax accounting is about WHEN, not how much.
NEXT — Why the two profit numbers differ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Get the sorting rule in first: will this difference ever reverse? Yes means deferred tax. No means the effective rate moves.
•  Read the formula once. Plus DTL, minus DTA — the signs get inverted constantly.
•  Rows 1–3 reverse. Rows 4–6 never do. Have them sort the table before you reveal it.
•  Tax credits are the sharp one: they cut TAX, not taxable income, so no deferred item.
•  Loss carryforwards create a DTA without being a temporary difference — flag it, do not dwell.
•  Permanent differences are the ONLY reason the effective rate differs from statutory.
ASK THE ROOM — A company pays a EUR 2m regulatory fine. Deferred tax asset, liability, or neither?
NEXT — Now the direction test — the most-inverted rule in the whole curriculum.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slide the tax section turns on. Decks get this backwards constantly, so slow right down.
•  Say the rule as a sentence, not a table: book value above tax base means future tax owed.
•  Accelerated tax depreciation is the canonical case — tax base falls faster, so carrying &gt; tax base, so DTL.
•  The liability rows invert. Rent received in advance: carrying 10m, tax base 0, so DTA.
•  "Valuation allowance" is a US GAAP term. IFRS just derecognises. Do not let them mix the two.
•  End on the allowance release — a genuine earnings-quality flag, not a technicality.
FROM THE DESK — A large unrecognised DTA sitting in a footnote is a straightforward tell about management's own forecast. If they will not book it, they do not believe they will make enough profit to use it — whatever the guidance says on the call.
ASK THE ROOM — Rent received in advance: carrying amount 10m, tax base zero. Which side, and which deferred item?
NEXT — Put numbers on it — the curriculum's own worked example, Reston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moment the mechanics click. Show the expense landing back on 30% of book profit and the mystery dissolves.
•  Build the top two rows on the board first: 20,000 ÷ 10 = 2,000 and 20,000 ÷ 7 = 2,857.
•  The difference row grows by the same 857 each year — that is why the DTL is linear.
•  Then the reveal: 7,753 + 257 = 8,010 = 26,700 × 30%. Let that land in silence.
•  Cash tax is LOWER than book tax expense. That gap is the interest-free loan.
•  Use the footnote to close the loop — this reverses, it does not accumulate forever.
FROM THE DESK — In a leveraged model that gap is real money. A capital-intensive business with heavy tax depreciation runs a cash tax rate well below its effective rate for years, and that is exactly the cash a sponsor uses to service debt. Model the cash rate, not the book rate.
NEXT — Which brings us to the three rates an analyst must keep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A real tax note from a real company. The whole 12.7-point gap comes down to one line, and finding that line is the skill.
•  Have them add the 2021 column live: 21.0 − 16.4 + 6.7 − 1.3 − 1.0 − 0.5 − 0.2 = 8.3.
•  Then ask which line does the work. International operations, −16.4 points.
•  Note the countervailing line, US taxes on international income at +6.7. They move together.
•  Trend matters: that benefit ran −5.9, −9.9, −16.4. A mix shift, not a one-off.
•  Close on the cash rate — different number, different use, forecast cash flow off it.
FROM THE DESK — A structurally low effective rate is a valuation input and a risk factor at the same time. Before extrapolating it, ask what happens to that one line if the profit mix moves back onshore, or if a global minimum-tax regime lands on it.
ASK THE ROOM — If JNJ shifted half its international profit back to the US, roughly where does the 8.3% go?
NEXT — Section four. From how the numbers are built to whether you should believe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Divider — the section they will enjoy. Fraud stories carry it, but the examinable content is the spectrum and the warning signs.
•  Four slides, 20 minutes. Come back from the break with this one.
•  Resist spending it all on Enron anecdotes.
NEXT — Open with the distinction everyone collapses: reporting quality is not earnings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Kill the intuition that low reporting quality means the company is bad. It means you are blind, which is a different and worse problem.
•  Do the axes first. Left to right is the report. Top to bottom is the business.
•  Left column: BOTH cells say the same thing. You cannot assess. That is the exhibit's real point.
•  Bottom right is legitimate and common — a faithful account of a bad year.
•  Toyota is the curriculum's own example of bottom right: fewer cars, 88% more profit, weak yen.
•  Top right is the only cell where a valuation means anything.
FROM THE DESK — In diligence the left column is a walk-away, not a discount. You cannot price what you cannot verify, and applying a discount implies you know the size of the problem — which is exactly what low reporting quality denies you.
NEXT — Reporting quality is not binary though. It runs down a spectrum.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Give them vocabulary they can use in a meeting. "Aggressive" is lazy — make them say which step they mean.
•  Walk down, not up. Start at the top so the fall is visible.
•  Steps 1 and 2 differ on the BUSINESS, not the report. That is the earnings-quality axis again.
•  Step 3 versus step 4: bias is a leaning, management is a purpose. The line is intent.
•  Real earnings management is the sneaky one — cutting R&amp;D is legal, disclosed, and destroys value.
•  Point at the gap between 4 and 5. It is the only line with legal consequences.
FROM THE DESK — Nobody jumps to step 6. The pattern is always a slide: one stretched estimate that works, then a bigger one, then a bridge year that never gets bridged. Find one step-3 choice and go looking for the second.
ASK THE ROOM — A company extends its depreciable lives from 3 years to 15 and explains it in one sentence. Which step?
NEXT — So why do managers of legitimate businesses do this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A diagnostic, not a morality tale. In diligence you look for the three conditions the way a doctor looks for symptoms.
•  Column 1: the survey finding is the interesting bit — career concerns beat bonus.
•  Column 2: split internal from external. Controls and board, versus standards and enforcement.
•  Column 3: the Fastow story is the whole lesson. Every approval obtained, still fraud.
•  Then the practical point: the only corner an outsider can observe is opportunity.
•  Which is why governance quality is a proxy for reporting risk, and why it gets diligenced.
FROM THE DESK — You cannot see motivation from outside, but you can read the incentive plan in the proxy. When the entire bonus turns on one earnings threshold and the year is close to it, you are looking at a condition rather than an accusation — and you check the estimates harder.
NEXT — From why it happens to how you spot it. The curriculum's warning-sign battery.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Turn a chapter of prose into a checklist they can actually run. Six rows, six ratios, one afternoon.
•  Rows 1 to 3 are the revenue-to-cash chain: sell it, bill it, hold it.
•  Receivables and inventory read the same way — is the balance growing faster than sales?
•  Capitalisation: the SEC found improper revenue first, suppressed expenses second. WorldCom is the case.
•  Land the callout as the single most useful screen in the module.
•  Say plainly what this is NOT: none of it proves anything. It tells you where to dig.
FROM THE DESK — In a live diligence the first tell is almost never a number — it is a change in how a number is presented. A newly introduced adjusted metric, a segment that gets re-cut, a definition that quietly moves in the footnote. Then you go to CFO over net income to confirm.
ASK THE ROOM — Revenue up 30%, receivables up 60%, CFO down. What is your first question to the CFO?
NEXT — Section five. From judging the numbers to working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Divider — the most examinable section and the most used on the desk. 30 minutes, five slides.
•  The two DuPont slides are the payoff. Do not run short of time before them.
•  Warn them the definitions matter: averages versus period-end is a real exam trap.
NEXT — Start with the four families and the question each one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Impose structure before volume. Four questions is memorable; forty formulas is not.
•  Ask the four questions aloud and let them name the family each time.
•  The balances column is the practical payoff, and where marks get lost.
•  Liquidity uses period-end because it measures a position, not a performance.
•  Rule 3 is the curriculum's own: quarterly turnover 3.18 annualises to about 12.7.
•  Note the footnote — CCC and defensive interval are liquidity measures, not activity ones.
FROM THE DESK — The definition fight is real. Total debt can mean interest-bearing debt only, all liabilities, or debt net of cash. None is wrong, but a peer table built from three different definitions is worse than no table. State yours on the page.
NEXT — Liquidity and solvency side by side — twelve months against ten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time horizons, two failure modes. Profitable companies die of illiquidity; solvent-looking ones die of leverage.
•  Cash ratio is the strict one — cash and short-term investments only, no receivables.
•  CCC sits under liquidity in the curriculum, not activity. Small point, easily examined.
•  Fixed-charge coverage adds leases to BOTH numerator and denominator. Show why.
•  Walk one Stressed Co row and let them predict the rest.
•  Say clearly that thresholds are convention: an investment-grade utility and a software firm live at different numbers.
FROM THE DESK — A credit committee reads two lines before anything else: net debt to EBITDA and interest coverage. The rest is supporting evidence. Fixed-charge coverage is what you reach for when the business leases rather than owns, because interest coverage alone flatters it.
NEXT — Profitability next — and the decomposition that starts the whole DuPont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identity that makes DuPont inevitable. Once they see ROA as two numbers, the next two slides write themselves.
•  Check one row live: 0.30% × 8.00 = 2.4%. The identity is exact, not approximate.
•  Grocer and software are the extremes — thin margin high turnover, fat margin low turnover.
•  Neither model is better. The market prices the combination, not either half.
•  Flag ROIC in the legend: EBIT after tax over invested capital, compared against WACC.
•  Close on the comparison rule before moving to DuPont.
FROM THE DESK — When someone says a business has "good returns", ask which half they mean. A margin story and a turnover story need completely different diligence — one is about pricing power, the other about the asset base and how hard it is worked.
NEXT — Add leverage and you have the three-way decomposition. Real numbers: Anson Industries.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A real four-year trend with a clean answer. Make them read the table before you hand them the conclusion.
•  Check FY5 live: 3.33% × 1.11 × 1.60 = 5.92%. The identity holds exactly.
•  Cover the ROE column. Ask which factor drove the change; they will spot the flat leverage.
•  Margin +380 bps and turnover +0.27× did all the work. Leverage ended where it started.
•  That is the good version of an ROE improvement — a better business, not a bigger balance sheet.
•  Contrast with the peer, Clarence: higher ROE mostly from leverage of 2.00 against Anson's 1.60.
FROM THE DESK — On an earnings call a CEO will say "we improved returns". This table tells you whether they improved the business or bought back stock with borrowed money. Both raise ROE; only one survives a downturn.
ASK THE ROOM — If leverage had risen from 1.60 to 2.20 with margin flat, what does ROE do — and would you be pleased?
NEXT — Split the margin further and you separate tax and interest from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diagnostic version. Five numbers, only two of them moved — that is the entire finding.
•  Read the interest-burden column first: 97.49, 97.86, 97.73, 97.49. Constant capital structure.
•  Leverage tells the same story, 2.10 to 2.17. Nothing financial happened.
•  Then EBIT margin 13.98 → 7.56 and turnover 1.47 → 0.99. There is your answer.
•  Tax burden 63.12 → 52.10 → 60.50: no trend. And 2016 to 2017 RISING means taxes FELL.
•  Say the years out loud. The comparison is 2015 to 2017, not 2016 to 2017.
FROM THE DESK — The two burden ratios are the ones nobody looks at and the ones that catch structural change fastest. An interest burden sliding from 0.97 to 0.85 across three years is a refinancing story that the margin line will never show you.
NEXT — Last section. Everything so far has been historical — now forecast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Divider — the section that connects the morning to their day job. 20 minutes, three slides, one real company.
•  Everything follows the curriculum's Rémy Cointreau model. Real segments, real numbers.
•  Tell them the Excel workbook ships with the curriculum and is worth an evening.
NEXT — The build sequence first — order matters more than anything else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Sequence is the lesson. Most broken models are not wrong in the arithmetic, they are built in the wrong order.
•  Step 1 is 80% of the model's value and where all the judgement lives.
•  Show the compounding: (1.07 × 1.04) − 1 = 11.3%. Volume and price do not simply add.
•  Step 5 is where the three statements actually connect — net income in, cash out.
•  Step 6 is the punchline: the balance sheet is not forecast, it is derived.
•  If it does not balance, the bug is upstream. Never plug the balance sheet.
FROM THE DESK — Every model you inherit has a plug hidden somewhere. Find it before trusting a single output — the usual hiding places are a hard-coded cash line, or an "other assets" row quietly absorbing the error.
NEXT — The line that swings forecast cash flow most: working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A real forecast, not a stylised one. The whole cash flow turn comes from a single assumption: inventory days.
•  Net working capital is 105% of sales. Say the number twice — more than a year of revenue.
•  The reason is the DOH row: 1,650 days. Cognac ages for years before it is sold.
•  Watch the bottom row flip sign: −36 in FY2021 becomes +64 in FY2022E.
•  Nothing about the margin caused that. Inventory days falling from 1,650 to 1,500 did.
•  DSO held flat at 57 and payables normalising are modelling CHOICES, not facts.
FROM THE DESK — Working capital assumptions are where an over-optimistic model hides. Days held flat while revenue grows 10% quietly assumes the business gets no harder to run. Ask what has to be true operationally for those days to hold.
ASK THE ROOM — If inventory days stayed at 1,650 instead of falling, what happens to FY2024E free cash flow?
NEXT — Which is exactly why you never build one scenario. Bracket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slide that changes how they build models. Show the paradox, let it sit, then explain it.
•  Give them the 2022E column with no commentary and ask which scenario they expected to win.
•  Reveal: 318 beats 230, from the weakest assumptions on both growth and margin.
•  The explanation is one line — a lower working-capital ratio releases cash into year one.
•  Then the counterweight: by 2024E it is 129 against 300. A release is one-off; growth compounds.
•  Close on why scenarios beat sensitivities: you move a coherent bundle, not one dial.
FROM THE DESK — This is why a single-year free cash flow figure is close to meaningless in a working-capital-heavy business. A management team can hand you a strong cash year simply by running inventory down, and you will only ever see it in the days — never in the margin.
NEXT — Pull the morning together — eight things worth carrying out of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Close on the three that will actually stick, not all eight. Pick and commit.
•  Read bullets 4, 6 and 8 aloud. Let them skim the rest.
•  Bullet 4 is the exam answer. Bullet 6 is the judgement. Bullet 8 is the desk skill.
•  Point them at the CFA Excel workbook for the Rémy model — best hour they can spend.
•  Flag what comes next in the course and how it builds on this.
•  Leave two minutes for questions. There will be one on deferred tax. There always is.
NEXT — Break, then Deck 09 — governance and capital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100584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DECK 08  ·  WEEK 4  ·  MORNING 1</a:t>
            </a:r>
            <a:endParaRPr lang="en-US" sz="1100" dirty="0"/>
          </a:p>
        </p:txBody>
      </p:sp>
      <p:sp>
        <p:nvSpPr>
          <p:cNvPr id="5" name="Text 3"/>
          <p:cNvSpPr txBox="1"/>
          <p:nvPr/>
        </p:nvSpPr>
        <p:spPr>
          <a:xfrm>
            <a:off x="457200" y="1463040"/>
            <a:ext cx="8229600" cy="1920240"/>
          </a:xfrm>
          <a:prstGeom prst="rect">
            <a:avLst/>
          </a:prstGeom>
          <a:noFill/>
          <a:ln/>
        </p:spPr>
        <p:txBody>
          <a:bodyPr wrap="square" lIns="508" tIns="508" rIns="508" bIns="508" rtlCol="0" anchor="t">
            <a:normAutofit/>
            <a:spAutoFit/>
          </a:bodyPr>
          <a:lstStyle/>
          <a:p>
            <a:pPr algn="l" indent="0" marL="0">
              <a:buNone/>
            </a:pPr>
            <a:r>
              <a:rPr lang="en-US" sz="4200" b="1" dirty="0">
                <a:solidFill>
                  <a:srgbClr val="1B2A4A"/>
                </a:solidFill>
                <a:latin typeface="Trebuchet MS" pitchFamily="34" charset="0"/>
                <a:ea typeface="Trebuchet MS" pitchFamily="34" charset="-122"/>
                <a:cs typeface="Trebuchet MS" pitchFamily="34" charset="-120"/>
              </a:rPr>
              <a:t>FSA III — Taxes,</a:t>
            </a:r>
            <a:endParaRPr lang="en-US" sz="4200" dirty="0"/>
          </a:p>
          <a:p>
            <a:pPr algn="l" indent="0" marL="0">
              <a:buNone/>
            </a:pPr>
            <a:r>
              <a:rPr lang="en-US" sz="4200" b="1" dirty="0">
                <a:solidFill>
                  <a:srgbClr val="1B2A4A"/>
                </a:solidFill>
                <a:latin typeface="Trebuchet MS" pitchFamily="34" charset="0"/>
                <a:ea typeface="Trebuchet MS" pitchFamily="34" charset="-122"/>
                <a:cs typeface="Trebuchet MS" pitchFamily="34" charset="-120"/>
              </a:rPr>
              <a:t>Liabilities &amp; Quality</a:t>
            </a:r>
            <a:endParaRPr lang="en-US" sz="4200" dirty="0"/>
          </a:p>
        </p:txBody>
      </p:sp>
      <p:sp>
        <p:nvSpPr>
          <p:cNvPr id="6" name="Text 4"/>
          <p:cNvSpPr txBox="1"/>
          <p:nvPr/>
        </p:nvSpPr>
        <p:spPr>
          <a:xfrm>
            <a:off x="457200" y="3493008"/>
            <a:ext cx="8229600" cy="457200"/>
          </a:xfrm>
          <a:prstGeom prst="rect">
            <a:avLst/>
          </a:prstGeom>
          <a:noFill/>
          <a:ln/>
        </p:spPr>
        <p:txBody>
          <a:bodyPr wrap="square" lIns="508" tIns="508" rIns="508" bIns="508" rtlCol="0" anchor="t">
            <a:normAutofit/>
            <a:spAutoFit/>
          </a:bodyPr>
          <a:lstStyle/>
          <a:p>
            <a:pPr algn="l" indent="0" marL="0">
              <a:buNone/>
            </a:pPr>
            <a:r>
              <a:rPr lang="en-US" sz="1500" i="1" dirty="0">
                <a:solidFill>
                  <a:srgbClr val="6B7A8D"/>
                </a:solidFill>
                <a:latin typeface="Trebuchet MS" pitchFamily="34" charset="0"/>
                <a:ea typeface="Trebuchet MS" pitchFamily="34" charset="-122"/>
                <a:cs typeface="Trebuchet MS" pitchFamily="34" charset="-120"/>
              </a:rPr>
              <a:t>The analyst toolkit that turns a set of statements into a view on the business</a:t>
            </a:r>
            <a:endParaRPr lang="en-US" sz="1500" dirty="0"/>
          </a:p>
        </p:txBody>
      </p:sp>
      <p:sp>
        <p:nvSpPr>
          <p:cNvPr id="7" name="Text 5"/>
          <p:cNvSpPr txBox="1"/>
          <p:nvPr/>
        </p:nvSpPr>
        <p:spPr>
          <a:xfrm>
            <a:off x="457200" y="4069080"/>
            <a:ext cx="8229600" cy="274320"/>
          </a:xfrm>
          <a:prstGeom prst="rect">
            <a:avLst/>
          </a:prstGeom>
          <a:noFill/>
          <a:ln/>
        </p:spPr>
        <p:txBody>
          <a:bodyPr wrap="square" lIns="508" tIns="508" rIns="508" bIns="508" rtlCol="0" anchor="ctr">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CFA Level I · Vol 4 Learning Modules 8–12</a:t>
            </a:r>
            <a:endParaRPr lang="en-US" sz="1100" dirty="0"/>
          </a:p>
        </p:txBody>
      </p:sp>
      <p:sp>
        <p:nvSpPr>
          <p:cNvPr id="8" name="Text 6"/>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Roadmap — FSA III — Taxes, Liabilities, Quality, Ratios &amp; Modeling</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777240"/>
            <a:ext cx="8503920" cy="347472"/>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6 sections · ~2 hours · Built bottom-up from CFA readings</a:t>
            </a:r>
            <a:endParaRPr lang="en-US" sz="1300" dirty="0"/>
          </a:p>
        </p:txBody>
      </p:sp>
      <p:sp>
        <p:nvSpPr>
          <p:cNvPr id="8" name="Shape 6"/>
          <p:cNvSpPr/>
          <p:nvPr/>
        </p:nvSpPr>
        <p:spPr>
          <a:xfrm>
            <a:off x="320040" y="1207008"/>
            <a:ext cx="8503920" cy="560832"/>
          </a:xfrm>
          <a:prstGeom prst="rect">
            <a:avLst/>
          </a:prstGeom>
          <a:solidFill>
            <a:srgbClr val="FFFFFF"/>
          </a:solidFill>
          <a:ln/>
        </p:spPr>
      </p:sp>
      <p:sp>
        <p:nvSpPr>
          <p:cNvPr id="9" name="Shape 7"/>
          <p:cNvSpPr/>
          <p:nvPr/>
        </p:nvSpPr>
        <p:spPr>
          <a:xfrm>
            <a:off x="320040" y="1207008"/>
            <a:ext cx="594360" cy="560832"/>
          </a:xfrm>
          <a:prstGeom prst="rect">
            <a:avLst/>
          </a:prstGeom>
          <a:solidFill>
            <a:srgbClr val="1B2A4A"/>
          </a:solidFill>
          <a:ln/>
        </p:spPr>
      </p:sp>
      <p:sp>
        <p:nvSpPr>
          <p:cNvPr id="10" name="Text 8"/>
          <p:cNvSpPr txBox="1"/>
          <p:nvPr/>
        </p:nvSpPr>
        <p:spPr>
          <a:xfrm>
            <a:off x="320040" y="1207008"/>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01</a:t>
            </a:r>
            <a:endParaRPr lang="en-US" sz="1300" dirty="0"/>
          </a:p>
        </p:txBody>
      </p:sp>
      <p:sp>
        <p:nvSpPr>
          <p:cNvPr id="11" name="Text 9"/>
          <p:cNvSpPr txBox="1"/>
          <p:nvPr/>
        </p:nvSpPr>
        <p:spPr>
          <a:xfrm>
            <a:off x="1024128" y="1252728"/>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Long-term liabilities &amp; leases</a:t>
            </a:r>
            <a:endParaRPr lang="en-US" sz="1200" dirty="0"/>
          </a:p>
        </p:txBody>
      </p:sp>
      <p:sp>
        <p:nvSpPr>
          <p:cNvPr id="12" name="Text 10"/>
          <p:cNvSpPr txBox="1"/>
          <p:nvPr/>
        </p:nvSpPr>
        <p:spPr>
          <a:xfrm>
            <a:off x="1024128" y="1459382"/>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Five finance-lease criteria · ROU asset + lease liability · Proton Enterprises finance vs operating · lessor accounting</a:t>
            </a:r>
            <a:endParaRPr lang="en-US" sz="1100" dirty="0"/>
          </a:p>
        </p:txBody>
      </p:sp>
      <p:sp>
        <p:nvSpPr>
          <p:cNvPr id="13" name="Shape 11"/>
          <p:cNvSpPr/>
          <p:nvPr/>
        </p:nvSpPr>
        <p:spPr>
          <a:xfrm>
            <a:off x="320040" y="1804416"/>
            <a:ext cx="8503920" cy="560832"/>
          </a:xfrm>
          <a:prstGeom prst="rect">
            <a:avLst/>
          </a:prstGeom>
          <a:solidFill>
            <a:srgbClr val="F5F7FA"/>
          </a:solidFill>
          <a:ln/>
        </p:spPr>
      </p:sp>
      <p:sp>
        <p:nvSpPr>
          <p:cNvPr id="14" name="Shape 12"/>
          <p:cNvSpPr/>
          <p:nvPr/>
        </p:nvSpPr>
        <p:spPr>
          <a:xfrm>
            <a:off x="320040" y="1804416"/>
            <a:ext cx="594360" cy="560832"/>
          </a:xfrm>
          <a:prstGeom prst="rect">
            <a:avLst/>
          </a:prstGeom>
          <a:solidFill>
            <a:srgbClr val="1B2A4A"/>
          </a:solidFill>
          <a:ln/>
        </p:spPr>
      </p:sp>
      <p:sp>
        <p:nvSpPr>
          <p:cNvPr id="15" name="Text 13"/>
          <p:cNvSpPr txBox="1"/>
          <p:nvPr/>
        </p:nvSpPr>
        <p:spPr>
          <a:xfrm>
            <a:off x="320040" y="1804416"/>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02</a:t>
            </a:r>
            <a:endParaRPr lang="en-US" sz="1300" dirty="0"/>
          </a:p>
        </p:txBody>
      </p:sp>
      <p:sp>
        <p:nvSpPr>
          <p:cNvPr id="16" name="Text 14"/>
          <p:cNvSpPr txBox="1"/>
          <p:nvPr/>
        </p:nvSpPr>
        <p:spPr>
          <a:xfrm>
            <a:off x="1024128" y="1850136"/>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Pensions &amp; share-based comp</a:t>
            </a:r>
            <a:endParaRPr lang="en-US" sz="1200" dirty="0"/>
          </a:p>
        </p:txBody>
      </p:sp>
      <p:sp>
        <p:nvSpPr>
          <p:cNvPr id="17" name="Text 15"/>
          <p:cNvSpPr txBox="1"/>
          <p:nvPr/>
        </p:nvSpPr>
        <p:spPr>
          <a:xfrm>
            <a:off x="1024128" y="2056790"/>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DC vs DB · rolling the defined-benefit obligation forward · IFRS vs US GAAP · grants and options at grant-date fair value</a:t>
            </a:r>
            <a:endParaRPr lang="en-US" sz="1100" dirty="0"/>
          </a:p>
        </p:txBody>
      </p:sp>
      <p:sp>
        <p:nvSpPr>
          <p:cNvPr id="18" name="Shape 16"/>
          <p:cNvSpPr/>
          <p:nvPr/>
        </p:nvSpPr>
        <p:spPr>
          <a:xfrm>
            <a:off x="320040" y="2401824"/>
            <a:ext cx="8503920" cy="560832"/>
          </a:xfrm>
          <a:prstGeom prst="rect">
            <a:avLst/>
          </a:prstGeom>
          <a:solidFill>
            <a:srgbClr val="FFFFFF"/>
          </a:solidFill>
          <a:ln/>
        </p:spPr>
      </p:sp>
      <p:sp>
        <p:nvSpPr>
          <p:cNvPr id="19" name="Shape 17"/>
          <p:cNvSpPr/>
          <p:nvPr/>
        </p:nvSpPr>
        <p:spPr>
          <a:xfrm>
            <a:off x="320040" y="2401824"/>
            <a:ext cx="594360" cy="560832"/>
          </a:xfrm>
          <a:prstGeom prst="rect">
            <a:avLst/>
          </a:prstGeom>
          <a:solidFill>
            <a:srgbClr val="1B2A4A"/>
          </a:solidFill>
          <a:ln/>
        </p:spPr>
      </p:sp>
      <p:sp>
        <p:nvSpPr>
          <p:cNvPr id="20" name="Text 18"/>
          <p:cNvSpPr txBox="1"/>
          <p:nvPr/>
        </p:nvSpPr>
        <p:spPr>
          <a:xfrm>
            <a:off x="320040" y="2401824"/>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03</a:t>
            </a:r>
            <a:endParaRPr lang="en-US" sz="1300" dirty="0"/>
          </a:p>
        </p:txBody>
      </p:sp>
      <p:sp>
        <p:nvSpPr>
          <p:cNvPr id="21" name="Text 19"/>
          <p:cNvSpPr txBox="1"/>
          <p:nvPr/>
        </p:nvSpPr>
        <p:spPr>
          <a:xfrm>
            <a:off x="1024128" y="2447544"/>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Income taxes</a:t>
            </a:r>
            <a:endParaRPr lang="en-US" sz="1200" dirty="0"/>
          </a:p>
        </p:txBody>
      </p:sp>
      <p:sp>
        <p:nvSpPr>
          <p:cNvPr id="22" name="Text 20"/>
          <p:cNvSpPr txBox="1"/>
          <p:nvPr/>
        </p:nvSpPr>
        <p:spPr>
          <a:xfrm>
            <a:off x="1024128" y="2654198"/>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Accounting profit vs taxable income · DTL / DTA direction · Reston Partners · statutory, effective and cash rates at J&amp;J</a:t>
            </a:r>
            <a:endParaRPr lang="en-US" sz="1100" dirty="0"/>
          </a:p>
        </p:txBody>
      </p:sp>
      <p:sp>
        <p:nvSpPr>
          <p:cNvPr id="23" name="Shape 21"/>
          <p:cNvSpPr/>
          <p:nvPr/>
        </p:nvSpPr>
        <p:spPr>
          <a:xfrm>
            <a:off x="320040" y="2999232"/>
            <a:ext cx="8503920" cy="560832"/>
          </a:xfrm>
          <a:prstGeom prst="rect">
            <a:avLst/>
          </a:prstGeom>
          <a:solidFill>
            <a:srgbClr val="F5F7FA"/>
          </a:solidFill>
          <a:ln/>
        </p:spPr>
      </p:sp>
      <p:sp>
        <p:nvSpPr>
          <p:cNvPr id="24" name="Shape 22"/>
          <p:cNvSpPr/>
          <p:nvPr/>
        </p:nvSpPr>
        <p:spPr>
          <a:xfrm>
            <a:off x="320040" y="2999232"/>
            <a:ext cx="594360" cy="560832"/>
          </a:xfrm>
          <a:prstGeom prst="rect">
            <a:avLst/>
          </a:prstGeom>
          <a:solidFill>
            <a:srgbClr val="1B2A4A"/>
          </a:solidFill>
          <a:ln/>
        </p:spPr>
      </p:sp>
      <p:sp>
        <p:nvSpPr>
          <p:cNvPr id="25" name="Text 23"/>
          <p:cNvSpPr txBox="1"/>
          <p:nvPr/>
        </p:nvSpPr>
        <p:spPr>
          <a:xfrm>
            <a:off x="320040" y="2999232"/>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04</a:t>
            </a:r>
            <a:endParaRPr lang="en-US" sz="1300" dirty="0"/>
          </a:p>
        </p:txBody>
      </p:sp>
      <p:sp>
        <p:nvSpPr>
          <p:cNvPr id="26" name="Text 24"/>
          <p:cNvSpPr txBox="1"/>
          <p:nvPr/>
        </p:nvSpPr>
        <p:spPr>
          <a:xfrm>
            <a:off x="1024128" y="3044952"/>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Reporting quality &amp; red flags</a:t>
            </a:r>
            <a:endParaRPr lang="en-US" sz="1200" dirty="0"/>
          </a:p>
        </p:txBody>
      </p:sp>
      <p:sp>
        <p:nvSpPr>
          <p:cNvPr id="27" name="Text 25"/>
          <p:cNvSpPr txBox="1"/>
          <p:nvPr/>
        </p:nvSpPr>
        <p:spPr>
          <a:xfrm>
            <a:off x="1024128" y="3251606"/>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Reporting vs earnings quality · the six-step spectrum · fraud triangle · the warning-sign battery · CFO to net income</a:t>
            </a:r>
            <a:endParaRPr lang="en-US" sz="1100" dirty="0"/>
          </a:p>
        </p:txBody>
      </p:sp>
      <p:sp>
        <p:nvSpPr>
          <p:cNvPr id="28" name="Shape 26"/>
          <p:cNvSpPr/>
          <p:nvPr/>
        </p:nvSpPr>
        <p:spPr>
          <a:xfrm>
            <a:off x="320040" y="3596640"/>
            <a:ext cx="8503920" cy="560832"/>
          </a:xfrm>
          <a:prstGeom prst="rect">
            <a:avLst/>
          </a:prstGeom>
          <a:solidFill>
            <a:srgbClr val="FFFFFF"/>
          </a:solidFill>
          <a:ln/>
        </p:spPr>
      </p:sp>
      <p:sp>
        <p:nvSpPr>
          <p:cNvPr id="29" name="Shape 27"/>
          <p:cNvSpPr/>
          <p:nvPr/>
        </p:nvSpPr>
        <p:spPr>
          <a:xfrm>
            <a:off x="320040" y="3596640"/>
            <a:ext cx="594360" cy="560832"/>
          </a:xfrm>
          <a:prstGeom prst="rect">
            <a:avLst/>
          </a:prstGeom>
          <a:solidFill>
            <a:srgbClr val="1B2A4A"/>
          </a:solidFill>
          <a:ln/>
        </p:spPr>
      </p:sp>
      <p:sp>
        <p:nvSpPr>
          <p:cNvPr id="30" name="Text 28"/>
          <p:cNvSpPr txBox="1"/>
          <p:nvPr/>
        </p:nvSpPr>
        <p:spPr>
          <a:xfrm>
            <a:off x="320040" y="3596640"/>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05</a:t>
            </a:r>
            <a:endParaRPr lang="en-US" sz="1300" dirty="0"/>
          </a:p>
        </p:txBody>
      </p:sp>
      <p:sp>
        <p:nvSpPr>
          <p:cNvPr id="31" name="Text 29"/>
          <p:cNvSpPr txBox="1"/>
          <p:nvPr/>
        </p:nvSpPr>
        <p:spPr>
          <a:xfrm>
            <a:off x="1024128" y="3642360"/>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Ratio analysis &amp; DuPont</a:t>
            </a:r>
            <a:endParaRPr lang="en-US" sz="1200" dirty="0"/>
          </a:p>
        </p:txBody>
      </p:sp>
      <p:sp>
        <p:nvSpPr>
          <p:cNvPr id="32" name="Text 30"/>
          <p:cNvSpPr txBox="1"/>
          <p:nvPr/>
        </p:nvSpPr>
        <p:spPr>
          <a:xfrm>
            <a:off x="1024128" y="3849014"/>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Activity · liquidity · solvency · profitability · Anson Industries three-way and Amsterdam PLC five-way decomposition</a:t>
            </a:r>
            <a:endParaRPr lang="en-US" sz="1100" dirty="0"/>
          </a:p>
        </p:txBody>
      </p:sp>
      <p:sp>
        <p:nvSpPr>
          <p:cNvPr id="33" name="Shape 31"/>
          <p:cNvSpPr/>
          <p:nvPr/>
        </p:nvSpPr>
        <p:spPr>
          <a:xfrm>
            <a:off x="320040" y="4194048"/>
            <a:ext cx="8503920" cy="560832"/>
          </a:xfrm>
          <a:prstGeom prst="rect">
            <a:avLst/>
          </a:prstGeom>
          <a:solidFill>
            <a:srgbClr val="F5F7FA"/>
          </a:solidFill>
          <a:ln/>
        </p:spPr>
      </p:sp>
      <p:sp>
        <p:nvSpPr>
          <p:cNvPr id="34" name="Shape 32"/>
          <p:cNvSpPr/>
          <p:nvPr/>
        </p:nvSpPr>
        <p:spPr>
          <a:xfrm>
            <a:off x="320040" y="4194048"/>
            <a:ext cx="594360" cy="560832"/>
          </a:xfrm>
          <a:prstGeom prst="rect">
            <a:avLst/>
          </a:prstGeom>
          <a:solidFill>
            <a:srgbClr val="1B2A4A"/>
          </a:solidFill>
          <a:ln/>
        </p:spPr>
      </p:sp>
      <p:sp>
        <p:nvSpPr>
          <p:cNvPr id="35" name="Text 33"/>
          <p:cNvSpPr txBox="1"/>
          <p:nvPr/>
        </p:nvSpPr>
        <p:spPr>
          <a:xfrm>
            <a:off x="320040" y="4194048"/>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06</a:t>
            </a:r>
            <a:endParaRPr lang="en-US" sz="1300" dirty="0"/>
          </a:p>
        </p:txBody>
      </p:sp>
      <p:sp>
        <p:nvSpPr>
          <p:cNvPr id="36" name="Text 34"/>
          <p:cNvSpPr txBox="1"/>
          <p:nvPr/>
        </p:nvSpPr>
        <p:spPr>
          <a:xfrm>
            <a:off x="1024128" y="4239768"/>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3-statement modeling</a:t>
            </a:r>
            <a:endParaRPr lang="en-US" sz="1200" dirty="0"/>
          </a:p>
        </p:txBody>
      </p:sp>
      <p:sp>
        <p:nvSpPr>
          <p:cNvPr id="37" name="Text 35"/>
          <p:cNvSpPr txBox="1"/>
          <p:nvPr/>
        </p:nvSpPr>
        <p:spPr>
          <a:xfrm>
            <a:off x="1024128" y="4446422"/>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The Rémy Cointreau build sequence · working capital in days · scenario analysis as the cure for overconfidence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Learning objectives</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822960"/>
            <a:ext cx="8503920" cy="274320"/>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By the end of this deck you should be able to:</a:t>
            </a:r>
            <a:endParaRPr lang="en-US" sz="1300" dirty="0"/>
          </a:p>
        </p:txBody>
      </p:sp>
      <p:sp>
        <p:nvSpPr>
          <p:cNvPr id="8" name="Text 6"/>
          <p:cNvSpPr txBox="1"/>
          <p:nvPr/>
        </p:nvSpPr>
        <p:spPr>
          <a:xfrm>
            <a:off x="320040" y="1188720"/>
            <a:ext cx="8503920" cy="3108960"/>
          </a:xfrm>
          <a:prstGeom prst="rect">
            <a:avLst/>
          </a:prstGeom>
          <a:noFill/>
          <a:ln/>
        </p:spPr>
        <p:txBody>
          <a:bodyPr wrap="square" rtlCol="0" anchor="t"/>
          <a:lstStyle/>
          <a:p>
            <a:pPr indent="0" marL="0">
              <a:buNone/>
            </a:pPr>
            <a:r>
              <a:rPr lang="en-US" sz="1200" b="1" dirty="0">
                <a:solidFill>
                  <a:srgbClr val="E8600A"/>
                </a:solidFill>
                <a:latin typeface="Trebuchet MS" pitchFamily="34" charset="0"/>
                <a:ea typeface="Trebuchet MS" pitchFamily="34" charset="-122"/>
                <a:cs typeface="Trebuchet MS" pitchFamily="34" charset="-120"/>
              </a:rPr>
              <a:t>1. </a:t>
            </a:r>
            <a:pPr indent="0" marL="0">
              <a:buNone/>
            </a:pPr>
            <a:r>
              <a:rPr lang="en-US" sz="1200" dirty="0">
                <a:solidFill>
                  <a:srgbClr val="334155"/>
                </a:solidFill>
                <a:latin typeface="Calibri" pitchFamily="34" charset="0"/>
                <a:ea typeface="Calibri" pitchFamily="34" charset="-122"/>
                <a:cs typeface="Calibri" pitchFamily="34" charset="-120"/>
              </a:rPr>
              <a:t>Classify a lease against the five criteria, capitalise it as a right-of-use asset and lease liability, and trace the finance-versus-operating split through the income statement, cash flows and ratios.
</a:t>
            </a:r>
            <a:pPr indent="0" marL="0">
              <a:buNone/>
            </a:pPr>
            <a:r>
              <a:rPr lang="en-US" sz="1200" b="1" dirty="0">
                <a:solidFill>
                  <a:srgbClr val="E8600A"/>
                </a:solidFill>
                <a:latin typeface="Trebuchet MS" pitchFamily="34" charset="0"/>
                <a:ea typeface="Trebuchet MS" pitchFamily="34" charset="-122"/>
                <a:cs typeface="Trebuchet MS" pitchFamily="34" charset="-120"/>
              </a:rPr>
              <a:t>2. </a:t>
            </a:r>
            <a:pPr indent="0" marL="0">
              <a:buNone/>
            </a:pPr>
            <a:r>
              <a:rPr lang="en-US" sz="1200" dirty="0">
                <a:solidFill>
                  <a:srgbClr val="334155"/>
                </a:solidFill>
                <a:latin typeface="Calibri" pitchFamily="34" charset="0"/>
                <a:ea typeface="Calibri" pitchFamily="34" charset="-122"/>
                <a:cs typeface="Calibri" pitchFamily="34" charset="-120"/>
              </a:rPr>
              <a:t>Distinguish defined-contribution from defined-benefit plans, roll a defined-benefit obligation forward, and split the movement between profit or loss and other comprehensive income.
</a:t>
            </a:r>
            <a:pPr indent="0" marL="0">
              <a:buNone/>
            </a:pPr>
            <a:r>
              <a:rPr lang="en-US" sz="1200" b="1" dirty="0">
                <a:solidFill>
                  <a:srgbClr val="E8600A"/>
                </a:solidFill>
                <a:latin typeface="Trebuchet MS" pitchFamily="34" charset="0"/>
                <a:ea typeface="Trebuchet MS" pitchFamily="34" charset="-122"/>
                <a:cs typeface="Trebuchet MS" pitchFamily="34" charset="-120"/>
              </a:rPr>
              <a:t>3. </a:t>
            </a:r>
            <a:pPr indent="0" marL="0">
              <a:buNone/>
            </a:pPr>
            <a:r>
              <a:rPr lang="en-US" sz="1200" dirty="0">
                <a:solidFill>
                  <a:srgbClr val="334155"/>
                </a:solidFill>
                <a:latin typeface="Calibri" pitchFamily="34" charset="0"/>
                <a:ea typeface="Calibri" pitchFamily="34" charset="-122"/>
                <a:cs typeface="Calibri" pitchFamily="34" charset="-120"/>
              </a:rPr>
              <a:t>Separate permanent from temporary differences, decide whether a difference creates a deferred tax asset or a liability, and contrast the statutory, effective and cash tax rates.
</a:t>
            </a:r>
            <a:pPr indent="0" marL="0">
              <a:buNone/>
            </a:pPr>
            <a:r>
              <a:rPr lang="en-US" sz="1200" b="1" dirty="0">
                <a:solidFill>
                  <a:srgbClr val="E8600A"/>
                </a:solidFill>
                <a:latin typeface="Trebuchet MS" pitchFamily="34" charset="0"/>
                <a:ea typeface="Trebuchet MS" pitchFamily="34" charset="-122"/>
                <a:cs typeface="Trebuchet MS" pitchFamily="34" charset="-120"/>
              </a:rPr>
              <a:t>4. </a:t>
            </a:r>
            <a:pPr indent="0" marL="0">
              <a:buNone/>
            </a:pPr>
            <a:r>
              <a:rPr lang="en-US" sz="1200" dirty="0">
                <a:solidFill>
                  <a:srgbClr val="334155"/>
                </a:solidFill>
                <a:latin typeface="Calibri" pitchFamily="34" charset="0"/>
                <a:ea typeface="Calibri" pitchFamily="34" charset="-122"/>
                <a:cs typeface="Calibri" pitchFamily="34" charset="-120"/>
              </a:rPr>
              <a:t>Place a set of statements on the reporting-quality spectrum, apply the fraud triangle, and run the curriculum warning-sign checks including cash from operations over net income.
</a:t>
            </a:r>
            <a:pPr indent="0" marL="0">
              <a:buNone/>
            </a:pPr>
            <a:r>
              <a:rPr lang="en-US" sz="1200" b="1" dirty="0">
                <a:solidFill>
                  <a:srgbClr val="E8600A"/>
                </a:solidFill>
                <a:latin typeface="Trebuchet MS" pitchFamily="34" charset="0"/>
                <a:ea typeface="Trebuchet MS" pitchFamily="34" charset="-122"/>
                <a:cs typeface="Trebuchet MS" pitchFamily="34" charset="-120"/>
              </a:rPr>
              <a:t>5. </a:t>
            </a:r>
            <a:pPr indent="0" marL="0">
              <a:buNone/>
            </a:pPr>
            <a:r>
              <a:rPr lang="en-US" sz="1200" dirty="0">
                <a:solidFill>
                  <a:srgbClr val="334155"/>
                </a:solidFill>
                <a:latin typeface="Calibri" pitchFamily="34" charset="0"/>
                <a:ea typeface="Calibri" pitchFamily="34" charset="-122"/>
                <a:cs typeface="Calibri" pitchFamily="34" charset="-120"/>
              </a:rPr>
              <a:t>Compute activity, liquidity, solvency and profitability ratios, and decompose return on equity three ways and five ways.
</a:t>
            </a:r>
            <a:pPr indent="0" marL="0">
              <a:buNone/>
            </a:pPr>
            <a:r>
              <a:rPr lang="en-US" sz="1200" b="1" dirty="0">
                <a:solidFill>
                  <a:srgbClr val="E8600A"/>
                </a:solidFill>
                <a:latin typeface="Trebuchet MS" pitchFamily="34" charset="0"/>
                <a:ea typeface="Trebuchet MS" pitchFamily="34" charset="-122"/>
                <a:cs typeface="Trebuchet MS" pitchFamily="34" charset="-120"/>
              </a:rPr>
              <a:t>6. </a:t>
            </a:r>
            <a:pPr indent="0" marL="0">
              <a:buNone/>
            </a:pPr>
            <a:r>
              <a:rPr lang="en-US" sz="1200" dirty="0">
                <a:solidFill>
                  <a:srgbClr val="334155"/>
                </a:solidFill>
                <a:latin typeface="Calibri" pitchFamily="34" charset="0"/>
                <a:ea typeface="Calibri" pitchFamily="34" charset="-122"/>
                <a:cs typeface="Calibri" pitchFamily="34" charset="-120"/>
              </a:rPr>
              <a:t>Build a three-statement forecast in the curriculum sequence, drive working capital off inventory, receivable and payable days, and bracket free cash flow with scenarios.
</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01</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Long-term liabilities</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&amp; leases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1 of 6  ·  Deck 8 of 20  ·  Studio Tonton Gug</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Long-term liabilities come in four flavours — bonds, leases, pensions and deferred tax — and only one of them is labelled debt on the face of the balance sheet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8, "Introduction" and Learning Module Overview, pp. 245–247.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Reported "total debt" is rarely economic debt. The footnotes carry the rest, and the analyst has to put every peer on one yardstick.</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417320"/>
                <a:gridCol w="2240280"/>
                <a:gridCol w="2103120"/>
                <a:gridCol w="27432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Instrument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Where it sits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Cash nature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Analyst adjustment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Bonds payable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Amortised cost on the BS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Coupons + principal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Mark to market if yields moved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Leases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ROU asset + lease liab.</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Fixed periodic payment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Include in debt at PV</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Pensions (DB)</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Net funded status: A or 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Future benefit payouts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Add net deficit to debt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Deferred tax</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DTL / DTA line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 cash until reversal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Not debt, but flag reversals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2788920"/>
            <a:ext cx="8503920" cy="1188720"/>
          </a:xfrm>
          <a:prstGeom prst="rect">
            <a:avLst/>
          </a:prstGeom>
          <a:solidFill>
            <a:srgbClr val="FEF0E7"/>
          </a:solidFill>
          <a:ln/>
        </p:spPr>
      </p:sp>
      <p:sp>
        <p:nvSpPr>
          <p:cNvPr id="11" name="Shape 8"/>
          <p:cNvSpPr/>
          <p:nvPr/>
        </p:nvSpPr>
        <p:spPr>
          <a:xfrm>
            <a:off x="320040" y="2788920"/>
            <a:ext cx="73152" cy="1188720"/>
          </a:xfrm>
          <a:prstGeom prst="rect">
            <a:avLst/>
          </a:prstGeom>
          <a:solidFill>
            <a:srgbClr val="E8600A"/>
          </a:solidFill>
          <a:ln/>
        </p:spPr>
      </p:sp>
      <p:sp>
        <p:nvSpPr>
          <p:cNvPr id="12" name="Text 9"/>
          <p:cNvSpPr txBox="1"/>
          <p:nvPr/>
        </p:nvSpPr>
        <p:spPr>
          <a:xfrm>
            <a:off x="457200" y="28346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ECONOMIC-DEBT LENS</a:t>
            </a:r>
            <a:endParaRPr lang="en-US" sz="1100" dirty="0"/>
          </a:p>
        </p:txBody>
      </p:sp>
      <p:sp>
        <p:nvSpPr>
          <p:cNvPr id="13" name="Text 10"/>
          <p:cNvSpPr txBox="1"/>
          <p:nvPr/>
        </p:nvSpPr>
        <p:spPr>
          <a:xfrm>
            <a:off x="457200" y="3108960"/>
            <a:ext cx="8275320" cy="8229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Economic debt = bonds + capitalised leases + net pension deficit − surplus cash. Before IFRS 16 and ASC 842 pulled leases onto the balance sheet, reported debt understated true leverage at every airline, retailer and restaurant chain. The standards closed that gap; pensions and deferred tax are still footnote work.</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lease is a finance lease if ANY one of five criteria is met — but either way it lands on the balance sheet as a right-of-use asset and a lease liability</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8, "Lease Classification as Finance or Operating" and Example 1, pp. 247–250.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Two exemptions survive: a term of 12 months or less (IFRS and US GAAP), and low-value assets up to about USD 5,000 in sales price (IFRS only).</a:t>
            </a:r>
            <a:endParaRPr lang="en-US" sz="1300" dirty="0"/>
          </a:p>
        </p:txBody>
      </p:sp>
      <p:sp>
        <p:nvSpPr>
          <p:cNvPr id="9" name="Shape 7"/>
          <p:cNvSpPr/>
          <p:nvPr/>
        </p:nvSpPr>
        <p:spPr>
          <a:xfrm>
            <a:off x="320040" y="1234440"/>
            <a:ext cx="8503920" cy="658368"/>
          </a:xfrm>
          <a:prstGeom prst="rect">
            <a:avLst/>
          </a:prstGeom>
          <a:solidFill>
            <a:srgbClr val="1B2A4A"/>
          </a:solidFill>
          <a:ln/>
        </p:spPr>
      </p:sp>
      <p:sp>
        <p:nvSpPr>
          <p:cNvPr id="10" name="Text 8"/>
          <p:cNvSpPr txBox="1"/>
          <p:nvPr/>
        </p:nvSpPr>
        <p:spPr>
          <a:xfrm>
            <a:off x="411480" y="123444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ROU asset  =  Lease liability  =  Σ  Payment_t / (1 + r)ᵗ</a:t>
            </a:r>
            <a:endParaRPr lang="en-US" sz="1800" dirty="0"/>
          </a:p>
        </p:txBody>
      </p:sp>
      <p:sp>
        <p:nvSpPr>
          <p:cNvPr id="11" name="Text 9"/>
          <p:cNvSpPr txBox="1"/>
          <p:nvPr/>
        </p:nvSpPr>
        <p:spPr>
          <a:xfrm>
            <a:off x="320040" y="192024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r = the rate implicit in the lease, or the lessee's incremental borrowing rate. The same five criteria are used by lessees and lessors, and are identical under IFRS and US GAAP.</a:t>
            </a:r>
            <a:endParaRPr lang="en-US" sz="1100" dirty="0"/>
          </a:p>
        </p:txBody>
      </p:sp>
      <p:sp>
        <p:nvSpPr>
          <p:cNvPr id="12" name="Shape 10"/>
          <p:cNvSpPr/>
          <p:nvPr/>
        </p:nvSpPr>
        <p:spPr>
          <a:xfrm>
            <a:off x="320040" y="2240280"/>
            <a:ext cx="4160520" cy="2057400"/>
          </a:xfrm>
          <a:prstGeom prst="rect">
            <a:avLst/>
          </a:prstGeom>
          <a:solidFill>
            <a:srgbClr val="F5F7FA"/>
          </a:solidFill>
          <a:ln/>
        </p:spPr>
      </p:sp>
      <p:sp>
        <p:nvSpPr>
          <p:cNvPr id="13" name="Shape 11"/>
          <p:cNvSpPr/>
          <p:nvPr/>
        </p:nvSpPr>
        <p:spPr>
          <a:xfrm>
            <a:off x="320040" y="2240280"/>
            <a:ext cx="73152" cy="2057400"/>
          </a:xfrm>
          <a:prstGeom prst="rect">
            <a:avLst/>
          </a:prstGeom>
          <a:solidFill>
            <a:srgbClr val="1B2A4A"/>
          </a:solidFill>
          <a:ln/>
        </p:spPr>
      </p:sp>
      <p:sp>
        <p:nvSpPr>
          <p:cNvPr id="14" name="Text 12"/>
          <p:cNvSpPr txBox="1"/>
          <p:nvPr/>
        </p:nvSpPr>
        <p:spPr>
          <a:xfrm>
            <a:off x="457200" y="2331720"/>
            <a:ext cx="3886200" cy="274320"/>
          </a:xfrm>
          <a:prstGeom prst="rect">
            <a:avLst/>
          </a:prstGeom>
          <a:noFill/>
          <a:ln/>
        </p:spPr>
        <p:txBody>
          <a:bodyPr wrap="square" lIns="508" tIns="508" rIns="508" bIns="508" rtlCol="0" anchor="ctr">
            <a:normAutofit/>
            <a:spAutoFit/>
          </a:bodyPr>
          <a:lstStyle/>
          <a:p>
            <a:pPr algn="l" indent="0" marL="0">
              <a:buNone/>
            </a:pPr>
            <a:r>
              <a:rPr lang="en-US" sz="1100" b="1" spc="300" kern="0" dirty="0">
                <a:solidFill>
                  <a:srgbClr val="1B2A4A"/>
                </a:solidFill>
                <a:latin typeface="Trebuchet MS" pitchFamily="34" charset="0"/>
                <a:ea typeface="Trebuchet MS" pitchFamily="34" charset="-122"/>
                <a:cs typeface="Trebuchet MS" pitchFamily="34" charset="-120"/>
              </a:rPr>
              <a:t>FIVE FINANCE-LEASE CRITERIA  ·  ANY ONE TRIGGERS</a:t>
            </a:r>
            <a:endParaRPr lang="en-US" sz="1100" dirty="0"/>
          </a:p>
        </p:txBody>
      </p:sp>
      <p:sp>
        <p:nvSpPr>
          <p:cNvPr id="15" name="Text 13"/>
          <p:cNvSpPr txBox="1"/>
          <p:nvPr/>
        </p:nvSpPr>
        <p:spPr>
          <a:xfrm>
            <a:off x="502920" y="2743200"/>
            <a:ext cx="3794760" cy="146304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1.  Ownership of the asset transfers to the lessee</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2.  A purchase option the lessee is reasonably certain to take</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3.  The term covers a major part of the asset's useful life</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4.  PV of payments ≥ substantially all of the asset's fair value</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5.  The asset has no alternative use to the lessor</a:t>
            </a:r>
            <a:endParaRPr lang="en-US" sz="1100" dirty="0"/>
          </a:p>
        </p:txBody>
      </p:sp>
      <p:sp>
        <p:nvSpPr>
          <p:cNvPr id="16" name="Shape 14"/>
          <p:cNvSpPr/>
          <p:nvPr/>
        </p:nvSpPr>
        <p:spPr>
          <a:xfrm>
            <a:off x="4663440" y="2240280"/>
            <a:ext cx="4160520" cy="2057400"/>
          </a:xfrm>
          <a:prstGeom prst="rect">
            <a:avLst/>
          </a:prstGeom>
          <a:solidFill>
            <a:srgbClr val="FEF0E7"/>
          </a:solidFill>
          <a:ln/>
        </p:spPr>
      </p:sp>
      <p:sp>
        <p:nvSpPr>
          <p:cNvPr id="17" name="Shape 15"/>
          <p:cNvSpPr/>
          <p:nvPr/>
        </p:nvSpPr>
        <p:spPr>
          <a:xfrm>
            <a:off x="4663440" y="2240280"/>
            <a:ext cx="73152" cy="2057400"/>
          </a:xfrm>
          <a:prstGeom prst="rect">
            <a:avLst/>
          </a:prstGeom>
          <a:solidFill>
            <a:srgbClr val="E8600A"/>
          </a:solidFill>
          <a:ln/>
        </p:spPr>
      </p:sp>
      <p:sp>
        <p:nvSpPr>
          <p:cNvPr id="18" name="Text 16"/>
          <p:cNvSpPr txBox="1"/>
          <p:nvPr/>
        </p:nvSpPr>
        <p:spPr>
          <a:xfrm>
            <a:off x="4800600" y="228600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IFRS VS US GAAP IN ONE LINE</a:t>
            </a:r>
            <a:endParaRPr lang="en-US" sz="1100" dirty="0"/>
          </a:p>
        </p:txBody>
      </p:sp>
      <p:sp>
        <p:nvSpPr>
          <p:cNvPr id="19" name="Text 17"/>
          <p:cNvSpPr txBox="1"/>
          <p:nvPr/>
        </p:nvSpPr>
        <p:spPr>
          <a:xfrm>
            <a:off x="4800600" y="2560320"/>
            <a:ext cx="3931920" cy="16916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balance sheet is identical under both. Only the lessee income statement differs. IFRS runs a SINGLE model — every lease reports separate interest and amortisation, like a finance lease. US GAAP keeps a second model for operating leases, where the lessee shows one flat "lease expense" inside operating costs and puts the whole payment through operating cash flow.</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Same cash and same total expense — the finance lease front-loads the charge while the US GAAP operating lease delivers a flat one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8, Examples 2 and 3 (Proton Enterprises), pp. 251–254.</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Five years, EUR 100,000 a year in arrears, 10% implicit rate. PV = EUR 379,079 — the opening ROU asset and lease liability under both classifications.</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822960"/>
                <a:gridCol w="1645920"/>
                <a:gridCol w="1645920"/>
                <a:gridCol w="1645920"/>
                <a:gridCol w="1645920"/>
                <a:gridCol w="10972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Year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Finance: interest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Finance: amort.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Finance: total</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Operating: flat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Gap (F − O)</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37,908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75,816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113,724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+13,724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31,699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75,816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107,515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+7,515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24,869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75,816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100,685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+685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17,355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75,816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93,171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−6,829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9,091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75,816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84,907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−15,093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Total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120,921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379,079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500,000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500,000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
        <p:nvSpPr>
          <p:cNvPr id="10" name="Shape 7"/>
          <p:cNvSpPr/>
          <p:nvPr/>
        </p:nvSpPr>
        <p:spPr>
          <a:xfrm>
            <a:off x="320040" y="3246120"/>
            <a:ext cx="8503920" cy="1005840"/>
          </a:xfrm>
          <a:prstGeom prst="rect">
            <a:avLst/>
          </a:prstGeom>
          <a:solidFill>
            <a:srgbClr val="FEF0E7"/>
          </a:solidFill>
          <a:ln/>
        </p:spPr>
      </p:sp>
      <p:sp>
        <p:nvSpPr>
          <p:cNvPr id="11" name="Shape 8"/>
          <p:cNvSpPr/>
          <p:nvPr/>
        </p:nvSpPr>
        <p:spPr>
          <a:xfrm>
            <a:off x="320040" y="3246120"/>
            <a:ext cx="73152" cy="1005840"/>
          </a:xfrm>
          <a:prstGeom prst="rect">
            <a:avLst/>
          </a:prstGeom>
          <a:solidFill>
            <a:srgbClr val="E8600A"/>
          </a:solidFill>
          <a:ln/>
        </p:spPr>
      </p:sp>
      <p:sp>
        <p:nvSpPr>
          <p:cNvPr id="12" name="Text 9"/>
          <p:cNvSpPr txBox="1"/>
          <p:nvPr/>
        </p:nvSpPr>
        <p:spPr>
          <a:xfrm>
            <a:off x="457200" y="32918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THE FINANCE LEASE HURTS EARLY</a:t>
            </a:r>
            <a:endParaRPr lang="en-US" sz="1100" dirty="0"/>
          </a:p>
        </p:txBody>
      </p:sp>
      <p:sp>
        <p:nvSpPr>
          <p:cNvPr id="13" name="Text 10"/>
          <p:cNvSpPr txBox="1"/>
          <p:nvPr/>
        </p:nvSpPr>
        <p:spPr>
          <a:xfrm>
            <a:off x="457200" y="3566160"/>
            <a:ext cx="8275320" cy="6400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Amortisation is flat at 75,816 every year. Interest is charged on a shrinking liability, so it starts at 37,908 and ends at 9,091. Flat plus falling beats a flat 100,000 early and loses to it late. Cash out is EUR 100,000 a year under both, and the five-year totals are identical — nothing economic has changed.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Using the operating-lease model lowers EBITDA margin, asset turnover AND operating cash flow at once — so peers on different models are not comparable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8, Example 3 question 2 solution, p. 254.</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curriculum asks the question one way round: what happens if you use an operating lease INSTEAD of a finance lease? Almost every answer is "lower".</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600200"/>
                <a:gridCol w="2194560"/>
                <a:gridCol w="1691640"/>
                <a:gridCol w="30175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Ratio</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Formula</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Operating vs finance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EBITDA margin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EBITDA / Revenue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Lease is op-ex, not below EBITDA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Operating margin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Operating income / Rev</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Flat 100,000 vs 75,816 amort.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Asset turnover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Revenue / Avg assets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ROU asset amortises more slowly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Cash flow per share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CFO / Shares outstanding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Whole payment in CFO, not interest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Debt / Equity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Total debt / Equity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Slightly lower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Same debt, more retained earnings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2971800"/>
            <a:ext cx="8503920" cy="1143000"/>
          </a:xfrm>
          <a:prstGeom prst="rect">
            <a:avLst/>
          </a:prstGeom>
          <a:solidFill>
            <a:srgbClr val="FEF0E7"/>
          </a:solidFill>
          <a:ln/>
        </p:spPr>
      </p:sp>
      <p:sp>
        <p:nvSpPr>
          <p:cNvPr id="11" name="Shape 8"/>
          <p:cNvSpPr/>
          <p:nvPr/>
        </p:nvSpPr>
        <p:spPr>
          <a:xfrm>
            <a:off x="320040" y="2971800"/>
            <a:ext cx="73152" cy="1143000"/>
          </a:xfrm>
          <a:prstGeom prst="rect">
            <a:avLst/>
          </a:prstGeom>
          <a:solidFill>
            <a:srgbClr val="E8600A"/>
          </a:solidFill>
          <a:ln/>
        </p:spPr>
      </p:sp>
      <p:sp>
        <p:nvSpPr>
          <p:cNvPr id="12" name="Text 9"/>
          <p:cNvSpPr txBox="1"/>
          <p:nvPr/>
        </p:nvSpPr>
        <p:spPr>
          <a:xfrm>
            <a:off x="457200" y="301752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ADJUSTMENT YOU ACTUALLY MAKE</a:t>
            </a:r>
            <a:endParaRPr lang="en-US" sz="1100" dirty="0"/>
          </a:p>
        </p:txBody>
      </p:sp>
      <p:sp>
        <p:nvSpPr>
          <p:cNvPr id="13" name="Text 10"/>
          <p:cNvSpPr txBox="1"/>
          <p:nvPr/>
        </p:nvSpPr>
        <p:spPr>
          <a:xfrm>
            <a:off x="457200" y="3291840"/>
            <a:ext cx="8275320" cy="7772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To compare an IFRS issuer against a US GAAP peer running operating leases, strip the flat lease expense out of operating costs on the US name and re-class it as amortisation plus interest. Both then show the same EBITDA definition and the same CFO definition, and the multiple you quote means the same thing on each.</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Lessor accounting is substantially identical under IFRS and US GAAP — a finance lease derecognises the asset, an operating lease keeps it on the books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8, "Lessor Accounting" and Example 4, pp. 254–256.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question to ask about any lessor: is this a financing business (banks, aircraft lessors) or a rental business (real estate)? The statements look nothing alike.</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103120"/>
                <a:gridCol w="3200400"/>
                <a:gridCol w="32004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Financial statement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Finance lease (lessor)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Operating lease (lessor)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Balance sheet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De-recognise asset; book receivable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Keep asset; keep depreciating it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Income statement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Interest revenue, effective rate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Straight-line lease revenue + depn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At inception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Gain or loss vs carrying amount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None — this is not a sale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Cash flow statement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Whole receipt in CFO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Whole receipt in CFO — identical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Proton machine, Yr 1</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Receivable 316,987; revenue 37,908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PP&amp;E 280,000; revenue 100,000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2971800"/>
            <a:ext cx="8503920" cy="1143000"/>
          </a:xfrm>
          <a:prstGeom prst="rect">
            <a:avLst/>
          </a:prstGeom>
          <a:solidFill>
            <a:srgbClr val="FEF0E7"/>
          </a:solidFill>
          <a:ln/>
        </p:spPr>
      </p:sp>
      <p:sp>
        <p:nvSpPr>
          <p:cNvPr id="11" name="Shape 8"/>
          <p:cNvSpPr/>
          <p:nvPr/>
        </p:nvSpPr>
        <p:spPr>
          <a:xfrm>
            <a:off x="320040" y="2971800"/>
            <a:ext cx="73152" cy="1143000"/>
          </a:xfrm>
          <a:prstGeom prst="rect">
            <a:avLst/>
          </a:prstGeom>
          <a:solidFill>
            <a:srgbClr val="E8600A"/>
          </a:solidFill>
          <a:ln/>
        </p:spPr>
      </p:sp>
      <p:sp>
        <p:nvSpPr>
          <p:cNvPr id="12" name="Text 9"/>
          <p:cNvSpPr txBox="1"/>
          <p:nvPr/>
        </p:nvSpPr>
        <p:spPr>
          <a:xfrm>
            <a:off x="457200" y="301752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SAME MACHINE, TWO SETS OF STATEMENTS</a:t>
            </a:r>
            <a:endParaRPr lang="en-US" sz="1100" dirty="0"/>
          </a:p>
        </p:txBody>
      </p:sp>
      <p:sp>
        <p:nvSpPr>
          <p:cNvPr id="13" name="Text 10"/>
          <p:cNvSpPr txBox="1"/>
          <p:nvPr/>
        </p:nvSpPr>
        <p:spPr>
          <a:xfrm>
            <a:off x="457200" y="3291840"/>
            <a:ext cx="8275320" cy="7772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Example 4 takes Proton's lessor, whose machine carries at EUR 350,000. Under the finance lease the asset goes and a receivable arrives at the EUR 379,079 present value — assets jump — and Year 1 revenue is EUR 37,908 of interest. Under the operating lease the machine stays, depreciating to EUR 280,000, and Year 1 revenue is the full EUR 100,000. Cash received is EUR 100,000 either way.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02</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Pensions &amp;</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share-based comp</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2 of 6  ·  Deck 8 of 20  ·  Studio Tonton Gug</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defined-contribution plan defines what goes IN and hands every risk to the employee; a defined-benefit plan defines what comes OUT and keeps the risk on the sponsor</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8, "Financial Reporting for Postemployment and Share-Based Compensation Plans", pp. 256–259.</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That one sentence is the whole distinction. Everything in the table below is a consequence of it.</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874520"/>
                <a:gridCol w="3246120"/>
                <a:gridCol w="33832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Dimension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Defined contribution (DC)</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Defined benefit (DB)</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What is promised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 fixed annual contribution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 fixed annual pension in retirement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Investment risk</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The employee bears it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The employer — it must fund shortfalls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Actuarial risk</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The employee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The employer — pays to the last retiree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P&amp;L expense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The cash contribution, full stop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Service cost + net interest (IFRS)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Other comp. income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Nothing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Remeasurements: actuarial G/L, returns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Balance sheet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Only an accrued payable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Net funded status: obligation − assets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3246120"/>
            <a:ext cx="8503920" cy="1005840"/>
          </a:xfrm>
          <a:prstGeom prst="rect">
            <a:avLst/>
          </a:prstGeom>
          <a:solidFill>
            <a:srgbClr val="FEF0E7"/>
          </a:solidFill>
          <a:ln/>
        </p:spPr>
      </p:sp>
      <p:sp>
        <p:nvSpPr>
          <p:cNvPr id="11" name="Shape 8"/>
          <p:cNvSpPr/>
          <p:nvPr/>
        </p:nvSpPr>
        <p:spPr>
          <a:xfrm>
            <a:off x="320040" y="3246120"/>
            <a:ext cx="73152" cy="1005840"/>
          </a:xfrm>
          <a:prstGeom prst="rect">
            <a:avLst/>
          </a:prstGeom>
          <a:solidFill>
            <a:srgbClr val="E8600A"/>
          </a:solidFill>
          <a:ln/>
        </p:spPr>
      </p:sp>
      <p:sp>
        <p:nvSpPr>
          <p:cNvPr id="12" name="Text 9"/>
          <p:cNvSpPr txBox="1"/>
          <p:nvPr/>
        </p:nvSpPr>
        <p:spPr>
          <a:xfrm>
            <a:off x="457200" y="32918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READING THE FOOTNOTE</a:t>
            </a:r>
            <a:endParaRPr lang="en-US" sz="1100" dirty="0"/>
          </a:p>
        </p:txBody>
      </p:sp>
      <p:sp>
        <p:nvSpPr>
          <p:cNvPr id="13" name="Text 10"/>
          <p:cNvSpPr txBox="1"/>
          <p:nvPr/>
        </p:nvSpPr>
        <p:spPr>
          <a:xfrm>
            <a:off x="457200" y="3566160"/>
            <a:ext cx="8275320" cy="6400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one-line pension note means defined contribution. Pages of assumptions, sensitivities and funding schedules mean defined benefit, and a legacy workforce. The curriculum illustration is BT Group: a GBP 57,327m obligation against GBP 50,956m of plan assets in 2018, leaving a GBP 6,371m deficit — 29% of all non-current liabilities.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defined-benefit obligation rolls forward from five sources — and only some of them reach profit, which is the entire point of the disclosure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US GAAP sees five components: past-service cost and actuarial gains and losses hit OCI first, then amortise into pension expense over time.
</a:t>
            </a:r>
            <a:pPr indent="0" marL="0">
              <a:buNone/>
            </a:pPr>
            <a:r>
              <a:rPr lang="en-US" sz="1000" dirty="0">
                <a:solidFill>
                  <a:srgbClr val="6B7A8D"/>
                </a:solidFill>
                <a:latin typeface="Calibri" pitchFamily="34" charset="0"/>
                <a:ea typeface="Calibri" pitchFamily="34" charset="-122"/>
                <a:cs typeface="Calibri" pitchFamily="34" charset="-120"/>
              </a:rPr>
              <a:t>² Net interest in profit or loss is charged on the NET liability (obligation less plan assets). This table rolls the gross obligation only.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8, "Accounting for Defined-Benefit Plans under IFRS" and "under US GAAP", pp. 257–259.</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Separate the recurring from the volatile: service cost recurs every year, actuarial remeasurement is noise that never touches profit under IFRS.</a:t>
            </a:r>
            <a:endParaRPr lang="en-US" sz="1300" dirty="0"/>
          </a:p>
        </p:txBody>
      </p:sp>
      <p:sp>
        <p:nvSpPr>
          <p:cNvPr id="10" name="Shape 8"/>
          <p:cNvSpPr/>
          <p:nvPr/>
        </p:nvSpPr>
        <p:spPr>
          <a:xfrm>
            <a:off x="320040" y="1188720"/>
            <a:ext cx="8503920" cy="3017520"/>
          </a:xfrm>
          <a:prstGeom prst="rect">
            <a:avLst/>
          </a:prstGeom>
          <a:solidFill>
            <a:srgbClr val="FEF0E7"/>
          </a:solidFill>
          <a:ln w="9525">
            <a:solidFill>
              <a:srgbClr val="E8600A"/>
            </a:solidFill>
            <a:prstDash val="solid"/>
          </a:ln>
        </p:spPr>
      </p:sp>
      <p:sp>
        <p:nvSpPr>
          <p:cNvPr id="11" name="Text 9"/>
          <p:cNvSpPr txBox="1"/>
          <p:nvPr/>
        </p:nvSpPr>
        <p:spPr>
          <a:xfrm>
            <a:off x="457200" y="1234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ILLUSTRATION  ·  DEFINED-BENEFIT OBLIGATION ROLL-FORWARD  ·  EUR MILLIONS</a:t>
            </a:r>
            <a:endParaRPr lang="en-US" sz="1100" dirty="0"/>
          </a:p>
        </p:txBody>
      </p:sp>
      <p:sp>
        <p:nvSpPr>
          <p:cNvPr id="12" name="Text 10"/>
          <p:cNvSpPr txBox="1"/>
          <p:nvPr/>
        </p:nvSpPr>
        <p:spPr>
          <a:xfrm>
            <a:off x="457200" y="1527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Opening obligation EUR 800m, discount rate 4.0%. Service cost 35. Past-service cost 5 from a plan amendment. Actuarial loss 15 as the discount rate falls. Benefits paid to retirees 20.</a:t>
            </a:r>
            <a:endParaRPr lang="en-US" sz="1200" dirty="0"/>
          </a:p>
        </p:txBody>
      </p:sp>
      <p:sp>
        <p:nvSpPr>
          <p:cNvPr id="13" name="Text 11"/>
          <p:cNvSpPr txBox="1"/>
          <p:nvPr/>
        </p:nvSpPr>
        <p:spPr>
          <a:xfrm>
            <a:off x="457200" y="2039112"/>
            <a:ext cx="8229600" cy="1655064"/>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Opening obligation at 1 January: 800.0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Service cost — PV of the benefit earned by one more year of service: +35.0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Interest cost — unwinding the discount, 800.0 × 4.0%: +32.0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Past-service cost — the benefit formula was enhanced: +5.0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Actuarial loss — a remeasurement, driven by the lower discount rate: +15.0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6.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Benefits paid to retirees — cash leaving the plan: −20.0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7.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Closing obligation: 800.0 + 35.0 + 32.0 + 5.0 + 15.0 − 20.0 = 867.0</a:t>
            </a:r>
            <a:endParaRPr lang="en-US" sz="1150" dirty="0"/>
          </a:p>
        </p:txBody>
      </p:sp>
      <p:sp>
        <p:nvSpPr>
          <p:cNvPr id="14" name="Shape 12"/>
          <p:cNvSpPr/>
          <p:nvPr/>
        </p:nvSpPr>
        <p:spPr>
          <a:xfrm>
            <a:off x="411480" y="3767328"/>
            <a:ext cx="8321040" cy="365760"/>
          </a:xfrm>
          <a:prstGeom prst="rect">
            <a:avLst/>
          </a:prstGeom>
          <a:solidFill>
            <a:srgbClr val="E8600A"/>
          </a:solidFill>
          <a:ln/>
        </p:spPr>
      </p:sp>
      <p:sp>
        <p:nvSpPr>
          <p:cNvPr id="15" name="Text 13"/>
          <p:cNvSpPr txBox="1"/>
          <p:nvPr/>
        </p:nvSpPr>
        <p:spPr>
          <a:xfrm>
            <a:off x="457200" y="376732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IFRS: 35 + 5 service cost and 32 interest hit P&amp;L; the 15 actuarial loss goes to OCI and stays.</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Share-based compensation is fixed at grant-date fair value and expensed over the service period — no cash leaves, but earnings fall and the share count rises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8, "Share-Based Compensation" and "Accounting for Stock Options", pp. 261–265.</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Grants have overtaken options almost everywhere, for one reason: an RSU is worth something at any share price above zero, while an option can expire worthless.</a:t>
            </a:r>
            <a:endParaRPr lang="en-US" sz="1300" dirty="0"/>
          </a:p>
        </p:txBody>
      </p:sp>
      <p:sp>
        <p:nvSpPr>
          <p:cNvPr id="9" name="Shape 7"/>
          <p:cNvSpPr/>
          <p:nvPr/>
        </p:nvSpPr>
        <p:spPr>
          <a:xfrm>
            <a:off x="320040" y="1188720"/>
            <a:ext cx="4160520" cy="1188720"/>
          </a:xfrm>
          <a:prstGeom prst="rect">
            <a:avLst/>
          </a:prstGeom>
          <a:solidFill>
            <a:srgbClr val="FEF0E7"/>
          </a:solidFill>
          <a:ln/>
        </p:spPr>
      </p:sp>
      <p:sp>
        <p:nvSpPr>
          <p:cNvPr id="10" name="Shape 8"/>
          <p:cNvSpPr/>
          <p:nvPr/>
        </p:nvSpPr>
        <p:spPr>
          <a:xfrm>
            <a:off x="320040" y="1188720"/>
            <a:ext cx="73152" cy="1188720"/>
          </a:xfrm>
          <a:prstGeom prst="rect">
            <a:avLst/>
          </a:prstGeom>
          <a:solidFill>
            <a:srgbClr val="E8600A"/>
          </a:solidFill>
          <a:ln/>
        </p:spPr>
      </p:sp>
      <p:sp>
        <p:nvSpPr>
          <p:cNvPr id="11" name="Text 9"/>
          <p:cNvSpPr txBox="1"/>
          <p:nvPr/>
        </p:nvSpPr>
        <p:spPr>
          <a:xfrm>
            <a:off x="4572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STOCK GRANTS AND RSUs</a:t>
            </a:r>
            <a:endParaRPr lang="en-US" sz="1100" dirty="0"/>
          </a:p>
        </p:txBody>
      </p:sp>
      <p:sp>
        <p:nvSpPr>
          <p:cNvPr id="12" name="Text 10"/>
          <p:cNvSpPr txBox="1"/>
          <p:nvPr/>
        </p:nvSpPr>
        <p:spPr>
          <a:xfrm>
            <a:off x="457200" y="1508760"/>
            <a:ext cx="3931920" cy="8229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Fair value at grant = share price × shares granted. Expensed over the service period. No pricing model needed — the value is simply observable on the day.</a:t>
            </a:r>
            <a:endParaRPr lang="en-US" sz="1200" dirty="0"/>
          </a:p>
        </p:txBody>
      </p:sp>
      <p:sp>
        <p:nvSpPr>
          <p:cNvPr id="13" name="Shape 11"/>
          <p:cNvSpPr/>
          <p:nvPr/>
        </p:nvSpPr>
        <p:spPr>
          <a:xfrm>
            <a:off x="4663440" y="1188720"/>
            <a:ext cx="4160520" cy="1188720"/>
          </a:xfrm>
          <a:prstGeom prst="rect">
            <a:avLst/>
          </a:prstGeom>
          <a:solidFill>
            <a:srgbClr val="F5F7FA"/>
          </a:solidFill>
          <a:ln/>
        </p:spPr>
      </p:sp>
      <p:sp>
        <p:nvSpPr>
          <p:cNvPr id="14" name="Shape 12"/>
          <p:cNvSpPr/>
          <p:nvPr/>
        </p:nvSpPr>
        <p:spPr>
          <a:xfrm>
            <a:off x="4663440" y="1188720"/>
            <a:ext cx="73152" cy="1188720"/>
          </a:xfrm>
          <a:prstGeom prst="rect">
            <a:avLst/>
          </a:prstGeom>
          <a:solidFill>
            <a:srgbClr val="1B2A4A"/>
          </a:solidFill>
          <a:ln/>
        </p:spPr>
      </p:sp>
      <p:sp>
        <p:nvSpPr>
          <p:cNvPr id="15" name="Text 13"/>
          <p:cNvSpPr txBox="1"/>
          <p:nvPr/>
        </p:nvSpPr>
        <p:spPr>
          <a:xfrm>
            <a:off x="48006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STOCK OPTIONS</a:t>
            </a:r>
            <a:endParaRPr lang="en-US" sz="1100" dirty="0"/>
          </a:p>
        </p:txBody>
      </p:sp>
      <p:sp>
        <p:nvSpPr>
          <p:cNvPr id="16" name="Text 14"/>
          <p:cNvSpPr txBox="1"/>
          <p:nvPr/>
        </p:nvSpPr>
        <p:spPr>
          <a:xfrm>
            <a:off x="4800600" y="1508760"/>
            <a:ext cx="3931920" cy="8229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Fair value must be modelled — Black-Scholes or binomial; no standard prescribes one. Fair value RISES with volatility, a longer expected life and a higher risk-free rate, and FALLS as dividend yield rises.</a:t>
            </a:r>
            <a:endParaRPr lang="en-US" sz="1200" dirty="0"/>
          </a:p>
        </p:txBody>
      </p:sp>
      <p:sp>
        <p:nvSpPr>
          <p:cNvPr id="17" name="Shape 15"/>
          <p:cNvSpPr/>
          <p:nvPr/>
        </p:nvSpPr>
        <p:spPr>
          <a:xfrm>
            <a:off x="320040" y="2514600"/>
            <a:ext cx="8503920" cy="1737360"/>
          </a:xfrm>
          <a:prstGeom prst="rect">
            <a:avLst/>
          </a:prstGeom>
          <a:solidFill>
            <a:srgbClr val="FEF0E7"/>
          </a:solidFill>
          <a:ln w="9525">
            <a:solidFill>
              <a:srgbClr val="E8600A"/>
            </a:solidFill>
            <a:prstDash val="solid"/>
          </a:ln>
        </p:spPr>
      </p:sp>
      <p:sp>
        <p:nvSpPr>
          <p:cNvPr id="18" name="Text 16"/>
          <p:cNvSpPr txBox="1"/>
          <p:nvPr/>
        </p:nvSpPr>
        <p:spPr>
          <a:xfrm>
            <a:off x="457200" y="256032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ILLUSTRATION  ·  100,000 RSUs  ·  THREE-YEAR SERVICE PERIOD  ·  SHARE AT USD 45</a:t>
            </a:r>
            <a:endParaRPr lang="en-US" sz="1100" dirty="0"/>
          </a:p>
        </p:txBody>
      </p:sp>
      <p:sp>
        <p:nvSpPr>
          <p:cNvPr id="19" name="Text 17"/>
          <p:cNvSpPr txBox="1"/>
          <p:nvPr/>
        </p:nvSpPr>
        <p:spPr>
          <a:xfrm>
            <a:off x="457200" y="2852928"/>
            <a:ext cx="8229600" cy="886968"/>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100,000 RSUs granted at a USD 45 share price, vesting after three years of service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Grant-date fair value = 100,000 × USD 45 = USD 4.5m — and that number never changes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Expense = 4.5m ÷ 3 = USD 1.5m a year to SG&amp;A, credited to APIC rather than to cash</a:t>
            </a:r>
            <a:endParaRPr lang="en-US" sz="1200" dirty="0"/>
          </a:p>
        </p:txBody>
      </p:sp>
      <p:sp>
        <p:nvSpPr>
          <p:cNvPr id="20" name="Shape 18"/>
          <p:cNvSpPr/>
          <p:nvPr/>
        </p:nvSpPr>
        <p:spPr>
          <a:xfrm>
            <a:off x="411480" y="3813048"/>
            <a:ext cx="8321040" cy="365760"/>
          </a:xfrm>
          <a:prstGeom prst="rect">
            <a:avLst/>
          </a:prstGeom>
          <a:solidFill>
            <a:srgbClr val="E8600A"/>
          </a:solidFill>
          <a:ln/>
        </p:spPr>
      </p:sp>
      <p:sp>
        <p:nvSpPr>
          <p:cNvPr id="21" name="Text 19"/>
          <p:cNvSpPr txBox="1"/>
          <p:nvPr/>
        </p:nvSpPr>
        <p:spPr>
          <a:xfrm>
            <a:off x="457200" y="381304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USD 4.5m of expense · zero cash out · 100,000 new shares issued at vesting</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03</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Income taxes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3 of 6  ·  Deck 8 of 20  ·  Studio Tonton Gug</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Accounting profit follows the accounting standards and taxable income follows the tax code — and every gap between them is either timing or permanent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9, "Differences between Accounting Profit and Taxable Income", pp. 283–287.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Temporary differences reverse; permanent differences never do. That single test decides whether you book deferred tax or simply move the effective rate.</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Income tax expense  =  Taxes payable  +  Δ DTL  −  Δ DTA</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Taxes payable follows taxable income. The deferred movements are what drag reported tax expense back onto accounting profit — the matching principle applied to tax.</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20040" y="2286000"/>
          <a:ext cx="8503920" cy="914400"/>
        </p:xfrm>
        <a:graphic>
          <a:graphicData uri="http://schemas.openxmlformats.org/drawingml/2006/table">
            <a:tbl>
              <a:tblPr/>
              <a:tblGrid>
                <a:gridCol w="2926080"/>
                <a:gridCol w="1417320"/>
                <a:gridCol w="1463040"/>
                <a:gridCol w="26974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Reconciling item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Type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Effect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Example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Accelerated tax depreciation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Temporary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DTL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Tax 7-yr life vs book 10-yr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Provision for doubtful debts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Temporary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DTA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Deductible only on write-off</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Unused tax losses carried forward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Carryforward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DTA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Usable against future profits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Non-taxable dividends from a subsidiary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Permanent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Lowers ETR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Never enters taxable income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Fines, penalties, non-deductible costs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Permanent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Raises ETR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Book expense, never deductible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Tax credits — R&amp;D, solar, electric cars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Permanent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Lowers ETR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Cuts the tax bill directly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Compare carrying amount with tax base: an ASSET worth more on the books than on the tax return means tax is still owed — a deferred tax liability</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9, Exhibit 1 "Treatment of Temporary Differences", p. 284.</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Four rows, and the liability rows are the exact mirror of the asset rows. Learn the two asset rows properly and the other two follow.</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097280"/>
                <a:gridCol w="1874520"/>
                <a:gridCol w="2103120"/>
                <a:gridCol w="34290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Item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Carrying vs tax base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Gives rise to</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The economic reason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Asset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Carrying &gt; tax base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Deferred tax liability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You will recover more than the tax basis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Asset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Carrying &lt; tax base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Deferred tax asset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Tax already paid on more than book value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Liability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Carrying &gt; tax base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Deferred tax asset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Expensed more than tax has yet allowed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Liability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Carrying &lt; tax base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Deferred tax liability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Settling it will create taxable income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2743200"/>
            <a:ext cx="8503920" cy="1234440"/>
          </a:xfrm>
          <a:prstGeom prst="rect">
            <a:avLst/>
          </a:prstGeom>
          <a:solidFill>
            <a:srgbClr val="FEF0E7"/>
          </a:solidFill>
          <a:ln/>
        </p:spPr>
      </p:sp>
      <p:sp>
        <p:nvSpPr>
          <p:cNvPr id="11" name="Shape 8"/>
          <p:cNvSpPr/>
          <p:nvPr/>
        </p:nvSpPr>
        <p:spPr>
          <a:xfrm>
            <a:off x="320040" y="2743200"/>
            <a:ext cx="73152" cy="1234440"/>
          </a:xfrm>
          <a:prstGeom prst="rect">
            <a:avLst/>
          </a:prstGeom>
          <a:solidFill>
            <a:srgbClr val="E8600A"/>
          </a:solidFill>
          <a:ln/>
        </p:spPr>
      </p:sp>
      <p:sp>
        <p:nvSpPr>
          <p:cNvPr id="12" name="Text 9"/>
          <p:cNvSpPr txBox="1"/>
          <p:nvPr/>
        </p:nvSpPr>
        <p:spPr>
          <a:xfrm>
            <a:off x="457200" y="278892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A DEFERRED TAX ASSET IS ONLY WORTH WHAT YOU CAN USE</a:t>
            </a:r>
            <a:endParaRPr lang="en-US" sz="1100" dirty="0"/>
          </a:p>
        </p:txBody>
      </p:sp>
      <p:sp>
        <p:nvSpPr>
          <p:cNvPr id="13" name="Text 10"/>
          <p:cNvSpPr txBox="1"/>
          <p:nvPr/>
        </p:nvSpPr>
        <p:spPr>
          <a:xfrm>
            <a:off x="457200" y="3063240"/>
            <a:ext cx="8275320" cy="8686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DTA needs future taxable profit to be recovered against. Where that is doubtful, US GAAP raises a valuation allowance writing it down to the amount more likely than not to be realised; IFRS simply reverses it, or never recognises it at all. Same economics, two mechanics. Watch the release: a company turning profitable writes the allowance back and books a one-off credit in tax expense. Strip it out — it is not earnings.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Accelerated tax depreciation is the canonical DTL — it builds while the tax life runs, peaks when the tax base hits zero, then unwinds to nothing</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GBP 20,000 of equipment. The DTL peaks at 1,800 in Year 7 when the tax base hits zero, then unwinds to zero by Year 10.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9, Example 3 (Reston Partners), Exhibits 6 to 8, pp. 288–291.</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One asset, two schedules: straight-line over 10 years for the books, straight-line over 7 for the tax authority. The tax authority lends you cash, then takes it back.</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4114800"/>
                <a:gridCol w="1463040"/>
                <a:gridCol w="1463040"/>
                <a:gridCol w="14630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Item (GBP)</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Year 1</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Year 2</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Year 3</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Carrying amount — book 10-yr life, 2,000/yr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18,000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16,000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14,000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Tax base — tax 7-yr life, 2,857/yr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17,143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14,286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11,429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Temporary difference (carrying − tax base)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857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1,714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2,571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Deferred tax liability at a 30% tax rate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257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514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771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Change in DTL, added to income tax expense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+257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+257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+257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1" name="Shape 8"/>
          <p:cNvSpPr/>
          <p:nvPr/>
        </p:nvSpPr>
        <p:spPr>
          <a:xfrm>
            <a:off x="320040" y="2971800"/>
            <a:ext cx="8503920" cy="1280160"/>
          </a:xfrm>
          <a:prstGeom prst="rect">
            <a:avLst/>
          </a:prstGeom>
          <a:solidFill>
            <a:srgbClr val="FEF0E7"/>
          </a:solidFill>
          <a:ln w="9525">
            <a:solidFill>
              <a:srgbClr val="E8600A"/>
            </a:solidFill>
            <a:prstDash val="solid"/>
          </a:ln>
        </p:spPr>
      </p:sp>
      <p:sp>
        <p:nvSpPr>
          <p:cNvPr id="12" name="Text 9"/>
          <p:cNvSpPr txBox="1"/>
          <p:nvPr/>
        </p:nvSpPr>
        <p:spPr>
          <a:xfrm>
            <a:off x="457200" y="301752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READING YEAR 3  ·  RESTON PARTNERS INCOME TAX EXPENSE</a:t>
            </a:r>
            <a:endParaRPr lang="en-US" sz="1100" dirty="0"/>
          </a:p>
        </p:txBody>
      </p:sp>
      <p:sp>
        <p:nvSpPr>
          <p:cNvPr id="13" name="Text 10"/>
          <p:cNvSpPr txBox="1"/>
          <p:nvPr/>
        </p:nvSpPr>
        <p:spPr>
          <a:xfrm>
            <a:off x="457200" y="3310128"/>
            <a:ext cx="8229600" cy="429768"/>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Book profit 26,700 but taxable income only 25,843, because tax depreciation is 2,857 against book 2,000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Tax actually payable = 25,843 × 30% = 7,753, and the DTL rises by 771 − 514 = +257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Income tax expense = 7,753 + 257 = 8,010 — which is exactly 30% of the 26,700 book profit</a:t>
            </a:r>
            <a:endParaRPr lang="en-US" sz="1050" dirty="0"/>
          </a:p>
        </p:txBody>
      </p:sp>
      <p:sp>
        <p:nvSpPr>
          <p:cNvPr id="14" name="Shape 11"/>
          <p:cNvSpPr/>
          <p:nvPr/>
        </p:nvSpPr>
        <p:spPr>
          <a:xfrm>
            <a:off x="411480" y="3813048"/>
            <a:ext cx="8321040" cy="365760"/>
          </a:xfrm>
          <a:prstGeom prst="rect">
            <a:avLst/>
          </a:prstGeom>
          <a:solidFill>
            <a:srgbClr val="E8600A"/>
          </a:solidFill>
          <a:ln/>
        </p:spPr>
      </p:sp>
      <p:sp>
        <p:nvSpPr>
          <p:cNvPr id="15" name="Text 12"/>
          <p:cNvSpPr txBox="1"/>
          <p:nvPr/>
        </p:nvSpPr>
        <p:spPr>
          <a:xfrm>
            <a:off x="457200" y="381304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A temporary difference changes WHEN tax is paid. It never changes the 30% rate.</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Three rates, three jobs — statutory is the benchmark, effective drives the earnings forecast, and the cash rate is what actually leaves the building</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Effective rate = income tax expense ÷ pretax income. JNJ 2021: USD 1,898m ÷ USD 22,776m = 8.3%, against a 21% US statutory rate.
</a:t>
            </a:r>
            <a:pPr indent="0" marL="0">
              <a:buNone/>
            </a:pPr>
            <a:r>
              <a:rPr lang="en-US" sz="1000" dirty="0">
                <a:solidFill>
                  <a:srgbClr val="6B7A8D"/>
                </a:solidFill>
                <a:latin typeface="Calibri" pitchFamily="34" charset="0"/>
                <a:ea typeface="Calibri" pitchFamily="34" charset="-122"/>
                <a:cs typeface="Calibri" pitchFamily="34" charset="-120"/>
              </a:rPr>
              <a:t>² Cash tax rate = cash tax paid ÷ pretax income. It differs from the effective rate only by the period movement in deferred tax.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9, "Corporate Income Tax Rates", Example 5 and Exhibit 15 (Johnson &amp; Johnson), pp. 294–299.</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Every listed company publishes this walk in its tax note. It is the fastest way to see where a group actually earns its money.</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4663440"/>
                <a:gridCol w="1280160"/>
                <a:gridCol w="1280160"/>
                <a:gridCol w="12801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Johnson &amp; Johnson — statutory to effective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2021</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2020</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2019</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US statutory rate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International operations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(16.4)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(9.9)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(5.9)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US taxes on international income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+6.7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Tax benefits from loss on capital assets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Tax benefits on share-based compensation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Tax Cuts and Jobs Act related impacts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All other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Reported effective tax rate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8.3%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10.8%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12.7%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
        <p:nvSpPr>
          <p:cNvPr id="11" name="Shape 8"/>
          <p:cNvSpPr/>
          <p:nvPr/>
        </p:nvSpPr>
        <p:spPr>
          <a:xfrm>
            <a:off x="320040" y="3840480"/>
            <a:ext cx="8503920" cy="411480"/>
          </a:xfrm>
          <a:prstGeom prst="rect">
            <a:avLst/>
          </a:prstGeom>
          <a:solidFill>
            <a:srgbClr val="FEF0E7"/>
          </a:solidFill>
          <a:ln/>
        </p:spPr>
      </p:sp>
      <p:sp>
        <p:nvSpPr>
          <p:cNvPr id="12" name="Shape 9"/>
          <p:cNvSpPr/>
          <p:nvPr/>
        </p:nvSpPr>
        <p:spPr>
          <a:xfrm>
            <a:off x="320040" y="3840480"/>
            <a:ext cx="73152" cy="411480"/>
          </a:xfrm>
          <a:prstGeom prst="rect">
            <a:avLst/>
          </a:prstGeom>
          <a:solidFill>
            <a:srgbClr val="E8600A"/>
          </a:solidFill>
          <a:ln/>
        </p:spPr>
      </p:sp>
      <p:sp>
        <p:nvSpPr>
          <p:cNvPr id="13" name="Text 10"/>
          <p:cNvSpPr txBox="1"/>
          <p:nvPr/>
        </p:nvSpPr>
        <p:spPr>
          <a:xfrm>
            <a:off x="502920" y="3840480"/>
            <a:ext cx="8183880" cy="411480"/>
          </a:xfrm>
          <a:prstGeom prst="rect">
            <a:avLst/>
          </a:prstGeom>
          <a:noFill/>
          <a:ln/>
        </p:spPr>
        <p:txBody>
          <a:bodyPr wrap="square" lIns="508" tIns="508" rIns="508" bIns="508" rtlCol="0" anchor="ctr">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One line does almost all of it: international operations, −16.4 points in 2021 alone.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04</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Reporting quality</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&amp; red flags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4 of 6  ·  Deck 8 of 20  ·  Studio Tonton Gug</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Reporting quality and earnings quality are two different questions — and when reporting quality is low you cannot answer the second one at all</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Both cells on the left say the same thing: assessment is impeded, so valuation stalls. You are not told earnings are bad, only that you cannot see.
</a:t>
            </a:r>
            <a:pPr indent="0" marL="0">
              <a:buNone/>
            </a:pPr>
            <a:r>
              <a:rPr lang="en-US" sz="1000" dirty="0">
                <a:solidFill>
                  <a:srgbClr val="6B7A8D"/>
                </a:solidFill>
                <a:latin typeface="Calibri" pitchFamily="34" charset="0"/>
                <a:ea typeface="Calibri" pitchFamily="34" charset="-122"/>
                <a:cs typeface="Calibri" pitchFamily="34" charset="-120"/>
              </a:rPr>
              <a:t>² Toyota FY2014 Q1 is bottom right: unit sales fell 1.6% while operating profit rose 87.9% on a weak yen. Faithful reporting, unsustainable earnings.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10, Exhibit 1 "Relationships between Financial Reporting Quality and Earnings Quality", p. 320.</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Reporting quality asks whether the numbers are faithful. Earnings quality asks whether the economics are sustainable. You must settle the first before you can pose the second.</a:t>
            </a:r>
            <a:endParaRPr lang="en-US" sz="1300" dirty="0"/>
          </a:p>
        </p:txBody>
      </p:sp>
      <p:sp>
        <p:nvSpPr>
          <p:cNvPr id="10" name="Text 8"/>
          <p:cNvSpPr txBox="1"/>
          <p:nvPr/>
        </p:nvSpPr>
        <p:spPr>
          <a:xfrm>
            <a:off x="1828800" y="1115568"/>
            <a:ext cx="3429000" cy="256032"/>
          </a:xfrm>
          <a:prstGeom prst="rect">
            <a:avLst/>
          </a:prstGeom>
          <a:noFill/>
          <a:ln/>
        </p:spPr>
        <p:txBody>
          <a:bodyPr wrap="square" lIns="508" tIns="508" rIns="508" bIns="508" rtlCol="0" anchor="ctr">
            <a:normAutofit/>
            <a:spAutoFit/>
          </a:bodyPr>
          <a:lstStyle/>
          <a:p>
            <a:pPr algn="ctr" indent="0" marL="0">
              <a:buNone/>
            </a:pPr>
            <a:r>
              <a:rPr lang="en-US" sz="1100" b="1" spc="200" kern="0" dirty="0">
                <a:solidFill>
                  <a:srgbClr val="1B2A4A"/>
                </a:solidFill>
                <a:latin typeface="Trebuchet MS" pitchFamily="34" charset="0"/>
                <a:ea typeface="Trebuchet MS" pitchFamily="34" charset="-122"/>
                <a:cs typeface="Trebuchet MS" pitchFamily="34" charset="-120"/>
              </a:rPr>
              <a:t>LOW financial reporting quality</a:t>
            </a:r>
            <a:endParaRPr lang="en-US" sz="1100" dirty="0"/>
          </a:p>
        </p:txBody>
      </p:sp>
      <p:sp>
        <p:nvSpPr>
          <p:cNvPr id="11" name="Text 9"/>
          <p:cNvSpPr txBox="1"/>
          <p:nvPr/>
        </p:nvSpPr>
        <p:spPr>
          <a:xfrm>
            <a:off x="5394960" y="1115568"/>
            <a:ext cx="3429000" cy="256032"/>
          </a:xfrm>
          <a:prstGeom prst="rect">
            <a:avLst/>
          </a:prstGeom>
          <a:noFill/>
          <a:ln/>
        </p:spPr>
        <p:txBody>
          <a:bodyPr wrap="square" lIns="508" tIns="508" rIns="508" bIns="508" rtlCol="0" anchor="ctr">
            <a:normAutofit/>
            <a:spAutoFit/>
          </a:bodyPr>
          <a:lstStyle/>
          <a:p>
            <a:pPr algn="ctr" indent="0" marL="0">
              <a:buNone/>
            </a:pPr>
            <a:r>
              <a:rPr lang="en-US" sz="1100" b="1" spc="200" kern="0" dirty="0">
                <a:solidFill>
                  <a:srgbClr val="1B2A4A"/>
                </a:solidFill>
                <a:latin typeface="Trebuchet MS" pitchFamily="34" charset="0"/>
                <a:ea typeface="Trebuchet MS" pitchFamily="34" charset="-122"/>
                <a:cs typeface="Trebuchet MS" pitchFamily="34" charset="-120"/>
              </a:rPr>
              <a:t>HIGH financial reporting quality</a:t>
            </a:r>
            <a:endParaRPr lang="en-US" sz="1100" dirty="0"/>
          </a:p>
        </p:txBody>
      </p:sp>
      <p:sp>
        <p:nvSpPr>
          <p:cNvPr id="12" name="Shape 10"/>
          <p:cNvSpPr/>
          <p:nvPr/>
        </p:nvSpPr>
        <p:spPr>
          <a:xfrm>
            <a:off x="320040" y="1417320"/>
            <a:ext cx="1371600" cy="1325880"/>
          </a:xfrm>
          <a:prstGeom prst="rect">
            <a:avLst/>
          </a:prstGeom>
          <a:solidFill>
            <a:srgbClr val="1B2A4A"/>
          </a:solidFill>
          <a:ln/>
        </p:spPr>
      </p:sp>
      <p:sp>
        <p:nvSpPr>
          <p:cNvPr id="13" name="Text 11"/>
          <p:cNvSpPr txBox="1"/>
          <p:nvPr/>
        </p:nvSpPr>
        <p:spPr>
          <a:xfrm>
            <a:off x="365760" y="1417320"/>
            <a:ext cx="1280160" cy="1325880"/>
          </a:xfrm>
          <a:prstGeom prst="rect">
            <a:avLst/>
          </a:prstGeom>
          <a:noFill/>
          <a:ln/>
        </p:spPr>
        <p:txBody>
          <a:bodyPr wrap="square" lIns="508" tIns="508" rIns="508" bIns="508" rtlCol="0" anchor="ctr">
            <a:normAutofit/>
            <a:spAutoFit/>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HIGH</a:t>
            </a:r>
            <a:endParaRPr lang="en-US" sz="1100" dirty="0"/>
          </a:p>
          <a:p>
            <a:pPr algn="ctr" indent="0" marL="0">
              <a:buNone/>
            </a:pPr>
            <a:r>
              <a:rPr lang="en-US" sz="1100" b="1" dirty="0">
                <a:solidFill>
                  <a:srgbClr val="FFFFFF"/>
                </a:solidFill>
                <a:latin typeface="Trebuchet MS" pitchFamily="34" charset="0"/>
                <a:ea typeface="Trebuchet MS" pitchFamily="34" charset="-122"/>
                <a:cs typeface="Trebuchet MS" pitchFamily="34" charset="-120"/>
              </a:rPr>
              <a:t>earnings</a:t>
            </a:r>
            <a:endParaRPr lang="en-US" sz="1100" dirty="0"/>
          </a:p>
          <a:p>
            <a:pPr algn="ctr" indent="0" marL="0">
              <a:buNone/>
            </a:pPr>
            <a:r>
              <a:rPr lang="en-US" sz="1100" b="1" dirty="0">
                <a:solidFill>
                  <a:srgbClr val="FFFFFF"/>
                </a:solidFill>
                <a:latin typeface="Trebuchet MS" pitchFamily="34" charset="0"/>
                <a:ea typeface="Trebuchet MS" pitchFamily="34" charset="-122"/>
                <a:cs typeface="Trebuchet MS" pitchFamily="34" charset="-120"/>
              </a:rPr>
              <a:t>quality</a:t>
            </a:r>
            <a:endParaRPr lang="en-US" sz="1100" dirty="0"/>
          </a:p>
        </p:txBody>
      </p:sp>
      <p:sp>
        <p:nvSpPr>
          <p:cNvPr id="14" name="Shape 12"/>
          <p:cNvSpPr/>
          <p:nvPr/>
        </p:nvSpPr>
        <p:spPr>
          <a:xfrm>
            <a:off x="320040" y="2852928"/>
            <a:ext cx="1371600" cy="1325880"/>
          </a:xfrm>
          <a:prstGeom prst="rect">
            <a:avLst/>
          </a:prstGeom>
          <a:solidFill>
            <a:srgbClr val="1B2A4A"/>
          </a:solidFill>
          <a:ln/>
        </p:spPr>
      </p:sp>
      <p:sp>
        <p:nvSpPr>
          <p:cNvPr id="15" name="Text 13"/>
          <p:cNvSpPr txBox="1"/>
          <p:nvPr/>
        </p:nvSpPr>
        <p:spPr>
          <a:xfrm>
            <a:off x="365760" y="2852928"/>
            <a:ext cx="1280160" cy="1325880"/>
          </a:xfrm>
          <a:prstGeom prst="rect">
            <a:avLst/>
          </a:prstGeom>
          <a:noFill/>
          <a:ln/>
        </p:spPr>
        <p:txBody>
          <a:bodyPr wrap="square" lIns="508" tIns="508" rIns="508" bIns="508" rtlCol="0" anchor="ctr">
            <a:normAutofit/>
            <a:spAutoFit/>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LOW</a:t>
            </a:r>
            <a:endParaRPr lang="en-US" sz="1100" dirty="0"/>
          </a:p>
          <a:p>
            <a:pPr algn="ctr" indent="0" marL="0">
              <a:buNone/>
            </a:pPr>
            <a:r>
              <a:rPr lang="en-US" sz="1100" b="1" dirty="0">
                <a:solidFill>
                  <a:srgbClr val="FFFFFF"/>
                </a:solidFill>
                <a:latin typeface="Trebuchet MS" pitchFamily="34" charset="0"/>
                <a:ea typeface="Trebuchet MS" pitchFamily="34" charset="-122"/>
                <a:cs typeface="Trebuchet MS" pitchFamily="34" charset="-120"/>
              </a:rPr>
              <a:t>earnings</a:t>
            </a:r>
            <a:endParaRPr lang="en-US" sz="1100" dirty="0"/>
          </a:p>
          <a:p>
            <a:pPr algn="ctr" indent="0" marL="0">
              <a:buNone/>
            </a:pPr>
            <a:r>
              <a:rPr lang="en-US" sz="1100" b="1" dirty="0">
                <a:solidFill>
                  <a:srgbClr val="FFFFFF"/>
                </a:solidFill>
                <a:latin typeface="Trebuchet MS" pitchFamily="34" charset="0"/>
                <a:ea typeface="Trebuchet MS" pitchFamily="34" charset="-122"/>
                <a:cs typeface="Trebuchet MS" pitchFamily="34" charset="-120"/>
              </a:rPr>
              <a:t>quality</a:t>
            </a:r>
            <a:endParaRPr lang="en-US" sz="1100" dirty="0"/>
          </a:p>
        </p:txBody>
      </p:sp>
      <p:sp>
        <p:nvSpPr>
          <p:cNvPr id="16" name="Shape 14"/>
          <p:cNvSpPr/>
          <p:nvPr/>
        </p:nvSpPr>
        <p:spPr>
          <a:xfrm>
            <a:off x="1828800" y="1417320"/>
            <a:ext cx="3429000" cy="1325880"/>
          </a:xfrm>
          <a:prstGeom prst="rect">
            <a:avLst/>
          </a:prstGeom>
          <a:solidFill>
            <a:srgbClr val="F5F7FA"/>
          </a:solidFill>
          <a:ln/>
        </p:spPr>
      </p:sp>
      <p:sp>
        <p:nvSpPr>
          <p:cNvPr id="17" name="Shape 15"/>
          <p:cNvSpPr/>
          <p:nvPr/>
        </p:nvSpPr>
        <p:spPr>
          <a:xfrm>
            <a:off x="1828800" y="1417320"/>
            <a:ext cx="73152" cy="1325880"/>
          </a:xfrm>
          <a:prstGeom prst="rect">
            <a:avLst/>
          </a:prstGeom>
          <a:solidFill>
            <a:srgbClr val="6B7A8D"/>
          </a:solidFill>
          <a:ln/>
        </p:spPr>
      </p:sp>
      <p:sp>
        <p:nvSpPr>
          <p:cNvPr id="18" name="Text 16"/>
          <p:cNvSpPr txBox="1"/>
          <p:nvPr/>
        </p:nvSpPr>
        <p:spPr>
          <a:xfrm>
            <a:off x="1965960" y="1463040"/>
            <a:ext cx="32004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6B7A8D"/>
                </a:solidFill>
                <a:latin typeface="Trebuchet MS" pitchFamily="34" charset="0"/>
                <a:ea typeface="Trebuchet MS" pitchFamily="34" charset="-122"/>
                <a:cs typeface="Trebuchet MS" pitchFamily="34" charset="-120"/>
              </a:rPr>
              <a:t>CANNOT BE ASSESSED</a:t>
            </a:r>
            <a:endParaRPr lang="en-US" sz="1100" dirty="0"/>
          </a:p>
        </p:txBody>
      </p:sp>
      <p:sp>
        <p:nvSpPr>
          <p:cNvPr id="19" name="Text 17"/>
          <p:cNvSpPr txBox="1"/>
          <p:nvPr/>
        </p:nvSpPr>
        <p:spPr>
          <a:xfrm>
            <a:off x="1965960" y="1737360"/>
            <a:ext cx="3200400" cy="9601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Low reporting quality impedes the assessment of earnings quality, and impedes valuation. The economics may well be excellent — you have no way to establish it.</a:t>
            </a:r>
            <a:endParaRPr lang="en-US" sz="1200" dirty="0"/>
          </a:p>
        </p:txBody>
      </p:sp>
      <p:sp>
        <p:nvSpPr>
          <p:cNvPr id="20" name="Shape 18"/>
          <p:cNvSpPr/>
          <p:nvPr/>
        </p:nvSpPr>
        <p:spPr>
          <a:xfrm>
            <a:off x="5394960" y="1417320"/>
            <a:ext cx="3429000" cy="1325880"/>
          </a:xfrm>
          <a:prstGeom prst="rect">
            <a:avLst/>
          </a:prstGeom>
          <a:solidFill>
            <a:srgbClr val="E8F5E9"/>
          </a:solidFill>
          <a:ln/>
        </p:spPr>
      </p:sp>
      <p:sp>
        <p:nvSpPr>
          <p:cNvPr id="21" name="Shape 19"/>
          <p:cNvSpPr/>
          <p:nvPr/>
        </p:nvSpPr>
        <p:spPr>
          <a:xfrm>
            <a:off x="5394960" y="1417320"/>
            <a:ext cx="73152" cy="1325880"/>
          </a:xfrm>
          <a:prstGeom prst="rect">
            <a:avLst/>
          </a:prstGeom>
          <a:solidFill>
            <a:srgbClr val="1A6B3C"/>
          </a:solidFill>
          <a:ln/>
        </p:spPr>
      </p:sp>
      <p:sp>
        <p:nvSpPr>
          <p:cNvPr id="22" name="Text 20"/>
          <p:cNvSpPr txBox="1"/>
          <p:nvPr/>
        </p:nvSpPr>
        <p:spPr>
          <a:xfrm>
            <a:off x="5532120" y="1463040"/>
            <a:ext cx="32004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A6B3C"/>
                </a:solidFill>
                <a:latin typeface="Trebuchet MS" pitchFamily="34" charset="0"/>
                <a:ea typeface="Trebuchet MS" pitchFamily="34" charset="-122"/>
                <a:cs typeface="Trebuchet MS" pitchFamily="34" charset="-120"/>
              </a:rPr>
              <a:t>THE CELL YOU CAN PRICE</a:t>
            </a:r>
            <a:endParaRPr lang="en-US" sz="1100" dirty="0"/>
          </a:p>
        </p:txBody>
      </p:sp>
      <p:sp>
        <p:nvSpPr>
          <p:cNvPr id="23" name="Text 21"/>
          <p:cNvSpPr txBox="1"/>
          <p:nvPr/>
        </p:nvSpPr>
        <p:spPr>
          <a:xfrm>
            <a:off x="5532120" y="1737360"/>
            <a:ext cx="3200400" cy="9601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High reporting quality enables the assessment. High earnings quality increases company value. Faithful numbers describing a business that can sustain itself.</a:t>
            </a:r>
            <a:endParaRPr lang="en-US" sz="1200" dirty="0"/>
          </a:p>
        </p:txBody>
      </p:sp>
      <p:sp>
        <p:nvSpPr>
          <p:cNvPr id="24" name="Shape 22"/>
          <p:cNvSpPr/>
          <p:nvPr/>
        </p:nvSpPr>
        <p:spPr>
          <a:xfrm>
            <a:off x="1828800" y="2852928"/>
            <a:ext cx="3429000" cy="1325880"/>
          </a:xfrm>
          <a:prstGeom prst="rect">
            <a:avLst/>
          </a:prstGeom>
          <a:solidFill>
            <a:srgbClr val="FFEBEE"/>
          </a:solidFill>
          <a:ln/>
        </p:spPr>
      </p:sp>
      <p:sp>
        <p:nvSpPr>
          <p:cNvPr id="25" name="Shape 23"/>
          <p:cNvSpPr/>
          <p:nvPr/>
        </p:nvSpPr>
        <p:spPr>
          <a:xfrm>
            <a:off x="1828800" y="2852928"/>
            <a:ext cx="73152" cy="1325880"/>
          </a:xfrm>
          <a:prstGeom prst="rect">
            <a:avLst/>
          </a:prstGeom>
          <a:solidFill>
            <a:srgbClr val="B71C1C"/>
          </a:solidFill>
          <a:ln/>
        </p:spPr>
      </p:sp>
      <p:sp>
        <p:nvSpPr>
          <p:cNvPr id="26" name="Text 24"/>
          <p:cNvSpPr txBox="1"/>
          <p:nvPr/>
        </p:nvSpPr>
        <p:spPr>
          <a:xfrm>
            <a:off x="1965960" y="2898648"/>
            <a:ext cx="32004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B71C1C"/>
                </a:solidFill>
                <a:latin typeface="Trebuchet MS" pitchFamily="34" charset="0"/>
                <a:ea typeface="Trebuchet MS" pitchFamily="34" charset="-122"/>
                <a:cs typeface="Trebuchet MS" pitchFamily="34" charset="-120"/>
              </a:rPr>
              <a:t>WHERE THE SCANDALS LIVE</a:t>
            </a:r>
            <a:endParaRPr lang="en-US" sz="1100" dirty="0"/>
          </a:p>
        </p:txBody>
      </p:sp>
      <p:sp>
        <p:nvSpPr>
          <p:cNvPr id="27" name="Text 25"/>
          <p:cNvSpPr txBox="1"/>
          <p:nvPr/>
        </p:nvSpPr>
        <p:spPr>
          <a:xfrm>
            <a:off x="1965960" y="3172968"/>
            <a:ext cx="3200400" cy="9601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Assessment is impeded here too, and the economics are weak underneath. Enron, WorldCom, Wirecard — misleading reports concealing a business that did not work.</a:t>
            </a:r>
            <a:endParaRPr lang="en-US" sz="1200" dirty="0"/>
          </a:p>
        </p:txBody>
      </p:sp>
      <p:sp>
        <p:nvSpPr>
          <p:cNvPr id="28" name="Shape 26"/>
          <p:cNvSpPr/>
          <p:nvPr/>
        </p:nvSpPr>
        <p:spPr>
          <a:xfrm>
            <a:off x="5394960" y="2852928"/>
            <a:ext cx="3429000" cy="1325880"/>
          </a:xfrm>
          <a:prstGeom prst="rect">
            <a:avLst/>
          </a:prstGeom>
          <a:solidFill>
            <a:srgbClr val="FEF0E7"/>
          </a:solidFill>
          <a:ln/>
        </p:spPr>
      </p:sp>
      <p:sp>
        <p:nvSpPr>
          <p:cNvPr id="29" name="Shape 27"/>
          <p:cNvSpPr/>
          <p:nvPr/>
        </p:nvSpPr>
        <p:spPr>
          <a:xfrm>
            <a:off x="5394960" y="2852928"/>
            <a:ext cx="73152" cy="1325880"/>
          </a:xfrm>
          <a:prstGeom prst="rect">
            <a:avLst/>
          </a:prstGeom>
          <a:solidFill>
            <a:srgbClr val="E8600A"/>
          </a:solidFill>
          <a:ln/>
        </p:spPr>
      </p:sp>
      <p:sp>
        <p:nvSpPr>
          <p:cNvPr id="30" name="Text 28"/>
          <p:cNvSpPr txBox="1"/>
          <p:nvPr/>
        </p:nvSpPr>
        <p:spPr>
          <a:xfrm>
            <a:off x="5532120" y="2898648"/>
            <a:ext cx="32004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HONEST ABOUT A WEAK YEAR</a:t>
            </a:r>
            <a:endParaRPr lang="en-US" sz="1100" dirty="0"/>
          </a:p>
        </p:txBody>
      </p:sp>
      <p:sp>
        <p:nvSpPr>
          <p:cNvPr id="31" name="Text 29"/>
          <p:cNvSpPr txBox="1"/>
          <p:nvPr/>
        </p:nvSpPr>
        <p:spPr>
          <a:xfrm>
            <a:off x="5532120" y="3172968"/>
            <a:ext cx="3200400" cy="9601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High reporting quality enables the assessment. Low earnings quality decreases company value. A loss, or profit from non-recurring items, reported faithfully.</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Reporting quality runs down a six-step spectrum, and the step that matters most is the one where it stops being legal</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10, Exhibit 2 "Quality Spectrum of Financial Reports", p. 321.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Steps 1 to 4 are all within GAAP. The fall from 4 to 5 crosses a legal boundary — above it everything is judgement, below it everything is misstatement.</a:t>
            </a:r>
            <a:endParaRPr lang="en-US" sz="1300" dirty="0"/>
          </a:p>
        </p:txBody>
      </p:sp>
      <p:sp>
        <p:nvSpPr>
          <p:cNvPr id="9" name="Shape 7"/>
          <p:cNvSpPr/>
          <p:nvPr/>
        </p:nvSpPr>
        <p:spPr>
          <a:xfrm>
            <a:off x="320040" y="1188720"/>
            <a:ext cx="8503920" cy="530352"/>
          </a:xfrm>
          <a:prstGeom prst="rect">
            <a:avLst/>
          </a:prstGeom>
          <a:solidFill>
            <a:srgbClr val="FFFFFF"/>
          </a:solidFill>
          <a:ln/>
        </p:spPr>
      </p:sp>
      <p:sp>
        <p:nvSpPr>
          <p:cNvPr id="10" name="Shape 8"/>
          <p:cNvSpPr/>
          <p:nvPr/>
        </p:nvSpPr>
        <p:spPr>
          <a:xfrm>
            <a:off x="320040" y="1188720"/>
            <a:ext cx="91440" cy="530352"/>
          </a:xfrm>
          <a:prstGeom prst="rect">
            <a:avLst/>
          </a:prstGeom>
          <a:solidFill>
            <a:srgbClr val="E8600A"/>
          </a:solidFill>
          <a:ln/>
        </p:spPr>
      </p:sp>
      <p:sp>
        <p:nvSpPr>
          <p:cNvPr id="11" name="Text 9"/>
          <p:cNvSpPr txBox="1"/>
          <p:nvPr/>
        </p:nvSpPr>
        <p:spPr>
          <a:xfrm>
            <a:off x="502920" y="1188720"/>
            <a:ext cx="365760" cy="53035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1</a:t>
            </a:r>
            <a:endParaRPr lang="en-US" sz="1300" dirty="0"/>
          </a:p>
        </p:txBody>
      </p:sp>
      <p:sp>
        <p:nvSpPr>
          <p:cNvPr id="12" name="Text 10"/>
          <p:cNvSpPr txBox="1"/>
          <p:nvPr/>
        </p:nvSpPr>
        <p:spPr>
          <a:xfrm>
            <a:off x="868680" y="1225296"/>
            <a:ext cx="7863840" cy="238658"/>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GAAP, decision-useful, sustainable, adequate returns</a:t>
            </a:r>
            <a:endParaRPr lang="en-US" sz="1200" dirty="0"/>
          </a:p>
        </p:txBody>
      </p:sp>
      <p:sp>
        <p:nvSpPr>
          <p:cNvPr id="13" name="Text 11"/>
          <p:cNvSpPr txBox="1"/>
          <p:nvPr/>
        </p:nvSpPr>
        <p:spPr>
          <a:xfrm>
            <a:off x="868680" y="1427378"/>
            <a:ext cx="7863840" cy="29169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top. Faithful reporting of a business that earns its cost of capital and can keep doing it.</a:t>
            </a:r>
            <a:endParaRPr lang="en-US" sz="1200" dirty="0"/>
          </a:p>
        </p:txBody>
      </p:sp>
      <p:sp>
        <p:nvSpPr>
          <p:cNvPr id="14" name="Shape 12"/>
          <p:cNvSpPr/>
          <p:nvPr/>
        </p:nvSpPr>
        <p:spPr>
          <a:xfrm>
            <a:off x="320040" y="1755648"/>
            <a:ext cx="8503920" cy="530352"/>
          </a:xfrm>
          <a:prstGeom prst="rect">
            <a:avLst/>
          </a:prstGeom>
          <a:solidFill>
            <a:srgbClr val="F5F7FA"/>
          </a:solidFill>
          <a:ln/>
        </p:spPr>
      </p:sp>
      <p:sp>
        <p:nvSpPr>
          <p:cNvPr id="15" name="Shape 13"/>
          <p:cNvSpPr/>
          <p:nvPr/>
        </p:nvSpPr>
        <p:spPr>
          <a:xfrm>
            <a:off x="320040" y="1755648"/>
            <a:ext cx="91440" cy="530352"/>
          </a:xfrm>
          <a:prstGeom prst="rect">
            <a:avLst/>
          </a:prstGeom>
          <a:solidFill>
            <a:srgbClr val="E8600A"/>
          </a:solidFill>
          <a:ln/>
        </p:spPr>
      </p:sp>
      <p:sp>
        <p:nvSpPr>
          <p:cNvPr id="16" name="Text 14"/>
          <p:cNvSpPr txBox="1"/>
          <p:nvPr/>
        </p:nvSpPr>
        <p:spPr>
          <a:xfrm>
            <a:off x="502920" y="1755648"/>
            <a:ext cx="365760" cy="53035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2</a:t>
            </a:r>
            <a:endParaRPr lang="en-US" sz="1300" dirty="0"/>
          </a:p>
        </p:txBody>
      </p:sp>
      <p:sp>
        <p:nvSpPr>
          <p:cNvPr id="17" name="Text 15"/>
          <p:cNvSpPr txBox="1"/>
          <p:nvPr/>
        </p:nvSpPr>
        <p:spPr>
          <a:xfrm>
            <a:off x="868680" y="1792224"/>
            <a:ext cx="7863840" cy="238658"/>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GAAP, decision-useful, but sustainable? Low earnings quality</a:t>
            </a:r>
            <a:endParaRPr lang="en-US" sz="1200" dirty="0"/>
          </a:p>
        </p:txBody>
      </p:sp>
      <p:sp>
        <p:nvSpPr>
          <p:cNvPr id="18" name="Text 16"/>
          <p:cNvSpPr txBox="1"/>
          <p:nvPr/>
        </p:nvSpPr>
        <p:spPr>
          <a:xfrm>
            <a:off x="868680" y="1994306"/>
            <a:ext cx="7863840" cy="29169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reporting is fine, the economics are not: one-off FX, asset sales, non-recurring items.</a:t>
            </a:r>
            <a:endParaRPr lang="en-US" sz="1200" dirty="0"/>
          </a:p>
        </p:txBody>
      </p:sp>
      <p:sp>
        <p:nvSpPr>
          <p:cNvPr id="19" name="Shape 17"/>
          <p:cNvSpPr/>
          <p:nvPr/>
        </p:nvSpPr>
        <p:spPr>
          <a:xfrm>
            <a:off x="320040" y="2322576"/>
            <a:ext cx="8503920" cy="530352"/>
          </a:xfrm>
          <a:prstGeom prst="rect">
            <a:avLst/>
          </a:prstGeom>
          <a:solidFill>
            <a:srgbClr val="FFFFFF"/>
          </a:solidFill>
          <a:ln/>
        </p:spPr>
      </p:sp>
      <p:sp>
        <p:nvSpPr>
          <p:cNvPr id="20" name="Shape 18"/>
          <p:cNvSpPr/>
          <p:nvPr/>
        </p:nvSpPr>
        <p:spPr>
          <a:xfrm>
            <a:off x="320040" y="2322576"/>
            <a:ext cx="91440" cy="530352"/>
          </a:xfrm>
          <a:prstGeom prst="rect">
            <a:avLst/>
          </a:prstGeom>
          <a:solidFill>
            <a:srgbClr val="E8600A"/>
          </a:solidFill>
          <a:ln/>
        </p:spPr>
      </p:sp>
      <p:sp>
        <p:nvSpPr>
          <p:cNvPr id="21" name="Text 19"/>
          <p:cNvSpPr txBox="1"/>
          <p:nvPr/>
        </p:nvSpPr>
        <p:spPr>
          <a:xfrm>
            <a:off x="502920" y="2322576"/>
            <a:ext cx="365760" cy="53035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3</a:t>
            </a:r>
            <a:endParaRPr lang="en-US" sz="1300" dirty="0"/>
          </a:p>
        </p:txBody>
      </p:sp>
      <p:sp>
        <p:nvSpPr>
          <p:cNvPr id="22" name="Text 20"/>
          <p:cNvSpPr txBox="1"/>
          <p:nvPr/>
        </p:nvSpPr>
        <p:spPr>
          <a:xfrm>
            <a:off x="868680" y="2359152"/>
            <a:ext cx="7863840" cy="238658"/>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Within GAAP, but biased choices</a:t>
            </a:r>
            <a:endParaRPr lang="en-US" sz="1200" dirty="0"/>
          </a:p>
        </p:txBody>
      </p:sp>
      <p:sp>
        <p:nvSpPr>
          <p:cNvPr id="23" name="Text 21"/>
          <p:cNvSpPr txBox="1"/>
          <p:nvPr/>
        </p:nvSpPr>
        <p:spPr>
          <a:xfrm>
            <a:off x="868680" y="2561234"/>
            <a:ext cx="7863840" cy="29169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Permitted options picked to flatter — depreciable lives, capitalise versus expense, reserve levels.</a:t>
            </a:r>
            <a:endParaRPr lang="en-US" sz="1200" dirty="0"/>
          </a:p>
        </p:txBody>
      </p:sp>
      <p:sp>
        <p:nvSpPr>
          <p:cNvPr id="24" name="Shape 22"/>
          <p:cNvSpPr/>
          <p:nvPr/>
        </p:nvSpPr>
        <p:spPr>
          <a:xfrm>
            <a:off x="320040" y="2889504"/>
            <a:ext cx="8503920" cy="530352"/>
          </a:xfrm>
          <a:prstGeom prst="rect">
            <a:avLst/>
          </a:prstGeom>
          <a:solidFill>
            <a:srgbClr val="F5F7FA"/>
          </a:solidFill>
          <a:ln/>
        </p:spPr>
      </p:sp>
      <p:sp>
        <p:nvSpPr>
          <p:cNvPr id="25" name="Shape 23"/>
          <p:cNvSpPr/>
          <p:nvPr/>
        </p:nvSpPr>
        <p:spPr>
          <a:xfrm>
            <a:off x="320040" y="2889504"/>
            <a:ext cx="91440" cy="530352"/>
          </a:xfrm>
          <a:prstGeom prst="rect">
            <a:avLst/>
          </a:prstGeom>
          <a:solidFill>
            <a:srgbClr val="E8600A"/>
          </a:solidFill>
          <a:ln/>
        </p:spPr>
      </p:sp>
      <p:sp>
        <p:nvSpPr>
          <p:cNvPr id="26" name="Text 24"/>
          <p:cNvSpPr txBox="1"/>
          <p:nvPr/>
        </p:nvSpPr>
        <p:spPr>
          <a:xfrm>
            <a:off x="502920" y="2889504"/>
            <a:ext cx="365760" cy="53035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4</a:t>
            </a:r>
            <a:endParaRPr lang="en-US" sz="1300" dirty="0"/>
          </a:p>
        </p:txBody>
      </p:sp>
      <p:sp>
        <p:nvSpPr>
          <p:cNvPr id="27" name="Text 25"/>
          <p:cNvSpPr txBox="1"/>
          <p:nvPr/>
        </p:nvSpPr>
        <p:spPr>
          <a:xfrm>
            <a:off x="868680" y="2926080"/>
            <a:ext cx="7863840" cy="238658"/>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Within GAAP, but earnings management</a:t>
            </a:r>
            <a:endParaRPr lang="en-US" sz="1200" dirty="0"/>
          </a:p>
        </p:txBody>
      </p:sp>
      <p:sp>
        <p:nvSpPr>
          <p:cNvPr id="28" name="Text 26"/>
          <p:cNvSpPr txBox="1"/>
          <p:nvPr/>
        </p:nvSpPr>
        <p:spPr>
          <a:xfrm>
            <a:off x="868680" y="3128162"/>
            <a:ext cx="7863840" cy="29169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Real EM changes the business to hit a number, such as cutting R&amp;D. Accounting EM stretches estimates.</a:t>
            </a:r>
            <a:endParaRPr lang="en-US" sz="1200" dirty="0"/>
          </a:p>
        </p:txBody>
      </p:sp>
      <p:sp>
        <p:nvSpPr>
          <p:cNvPr id="29" name="Shape 27"/>
          <p:cNvSpPr/>
          <p:nvPr/>
        </p:nvSpPr>
        <p:spPr>
          <a:xfrm>
            <a:off x="320040" y="3456432"/>
            <a:ext cx="8503920" cy="530352"/>
          </a:xfrm>
          <a:prstGeom prst="rect">
            <a:avLst/>
          </a:prstGeom>
          <a:solidFill>
            <a:srgbClr val="FFFFFF"/>
          </a:solidFill>
          <a:ln/>
        </p:spPr>
      </p:sp>
      <p:sp>
        <p:nvSpPr>
          <p:cNvPr id="30" name="Shape 28"/>
          <p:cNvSpPr/>
          <p:nvPr/>
        </p:nvSpPr>
        <p:spPr>
          <a:xfrm>
            <a:off x="320040" y="3456432"/>
            <a:ext cx="91440" cy="530352"/>
          </a:xfrm>
          <a:prstGeom prst="rect">
            <a:avLst/>
          </a:prstGeom>
          <a:solidFill>
            <a:srgbClr val="E8600A"/>
          </a:solidFill>
          <a:ln/>
        </p:spPr>
      </p:sp>
      <p:sp>
        <p:nvSpPr>
          <p:cNvPr id="31" name="Text 29"/>
          <p:cNvSpPr txBox="1"/>
          <p:nvPr/>
        </p:nvSpPr>
        <p:spPr>
          <a:xfrm>
            <a:off x="502920" y="3456432"/>
            <a:ext cx="365760" cy="53035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5</a:t>
            </a:r>
            <a:endParaRPr lang="en-US" sz="1300" dirty="0"/>
          </a:p>
        </p:txBody>
      </p:sp>
      <p:sp>
        <p:nvSpPr>
          <p:cNvPr id="32" name="Text 30"/>
          <p:cNvSpPr txBox="1"/>
          <p:nvPr/>
        </p:nvSpPr>
        <p:spPr>
          <a:xfrm>
            <a:off x="868680" y="3493008"/>
            <a:ext cx="7863840" cy="238658"/>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Non-compliant accounting</a:t>
            </a:r>
            <a:endParaRPr lang="en-US" sz="1200" dirty="0"/>
          </a:p>
        </p:txBody>
      </p:sp>
      <p:sp>
        <p:nvSpPr>
          <p:cNvPr id="33" name="Text 31"/>
          <p:cNvSpPr txBox="1"/>
          <p:nvPr/>
        </p:nvSpPr>
        <p:spPr>
          <a:xfrm>
            <a:off x="868680" y="3695090"/>
            <a:ext cx="7863840" cy="29169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Outside GAAP. Misstated revenue, understated liabilities, costs improperly capitalised. Restatement territory.</a:t>
            </a:r>
            <a:endParaRPr lang="en-US" sz="1200" dirty="0"/>
          </a:p>
        </p:txBody>
      </p:sp>
      <p:sp>
        <p:nvSpPr>
          <p:cNvPr id="34" name="Shape 32"/>
          <p:cNvSpPr/>
          <p:nvPr/>
        </p:nvSpPr>
        <p:spPr>
          <a:xfrm>
            <a:off x="320040" y="4023360"/>
            <a:ext cx="8503920" cy="530352"/>
          </a:xfrm>
          <a:prstGeom prst="rect">
            <a:avLst/>
          </a:prstGeom>
          <a:solidFill>
            <a:srgbClr val="F5F7FA"/>
          </a:solidFill>
          <a:ln/>
        </p:spPr>
      </p:sp>
      <p:sp>
        <p:nvSpPr>
          <p:cNvPr id="35" name="Shape 33"/>
          <p:cNvSpPr/>
          <p:nvPr/>
        </p:nvSpPr>
        <p:spPr>
          <a:xfrm>
            <a:off x="320040" y="4023360"/>
            <a:ext cx="91440" cy="530352"/>
          </a:xfrm>
          <a:prstGeom prst="rect">
            <a:avLst/>
          </a:prstGeom>
          <a:solidFill>
            <a:srgbClr val="E8600A"/>
          </a:solidFill>
          <a:ln/>
        </p:spPr>
      </p:sp>
      <p:sp>
        <p:nvSpPr>
          <p:cNvPr id="36" name="Text 34"/>
          <p:cNvSpPr txBox="1"/>
          <p:nvPr/>
        </p:nvSpPr>
        <p:spPr>
          <a:xfrm>
            <a:off x="502920" y="4023360"/>
            <a:ext cx="365760" cy="53035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6</a:t>
            </a:r>
            <a:endParaRPr lang="en-US" sz="1300" dirty="0"/>
          </a:p>
        </p:txBody>
      </p:sp>
      <p:sp>
        <p:nvSpPr>
          <p:cNvPr id="37" name="Text 35"/>
          <p:cNvSpPr txBox="1"/>
          <p:nvPr/>
        </p:nvSpPr>
        <p:spPr>
          <a:xfrm>
            <a:off x="868680" y="4059936"/>
            <a:ext cx="7863840" cy="238658"/>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Fictitious transactions</a:t>
            </a:r>
            <a:endParaRPr lang="en-US" sz="1200" dirty="0"/>
          </a:p>
        </p:txBody>
      </p:sp>
      <p:sp>
        <p:nvSpPr>
          <p:cNvPr id="38" name="Text 36"/>
          <p:cNvSpPr txBox="1"/>
          <p:nvPr/>
        </p:nvSpPr>
        <p:spPr>
          <a:xfrm>
            <a:off x="868680" y="4262018"/>
            <a:ext cx="7863840" cy="29169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floor. Revenue that never happened, counterparties that never existed. Enron, WorldCom, Wirecard, Satyam.</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Three conditions are typically present when low-quality reports are issued — opportunity, motivation and rationalisation — and removing any one of them stops it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10, "Conditions Conducive to Issuing Low-Quality Financial Reports" and "Mechanisms That Discipline Financial Reporting Quality", pp. 337–339.</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curriculum is careful here: these are conditions, not causes. Plenty of managers face all three and report honestly anyway.</a:t>
            </a:r>
            <a:endParaRPr lang="en-US" sz="1300" dirty="0"/>
          </a:p>
        </p:txBody>
      </p:sp>
      <p:sp>
        <p:nvSpPr>
          <p:cNvPr id="9" name="Shape 7"/>
          <p:cNvSpPr/>
          <p:nvPr/>
        </p:nvSpPr>
        <p:spPr>
          <a:xfrm>
            <a:off x="320040" y="1188720"/>
            <a:ext cx="2743200" cy="3063240"/>
          </a:xfrm>
          <a:prstGeom prst="rect">
            <a:avLst/>
          </a:prstGeom>
          <a:solidFill>
            <a:srgbClr val="FEF0E7"/>
          </a:solidFill>
          <a:ln/>
        </p:spPr>
      </p:sp>
      <p:sp>
        <p:nvSpPr>
          <p:cNvPr id="10" name="Shape 8"/>
          <p:cNvSpPr/>
          <p:nvPr/>
        </p:nvSpPr>
        <p:spPr>
          <a:xfrm>
            <a:off x="320040" y="1188720"/>
            <a:ext cx="73152" cy="3063240"/>
          </a:xfrm>
          <a:prstGeom prst="rect">
            <a:avLst/>
          </a:prstGeom>
          <a:solidFill>
            <a:srgbClr val="E8600A"/>
          </a:solidFill>
          <a:ln/>
        </p:spPr>
      </p:sp>
      <p:sp>
        <p:nvSpPr>
          <p:cNvPr id="11" name="Text 9"/>
          <p:cNvSpPr txBox="1"/>
          <p:nvPr/>
        </p:nvSpPr>
        <p:spPr>
          <a:xfrm>
            <a:off x="457200" y="1280160"/>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1  ·  MOTIVATION</a:t>
            </a:r>
            <a:endParaRPr lang="en-US" sz="1100" dirty="0"/>
          </a:p>
        </p:txBody>
      </p:sp>
      <p:sp>
        <p:nvSpPr>
          <p:cNvPr id="12" name="Text 10"/>
          <p:cNvSpPr txBox="1"/>
          <p:nvPr/>
        </p:nvSpPr>
        <p:spPr>
          <a:xfrm>
            <a:off x="457200" y="1645920"/>
            <a:ext cx="2468880" cy="251460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Pressure to hit a number:</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Mask poor performance management believes is temporary</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Meet or beat analyst forecasts and management guidance</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Career concerns — surveyed CFOs rank these ABOVE bonus</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Incentive pay tied to earnings or to the share price</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Avoid breaching a debt covenant</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Banking earnings in a strong year is the same instinct running backwards.</a:t>
            </a:r>
            <a:endParaRPr lang="en-US" sz="1100" dirty="0"/>
          </a:p>
        </p:txBody>
      </p:sp>
      <p:sp>
        <p:nvSpPr>
          <p:cNvPr id="13" name="Shape 11"/>
          <p:cNvSpPr/>
          <p:nvPr/>
        </p:nvSpPr>
        <p:spPr>
          <a:xfrm>
            <a:off x="3200400" y="1188720"/>
            <a:ext cx="2743200" cy="3063240"/>
          </a:xfrm>
          <a:prstGeom prst="rect">
            <a:avLst/>
          </a:prstGeom>
          <a:solidFill>
            <a:srgbClr val="F5F7FA"/>
          </a:solidFill>
          <a:ln/>
        </p:spPr>
      </p:sp>
      <p:sp>
        <p:nvSpPr>
          <p:cNvPr id="14" name="Shape 12"/>
          <p:cNvSpPr/>
          <p:nvPr/>
        </p:nvSpPr>
        <p:spPr>
          <a:xfrm>
            <a:off x="3200400" y="1188720"/>
            <a:ext cx="73152" cy="3063240"/>
          </a:xfrm>
          <a:prstGeom prst="rect">
            <a:avLst/>
          </a:prstGeom>
          <a:solidFill>
            <a:srgbClr val="1B2A4A"/>
          </a:solidFill>
          <a:ln/>
        </p:spPr>
      </p:sp>
      <p:sp>
        <p:nvSpPr>
          <p:cNvPr id="15" name="Text 13"/>
          <p:cNvSpPr txBox="1"/>
          <p:nvPr/>
        </p:nvSpPr>
        <p:spPr>
          <a:xfrm>
            <a:off x="3337560" y="1280160"/>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2  ·  OPPORTUNITY</a:t>
            </a:r>
            <a:endParaRPr lang="en-US" sz="1100" dirty="0"/>
          </a:p>
        </p:txBody>
      </p:sp>
      <p:sp>
        <p:nvSpPr>
          <p:cNvPr id="16" name="Text 14"/>
          <p:cNvSpPr txBox="1"/>
          <p:nvPr/>
        </p:nvSpPr>
        <p:spPr>
          <a:xfrm>
            <a:off x="3337560" y="1645920"/>
            <a:ext cx="2468880" cy="251460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The ability to do it undetected:</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Internal — poor internal controls</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Internal — an ineffective or captive board</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External — standards that allow divergent choices</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External — minimal consequences for a bad choice</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Disciplining mechanisms push back: securities regulators, the external auditor, private contracting through covenants, and the market pricing the risk into the cost of capital.</a:t>
            </a:r>
            <a:endParaRPr lang="en-US" sz="1100" dirty="0"/>
          </a:p>
        </p:txBody>
      </p:sp>
      <p:sp>
        <p:nvSpPr>
          <p:cNvPr id="17" name="Shape 15"/>
          <p:cNvSpPr/>
          <p:nvPr/>
        </p:nvSpPr>
        <p:spPr>
          <a:xfrm>
            <a:off x="6080760" y="1188720"/>
            <a:ext cx="2743200" cy="3063240"/>
          </a:xfrm>
          <a:prstGeom prst="rect">
            <a:avLst/>
          </a:prstGeom>
          <a:solidFill>
            <a:srgbClr val="FEF0E7"/>
          </a:solidFill>
          <a:ln/>
        </p:spPr>
      </p:sp>
      <p:sp>
        <p:nvSpPr>
          <p:cNvPr id="18" name="Shape 16"/>
          <p:cNvSpPr/>
          <p:nvPr/>
        </p:nvSpPr>
        <p:spPr>
          <a:xfrm>
            <a:off x="6080760" y="1188720"/>
            <a:ext cx="73152" cy="3063240"/>
          </a:xfrm>
          <a:prstGeom prst="rect">
            <a:avLst/>
          </a:prstGeom>
          <a:solidFill>
            <a:srgbClr val="E8600A"/>
          </a:solidFill>
          <a:ln/>
        </p:spPr>
      </p:sp>
      <p:sp>
        <p:nvSpPr>
          <p:cNvPr id="19" name="Text 17"/>
          <p:cNvSpPr txBox="1"/>
          <p:nvPr/>
        </p:nvSpPr>
        <p:spPr>
          <a:xfrm>
            <a:off x="6217920" y="1280160"/>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3  ·  RATIONALISATION</a:t>
            </a:r>
            <a:endParaRPr lang="en-US" sz="1100" dirty="0"/>
          </a:p>
        </p:txBody>
      </p:sp>
      <p:sp>
        <p:nvSpPr>
          <p:cNvPr id="20" name="Text 18"/>
          <p:cNvSpPr txBox="1"/>
          <p:nvPr/>
        </p:nvSpPr>
        <p:spPr>
          <a:xfrm>
            <a:off x="6217920" y="1645920"/>
            <a:ext cx="2468880" cy="251460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A justification the person can live with:</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"Everyone in this industry does it"</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"A bridge year — we will true it up next time"</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"The rule is unfair and does not fit our business"</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"I am protecting jobs"</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Enron's CFO told a fraud conference he knew it was wrong, so he followed procedure: board approval, legal and accounting opinions, disclosure. Process became the permission.</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The warning signs sit in six places, and every one is a ratio you can compute from a published annual report in about ten minutes</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10, "Warning Signs", pp. 372–375.</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curriculum's own framing: the choices management makes to hit a number leave a trail, like tracks in sand or snow. These are the tracks.</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920240"/>
                <a:gridCol w="2834640"/>
                <a:gridCol w="37490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Where to look</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to compute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deterioration is telling you</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Revenue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Growth against peers and industry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Out-of-line growth needs an explanation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Receivables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DSO; receivables turnover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Channel stuffing, or fictitious sales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Inventory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Inventory turnover; days on hand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Obsolescence not yet written down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Asset allocation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Total asset turnover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Foreshadows a goodwill write-down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Capitalisation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Capitalised vs expensed vs peers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 lone capitaliser is an outlier to check</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Cash conversion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CFO ÷ net income as a time series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Below 1.0 or falling: accruals suspect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3246120"/>
            <a:ext cx="8503920" cy="1005840"/>
          </a:xfrm>
          <a:prstGeom prst="rect">
            <a:avLst/>
          </a:prstGeom>
          <a:solidFill>
            <a:srgbClr val="FEF0E7"/>
          </a:solidFill>
          <a:ln/>
        </p:spPr>
      </p:sp>
      <p:sp>
        <p:nvSpPr>
          <p:cNvPr id="11" name="Shape 8"/>
          <p:cNvSpPr/>
          <p:nvPr/>
        </p:nvSpPr>
        <p:spPr>
          <a:xfrm>
            <a:off x="320040" y="3246120"/>
            <a:ext cx="73152" cy="1005840"/>
          </a:xfrm>
          <a:prstGeom prst="rect">
            <a:avLst/>
          </a:prstGeom>
          <a:solidFill>
            <a:srgbClr val="E8600A"/>
          </a:solidFill>
          <a:ln/>
        </p:spPr>
      </p:sp>
      <p:sp>
        <p:nvSpPr>
          <p:cNvPr id="12" name="Text 9"/>
          <p:cNvSpPr txBox="1"/>
          <p:nvPr/>
        </p:nvSpPr>
        <p:spPr>
          <a:xfrm>
            <a:off x="457200" y="32918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ONE TO BUILD FIRST</a:t>
            </a:r>
            <a:endParaRPr lang="en-US" sz="1100" dirty="0"/>
          </a:p>
        </p:txBody>
      </p:sp>
      <p:sp>
        <p:nvSpPr>
          <p:cNvPr id="13" name="Text 10"/>
          <p:cNvSpPr txBox="1"/>
          <p:nvPr/>
        </p:nvSpPr>
        <p:spPr>
          <a:xfrm>
            <a:off x="457200" y="3566160"/>
            <a:ext cx="8275320" cy="6400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Build a time series of cash from operations divided by net income. The curriculum is blunt about the reading: if the ratio is consistently below 1.0, or has declined repeatedly, the company's accrual accounts may have problems. Net income moves the share price; cash pays the bills; sooner or later net income has to arrive as cash or the company does not survive.</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05</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Ratio analysis</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&amp; DuPont</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5 of 6  ·  Deck 8 of 20  ·  Studio Tonton Gug</a:t>
            </a:r>
            <a:endParaRPr lang="en-US" sz="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Four families, four questions — and the family decides whether you use average balances or period-end ones, which is where most computation errors start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The curriculum lists two more under liquidity: the cash conversion cycle (DOH + DSO − days of payables) and the defensive interval ratio.
</a:t>
            </a:r>
            <a:pPr indent="0" marL="0">
              <a:buNone/>
            </a:pPr>
            <a:r>
              <a:rPr lang="en-US" sz="1000" dirty="0">
                <a:solidFill>
                  <a:srgbClr val="6B7A8D"/>
                </a:solidFill>
                <a:latin typeface="Calibri" pitchFamily="34" charset="0"/>
                <a:ea typeface="Calibri" pitchFamily="34" charset="-122"/>
                <a:cs typeface="Calibri" pitchFamily="34" charset="-120"/>
              </a:rPr>
              <a:t>² Context for any ratio: company history, the peer group, the company's own stated goals and strategy, and the phase of the business cycle.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11, "Common Ratio Categories" through "Profitability Ratios", Exhibits 17 to 27, pp. 409–429.</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 ratio on its own is a number, not a finding. It needs a history, a peer and an economic story before it means anything at all.</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371600"/>
                <a:gridCol w="2606040"/>
                <a:gridCol w="3063240"/>
                <a:gridCol w="14630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Family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The question it answers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Three canonical ratios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Balances used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Activity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Are my assets working hard?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Inventory turnover · DSO · Asset TO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Averages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Liquidity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Can I pay the next 12 months?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Current · Quick · Cash ratio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Period end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Solvency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Can I survive the decade?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Debt/Equity · Debt/Assets · EBIT/I</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Mixed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Profitability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Do I earn on capital?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Gross · Operating margin · ROE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Averages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1" name="Shape 8"/>
          <p:cNvSpPr/>
          <p:nvPr/>
        </p:nvSpPr>
        <p:spPr>
          <a:xfrm>
            <a:off x="320040" y="2724912"/>
            <a:ext cx="8503920" cy="1280160"/>
          </a:xfrm>
          <a:prstGeom prst="rect">
            <a:avLst/>
          </a:prstGeom>
          <a:solidFill>
            <a:srgbClr val="FEF0E7"/>
          </a:solidFill>
          <a:ln/>
        </p:spPr>
      </p:sp>
      <p:sp>
        <p:nvSpPr>
          <p:cNvPr id="12" name="Shape 9"/>
          <p:cNvSpPr/>
          <p:nvPr/>
        </p:nvSpPr>
        <p:spPr>
          <a:xfrm>
            <a:off x="320040" y="2724912"/>
            <a:ext cx="73152" cy="1280160"/>
          </a:xfrm>
          <a:prstGeom prst="rect">
            <a:avLst/>
          </a:prstGeom>
          <a:solidFill>
            <a:srgbClr val="E8600A"/>
          </a:solidFill>
          <a:ln/>
        </p:spPr>
      </p:sp>
      <p:sp>
        <p:nvSpPr>
          <p:cNvPr id="13" name="Text 10"/>
          <p:cNvSpPr txBox="1"/>
          <p:nvPr/>
        </p:nvSpPr>
        <p:spPr>
          <a:xfrm>
            <a:off x="457200" y="2770632"/>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FOUR RULES THAT PREVENT MOST RATIO ERRORS</a:t>
            </a:r>
            <a:endParaRPr lang="en-US" sz="1100" dirty="0"/>
          </a:p>
        </p:txBody>
      </p:sp>
      <p:sp>
        <p:nvSpPr>
          <p:cNvPr id="14" name="Text 11"/>
          <p:cNvSpPr txBox="1"/>
          <p:nvPr/>
        </p:nvSpPr>
        <p:spPr>
          <a:xfrm>
            <a:off x="457200" y="3044952"/>
            <a:ext cx="8275320" cy="9144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1.  Pair a flow with an average balance. Revenue is earned over a year; assets sit at a date.</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2.  Liquidity ratios are the exception — they measure a position, so use the closing balance sheet.</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3.  Annualise before comparing. A quarterly inventory turnover of 3.18 is not comparable to an annual 12.</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4.  Normalise for leases, share-based comp and restructuring before putting two peers side by side.</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Liquidity asks whether the company survives the next twelve months and solvency whether it survives the next decade — and a firm can fail either test alone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The cash conversion cycle sits under liquidity in the curriculum, not activity — Exhibit 22 lists it as an additional liquidity measure.
</a:t>
            </a:r>
            <a:pPr indent="0" marL="0">
              <a:buNone/>
            </a:pPr>
            <a:r>
              <a:rPr lang="en-US" sz="1000" dirty="0">
                <a:solidFill>
                  <a:srgbClr val="6B7A8D"/>
                </a:solidFill>
                <a:latin typeface="Calibri" pitchFamily="34" charset="0"/>
                <a:ea typeface="Calibri" pitchFamily="34" charset="-122"/>
                <a:cs typeface="Calibri" pitchFamily="34" charset="-120"/>
              </a:rPr>
              <a:t>² Stressed Co fails every line. At 3.4× debt to equity and 1.6× interest coverage, one weak quarter takes the covenant with it.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11, Exhibit 22 "Liquidity Ratios" and Exhibit 25 "Solvency Ratios", pp. 418–423.</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Solid Co and Stressed Co are teaching illustrations. The definitions are the curriculum's; the thresholds are market convention, not CFA numbers.</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737360"/>
                <a:gridCol w="3246120"/>
                <a:gridCol w="1143000"/>
                <a:gridCol w="1280160"/>
                <a:gridCol w="10972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Ratio</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Definition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Solid Co</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Stressed Co</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Convention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Current ratio</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Current assets / Current liabilities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&gt; 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Quick ratio</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(Cash + ST investments + AR) / CL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&gt; 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Cash ratio</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(Cash + ST investments) / CL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&gt; 0.2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Cash conversion cycle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DOH + DSO − days of payables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41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96 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Trend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Debt / Equity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Total debt / Total equity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&lt; 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Debt / Assets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Total debt / Total assets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0.65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&lt; 0.50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Interest coverage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EBIT / Interest payments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&gt; 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Fixed-charge coverage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(EBIT + leases) / (Interest + leases)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&gt; 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1" name="Shape 8"/>
          <p:cNvSpPr/>
          <p:nvPr/>
        </p:nvSpPr>
        <p:spPr>
          <a:xfrm>
            <a:off x="320040" y="3840480"/>
            <a:ext cx="8503920" cy="411480"/>
          </a:xfrm>
          <a:prstGeom prst="rect">
            <a:avLst/>
          </a:prstGeom>
          <a:solidFill>
            <a:srgbClr val="FEF0E7"/>
          </a:solidFill>
          <a:ln/>
        </p:spPr>
      </p:sp>
      <p:sp>
        <p:nvSpPr>
          <p:cNvPr id="12" name="Shape 9"/>
          <p:cNvSpPr/>
          <p:nvPr/>
        </p:nvSpPr>
        <p:spPr>
          <a:xfrm>
            <a:off x="320040" y="3840480"/>
            <a:ext cx="73152" cy="411480"/>
          </a:xfrm>
          <a:prstGeom prst="rect">
            <a:avLst/>
          </a:prstGeom>
          <a:solidFill>
            <a:srgbClr val="E8600A"/>
          </a:solidFill>
          <a:ln/>
        </p:spPr>
      </p:sp>
      <p:sp>
        <p:nvSpPr>
          <p:cNvPr id="13" name="Text 10"/>
          <p:cNvSpPr txBox="1"/>
          <p:nvPr/>
        </p:nvSpPr>
        <p:spPr>
          <a:xfrm>
            <a:off x="502920" y="3840480"/>
            <a:ext cx="8183880" cy="411480"/>
          </a:xfrm>
          <a:prstGeom prst="rect">
            <a:avLst/>
          </a:prstGeom>
          <a:noFill/>
          <a:ln/>
        </p:spPr>
        <p:txBody>
          <a:bodyPr wrap="square" lIns="508" tIns="508" rIns="508" bIns="508" rtlCol="0" anchor="ctr">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Total debt = interest-bearing short- and long-term debt, per the curriculum. State your definition.</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Return on assets is margin times turnover — so two firms can post the same ROA from opposite ends of the business model, and the ratio alone will not say which</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11, Exhibit 27 "Profitability Ratios" and the ROE decomposition, pp. 426–433.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Same 8.0% ROA, opposite routes: the industrial runs 6.00% margin × 1.33 turnover, while a luxury house would need 10% × 0.80.</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ROA  =  Net profit margin  ×  Total asset turnover</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Then ROE = ROA × Leverage, where leverage is average total assets ÷ average equity. Return on invested capital, EBIT × (1 − tax rate) ÷ average debt plus equity, is the version a credit committee reaches for.</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320040" y="2240280"/>
          <a:ext cx="8503920" cy="914400"/>
        </p:xfrm>
        <a:graphic>
          <a:graphicData uri="http://schemas.openxmlformats.org/drawingml/2006/table">
            <a:tbl>
              <a:tblPr/>
              <a:tblGrid>
                <a:gridCol w="2011680"/>
                <a:gridCol w="1097280"/>
                <a:gridCol w="1143000"/>
                <a:gridCol w="1143000"/>
                <a:gridCol w="1143000"/>
                <a:gridCol w="1051560"/>
                <a:gridCol w="9144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Firm (illustrative)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Revenue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Net income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Avg assets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Net margin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Asset TO</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ROA</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Grocer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240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8.00×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Software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Luxury goods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7,500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0.80×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Industrial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1.33×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3" name="Shape 10"/>
          <p:cNvSpPr/>
          <p:nvPr/>
        </p:nvSpPr>
        <p:spPr>
          <a:xfrm>
            <a:off x="320040" y="3749040"/>
            <a:ext cx="8503920" cy="548640"/>
          </a:xfrm>
          <a:prstGeom prst="rect">
            <a:avLst/>
          </a:prstGeom>
          <a:solidFill>
            <a:srgbClr val="FEF0E7"/>
          </a:solidFill>
          <a:ln/>
        </p:spPr>
      </p:sp>
      <p:sp>
        <p:nvSpPr>
          <p:cNvPr id="14" name="Shape 11"/>
          <p:cNvSpPr/>
          <p:nvPr/>
        </p:nvSpPr>
        <p:spPr>
          <a:xfrm>
            <a:off x="320040" y="3749040"/>
            <a:ext cx="73152" cy="548640"/>
          </a:xfrm>
          <a:prstGeom prst="rect">
            <a:avLst/>
          </a:prstGeom>
          <a:solidFill>
            <a:srgbClr val="E8600A"/>
          </a:solidFill>
          <a:ln/>
        </p:spPr>
      </p:sp>
      <p:sp>
        <p:nvSpPr>
          <p:cNvPr id="15" name="Text 12"/>
          <p:cNvSpPr txBox="1"/>
          <p:nvPr/>
        </p:nvSpPr>
        <p:spPr>
          <a:xfrm>
            <a:off x="457200" y="379476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COMPARISON RULE</a:t>
            </a:r>
            <a:endParaRPr lang="en-US" sz="1100" dirty="0"/>
          </a:p>
        </p:txBody>
      </p:sp>
      <p:sp>
        <p:nvSpPr>
          <p:cNvPr id="16" name="Text 13"/>
          <p:cNvSpPr txBox="1"/>
          <p:nvPr/>
        </p:nvSpPr>
        <p:spPr>
          <a:xfrm>
            <a:off x="457200" y="4069080"/>
            <a:ext cx="8275320" cy="1828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Compare ROA only inside an industry. Every sector sits on its own margin-turnover curve.</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three-way decomposition answers why ROE is what it is — margin, efficiency or leverage — and Anson's answer is that leverage had nothing to do with it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Two-way first: ROE = ROA × Leverage. Anson FY5 is 3.70% × 1.60 = 5.92% (Exhibit 32). Split ROA into margin × turnover for the three-way.
</a:t>
            </a:r>
            <a:pPr indent="0" marL="0">
              <a:buNone/>
            </a:pPr>
            <a:r>
              <a:rPr lang="en-US" sz="1000" dirty="0">
                <a:solidFill>
                  <a:srgbClr val="6B7A8D"/>
                </a:solidFill>
                <a:latin typeface="Calibri" pitchFamily="34" charset="0"/>
                <a:ea typeface="Calibri" pitchFamily="34" charset="-122"/>
                <a:cs typeface="Calibri" pitchFamily="34" charset="-120"/>
              </a:rPr>
              <a:t>² Every input is an AVERAGE balance — average total assets and average shareholders' equity. Period-end figures give a different, and wrong, answer.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11, "DuPont Analysis", Exhibits 32 and 33 (Anson Industries), pp. 433–434.</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fastest diagnostic in analysis: is this ROE move operating (margin, turnover) or financial (leverage)? Three numbers settle it.</a:t>
            </a:r>
            <a:endParaRPr lang="en-US" sz="1300" dirty="0"/>
          </a:p>
        </p:txBody>
      </p:sp>
      <p:sp>
        <p:nvSpPr>
          <p:cNvPr id="10" name="Shape 8"/>
          <p:cNvSpPr/>
          <p:nvPr/>
        </p:nvSpPr>
        <p:spPr>
          <a:xfrm>
            <a:off x="320040" y="1188720"/>
            <a:ext cx="8503920" cy="658368"/>
          </a:xfrm>
          <a:prstGeom prst="rect">
            <a:avLst/>
          </a:prstGeom>
          <a:solidFill>
            <a:srgbClr val="1B2A4A"/>
          </a:solidFill>
          <a:ln/>
        </p:spPr>
      </p:sp>
      <p:sp>
        <p:nvSpPr>
          <p:cNvPr id="11" name="Text 9"/>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ROE = NI/Revenue × Revenue/Avg assets × Avg assets/Avg equity</a:t>
            </a:r>
            <a:endParaRPr lang="en-US" sz="1800" dirty="0"/>
          </a:p>
        </p:txBody>
      </p:sp>
      <p:sp>
        <p:nvSpPr>
          <p:cNvPr id="12" name="Text 10"/>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Net profit margin × Total asset turnover × Financial leverage. The first two multiply to ROA; the third is the only financing term in the chain.</a:t>
            </a:r>
            <a:endParaRPr lang="en-US" sz="11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320040" y="2240280"/>
          <a:ext cx="8503920" cy="914400"/>
        </p:xfrm>
        <a:graphic>
          <a:graphicData uri="http://schemas.openxmlformats.org/drawingml/2006/table">
            <a:tbl>
              <a:tblPr/>
              <a:tblGrid>
                <a:gridCol w="1737360"/>
                <a:gridCol w="1828800"/>
                <a:gridCol w="2011680"/>
                <a:gridCol w="1463040"/>
                <a:gridCol w="14630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Anson Industries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Net profit margin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Total asset turnover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Leverage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ROE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FY2</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−0.47%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0.84×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−0.62%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FY3</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1.13%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0.93×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1.54×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1.62%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FY4</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1.11%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0.95×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1.58×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1.66%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FY5</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3.33%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1.11×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5.92%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FY2 → FY5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+380 bps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+0.27×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flat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+654 bps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The five-way decomposition pulls tax and interest out of the margin — and it is the version the financial databases actually ship</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11, Exhibit 34 and Example 16 (Amsterdam PLC), pp. 436–437.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Use it when the question is "was this operating, financing, or tax?" — because on an earnings call it is almost always one of those three.</a:t>
            </a:r>
            <a:endParaRPr lang="en-US" sz="1300" dirty="0"/>
          </a:p>
        </p:txBody>
      </p:sp>
      <p:sp>
        <p:nvSpPr>
          <p:cNvPr id="9" name="Shape 7"/>
          <p:cNvSpPr/>
          <p:nvPr/>
        </p:nvSpPr>
        <p:spPr>
          <a:xfrm>
            <a:off x="320040" y="1133856"/>
            <a:ext cx="8503920" cy="621792"/>
          </a:xfrm>
          <a:prstGeom prst="rect">
            <a:avLst/>
          </a:prstGeom>
          <a:solidFill>
            <a:srgbClr val="1B2A4A"/>
          </a:solidFill>
          <a:ln/>
        </p:spPr>
      </p:sp>
      <p:sp>
        <p:nvSpPr>
          <p:cNvPr id="10" name="Text 8"/>
          <p:cNvSpPr txBox="1"/>
          <p:nvPr/>
        </p:nvSpPr>
        <p:spPr>
          <a:xfrm>
            <a:off x="411480" y="1133856"/>
            <a:ext cx="8321040" cy="621792"/>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ROE = NI/EBT × EBT/EBIT × EBIT/Rev × Rev/Assets × Assets/Equity</a:t>
            </a:r>
            <a:endParaRPr lang="en-US" sz="1800" dirty="0"/>
          </a:p>
        </p:txBody>
      </p:sp>
      <p:sp>
        <p:nvSpPr>
          <p:cNvPr id="11" name="Text 9"/>
          <p:cNvSpPr txBox="1"/>
          <p:nvPr/>
        </p:nvSpPr>
        <p:spPr>
          <a:xfrm>
            <a:off x="320040" y="178308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Tax burden × Interest burden × EBIT margin × Total asset turnover × Leverage. Tax burden is one minus the average tax rate, so a HIGHER tax burden means a LOWER tax rate — the trap in nearly every exam question on this.</a:t>
            </a:r>
            <a:endParaRPr lang="en-US" sz="11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320040" y="2103120"/>
          <a:ext cx="8503920" cy="914400"/>
        </p:xfrm>
        <a:graphic>
          <a:graphicData uri="http://schemas.openxmlformats.org/drawingml/2006/table">
            <a:tbl>
              <a:tblPr/>
              <a:tblGrid>
                <a:gridCol w="1554480"/>
                <a:gridCol w="1234440"/>
                <a:gridCol w="1463040"/>
                <a:gridCol w="1234440"/>
                <a:gridCol w="1051560"/>
                <a:gridCol w="1051560"/>
                <a:gridCol w="9144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Amsterdam PLC</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Tax burden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Interest burden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EBIT margin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Asset TO</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Leverage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ROE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2014</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58.96%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97.49%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13.98%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1.44×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2.14×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24.72%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2015</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63.12%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97.86%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13.98%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1.47×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26.50%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2016</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52.10%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97.73%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11.04%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1.71×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2.17×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20.78%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2017</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60.50%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97.49%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7.56%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0.99×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2.15×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9.53%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3" name="Shape 10"/>
          <p:cNvSpPr/>
          <p:nvPr/>
        </p:nvSpPr>
        <p:spPr>
          <a:xfrm>
            <a:off x="320040" y="3621024"/>
            <a:ext cx="8503920" cy="676656"/>
          </a:xfrm>
          <a:prstGeom prst="rect">
            <a:avLst/>
          </a:prstGeom>
          <a:solidFill>
            <a:srgbClr val="FEF0E7"/>
          </a:solidFill>
          <a:ln/>
        </p:spPr>
      </p:sp>
      <p:sp>
        <p:nvSpPr>
          <p:cNvPr id="14" name="Shape 11"/>
          <p:cNvSpPr/>
          <p:nvPr/>
        </p:nvSpPr>
        <p:spPr>
          <a:xfrm>
            <a:off x="320040" y="3621024"/>
            <a:ext cx="73152" cy="676656"/>
          </a:xfrm>
          <a:prstGeom prst="rect">
            <a:avLst/>
          </a:prstGeom>
          <a:solidFill>
            <a:srgbClr val="E8600A"/>
          </a:solidFill>
          <a:ln/>
        </p:spPr>
      </p:sp>
      <p:sp>
        <p:nvSpPr>
          <p:cNvPr id="15" name="Text 12"/>
          <p:cNvSpPr txBox="1"/>
          <p:nvPr/>
        </p:nvSpPr>
        <p:spPr>
          <a:xfrm>
            <a:off x="457200" y="3666744"/>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READING THE 2015 TO 2017 SLIDE</a:t>
            </a:r>
            <a:endParaRPr lang="en-US" sz="1100" dirty="0"/>
          </a:p>
        </p:txBody>
      </p:sp>
      <p:sp>
        <p:nvSpPr>
          <p:cNvPr id="16" name="Text 13"/>
          <p:cNvSpPr txBox="1"/>
          <p:nvPr/>
        </p:nvSpPr>
        <p:spPr>
          <a:xfrm>
            <a:off x="457200" y="3941064"/>
            <a:ext cx="8275320" cy="310896"/>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ROE fell from 26.50% to 9.53% in two years. EBIT margin gave up 642 bps and asset turnover 0.48× — between them, the entire move. Interest burden and leverage barely shifted.</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06</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3-statement</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modeling basics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6 of 6  ·  Deck 8 of 20  ·  Studio Tonton Gug</a:t>
            </a:r>
            <a:endParaRPr lang="en-US" sz="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three-statement model is built in one order and only one — revenue down to net income, then the cash flow statement, and the balance sheet last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12, "Building a Financial Statement Model", Exhibits 2 and 9 (Rémy Cointreau), pp. 455–466.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curriculum builds it on Rémy Cointreau, a French spirits group. Cognac was 73% of FY2021 revenue and 94% of operating profit — so this is really a cognac model.</a:t>
            </a:r>
            <a:endParaRPr lang="en-US" sz="1300" dirty="0"/>
          </a:p>
        </p:txBody>
      </p:sp>
      <p:sp>
        <p:nvSpPr>
          <p:cNvPr id="9" name="Shape 7"/>
          <p:cNvSpPr/>
          <p:nvPr/>
        </p:nvSpPr>
        <p:spPr>
          <a:xfrm>
            <a:off x="320040" y="1188720"/>
            <a:ext cx="8503920" cy="484632"/>
          </a:xfrm>
          <a:prstGeom prst="rect">
            <a:avLst/>
          </a:prstGeom>
          <a:solidFill>
            <a:srgbClr val="FFFFFF"/>
          </a:solidFill>
          <a:ln/>
        </p:spPr>
      </p:sp>
      <p:sp>
        <p:nvSpPr>
          <p:cNvPr id="10" name="Shape 8"/>
          <p:cNvSpPr/>
          <p:nvPr/>
        </p:nvSpPr>
        <p:spPr>
          <a:xfrm>
            <a:off x="320040" y="1188720"/>
            <a:ext cx="91440" cy="484632"/>
          </a:xfrm>
          <a:prstGeom prst="rect">
            <a:avLst/>
          </a:prstGeom>
          <a:solidFill>
            <a:srgbClr val="E8600A"/>
          </a:solidFill>
          <a:ln/>
        </p:spPr>
      </p:sp>
      <p:sp>
        <p:nvSpPr>
          <p:cNvPr id="11" name="Text 9"/>
          <p:cNvSpPr txBox="1"/>
          <p:nvPr/>
        </p:nvSpPr>
        <p:spPr>
          <a:xfrm>
            <a:off x="502920" y="1188720"/>
            <a:ext cx="365760" cy="48463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1</a:t>
            </a:r>
            <a:endParaRPr lang="en-US" sz="1300" dirty="0"/>
          </a:p>
        </p:txBody>
      </p:sp>
      <p:sp>
        <p:nvSpPr>
          <p:cNvPr id="12" name="Text 10"/>
          <p:cNvSpPr txBox="1"/>
          <p:nvPr/>
        </p:nvSpPr>
        <p:spPr>
          <a:xfrm>
            <a:off x="868680" y="1225296"/>
            <a:ext cx="7863840" cy="21808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Revenue, forecast by segment</a:t>
            </a:r>
            <a:endParaRPr lang="en-US" sz="1200" dirty="0"/>
          </a:p>
        </p:txBody>
      </p:sp>
      <p:sp>
        <p:nvSpPr>
          <p:cNvPr id="13" name="Text 11"/>
          <p:cNvSpPr txBox="1"/>
          <p:nvPr/>
        </p:nvSpPr>
        <p:spPr>
          <a:xfrm>
            <a:off x="868680" y="1406804"/>
            <a:ext cx="7863840" cy="26654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Volume and price/mix separately. Rémy 2022E: 7% volume and 4% price/mix compound to 11.3% organic growth.</a:t>
            </a:r>
            <a:endParaRPr lang="en-US" sz="1200" dirty="0"/>
          </a:p>
        </p:txBody>
      </p:sp>
      <p:sp>
        <p:nvSpPr>
          <p:cNvPr id="14" name="Shape 12"/>
          <p:cNvSpPr/>
          <p:nvPr/>
        </p:nvSpPr>
        <p:spPr>
          <a:xfrm>
            <a:off x="320040" y="1709928"/>
            <a:ext cx="8503920" cy="484632"/>
          </a:xfrm>
          <a:prstGeom prst="rect">
            <a:avLst/>
          </a:prstGeom>
          <a:solidFill>
            <a:srgbClr val="F5F7FA"/>
          </a:solidFill>
          <a:ln/>
        </p:spPr>
      </p:sp>
      <p:sp>
        <p:nvSpPr>
          <p:cNvPr id="15" name="Shape 13"/>
          <p:cNvSpPr/>
          <p:nvPr/>
        </p:nvSpPr>
        <p:spPr>
          <a:xfrm>
            <a:off x="320040" y="1709928"/>
            <a:ext cx="91440" cy="484632"/>
          </a:xfrm>
          <a:prstGeom prst="rect">
            <a:avLst/>
          </a:prstGeom>
          <a:solidFill>
            <a:srgbClr val="E8600A"/>
          </a:solidFill>
          <a:ln/>
        </p:spPr>
      </p:sp>
      <p:sp>
        <p:nvSpPr>
          <p:cNvPr id="16" name="Text 14"/>
          <p:cNvSpPr txBox="1"/>
          <p:nvPr/>
        </p:nvSpPr>
        <p:spPr>
          <a:xfrm>
            <a:off x="502920" y="1709928"/>
            <a:ext cx="365760" cy="48463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2</a:t>
            </a:r>
            <a:endParaRPr lang="en-US" sz="1300" dirty="0"/>
          </a:p>
        </p:txBody>
      </p:sp>
      <p:sp>
        <p:nvSpPr>
          <p:cNvPr id="17" name="Text 15"/>
          <p:cNvSpPr txBox="1"/>
          <p:nvPr/>
        </p:nvSpPr>
        <p:spPr>
          <a:xfrm>
            <a:off x="868680" y="1746504"/>
            <a:ext cx="7863840" cy="21808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Operating expenses — COGS then SG&amp;A</a:t>
            </a:r>
            <a:endParaRPr lang="en-US" sz="1200" dirty="0"/>
          </a:p>
        </p:txBody>
      </p:sp>
      <p:sp>
        <p:nvSpPr>
          <p:cNvPr id="18" name="Text 16"/>
          <p:cNvSpPr txBox="1"/>
          <p:nvPr/>
        </p:nvSpPr>
        <p:spPr>
          <a:xfrm>
            <a:off x="868680" y="1928012"/>
            <a:ext cx="7863840" cy="26654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Held near historical margins or mean-reverted. Segment forecasts checked back against the group total.</a:t>
            </a:r>
            <a:endParaRPr lang="en-US" sz="1200" dirty="0"/>
          </a:p>
        </p:txBody>
      </p:sp>
      <p:sp>
        <p:nvSpPr>
          <p:cNvPr id="19" name="Shape 17"/>
          <p:cNvSpPr/>
          <p:nvPr/>
        </p:nvSpPr>
        <p:spPr>
          <a:xfrm>
            <a:off x="320040" y="2231136"/>
            <a:ext cx="8503920" cy="484632"/>
          </a:xfrm>
          <a:prstGeom prst="rect">
            <a:avLst/>
          </a:prstGeom>
          <a:solidFill>
            <a:srgbClr val="FFFFFF"/>
          </a:solidFill>
          <a:ln/>
        </p:spPr>
      </p:sp>
      <p:sp>
        <p:nvSpPr>
          <p:cNvPr id="20" name="Shape 18"/>
          <p:cNvSpPr/>
          <p:nvPr/>
        </p:nvSpPr>
        <p:spPr>
          <a:xfrm>
            <a:off x="320040" y="2231136"/>
            <a:ext cx="91440" cy="484632"/>
          </a:xfrm>
          <a:prstGeom prst="rect">
            <a:avLst/>
          </a:prstGeom>
          <a:solidFill>
            <a:srgbClr val="E8600A"/>
          </a:solidFill>
          <a:ln/>
        </p:spPr>
      </p:sp>
      <p:sp>
        <p:nvSpPr>
          <p:cNvPr id="21" name="Text 19"/>
          <p:cNvSpPr txBox="1"/>
          <p:nvPr/>
        </p:nvSpPr>
        <p:spPr>
          <a:xfrm>
            <a:off x="502920" y="2231136"/>
            <a:ext cx="365760" cy="48463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3</a:t>
            </a:r>
            <a:endParaRPr lang="en-US" sz="1300" dirty="0"/>
          </a:p>
        </p:txBody>
      </p:sp>
      <p:sp>
        <p:nvSpPr>
          <p:cNvPr id="22" name="Text 20"/>
          <p:cNvSpPr txBox="1"/>
          <p:nvPr/>
        </p:nvSpPr>
        <p:spPr>
          <a:xfrm>
            <a:off x="868680" y="2267712"/>
            <a:ext cx="7863840" cy="21808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Pro forma EBIT</a:t>
            </a:r>
            <a:endParaRPr lang="en-US" sz="1200" dirty="0"/>
          </a:p>
        </p:txBody>
      </p:sp>
      <p:sp>
        <p:nvSpPr>
          <p:cNvPr id="23" name="Text 21"/>
          <p:cNvSpPr txBox="1"/>
          <p:nvPr/>
        </p:nvSpPr>
        <p:spPr>
          <a:xfrm>
            <a:off x="868680" y="2449220"/>
            <a:ext cx="7863840" cy="26654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Rémy 2022E EBIT margin 24.8%, rising to 27.6% by 2024E as the pandemic mix effects unwind.</a:t>
            </a:r>
            <a:endParaRPr lang="en-US" sz="1200" dirty="0"/>
          </a:p>
        </p:txBody>
      </p:sp>
      <p:sp>
        <p:nvSpPr>
          <p:cNvPr id="24" name="Shape 22"/>
          <p:cNvSpPr/>
          <p:nvPr/>
        </p:nvSpPr>
        <p:spPr>
          <a:xfrm>
            <a:off x="320040" y="2752344"/>
            <a:ext cx="8503920" cy="484632"/>
          </a:xfrm>
          <a:prstGeom prst="rect">
            <a:avLst/>
          </a:prstGeom>
          <a:solidFill>
            <a:srgbClr val="F5F7FA"/>
          </a:solidFill>
          <a:ln/>
        </p:spPr>
      </p:sp>
      <p:sp>
        <p:nvSpPr>
          <p:cNvPr id="25" name="Shape 23"/>
          <p:cNvSpPr/>
          <p:nvPr/>
        </p:nvSpPr>
        <p:spPr>
          <a:xfrm>
            <a:off x="320040" y="2752344"/>
            <a:ext cx="91440" cy="484632"/>
          </a:xfrm>
          <a:prstGeom prst="rect">
            <a:avLst/>
          </a:prstGeom>
          <a:solidFill>
            <a:srgbClr val="E8600A"/>
          </a:solidFill>
          <a:ln/>
        </p:spPr>
      </p:sp>
      <p:sp>
        <p:nvSpPr>
          <p:cNvPr id="26" name="Text 24"/>
          <p:cNvSpPr txBox="1"/>
          <p:nvPr/>
        </p:nvSpPr>
        <p:spPr>
          <a:xfrm>
            <a:off x="502920" y="2752344"/>
            <a:ext cx="365760" cy="48463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4</a:t>
            </a:r>
            <a:endParaRPr lang="en-US" sz="1300" dirty="0"/>
          </a:p>
        </p:txBody>
      </p:sp>
      <p:sp>
        <p:nvSpPr>
          <p:cNvPr id="27" name="Text 25"/>
          <p:cNvSpPr txBox="1"/>
          <p:nvPr/>
        </p:nvSpPr>
        <p:spPr>
          <a:xfrm>
            <a:off x="868680" y="2788920"/>
            <a:ext cx="7863840" cy="21808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Non-operating: interest, tax, shares</a:t>
            </a:r>
            <a:endParaRPr lang="en-US" sz="1200" dirty="0"/>
          </a:p>
        </p:txBody>
      </p:sp>
      <p:sp>
        <p:nvSpPr>
          <p:cNvPr id="28" name="Text 26"/>
          <p:cNvSpPr txBox="1"/>
          <p:nvPr/>
        </p:nvSpPr>
        <p:spPr>
          <a:xfrm>
            <a:off x="868680" y="2970428"/>
            <a:ext cx="7863840" cy="26654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Interest off the debt schedule, tax at a normalised 32% effective rate, diluted share count for EPS.</a:t>
            </a:r>
            <a:endParaRPr lang="en-US" sz="1200" dirty="0"/>
          </a:p>
        </p:txBody>
      </p:sp>
      <p:sp>
        <p:nvSpPr>
          <p:cNvPr id="29" name="Shape 27"/>
          <p:cNvSpPr/>
          <p:nvPr/>
        </p:nvSpPr>
        <p:spPr>
          <a:xfrm>
            <a:off x="320040" y="3273552"/>
            <a:ext cx="8503920" cy="484632"/>
          </a:xfrm>
          <a:prstGeom prst="rect">
            <a:avLst/>
          </a:prstGeom>
          <a:solidFill>
            <a:srgbClr val="FFFFFF"/>
          </a:solidFill>
          <a:ln/>
        </p:spPr>
      </p:sp>
      <p:sp>
        <p:nvSpPr>
          <p:cNvPr id="30" name="Shape 28"/>
          <p:cNvSpPr/>
          <p:nvPr/>
        </p:nvSpPr>
        <p:spPr>
          <a:xfrm>
            <a:off x="320040" y="3273552"/>
            <a:ext cx="91440" cy="484632"/>
          </a:xfrm>
          <a:prstGeom prst="rect">
            <a:avLst/>
          </a:prstGeom>
          <a:solidFill>
            <a:srgbClr val="E8600A"/>
          </a:solidFill>
          <a:ln/>
        </p:spPr>
      </p:sp>
      <p:sp>
        <p:nvSpPr>
          <p:cNvPr id="31" name="Text 29"/>
          <p:cNvSpPr txBox="1"/>
          <p:nvPr/>
        </p:nvSpPr>
        <p:spPr>
          <a:xfrm>
            <a:off x="502920" y="3273552"/>
            <a:ext cx="365760" cy="48463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5</a:t>
            </a:r>
            <a:endParaRPr lang="en-US" sz="1300" dirty="0"/>
          </a:p>
        </p:txBody>
      </p:sp>
      <p:sp>
        <p:nvSpPr>
          <p:cNvPr id="32" name="Text 30"/>
          <p:cNvSpPr txBox="1"/>
          <p:nvPr/>
        </p:nvSpPr>
        <p:spPr>
          <a:xfrm>
            <a:off x="868680" y="3310128"/>
            <a:ext cx="7863840" cy="21808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Statement of cash flows</a:t>
            </a:r>
            <a:endParaRPr lang="en-US" sz="1200" dirty="0"/>
          </a:p>
        </p:txBody>
      </p:sp>
      <p:sp>
        <p:nvSpPr>
          <p:cNvPr id="33" name="Text 31"/>
          <p:cNvSpPr txBox="1"/>
          <p:nvPr/>
        </p:nvSpPr>
        <p:spPr>
          <a:xfrm>
            <a:off x="868680" y="3491636"/>
            <a:ext cx="7863840" cy="26654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Start at net income; add D&amp;A and share-based comp; then working capital, capex, buybacks, dividends, debt.</a:t>
            </a:r>
            <a:endParaRPr lang="en-US" sz="1200" dirty="0"/>
          </a:p>
        </p:txBody>
      </p:sp>
      <p:sp>
        <p:nvSpPr>
          <p:cNvPr id="34" name="Shape 32"/>
          <p:cNvSpPr/>
          <p:nvPr/>
        </p:nvSpPr>
        <p:spPr>
          <a:xfrm>
            <a:off x="320040" y="3794760"/>
            <a:ext cx="8503920" cy="484632"/>
          </a:xfrm>
          <a:prstGeom prst="rect">
            <a:avLst/>
          </a:prstGeom>
          <a:solidFill>
            <a:srgbClr val="F5F7FA"/>
          </a:solidFill>
          <a:ln/>
        </p:spPr>
      </p:sp>
      <p:sp>
        <p:nvSpPr>
          <p:cNvPr id="35" name="Shape 33"/>
          <p:cNvSpPr/>
          <p:nvPr/>
        </p:nvSpPr>
        <p:spPr>
          <a:xfrm>
            <a:off x="320040" y="3794760"/>
            <a:ext cx="91440" cy="484632"/>
          </a:xfrm>
          <a:prstGeom prst="rect">
            <a:avLst/>
          </a:prstGeom>
          <a:solidFill>
            <a:srgbClr val="E8600A"/>
          </a:solidFill>
          <a:ln/>
        </p:spPr>
      </p:sp>
      <p:sp>
        <p:nvSpPr>
          <p:cNvPr id="36" name="Text 34"/>
          <p:cNvSpPr txBox="1"/>
          <p:nvPr/>
        </p:nvSpPr>
        <p:spPr>
          <a:xfrm>
            <a:off x="502920" y="3794760"/>
            <a:ext cx="365760" cy="48463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6</a:t>
            </a:r>
            <a:endParaRPr lang="en-US" sz="1300" dirty="0"/>
          </a:p>
        </p:txBody>
      </p:sp>
      <p:sp>
        <p:nvSpPr>
          <p:cNvPr id="37" name="Text 35"/>
          <p:cNvSpPr txBox="1"/>
          <p:nvPr/>
        </p:nvSpPr>
        <p:spPr>
          <a:xfrm>
            <a:off x="868680" y="3831336"/>
            <a:ext cx="7863840" cy="21808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Balance sheet last — it is linking</a:t>
            </a:r>
            <a:endParaRPr lang="en-US" sz="1200" dirty="0"/>
          </a:p>
        </p:txBody>
      </p:sp>
      <p:sp>
        <p:nvSpPr>
          <p:cNvPr id="38" name="Text 36"/>
          <p:cNvSpPr txBox="1"/>
          <p:nvPr/>
        </p:nvSpPr>
        <p:spPr>
          <a:xfrm>
            <a:off x="868680" y="4012844"/>
            <a:ext cx="7863840" cy="26654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With the income statement and cash flows done, the balance sheet largely falls out. If it will not tie, the error is upstream.</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Working capital is forecast in DAYS, not in currency — and in an inventory-heavy business it swings cash flow harder than the margin does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Cash conversion cycle = DOH + DSO − days of payables. Rémy FY2021: 1,650 + 57 − 648 = 1,059 days. Cognac must age before anyone drinks it.
</a:t>
            </a:r>
            <a:pPr indent="0" marL="0">
              <a:buNone/>
            </a:pPr>
            <a:r>
              <a:rPr lang="en-US" sz="1000" dirty="0">
                <a:solidFill>
                  <a:srgbClr val="6B7A8D"/>
                </a:solidFill>
                <a:latin typeface="Calibri" pitchFamily="34" charset="0"/>
                <a:ea typeface="Calibri" pitchFamily="34" charset="-122"/>
                <a:cs typeface="Calibri" pitchFamily="34" charset="-120"/>
              </a:rPr>
              <a:t>² Sign convention: a FALL in net working capital is a source of cash, so it prints as a positive on the cash flow statement.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12, "Working Capital Forecasts", Exhibit 11 (Rémy Cointreau), p. 465; cash conversion cycle per Learning Module 11, Exhibit 22, p. 418.</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DOH = 365 × inventory ÷ COGS · DSO = 365 × receivables ÷ revenue · days of payables = 365 × trade payables ÷ COGS.</a:t>
            </a:r>
            <a:endParaRPr lang="en-US" sz="13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377440"/>
                <a:gridCol w="1225296"/>
                <a:gridCol w="1225296"/>
                <a:gridCol w="1225296"/>
                <a:gridCol w="1225296"/>
                <a:gridCol w="1225296"/>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Rémy Cointreau (EUR 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FY2020</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FY2021</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FY2022E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FY2023E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FY2024E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Inventories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1,364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1,493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1,426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1,340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1,245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Accounts receivable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199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171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185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Accounts payable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534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586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597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604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Net working capital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1,029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1,065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922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835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As a percent of sales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Days inventory on hand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1,431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1,650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1,350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Days sales outstanding</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Days payables outstanding</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561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648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628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608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588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Cash from Δ working capital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−56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−36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+64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+79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+87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Scenario analysis is the curriculum remedy for overconfidence — and on Rémy the lowest-growth scenario produces the HIGHEST near-term free cash flow</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Studies cited by the curriculum find 90% confidence intervals wrong as often as 40% of the time. Ask where you could be wrong, and by how much.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12, "Overconfidence in Forecasting", Example 1 and Exhibit 15 (Rémy Cointreau), p. 469.</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Three coherent bundles of assumptions, not three tweaks to one number. Growth, margin and working capital all move together within each row.</a:t>
            </a:r>
            <a:endParaRPr lang="en-US" sz="13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691640"/>
                <a:gridCol w="1371600"/>
                <a:gridCol w="1280160"/>
                <a:gridCol w="1097280"/>
                <a:gridCol w="1051560"/>
                <a:gridCol w="1051560"/>
                <a:gridCol w="9601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Scenario</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Organic growth</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EBIT margin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WC % sales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FCFF 22E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FCFF 23E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FCFF 24E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Base case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11.3 → 10.2%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24.8 → 27.6%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91 → 65%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267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Alt scenario 1</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4.0% flat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23.6% flat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86% flat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318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133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Alt scenario 2</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As base case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25.0% flat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90% flat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240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1" name="Shape 8"/>
          <p:cNvSpPr/>
          <p:nvPr/>
        </p:nvSpPr>
        <p:spPr>
          <a:xfrm>
            <a:off x="320040" y="2468880"/>
            <a:ext cx="8503920" cy="1737360"/>
          </a:xfrm>
          <a:prstGeom prst="rect">
            <a:avLst/>
          </a:prstGeom>
          <a:solidFill>
            <a:srgbClr val="FEF0E7"/>
          </a:solidFill>
          <a:ln w="9525">
            <a:solidFill>
              <a:srgbClr val="E8600A"/>
            </a:solidFill>
            <a:prstDash val="solid"/>
          </a:ln>
        </p:spPr>
      </p:sp>
      <p:sp>
        <p:nvSpPr>
          <p:cNvPr id="12" name="Text 9"/>
          <p:cNvSpPr txBox="1"/>
          <p:nvPr/>
        </p:nvSpPr>
        <p:spPr>
          <a:xfrm>
            <a:off x="457200" y="251460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COUNTER-INTUITIVE RESULT  ·  READ THE 2022E COLUMN DOWNWARDS</a:t>
            </a:r>
            <a:endParaRPr lang="en-US" sz="1100" dirty="0"/>
          </a:p>
        </p:txBody>
      </p:sp>
      <p:sp>
        <p:nvSpPr>
          <p:cNvPr id="13" name="Text 10"/>
          <p:cNvSpPr txBox="1"/>
          <p:nvPr/>
        </p:nvSpPr>
        <p:spPr>
          <a:xfrm>
            <a:off x="457200" y="2807208"/>
            <a:ext cx="8229600" cy="886968"/>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Scenario 1 carries the LOWEST growth and the LOWEST margin of the three — 4.0% and 23.6%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Yet its 2022E free cash flow is the HIGHEST of the three: EUR 318m against EUR 230m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One line explains it: working capital at 86% of sales rather than 91% releases cash now</a:t>
            </a:r>
            <a:endParaRPr lang="en-US" sz="1200" dirty="0"/>
          </a:p>
        </p:txBody>
      </p:sp>
      <p:sp>
        <p:nvSpPr>
          <p:cNvPr id="14" name="Shape 11"/>
          <p:cNvSpPr/>
          <p:nvPr/>
        </p:nvSpPr>
        <p:spPr>
          <a:xfrm>
            <a:off x="411480" y="3767328"/>
            <a:ext cx="8321040" cy="365760"/>
          </a:xfrm>
          <a:prstGeom prst="rect">
            <a:avLst/>
          </a:prstGeom>
          <a:solidFill>
            <a:srgbClr val="E8600A"/>
          </a:solidFill>
          <a:ln/>
        </p:spPr>
      </p:sp>
      <p:sp>
        <p:nvSpPr>
          <p:cNvPr id="15" name="Text 12"/>
          <p:cNvSpPr txBox="1"/>
          <p:nvPr/>
        </p:nvSpPr>
        <p:spPr>
          <a:xfrm>
            <a:off x="457200" y="376732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Over one year working capital beat both growth and margin. Over three, the base case wins by far.</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22860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KEY TAKEAWAYS</a:t>
            </a:r>
            <a:endParaRPr lang="en-US" sz="1100" dirty="0"/>
          </a:p>
        </p:txBody>
      </p:sp>
      <p:sp>
        <p:nvSpPr>
          <p:cNvPr id="5" name="Text 3"/>
          <p:cNvSpPr txBox="1"/>
          <p:nvPr/>
        </p:nvSpPr>
        <p:spPr>
          <a:xfrm>
            <a:off x="457200" y="640080"/>
            <a:ext cx="8229600" cy="475488"/>
          </a:xfrm>
          <a:prstGeom prst="rect">
            <a:avLst/>
          </a:prstGeom>
          <a:noFill/>
          <a:ln/>
        </p:spPr>
        <p:txBody>
          <a:bodyPr wrap="square" lIns="508" tIns="508" rIns="508" bIns="508" rtlCol="0" anchor="t">
            <a:normAutofit/>
            <a:spAutoFit/>
          </a:bodyPr>
          <a:lstStyle/>
          <a:p>
            <a:pPr algn="l" indent="0" marL="0">
              <a:buNone/>
            </a:pPr>
            <a:r>
              <a:rPr lang="en-US" sz="1700" b="1" dirty="0">
                <a:solidFill>
                  <a:srgbClr val="1B2A4A"/>
                </a:solidFill>
                <a:latin typeface="Trebuchet MS" pitchFamily="34" charset="0"/>
                <a:ea typeface="Trebuchet MS" pitchFamily="34" charset="-122"/>
                <a:cs typeface="Trebuchet MS" pitchFamily="34" charset="-120"/>
              </a:rPr>
              <a:t>Deck 8 — FSA III — Taxes, Liabilities, Quality, Ratios &amp; Modeling</a:t>
            </a:r>
            <a:endParaRPr lang="en-US" sz="1700" dirty="0"/>
          </a:p>
        </p:txBody>
      </p:sp>
      <p:sp>
        <p:nvSpPr>
          <p:cNvPr id="6" name="Shape 4"/>
          <p:cNvSpPr/>
          <p:nvPr/>
        </p:nvSpPr>
        <p:spPr>
          <a:xfrm>
            <a:off x="457200" y="1261872"/>
            <a:ext cx="4046220" cy="749808"/>
          </a:xfrm>
          <a:prstGeom prst="rect">
            <a:avLst/>
          </a:prstGeom>
          <a:solidFill>
            <a:srgbClr val="253A5E"/>
          </a:solidFill>
          <a:ln/>
        </p:spPr>
      </p:sp>
      <p:sp>
        <p:nvSpPr>
          <p:cNvPr id="7" name="Shape 5"/>
          <p:cNvSpPr/>
          <p:nvPr/>
        </p:nvSpPr>
        <p:spPr>
          <a:xfrm>
            <a:off x="621792" y="1389888"/>
            <a:ext cx="128016" cy="128016"/>
          </a:xfrm>
          <a:prstGeom prst="rect">
            <a:avLst/>
          </a:prstGeom>
          <a:solidFill>
            <a:srgbClr val="E8600A"/>
          </a:solidFill>
          <a:ln/>
        </p:spPr>
      </p:sp>
      <p:sp>
        <p:nvSpPr>
          <p:cNvPr id="8" name="Text 6"/>
          <p:cNvSpPr txBox="1"/>
          <p:nvPr/>
        </p:nvSpPr>
        <p:spPr>
          <a:xfrm>
            <a:off x="82296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Any ONE of five criteria makes a lease a finance lease. Either way it capitalises: ROU asset = lease liability = PV of payments. Only the lessee income statement differs, and only under US GAAP.</a:t>
            </a:r>
            <a:endParaRPr lang="en-US" sz="1150" dirty="0"/>
          </a:p>
        </p:txBody>
      </p:sp>
      <p:sp>
        <p:nvSpPr>
          <p:cNvPr id="9" name="Shape 7"/>
          <p:cNvSpPr/>
          <p:nvPr/>
        </p:nvSpPr>
        <p:spPr>
          <a:xfrm>
            <a:off x="4640580" y="1261872"/>
            <a:ext cx="4046220" cy="749808"/>
          </a:xfrm>
          <a:prstGeom prst="rect">
            <a:avLst/>
          </a:prstGeom>
          <a:solidFill>
            <a:srgbClr val="253A5E"/>
          </a:solidFill>
          <a:ln/>
        </p:spPr>
      </p:sp>
      <p:sp>
        <p:nvSpPr>
          <p:cNvPr id="10" name="Shape 8"/>
          <p:cNvSpPr/>
          <p:nvPr/>
        </p:nvSpPr>
        <p:spPr>
          <a:xfrm>
            <a:off x="4805172" y="1389888"/>
            <a:ext cx="128016" cy="128016"/>
          </a:xfrm>
          <a:prstGeom prst="rect">
            <a:avLst/>
          </a:prstGeom>
          <a:solidFill>
            <a:srgbClr val="E8600A"/>
          </a:solidFill>
          <a:ln/>
        </p:spPr>
      </p:sp>
      <p:sp>
        <p:nvSpPr>
          <p:cNvPr id="11" name="Text 9"/>
          <p:cNvSpPr txBox="1"/>
          <p:nvPr/>
        </p:nvSpPr>
        <p:spPr>
          <a:xfrm>
            <a:off x="500634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Proton: EUR 500,000 of cash and EUR 500,000 of expense under both classifications. The finance lease front-loads because interest falls on a shrinking balance while amortisation stays flat.</a:t>
            </a:r>
            <a:endParaRPr lang="en-US" sz="1150" dirty="0"/>
          </a:p>
        </p:txBody>
      </p:sp>
      <p:sp>
        <p:nvSpPr>
          <p:cNvPr id="12" name="Shape 10"/>
          <p:cNvSpPr/>
          <p:nvPr/>
        </p:nvSpPr>
        <p:spPr>
          <a:xfrm>
            <a:off x="457200" y="2084832"/>
            <a:ext cx="4046220" cy="749808"/>
          </a:xfrm>
          <a:prstGeom prst="rect">
            <a:avLst/>
          </a:prstGeom>
          <a:solidFill>
            <a:srgbClr val="253A5E"/>
          </a:solidFill>
          <a:ln/>
        </p:spPr>
      </p:sp>
      <p:sp>
        <p:nvSpPr>
          <p:cNvPr id="13" name="Shape 11"/>
          <p:cNvSpPr/>
          <p:nvPr/>
        </p:nvSpPr>
        <p:spPr>
          <a:xfrm>
            <a:off x="621792" y="2212848"/>
            <a:ext cx="128016" cy="128016"/>
          </a:xfrm>
          <a:prstGeom prst="rect">
            <a:avLst/>
          </a:prstGeom>
          <a:solidFill>
            <a:srgbClr val="E8600A"/>
          </a:solidFill>
          <a:ln/>
        </p:spPr>
      </p:sp>
      <p:sp>
        <p:nvSpPr>
          <p:cNvPr id="14" name="Text 12"/>
          <p:cNvSpPr txBox="1"/>
          <p:nvPr/>
        </p:nvSpPr>
        <p:spPr>
          <a:xfrm>
            <a:off x="82296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DC hands every risk to the employee. DB keeps it — the obligation rolls forward from service, interest, past service, actuarial remeasurement and benefits paid, and only some of that reaches profit.</a:t>
            </a:r>
            <a:endParaRPr lang="en-US" sz="1150" dirty="0"/>
          </a:p>
        </p:txBody>
      </p:sp>
      <p:sp>
        <p:nvSpPr>
          <p:cNvPr id="15" name="Shape 13"/>
          <p:cNvSpPr/>
          <p:nvPr/>
        </p:nvSpPr>
        <p:spPr>
          <a:xfrm>
            <a:off x="4640580" y="2084832"/>
            <a:ext cx="4046220" cy="749808"/>
          </a:xfrm>
          <a:prstGeom prst="rect">
            <a:avLst/>
          </a:prstGeom>
          <a:solidFill>
            <a:srgbClr val="253A5E"/>
          </a:solidFill>
          <a:ln/>
        </p:spPr>
      </p:sp>
      <p:sp>
        <p:nvSpPr>
          <p:cNvPr id="16" name="Shape 14"/>
          <p:cNvSpPr/>
          <p:nvPr/>
        </p:nvSpPr>
        <p:spPr>
          <a:xfrm>
            <a:off x="4805172" y="2212848"/>
            <a:ext cx="128016" cy="128016"/>
          </a:xfrm>
          <a:prstGeom prst="rect">
            <a:avLst/>
          </a:prstGeom>
          <a:solidFill>
            <a:srgbClr val="E8600A"/>
          </a:solidFill>
          <a:ln/>
        </p:spPr>
      </p:sp>
      <p:sp>
        <p:nvSpPr>
          <p:cNvPr id="17" name="Text 15"/>
          <p:cNvSpPr txBox="1"/>
          <p:nvPr/>
        </p:nvSpPr>
        <p:spPr>
          <a:xfrm>
            <a:off x="500634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Carrying amount above tax base on an ASSET means a deferred tax liability. Reston: the DTL builds 257, 514, 771, and income tax expense still lands at exactly 30% of book profit.</a:t>
            </a:r>
            <a:endParaRPr lang="en-US" sz="1150" dirty="0"/>
          </a:p>
        </p:txBody>
      </p:sp>
      <p:sp>
        <p:nvSpPr>
          <p:cNvPr id="18" name="Shape 16"/>
          <p:cNvSpPr/>
          <p:nvPr/>
        </p:nvSpPr>
        <p:spPr>
          <a:xfrm>
            <a:off x="457200" y="2907792"/>
            <a:ext cx="4046220" cy="749808"/>
          </a:xfrm>
          <a:prstGeom prst="rect">
            <a:avLst/>
          </a:prstGeom>
          <a:solidFill>
            <a:srgbClr val="253A5E"/>
          </a:solidFill>
          <a:ln/>
        </p:spPr>
      </p:sp>
      <p:sp>
        <p:nvSpPr>
          <p:cNvPr id="19" name="Shape 17"/>
          <p:cNvSpPr/>
          <p:nvPr/>
        </p:nvSpPr>
        <p:spPr>
          <a:xfrm>
            <a:off x="621792" y="3035808"/>
            <a:ext cx="128016" cy="128016"/>
          </a:xfrm>
          <a:prstGeom prst="rect">
            <a:avLst/>
          </a:prstGeom>
          <a:solidFill>
            <a:srgbClr val="E8600A"/>
          </a:solidFill>
          <a:ln/>
        </p:spPr>
      </p:sp>
      <p:sp>
        <p:nvSpPr>
          <p:cNvPr id="20" name="Text 18"/>
          <p:cNvSpPr txBox="1"/>
          <p:nvPr/>
        </p:nvSpPr>
        <p:spPr>
          <a:xfrm>
            <a:off x="82296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Statutory, effective and cash tax rates answer different questions. J&amp;J ran an 8.3% effective rate against 21% statutory, and one line — international operations — did almost all of it.</a:t>
            </a:r>
            <a:endParaRPr lang="en-US" sz="1150" dirty="0"/>
          </a:p>
        </p:txBody>
      </p:sp>
      <p:sp>
        <p:nvSpPr>
          <p:cNvPr id="21" name="Shape 19"/>
          <p:cNvSpPr/>
          <p:nvPr/>
        </p:nvSpPr>
        <p:spPr>
          <a:xfrm>
            <a:off x="4640580" y="2907792"/>
            <a:ext cx="4046220" cy="749808"/>
          </a:xfrm>
          <a:prstGeom prst="rect">
            <a:avLst/>
          </a:prstGeom>
          <a:solidFill>
            <a:srgbClr val="253A5E"/>
          </a:solidFill>
          <a:ln/>
        </p:spPr>
      </p:sp>
      <p:sp>
        <p:nvSpPr>
          <p:cNvPr id="22" name="Shape 20"/>
          <p:cNvSpPr/>
          <p:nvPr/>
        </p:nvSpPr>
        <p:spPr>
          <a:xfrm>
            <a:off x="4805172" y="3035808"/>
            <a:ext cx="128016" cy="128016"/>
          </a:xfrm>
          <a:prstGeom prst="rect">
            <a:avLst/>
          </a:prstGeom>
          <a:solidFill>
            <a:srgbClr val="E8600A"/>
          </a:solidFill>
          <a:ln/>
        </p:spPr>
      </p:sp>
      <p:sp>
        <p:nvSpPr>
          <p:cNvPr id="23" name="Text 21"/>
          <p:cNvSpPr txBox="1"/>
          <p:nvPr/>
        </p:nvSpPr>
        <p:spPr>
          <a:xfrm>
            <a:off x="500634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Reporting quality and earnings quality are separate axes. When reporting quality is low you cannot assess the second at all, which is a reason to walk away rather than to apply a discount.</a:t>
            </a:r>
            <a:endParaRPr lang="en-US" sz="1150" dirty="0"/>
          </a:p>
        </p:txBody>
      </p:sp>
      <p:sp>
        <p:nvSpPr>
          <p:cNvPr id="24" name="Shape 22"/>
          <p:cNvSpPr/>
          <p:nvPr/>
        </p:nvSpPr>
        <p:spPr>
          <a:xfrm>
            <a:off x="457200" y="3730752"/>
            <a:ext cx="4046220" cy="749808"/>
          </a:xfrm>
          <a:prstGeom prst="rect">
            <a:avLst/>
          </a:prstGeom>
          <a:solidFill>
            <a:srgbClr val="253A5E"/>
          </a:solidFill>
          <a:ln/>
        </p:spPr>
      </p:sp>
      <p:sp>
        <p:nvSpPr>
          <p:cNvPr id="25" name="Shape 23"/>
          <p:cNvSpPr/>
          <p:nvPr/>
        </p:nvSpPr>
        <p:spPr>
          <a:xfrm>
            <a:off x="621792" y="3858768"/>
            <a:ext cx="128016" cy="128016"/>
          </a:xfrm>
          <a:prstGeom prst="rect">
            <a:avLst/>
          </a:prstGeom>
          <a:solidFill>
            <a:srgbClr val="E8600A"/>
          </a:solidFill>
          <a:ln/>
        </p:spPr>
      </p:sp>
      <p:sp>
        <p:nvSpPr>
          <p:cNvPr id="26" name="Text 24"/>
          <p:cNvSpPr txBox="1"/>
          <p:nvPr/>
        </p:nvSpPr>
        <p:spPr>
          <a:xfrm>
            <a:off x="82296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Anson's ROE rose from −0.62% to 5.92% on margin and turnover with leverage flat. Amsterdam's fell from 26.50% to 9.53% on EBIT margin and turnover, with financing untouched.</a:t>
            </a:r>
            <a:endParaRPr lang="en-US" sz="1150" dirty="0"/>
          </a:p>
        </p:txBody>
      </p:sp>
      <p:sp>
        <p:nvSpPr>
          <p:cNvPr id="27" name="Shape 25"/>
          <p:cNvSpPr/>
          <p:nvPr/>
        </p:nvSpPr>
        <p:spPr>
          <a:xfrm>
            <a:off x="4640580" y="3730752"/>
            <a:ext cx="4046220" cy="749808"/>
          </a:xfrm>
          <a:prstGeom prst="rect">
            <a:avLst/>
          </a:prstGeom>
          <a:solidFill>
            <a:srgbClr val="253A5E"/>
          </a:solidFill>
          <a:ln/>
        </p:spPr>
      </p:sp>
      <p:sp>
        <p:nvSpPr>
          <p:cNvPr id="28" name="Shape 26"/>
          <p:cNvSpPr/>
          <p:nvPr/>
        </p:nvSpPr>
        <p:spPr>
          <a:xfrm>
            <a:off x="4805172" y="3858768"/>
            <a:ext cx="128016" cy="128016"/>
          </a:xfrm>
          <a:prstGeom prst="rect">
            <a:avLst/>
          </a:prstGeom>
          <a:solidFill>
            <a:srgbClr val="E8600A"/>
          </a:solidFill>
          <a:ln/>
        </p:spPr>
      </p:sp>
      <p:sp>
        <p:nvSpPr>
          <p:cNvPr id="29" name="Text 27"/>
          <p:cNvSpPr txBox="1"/>
          <p:nvPr/>
        </p:nvSpPr>
        <p:spPr>
          <a:xfrm>
            <a:off x="500634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Build the model in order and forecast working capital in days. On Rémy the lowest-growth scenario delivered the highest 2022E free cash flow — working capital, not margin, drove year one.</a:t>
            </a:r>
            <a:endParaRPr lang="en-US" sz="1150" dirty="0"/>
          </a:p>
        </p:txBody>
      </p:sp>
      <p:sp>
        <p:nvSpPr>
          <p:cNvPr id="30" name="Text 28"/>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Studio Tonton Gug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FF v2 · Deck 8 · FSA III — Taxes, Liabilities, Quality, Ratios &amp; Modeling</dc:title>
  <dc:subject>PptxGenJS Presentation</dc:subject>
  <dc:creator>Studio Tonton Gug</dc:creator>
  <cp:lastModifiedBy>Studio Tonton Gug</cp:lastModifiedBy>
  <cp:revision>1</cp:revision>
  <dcterms:created xsi:type="dcterms:W3CDTF">2026-09-02T08:43:44Z</dcterms:created>
  <dcterms:modified xsi:type="dcterms:W3CDTF">2026-09-02T08:43:44Z</dcterms:modified>
</cp:coreProperties>
</file>