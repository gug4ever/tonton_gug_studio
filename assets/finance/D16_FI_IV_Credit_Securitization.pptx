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hours, six learning modules. Set the frame: credit is one idea — expected loss — applied to three borrower types and then engineered.
•  Two-hour block, five sections, one 10-minute break after Corporate
•  Say up front: everything today reduces to EL = POD × LGD
•  Flag my own background — rating advisory. Interrupt me with real questions.
•  Warn them: the securitization half has more vocabulary than maths
NEXT — Open the roadmap and show them where the break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Pacing map. The first three sections are analysis; the last two are engineering. Do not let §1 eat the clock.
•  §1 ~25 min · §2 ~15 · §3 ~30 · break · §4 ~25 · §5 ~25
•  §1 and §3 carry the exam weight — protect that time
•  Tell them §4 and §5 are vocabulary-heavy but arithmetic-light
•  Point out that credit tranching (§4) and time tranching (§5) are different ideas
NEXT — Objectives, then straight into the decomposition.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Read three of the seven aloud, not all seven. Objective 1 and objective 6 are the spine of the day.
•  Highlight #1 (EL decomposition) and #6 (loss absorption) — everything else hangs off them
•  Flag #4: it is EIGHT Cs, not four — students mis-remember this every year
•  Say plainly: SMM/CPR/PSA are NOT examinable in the current curriculum
•  Promise them one worked cascade in each half
NEXT — Section one. Start with the definition, not the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marker. Twenty-five minutes: definition, worked EL, rating scale, ratio drivers, spread and price.
•  One line only: "credit risk is a number, and it has two parts"
•  Do not preview the whole section — just start
NEXT — Components of credit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Land the two-part structure before any arithmetic. Students who never separate probability from severity misprice everything downstream.
•  Write EL = POD × LGD on the board before showing the slide
•  Stress: POD is a probability, LGD is an amount — different units, different drivers
•  LGD = EE × (1 − RR). Say it twice. Decks confuse RR with LGD constantly.
•  RR = what you get back. LGD severity = what you lose = 1 − RR.
•  Collateral reduces EE, it does not change POD
•  Point at row 3: seniority sets LGD, ratios set POD. Two different analyses.
FROM THE DESK — On a rating committee the POD debate and the LGD debate are run by different people and often reach opposite conclusions. A company can be getting riskier (POD up) while a specific bond gets safer (new collateral pledged, LGD down). That is why an issuer downgrade and an issue upgrade can land on the same day, and why investors who only read the issuer rating get blindsided.
ASK THE ROOM — A bond has a 60% recovery rate. What is its LGD severity — and what else do you need before you can state LGD in euros?
NEXT — Put numbers on it — the curriculum’s own EUR 500,000 loan.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distractors, three classic errors. Make them commit to an answer before you show the arithmetic.
•  Put the four inputs up and give them 90 seconds — no formula on screen
•  EUR 2,000 = forgot the collateral. EUR 20,000 = multiplied EE by POD and stopped.
•  Walk the four steps slowly; the order matters (collateral first, haircut second)
•  Then flip to the spread comparison: 30 bps of expected loss vs the quoted spread
•  Example 2 in the curriculum: BRWA 1% × 80% = 80 bps EL against a 90 bps spread
FROM THE DESK — Spread ≈ POD × LGD is a floor, never a fair value. The market spread also pays for liquidity, for the risk that your POD estimate is wrong, and for the capital a bank has to hold against the position. When a bond trades exactly at its expected loss, the market is not being generous — it usually means someone is forced to own it.
ASK THE ROOM — If the collateral had been worth EUR 400,000 instead of EUR 100,000, what is the expected loss?
NEXT — If EL is the number, who publishes an opinion on it? The rating agencies.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table is reference material. The teaching point is the line, and what happens to a bond that crosses it.
•  Do not read the table. Point at one row: Baa3 / BBB−.
•  Above the line = IG, below = HY / speculative / "junk" — all the same thing
•  Migration risk: you can lose money on a downgrade with no default at all
•  Ratings are issuer-paid and issuer-commissioned. Say it plainly.
•  Split ratings happen: WeWork 2018 was BB− Fitch, B+ S&amp;P, Caa1 Moody’s — three notches apart
FROM THE DESK — A committee argues hardest about the notch immediately above the IG line, because that notch is not just a symbol — it is the difference between an index-eligible bond with a deep institutional buyer base and a bond that a large share of the market is contractually forbidden to hold. Issuers know this. A treasurer will cut a dividend, sell a division or issue equity to defend BBB− that they would never do to defend BBB+.
ASK THE ROOM — A fund’s mandate says investment grade only. The bond is downgraded to Ba1 on a Friday. What has to happen, and what does that do to the price?
NEXT — What drives the rating in the first place? Ratios — but read the exhibit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honest version of this slide. Give them direction and rank order, and refuse to hand them a threshold table they will over-trust.
•  Name the four ratios and their family — that is the examinable part
•  Show the axis ranges: coverage tops out at 20x in the exhibit, not 30x
•  Say why there is no threshold table: bands differ by industry and by year
•  Then split the slide: ratios move POD, seniority moves LGD
•  IG unsecured investors mostly fear POD; HY investors negotiate LGD down via security and covenants
FROM THE DESK — In practice a rating is a grid score plus an override, and the override is where the argument lives. Two issuers with identical Debt/EBITDA get different ratings because one has a committed revolver out to five years and the other refinances every eighteen months. Liquidity and maturity profile rarely appear in the published ratio grid, and they are what a committee actually loses sleep over.
ASK THE ROOM — If a company sells a division and uses the cash to repay debt, which of the four ratios move — and in which direction?
NEXT — Ratios move the rating slowly. The spread moves daily. Look at what a spread change does to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ideas, one slide: what the spread is made of, and what happens when it moves. The convexity rescaling is the exam trap.
•  Left first: yield = benchmark + liquidity + credit. Three separate risks, one quoted number.
•  The liquidity slice comes straight out of the bid/offer — 11.92 bps of the 306
•  Then the price impact: identical maths to interest-rate duration, different source of ΔY
•  RESCALE convexity: 0.23 becomes 23. Every year someone divides instead of multiplying.
•  Distractors: −4.5% ignores convexity; −4.615% flips the convexity sign
•  Longer duration = higher spread sensitivity. Romania 2049 vs 2030 in the curriculum.
FROM THE DESK — The spread moves before the rating does, and it moves for reasons that have nothing to do with the issuer — dealer balance-sheet costs, a heavy new-issue calendar, a flight to quality. Wirecard is the textbook case: bonds traded below 85 in October 2019 and near 80 by June 2020 while Moody’s still had an investment-grade rating on the name. If you wait for the rating to tell you, you are eight months late.
ASK THE ROOM — Spreads tighten 50 bps on a bond with duration 7 and convexity 0.68. Roughly what is the price return?
NEXT — That is the corporate frame. Sovereigns need a second dimension — willingness.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marker. Fifteen minutes only — three slides. The single new idea is willingness to pay.
•  One line: "a company that cannot pay defaults; a country that will not pay also defaults"
•  Keep this section tight — the exam weight is lower than corporate
NEXT — Ability and willingness.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pivot from corporate to sovereign is one word: willingness. Everything else on this slide is a variation on ability.
•  Ask first: what stops you liquidating a country? Let them get to sovereign immunity themselves.
•  Institutions sits ON TOP of the other four in Exhibit 1 — it is not a peer
•  Willingness lives inside the Institutions factor, and has no ratio
•  Uruguay 2003: "voluntary" exchange, 90% consent, five-year extension — default in substance
•  Contrast the corporate case: cross-default and a court will enforce; a sovereign, no court will
FROM THE DESK — Sovereign committees spend most of their time on the two factors with the least data — institutions and willingness — because that is where the surprises live. Debt/GDP is public and stale; the political calculus of whether a finance minister survives an austerity vote is neither. And when a restructuring does come, the label matters commercially: a "liability management exercise" and a "distressed debt exchange" can be the same cash flows, but only the second one triggers CDS and index exclusion.
ASK THE ROOM — Argentina in 2001 and Japan today both carry very high debt. Why is only one of them a default story?
NEXT — Now the ability side, which does have ratios.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three questions as a company — how much debt, can you afford it, can you grow out of it — plus one that has no corporate analogue: can you pay in a currency you cannot print.
•  Map each family back to corporate: debt burden = leverage, affordability = coverage
•  Two denominators, two meanings: GDP = capacity to tax; revenue = what is collected
•  Debt burden is a solvency measure; debt affordability is a coverage measure
•  External stability only bites for non-reserve currencies — flag that, cover it next slide
•  Say clearly: no threshold table in the curriculum, and explain why (data quality)
FROM THE DESK — Interest-to-revenue is the ratio that moves fastest and gets watched hardest, because it combines two things going wrong at once — a rising coupon on refinancing and a tax base that shrinks in the same downturn. A sovereign can carry a very high debt stock for decades; it cannot carry a rising interest bill through a recession without a political fight about spending.
ASK THE ROOM — Two countries both have Debt/GDP of 80%. One collects 45% of GDP in tax, the other 18%. Which is the better credit, and which ratio shows it?
NEXT — Apply it. Five Southeast Asian sovereigns, same ratios, different ratings.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slide exists to break the reflex that the best ratio wins. Thailand has the best reserves and is not the best credit.
•  Give them the two reserve columns first and ask who they would rate highest
•  Most will say Thailand (102% reserve ratio, 16.4% reserves/GDP). Then reveal Malaysia is A3.
•  Malaysia: competitiveness plus lower reliance on foreign-currency debt
•  Philippines matches Thailand on remittances — a foreign-currency inflow that is not a reserve
•  Then the structural point: reserve-currency status changes the whole game
•  Warn them these are FYE 2020 illustrations, not current levels
FROM THE DESK — The local-currency versus foreign-currency split is where most sovereign confusion sits. A government can always print its own currency, so the local-currency rating is usually equal to or a notch above the foreign-currency rating. The foreign-currency rating asks a harder question: can you earn or borrow dollars? That is why Zambia — copper at 60% of exports, reserves falling from 50% of external debt to 5% — defaulted on a USD 42.5 million Eurobond coupon while still functioning domestically.
ASK THE ROOM — Why can a government default on its dollar bonds and not on its local-currency bonds, when the borrower is the same government?
NEXT — Back to companies, where there is no printing press and no immunity.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marker. Thirty minutes and the heaviest exam weight in the deck. Six slides.
•  Tell them this is the section to take notes on
•  Flag the arc: qualitative frame → ratios → a stress walk → seniority → a worked cascade
NEXT — The Cs. All eight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Correct the count out loud. Students arrive believing there are four or five Cs; the curriculum names eight and splits them 5 + 3.
•  Say it explicitly: EIGHT Cs — five bottom-up, three top-down
•  Bottom-up: Capacity, Capital, Collateral, Covenants, Character
•  Top-down: Conditions, Country, Currency
•  Capacity and capital = quantitative; collateral, covenants, character = qualitative
•  Character is not soft: a debt-funded buyback or special dividend IS a character signal
•  Curriculum red flags for character: aggressive accounting, off-balance-sheet financing, frequent CFO or auditor changes
FROM THE DESK — Character is the C that decides the marginal notch. Agencies will not say "we do not trust management", so it arrives as a financial-policy assessment. The tell is track record: an issuer that levered up for an acquisition and then actually deleveraged on the promised timetable gets the benefit of the doubt next time. One that promised and did not gets modelled at its worst case for years afterwards.
ASK THE ROOM — A company announces a large debt-funded share buyback. Which Cs move, and does POD or LGD change?
NEXT — Capacity and capital are ratios. Here are the four the curriculum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named ratios plus a warning: these are non-IFRS measures and two analysts can compute "FFO" differently on the same accounts.
•  Star the four from Exhibit 3 — those are the examinable set
•  Show the direction column and make them say which way each moves
•  Net debt = debt LESS cash AND marketable securities — not just cash
•  Then the footnote trap: FFO has two definitions in the same learning module
•  RCF = FFO − dividends. In the Bowstream table FFO = net cash from operating activities.
•  Question Set 3: FFO = 180 + 30 + 18 + 28 = 256, FFO/debt = 256/1,280 = 20%
FROM THE DESK — The adjustment is the analysis. Agencies gross debt up for operating leases, pension deficits, factored receivables and hybrid securities before anything else happens, so the Debt/EBITDA in a company presentation and the one in the rating report are almost never the same number. When a treasurer tells you leverage is 2.5x, the only useful next question is whose 2.5x.
ASK THE ROOM — Two companies both report Debt/EBITDA of 3.0x. One leases its entire fleet, the other owns it. Who is more levered?
NEXT — Now watch those four ratios move together under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assumption — COGS as a share of sales — drives all four ratios. Make them trace the chain before you show the numbers.
•  Reveal the assumptions first, then ask which ratio breaks earliest
•  Chain: COGS up ⇒ EBIT down ⇒ coverage down; debt up ⇒ leverage up. Two forces, same direction.
•  EBIT margin 25% to 5% while sales still GROW every year — decline without a revenue fall
•  Coverage collapses hardest: 51.9x to 5.2x, a factor of ten
•  Debt/EBITDA looks benign in absolute terms (1.21x) — say why: it started at 0.36x
•  Resist assigning ratings per year. The curriculum does not, and neither should we.
FROM THE DESK — A model like this is how a downgrade actually gets argued. Nobody presents Y5; you present the trajectory and the covenant headroom, and the committee decides whether it believes the recovery in Y5. In a real process the fight is over one line of assumptions — usually the cost pass-through — because that single row decides whether the company is a stable BBB or a negative-outlook BBB. Everything else in the model follows mechanically.
ASK THE ROOM — By which year would you put this issuer on negative outlook — and what would you need to see to hold the rating?
NEXT — That is POD. Now the other half: if it does default, what do you get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tables, one message: the ladder is legal, the recoveries are empirical, and the gap between rungs is bigger than students expect.
•  Left table is the legal ranking — seven ranks, secured block then unsecured block
•  Equity is NOT on this ladder: it is a residual claim, not a debt seniority
•  Right table: look across, not down. 2020 vs 2019 vs the long run.
•  Senior unsecured fell from 31.3% (2019) to 8.6% (2020) — cyclicality in one row
•  Then notching: same POD across issues, different LGD, therefore different issue ratings
•  RCL: B1 family, B2 unsecured, Ba2 secured. Three notches up for collateral, not one.
FROM THE DESK — Where the debt sits in the structure is now more important than what it is called. A "senior" unsecured bond behind a large first-lien term loan can recover less than a subordinated bond at a company with no secured debt at all. The curriculum says it plainly — an abundance of secured debt leads to smaller recoveries on lower-ranked debt — and that is exactly what a 2020s capital structure with a big first-lien tranche does to legacy bondholders.
ASK THE ROOM — Why does an abundance of first-lien debt hurt senior unsecured recovery, when the unsecured bonds have not changed at all?
NEXT — Run the waterfall with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Make them run the cascade themselves. The only trick is remembering that equity absorbs first and that collateral never enters the general pool.
•  Give them the balance sheet and the 90 impairment; hold back the answer for two minutes
•  Order of absorption: equity 70, then subordinated 10, then unsecured takes the last 10
•  Common error: starting at the top of the ladder. Losses climb from the bottom.
•  Second error: forgetting that 40 of cash is pledged and unavailable to anyone else
•  Then Mojofon on the left: collateral 60 against secured 50 ⇒ full recovery
•  Ask what happens if that collateral had been worth 40 — the 10 shortfall goes pari passu with unsecured
FROM THE DESK — The legal waterfall is the starting point of a negotiation, not the end of one. The curriculum says it: junior creditors and even shareholders often receive consideration before senior creditors are paid in full, because bankruptcy is slow and value leaks — customers leave, key staff leave, fees mount. Paying the junior class something to stop them litigating is frequently the cheapest way for the senior class to get out.
ASK THE ROOM — If the impairment had been 150 instead of 90, what does each class recover?
NEXT — One more way to be junior without being called junior.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word "senior" on a bond tells you nothing about which entity issued it. That is the whole slide.
•  Draw it: HoldCo box on top, OpCo box below, arrow upward labelled dividends
•  Key line: the HoldCo owns SHARES, not assets — and shares rank last
•  Practice Problem 8 numbers: OpCo has &gt;90% of cash flow and assets, but only half the unsecured debt
•  No cross-guarantee ⇒ OpCo bonds recover more. Same label, different entity, different outcome.
•  Three diagnostic questions on the right — get them to write those down
•  Contrast with contractual subordination: that one is written in the indenture
FROM THE DESK — This is deliberately engineered, not an accident. Sponsors push operating cash flow into a subsidiary and issue HoldCo PIK notes above it precisely because those notes cannot touch the operating creditors. From the credit side the defence is structural, not financial: an upstream guarantee from the OpCo, or a covenant that caps dividends out of the OpCo. If neither exists, discount the HoldCo recovery hard regardless of the group leverage headline.
ASK THE ROOM — Two bonds, same issuer name, same coupon, same maturity, both senior unsecured. One trades 150 bps wider. What would you look for first?
NEXT — Break. Then we stop analysing structures and start building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marker after the break. Reset the room: we now build the capital structure instead of analysing one.
•  One framing line: "same waterfall logic, but we get to design the tranches"
•  Warn them: heavy vocabulary, light arithmetic, seven slides in about 25 minutes
NEXT — Start with the legal device that makes all of it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principals, not seven. Get the hierarchy right and the rest of the section is vocabulary.
•  THREE main parties: seller (depositor), SPE (issuer), servicer. Everyone else is a third party.
•  The SPE is called the issuer in the prospectus — that naming trips people up
•  Ahbaling question from the curriculum: if the parent issues new bonds later, is there seniority between them and the ABS? No — different entities.
•  Investors analyse the customers' default risk, not the originator's credit quality
•  Bankruptcy of the originator ⇒ no impact on ABS holders. Say it as an exam answer.
•  Caveat honestly: trust law is weak in some jurisdictions, and transfers can be unwound
FROM THE DESK — On a corporate balance sheet securitization is usually a funding-cost and capital arbitrage rather than a risk transfer, because the originator retains the first-loss piece. That is why the market cares so much about who holds the equity tranche and about retention rules. When an originator sells the residual as well, ask why — either they know something about the pool, or they are under real balance-sheet pressure.
ASK THE ROOM — The originator goes bankrupt the week after closing. What happens to the ABS investors?
NEXT — Now slice the liabilities.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pool, three prices. Show them that the Aaa rating is manufactured by subordination, not by the collateral.
•  The collateral is identical for all three classes. Only the loss position differs.
•  Senior attaches at 30%: it takes nothing until 30 of losses have gone through equity and mezz
•  Do the arithmetic slowly — apply the pool spread to 100, not to the 90 of debt
•  Common error: computing (250 − weighted debt cost) × leverage. That double-counts.
•  Land it: the equity earns a spread on the whole pool while funding only a tenth of it
•  Note the mezzanine coupon equals the pool spread — it is priced like the risk it carries
FROM THE DESK — Everything in the structure is solved backwards from the residual. The arranger fixes the AAA size the rating agency will allow, prices the mezzanine at whatever clears, and whatever is left has to make the equity return work — if it does not, the deal does not happen. That is why the equity holder, not the senior investor, effectively decides the underwriting standard of the pool.
ASK THE ROOM — If the pool spread fell from 250 to 180 bps and nothing else changed, what happens to the equity return?
NEXT — Now push losses through the same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worked cases, deliberately: one where the senior escapes, one where it does not. The boundary is what they must be able to compute.
•  Top table: EUR 70m of losses. Ask where they land before revealing the columns.
•  D wiped (25), C takes the remaining 45 and is repaid only 5, A and B untouched
•  State the threshold explicitly: A loses nothing until losses exceed 25 + 50 + 100 = 175
•  Bottom table: SGD 140m against 120 of junior capital ⇒ senior loses 20, recovers 260
•  Losses are NOT shared proportionally across the subordinated classes — strictly sequential
•  Same waterfall logic as the corporate bankruptcy on slide 19. Say so.
FROM THE DESK — Attachment points are the whole conversation with a rating agency, and they are set from stressed loss assumptions, not expected ones. The AAA has to survive a multiple of expected loss — that multiple is the rating. What broke in 2007 was never the waterfall arithmetic; it was the correlation assumption feeding the stress case, which is why AAA tranches that were mathematically remote from loss still failed.
ASK THE ROOM — At what pool loss does Ahbaling's Class A first take a hit, and what is its recovery at a 200 loss?
NEXT — Subordination is only one of three internal enhancements.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counting slide, and the count is examinable. Three internal, named. Cash collateral accounts are the trap.
•  Say the number: THREE internal — OC, excess spread, subordination
•  The curriculum is explicit that cash collateral accounts are EXTERNAL
•  Excess spread is the enhancement students forget — it is the first line of defence, before OC
•  OC in numbers: EUR 1,200m of collateral behind EUR 1,000m of bonds
•  SolarCity 2.7x cover ⇒ BBB+ and a 4.8% coupon on a brand-new asset class
•  External support = counterparty risk. Name the wrong-way problem.
FROM THE DESK — Excess spread is the quiet one and it does most of the work. It absorbs losses month by month without ever touching a tranche, which is why deals fail slowly rather than suddenly — you watch excess spread compress for three or four reporting periods before any principal is impaired. That trend in the trustee report is the early warning, long before a rating action.
ASK THE ROOM — A monoline insurer wraps a mortgage ABS. What has to happen for that wrap to be worthless exactly when you need it?
NEXT — Apply the toolkit to collateral that is not a mortgage.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structural question drives everything here: does the collateral pay down principal on a schedule? If not, the deal has to be built differently.
•  Ask them why a credit-card pool cannot be a simple pass-through — no scheduled principal
•  Revolving period: principal collected is REINVESTED in new receivables, not paid out
•  During revolving, holders get finance charges and fees only. No prepayment risk.
•  Then amortization period: principal flows to bondholders
•  Compute the cushion live: OC 25 + Class D 50 = 75 of 900 = 8.33% before Class C is hit
•  Solar ABS: note the pre-funding period — pool is not final at closing
FROM THE DESK — Card ABS is the asset class that keeps working. The curriculum cites Fitch: fewer than 2% of US card ABS ratings were downgraded in the financial crisis and none at the onset of the pandemic. The reason is structural, not credit — the revolving period plus rapid-amortization triggers means the deal starts giving investors their money back the moment performance turns, rather than waiting for losses to arrive.
ASK THE ROOM — Rapid amortization fires in month 20 of a 3-year revolving period. Good or bad for a Class A investor?
NEXT — Same machinery, corporate loans instead of consumer receivables.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CLO is the corporate capital structure rebuilt as a fund. The examinable mechanics are the manager, the OC test, and the leverage.
•  Taxonomy first: CDO is the family; CLO (leveraged loans) is the dominant member
•  Key difference from an ABS: the pool is NOT static — there is a collateral manager
•  That is the answer to "how does a CDO differ from a CMO" — the manager
•  OC ratio 840/700 = 1.20. Make them compute it.
•  Breach ⇒ cash diverted to pay down the senior tranche ⇒ deleveraging
•  Equity is a leveraged claim: borrowed funds used to earn above the funding cost
FROM THE DESK — The OC test is why CLO equity behaves nothing like a bond. Its cash flow is a call option on the manager staying inside a set of covenants, and a modest rise in defaults or a downgrade wave into CCC can switch distributions off entirely while the debt tranches carry on being paid. Investors who model CLO equity as a yield instrument discover this in the first bad quarter.
ASK THE ROOM — Default rates rise slightly and the OC test trips. Who is hurt, and who is actually helped?
NEXT — One structure keeps the assets on the balance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contrast slide. Covered bonds are the exception that proves what a true securitization is.
•  Exam line: covered bonds are the SIMPLEST structure, CMOs the most complex
•  Why not a true securitization? The assets never leave the balance sheet.
•  Dual recourse: cover pool FIRST, then the bank's unencumbered assets
•  One bond class per pool — no credit tranching, so no subordination to discuss
•  Dynamic pool: prepaid or non-performing loans must be REPLACED by the issuer
•  Three redemption regimes — match each to its trigger speed
FROM THE DESK — Covered bonds are a funding instrument, ABS is a risk-transfer instrument, and that difference is regulatory rather than legal. Securitization frees regulatory capital because the loans leave the balance sheet; a covered bond does not, so a bank uses it to lengthen and cheapen funding while keeping the asset. That is also why covered bonds stayed open through 2008 while the ABS market shut: investors were buying the bank, with a pool attached, not the pool alone.
ASK THE ROOM — Same bank, same mortgages, two deals — one covered bond, one RMBS. Which one still pays you if the bank fails and the pool underperforms?
NEXT — Last section. Mortgages, where the borrower holds an option you are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Final section, about 25 minutes. The one new risk is prepayment, and it has two opposite faces.
•  Open with the borrower's option, not with the taxonomy
•  Tell them the contraction/extension pair is the single most-tested idea here
NEXT — Taxonomy first,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Fast slide. The only point worth dwelling on is that the agency guarantee changes what you are analysing, not just what you are paid.
•  Three US sectors: federal agency guarantee, GSE guarantee, private label
•  Federal agency = full faith and credit. GSE = the GSE's own guarantee, charged for.
•  Agency RMBS: no credit risk ⇒ all the analysis is prepayment
•  Non-agency: credit risk returns, and so do credit enhancements
•  LTV and DTI definitions — both are examinable, both are computed in the curriculum
•  Recourse vs non-recourse: underwater plus non-recourse equals strategic default
FROM THE DESK — The GFC number worth remembering is that at the end of 2009 roughly 10.7 million US properties — 23% of the total — were underwater, with negative equity concentrated in five states led by Nevada at 65%. Negative equity plus non-recourse turns a credit model into a behavioural one: the borrower is deciding whether to exercise a put on the house, and that decision has nothing to do with whether they can afford the payment.
ASK THE ROOM — Same borrower, same LTV of 120%. One mortgage is recourse, one is not. Which defaults, and why?
NEXT — Now the arithmetic of a pass-through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weighted averages, one weighting rule. The entire difficulty is choosing the right denominator.
•  Set them the WAC before showing the total row — 90 seconds, calculators out
•  Weights are CURRENT balance ÷ total CURRENT balance = 1,149,000
•  The distractor in the curriculum uses beginning balances. Name it out loud.
•  WAC = 3.29%, WAM = 313 months. Mortgage B alone is 33% of the pool and 480 months.
•  Note the pool re-weights every month as loans amortize and prepay
•  Then the fee wedge: pass-through rate = WAC − servicing and guarantee fees (4.55% − 0.55% = 4.00%)
FROM THE DESK — WAM is not the number an investor prices off. Because principal comes back throughout the life of the pool, the market uses weighted average life instead, and the curriculum says so — the contractual maturity of an MBS tells you almost nothing about when you actually get repaid. Two pools with the same 313-month WAM can have completely different average lives depending on the coupon distribution inside them.
ASK THE ROOM — Mortgage D has the highest rate but the shortest remaining term. What does it do to WAC, and what does it do to WAM?
NEXT — The reason average life moves at all: the borrower's prepayment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single most-inverted fact in fixed income. Drill the pairing until it is automatic: rates DOWN is contraction, rates UP is extension.
•  Say it, write it, make them say it back: rates fall ⇒ refinance ⇒ CONTRACTION
•  Rates rise ⇒ nobody refinances ⇒ EXTENSION
•  Memory hook: cash CONTRACTS back to you early when rates are low
•  Contraction hurts twice: reinvest lower AND price appreciation is capped
•  Extension hurts twice: discount rate up AND cash flows pushed further out
•  Flag now that balloon risk (CMBS) is a form of EXTENSION risk — comes back on the CMBS slide
FROM THE DESK — This is why an MBS is not a bond with a wider spread. Duration itself moves against you — it shortens into a rally and lengthens into a sell-off, which is negative convexity. Mortgage portfolios therefore have to be hedged dynamically, and the hedging flow is large enough to move the swap market: a sharp rate move forces MBS holders to rebalance in the same direction as the move, amplifying it.
ASK THE ROOM — Rates fall 100 bps. A 10-year Treasury and a 30-year agency MBS both rally. Which one rallies less, and why?
NEXT — You cannot remove prepayment risk. You can move it between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direction of protection is counter-intuitive and gets taught backwards constantly. A is protected from EXTENSION, not from contraction.
•  First separate the two tranchings: credit = who eats losses; time = who gets paid when
•  A deal commonly has BOTH. Say so — the curriculum says it explicitly.
•  Sequential pay: ALL principal to A until A is zero, then B, then C
•  Now the direction. A is first in line for principal ⇒ A cannot be extended ⇒ A is protected from EXTENSION.
•  B and C sit behind A, so A soaks up the early prepayments ⇒ they are protected from CONTRACTION.
•  Run the investor-matching exercise from the curriculum out loud
FROM THE DESK — Structurers do not start from the collateral, they start from a buyer. The short money-market-style tranche and the long insurance tranche are the two bids that make a deal economic, and the middle is engineered to fill the gap between them. If a natural buyer disappears — as happened to the long end after Solvency II changed insurers' capital treatment — the deals stop getting done regardless of how attractive the collateral looks.
ASK THE ROOM — A pension fund with liabilities twenty years out buys Tranche A because it is the safest. What has it got wrong?
NEXT — Beyond sequential pay, the curriculum lists five more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vocabulary slide, but two of these are genuinely examinable: which are created by time tranching, and which way a PO moves.
•  Exam answer: Z-tranches and RESIDUAL tranches are created by time tranching
•  PO and IO are NOT time tranching — they split principal from interest
•  PO: rates fall ⇒ prepayments accelerate ⇒ you get par back sooner ⇒ PO GAINS
•  IO: the mirror. Faster prepayment kills the interest stream ⇒ IO LOSES.
•  That is why an IO hedges a bond portfolio — it goes up when rates rise
•  Z-tranche: no coupon during accrual, principal accretes, average life over 20 years
FROM THE DESK — IOs are one of the few instruments with reliably negative duration, which makes them the natural hedge for a mortgage book — and also the reason mortgage desks blow up. The IO is long prepayment risk and short rates at the same time; when a rate move and a refinancing wave arrive together, the hedge and the position lose money on the same day. Anyone selling you an IO as "a hedge" is selling you a correlation assumption.
ASK THE ROOM — Rates drop 150 bps overnight. What happens to the PO, and what happens to the IO carved from the same pool?
NEXT — The structure built specifically to make prepayment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Risk is conserved. The PAC gets certainty only because a named counterparty in the same deal agreed to take all the uncertainty.
•  Frame it as a transfer, not an elimination — nothing has been removed from the pool
•  Inside the range: PAC schedule honoured exactly, support absorbs everything
•  Fast prepayments ⇒ support CONTRACTS. Slow prepayments ⇒ support EXTENDS.
•  Practice Problem 5 answer: the SUPPORT tranche is what protects the PAC
•  The support has the widest average-life band and therefore the widest spread
•  Ask why an insurer pays up for a PAC: liabilities are dated, so timing is the risk
FROM THE DESK — A PAC is only as good as its support tranche is thick. As the deal seasons and the support amortizes away, the PAC quietly stops being a PAC — the protection erodes and the schedule can break on prepayment speeds it would have survived at issue. Anyone buying a seasoned PAC in the secondary market is buying the remaining support, not the label on the tranche.
ASK THE ROOM — Prepayments have run above the top of the range for two years. Is the PAC still a PAC?
NEXT — One more thing on prepayment — and this one is market convention, not curriculum.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Say the disclaimer before the content. This is desk vocabulary, deliberately kept because they will hear it, and deliberately flagged because it is not examinable.
•  Open with it: "this slide is not on the exam — I am including it because you will hear it"
•  The curriculum uses weighted average life; the market quotes PSA
•  The ramp: 0.2% CPR in month 1, +0.2% a month, 6% from month 30, then flat
•  150 PSA is 1.5x the benchmark CPR, not 150% added on
•  SMM is monthly, CPR annual: CPR = 1 − (1 − SMM)¹², so SMM is the smaller number
•  Do one conversion live: 9% CPR ⇒ SMM = 1 − 0.91^(1/12) = 0.783%
FROM THE DESK — Nobody trades a mortgage pool on a single PSA number. Desks run a prepayment model with borrower-level drivers — rate incentive, loan age, burnout, seasonality, loan size — and the PSA figure is just the shorthand used to quote the answer. A pool of large loans in a high-cost city prepays far faster than a pool of small ones at the same rate incentive, because the dollar saving from refinancing is what actually gets someone to fill in the paperwork.
ASK THE ROOM — Two pools, same coupon, same age, same PSA quote. One is Californian jumbo loans, one is small-balance Midwest. Which prepays faster in a rally?
NEXT — Last slide of content: commercial mortgages, where the borrower cannot prepay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exam answers live here: why CMBS has low contraction risk, and why balloon risk is a species of extension risk rather than something new.
•  Structural call protection = sequential-pay tranches; loan-level = lockout, penalty points, defeasance
•  Defeasance: the borrower buys a government-bond portfolio replicating the remaining payments
•  That is why contraction risk is LOW — prepayment is either barred or uneconomic
•  Then balloon risk. It is EXTENSION risk, because the lender extends into a workout.
•  DSC = NOI / debt service. NOI excludes principal, interest, capex, D&amp;A; it is after a replacement reserve.
•  Concentration: one default in a CMBS pool can matter; in an RMBS pool it cannot
FROM THE DESK — Balloon risk is a refinancing-market risk wearing a credit-risk costume. A building can be fully let, cash-generative and covering its debt service comfortably, and still default at maturity because no lender will write the new loan at the new interest rate and the new valuation. That is the whole 2023–24 office story: the DSC was fine on the old loan and impossible on the replacement.
ASK THE ROOM — A property has a DSC of 1.6x and a balloon due next year. What would make it default anyway?
NEXT — Pull the whole deck back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Close on the two facts they will get wrong under exam pressure: the count of the Cs, and the direction of contraction versus extension.
•  Do not read all eight — read bullets 1, 4 and 8
•  Make the room say the contraction/extension pairing out loud one last time
•  Remind them SMM/CPR/PSA was flagged as non-curriculum background
•  Set the one-line homework: LM 16 Practice Problems 1–9 (Mojofon) end to end
•  Preview: next deck moves from credit to derivatives
FROM THE DESK — If they retain one thing from a two-hour session on credit, it should be that a rating is an opinion about expected loss, published slowly, by an agency the issuer is paying. Everything a credit professional does for a living sits in the gap between that opinion and the price.
NEXT — End of Deck 16. Questions, then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16  ·  WEEK 8  ·  MORNING 1</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Fixed Income IV</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Credit &amp; Securitization</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How credit risk is measured, analysed across issuer types, and repackaged into asset-backed securities</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6 Learning Modules 14–19</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Fixed Income IV — Credit Risk, Credit Analysis &amp; Securitization</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5 sections · ~2 hours · Built bottom-up from CFA readings</a:t>
            </a:r>
            <a:endParaRPr lang="en-US" sz="1300" dirty="0"/>
          </a:p>
        </p:txBody>
      </p:sp>
      <p:sp>
        <p:nvSpPr>
          <p:cNvPr id="8" name="Shape 6"/>
          <p:cNvSpPr/>
          <p:nvPr/>
        </p:nvSpPr>
        <p:spPr>
          <a:xfrm>
            <a:off x="320040" y="1207008"/>
            <a:ext cx="8503920" cy="680314"/>
          </a:xfrm>
          <a:prstGeom prst="rect">
            <a:avLst/>
          </a:prstGeom>
          <a:solidFill>
            <a:srgbClr val="FFFFFF"/>
          </a:solidFill>
          <a:ln/>
        </p:spPr>
      </p:sp>
      <p:sp>
        <p:nvSpPr>
          <p:cNvPr id="9" name="Shape 7"/>
          <p:cNvSpPr/>
          <p:nvPr/>
        </p:nvSpPr>
        <p:spPr>
          <a:xfrm>
            <a:off x="320040" y="1207008"/>
            <a:ext cx="594360" cy="680314"/>
          </a:xfrm>
          <a:prstGeom prst="rect">
            <a:avLst/>
          </a:prstGeom>
          <a:solidFill>
            <a:srgbClr val="1B2A4A"/>
          </a:solidFill>
          <a:ln/>
        </p:spPr>
      </p:sp>
      <p:sp>
        <p:nvSpPr>
          <p:cNvPr id="10" name="Text 8"/>
          <p:cNvSpPr txBox="1"/>
          <p:nvPr/>
        </p:nvSpPr>
        <p:spPr>
          <a:xfrm>
            <a:off x="320040" y="1207008"/>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Credit-risk framework</a:t>
            </a:r>
            <a:endParaRPr lang="en-US" sz="1200" dirty="0"/>
          </a:p>
        </p:txBody>
      </p:sp>
      <p:sp>
        <p:nvSpPr>
          <p:cNvPr id="12" name="Text 10"/>
          <p:cNvSpPr txBox="1"/>
          <p:nvPr/>
        </p:nvSpPr>
        <p:spPr>
          <a:xfrm>
            <a:off x="1024128" y="1513149"/>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POD · LGD · EAD · EL = POD × LGD · recovery rates · rating scales · spread decomposition · spread and price</a:t>
            </a:r>
            <a:endParaRPr lang="en-US" sz="1100" dirty="0"/>
          </a:p>
        </p:txBody>
      </p:sp>
      <p:sp>
        <p:nvSpPr>
          <p:cNvPr id="13" name="Shape 11"/>
          <p:cNvSpPr/>
          <p:nvPr/>
        </p:nvSpPr>
        <p:spPr>
          <a:xfrm>
            <a:off x="320040" y="1923898"/>
            <a:ext cx="8503920" cy="680314"/>
          </a:xfrm>
          <a:prstGeom prst="rect">
            <a:avLst/>
          </a:prstGeom>
          <a:solidFill>
            <a:srgbClr val="F5F7FA"/>
          </a:solidFill>
          <a:ln/>
        </p:spPr>
      </p:sp>
      <p:sp>
        <p:nvSpPr>
          <p:cNvPr id="14" name="Shape 12"/>
          <p:cNvSpPr/>
          <p:nvPr/>
        </p:nvSpPr>
        <p:spPr>
          <a:xfrm>
            <a:off x="320040" y="1923898"/>
            <a:ext cx="594360" cy="680314"/>
          </a:xfrm>
          <a:prstGeom prst="rect">
            <a:avLst/>
          </a:prstGeom>
          <a:solidFill>
            <a:srgbClr val="1B2A4A"/>
          </a:solidFill>
          <a:ln/>
        </p:spPr>
      </p:sp>
      <p:sp>
        <p:nvSpPr>
          <p:cNvPr id="15" name="Text 13"/>
          <p:cNvSpPr txBox="1"/>
          <p:nvPr/>
        </p:nvSpPr>
        <p:spPr>
          <a:xfrm>
            <a:off x="320040" y="1923898"/>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1969618"/>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Sovereign credit analysis</a:t>
            </a:r>
            <a:endParaRPr lang="en-US" sz="1200" dirty="0"/>
          </a:p>
        </p:txBody>
      </p:sp>
      <p:sp>
        <p:nvSpPr>
          <p:cNvPr id="17" name="Text 15"/>
          <p:cNvSpPr txBox="1"/>
          <p:nvPr/>
        </p:nvSpPr>
        <p:spPr>
          <a:xfrm>
            <a:off x="1024128" y="2230039"/>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Ability AND willingness · sovereign immunity · five qualitative factors · fiscal, growth, external ratios</a:t>
            </a:r>
            <a:endParaRPr lang="en-US" sz="1100" dirty="0"/>
          </a:p>
        </p:txBody>
      </p:sp>
      <p:sp>
        <p:nvSpPr>
          <p:cNvPr id="18" name="Shape 16"/>
          <p:cNvSpPr/>
          <p:nvPr/>
        </p:nvSpPr>
        <p:spPr>
          <a:xfrm>
            <a:off x="320040" y="2640787"/>
            <a:ext cx="8503920" cy="680314"/>
          </a:xfrm>
          <a:prstGeom prst="rect">
            <a:avLst/>
          </a:prstGeom>
          <a:solidFill>
            <a:srgbClr val="FFFFFF"/>
          </a:solidFill>
          <a:ln/>
        </p:spPr>
      </p:sp>
      <p:sp>
        <p:nvSpPr>
          <p:cNvPr id="19" name="Shape 17"/>
          <p:cNvSpPr/>
          <p:nvPr/>
        </p:nvSpPr>
        <p:spPr>
          <a:xfrm>
            <a:off x="320040" y="2640787"/>
            <a:ext cx="594360" cy="680314"/>
          </a:xfrm>
          <a:prstGeom prst="rect">
            <a:avLst/>
          </a:prstGeom>
          <a:solidFill>
            <a:srgbClr val="1B2A4A"/>
          </a:solidFill>
          <a:ln/>
        </p:spPr>
      </p:sp>
      <p:sp>
        <p:nvSpPr>
          <p:cNvPr id="20" name="Text 18"/>
          <p:cNvSpPr txBox="1"/>
          <p:nvPr/>
        </p:nvSpPr>
        <p:spPr>
          <a:xfrm>
            <a:off x="320040" y="2640787"/>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2686507"/>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Corporate credit analysis</a:t>
            </a:r>
            <a:endParaRPr lang="en-US" sz="1200" dirty="0"/>
          </a:p>
        </p:txBody>
      </p:sp>
      <p:sp>
        <p:nvSpPr>
          <p:cNvPr id="22" name="Text 20"/>
          <p:cNvSpPr txBox="1"/>
          <p:nvPr/>
        </p:nvSpPr>
        <p:spPr>
          <a:xfrm>
            <a:off x="1024128" y="2946928"/>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Eight Cs (5 bottom-up + 3 top-down) · margin, coverage, leverage · seniority · notching · subordination</a:t>
            </a:r>
            <a:endParaRPr lang="en-US" sz="1100" dirty="0"/>
          </a:p>
        </p:txBody>
      </p:sp>
      <p:sp>
        <p:nvSpPr>
          <p:cNvPr id="23" name="Shape 21"/>
          <p:cNvSpPr/>
          <p:nvPr/>
        </p:nvSpPr>
        <p:spPr>
          <a:xfrm>
            <a:off x="320040" y="3357677"/>
            <a:ext cx="8503920" cy="680314"/>
          </a:xfrm>
          <a:prstGeom prst="rect">
            <a:avLst/>
          </a:prstGeom>
          <a:solidFill>
            <a:srgbClr val="F5F7FA"/>
          </a:solidFill>
          <a:ln/>
        </p:spPr>
      </p:sp>
      <p:sp>
        <p:nvSpPr>
          <p:cNvPr id="24" name="Shape 22"/>
          <p:cNvSpPr/>
          <p:nvPr/>
        </p:nvSpPr>
        <p:spPr>
          <a:xfrm>
            <a:off x="320040" y="3357677"/>
            <a:ext cx="594360" cy="680314"/>
          </a:xfrm>
          <a:prstGeom prst="rect">
            <a:avLst/>
          </a:prstGeom>
          <a:solidFill>
            <a:srgbClr val="1B2A4A"/>
          </a:solidFill>
          <a:ln/>
        </p:spPr>
      </p:sp>
      <p:sp>
        <p:nvSpPr>
          <p:cNvPr id="25" name="Text 23"/>
          <p:cNvSpPr txBox="1"/>
          <p:nvPr/>
        </p:nvSpPr>
        <p:spPr>
          <a:xfrm>
            <a:off x="320040" y="3357677"/>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403397"/>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Securitization structures</a:t>
            </a:r>
            <a:endParaRPr lang="en-US" sz="1200" dirty="0"/>
          </a:p>
        </p:txBody>
      </p:sp>
      <p:sp>
        <p:nvSpPr>
          <p:cNvPr id="27" name="Text 25"/>
          <p:cNvSpPr txBox="1"/>
          <p:nvPr/>
        </p:nvSpPr>
        <p:spPr>
          <a:xfrm>
            <a:off x="1024128" y="3663818"/>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SPE · true sale · credit tranching · three internal enhancements · non-mortgage ABS · CLOs · covered bonds</a:t>
            </a:r>
            <a:endParaRPr lang="en-US" sz="1100" dirty="0"/>
          </a:p>
        </p:txBody>
      </p:sp>
      <p:sp>
        <p:nvSpPr>
          <p:cNvPr id="28" name="Shape 26"/>
          <p:cNvSpPr/>
          <p:nvPr/>
        </p:nvSpPr>
        <p:spPr>
          <a:xfrm>
            <a:off x="320040" y="4074566"/>
            <a:ext cx="8503920" cy="680314"/>
          </a:xfrm>
          <a:prstGeom prst="rect">
            <a:avLst/>
          </a:prstGeom>
          <a:solidFill>
            <a:srgbClr val="FFFFFF"/>
          </a:solidFill>
          <a:ln/>
        </p:spPr>
      </p:sp>
      <p:sp>
        <p:nvSpPr>
          <p:cNvPr id="29" name="Shape 27"/>
          <p:cNvSpPr/>
          <p:nvPr/>
        </p:nvSpPr>
        <p:spPr>
          <a:xfrm>
            <a:off x="320040" y="4074566"/>
            <a:ext cx="594360" cy="680314"/>
          </a:xfrm>
          <a:prstGeom prst="rect">
            <a:avLst/>
          </a:prstGeom>
          <a:solidFill>
            <a:srgbClr val="1B2A4A"/>
          </a:solidFill>
          <a:ln/>
        </p:spPr>
      </p:sp>
      <p:sp>
        <p:nvSpPr>
          <p:cNvPr id="30" name="Text 28"/>
          <p:cNvSpPr txBox="1"/>
          <p:nvPr/>
        </p:nvSpPr>
        <p:spPr>
          <a:xfrm>
            <a:off x="320040" y="4074566"/>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05</a:t>
            </a:r>
            <a:endParaRPr lang="en-US" sz="1300" dirty="0"/>
          </a:p>
        </p:txBody>
      </p:sp>
      <p:sp>
        <p:nvSpPr>
          <p:cNvPr id="31" name="Text 29"/>
          <p:cNvSpPr txBox="1"/>
          <p:nvPr/>
        </p:nvSpPr>
        <p:spPr>
          <a:xfrm>
            <a:off x="1024128" y="4120286"/>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MBS specifics</a:t>
            </a:r>
            <a:endParaRPr lang="en-US" sz="1200" dirty="0"/>
          </a:p>
        </p:txBody>
      </p:sp>
      <p:sp>
        <p:nvSpPr>
          <p:cNvPr id="32" name="Text 30"/>
          <p:cNvSpPr txBox="1"/>
          <p:nvPr/>
        </p:nvSpPr>
        <p:spPr>
          <a:xfrm>
            <a:off x="1024128" y="4380708"/>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RMBS vs CMBS · agency vs non-agency · WAC / WAM · contraction vs extension · CMOs · PAC · balloon risk</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Decompose credit risk into probability of default, loss given default and expected exposure, and compute expected loss in currency or percentage terms.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Interpret the rating scales of Moody’s, S&amp;P and Fitch, the Baa3 / BBB− line, credit migration risk, and decompose a yield into benchmark, liquidity and credit spread.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Evaluate a sovereign on ability AND willingness to pay, using the five qualitative factors and the fiscal, growth and external ratio families.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Apply the eight Cs of credit analysis, compute the four ratios of Exhibit 3, and explain notching and structural subordination.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Rank claims in a default waterfall, apply recovery rates by seniority, and describe securitization mechanics — SPE, true sale, credit tranching, the three internal enhancements.
</a:t>
            </a:r>
            <a:pPr indent="0" marL="0">
              <a:buNone/>
            </a:pPr>
            <a:r>
              <a:rPr lang="en-US" sz="1200" b="1" dirty="0">
                <a:solidFill>
                  <a:srgbClr val="E8600A"/>
                </a:solidFill>
                <a:latin typeface="Trebuchet MS" pitchFamily="34" charset="0"/>
                <a:ea typeface="Trebuchet MS" pitchFamily="34" charset="-122"/>
                <a:cs typeface="Trebuchet MS" pitchFamily="34" charset="-120"/>
              </a:rPr>
              <a:t>6. </a:t>
            </a:r>
            <a:pPr indent="0" marL="0">
              <a:buNone/>
            </a:pPr>
            <a:r>
              <a:rPr lang="en-US" sz="1200" dirty="0">
                <a:solidFill>
                  <a:srgbClr val="334155"/>
                </a:solidFill>
                <a:latin typeface="Calibri" pitchFamily="34" charset="0"/>
                <a:ea typeface="Calibri" pitchFamily="34" charset="-122"/>
                <a:cs typeface="Calibri" pitchFamily="34" charset="-120"/>
              </a:rPr>
              <a:t>Analyse MBS using WAC, WAM and the pass-through rate, and distinguish contraction from extension risk, sequential-pay CMOs, PAC tranches and CMBS balloon risk.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Credit-risk framework</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(POD × LGD = EL)</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5  ·  Deck 16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Credit risk is the expected economic loss from a borrower failing to pay in full and on time — and it decomposes into a probability and a severity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14, Exhibit 4 and Equations 1–2, printed pp. 349–351.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POD is a probability, typically annualised. LGD is a currency (or percentage) amount: how big the claim is, times how much of it is lost.</a:t>
            </a:r>
            <a:endParaRPr lang="en-US" sz="1300" dirty="0"/>
          </a:p>
        </p:txBody>
      </p:sp>
      <p:sp>
        <p:nvSpPr>
          <p:cNvPr id="9" name="Shape 7"/>
          <p:cNvSpPr/>
          <p:nvPr/>
        </p:nvSpPr>
        <p:spPr>
          <a:xfrm>
            <a:off x="320040" y="1115568"/>
            <a:ext cx="8503920" cy="548640"/>
          </a:xfrm>
          <a:prstGeom prst="rect">
            <a:avLst/>
          </a:prstGeom>
          <a:solidFill>
            <a:srgbClr val="1B2A4A"/>
          </a:solidFill>
          <a:ln/>
        </p:spPr>
      </p:sp>
      <p:sp>
        <p:nvSpPr>
          <p:cNvPr id="10" name="Text 8"/>
          <p:cNvSpPr txBox="1"/>
          <p:nvPr/>
        </p:nvSpPr>
        <p:spPr>
          <a:xfrm>
            <a:off x="411480" y="1115568"/>
            <a:ext cx="8321040" cy="54864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EL  =  POD × LGD                 LGD  =  EE × (1 − RR)</a:t>
            </a:r>
            <a:endParaRPr lang="en-US" sz="1800" dirty="0"/>
          </a:p>
        </p:txBody>
      </p:sp>
      <p:sp>
        <p:nvSpPr>
          <p:cNvPr id="11" name="Text 9"/>
          <p:cNvSpPr txBox="1"/>
          <p:nvPr/>
        </p:nvSpPr>
        <p:spPr>
          <a:xfrm>
            <a:off x="320040" y="16916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POD = probability of default; EE = expected exposure (= EAD); RR = recovery rate; (1 − RR) = loss severity. LGD may be stated in currency (EUR 450,000) or as a percentage of principal (45%) — the percentage form is what allows comparison across borrowers.</a:t>
            </a:r>
            <a:endParaRPr lang="en-US" sz="1100" dirty="0"/>
          </a:p>
        </p:txBody>
      </p:sp>
      <p:sp>
        <p:nvSpPr>
          <p:cNvPr id="12" name="Shape 10"/>
          <p:cNvSpPr/>
          <p:nvPr/>
        </p:nvSpPr>
        <p:spPr>
          <a:xfrm>
            <a:off x="320040" y="2084832"/>
            <a:ext cx="8503920" cy="676656"/>
          </a:xfrm>
          <a:prstGeom prst="rect">
            <a:avLst/>
          </a:prstGeom>
          <a:solidFill>
            <a:srgbClr val="FFFFFF"/>
          </a:solidFill>
          <a:ln/>
        </p:spPr>
      </p:sp>
      <p:sp>
        <p:nvSpPr>
          <p:cNvPr id="13" name="Shape 11"/>
          <p:cNvSpPr/>
          <p:nvPr/>
        </p:nvSpPr>
        <p:spPr>
          <a:xfrm>
            <a:off x="320040" y="2084832"/>
            <a:ext cx="91440" cy="676656"/>
          </a:xfrm>
          <a:prstGeom prst="rect">
            <a:avLst/>
          </a:prstGeom>
          <a:solidFill>
            <a:srgbClr val="E8600A"/>
          </a:solidFill>
          <a:ln/>
        </p:spPr>
      </p:sp>
      <p:sp>
        <p:nvSpPr>
          <p:cNvPr id="14" name="Text 12"/>
          <p:cNvSpPr txBox="1"/>
          <p:nvPr/>
        </p:nvSpPr>
        <p:spPr>
          <a:xfrm>
            <a:off x="502920" y="2084832"/>
            <a:ext cx="365760" cy="676656"/>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5" name="Text 13"/>
          <p:cNvSpPr txBox="1"/>
          <p:nvPr/>
        </p:nvSpPr>
        <p:spPr>
          <a:xfrm>
            <a:off x="868680" y="2121408"/>
            <a:ext cx="7863840" cy="304495"/>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Probability of default (POD)</a:t>
            </a:r>
            <a:endParaRPr lang="en-US" sz="1200" dirty="0"/>
          </a:p>
        </p:txBody>
      </p:sp>
      <p:sp>
        <p:nvSpPr>
          <p:cNvPr id="16" name="Text 14"/>
          <p:cNvSpPr txBox="1"/>
          <p:nvPr/>
        </p:nvSpPr>
        <p:spPr>
          <a:xfrm>
            <a:off x="868680" y="2389327"/>
            <a:ext cx="7863840" cy="372161"/>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Conditional, forward-looking likelihood the issuer fails to make full and timely payment, assuming no prior default. Typically measured over a 12-month horizon. Driven by profitability, coverage and leverage.</a:t>
            </a:r>
            <a:endParaRPr lang="en-US" sz="1200" dirty="0"/>
          </a:p>
        </p:txBody>
      </p:sp>
      <p:sp>
        <p:nvSpPr>
          <p:cNvPr id="17" name="Shape 15"/>
          <p:cNvSpPr/>
          <p:nvPr/>
        </p:nvSpPr>
        <p:spPr>
          <a:xfrm>
            <a:off x="320040" y="2834640"/>
            <a:ext cx="8503920" cy="676656"/>
          </a:xfrm>
          <a:prstGeom prst="rect">
            <a:avLst/>
          </a:prstGeom>
          <a:solidFill>
            <a:srgbClr val="F5F7FA"/>
          </a:solidFill>
          <a:ln/>
        </p:spPr>
      </p:sp>
      <p:sp>
        <p:nvSpPr>
          <p:cNvPr id="18" name="Shape 16"/>
          <p:cNvSpPr/>
          <p:nvPr/>
        </p:nvSpPr>
        <p:spPr>
          <a:xfrm>
            <a:off x="320040" y="2834640"/>
            <a:ext cx="91440" cy="676656"/>
          </a:xfrm>
          <a:prstGeom prst="rect">
            <a:avLst/>
          </a:prstGeom>
          <a:solidFill>
            <a:srgbClr val="E8600A"/>
          </a:solidFill>
          <a:ln/>
        </p:spPr>
      </p:sp>
      <p:sp>
        <p:nvSpPr>
          <p:cNvPr id="19" name="Text 17"/>
          <p:cNvSpPr txBox="1"/>
          <p:nvPr/>
        </p:nvSpPr>
        <p:spPr>
          <a:xfrm>
            <a:off x="502920" y="2834640"/>
            <a:ext cx="365760" cy="676656"/>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20" name="Text 18"/>
          <p:cNvSpPr txBox="1"/>
          <p:nvPr/>
        </p:nvSpPr>
        <p:spPr>
          <a:xfrm>
            <a:off x="868680" y="2871216"/>
            <a:ext cx="7863840" cy="304495"/>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Expected exposure (EE = EAD)</a:t>
            </a:r>
            <a:endParaRPr lang="en-US" sz="1200" dirty="0"/>
          </a:p>
        </p:txBody>
      </p:sp>
      <p:sp>
        <p:nvSpPr>
          <p:cNvPr id="21" name="Text 19"/>
          <p:cNvSpPr txBox="1"/>
          <p:nvPr/>
        </p:nvSpPr>
        <p:spPr>
          <a:xfrm>
            <a:off x="868680" y="3139135"/>
            <a:ext cx="7863840" cy="372161"/>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size of the investor’s claim at the moment of default: face value plus accrued interest, less the current market value of available collateral.</a:t>
            </a:r>
            <a:endParaRPr lang="en-US" sz="1200" dirty="0"/>
          </a:p>
        </p:txBody>
      </p:sp>
      <p:sp>
        <p:nvSpPr>
          <p:cNvPr id="22" name="Shape 20"/>
          <p:cNvSpPr/>
          <p:nvPr/>
        </p:nvSpPr>
        <p:spPr>
          <a:xfrm>
            <a:off x="320040" y="3584448"/>
            <a:ext cx="8503920" cy="676656"/>
          </a:xfrm>
          <a:prstGeom prst="rect">
            <a:avLst/>
          </a:prstGeom>
          <a:solidFill>
            <a:srgbClr val="FFFFFF"/>
          </a:solidFill>
          <a:ln/>
        </p:spPr>
      </p:sp>
      <p:sp>
        <p:nvSpPr>
          <p:cNvPr id="23" name="Shape 21"/>
          <p:cNvSpPr/>
          <p:nvPr/>
        </p:nvSpPr>
        <p:spPr>
          <a:xfrm>
            <a:off x="320040" y="3584448"/>
            <a:ext cx="91440" cy="676656"/>
          </a:xfrm>
          <a:prstGeom prst="rect">
            <a:avLst/>
          </a:prstGeom>
          <a:solidFill>
            <a:srgbClr val="E8600A"/>
          </a:solidFill>
          <a:ln/>
        </p:spPr>
      </p:sp>
      <p:sp>
        <p:nvSpPr>
          <p:cNvPr id="24" name="Text 22"/>
          <p:cNvSpPr txBox="1"/>
          <p:nvPr/>
        </p:nvSpPr>
        <p:spPr>
          <a:xfrm>
            <a:off x="502920" y="3584448"/>
            <a:ext cx="365760" cy="676656"/>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5" name="Text 23"/>
          <p:cNvSpPr txBox="1"/>
          <p:nvPr/>
        </p:nvSpPr>
        <p:spPr>
          <a:xfrm>
            <a:off x="868680" y="3621024"/>
            <a:ext cx="7863840" cy="304495"/>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Recovery rate (RR) → LGD</a:t>
            </a:r>
            <a:endParaRPr lang="en-US" sz="1200" dirty="0"/>
          </a:p>
        </p:txBody>
      </p:sp>
      <p:sp>
        <p:nvSpPr>
          <p:cNvPr id="26" name="Text 24"/>
          <p:cNvSpPr txBox="1"/>
          <p:nvPr/>
        </p:nvSpPr>
        <p:spPr>
          <a:xfrm>
            <a:off x="868680" y="3888943"/>
            <a:ext cx="7863840" cy="372161"/>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RR is the percentage of the claim recovered; (1 − RR) is loss severity. LGD = EE × (1 − RR). LGD is a function of seniority — secured debt recovers more, junior subordinated debt often has LGD ≈ 100%.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Expected loss is probability times severity times claim size — and the fair credit spread is an approximation of that same product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14, Self-Assessment Q2 (printed pp. 342–343) and Example 2 (printed pp. 351–352).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Collateral is netted off expected exposure BEFORE the recovery haircut is applied. Miss that step and you overstate the loss by a third.</a:t>
            </a:r>
            <a:endParaRPr lang="en-US" sz="1300" dirty="0"/>
          </a:p>
        </p:txBody>
      </p:sp>
      <p:sp>
        <p:nvSpPr>
          <p:cNvPr id="9" name="Shape 7"/>
          <p:cNvSpPr/>
          <p:nvPr/>
        </p:nvSpPr>
        <p:spPr>
          <a:xfrm>
            <a:off x="320040" y="1097280"/>
            <a:ext cx="8503920" cy="530352"/>
          </a:xfrm>
          <a:prstGeom prst="rect">
            <a:avLst/>
          </a:prstGeom>
          <a:solidFill>
            <a:srgbClr val="1B2A4A"/>
          </a:solidFill>
          <a:ln/>
        </p:spPr>
      </p:sp>
      <p:sp>
        <p:nvSpPr>
          <p:cNvPr id="10" name="Text 8"/>
          <p:cNvSpPr txBox="1"/>
          <p:nvPr/>
        </p:nvSpPr>
        <p:spPr>
          <a:xfrm>
            <a:off x="411480" y="1097280"/>
            <a:ext cx="8321040" cy="53035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EL  =  POD × (EE − Collateral) × (1 − RR)</a:t>
            </a:r>
            <a:endParaRPr lang="en-US" sz="1800" dirty="0"/>
          </a:p>
        </p:txBody>
      </p:sp>
      <p:sp>
        <p:nvSpPr>
          <p:cNvPr id="11" name="Text 9"/>
          <p:cNvSpPr txBox="1"/>
          <p:nvPr/>
        </p:nvSpPr>
        <p:spPr>
          <a:xfrm>
            <a:off x="320040" y="1655064"/>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And Credit spread ≈ POD × LGD: the investor is fairly compensated when the spread equals the annualised expected loss. Curriculum Example 2 — BRWA has POD 1% and LGD 80% ⇒ EL 0.80% against a 90 bps G-spread, so more than fairly compensated.</a:t>
            </a:r>
            <a:endParaRPr lang="en-US" sz="1100" dirty="0"/>
          </a:p>
        </p:txBody>
      </p:sp>
      <p:sp>
        <p:nvSpPr>
          <p:cNvPr id="12" name="Shape 10"/>
          <p:cNvSpPr/>
          <p:nvPr/>
        </p:nvSpPr>
        <p:spPr>
          <a:xfrm>
            <a:off x="320040" y="1956816"/>
            <a:ext cx="8503920" cy="2286000"/>
          </a:xfrm>
          <a:prstGeom prst="rect">
            <a:avLst/>
          </a:prstGeom>
          <a:solidFill>
            <a:srgbClr val="FEF0E7"/>
          </a:solidFill>
          <a:ln w="9525">
            <a:solidFill>
              <a:srgbClr val="E8600A"/>
            </a:solidFill>
            <a:prstDash val="solid"/>
          </a:ln>
        </p:spPr>
      </p:sp>
      <p:sp>
        <p:nvSpPr>
          <p:cNvPr id="13" name="Text 11"/>
          <p:cNvSpPr txBox="1"/>
          <p:nvPr/>
        </p:nvSpPr>
        <p:spPr>
          <a:xfrm>
            <a:off x="457200" y="2002536"/>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14 SELF-ASSESSMENT Q2 — EUR 500,000 LOAN (printed pp. 342–343)</a:t>
            </a:r>
            <a:endParaRPr lang="en-US" sz="1100" dirty="0"/>
          </a:p>
        </p:txBody>
      </p:sp>
      <p:sp>
        <p:nvSpPr>
          <p:cNvPr id="14" name="Text 12"/>
          <p:cNvSpPr txBox="1"/>
          <p:nvPr/>
        </p:nvSpPr>
        <p:spPr>
          <a:xfrm>
            <a:off x="457200" y="2295144"/>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Probability of default 5%. Expected exposure EUR 400,000. Collateral EUR 100,000. Recovery rate 90%.</a:t>
            </a:r>
            <a:endParaRPr lang="en-US" sz="1200" dirty="0"/>
          </a:p>
        </p:txBody>
      </p:sp>
      <p:sp>
        <p:nvSpPr>
          <p:cNvPr id="15" name="Text 13"/>
          <p:cNvSpPr txBox="1"/>
          <p:nvPr/>
        </p:nvSpPr>
        <p:spPr>
          <a:xfrm>
            <a:off x="457200" y="2807208"/>
            <a:ext cx="8229600" cy="92354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Net the collateral off exposure:  400,000 − 100,000  =  EUR 300,000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Loss severity:  1 − RR  =  1 − 0.90  =  10%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LGD in currency:  300,000 × 10%  =  EUR 30,000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EL = POD × LGD:  0.05 × 30,000  =  EUR 1,500</a:t>
            </a:r>
            <a:endParaRPr lang="en-US" sz="1150" dirty="0"/>
          </a:p>
        </p:txBody>
      </p:sp>
      <p:sp>
        <p:nvSpPr>
          <p:cNvPr id="16" name="Shape 14"/>
          <p:cNvSpPr/>
          <p:nvPr/>
        </p:nvSpPr>
        <p:spPr>
          <a:xfrm>
            <a:off x="411480" y="3803904"/>
            <a:ext cx="8321040" cy="365760"/>
          </a:xfrm>
          <a:prstGeom prst="rect">
            <a:avLst/>
          </a:prstGeom>
          <a:solidFill>
            <a:srgbClr val="E8600A"/>
          </a:solidFill>
          <a:ln/>
        </p:spPr>
      </p:sp>
      <p:sp>
        <p:nvSpPr>
          <p:cNvPr id="17" name="Text 15"/>
          <p:cNvSpPr txBox="1"/>
          <p:nvPr/>
        </p:nvSpPr>
        <p:spPr>
          <a:xfrm>
            <a:off x="457200" y="3803904"/>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EL = EUR 1,500 = 0.30% of the EUR 500,000 face. A spread above 30 bps more than compensates.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three agencies use parallel symbol scales, and the market splits the universe at Baa3 / BBB− — below that line, bonds are speculative grade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14, Exhibit 7, printed pp. 356–357. S&amp;P and Fitch are identical at every notch shown; D means already in default, while Moody’s C-rated bonds are likely, but not necessarily, in default.</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Ratings are commissioned and paid for by the issuer, and they measure default risk — not price. They are an opinion on expected loss, not a buy signal.</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8503920" cy="914400"/>
        </p:xfrm>
        <a:graphic>
          <a:graphicData uri="http://schemas.openxmlformats.org/drawingml/2006/table">
            <a:tbl>
              <a:tblPr/>
              <a:tblGrid>
                <a:gridCol w="2103120"/>
                <a:gridCol w="1188720"/>
                <a:gridCol w="1463040"/>
                <a:gridCol w="822960"/>
                <a:gridCol w="29260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Rating grade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Moody’s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S&amp;P / Fitch</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Grade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Description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High-Quality Grade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Aaa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AAA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Highest quality, lowest risk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High-Quality Grade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Aa1 – Aa3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AA+ – AA−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Very high quality, very low risk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Upper-Medium Grade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A1 – A3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 – 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 quality, low credit risk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Low-Medium Grade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Baa1 – Baa3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BBB+ – BBB−</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Good quality, moderate risk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Low Grade / Speculative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Ba1 – Ba3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BB+ – BB−</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Speculative, substantial risk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Low Grade / Speculative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B1 – B3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 – B−</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Highly speculative, high risk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Low Grade / Speculative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Caa1 – Caa3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CCC+ – CCC−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Default a real possibility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Low Grade / Speculative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Default occurring or imminent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Default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 default, little recovery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931920"/>
            <a:ext cx="8503920" cy="603504"/>
          </a:xfrm>
          <a:prstGeom prst="rect">
            <a:avLst/>
          </a:prstGeom>
          <a:solidFill>
            <a:srgbClr val="FEF0E7"/>
          </a:solidFill>
          <a:ln/>
        </p:spPr>
      </p:sp>
      <p:sp>
        <p:nvSpPr>
          <p:cNvPr id="11" name="Shape 8"/>
          <p:cNvSpPr/>
          <p:nvPr/>
        </p:nvSpPr>
        <p:spPr>
          <a:xfrm>
            <a:off x="320040" y="3931920"/>
            <a:ext cx="73152" cy="603504"/>
          </a:xfrm>
          <a:prstGeom prst="rect">
            <a:avLst/>
          </a:prstGeom>
          <a:solidFill>
            <a:srgbClr val="E8600A"/>
          </a:solidFill>
          <a:ln/>
        </p:spPr>
      </p:sp>
      <p:sp>
        <p:nvSpPr>
          <p:cNvPr id="12" name="Text 9"/>
          <p:cNvSpPr txBox="1"/>
          <p:nvPr/>
        </p:nvSpPr>
        <p:spPr>
          <a:xfrm>
            <a:off x="457200" y="39776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Baa3 / BBB− LINE, AND MIGRATION RISK</a:t>
            </a:r>
            <a:endParaRPr lang="en-US" sz="1100" dirty="0"/>
          </a:p>
        </p:txBody>
      </p:sp>
      <p:sp>
        <p:nvSpPr>
          <p:cNvPr id="13" name="Text 10"/>
          <p:cNvSpPr txBox="1"/>
          <p:nvPr/>
        </p:nvSpPr>
        <p:spPr>
          <a:xfrm>
            <a:off x="457200" y="4251960"/>
            <a:ext cx="8275320" cy="23774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Credit migration (downgrade) risk is the risk that creditworthiness deteriorates — no default required. Ratings also trigger covenants and step-up coupons. IG issuers borrow more consistently and more cheaply than HY issuers.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Four ratio families drive POD — profitability, coverage and two measures of leverage — while LGD is set separately by seniority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Exhibit 5 is four scatter charts of ratio against rating category. It shows ordering and axis ranges only — no numeric threshold per rating.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14, Exhibits 5 and 6, printed pp. 352–354.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Curriculum wording: higher profitability and higher coverage, coupled with lower leverage, are associated with a lower POD and higher credit quality.</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920240"/>
                <a:gridCol w="2468880"/>
                <a:gridCol w="1920240"/>
                <a:gridCol w="21945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Driver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Ratio in Exhibit 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Exhibit 5 axis range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As rating improves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Profitability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EBIT margin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 – 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Coverage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EBIT / Interest expense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0x – 20x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Leverage (earnings)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Debt / EBITDA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0x – 8x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Falls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Leverage (cash flow)</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Cash flow / Net debt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 – 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2633472"/>
            <a:ext cx="8503920" cy="731520"/>
          </a:xfrm>
          <a:prstGeom prst="rect">
            <a:avLst/>
          </a:prstGeom>
          <a:solidFill>
            <a:srgbClr val="FEF0E7"/>
          </a:solidFill>
          <a:ln/>
        </p:spPr>
      </p:sp>
      <p:sp>
        <p:nvSpPr>
          <p:cNvPr id="12" name="Shape 9"/>
          <p:cNvSpPr/>
          <p:nvPr/>
        </p:nvSpPr>
        <p:spPr>
          <a:xfrm>
            <a:off x="320040" y="2633472"/>
            <a:ext cx="73152" cy="731520"/>
          </a:xfrm>
          <a:prstGeom prst="rect">
            <a:avLst/>
          </a:prstGeom>
          <a:solidFill>
            <a:srgbClr val="E8600A"/>
          </a:solidFill>
          <a:ln/>
        </p:spPr>
      </p:sp>
      <p:sp>
        <p:nvSpPr>
          <p:cNvPr id="13" name="Text 10"/>
          <p:cNvSpPr txBox="1"/>
          <p:nvPr/>
        </p:nvSpPr>
        <p:spPr>
          <a:xfrm>
            <a:off x="457200" y="267919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EXHIBIT 5 ACTUALLY SHOWS — AND WHAT IT DOES NOT</a:t>
            </a:r>
            <a:endParaRPr lang="en-US" sz="1100" dirty="0"/>
          </a:p>
        </p:txBody>
      </p:sp>
      <p:sp>
        <p:nvSpPr>
          <p:cNvPr id="14" name="Text 11"/>
          <p:cNvSpPr txBox="1"/>
          <p:nvPr/>
        </p:nvSpPr>
        <p:spPr>
          <a:xfrm>
            <a:off x="457200" y="2953512"/>
            <a:ext cx="8275320" cy="365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It plots each ratio against rating category from Aaa down to Ca, establishing direction and rank order. It does NOT publish a threshold table. Ratio levels for a given rating vary widely across industries and over time, so any single cut-off is an industry judgement, not a rule.</a:t>
            </a:r>
            <a:endParaRPr lang="en-US" sz="1200" dirty="0"/>
          </a:p>
        </p:txBody>
      </p:sp>
      <p:sp>
        <p:nvSpPr>
          <p:cNvPr id="15" name="Shape 12"/>
          <p:cNvSpPr/>
          <p:nvPr/>
        </p:nvSpPr>
        <p:spPr>
          <a:xfrm>
            <a:off x="320040" y="3474720"/>
            <a:ext cx="4160520" cy="841248"/>
          </a:xfrm>
          <a:prstGeom prst="rect">
            <a:avLst/>
          </a:prstGeom>
          <a:solidFill>
            <a:srgbClr val="F5F7FA"/>
          </a:solidFill>
          <a:ln/>
        </p:spPr>
      </p:sp>
      <p:sp>
        <p:nvSpPr>
          <p:cNvPr id="16" name="Shape 13"/>
          <p:cNvSpPr/>
          <p:nvPr/>
        </p:nvSpPr>
        <p:spPr>
          <a:xfrm>
            <a:off x="320040" y="3474720"/>
            <a:ext cx="73152" cy="841248"/>
          </a:xfrm>
          <a:prstGeom prst="rect">
            <a:avLst/>
          </a:prstGeom>
          <a:solidFill>
            <a:srgbClr val="1B2A4A"/>
          </a:solidFill>
          <a:ln/>
        </p:spPr>
      </p:sp>
      <p:sp>
        <p:nvSpPr>
          <p:cNvPr id="17" name="Text 14"/>
          <p:cNvSpPr txBox="1"/>
          <p:nvPr/>
        </p:nvSpPr>
        <p:spPr>
          <a:xfrm>
            <a:off x="457200" y="3520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POD SIDE</a:t>
            </a:r>
            <a:endParaRPr lang="en-US" sz="1100" dirty="0"/>
          </a:p>
        </p:txBody>
      </p:sp>
      <p:sp>
        <p:nvSpPr>
          <p:cNvPr id="18" name="Text 15"/>
          <p:cNvSpPr txBox="1"/>
          <p:nvPr/>
        </p:nvSpPr>
        <p:spPr>
          <a:xfrm>
            <a:off x="457200" y="3794760"/>
            <a:ext cx="3931920" cy="47548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Set by the issuer’s own financials: stable profits, enough cash flow to cover debt service, limited reliance on debt.</a:t>
            </a:r>
            <a:endParaRPr lang="en-US" sz="1200" dirty="0"/>
          </a:p>
        </p:txBody>
      </p:sp>
      <p:sp>
        <p:nvSpPr>
          <p:cNvPr id="19" name="Shape 16"/>
          <p:cNvSpPr/>
          <p:nvPr/>
        </p:nvSpPr>
        <p:spPr>
          <a:xfrm>
            <a:off x="4663440" y="3474720"/>
            <a:ext cx="4160520" cy="841248"/>
          </a:xfrm>
          <a:prstGeom prst="rect">
            <a:avLst/>
          </a:prstGeom>
          <a:solidFill>
            <a:srgbClr val="FEF0E7"/>
          </a:solidFill>
          <a:ln/>
        </p:spPr>
      </p:sp>
      <p:sp>
        <p:nvSpPr>
          <p:cNvPr id="20" name="Shape 17"/>
          <p:cNvSpPr/>
          <p:nvPr/>
        </p:nvSpPr>
        <p:spPr>
          <a:xfrm>
            <a:off x="4663440" y="3474720"/>
            <a:ext cx="73152" cy="841248"/>
          </a:xfrm>
          <a:prstGeom prst="rect">
            <a:avLst/>
          </a:prstGeom>
          <a:solidFill>
            <a:srgbClr val="E8600A"/>
          </a:solidFill>
          <a:ln/>
        </p:spPr>
      </p:sp>
      <p:sp>
        <p:nvSpPr>
          <p:cNvPr id="21" name="Text 18"/>
          <p:cNvSpPr txBox="1"/>
          <p:nvPr/>
        </p:nvSpPr>
        <p:spPr>
          <a:xfrm>
            <a:off x="4800600" y="3520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LGD SIDE (EXHIBIT 6)</a:t>
            </a:r>
            <a:endParaRPr lang="en-US" sz="1100" dirty="0"/>
          </a:p>
        </p:txBody>
      </p:sp>
      <p:sp>
        <p:nvSpPr>
          <p:cNvPr id="22" name="Text 19"/>
          <p:cNvSpPr txBox="1"/>
          <p:nvPr/>
        </p:nvSpPr>
        <p:spPr>
          <a:xfrm>
            <a:off x="4800600" y="3794760"/>
            <a:ext cx="3931920" cy="47548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Set by the nature and seniority of the claim: secured debt = lower LGD, unsecured debt = higher LGD. Ratios do not move 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corporate yield is a benchmark plus a liquidity spread plus a credit spread — and a change in that spread hits price through duration and convexity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14, Example 6 (printed pp. 367–369), Equations 3–4 (printed p. 370) and Self-Assessment Q6 (printed pp. 343–344).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same duration and convexity statistics apply whether the yield change comes from the benchmark or from the spread. Spread narrowing raises the holding-period return.</a:t>
            </a:r>
            <a:endParaRPr lang="en-US" sz="1300" dirty="0"/>
          </a:p>
        </p:txBody>
      </p:sp>
      <p:sp>
        <p:nvSpPr>
          <p:cNvPr id="9" name="Shape 7"/>
          <p:cNvSpPr/>
          <p:nvPr/>
        </p:nvSpPr>
        <p:spPr>
          <a:xfrm>
            <a:off x="320040" y="1097280"/>
            <a:ext cx="8503920" cy="530352"/>
          </a:xfrm>
          <a:prstGeom prst="rect">
            <a:avLst/>
          </a:prstGeom>
          <a:solidFill>
            <a:srgbClr val="1B2A4A"/>
          </a:solidFill>
          <a:ln/>
        </p:spPr>
      </p:sp>
      <p:sp>
        <p:nvSpPr>
          <p:cNvPr id="10" name="Text 8"/>
          <p:cNvSpPr txBox="1"/>
          <p:nvPr/>
        </p:nvSpPr>
        <p:spPr>
          <a:xfrm>
            <a:off x="411480" y="1097280"/>
            <a:ext cx="8321040" cy="53035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%ΔPV_full  =  − (AnnModDur × ΔS)  +  ½ × AnnConvexity × (ΔS)²</a:t>
            </a:r>
            <a:endParaRPr lang="en-US" sz="1800" dirty="0"/>
          </a:p>
        </p:txBody>
      </p:sp>
      <p:sp>
        <p:nvSpPr>
          <p:cNvPr id="11" name="Text 9"/>
          <p:cNvSpPr txBox="1"/>
          <p:nvPr/>
        </p:nvSpPr>
        <p:spPr>
          <a:xfrm>
            <a:off x="320040" y="1655064"/>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ΔS = the change in spread. Scale convexity to the same order of magnitude as duration squared: a reported convexity of 0.23 is used as 23. Spreads are narrowest at or near the top of the credit cycle and widest at or near the bottom.</a:t>
            </a:r>
            <a:endParaRPr lang="en-US" sz="1100" dirty="0"/>
          </a:p>
        </p:txBody>
      </p:sp>
      <p:sp>
        <p:nvSpPr>
          <p:cNvPr id="12" name="Shape 10"/>
          <p:cNvSpPr/>
          <p:nvPr/>
        </p:nvSpPr>
        <p:spPr>
          <a:xfrm>
            <a:off x="320040" y="1975104"/>
            <a:ext cx="4160520" cy="2322576"/>
          </a:xfrm>
          <a:prstGeom prst="rect">
            <a:avLst/>
          </a:prstGeom>
          <a:solidFill>
            <a:srgbClr val="F5F7FA"/>
          </a:solidFill>
          <a:ln/>
        </p:spPr>
      </p:sp>
      <p:sp>
        <p:nvSpPr>
          <p:cNvPr id="13" name="Shape 11"/>
          <p:cNvSpPr/>
          <p:nvPr/>
        </p:nvSpPr>
        <p:spPr>
          <a:xfrm>
            <a:off x="320040" y="1975104"/>
            <a:ext cx="73152" cy="2322576"/>
          </a:xfrm>
          <a:prstGeom prst="rect">
            <a:avLst/>
          </a:prstGeom>
          <a:solidFill>
            <a:srgbClr val="1B2A4A"/>
          </a:solidFill>
          <a:ln/>
        </p:spPr>
      </p:sp>
      <p:sp>
        <p:nvSpPr>
          <p:cNvPr id="14" name="Text 12"/>
          <p:cNvSpPr txBox="1"/>
          <p:nvPr/>
        </p:nvSpPr>
        <p:spPr>
          <a:xfrm>
            <a:off x="457200" y="2020824"/>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DECOMPOSING THE SPREAD — ROMANIA 2049 EUROBOND</a:t>
            </a:r>
            <a:endParaRPr lang="en-US" sz="1100" dirty="0"/>
          </a:p>
        </p:txBody>
      </p:sp>
      <p:sp>
        <p:nvSpPr>
          <p:cNvPr id="15" name="Text 13"/>
          <p:cNvSpPr txBox="1"/>
          <p:nvPr/>
        </p:nvSpPr>
        <p:spPr>
          <a:xfrm>
            <a:off x="457200" y="2295144"/>
            <a:ext cx="3931920" cy="1956816"/>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Mid price 124.00 on a 4.625% bond with 28 years left ⇒ yield 3.2988%.</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Benchmark: German bund 0.2350% (23.50 bps).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Yield spread: 3.2988% − 0.2350% = 306.38 bps.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Liquidity spread from the bid/offer: yield at the bid 3.3588% less yield at the offer 3.2396% = 11.92 bps.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Credit spread = 306.38 − 11.92 = 294.46 bps.</a:t>
            </a:r>
            <a:endParaRPr lang="en-US" sz="1200" dirty="0"/>
          </a:p>
        </p:txBody>
      </p:sp>
      <p:sp>
        <p:nvSpPr>
          <p:cNvPr id="16" name="Shape 14"/>
          <p:cNvSpPr/>
          <p:nvPr/>
        </p:nvSpPr>
        <p:spPr>
          <a:xfrm>
            <a:off x="4663440" y="1975104"/>
            <a:ext cx="4160520" cy="2322576"/>
          </a:xfrm>
          <a:prstGeom prst="rect">
            <a:avLst/>
          </a:prstGeom>
          <a:solidFill>
            <a:srgbClr val="FEF0E7"/>
          </a:solidFill>
          <a:ln w="9525">
            <a:solidFill>
              <a:srgbClr val="E8600A"/>
            </a:solidFill>
            <a:prstDash val="solid"/>
          </a:ln>
        </p:spPr>
      </p:sp>
      <p:sp>
        <p:nvSpPr>
          <p:cNvPr id="17" name="Text 15"/>
          <p:cNvSpPr txBox="1"/>
          <p:nvPr/>
        </p:nvSpPr>
        <p:spPr>
          <a:xfrm>
            <a:off x="4800600" y="2020824"/>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LM 14 SELF-ASSESSMENT Q6 — HY BOND, SPREADS +100 bps</a:t>
            </a:r>
            <a:endParaRPr lang="en-US" sz="1100" dirty="0"/>
          </a:p>
        </p:txBody>
      </p:sp>
      <p:sp>
        <p:nvSpPr>
          <p:cNvPr id="18" name="Text 16"/>
          <p:cNvSpPr txBox="1"/>
          <p:nvPr/>
        </p:nvSpPr>
        <p:spPr>
          <a:xfrm>
            <a:off x="4800600" y="2313432"/>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Modified duration 4.5; reported convexity 0.23, rescaled to 23; ΔSpread = +1.00%.</a:t>
            </a:r>
            <a:endParaRPr lang="en-US" sz="1200" dirty="0"/>
          </a:p>
        </p:txBody>
      </p:sp>
      <p:sp>
        <p:nvSpPr>
          <p:cNvPr id="19" name="Text 17"/>
          <p:cNvSpPr txBox="1"/>
          <p:nvPr/>
        </p:nvSpPr>
        <p:spPr>
          <a:xfrm>
            <a:off x="4800600" y="2825496"/>
            <a:ext cx="3886200" cy="960120"/>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Duration:  − 4.5 × 1.00%  =  − 4.500%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Convexity:  ½ × 23 × (1.00%)²  =  + 0.115%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Sum:  − 4.500% + 0.115%  =  − 4.385%</a:t>
            </a:r>
            <a:endParaRPr lang="en-US" sz="1200" dirty="0"/>
          </a:p>
        </p:txBody>
      </p:sp>
      <p:sp>
        <p:nvSpPr>
          <p:cNvPr id="20" name="Shape 18"/>
          <p:cNvSpPr/>
          <p:nvPr/>
        </p:nvSpPr>
        <p:spPr>
          <a:xfrm>
            <a:off x="4754880" y="3858768"/>
            <a:ext cx="3977640" cy="365760"/>
          </a:xfrm>
          <a:prstGeom prst="rect">
            <a:avLst/>
          </a:prstGeom>
          <a:solidFill>
            <a:srgbClr val="E8600A"/>
          </a:solidFill>
          <a:ln/>
        </p:spPr>
      </p:sp>
      <p:sp>
        <p:nvSpPr>
          <p:cNvPr id="21" name="Text 19"/>
          <p:cNvSpPr txBox="1"/>
          <p:nvPr/>
        </p:nvSpPr>
        <p:spPr>
          <a:xfrm>
            <a:off x="4800600" y="3858768"/>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−4.385%. Convexity softens the blow by 11.5 bps.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Sovereign and non-sovereign</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government issuers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5  ·  Deck 16 of 20  ·  Studio Tonton Gug</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Sovereign creditworthiness rests on ability to pay AND willingness to pay — because sovereign immunity blocks investors from forcing bankruptcy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15, Exhibits 1–2 and Example 1, printed pp. 383–386.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Five qualitative factors, with Government Institutions and Policy sitting above the other four. Willingness is the factor with no ratio behind it.</a:t>
            </a:r>
            <a:endParaRPr lang="en-US" sz="1300" dirty="0"/>
          </a:p>
        </p:txBody>
      </p:sp>
      <p:sp>
        <p:nvSpPr>
          <p:cNvPr id="9" name="Shape 7"/>
          <p:cNvSpPr/>
          <p:nvPr/>
        </p:nvSpPr>
        <p:spPr>
          <a:xfrm>
            <a:off x="320040" y="1115568"/>
            <a:ext cx="1627632" cy="2148840"/>
          </a:xfrm>
          <a:prstGeom prst="rect">
            <a:avLst/>
          </a:prstGeom>
          <a:solidFill>
            <a:srgbClr val="F5F7FA"/>
          </a:solidFill>
          <a:ln/>
        </p:spPr>
      </p:sp>
      <p:sp>
        <p:nvSpPr>
          <p:cNvPr id="10" name="Shape 8"/>
          <p:cNvSpPr/>
          <p:nvPr/>
        </p:nvSpPr>
        <p:spPr>
          <a:xfrm>
            <a:off x="320040" y="1115568"/>
            <a:ext cx="73152" cy="2148840"/>
          </a:xfrm>
          <a:prstGeom prst="rect">
            <a:avLst/>
          </a:prstGeom>
          <a:solidFill>
            <a:srgbClr val="1B2A4A"/>
          </a:solidFill>
          <a:ln/>
        </p:spPr>
      </p:sp>
      <p:sp>
        <p:nvSpPr>
          <p:cNvPr id="11" name="Text 9"/>
          <p:cNvSpPr txBox="1"/>
          <p:nvPr/>
        </p:nvSpPr>
        <p:spPr>
          <a:xfrm>
            <a:off x="457200" y="1161288"/>
            <a:ext cx="1399032"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GOVERNMENT INSTITUTIONS</a:t>
            </a:r>
            <a:endParaRPr lang="en-US" sz="1100" dirty="0"/>
          </a:p>
        </p:txBody>
      </p:sp>
      <p:sp>
        <p:nvSpPr>
          <p:cNvPr id="12" name="Text 10"/>
          <p:cNvSpPr txBox="1"/>
          <p:nvPr/>
        </p:nvSpPr>
        <p:spPr>
          <a:xfrm>
            <a:off x="457200" y="1435608"/>
            <a:ext cx="1399032" cy="1783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Rule of law, property rights, political stability, data transparency — and the willingness-to-pay record.</a:t>
            </a:r>
            <a:endParaRPr lang="en-US" sz="1200" dirty="0"/>
          </a:p>
        </p:txBody>
      </p:sp>
      <p:sp>
        <p:nvSpPr>
          <p:cNvPr id="13" name="Shape 11"/>
          <p:cNvSpPr/>
          <p:nvPr/>
        </p:nvSpPr>
        <p:spPr>
          <a:xfrm>
            <a:off x="2039112" y="1115568"/>
            <a:ext cx="1627632" cy="2148840"/>
          </a:xfrm>
          <a:prstGeom prst="rect">
            <a:avLst/>
          </a:prstGeom>
          <a:solidFill>
            <a:srgbClr val="FEF0E7"/>
          </a:solidFill>
          <a:ln/>
        </p:spPr>
      </p:sp>
      <p:sp>
        <p:nvSpPr>
          <p:cNvPr id="14" name="Shape 12"/>
          <p:cNvSpPr/>
          <p:nvPr/>
        </p:nvSpPr>
        <p:spPr>
          <a:xfrm>
            <a:off x="2039112" y="1115568"/>
            <a:ext cx="73152" cy="2148840"/>
          </a:xfrm>
          <a:prstGeom prst="rect">
            <a:avLst/>
          </a:prstGeom>
          <a:solidFill>
            <a:srgbClr val="E8600A"/>
          </a:solidFill>
          <a:ln/>
        </p:spPr>
      </p:sp>
      <p:sp>
        <p:nvSpPr>
          <p:cNvPr id="15" name="Text 13"/>
          <p:cNvSpPr txBox="1"/>
          <p:nvPr/>
        </p:nvSpPr>
        <p:spPr>
          <a:xfrm>
            <a:off x="2176272" y="1161288"/>
            <a:ext cx="1399032"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FISCAL FLEXIBILITY</a:t>
            </a:r>
            <a:endParaRPr lang="en-US" sz="1100" dirty="0"/>
          </a:p>
        </p:txBody>
      </p:sp>
      <p:sp>
        <p:nvSpPr>
          <p:cNvPr id="16" name="Text 14"/>
          <p:cNvSpPr txBox="1"/>
          <p:nvPr/>
        </p:nvSpPr>
        <p:spPr>
          <a:xfrm>
            <a:off x="2176272" y="1435608"/>
            <a:ext cx="1399032" cy="1783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Ability to adjust revenue and spending; fiscal discipline over the cycle; prudent use of debt.</a:t>
            </a:r>
            <a:endParaRPr lang="en-US" sz="1200" dirty="0"/>
          </a:p>
        </p:txBody>
      </p:sp>
      <p:sp>
        <p:nvSpPr>
          <p:cNvPr id="17" name="Shape 15"/>
          <p:cNvSpPr/>
          <p:nvPr/>
        </p:nvSpPr>
        <p:spPr>
          <a:xfrm>
            <a:off x="3758184" y="1115568"/>
            <a:ext cx="1627632" cy="2148840"/>
          </a:xfrm>
          <a:prstGeom prst="rect">
            <a:avLst/>
          </a:prstGeom>
          <a:solidFill>
            <a:srgbClr val="F5F7FA"/>
          </a:solidFill>
          <a:ln/>
        </p:spPr>
      </p:sp>
      <p:sp>
        <p:nvSpPr>
          <p:cNvPr id="18" name="Shape 16"/>
          <p:cNvSpPr/>
          <p:nvPr/>
        </p:nvSpPr>
        <p:spPr>
          <a:xfrm>
            <a:off x="3758184" y="1115568"/>
            <a:ext cx="73152" cy="2148840"/>
          </a:xfrm>
          <a:prstGeom prst="rect">
            <a:avLst/>
          </a:prstGeom>
          <a:solidFill>
            <a:srgbClr val="1B2A4A"/>
          </a:solidFill>
          <a:ln/>
        </p:spPr>
      </p:sp>
      <p:sp>
        <p:nvSpPr>
          <p:cNvPr id="19" name="Text 17"/>
          <p:cNvSpPr txBox="1"/>
          <p:nvPr/>
        </p:nvSpPr>
        <p:spPr>
          <a:xfrm>
            <a:off x="3895344" y="1161288"/>
            <a:ext cx="1399032"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MONETARY EFFECTIVENESS</a:t>
            </a:r>
            <a:endParaRPr lang="en-US" sz="1100" dirty="0"/>
          </a:p>
        </p:txBody>
      </p:sp>
      <p:sp>
        <p:nvSpPr>
          <p:cNvPr id="20" name="Text 18"/>
          <p:cNvSpPr txBox="1"/>
          <p:nvPr/>
        </p:nvSpPr>
        <p:spPr>
          <a:xfrm>
            <a:off x="3895344" y="1435608"/>
            <a:ext cx="1399032" cy="1783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Policy credibility, exchange-rate regime, central-bank independence, depth of the domestic debt market.</a:t>
            </a:r>
            <a:endParaRPr lang="en-US" sz="1200" dirty="0"/>
          </a:p>
        </p:txBody>
      </p:sp>
      <p:sp>
        <p:nvSpPr>
          <p:cNvPr id="21" name="Shape 19"/>
          <p:cNvSpPr/>
          <p:nvPr/>
        </p:nvSpPr>
        <p:spPr>
          <a:xfrm>
            <a:off x="5477256" y="1115568"/>
            <a:ext cx="1627632" cy="2148840"/>
          </a:xfrm>
          <a:prstGeom prst="rect">
            <a:avLst/>
          </a:prstGeom>
          <a:solidFill>
            <a:srgbClr val="FEF0E7"/>
          </a:solidFill>
          <a:ln/>
        </p:spPr>
      </p:sp>
      <p:sp>
        <p:nvSpPr>
          <p:cNvPr id="22" name="Shape 20"/>
          <p:cNvSpPr/>
          <p:nvPr/>
        </p:nvSpPr>
        <p:spPr>
          <a:xfrm>
            <a:off x="5477256" y="1115568"/>
            <a:ext cx="73152" cy="2148840"/>
          </a:xfrm>
          <a:prstGeom prst="rect">
            <a:avLst/>
          </a:prstGeom>
          <a:solidFill>
            <a:srgbClr val="E8600A"/>
          </a:solidFill>
          <a:ln/>
        </p:spPr>
      </p:sp>
      <p:sp>
        <p:nvSpPr>
          <p:cNvPr id="23" name="Text 21"/>
          <p:cNvSpPr txBox="1"/>
          <p:nvPr/>
        </p:nvSpPr>
        <p:spPr>
          <a:xfrm>
            <a:off x="5614416" y="1161288"/>
            <a:ext cx="1399032"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ECONOMIC FLEXIBILITY</a:t>
            </a:r>
            <a:endParaRPr lang="en-US" sz="1100" dirty="0"/>
          </a:p>
        </p:txBody>
      </p:sp>
      <p:sp>
        <p:nvSpPr>
          <p:cNvPr id="24" name="Text 22"/>
          <p:cNvSpPr txBox="1"/>
          <p:nvPr/>
        </p:nvSpPr>
        <p:spPr>
          <a:xfrm>
            <a:off x="5614416" y="1435608"/>
            <a:ext cx="1399032" cy="1783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Size, per-capita income, diversification, competitiveness, adaptability to shocks.</a:t>
            </a:r>
            <a:endParaRPr lang="en-US" sz="1200" dirty="0"/>
          </a:p>
        </p:txBody>
      </p:sp>
      <p:sp>
        <p:nvSpPr>
          <p:cNvPr id="25" name="Shape 23"/>
          <p:cNvSpPr/>
          <p:nvPr/>
        </p:nvSpPr>
        <p:spPr>
          <a:xfrm>
            <a:off x="7196328" y="1115568"/>
            <a:ext cx="1627632" cy="2148840"/>
          </a:xfrm>
          <a:prstGeom prst="rect">
            <a:avLst/>
          </a:prstGeom>
          <a:solidFill>
            <a:srgbClr val="F5F7FA"/>
          </a:solidFill>
          <a:ln/>
        </p:spPr>
      </p:sp>
      <p:sp>
        <p:nvSpPr>
          <p:cNvPr id="26" name="Shape 24"/>
          <p:cNvSpPr/>
          <p:nvPr/>
        </p:nvSpPr>
        <p:spPr>
          <a:xfrm>
            <a:off x="7196328" y="1115568"/>
            <a:ext cx="73152" cy="2148840"/>
          </a:xfrm>
          <a:prstGeom prst="rect">
            <a:avLst/>
          </a:prstGeom>
          <a:solidFill>
            <a:srgbClr val="1B2A4A"/>
          </a:solidFill>
          <a:ln/>
        </p:spPr>
      </p:sp>
      <p:sp>
        <p:nvSpPr>
          <p:cNvPr id="27" name="Text 25"/>
          <p:cNvSpPr txBox="1"/>
          <p:nvPr/>
        </p:nvSpPr>
        <p:spPr>
          <a:xfrm>
            <a:off x="7333488" y="1161288"/>
            <a:ext cx="1399032"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EXTERNAL STATUS</a:t>
            </a:r>
            <a:endParaRPr lang="en-US" sz="1100" dirty="0"/>
          </a:p>
        </p:txBody>
      </p:sp>
      <p:sp>
        <p:nvSpPr>
          <p:cNvPr id="28" name="Text 26"/>
          <p:cNvSpPr txBox="1"/>
          <p:nvPr/>
        </p:nvSpPr>
        <p:spPr>
          <a:xfrm>
            <a:off x="7333488" y="1435608"/>
            <a:ext cx="1399032" cy="1783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Global currency status, access to external funding, geopolitical risk.</a:t>
            </a:r>
            <a:endParaRPr lang="en-US" sz="1200" dirty="0"/>
          </a:p>
        </p:txBody>
      </p:sp>
      <p:sp>
        <p:nvSpPr>
          <p:cNvPr id="29" name="Shape 27"/>
          <p:cNvSpPr/>
          <p:nvPr/>
        </p:nvSpPr>
        <p:spPr>
          <a:xfrm>
            <a:off x="320040" y="3401568"/>
            <a:ext cx="8503920" cy="896112"/>
          </a:xfrm>
          <a:prstGeom prst="rect">
            <a:avLst/>
          </a:prstGeom>
          <a:solidFill>
            <a:srgbClr val="FEF0E7"/>
          </a:solidFill>
          <a:ln/>
        </p:spPr>
      </p:sp>
      <p:sp>
        <p:nvSpPr>
          <p:cNvPr id="30" name="Shape 28"/>
          <p:cNvSpPr/>
          <p:nvPr/>
        </p:nvSpPr>
        <p:spPr>
          <a:xfrm>
            <a:off x="320040" y="3401568"/>
            <a:ext cx="73152" cy="896112"/>
          </a:xfrm>
          <a:prstGeom prst="rect">
            <a:avLst/>
          </a:prstGeom>
          <a:solidFill>
            <a:srgbClr val="E8600A"/>
          </a:solidFill>
          <a:ln/>
        </p:spPr>
      </p:sp>
      <p:sp>
        <p:nvSpPr>
          <p:cNvPr id="31" name="Text 29"/>
          <p:cNvSpPr txBox="1"/>
          <p:nvPr/>
        </p:nvSpPr>
        <p:spPr>
          <a:xfrm>
            <a:off x="457200" y="344728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SOVEREIGN IMMUNITY IN PRACTICE — URUGUAY, MAY 2003</a:t>
            </a:r>
            <a:endParaRPr lang="en-US" sz="1100" dirty="0"/>
          </a:p>
        </p:txBody>
      </p:sp>
      <p:sp>
        <p:nvSpPr>
          <p:cNvPr id="32" name="Text 30"/>
          <p:cNvSpPr txBox="1"/>
          <p:nvPr/>
        </p:nvSpPr>
        <p:spPr>
          <a:xfrm>
            <a:off x="457200" y="3721608"/>
            <a:ext cx="8275320" cy="53035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After a banking crisis and a forced float of the peso in June 2002, Uruguay agreed an IMF-supported debt exchange extending bond maturities by five years, with 90% of bondholders consenting. Although the transaction was voluntary, analysts deemed it a default in substance: holders were not adequately compensated for the delay, and non-participating holdouts were subordinated.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Quantitative sovereign analysis uses three ratio families — fiscal strength, economic growth and stability, and external stability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15, Exhibits 3, 4, 6 and 7, printed pp. 387–392.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numerator is debt or interest, as for a company. The denominator is GDP (what can be taxed), government revenue (what is actually collected), or FX reserves (external firepower).</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2103120"/>
                <a:gridCol w="1920240"/>
                <a:gridCol w="3017520"/>
                <a:gridCol w="14630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Family (Exhibit 3)</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Ratio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Definition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Higher ratio ⇒</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Fiscal — debt burden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Debt / GDP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General govt debt ÷ GDP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Weaker credit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Fiscal — debt burden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Debt / Revenue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General govt debt ÷ revenue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Weaker credit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Fiscal — affordability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Interest / GDP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Interest payments ÷ GDP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Weaker credit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Fiscal — affordability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Interest / Revenue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Interest payments ÷ revenue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Weaker credit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Growth and stability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Real GDP growth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Average growth, and its std dev</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Stronger credit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Growth and stability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Per capita GDP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GDP ÷ population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Stronger credit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External stability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FX reserves / GDP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FX reserves ÷ GDP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Stronger credit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External stability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Reserve ratio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FX reserves ÷ external debt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Stronger credit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703320"/>
            <a:ext cx="8503920" cy="603504"/>
          </a:xfrm>
          <a:prstGeom prst="rect">
            <a:avLst/>
          </a:prstGeom>
          <a:solidFill>
            <a:srgbClr val="FEF0E7"/>
          </a:solidFill>
          <a:ln/>
        </p:spPr>
      </p:sp>
      <p:sp>
        <p:nvSpPr>
          <p:cNvPr id="11" name="Shape 8"/>
          <p:cNvSpPr/>
          <p:nvPr/>
        </p:nvSpPr>
        <p:spPr>
          <a:xfrm>
            <a:off x="320040" y="3703320"/>
            <a:ext cx="73152" cy="603504"/>
          </a:xfrm>
          <a:prstGeom prst="rect">
            <a:avLst/>
          </a:prstGeom>
          <a:solidFill>
            <a:srgbClr val="E8600A"/>
          </a:solidFill>
          <a:ln/>
        </p:spPr>
      </p:sp>
      <p:sp>
        <p:nvSpPr>
          <p:cNvPr id="12" name="Text 9"/>
          <p:cNvSpPr txBox="1"/>
          <p:nvPr/>
        </p:nvSpPr>
        <p:spPr>
          <a:xfrm>
            <a:off x="457200" y="37490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DATA PROBLEM — AND WHY THERE IS NO THRESHOLD TABLE</a:t>
            </a:r>
            <a:endParaRPr lang="en-US" sz="1100" dirty="0"/>
          </a:p>
        </p:txBody>
      </p:sp>
      <p:sp>
        <p:nvSpPr>
          <p:cNvPr id="13" name="Text 10"/>
          <p:cNvSpPr txBox="1"/>
          <p:nvPr/>
        </p:nvSpPr>
        <p:spPr>
          <a:xfrm>
            <a:off x="457200" y="4023360"/>
            <a:ext cx="8275320" cy="23774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Sovereigns do not publish IFRS accounts. Analysts rely on government statistics that vary in quality and timing, lack cross-country comparability and are revised. Exhibit 5 plots Debt/Revenue and Interest/GDP against Moody’s categories, but publishes no bands: the metrics are weighted and combined, never read in isolation.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Ratios rank the peers but do not decide the rating — Thailand has the strongest reserves of the five and is still rated below Malaysia</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Ratings stated by the curriculum: Malaysia A3 (S&amp;P A), Thailand Baa1, Vietnam Ba3 (S&amp;P BB+). The Philippines matches Thailand; Indonesia is not given.
</a:t>
            </a:r>
            <a:pPr indent="0" marL="0">
              <a:buNone/>
            </a:pPr>
            <a:r>
              <a:rPr lang="en-US" sz="1000" dirty="0">
                <a:solidFill>
                  <a:srgbClr val="6B7A8D"/>
                </a:solidFill>
                <a:latin typeface="Calibri" pitchFamily="34" charset="0"/>
                <a:ea typeface="Calibri" pitchFamily="34" charset="-122"/>
                <a:cs typeface="Calibri" pitchFamily="34" charset="-120"/>
              </a:rPr>
              <a:t>² Reserve ratio = FX reserves ÷ external debt. Reserves alone would rank Thailand first on external creditworthiness.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15, Examples 6 and 7, printed pp. 390–393. Reserve data Bloomberg, FYE 2020.</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Malaysia wins on competitiveness and lower reliance on foreign-currency debt. The Philippines matches Thailand because remittances — nearly 10% of GDP — are a foreign-currency inflow.</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417320"/>
                <a:gridCol w="1600200"/>
                <a:gridCol w="1280160"/>
                <a:gridCol w="1554480"/>
                <a:gridCol w="26517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Sovereign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Moody’s FC rating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Reserve ratio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FX reserves / GDP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Example 6 says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Malaysia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Highest per-capita GDP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Thailand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Baa1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Best reserves, lower rating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Philippines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Same as Thailand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Remittances ~10% of GDP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Vietnam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Ba3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Highest growth of the five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Indonesia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not stated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Largest economy (PPP)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2880360"/>
            <a:ext cx="8503920" cy="1005840"/>
          </a:xfrm>
          <a:prstGeom prst="rect">
            <a:avLst/>
          </a:prstGeom>
          <a:solidFill>
            <a:srgbClr val="FEF0E7"/>
          </a:solidFill>
          <a:ln/>
        </p:spPr>
      </p:sp>
      <p:sp>
        <p:nvSpPr>
          <p:cNvPr id="12" name="Shape 9"/>
          <p:cNvSpPr/>
          <p:nvPr/>
        </p:nvSpPr>
        <p:spPr>
          <a:xfrm>
            <a:off x="320040" y="2880360"/>
            <a:ext cx="73152" cy="1005840"/>
          </a:xfrm>
          <a:prstGeom prst="rect">
            <a:avLst/>
          </a:prstGeom>
          <a:solidFill>
            <a:srgbClr val="E8600A"/>
          </a:solidFill>
          <a:ln/>
        </p:spPr>
      </p:sp>
      <p:sp>
        <p:nvSpPr>
          <p:cNvPr id="13" name="Text 10"/>
          <p:cNvSpPr txBox="1"/>
          <p:nvPr/>
        </p:nvSpPr>
        <p:spPr>
          <a:xfrm>
            <a:off x="457200" y="292608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RESERVE CURRENCY — THE ONE STRUCTURAL DIVIDE</a:t>
            </a:r>
            <a:endParaRPr lang="en-US" sz="1100" dirty="0"/>
          </a:p>
        </p:txBody>
      </p:sp>
      <p:sp>
        <p:nvSpPr>
          <p:cNvPr id="14" name="Text 11"/>
          <p:cNvSpPr txBox="1"/>
          <p:nvPr/>
        </p:nvSpPr>
        <p:spPr>
          <a:xfrm>
            <a:off x="457200" y="3200400"/>
            <a:ext cx="8275320" cy="640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reserve currency is fully convertible and held by foreign central banks and other investors as part of their FX reserves. When foreigners will hold your currency, you can borrow abroad in your own money — which greatly expands market access, sustains structural deficits and a higher debt level, and minimises the likelihood of default. Emerging and frontier sovereigns with capital controls or limited convertibility have no such option and turn to the IMF and other supranationals instead.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Corporate credit analysis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5  ·  Deck 16 of 20  ·  Studio Tonton Gug</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Traditional credit analysis uses eight Cs — five bottom-up factors specific to the borrower, and three top-down factors that apply to every borrower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14, Exhibit 1, printed p. 345.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Capacity and capital are quantitative — they come off the financial statements. Collateral, covenants and character are qualitative and require analyst judgement.</a:t>
            </a:r>
            <a:endParaRPr lang="en-US" sz="1300" dirty="0"/>
          </a:p>
        </p:txBody>
      </p:sp>
      <p:sp>
        <p:nvSpPr>
          <p:cNvPr id="9" name="Shape 7"/>
          <p:cNvSpPr/>
          <p:nvPr/>
        </p:nvSpPr>
        <p:spPr>
          <a:xfrm>
            <a:off x="320040" y="1115568"/>
            <a:ext cx="2773680" cy="1207008"/>
          </a:xfrm>
          <a:prstGeom prst="rect">
            <a:avLst/>
          </a:prstGeom>
          <a:solidFill>
            <a:srgbClr val="F5F7FA"/>
          </a:solidFill>
          <a:ln/>
        </p:spPr>
      </p:sp>
      <p:sp>
        <p:nvSpPr>
          <p:cNvPr id="10" name="Shape 8"/>
          <p:cNvSpPr/>
          <p:nvPr/>
        </p:nvSpPr>
        <p:spPr>
          <a:xfrm>
            <a:off x="320040" y="1115568"/>
            <a:ext cx="73152" cy="1207008"/>
          </a:xfrm>
          <a:prstGeom prst="rect">
            <a:avLst/>
          </a:prstGeom>
          <a:solidFill>
            <a:srgbClr val="1B2A4A"/>
          </a:solidFill>
          <a:ln/>
        </p:spPr>
      </p:sp>
      <p:sp>
        <p:nvSpPr>
          <p:cNvPr id="11" name="Text 9"/>
          <p:cNvSpPr txBox="1"/>
          <p:nvPr/>
        </p:nvSpPr>
        <p:spPr>
          <a:xfrm>
            <a:off x="457200" y="1161288"/>
            <a:ext cx="254508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CONDITIONS</a:t>
            </a:r>
            <a:endParaRPr lang="en-US" sz="1100" dirty="0"/>
          </a:p>
        </p:txBody>
      </p:sp>
      <p:sp>
        <p:nvSpPr>
          <p:cNvPr id="12" name="Text 10"/>
          <p:cNvSpPr txBox="1"/>
          <p:nvPr/>
        </p:nvSpPr>
        <p:spPr>
          <a:xfrm>
            <a:off x="457200" y="1435608"/>
            <a:ext cx="2545080" cy="8412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general economic, competitive and business environment faced by all borrowers, and whether it lets them service or refinance debt.</a:t>
            </a:r>
            <a:endParaRPr lang="en-US" sz="1200" dirty="0"/>
          </a:p>
        </p:txBody>
      </p:sp>
      <p:sp>
        <p:nvSpPr>
          <p:cNvPr id="13" name="Shape 11"/>
          <p:cNvSpPr/>
          <p:nvPr/>
        </p:nvSpPr>
        <p:spPr>
          <a:xfrm>
            <a:off x="3185160" y="1115568"/>
            <a:ext cx="2773680" cy="1207008"/>
          </a:xfrm>
          <a:prstGeom prst="rect">
            <a:avLst/>
          </a:prstGeom>
          <a:solidFill>
            <a:srgbClr val="F5F7FA"/>
          </a:solidFill>
          <a:ln/>
        </p:spPr>
      </p:sp>
      <p:sp>
        <p:nvSpPr>
          <p:cNvPr id="14" name="Shape 12"/>
          <p:cNvSpPr/>
          <p:nvPr/>
        </p:nvSpPr>
        <p:spPr>
          <a:xfrm>
            <a:off x="3185160" y="1115568"/>
            <a:ext cx="73152" cy="1207008"/>
          </a:xfrm>
          <a:prstGeom prst="rect">
            <a:avLst/>
          </a:prstGeom>
          <a:solidFill>
            <a:srgbClr val="1B2A4A"/>
          </a:solidFill>
          <a:ln/>
        </p:spPr>
      </p:sp>
      <p:sp>
        <p:nvSpPr>
          <p:cNvPr id="15" name="Text 13"/>
          <p:cNvSpPr txBox="1"/>
          <p:nvPr/>
        </p:nvSpPr>
        <p:spPr>
          <a:xfrm>
            <a:off x="3322320" y="1161288"/>
            <a:ext cx="254508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COUNTRY</a:t>
            </a:r>
            <a:endParaRPr lang="en-US" sz="1100" dirty="0"/>
          </a:p>
        </p:txBody>
      </p:sp>
      <p:sp>
        <p:nvSpPr>
          <p:cNvPr id="16" name="Text 14"/>
          <p:cNvSpPr txBox="1"/>
          <p:nvPr/>
        </p:nvSpPr>
        <p:spPr>
          <a:xfrm>
            <a:off x="3322320" y="1435608"/>
            <a:ext cx="2545080" cy="8412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geopolitical environment and the legal and political system faced by all issuers in a jurisdiction that may affect debt payment.</a:t>
            </a:r>
            <a:endParaRPr lang="en-US" sz="1200" dirty="0"/>
          </a:p>
        </p:txBody>
      </p:sp>
      <p:sp>
        <p:nvSpPr>
          <p:cNvPr id="17" name="Shape 15"/>
          <p:cNvSpPr/>
          <p:nvPr/>
        </p:nvSpPr>
        <p:spPr>
          <a:xfrm>
            <a:off x="6050280" y="1115568"/>
            <a:ext cx="2773680" cy="1207008"/>
          </a:xfrm>
          <a:prstGeom prst="rect">
            <a:avLst/>
          </a:prstGeom>
          <a:solidFill>
            <a:srgbClr val="F5F7FA"/>
          </a:solidFill>
          <a:ln/>
        </p:spPr>
      </p:sp>
      <p:sp>
        <p:nvSpPr>
          <p:cNvPr id="18" name="Shape 16"/>
          <p:cNvSpPr/>
          <p:nvPr/>
        </p:nvSpPr>
        <p:spPr>
          <a:xfrm>
            <a:off x="6050280" y="1115568"/>
            <a:ext cx="73152" cy="1207008"/>
          </a:xfrm>
          <a:prstGeom prst="rect">
            <a:avLst/>
          </a:prstGeom>
          <a:solidFill>
            <a:srgbClr val="1B2A4A"/>
          </a:solidFill>
          <a:ln/>
        </p:spPr>
      </p:sp>
      <p:sp>
        <p:nvSpPr>
          <p:cNvPr id="19" name="Text 17"/>
          <p:cNvSpPr txBox="1"/>
          <p:nvPr/>
        </p:nvSpPr>
        <p:spPr>
          <a:xfrm>
            <a:off x="6187440" y="1161288"/>
            <a:ext cx="254508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CURRENCY</a:t>
            </a:r>
            <a:endParaRPr lang="en-US" sz="1100" dirty="0"/>
          </a:p>
        </p:txBody>
      </p:sp>
      <p:sp>
        <p:nvSpPr>
          <p:cNvPr id="20" name="Text 18"/>
          <p:cNvSpPr txBox="1"/>
          <p:nvPr/>
        </p:nvSpPr>
        <p:spPr>
          <a:xfrm>
            <a:off x="6187440" y="1435608"/>
            <a:ext cx="2545080" cy="8412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Affects issuers whose cash flows move with exchange rates, or who borrow outside their own jurisdiction — including sovereigns with FX debt.</a:t>
            </a:r>
            <a:endParaRPr lang="en-US" sz="1200" dirty="0"/>
          </a:p>
        </p:txBody>
      </p:sp>
      <p:sp>
        <p:nvSpPr>
          <p:cNvPr id="21" name="Shape 19"/>
          <p:cNvSpPr/>
          <p:nvPr/>
        </p:nvSpPr>
        <p:spPr>
          <a:xfrm>
            <a:off x="320040" y="2450592"/>
            <a:ext cx="1627632" cy="1207008"/>
          </a:xfrm>
          <a:prstGeom prst="rect">
            <a:avLst/>
          </a:prstGeom>
          <a:solidFill>
            <a:srgbClr val="FEF0E7"/>
          </a:solidFill>
          <a:ln/>
        </p:spPr>
      </p:sp>
      <p:sp>
        <p:nvSpPr>
          <p:cNvPr id="22" name="Shape 20"/>
          <p:cNvSpPr/>
          <p:nvPr/>
        </p:nvSpPr>
        <p:spPr>
          <a:xfrm>
            <a:off x="320040" y="2450592"/>
            <a:ext cx="73152" cy="1207008"/>
          </a:xfrm>
          <a:prstGeom prst="rect">
            <a:avLst/>
          </a:prstGeom>
          <a:solidFill>
            <a:srgbClr val="E8600A"/>
          </a:solidFill>
          <a:ln/>
        </p:spPr>
      </p:sp>
      <p:sp>
        <p:nvSpPr>
          <p:cNvPr id="23" name="Text 21"/>
          <p:cNvSpPr txBox="1"/>
          <p:nvPr/>
        </p:nvSpPr>
        <p:spPr>
          <a:xfrm>
            <a:off x="457200" y="2496312"/>
            <a:ext cx="1399032"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CAPACITY</a:t>
            </a:r>
            <a:endParaRPr lang="en-US" sz="1100" dirty="0"/>
          </a:p>
        </p:txBody>
      </p:sp>
      <p:sp>
        <p:nvSpPr>
          <p:cNvPr id="24" name="Text 22"/>
          <p:cNvSpPr txBox="1"/>
          <p:nvPr/>
        </p:nvSpPr>
        <p:spPr>
          <a:xfrm>
            <a:off x="457200" y="2770632"/>
            <a:ext cx="1399032" cy="8412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Ability to make debt payments on time.</a:t>
            </a:r>
            <a:endParaRPr lang="en-US" sz="1200" dirty="0"/>
          </a:p>
        </p:txBody>
      </p:sp>
      <p:sp>
        <p:nvSpPr>
          <p:cNvPr id="25" name="Shape 23"/>
          <p:cNvSpPr/>
          <p:nvPr/>
        </p:nvSpPr>
        <p:spPr>
          <a:xfrm>
            <a:off x="2039112" y="2450592"/>
            <a:ext cx="1627632" cy="1207008"/>
          </a:xfrm>
          <a:prstGeom prst="rect">
            <a:avLst/>
          </a:prstGeom>
          <a:solidFill>
            <a:srgbClr val="FEF0E7"/>
          </a:solidFill>
          <a:ln/>
        </p:spPr>
      </p:sp>
      <p:sp>
        <p:nvSpPr>
          <p:cNvPr id="26" name="Shape 24"/>
          <p:cNvSpPr/>
          <p:nvPr/>
        </p:nvSpPr>
        <p:spPr>
          <a:xfrm>
            <a:off x="2039112" y="2450592"/>
            <a:ext cx="73152" cy="1207008"/>
          </a:xfrm>
          <a:prstGeom prst="rect">
            <a:avLst/>
          </a:prstGeom>
          <a:solidFill>
            <a:srgbClr val="E8600A"/>
          </a:solidFill>
          <a:ln/>
        </p:spPr>
      </p:sp>
      <p:sp>
        <p:nvSpPr>
          <p:cNvPr id="27" name="Text 25"/>
          <p:cNvSpPr txBox="1"/>
          <p:nvPr/>
        </p:nvSpPr>
        <p:spPr>
          <a:xfrm>
            <a:off x="2176272" y="2496312"/>
            <a:ext cx="1399032"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CAPITAL</a:t>
            </a:r>
            <a:endParaRPr lang="en-US" sz="1100" dirty="0"/>
          </a:p>
        </p:txBody>
      </p:sp>
      <p:sp>
        <p:nvSpPr>
          <p:cNvPr id="28" name="Text 26"/>
          <p:cNvSpPr txBox="1"/>
          <p:nvPr/>
        </p:nvSpPr>
        <p:spPr>
          <a:xfrm>
            <a:off x="2176272" y="2770632"/>
            <a:ext cx="1399032" cy="8412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Other resources that reduce reliance on debt.</a:t>
            </a:r>
            <a:endParaRPr lang="en-US" sz="1200" dirty="0"/>
          </a:p>
        </p:txBody>
      </p:sp>
      <p:sp>
        <p:nvSpPr>
          <p:cNvPr id="29" name="Shape 27"/>
          <p:cNvSpPr/>
          <p:nvPr/>
        </p:nvSpPr>
        <p:spPr>
          <a:xfrm>
            <a:off x="3758184" y="2450592"/>
            <a:ext cx="1627632" cy="1207008"/>
          </a:xfrm>
          <a:prstGeom prst="rect">
            <a:avLst/>
          </a:prstGeom>
          <a:solidFill>
            <a:srgbClr val="FEF0E7"/>
          </a:solidFill>
          <a:ln/>
        </p:spPr>
      </p:sp>
      <p:sp>
        <p:nvSpPr>
          <p:cNvPr id="30" name="Shape 28"/>
          <p:cNvSpPr/>
          <p:nvPr/>
        </p:nvSpPr>
        <p:spPr>
          <a:xfrm>
            <a:off x="3758184" y="2450592"/>
            <a:ext cx="73152" cy="1207008"/>
          </a:xfrm>
          <a:prstGeom prst="rect">
            <a:avLst/>
          </a:prstGeom>
          <a:solidFill>
            <a:srgbClr val="E8600A"/>
          </a:solidFill>
          <a:ln/>
        </p:spPr>
      </p:sp>
      <p:sp>
        <p:nvSpPr>
          <p:cNvPr id="31" name="Text 29"/>
          <p:cNvSpPr txBox="1"/>
          <p:nvPr/>
        </p:nvSpPr>
        <p:spPr>
          <a:xfrm>
            <a:off x="3895344" y="2496312"/>
            <a:ext cx="1399032"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COLLATERAL</a:t>
            </a:r>
            <a:endParaRPr lang="en-US" sz="1100" dirty="0"/>
          </a:p>
        </p:txBody>
      </p:sp>
      <p:sp>
        <p:nvSpPr>
          <p:cNvPr id="32" name="Text 30"/>
          <p:cNvSpPr txBox="1"/>
          <p:nvPr/>
        </p:nvSpPr>
        <p:spPr>
          <a:xfrm>
            <a:off x="3895344" y="2770632"/>
            <a:ext cx="1399032" cy="8412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Quality and value of assets supporting the debt.</a:t>
            </a:r>
            <a:endParaRPr lang="en-US" sz="1200" dirty="0"/>
          </a:p>
        </p:txBody>
      </p:sp>
      <p:sp>
        <p:nvSpPr>
          <p:cNvPr id="33" name="Shape 31"/>
          <p:cNvSpPr/>
          <p:nvPr/>
        </p:nvSpPr>
        <p:spPr>
          <a:xfrm>
            <a:off x="5477256" y="2450592"/>
            <a:ext cx="1627632" cy="1207008"/>
          </a:xfrm>
          <a:prstGeom prst="rect">
            <a:avLst/>
          </a:prstGeom>
          <a:solidFill>
            <a:srgbClr val="FEF0E7"/>
          </a:solidFill>
          <a:ln/>
        </p:spPr>
      </p:sp>
      <p:sp>
        <p:nvSpPr>
          <p:cNvPr id="34" name="Shape 32"/>
          <p:cNvSpPr/>
          <p:nvPr/>
        </p:nvSpPr>
        <p:spPr>
          <a:xfrm>
            <a:off x="5477256" y="2450592"/>
            <a:ext cx="73152" cy="1207008"/>
          </a:xfrm>
          <a:prstGeom prst="rect">
            <a:avLst/>
          </a:prstGeom>
          <a:solidFill>
            <a:srgbClr val="E8600A"/>
          </a:solidFill>
          <a:ln/>
        </p:spPr>
      </p:sp>
      <p:sp>
        <p:nvSpPr>
          <p:cNvPr id="35" name="Text 33"/>
          <p:cNvSpPr txBox="1"/>
          <p:nvPr/>
        </p:nvSpPr>
        <p:spPr>
          <a:xfrm>
            <a:off x="5614416" y="2496312"/>
            <a:ext cx="1399032"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COVENANTS</a:t>
            </a:r>
            <a:endParaRPr lang="en-US" sz="1100" dirty="0"/>
          </a:p>
        </p:txBody>
      </p:sp>
      <p:sp>
        <p:nvSpPr>
          <p:cNvPr id="36" name="Text 34"/>
          <p:cNvSpPr txBox="1"/>
          <p:nvPr/>
        </p:nvSpPr>
        <p:spPr>
          <a:xfrm>
            <a:off x="5614416" y="2770632"/>
            <a:ext cx="1399032" cy="8412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Legal terms the issuer must comply with.</a:t>
            </a:r>
            <a:endParaRPr lang="en-US" sz="1200" dirty="0"/>
          </a:p>
        </p:txBody>
      </p:sp>
      <p:sp>
        <p:nvSpPr>
          <p:cNvPr id="37" name="Shape 35"/>
          <p:cNvSpPr/>
          <p:nvPr/>
        </p:nvSpPr>
        <p:spPr>
          <a:xfrm>
            <a:off x="7196328" y="2450592"/>
            <a:ext cx="1627632" cy="1207008"/>
          </a:xfrm>
          <a:prstGeom prst="rect">
            <a:avLst/>
          </a:prstGeom>
          <a:solidFill>
            <a:srgbClr val="FEF0E7"/>
          </a:solidFill>
          <a:ln/>
        </p:spPr>
      </p:sp>
      <p:sp>
        <p:nvSpPr>
          <p:cNvPr id="38" name="Shape 36"/>
          <p:cNvSpPr/>
          <p:nvPr/>
        </p:nvSpPr>
        <p:spPr>
          <a:xfrm>
            <a:off x="7196328" y="2450592"/>
            <a:ext cx="73152" cy="1207008"/>
          </a:xfrm>
          <a:prstGeom prst="rect">
            <a:avLst/>
          </a:prstGeom>
          <a:solidFill>
            <a:srgbClr val="E8600A"/>
          </a:solidFill>
          <a:ln/>
        </p:spPr>
      </p:sp>
      <p:sp>
        <p:nvSpPr>
          <p:cNvPr id="39" name="Text 37"/>
          <p:cNvSpPr txBox="1"/>
          <p:nvPr/>
        </p:nvSpPr>
        <p:spPr>
          <a:xfrm>
            <a:off x="7333488" y="2496312"/>
            <a:ext cx="1399032"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CHARACTER</a:t>
            </a:r>
            <a:endParaRPr lang="en-US" sz="1100" dirty="0"/>
          </a:p>
        </p:txBody>
      </p:sp>
      <p:sp>
        <p:nvSpPr>
          <p:cNvPr id="40" name="Text 38"/>
          <p:cNvSpPr txBox="1"/>
          <p:nvPr/>
        </p:nvSpPr>
        <p:spPr>
          <a:xfrm>
            <a:off x="7333488" y="2770632"/>
            <a:ext cx="1399032" cy="8412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Management quality and willingness to repay.</a:t>
            </a:r>
            <a:endParaRPr lang="en-US" sz="1200" dirty="0"/>
          </a:p>
        </p:txBody>
      </p:sp>
      <p:sp>
        <p:nvSpPr>
          <p:cNvPr id="41" name="Shape 39"/>
          <p:cNvSpPr/>
          <p:nvPr/>
        </p:nvSpPr>
        <p:spPr>
          <a:xfrm>
            <a:off x="320040" y="3767328"/>
            <a:ext cx="8503920" cy="530352"/>
          </a:xfrm>
          <a:prstGeom prst="rect">
            <a:avLst/>
          </a:prstGeom>
          <a:solidFill>
            <a:srgbClr val="FEF0E7"/>
          </a:solidFill>
          <a:ln/>
        </p:spPr>
      </p:sp>
      <p:sp>
        <p:nvSpPr>
          <p:cNvPr id="42" name="Shape 40"/>
          <p:cNvSpPr/>
          <p:nvPr/>
        </p:nvSpPr>
        <p:spPr>
          <a:xfrm>
            <a:off x="320040" y="3767328"/>
            <a:ext cx="73152" cy="530352"/>
          </a:xfrm>
          <a:prstGeom prst="rect">
            <a:avLst/>
          </a:prstGeom>
          <a:solidFill>
            <a:srgbClr val="E8600A"/>
          </a:solidFill>
          <a:ln/>
        </p:spPr>
      </p:sp>
      <p:sp>
        <p:nvSpPr>
          <p:cNvPr id="43" name="Text 41"/>
          <p:cNvSpPr txBox="1"/>
          <p:nvPr/>
        </p:nvSpPr>
        <p:spPr>
          <a:xfrm>
            <a:off x="457200" y="381304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TOP-DOWN (navy, 3) AND BOTTOM-UP (orange, 5)</a:t>
            </a:r>
            <a:endParaRPr lang="en-US" sz="1100" dirty="0"/>
          </a:p>
        </p:txBody>
      </p:sp>
      <p:sp>
        <p:nvSpPr>
          <p:cNvPr id="44" name="Text 42"/>
          <p:cNvSpPr txBox="1"/>
          <p:nvPr/>
        </p:nvSpPr>
        <p:spPr>
          <a:xfrm>
            <a:off x="457200" y="4087368"/>
            <a:ext cx="8275320" cy="16459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Top-down Cs describe the environment every borrower in a jurisdiction faces. Bottom-up Cs describe this borrower. Both feed POD; collateral and covenants also move LGD.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Exhibit 3 names four ratios — EBIT margin, EBIT-to-interest, Debt-to-EBITDA and RCF-to-net-debt — and the variants around them are where students lose marks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Ratios marked ★ are the four named in Exhibit 3. All are non-IFRS measures — state your definition before comparing issuers.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16, Exhibit 3 and Question Set, printed pp. 418, 434.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Leverage can be written with debt on top or on the bottom, so check the direction before you rank: a higher Debt/EBITDA is worse, a higher RCF/net debt is better.</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920240"/>
                <a:gridCol w="2011680"/>
                <a:gridCol w="3291840"/>
                <a:gridCol w="12801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Family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Ratio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Definition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Higher ⇒</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Profitability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EBIT margin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Operating income ÷ Revenue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Better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Coverage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EBIT / Interest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Operating income ÷ Interest expense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Better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Coverage (variant)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EBITDA / Interest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Adds back D&amp;A to the numerator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Better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Coverage (variant)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EBITDAR / (Int+Rent)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Adds rent to numerator and denom.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Better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Leverage (earnings)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Debt / EBITDA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Total debt ÷ EBITDA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Worse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Leverage (balance sheet)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Debt / Capital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Debt ÷ (Debt + Equity)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Worse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Leverage (cash flow)</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RCF / Net debt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RCF ÷ (Debt − cash &amp; mkt sec)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Better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3429000"/>
            <a:ext cx="8503920" cy="868680"/>
          </a:xfrm>
          <a:prstGeom prst="rect">
            <a:avLst/>
          </a:prstGeom>
          <a:solidFill>
            <a:srgbClr val="FEF0E7"/>
          </a:solidFill>
          <a:ln/>
        </p:spPr>
      </p:sp>
      <p:sp>
        <p:nvSpPr>
          <p:cNvPr id="12" name="Shape 9"/>
          <p:cNvSpPr/>
          <p:nvPr/>
        </p:nvSpPr>
        <p:spPr>
          <a:xfrm>
            <a:off x="320040" y="3429000"/>
            <a:ext cx="73152" cy="868680"/>
          </a:xfrm>
          <a:prstGeom prst="rect">
            <a:avLst/>
          </a:prstGeom>
          <a:solidFill>
            <a:srgbClr val="E8600A"/>
          </a:solidFill>
          <a:ln/>
        </p:spPr>
      </p:sp>
      <p:sp>
        <p:nvSpPr>
          <p:cNvPr id="13" name="Text 10"/>
          <p:cNvSpPr txBox="1"/>
          <p:nvPr/>
        </p:nvSpPr>
        <p:spPr>
          <a:xfrm>
            <a:off x="457200" y="34747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CASH-FLOW DEFINITIONS — READ THE FOOTNOTE, NOT THE ACRONYM</a:t>
            </a:r>
            <a:endParaRPr lang="en-US" sz="1100" dirty="0"/>
          </a:p>
        </p:txBody>
      </p:sp>
      <p:sp>
        <p:nvSpPr>
          <p:cNvPr id="14" name="Text 11"/>
          <p:cNvSpPr txBox="1"/>
          <p:nvPr/>
        </p:nvSpPr>
        <p:spPr>
          <a:xfrm>
            <a:off x="457200" y="3749040"/>
            <a:ext cx="8275320" cy="502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FFO = net income from continuing operations + D&amp;A + deferred income taxes + other non-cash items (Question Set, printed p. 434). RCF = FFO − dividends paid; the curriculum also defines it as net cash flow from operating activities less dividends, and in the Bowstream model FFO IS net cash from operating activities. FCF = net income − working-capital increases − investment in fixed assets − net interest paid.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five-year downside walk shows the four ratios deteriorating together — margin compression feeds straight through to coverage and leverage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16, Example 4 (Bowstream Corporation), printed pp. 419–421.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Assumptions: sales growth 10% then 5%; COGS/sales 65% rising to 85%; interest rate on debt 6% rising to 8%; debt growing 10% a year throughout.</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2194560"/>
                <a:gridCol w="1051560"/>
                <a:gridCol w="1051560"/>
                <a:gridCol w="1051560"/>
                <a:gridCol w="1051560"/>
                <a:gridCol w="1051560"/>
                <a:gridCol w="10515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Metric</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Y0 (A)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Y2</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Y3</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Y4</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EBIT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1,122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632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346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364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EBITDA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1,589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1,407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906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EBIT margin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EBIT to interest expense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51.9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32.9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Debt to EBITDA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0.43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0.71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RCF to net debt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379%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271%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154680"/>
            <a:ext cx="8503920" cy="1143000"/>
          </a:xfrm>
          <a:prstGeom prst="rect">
            <a:avLst/>
          </a:prstGeom>
          <a:solidFill>
            <a:srgbClr val="FEF0E7"/>
          </a:solidFill>
          <a:ln/>
        </p:spPr>
      </p:sp>
      <p:sp>
        <p:nvSpPr>
          <p:cNvPr id="11" name="Shape 8"/>
          <p:cNvSpPr/>
          <p:nvPr/>
        </p:nvSpPr>
        <p:spPr>
          <a:xfrm>
            <a:off x="320040" y="3154680"/>
            <a:ext cx="73152" cy="1143000"/>
          </a:xfrm>
          <a:prstGeom prst="rect">
            <a:avLst/>
          </a:prstGeom>
          <a:solidFill>
            <a:srgbClr val="E8600A"/>
          </a:solidFill>
          <a:ln/>
        </p:spPr>
      </p:sp>
      <p:sp>
        <p:nvSpPr>
          <p:cNvPr id="12" name="Text 9"/>
          <p:cNvSpPr txBox="1"/>
          <p:nvPr/>
        </p:nvSpPr>
        <p:spPr>
          <a:xfrm>
            <a:off x="457200" y="32004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THE CURRICULUM CONCLUDES — AND WHAT IT DOES NOT</a:t>
            </a:r>
            <a:endParaRPr lang="en-US" sz="1100" dirty="0"/>
          </a:p>
        </p:txBody>
      </p:sp>
      <p:sp>
        <p:nvSpPr>
          <p:cNvPr id="13" name="Text 10"/>
          <p:cNvSpPr txBox="1"/>
          <p:nvPr/>
        </p:nvSpPr>
        <p:spPr>
          <a:xfrm>
            <a:off x="457200" y="3474720"/>
            <a:ext cx="8275320" cy="7772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It concludes that Bowstream faces declining profitability, weaker debt coverage and increased leverage, which is likely to lead to wider credit spreads and a potential ratings downgrade. It does NOT assign a rating to any year. The comparison charts that follow (printed pp. 422–423) plot these four ratios against Moody’s consumer-durables categories over time — a peer benchmark, not a threshold table. Note that Bowstream stays profitable at EBIT level throughout: it is net income that goes negative in Y4 and Y5, not operating profit.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Seniority sets LGD — seven ranks, secured above unsecured — and the realised recovery gap between them is wide and cyclical</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Term loans include first-lien, second-lien and unsecured. Emergence-year recoveries, North American non-financials.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16, Exhibits 4 and 5, printed pp. 425–427. Recovery data: Moody’s Investors Service, Annual Default Study, 28 January 2021.</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All creditors at the same seniority rank as one class: a 30-year senior unsecured bond has exactly the same pro-rata claim in bankruptcy as one maturing in six months.</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3977640" cy="914400"/>
        </p:xfrm>
        <a:graphic>
          <a:graphicData uri="http://schemas.openxmlformats.org/drawingml/2006/table">
            <a:tbl>
              <a:tblPr/>
              <a:tblGrid>
                <a:gridCol w="548640"/>
                <a:gridCol w="2514600"/>
                <a:gridCol w="9144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Rank</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Seniority ranking (Exhibit 4)</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LGD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First lien / first mortgage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Senior secured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Junior secured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Senior unsecured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Senior subordinated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Subordinated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Junior subordinated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4480560" y="1143000"/>
          <a:ext cx="4343400" cy="914400"/>
        </p:xfrm>
        <a:graphic>
          <a:graphicData uri="http://schemas.openxmlformats.org/drawingml/2006/table">
            <a:tbl>
              <a:tblPr/>
              <a:tblGrid>
                <a:gridCol w="1965960"/>
                <a:gridCol w="731520"/>
                <a:gridCol w="731520"/>
                <a:gridCol w="9144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Priority position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2020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2019</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1987–2020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Term loans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48.5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72.6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Senior secured bonds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34.8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45.9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Senior unsecured bonds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31.3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46.9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Subordinated bonds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27.9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2" name="Shape 8"/>
          <p:cNvSpPr/>
          <p:nvPr/>
        </p:nvSpPr>
        <p:spPr>
          <a:xfrm>
            <a:off x="4480560" y="2633472"/>
            <a:ext cx="4343400" cy="713232"/>
          </a:xfrm>
          <a:prstGeom prst="rect">
            <a:avLst/>
          </a:prstGeom>
          <a:solidFill>
            <a:srgbClr val="FEF0E7"/>
          </a:solidFill>
          <a:ln/>
        </p:spPr>
      </p:sp>
      <p:sp>
        <p:nvSpPr>
          <p:cNvPr id="13" name="Shape 9"/>
          <p:cNvSpPr/>
          <p:nvPr/>
        </p:nvSpPr>
        <p:spPr>
          <a:xfrm>
            <a:off x="4480560" y="2633472"/>
            <a:ext cx="73152" cy="713232"/>
          </a:xfrm>
          <a:prstGeom prst="rect">
            <a:avLst/>
          </a:prstGeom>
          <a:solidFill>
            <a:srgbClr val="E8600A"/>
          </a:solidFill>
          <a:ln/>
        </p:spPr>
      </p:sp>
      <p:sp>
        <p:nvSpPr>
          <p:cNvPr id="14" name="Text 10"/>
          <p:cNvSpPr txBox="1"/>
          <p:nvPr/>
        </p:nvSpPr>
        <p:spPr>
          <a:xfrm>
            <a:off x="4617720" y="2679192"/>
            <a:ext cx="41148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RECOVERY RATES ARE AVERAGES</a:t>
            </a:r>
            <a:endParaRPr lang="en-US" sz="1100" dirty="0"/>
          </a:p>
        </p:txBody>
      </p:sp>
      <p:sp>
        <p:nvSpPr>
          <p:cNvPr id="15" name="Text 11"/>
          <p:cNvSpPr txBox="1"/>
          <p:nvPr/>
        </p:nvSpPr>
        <p:spPr>
          <a:xfrm>
            <a:off x="4617720" y="2953512"/>
            <a:ext cx="4114800" cy="34747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They vary widely by industry, and they fall when the economy weakens because collateral resale markets thin out. Across industries, first-lien recoveries average 53.0%, senior unsecured 41.8%, subordinated 34.7%.</a:t>
            </a:r>
            <a:endParaRPr lang="en-US" sz="1200" dirty="0"/>
          </a:p>
        </p:txBody>
      </p:sp>
      <p:sp>
        <p:nvSpPr>
          <p:cNvPr id="16" name="Shape 12"/>
          <p:cNvSpPr/>
          <p:nvPr/>
        </p:nvSpPr>
        <p:spPr>
          <a:xfrm>
            <a:off x="320040" y="3456432"/>
            <a:ext cx="8503920" cy="841248"/>
          </a:xfrm>
          <a:prstGeom prst="rect">
            <a:avLst/>
          </a:prstGeom>
          <a:solidFill>
            <a:srgbClr val="FEF0E7"/>
          </a:solidFill>
          <a:ln/>
        </p:spPr>
      </p:sp>
      <p:sp>
        <p:nvSpPr>
          <p:cNvPr id="17" name="Shape 13"/>
          <p:cNvSpPr/>
          <p:nvPr/>
        </p:nvSpPr>
        <p:spPr>
          <a:xfrm>
            <a:off x="320040" y="3456432"/>
            <a:ext cx="73152" cy="841248"/>
          </a:xfrm>
          <a:prstGeom prst="rect">
            <a:avLst/>
          </a:prstGeom>
          <a:solidFill>
            <a:srgbClr val="E8600A"/>
          </a:solidFill>
          <a:ln/>
        </p:spPr>
      </p:sp>
      <p:sp>
        <p:nvSpPr>
          <p:cNvPr id="18" name="Text 14"/>
          <p:cNvSpPr txBox="1"/>
          <p:nvPr/>
        </p:nvSpPr>
        <p:spPr>
          <a:xfrm>
            <a:off x="457200" y="350215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NOTCHING — THE ISSUER RATING IS THE SENIOR UNSECURED RATING</a:t>
            </a:r>
            <a:endParaRPr lang="en-US" sz="1100" dirty="0"/>
          </a:p>
        </p:txBody>
      </p:sp>
      <p:sp>
        <p:nvSpPr>
          <p:cNvPr id="19" name="Text 15"/>
          <p:cNvSpPr txBox="1"/>
          <p:nvPr/>
        </p:nvSpPr>
        <p:spPr>
          <a:xfrm>
            <a:off x="457200" y="3776472"/>
            <a:ext cx="8275320" cy="47548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POD is the same across an issuer’s bonds because of cross-default; issue ratings differ because LGD differs. The higher the senior unsecured rating, the smaller the notching adjustment. Curriculum examples: Royal Caribbean carried a B1 corporate family rating with its unsecured issue at B2 and its senior secured notes three notches higher at Ba2; Mojofon’s S&amp;P issuer rating of B+ implies a subordinated issue rating of B−.</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Losses climb the ladder from the bottom — equity absorbs first, then subordinated, and only what is left over reaches senior unsecured holders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16, Question Set Q1 (printed p. 431) and Practice Problem 7 (Mojofon Holdings, printed p. 435).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Pari passu within a class, strict priority across classes — and collateral is applied to its own claim first, before anything reaches the general pool.</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4160520" cy="914400"/>
        </p:xfrm>
        <a:graphic>
          <a:graphicData uri="http://schemas.openxmlformats.org/drawingml/2006/table">
            <a:tbl>
              <a:tblPr/>
              <a:tblGrid>
                <a:gridCol w="2148840"/>
                <a:gridCol w="731520"/>
                <a:gridCol w="12801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Claim (most senior first)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Recovery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Secured bank loan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 (100%)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Unsecured bonds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80 (88.9%)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Subordinated bonds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 (0%)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Common equity + reserves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 (0%)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Total claims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Impairment 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0" name="Shape 7"/>
          <p:cNvSpPr/>
          <p:nvPr/>
        </p:nvSpPr>
        <p:spPr>
          <a:xfrm>
            <a:off x="320040" y="2880360"/>
            <a:ext cx="4160520" cy="1417320"/>
          </a:xfrm>
          <a:prstGeom prst="rect">
            <a:avLst/>
          </a:prstGeom>
          <a:solidFill>
            <a:srgbClr val="FEF0E7"/>
          </a:solidFill>
          <a:ln/>
        </p:spPr>
      </p:sp>
      <p:sp>
        <p:nvSpPr>
          <p:cNvPr id="11" name="Shape 8"/>
          <p:cNvSpPr/>
          <p:nvPr/>
        </p:nvSpPr>
        <p:spPr>
          <a:xfrm>
            <a:off x="320040" y="2880360"/>
            <a:ext cx="73152" cy="1417320"/>
          </a:xfrm>
          <a:prstGeom prst="rect">
            <a:avLst/>
          </a:prstGeom>
          <a:solidFill>
            <a:srgbClr val="E8600A"/>
          </a:solidFill>
          <a:ln/>
        </p:spPr>
      </p:sp>
      <p:sp>
        <p:nvSpPr>
          <p:cNvPr id="12" name="Text 9"/>
          <p:cNvSpPr txBox="1"/>
          <p:nvPr/>
        </p:nvSpPr>
        <p:spPr>
          <a:xfrm>
            <a:off x="457200" y="292608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MOJOFON — WHEN COLLATERAL COVERS THE CLAIM</a:t>
            </a:r>
            <a:endParaRPr lang="en-US" sz="1100" dirty="0"/>
          </a:p>
        </p:txBody>
      </p:sp>
      <p:sp>
        <p:nvSpPr>
          <p:cNvPr id="13" name="Text 10"/>
          <p:cNvSpPr txBox="1"/>
          <p:nvPr/>
        </p:nvSpPr>
        <p:spPr>
          <a:xfrm>
            <a:off x="457200" y="3200400"/>
            <a:ext cx="3931920" cy="10515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Capital structure: senior secured bonds 50, pledged against collateral valued at 60; senior unsecured bonds 35; subordinated bonds 15; common equity 100. All bonds carry cross-default.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Because the collateral (60) exceeds the secured bonds outstanding (50), the secured bonds are likely to recover in full. Had collateral been worth less than the claim, the shortfall would rank pari passu with senior unsecured.</a:t>
            </a:r>
            <a:endParaRPr lang="en-US" sz="1200" dirty="0"/>
          </a:p>
        </p:txBody>
      </p:sp>
      <p:sp>
        <p:nvSpPr>
          <p:cNvPr id="14" name="Shape 11"/>
          <p:cNvSpPr/>
          <p:nvPr/>
        </p:nvSpPr>
        <p:spPr>
          <a:xfrm>
            <a:off x="4663440" y="1143000"/>
            <a:ext cx="4160520" cy="3154680"/>
          </a:xfrm>
          <a:prstGeom prst="rect">
            <a:avLst/>
          </a:prstGeom>
          <a:solidFill>
            <a:srgbClr val="FEF0E7"/>
          </a:solidFill>
          <a:ln w="9525">
            <a:solidFill>
              <a:srgbClr val="E8600A"/>
            </a:solidFill>
            <a:prstDash val="solid"/>
          </a:ln>
        </p:spPr>
      </p:sp>
      <p:sp>
        <p:nvSpPr>
          <p:cNvPr id="15" name="Text 12"/>
          <p:cNvSpPr txBox="1"/>
          <p:nvPr/>
        </p:nvSpPr>
        <p:spPr>
          <a:xfrm>
            <a:off x="4800600" y="118872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16 QUESTION SET Q1 — A 90 IMPAIRMENT</a:t>
            </a:r>
            <a:endParaRPr lang="en-US" sz="1100" dirty="0"/>
          </a:p>
        </p:txBody>
      </p:sp>
      <p:sp>
        <p:nvSpPr>
          <p:cNvPr id="16" name="Text 13"/>
          <p:cNvSpPr txBox="1"/>
          <p:nvPr/>
        </p:nvSpPr>
        <p:spPr>
          <a:xfrm>
            <a:off x="4800600" y="1481328"/>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Assets 200: cash 40, net current assets 100, net fixed assets 60. The net current assets are impaired by 90.</a:t>
            </a:r>
            <a:endParaRPr lang="en-US" sz="1200" dirty="0"/>
          </a:p>
        </p:txBody>
      </p:sp>
      <p:sp>
        <p:nvSpPr>
          <p:cNvPr id="17" name="Text 14"/>
          <p:cNvSpPr txBox="1"/>
          <p:nvPr/>
        </p:nvSpPr>
        <p:spPr>
          <a:xfrm>
            <a:off x="4800600" y="1993392"/>
            <a:ext cx="3886200" cy="179222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Equity is most junior: absorbs 70 (shares 40 + reserves 30). 20 left.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Subordinated bonds absorb next: total only 10, so recovery is zero. 10 left.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The last 10 hits unsecured bonds: 90 − 10 = 80 recovered, 88.9%.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Bank loan untouched: cash collateral of 40 fully covers the 30 claim.</a:t>
            </a:r>
            <a:endParaRPr lang="en-US" sz="1200" dirty="0"/>
          </a:p>
        </p:txBody>
      </p:sp>
      <p:sp>
        <p:nvSpPr>
          <p:cNvPr id="18" name="Shape 15"/>
          <p:cNvSpPr/>
          <p:nvPr/>
        </p:nvSpPr>
        <p:spPr>
          <a:xfrm>
            <a:off x="4754880" y="3858768"/>
            <a:ext cx="3977640" cy="365760"/>
          </a:xfrm>
          <a:prstGeom prst="rect">
            <a:avLst/>
          </a:prstGeom>
          <a:solidFill>
            <a:srgbClr val="E8600A"/>
          </a:solidFill>
          <a:ln/>
        </p:spPr>
      </p:sp>
      <p:sp>
        <p:nvSpPr>
          <p:cNvPr id="19" name="Text 16"/>
          <p:cNvSpPr txBox="1"/>
          <p:nvPr/>
        </p:nvSpPr>
        <p:spPr>
          <a:xfrm>
            <a:off x="4800600" y="3858768"/>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Secured 100% · Unsec 88.9% · Sub 0% · Equity 0%</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Holding-company debt is structurally subordinated — subsidiary creditors are paid before any cash can be upstreamed, even when both bonds say senior unsecured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16, printed p. 430, and Practice Problem 8 with solution, printed pp. 435–436.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Structural subordination is a third rating factor alongside POD and LGD. It is created by where the debt sits in the group, not by what the indenture calls it.</a:t>
            </a:r>
            <a:endParaRPr lang="en-US" sz="1300" dirty="0"/>
          </a:p>
        </p:txBody>
      </p:sp>
      <p:sp>
        <p:nvSpPr>
          <p:cNvPr id="9" name="Shape 7"/>
          <p:cNvSpPr/>
          <p:nvPr/>
        </p:nvSpPr>
        <p:spPr>
          <a:xfrm>
            <a:off x="320040" y="1115568"/>
            <a:ext cx="4160520" cy="3182112"/>
          </a:xfrm>
          <a:prstGeom prst="rect">
            <a:avLst/>
          </a:prstGeom>
          <a:solidFill>
            <a:srgbClr val="F5F7FA"/>
          </a:solidFill>
          <a:ln/>
        </p:spPr>
      </p:sp>
      <p:sp>
        <p:nvSpPr>
          <p:cNvPr id="10" name="Shape 8"/>
          <p:cNvSpPr/>
          <p:nvPr/>
        </p:nvSpPr>
        <p:spPr>
          <a:xfrm>
            <a:off x="320040" y="1115568"/>
            <a:ext cx="73152" cy="3182112"/>
          </a:xfrm>
          <a:prstGeom prst="rect">
            <a:avLst/>
          </a:prstGeom>
          <a:solidFill>
            <a:srgbClr val="1B2A4A"/>
          </a:solidFill>
          <a:ln/>
        </p:spPr>
      </p:sp>
      <p:sp>
        <p:nvSpPr>
          <p:cNvPr id="11" name="Text 9"/>
          <p:cNvSpPr txBox="1"/>
          <p:nvPr/>
        </p:nvSpPr>
        <p:spPr>
          <a:xfrm>
            <a:off x="484632" y="1225296"/>
            <a:ext cx="3849624"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MECHANISM</a:t>
            </a:r>
            <a:endParaRPr lang="en-US" sz="1100" dirty="0"/>
          </a:p>
        </p:txBody>
      </p:sp>
      <p:sp>
        <p:nvSpPr>
          <p:cNvPr id="12" name="Text 10"/>
          <p:cNvSpPr txBox="1"/>
          <p:nvPr/>
        </p:nvSpPr>
        <p:spPr>
          <a:xfrm>
            <a:off x="539496" y="1591056"/>
            <a:ext cx="3739896" cy="2596896"/>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A holding company owns the shares of an operating subsidiary. It does not own the subsidiary's assets.</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Operating-subsidiary debt is serviced by the cash flow and assets of the subsidiary FIRST. Only surplus cash can be passed — "upstreamed" — to the holding company to service parent-level debt.</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In default, the holding company's creditors stand behind the subsidiary's creditors, because what the holding company owns is an equity claim, and equity ranks last.</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Result: HoldCo senior unsecured is structurally subordinated to OpCo senior unsecured, even where both are labelled pari passu.</a:t>
            </a:r>
            <a:endParaRPr lang="en-US" sz="1150" dirty="0"/>
          </a:p>
        </p:txBody>
      </p:sp>
      <p:sp>
        <p:nvSpPr>
          <p:cNvPr id="13" name="Shape 11"/>
          <p:cNvSpPr/>
          <p:nvPr/>
        </p:nvSpPr>
        <p:spPr>
          <a:xfrm>
            <a:off x="4663440" y="1115568"/>
            <a:ext cx="4160520" cy="3182112"/>
          </a:xfrm>
          <a:prstGeom prst="rect">
            <a:avLst/>
          </a:prstGeom>
          <a:solidFill>
            <a:srgbClr val="FEF0E7"/>
          </a:solidFill>
          <a:ln/>
        </p:spPr>
      </p:sp>
      <p:sp>
        <p:nvSpPr>
          <p:cNvPr id="14" name="Shape 12"/>
          <p:cNvSpPr/>
          <p:nvPr/>
        </p:nvSpPr>
        <p:spPr>
          <a:xfrm>
            <a:off x="4663440" y="1115568"/>
            <a:ext cx="73152" cy="3182112"/>
          </a:xfrm>
          <a:prstGeom prst="rect">
            <a:avLst/>
          </a:prstGeom>
          <a:solidFill>
            <a:srgbClr val="E8600A"/>
          </a:solidFill>
          <a:ln/>
        </p:spPr>
      </p:sp>
      <p:sp>
        <p:nvSpPr>
          <p:cNvPr id="15" name="Text 13"/>
          <p:cNvSpPr txBox="1"/>
          <p:nvPr/>
        </p:nvSpPr>
        <p:spPr>
          <a:xfrm>
            <a:off x="4828032" y="1225296"/>
            <a:ext cx="3849624"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CURRICULUM'S CASE — PRACTICE PROBLEM 8</a:t>
            </a:r>
            <a:endParaRPr lang="en-US" sz="1100" dirty="0"/>
          </a:p>
        </p:txBody>
      </p:sp>
      <p:sp>
        <p:nvSpPr>
          <p:cNvPr id="16" name="Text 14"/>
          <p:cNvSpPr txBox="1"/>
          <p:nvPr/>
        </p:nvSpPr>
        <p:spPr>
          <a:xfrm>
            <a:off x="4882896" y="1591056"/>
            <a:ext cx="3739896" cy="2596896"/>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Half of the group's senior unsecured bonds are issued by the major operating subsidiary; the other half by the holding company, which relies on dividends upstreamed from subsidiaries.</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The subsidiary contributes over 90% of group cash flow and assets. There is no cross-guarantee between holding company and subsidiary.</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Answer: the bonds issued by the OPERATING SUBSIDIARY most likely have the higher recovery rate — the holding company's debt can only be serviced once the subsidiary's debt is paid in full.</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The three questions to ask any group issuer: what share of debt sits at OpCo versus HoldCo; is there a cross-guarantee; and are there dividend-restriction covenants at OpCo?</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Securitization structures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5  ·  Deck 16 of 20  ·  Studio Tonton Gug</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Securitization sells an asset pool to a bankruptcy-remote SPE that issues securities against it — without that true sale there is no securitization, only a secured bond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17, Exhibits 5–9 and The Role of the SPE, printed pp. 449–453.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Curriculum example: BRWA sells EUR 1,000 million of car loans (45,000 loans, average balance EUR 22,222) to Car Loan Trust, a legally independent, bankruptcy-remote SPE, and receives cash.</a:t>
            </a:r>
            <a:endParaRPr lang="en-US" sz="1300" dirty="0"/>
          </a:p>
        </p:txBody>
      </p:sp>
      <p:sp>
        <p:nvSpPr>
          <p:cNvPr id="9" name="Shape 7"/>
          <p:cNvSpPr/>
          <p:nvPr/>
        </p:nvSpPr>
        <p:spPr>
          <a:xfrm>
            <a:off x="320040" y="1115568"/>
            <a:ext cx="8503920" cy="548640"/>
          </a:xfrm>
          <a:prstGeom prst="rect">
            <a:avLst/>
          </a:prstGeom>
          <a:solidFill>
            <a:srgbClr val="FFFFFF"/>
          </a:solidFill>
          <a:ln/>
        </p:spPr>
      </p:sp>
      <p:sp>
        <p:nvSpPr>
          <p:cNvPr id="10" name="Shape 8"/>
          <p:cNvSpPr/>
          <p:nvPr/>
        </p:nvSpPr>
        <p:spPr>
          <a:xfrm>
            <a:off x="320040" y="1115568"/>
            <a:ext cx="91440" cy="548640"/>
          </a:xfrm>
          <a:prstGeom prst="rect">
            <a:avLst/>
          </a:prstGeom>
          <a:solidFill>
            <a:srgbClr val="E8600A"/>
          </a:solidFill>
          <a:ln/>
        </p:spPr>
      </p:sp>
      <p:sp>
        <p:nvSpPr>
          <p:cNvPr id="11" name="Text 9"/>
          <p:cNvSpPr txBox="1"/>
          <p:nvPr/>
        </p:nvSpPr>
        <p:spPr>
          <a:xfrm>
            <a:off x="502920" y="1115568"/>
            <a:ext cx="365760" cy="54864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2" name="Text 10"/>
          <p:cNvSpPr txBox="1"/>
          <p:nvPr/>
        </p:nvSpPr>
        <p:spPr>
          <a:xfrm>
            <a:off x="868680" y="1152144"/>
            <a:ext cx="7863840" cy="24688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SELLER OF THE COLLATERAL (the depositor)</a:t>
            </a:r>
            <a:endParaRPr lang="en-US" sz="1200" dirty="0"/>
          </a:p>
        </p:txBody>
      </p:sp>
      <p:sp>
        <p:nvSpPr>
          <p:cNvPr id="13" name="Text 11"/>
          <p:cNvSpPr txBox="1"/>
          <p:nvPr/>
        </p:nvSpPr>
        <p:spPr>
          <a:xfrm>
            <a:off x="868680" y="1362456"/>
            <a:ext cx="7863840" cy="30175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Originates or owns the assets and sells the pool to the SPE. Motive: remove assets and lending risk from the balance sheet, operate more efficiently on a risk-adjusted basis, earn fee income, and expand lending origination beyond the balance sheet.</a:t>
            </a:r>
            <a:endParaRPr lang="en-US" sz="1200" dirty="0"/>
          </a:p>
        </p:txBody>
      </p:sp>
      <p:sp>
        <p:nvSpPr>
          <p:cNvPr id="14" name="Shape 12"/>
          <p:cNvSpPr/>
          <p:nvPr/>
        </p:nvSpPr>
        <p:spPr>
          <a:xfrm>
            <a:off x="320040" y="1719072"/>
            <a:ext cx="8503920" cy="548640"/>
          </a:xfrm>
          <a:prstGeom prst="rect">
            <a:avLst/>
          </a:prstGeom>
          <a:solidFill>
            <a:srgbClr val="F5F7FA"/>
          </a:solidFill>
          <a:ln/>
        </p:spPr>
      </p:sp>
      <p:sp>
        <p:nvSpPr>
          <p:cNvPr id="15" name="Shape 13"/>
          <p:cNvSpPr/>
          <p:nvPr/>
        </p:nvSpPr>
        <p:spPr>
          <a:xfrm>
            <a:off x="320040" y="1719072"/>
            <a:ext cx="91440" cy="548640"/>
          </a:xfrm>
          <a:prstGeom prst="rect">
            <a:avLst/>
          </a:prstGeom>
          <a:solidFill>
            <a:srgbClr val="E8600A"/>
          </a:solidFill>
          <a:ln/>
        </p:spPr>
      </p:sp>
      <p:sp>
        <p:nvSpPr>
          <p:cNvPr id="16" name="Text 14"/>
          <p:cNvSpPr txBox="1"/>
          <p:nvPr/>
        </p:nvSpPr>
        <p:spPr>
          <a:xfrm>
            <a:off x="502920" y="1719072"/>
            <a:ext cx="365760" cy="54864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7" name="Text 15"/>
          <p:cNvSpPr txBox="1"/>
          <p:nvPr/>
        </p:nvSpPr>
        <p:spPr>
          <a:xfrm>
            <a:off x="868680" y="1755648"/>
            <a:ext cx="7863840" cy="24688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THE SPE (the issuer in the prospectus)</a:t>
            </a:r>
            <a:endParaRPr lang="en-US" sz="1200" dirty="0"/>
          </a:p>
        </p:txBody>
      </p:sp>
      <p:sp>
        <p:nvSpPr>
          <p:cNvPr id="18" name="Text 16"/>
          <p:cNvSpPr txBox="1"/>
          <p:nvPr/>
        </p:nvSpPr>
        <p:spPr>
          <a:xfrm>
            <a:off x="868680" y="1965960"/>
            <a:ext cx="7863840" cy="30175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Buys the pool, then issues and sells the ABS. Bankruptcy-remote: if the seller fails, its creditors have no claim on these assets, and courts in most jurisdictions have no discretion to change seniority.</a:t>
            </a:r>
            <a:endParaRPr lang="en-US" sz="1200" dirty="0"/>
          </a:p>
        </p:txBody>
      </p:sp>
      <p:sp>
        <p:nvSpPr>
          <p:cNvPr id="19" name="Shape 17"/>
          <p:cNvSpPr/>
          <p:nvPr/>
        </p:nvSpPr>
        <p:spPr>
          <a:xfrm>
            <a:off x="320040" y="2322576"/>
            <a:ext cx="8503920" cy="548640"/>
          </a:xfrm>
          <a:prstGeom prst="rect">
            <a:avLst/>
          </a:prstGeom>
          <a:solidFill>
            <a:srgbClr val="FFFFFF"/>
          </a:solidFill>
          <a:ln/>
        </p:spPr>
      </p:sp>
      <p:sp>
        <p:nvSpPr>
          <p:cNvPr id="20" name="Shape 18"/>
          <p:cNvSpPr/>
          <p:nvPr/>
        </p:nvSpPr>
        <p:spPr>
          <a:xfrm>
            <a:off x="320040" y="2322576"/>
            <a:ext cx="91440" cy="548640"/>
          </a:xfrm>
          <a:prstGeom prst="rect">
            <a:avLst/>
          </a:prstGeom>
          <a:solidFill>
            <a:srgbClr val="E8600A"/>
          </a:solidFill>
          <a:ln/>
        </p:spPr>
      </p:sp>
      <p:sp>
        <p:nvSpPr>
          <p:cNvPr id="21" name="Text 19"/>
          <p:cNvSpPr txBox="1"/>
          <p:nvPr/>
        </p:nvSpPr>
        <p:spPr>
          <a:xfrm>
            <a:off x="502920" y="2322576"/>
            <a:ext cx="365760" cy="54864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2" name="Text 20"/>
          <p:cNvSpPr txBox="1"/>
          <p:nvPr/>
        </p:nvSpPr>
        <p:spPr>
          <a:xfrm>
            <a:off x="868680" y="2359152"/>
            <a:ext cx="7863840" cy="24688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THE SERVICER</a:t>
            </a:r>
            <a:endParaRPr lang="en-US" sz="1200" dirty="0"/>
          </a:p>
        </p:txBody>
      </p:sp>
      <p:sp>
        <p:nvSpPr>
          <p:cNvPr id="23" name="Text 21"/>
          <p:cNvSpPr txBox="1"/>
          <p:nvPr/>
        </p:nvSpPr>
        <p:spPr>
          <a:xfrm>
            <a:off x="868680" y="2569464"/>
            <a:ext cx="7863840" cy="30175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Administers the loans: collects payments, chases delinquents, repossesses and disposes of collateral. Often, but not always, the originator continues to service.</a:t>
            </a:r>
            <a:endParaRPr lang="en-US" sz="1200" dirty="0"/>
          </a:p>
        </p:txBody>
      </p:sp>
      <p:sp>
        <p:nvSpPr>
          <p:cNvPr id="24" name="Shape 22"/>
          <p:cNvSpPr/>
          <p:nvPr/>
        </p:nvSpPr>
        <p:spPr>
          <a:xfrm>
            <a:off x="320040" y="2980944"/>
            <a:ext cx="2743200" cy="1316736"/>
          </a:xfrm>
          <a:prstGeom prst="rect">
            <a:avLst/>
          </a:prstGeom>
          <a:solidFill>
            <a:srgbClr val="F5F7FA"/>
          </a:solidFill>
          <a:ln/>
        </p:spPr>
      </p:sp>
      <p:sp>
        <p:nvSpPr>
          <p:cNvPr id="25" name="Shape 23"/>
          <p:cNvSpPr/>
          <p:nvPr/>
        </p:nvSpPr>
        <p:spPr>
          <a:xfrm>
            <a:off x="320040" y="2980944"/>
            <a:ext cx="73152" cy="1316736"/>
          </a:xfrm>
          <a:prstGeom prst="rect">
            <a:avLst/>
          </a:prstGeom>
          <a:solidFill>
            <a:srgbClr val="1B2A4A"/>
          </a:solidFill>
          <a:ln/>
        </p:spPr>
      </p:sp>
      <p:sp>
        <p:nvSpPr>
          <p:cNvPr id="26" name="Text 24"/>
          <p:cNvSpPr txBox="1"/>
          <p:nvPr/>
        </p:nvSpPr>
        <p:spPr>
          <a:xfrm>
            <a:off x="457200" y="3026664"/>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THIRD PARTIES</a:t>
            </a:r>
            <a:endParaRPr lang="en-US" sz="1100" dirty="0"/>
          </a:p>
        </p:txBody>
      </p:sp>
      <p:sp>
        <p:nvSpPr>
          <p:cNvPr id="27" name="Text 25"/>
          <p:cNvSpPr txBox="1"/>
          <p:nvPr/>
        </p:nvSpPr>
        <p:spPr>
          <a:xfrm>
            <a:off x="457200" y="3300984"/>
            <a:ext cx="2514600" cy="950976"/>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Accountants, lawyers, trustees, underwriters, rating agencies and sometimes financial guarantors. The trustee safeguards the assets, holds funds due to ABS holders and issues the periodic reports — the only information investors get.</a:t>
            </a:r>
            <a:endParaRPr lang="en-US" sz="1200" dirty="0"/>
          </a:p>
        </p:txBody>
      </p:sp>
      <p:sp>
        <p:nvSpPr>
          <p:cNvPr id="28" name="Shape 26"/>
          <p:cNvSpPr/>
          <p:nvPr/>
        </p:nvSpPr>
        <p:spPr>
          <a:xfrm>
            <a:off x="3200400" y="2980944"/>
            <a:ext cx="2743200" cy="1316736"/>
          </a:xfrm>
          <a:prstGeom prst="rect">
            <a:avLst/>
          </a:prstGeom>
          <a:solidFill>
            <a:srgbClr val="FEF0E7"/>
          </a:solidFill>
          <a:ln/>
        </p:spPr>
      </p:sp>
      <p:sp>
        <p:nvSpPr>
          <p:cNvPr id="29" name="Shape 27"/>
          <p:cNvSpPr/>
          <p:nvPr/>
        </p:nvSpPr>
        <p:spPr>
          <a:xfrm>
            <a:off x="3200400" y="2980944"/>
            <a:ext cx="73152" cy="1316736"/>
          </a:xfrm>
          <a:prstGeom prst="rect">
            <a:avLst/>
          </a:prstGeom>
          <a:solidFill>
            <a:srgbClr val="E8600A"/>
          </a:solidFill>
          <a:ln/>
        </p:spPr>
      </p:sp>
      <p:sp>
        <p:nvSpPr>
          <p:cNvPr id="30" name="Text 28"/>
          <p:cNvSpPr txBox="1"/>
          <p:nvPr/>
        </p:nvSpPr>
        <p:spPr>
          <a:xfrm>
            <a:off x="3337560" y="3026664"/>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TWO LEGAL DOCUMENTS</a:t>
            </a:r>
            <a:endParaRPr lang="en-US" sz="1100" dirty="0"/>
          </a:p>
        </p:txBody>
      </p:sp>
      <p:sp>
        <p:nvSpPr>
          <p:cNvPr id="31" name="Text 29"/>
          <p:cNvSpPr txBox="1"/>
          <p:nvPr/>
        </p:nvSpPr>
        <p:spPr>
          <a:xfrm>
            <a:off x="3337560" y="3300984"/>
            <a:ext cx="2514600" cy="950976"/>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purchase agreement between seller and SPE sets out the representations and warranties about the assets sold. The prospectus describes the structure: priority and amount of payments, and the credit enhancements used.</a:t>
            </a:r>
            <a:endParaRPr lang="en-US" sz="1200" dirty="0"/>
          </a:p>
        </p:txBody>
      </p:sp>
      <p:sp>
        <p:nvSpPr>
          <p:cNvPr id="32" name="Shape 30"/>
          <p:cNvSpPr/>
          <p:nvPr/>
        </p:nvSpPr>
        <p:spPr>
          <a:xfrm>
            <a:off x="6080760" y="2980944"/>
            <a:ext cx="2743200" cy="1316736"/>
          </a:xfrm>
          <a:prstGeom prst="rect">
            <a:avLst/>
          </a:prstGeom>
          <a:solidFill>
            <a:srgbClr val="F5F7FA"/>
          </a:solidFill>
          <a:ln/>
        </p:spPr>
      </p:sp>
      <p:sp>
        <p:nvSpPr>
          <p:cNvPr id="33" name="Shape 31"/>
          <p:cNvSpPr/>
          <p:nvPr/>
        </p:nvSpPr>
        <p:spPr>
          <a:xfrm>
            <a:off x="6080760" y="2980944"/>
            <a:ext cx="73152" cy="1316736"/>
          </a:xfrm>
          <a:prstGeom prst="rect">
            <a:avLst/>
          </a:prstGeom>
          <a:solidFill>
            <a:srgbClr val="1B2A4A"/>
          </a:solidFill>
          <a:ln/>
        </p:spPr>
      </p:sp>
      <p:sp>
        <p:nvSpPr>
          <p:cNvPr id="34" name="Text 32"/>
          <p:cNvSpPr txBox="1"/>
          <p:nvPr/>
        </p:nvSpPr>
        <p:spPr>
          <a:xfrm>
            <a:off x="6217920" y="3026664"/>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WHY TRUE SALE MATTERS</a:t>
            </a:r>
            <a:endParaRPr lang="en-US" sz="1100" dirty="0"/>
          </a:p>
        </p:txBody>
      </p:sp>
      <p:sp>
        <p:nvSpPr>
          <p:cNvPr id="35" name="Text 33"/>
          <p:cNvSpPr txBox="1"/>
          <p:nvPr/>
        </p:nvSpPr>
        <p:spPr>
          <a:xfrm>
            <a:off x="6217920" y="3300984"/>
            <a:ext cx="2514600" cy="950976"/>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All rights are irrevocably transferred and the assets are de-recognised from the seller. The only credit risk investors face is that the underlying borrowers default. Legal frameworks vary by country — and a transfer can still be unwound as a fraudulent conveyance.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Credit tranching stacks bond classes on one pool — the senior class is cheap because the junior classes stand in front of it, and the residual keeps what is left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17, Exhibit 3, printed p. 444.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Same cash-flow pool, three different risk profiles. Tranching dictates both the order of payments and the order in which losses are absorbed.</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554480"/>
                <a:gridCol w="960120"/>
                <a:gridCol w="1188720"/>
                <a:gridCol w="1097280"/>
                <a:gridCol w="822960"/>
                <a:gridCol w="822960"/>
                <a:gridCol w="20574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Bond class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Size ($)</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Coupon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Attach</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Detach</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Role in the structure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Senior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Aaa / AAA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MRR + 40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Cheapest funding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Mezzanine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Baa / BBB</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MRR + 250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Yield pick-up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Equity / residual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Unrated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Residual CF</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First loss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331720"/>
            <a:ext cx="8503920" cy="1965960"/>
          </a:xfrm>
          <a:prstGeom prst="rect">
            <a:avLst/>
          </a:prstGeom>
          <a:solidFill>
            <a:srgbClr val="FEF0E7"/>
          </a:solidFill>
          <a:ln w="9525">
            <a:solidFill>
              <a:srgbClr val="E8600A"/>
            </a:solidFill>
            <a:prstDash val="solid"/>
          </a:ln>
        </p:spPr>
      </p:sp>
      <p:sp>
        <p:nvSpPr>
          <p:cNvPr id="11" name="Text 8"/>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WHERE THE RESIDUAL COMES FROM — POOL OF $100 YIELDING MRR + 250</a:t>
            </a:r>
            <a:endParaRPr lang="en-US" sz="1100" dirty="0"/>
          </a:p>
        </p:txBody>
      </p:sp>
      <p:sp>
        <p:nvSpPr>
          <p:cNvPr id="12" name="Text 9"/>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asset pool pays 250 bps over MRR on $100. The senior $70 costs MRR + 40; the mezzanine $20 costs MRR + 250; the equity $10 takes what is left.</a:t>
            </a:r>
            <a:endParaRPr lang="en-US" sz="1200" dirty="0"/>
          </a:p>
        </p:txBody>
      </p:sp>
      <p:sp>
        <p:nvSpPr>
          <p:cNvPr id="13" name="Text 10"/>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Pool spread income:  250 bps × 100  =  25,000 bps·$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Debt cost:  (40 × 70) + (250 × 20)  =  2,800 + 5,000  =  7,800 bps·$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Residual:  25,000 − 7,800  =  17,200 bps·$ on equity of 10</a:t>
            </a:r>
            <a:endParaRPr lang="en-US" sz="1100" dirty="0"/>
          </a:p>
        </p:txBody>
      </p:sp>
      <p:sp>
        <p:nvSpPr>
          <p:cNvPr id="14" name="Shape 11"/>
          <p:cNvSpPr/>
          <p:nvPr/>
        </p:nvSpPr>
        <p:spPr>
          <a:xfrm>
            <a:off x="411480" y="3858768"/>
            <a:ext cx="8321040" cy="365760"/>
          </a:xfrm>
          <a:prstGeom prst="rect">
            <a:avLst/>
          </a:prstGeom>
          <a:solidFill>
            <a:srgbClr val="E8600A"/>
          </a:solidFill>
          <a:ln/>
        </p:spPr>
      </p:sp>
      <p:sp>
        <p:nvSpPr>
          <p:cNvPr id="15" name="Text 12"/>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Equity excess spread ≈ 1,720 bps (17.2% p.a.) before any losses, fees or defaults.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Losses are absorbed strictly from the bottom up — the senior class takes nothing until every junior class beneath it has been wiped out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18, Car Loan Trust structure (printed pp. 470–472) and Ahbaling Trust question set (printed p. 473).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Car Loan Trust: four classes on a EUR 1,000 million pool. Class D absorbs the first 25, then C up to a further 50, then B up to a further 100 — so Class A loses nothing until losses exceed EUR 175 million.</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2651760"/>
                <a:gridCol w="1371600"/>
                <a:gridCol w="1737360"/>
                <a:gridCol w="1600200"/>
                <a:gridCol w="11430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Car Loan Trust bond class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Par (EUR 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Absorbs losses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Loss at EUR 70m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Repaid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Class A — senior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above 175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Class B — mezzanine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75 – 175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Class C — junior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25 – 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Class D — most junior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first 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Total pool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930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320040" y="2926080"/>
          <a:ext cx="8503920" cy="914400"/>
        </p:xfrm>
        <a:graphic>
          <a:graphicData uri="http://schemas.openxmlformats.org/drawingml/2006/table">
            <a:tbl>
              <a:tblPr/>
              <a:tblGrid>
                <a:gridCol w="2651760"/>
                <a:gridCol w="1463040"/>
                <a:gridCol w="3017520"/>
                <a:gridCol w="13716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Ahbaling Trust bond class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Par (SGD 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Value after a SGD 140m default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Loss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Class A — senior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Class B — subordinated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Class C — subordinated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Total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260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There are exactly three internal credit enhancements — overcollateralization, excess spread and subordination — and everything else is external</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18, Credit Enhancement and Question Set Q4, printed pp. 469, 474, and Self-Assessment Q6, printed p. 463.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dividing line is whether the support comes from inside the deal or from a third party's promise. Cash collateral accounts sit on the EXTERNAL side — a point the curriculum makes explicitly.</a:t>
            </a:r>
            <a:endParaRPr lang="en-US" sz="1300" dirty="0"/>
          </a:p>
        </p:txBody>
      </p:sp>
      <p:sp>
        <p:nvSpPr>
          <p:cNvPr id="9" name="Shape 7"/>
          <p:cNvSpPr/>
          <p:nvPr/>
        </p:nvSpPr>
        <p:spPr>
          <a:xfrm>
            <a:off x="320040" y="1115568"/>
            <a:ext cx="4160520" cy="3182112"/>
          </a:xfrm>
          <a:prstGeom prst="rect">
            <a:avLst/>
          </a:prstGeom>
          <a:solidFill>
            <a:srgbClr val="F5F7FA"/>
          </a:solidFill>
          <a:ln/>
        </p:spPr>
      </p:sp>
      <p:sp>
        <p:nvSpPr>
          <p:cNvPr id="10" name="Shape 8"/>
          <p:cNvSpPr/>
          <p:nvPr/>
        </p:nvSpPr>
        <p:spPr>
          <a:xfrm>
            <a:off x="320040" y="1115568"/>
            <a:ext cx="73152" cy="3182112"/>
          </a:xfrm>
          <a:prstGeom prst="rect">
            <a:avLst/>
          </a:prstGeom>
          <a:solidFill>
            <a:srgbClr val="1B2A4A"/>
          </a:solidFill>
          <a:ln/>
        </p:spPr>
      </p:sp>
      <p:sp>
        <p:nvSpPr>
          <p:cNvPr id="11" name="Text 9"/>
          <p:cNvSpPr txBox="1"/>
          <p:nvPr/>
        </p:nvSpPr>
        <p:spPr>
          <a:xfrm>
            <a:off x="484632" y="1207008"/>
            <a:ext cx="3849624"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INTERNAL — THE THREE</a:t>
            </a:r>
            <a:endParaRPr lang="en-US" sz="1100" dirty="0"/>
          </a:p>
        </p:txBody>
      </p:sp>
      <p:sp>
        <p:nvSpPr>
          <p:cNvPr id="12" name="Text 10"/>
          <p:cNvSpPr txBox="1"/>
          <p:nvPr/>
        </p:nvSpPr>
        <p:spPr>
          <a:xfrm>
            <a:off x="539496" y="1536192"/>
            <a:ext cx="3739896" cy="265176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1. OVERCOLLATERALIZATION — the collateral value exceeds the face value of the bonds issued. Car Loan Trust: EUR 1,200m of loans behind a EUR 1,000m issue. If 10% of the pool defaults there is still EUR 1,080m of collateral.</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2. EXCESS SPREAD — the difference between the coupon earned on the collateral and the coupon paid on the securities. If the pool yields 8% and the bonds pay 6%, that 2% absorbs shortfalls or builds reserves.</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3. SUBORDINATION / CREDIT TRANCHING — more than one bond class, with the classes differing in how they share losses from defaults in the pool. The tranching sets both the order of payments and the order of loss absorption.</a:t>
            </a:r>
            <a:endParaRPr lang="en-US" sz="1150" dirty="0"/>
          </a:p>
        </p:txBody>
      </p:sp>
      <p:sp>
        <p:nvSpPr>
          <p:cNvPr id="13" name="Shape 11"/>
          <p:cNvSpPr/>
          <p:nvPr/>
        </p:nvSpPr>
        <p:spPr>
          <a:xfrm>
            <a:off x="4663440" y="1115568"/>
            <a:ext cx="4160520" cy="3182112"/>
          </a:xfrm>
          <a:prstGeom prst="rect">
            <a:avLst/>
          </a:prstGeom>
          <a:solidFill>
            <a:srgbClr val="FEF0E7"/>
          </a:solidFill>
          <a:ln/>
        </p:spPr>
      </p:sp>
      <p:sp>
        <p:nvSpPr>
          <p:cNvPr id="14" name="Shape 12"/>
          <p:cNvSpPr/>
          <p:nvPr/>
        </p:nvSpPr>
        <p:spPr>
          <a:xfrm>
            <a:off x="4663440" y="1115568"/>
            <a:ext cx="73152" cy="3182112"/>
          </a:xfrm>
          <a:prstGeom prst="rect">
            <a:avLst/>
          </a:prstGeom>
          <a:solidFill>
            <a:srgbClr val="E8600A"/>
          </a:solidFill>
          <a:ln/>
        </p:spPr>
      </p:sp>
      <p:sp>
        <p:nvSpPr>
          <p:cNvPr id="15" name="Text 13"/>
          <p:cNvSpPr txBox="1"/>
          <p:nvPr/>
        </p:nvSpPr>
        <p:spPr>
          <a:xfrm>
            <a:off x="4828032" y="1207008"/>
            <a:ext cx="3849624"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EXTERNAL — A THIRD PARTY'S PROMISE</a:t>
            </a:r>
            <a:endParaRPr lang="en-US" sz="1100" dirty="0"/>
          </a:p>
        </p:txBody>
      </p:sp>
      <p:sp>
        <p:nvSpPr>
          <p:cNvPr id="16" name="Text 14"/>
          <p:cNvSpPr txBox="1"/>
          <p:nvPr/>
        </p:nvSpPr>
        <p:spPr>
          <a:xfrm>
            <a:off x="4882896" y="1536192"/>
            <a:ext cx="3739896" cy="265176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Financial guarantees by banks or insurance companies.</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Letters of credit — a bank commits to advance shortfalls.</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Cash collateral accounts — the curriculum classifies these as EXTERNAL, not internal. Do not put a reserve account in the internal list.</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The trade-off: external support converts pool risk into counterparty risk. If the guarantor weakens in the same stress that hurts the pool, the enhancement fails exactly when it is needed.</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Worked case — SolarCity 2013-1: USD 54.425m of notes against collateral carried at USD 143.9m, roughly 2.7 times cover. That overcollateralization is cited as a main reason the notes achieved BBB+ and priced at 4.8%.</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Non-mortgage ABS splits on whether the collateral amortizes — credit-card receivables do not, so the structure needs a revolving period and a rapid-amortization trigger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18, Exhibits 5–6, Example 4 and the solar ABS lesson, printed pp. 475–479.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Commercial Finance Partners nine-year credit-card ABS: CHF 900 million of notes against CHF 925 million of receivables, three-year revolving period then six years of amortization.</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554480"/>
                <a:gridCol w="1554480"/>
                <a:gridCol w="1280160"/>
                <a:gridCol w="41148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Tranche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Face (EUR 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Credit enhancement feature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Tranche 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Subordination of Classes B, C and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Tranche B</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Subordination of Classes C and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Tranche 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Subordination of Class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Tranche 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Variable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 — first loss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Notes issued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900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Plus CHF 25m overcollateralization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0" name="Shape 7"/>
          <p:cNvSpPr/>
          <p:nvPr/>
        </p:nvSpPr>
        <p:spPr>
          <a:xfrm>
            <a:off x="320040" y="2926080"/>
            <a:ext cx="2743200" cy="1371600"/>
          </a:xfrm>
          <a:prstGeom prst="rect">
            <a:avLst/>
          </a:prstGeom>
          <a:solidFill>
            <a:srgbClr val="F5F7FA"/>
          </a:solidFill>
          <a:ln/>
        </p:spPr>
      </p:sp>
      <p:sp>
        <p:nvSpPr>
          <p:cNvPr id="11" name="Shape 8"/>
          <p:cNvSpPr/>
          <p:nvPr/>
        </p:nvSpPr>
        <p:spPr>
          <a:xfrm>
            <a:off x="320040" y="2926080"/>
            <a:ext cx="73152" cy="1371600"/>
          </a:xfrm>
          <a:prstGeom prst="rect">
            <a:avLst/>
          </a:prstGeom>
          <a:solidFill>
            <a:srgbClr val="1B2A4A"/>
          </a:solidFill>
          <a:ln/>
        </p:spPr>
      </p:sp>
      <p:sp>
        <p:nvSpPr>
          <p:cNvPr id="12" name="Text 9"/>
          <p:cNvSpPr txBox="1"/>
          <p:nvPr/>
        </p:nvSpPr>
        <p:spPr>
          <a:xfrm>
            <a:off x="457200" y="297180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AMORTIZING vs NOT</a:t>
            </a:r>
            <a:endParaRPr lang="en-US" sz="1100" dirty="0"/>
          </a:p>
        </p:txBody>
      </p:sp>
      <p:sp>
        <p:nvSpPr>
          <p:cNvPr id="13" name="Text 10"/>
          <p:cNvSpPr txBox="1"/>
          <p:nvPr/>
        </p:nvSpPr>
        <p:spPr>
          <a:xfrm>
            <a:off x="457200" y="3246120"/>
            <a:ext cx="2514600" cy="10058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Auto loans and residential mortgages amortize: each payment includes principal, the pool shrinks, and investors face prepayment and default risk from day one. Credit-card receivables do not amortize — during the revolving period principal repaid is reinvested in new receivables and holders receive only finance charges and fees.</a:t>
            </a:r>
            <a:endParaRPr lang="en-US" sz="1200" dirty="0"/>
          </a:p>
        </p:txBody>
      </p:sp>
      <p:sp>
        <p:nvSpPr>
          <p:cNvPr id="14" name="Shape 11"/>
          <p:cNvSpPr/>
          <p:nvPr/>
        </p:nvSpPr>
        <p:spPr>
          <a:xfrm>
            <a:off x="3200400" y="2926080"/>
            <a:ext cx="2743200" cy="1371600"/>
          </a:xfrm>
          <a:prstGeom prst="rect">
            <a:avLst/>
          </a:prstGeom>
          <a:solidFill>
            <a:srgbClr val="FEF0E7"/>
          </a:solidFill>
          <a:ln/>
        </p:spPr>
      </p:sp>
      <p:sp>
        <p:nvSpPr>
          <p:cNvPr id="15" name="Shape 12"/>
          <p:cNvSpPr/>
          <p:nvPr/>
        </p:nvSpPr>
        <p:spPr>
          <a:xfrm>
            <a:off x="3200400" y="2926080"/>
            <a:ext cx="73152" cy="1371600"/>
          </a:xfrm>
          <a:prstGeom prst="rect">
            <a:avLst/>
          </a:prstGeom>
          <a:solidFill>
            <a:srgbClr val="E8600A"/>
          </a:solidFill>
          <a:ln/>
        </p:spPr>
      </p:sp>
      <p:sp>
        <p:nvSpPr>
          <p:cNvPr id="16" name="Text 13"/>
          <p:cNvSpPr txBox="1"/>
          <p:nvPr/>
        </p:nvSpPr>
        <p:spPr>
          <a:xfrm>
            <a:off x="3337560" y="297180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RAPID AMORTIZATION</a:t>
            </a:r>
            <a:endParaRPr lang="en-US" sz="1100" dirty="0"/>
          </a:p>
        </p:txBody>
      </p:sp>
      <p:sp>
        <p:nvSpPr>
          <p:cNvPr id="17" name="Text 14"/>
          <p:cNvSpPr txBox="1"/>
          <p:nvPr/>
        </p:nvSpPr>
        <p:spPr>
          <a:xfrm>
            <a:off x="3337560" y="3246120"/>
            <a:ext cx="2514600" cy="10058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trigger that forces early principal amortization if pool performance deteriorates so that repayments no longer replenish the pool. It protects investors — they are repaid earlier and can reinvest elsewhere — but it shortens the life of the bond without warning.</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Loss cushion here: CHF 25m of OC plus the CHF 50m Class D = CHF 75m, or 8.33%, before Class C is touched.</a:t>
            </a:r>
            <a:endParaRPr lang="en-US" sz="1200" dirty="0"/>
          </a:p>
        </p:txBody>
      </p:sp>
      <p:sp>
        <p:nvSpPr>
          <p:cNvPr id="18" name="Shape 15"/>
          <p:cNvSpPr/>
          <p:nvPr/>
        </p:nvSpPr>
        <p:spPr>
          <a:xfrm>
            <a:off x="6080760" y="2926080"/>
            <a:ext cx="2743200" cy="1371600"/>
          </a:xfrm>
          <a:prstGeom prst="rect">
            <a:avLst/>
          </a:prstGeom>
          <a:solidFill>
            <a:srgbClr val="F5F7FA"/>
          </a:solidFill>
          <a:ln/>
        </p:spPr>
      </p:sp>
      <p:sp>
        <p:nvSpPr>
          <p:cNvPr id="19" name="Shape 16"/>
          <p:cNvSpPr/>
          <p:nvPr/>
        </p:nvSpPr>
        <p:spPr>
          <a:xfrm>
            <a:off x="6080760" y="2926080"/>
            <a:ext cx="73152" cy="1371600"/>
          </a:xfrm>
          <a:prstGeom prst="rect">
            <a:avLst/>
          </a:prstGeom>
          <a:solidFill>
            <a:srgbClr val="1B2A4A"/>
          </a:solidFill>
          <a:ln/>
        </p:spPr>
      </p:sp>
      <p:sp>
        <p:nvSpPr>
          <p:cNvPr id="20" name="Text 17"/>
          <p:cNvSpPr txBox="1"/>
          <p:nvPr/>
        </p:nvSpPr>
        <p:spPr>
          <a:xfrm>
            <a:off x="6217920" y="297180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SOLAR ABS</a:t>
            </a:r>
            <a:endParaRPr lang="en-US" sz="1100" dirty="0"/>
          </a:p>
        </p:txBody>
      </p:sp>
      <p:sp>
        <p:nvSpPr>
          <p:cNvPr id="21" name="Text 18"/>
          <p:cNvSpPr txBox="1"/>
          <p:nvPr/>
        </p:nvSpPr>
        <p:spPr>
          <a:xfrm>
            <a:off x="6217920" y="3246120"/>
            <a:ext cx="2514600" cy="10058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Al-Shims issues EUR 300m of notes secured on 10,000 home-improvement loans with a face value of EUR 320m, average balance EUR 32,500, weighted-average rate 7.5%, weighted-average maturity 17 years, all amortizing. Many solar ABS carry a pre-funding period allowing the trust to buy further qualifying assets after closing.</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CLO is a leveraged transaction on a managed pool of senior secured loans — and the overcollateralization test is the covenant that turns equity cash off</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18, Exhibits 7–9 and the CLO lesson, printed pp. 481–484.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CDOs backed by leveraged bank loans are CLOs, by corporate and EM bonds are CBOs, by other CDOs are structured finance CDOs, and by credit default swaps are synthetic. The CLO is the prevailing structure.</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4160520" cy="914400"/>
        </p:xfrm>
        <a:graphic>
          <a:graphicData uri="http://schemas.openxmlformats.org/drawingml/2006/table">
            <a:tbl>
              <a:tblPr/>
              <a:tblGrid>
                <a:gridCol w="1874520"/>
                <a:gridCol w="822960"/>
                <a:gridCol w="14630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CLO tranche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Return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AAA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Lowest yield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AA / A / BBB</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Rising yield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 yield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Equity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Residual only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633472"/>
            <a:ext cx="4160520" cy="1664208"/>
          </a:xfrm>
          <a:prstGeom prst="rect">
            <a:avLst/>
          </a:prstGeom>
          <a:solidFill>
            <a:srgbClr val="F5F7FA"/>
          </a:solidFill>
          <a:ln/>
        </p:spPr>
      </p:sp>
      <p:sp>
        <p:nvSpPr>
          <p:cNvPr id="11" name="Shape 8"/>
          <p:cNvSpPr/>
          <p:nvPr/>
        </p:nvSpPr>
        <p:spPr>
          <a:xfrm>
            <a:off x="320040" y="2633472"/>
            <a:ext cx="73152" cy="1664208"/>
          </a:xfrm>
          <a:prstGeom prst="rect">
            <a:avLst/>
          </a:prstGeom>
          <a:solidFill>
            <a:srgbClr val="1B2A4A"/>
          </a:solidFill>
          <a:ln/>
        </p:spPr>
      </p:sp>
      <p:sp>
        <p:nvSpPr>
          <p:cNvPr id="12" name="Text 9"/>
          <p:cNvSpPr txBox="1"/>
          <p:nvPr/>
        </p:nvSpPr>
        <p:spPr>
          <a:xfrm>
            <a:off x="457200" y="2679192"/>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COLLATERAL POOL</a:t>
            </a:r>
            <a:endParaRPr lang="en-US" sz="1100" dirty="0"/>
          </a:p>
        </p:txBody>
      </p:sp>
      <p:sp>
        <p:nvSpPr>
          <p:cNvPr id="13" name="Text 10"/>
          <p:cNvSpPr txBox="1"/>
          <p:nvPr/>
        </p:nvSpPr>
        <p:spPr>
          <a:xfrm>
            <a:off x="457200" y="2953512"/>
            <a:ext cx="3931920" cy="12984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diversified portfolio of senior secured loans, generally 100–225 issuers, actively managed by a collateral manager whose skill in selecting and exchanging assets directly drives performance.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The pool is not final at closing: most loans are bought before it closes, then a ramp-up period adds the rest. The manager may replace loans provided they meet the selection criteria.</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Flavours: cash flow CLOs (the most common), market value CLOs, synthetic CLOs built with credit derivatives.</a:t>
            </a:r>
            <a:endParaRPr lang="en-US" sz="1200" dirty="0"/>
          </a:p>
        </p:txBody>
      </p:sp>
      <p:sp>
        <p:nvSpPr>
          <p:cNvPr id="14" name="Shape 11"/>
          <p:cNvSpPr/>
          <p:nvPr/>
        </p:nvSpPr>
        <p:spPr>
          <a:xfrm>
            <a:off x="4663440" y="1143000"/>
            <a:ext cx="4160520" cy="2103120"/>
          </a:xfrm>
          <a:prstGeom prst="rect">
            <a:avLst/>
          </a:prstGeom>
          <a:solidFill>
            <a:srgbClr val="FEF0E7"/>
          </a:solidFill>
          <a:ln w="9525">
            <a:solidFill>
              <a:srgbClr val="E8600A"/>
            </a:solidFill>
            <a:prstDash val="solid"/>
          </a:ln>
        </p:spPr>
      </p:sp>
      <p:sp>
        <p:nvSpPr>
          <p:cNvPr id="15" name="Text 12"/>
          <p:cNvSpPr txBox="1"/>
          <p:nvPr/>
        </p:nvSpPr>
        <p:spPr>
          <a:xfrm>
            <a:off x="4800600" y="118872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OVERCOLLATERALIZATION RATIO</a:t>
            </a:r>
            <a:endParaRPr lang="en-US" sz="1100" dirty="0"/>
          </a:p>
        </p:txBody>
      </p:sp>
      <p:sp>
        <p:nvSpPr>
          <p:cNvPr id="16" name="Text 13"/>
          <p:cNvSpPr txBox="1"/>
          <p:nvPr/>
        </p:nvSpPr>
        <p:spPr>
          <a:xfrm>
            <a:off x="4800600" y="1481328"/>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CLO promises USD 700 million of principal to its debt tranches. Investors and rating agencies require the manager to buy more collateral than that.</a:t>
            </a:r>
            <a:endParaRPr lang="en-US" sz="1200" dirty="0"/>
          </a:p>
        </p:txBody>
      </p:sp>
      <p:sp>
        <p:nvSpPr>
          <p:cNvPr id="17" name="Text 14"/>
          <p:cNvSpPr txBox="1"/>
          <p:nvPr/>
        </p:nvSpPr>
        <p:spPr>
          <a:xfrm>
            <a:off x="4800600" y="1993392"/>
            <a:ext cx="3886200" cy="74066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Bank loans purchased:  USD 840 million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Debt principal promised:  USD 700 million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OC ratio = 840 / 700 = 1.20</a:t>
            </a:r>
            <a:endParaRPr lang="en-US" sz="1150" dirty="0"/>
          </a:p>
        </p:txBody>
      </p:sp>
      <p:sp>
        <p:nvSpPr>
          <p:cNvPr id="18" name="Shape 15"/>
          <p:cNvSpPr/>
          <p:nvPr/>
        </p:nvSpPr>
        <p:spPr>
          <a:xfrm>
            <a:off x="4754880" y="2807208"/>
            <a:ext cx="3977640" cy="365760"/>
          </a:xfrm>
          <a:prstGeom prst="rect">
            <a:avLst/>
          </a:prstGeom>
          <a:solidFill>
            <a:srgbClr val="E8600A"/>
          </a:solidFill>
          <a:ln/>
        </p:spPr>
      </p:sp>
      <p:sp>
        <p:nvSpPr>
          <p:cNvPr id="19" name="Text 16"/>
          <p:cNvSpPr txBox="1"/>
          <p:nvPr/>
        </p:nvSpPr>
        <p:spPr>
          <a:xfrm>
            <a:off x="4800600" y="2807208"/>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Each debt tranche has its own OC covenant.</a:t>
            </a:r>
            <a:endParaRPr lang="en-US" sz="1150" dirty="0"/>
          </a:p>
        </p:txBody>
      </p:sp>
      <p:sp>
        <p:nvSpPr>
          <p:cNvPr id="20" name="Shape 17"/>
          <p:cNvSpPr/>
          <p:nvPr/>
        </p:nvSpPr>
        <p:spPr>
          <a:xfrm>
            <a:off x="4663440" y="3364992"/>
            <a:ext cx="4160520" cy="932688"/>
          </a:xfrm>
          <a:prstGeom prst="rect">
            <a:avLst/>
          </a:prstGeom>
          <a:solidFill>
            <a:srgbClr val="FEF0E7"/>
          </a:solidFill>
          <a:ln/>
        </p:spPr>
      </p:sp>
      <p:sp>
        <p:nvSpPr>
          <p:cNvPr id="21" name="Shape 18"/>
          <p:cNvSpPr/>
          <p:nvPr/>
        </p:nvSpPr>
        <p:spPr>
          <a:xfrm>
            <a:off x="4663440" y="3364992"/>
            <a:ext cx="73152" cy="932688"/>
          </a:xfrm>
          <a:prstGeom prst="rect">
            <a:avLst/>
          </a:prstGeom>
          <a:solidFill>
            <a:srgbClr val="E8600A"/>
          </a:solidFill>
          <a:ln/>
        </p:spPr>
      </p:sp>
      <p:sp>
        <p:nvSpPr>
          <p:cNvPr id="22" name="Text 19"/>
          <p:cNvSpPr txBox="1"/>
          <p:nvPr/>
        </p:nvSpPr>
        <p:spPr>
          <a:xfrm>
            <a:off x="4800600" y="3410712"/>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WHEN A TEST IS BREACHED</a:t>
            </a:r>
            <a:endParaRPr lang="en-US" sz="1100" dirty="0"/>
          </a:p>
        </p:txBody>
      </p:sp>
      <p:sp>
        <p:nvSpPr>
          <p:cNvPr id="23" name="Text 20"/>
          <p:cNvSpPr txBox="1"/>
          <p:nvPr/>
        </p:nvSpPr>
        <p:spPr>
          <a:xfrm>
            <a:off x="4800600" y="3685032"/>
            <a:ext cx="3931920" cy="56692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Cash is diverted away from equity and junior debt to buy more collateral or repay the most senior tranche. That deleverages the CLO — it retires the cheapest funding the deal has. Other tests limit industry concentration, single-obligor exposure and the share of CCC-rated debt.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Covered bonds are the simplest structure and the only one with dual recourse — the cover pool stays on the bank's balance sheet, so it is not a true securitization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18, Exhibits 1–2, Exhibit 7 and Question Set, printed pp. 464–468, 481.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Originated over 250 years ago in Prussia — the German Pfandbrief — and now issued in Europe, Asia and Australia. Covered bonds usually carry lower credit risk and offer lower yields than otherwise similar ABS.</a:t>
            </a:r>
            <a:endParaRPr lang="en-US" sz="1300" dirty="0"/>
          </a:p>
        </p:txBody>
      </p:sp>
      <p:sp>
        <p:nvSpPr>
          <p:cNvPr id="9" name="Shape 7"/>
          <p:cNvSpPr/>
          <p:nvPr/>
        </p:nvSpPr>
        <p:spPr>
          <a:xfrm>
            <a:off x="320040" y="1115568"/>
            <a:ext cx="4160520" cy="3182112"/>
          </a:xfrm>
          <a:prstGeom prst="rect">
            <a:avLst/>
          </a:prstGeom>
          <a:solidFill>
            <a:srgbClr val="F5F7FA"/>
          </a:solidFill>
          <a:ln/>
        </p:spPr>
      </p:sp>
      <p:sp>
        <p:nvSpPr>
          <p:cNvPr id="10" name="Shape 8"/>
          <p:cNvSpPr/>
          <p:nvPr/>
        </p:nvSpPr>
        <p:spPr>
          <a:xfrm>
            <a:off x="320040" y="1115568"/>
            <a:ext cx="73152" cy="3182112"/>
          </a:xfrm>
          <a:prstGeom prst="rect">
            <a:avLst/>
          </a:prstGeom>
          <a:solidFill>
            <a:srgbClr val="1B2A4A"/>
          </a:solidFill>
          <a:ln/>
        </p:spPr>
      </p:sp>
      <p:sp>
        <p:nvSpPr>
          <p:cNvPr id="11" name="Text 9"/>
          <p:cNvSpPr txBox="1"/>
          <p:nvPr/>
        </p:nvSpPr>
        <p:spPr>
          <a:xfrm>
            <a:off x="484632" y="1207008"/>
            <a:ext cx="3849624"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COVERED BOND</a:t>
            </a:r>
            <a:endParaRPr lang="en-US" sz="1100" dirty="0"/>
          </a:p>
        </p:txBody>
      </p:sp>
      <p:sp>
        <p:nvSpPr>
          <p:cNvPr id="12" name="Text 10"/>
          <p:cNvSpPr txBox="1"/>
          <p:nvPr/>
        </p:nvSpPr>
        <p:spPr>
          <a:xfrm>
            <a:off x="539496" y="1536192"/>
            <a:ext cx="3739896" cy="265176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Senior debt obligations of a financial institution, backed by a segregated pool of commercial or residential mortgages or public-sector assets. Ships and aircraft pools also exist.</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The loans REMAIN on the issuer's balance sheet, ringfenced into a cover pool. Payment comes from the bank, not from the pool's cash flows.</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DUAL RECOURSE: first on the ringfenced cover pool, and if that is insufficient, on the unencumbered assets of the issuing institution.</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One bond class per cover pool. The pool is dynamic — a third-party asset monitor checks it, and prepaid or non-performing assets must be replaced. Germany requires at least 2% overcollateralization; loans must meet an LTV cut-off (80% in the curriculum term sheet) or be swapped out.</a:t>
            </a:r>
            <a:endParaRPr lang="en-US" sz="1150" dirty="0"/>
          </a:p>
        </p:txBody>
      </p:sp>
      <p:sp>
        <p:nvSpPr>
          <p:cNvPr id="13" name="Shape 11"/>
          <p:cNvSpPr/>
          <p:nvPr/>
        </p:nvSpPr>
        <p:spPr>
          <a:xfrm>
            <a:off x="4663440" y="1115568"/>
            <a:ext cx="4160520" cy="3182112"/>
          </a:xfrm>
          <a:prstGeom prst="rect">
            <a:avLst/>
          </a:prstGeom>
          <a:solidFill>
            <a:srgbClr val="FEF0E7"/>
          </a:solidFill>
          <a:ln/>
        </p:spPr>
      </p:sp>
      <p:sp>
        <p:nvSpPr>
          <p:cNvPr id="14" name="Shape 12"/>
          <p:cNvSpPr/>
          <p:nvPr/>
        </p:nvSpPr>
        <p:spPr>
          <a:xfrm>
            <a:off x="4663440" y="1115568"/>
            <a:ext cx="73152" cy="3182112"/>
          </a:xfrm>
          <a:prstGeom prst="rect">
            <a:avLst/>
          </a:prstGeom>
          <a:solidFill>
            <a:srgbClr val="E8600A"/>
          </a:solidFill>
          <a:ln/>
        </p:spPr>
      </p:sp>
      <p:sp>
        <p:nvSpPr>
          <p:cNvPr id="15" name="Text 13"/>
          <p:cNvSpPr txBox="1"/>
          <p:nvPr/>
        </p:nvSpPr>
        <p:spPr>
          <a:xfrm>
            <a:off x="4828032" y="1207008"/>
            <a:ext cx="3849624"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TRUE-SALE ABS  ·  AND THE REDEMPTION REGIMES</a:t>
            </a:r>
            <a:endParaRPr lang="en-US" sz="1100" dirty="0"/>
          </a:p>
        </p:txBody>
      </p:sp>
      <p:sp>
        <p:nvSpPr>
          <p:cNvPr id="16" name="Text 14"/>
          <p:cNvSpPr txBox="1"/>
          <p:nvPr/>
        </p:nvSpPr>
        <p:spPr>
          <a:xfrm>
            <a:off x="4882896" y="1536192"/>
            <a:ext cx="3739896" cy="265176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ABS: the pool is SOLD to a bankruptcy-remote SPE and removed from the balance sheet. Single recourse — to the pool only. Typically several bond classes. ABS usually pay floating and pass early payments through; covered bonds typically pay fixed and mature on a fixed date.</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Redemption regimes align cash flows with the original schedule if the sponsor defaults:</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HARD BULLET — miss the schedule and a bond default is triggered, payments accelerated. The quickest trigger.</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SOFT BULLET — default and acceleration are delayed to a new final maturity date, usually up to a year later.</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CONDITIONAL PASS-THROUGH — the bond converts into a pass-through security after the original maturity date if payments have not all been made.</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05</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Mortgage-backed securities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5 of 5  ·  Deck 16 of 20  ·  Studio Tonton Gug</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MBS divide on two axes — residential versus commercial, and agency versus non-agency — and only the agency guarantee removes credit risk</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19, Agency and Non-Agency RMBS and Exhibit 8, printed pp. 504, 519.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In the US, Canada, Japan and South Korea, securities backed by residential mortgages split three ways: guaranteed by a federal agency, guaranteed by a GSE, or issued by private entities with no guarantee at all.</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645920"/>
                <a:gridCol w="3474720"/>
                <a:gridCol w="3383280"/>
              </a:tblGrid>
              <a:tr h="274320">
                <a:tc>
                  <a:txBody>
                    <a:bodyPr/>
                    <a:lstStyle/>
                    <a:p>
                      <a:pPr algn="ctr" indent="0" marL="0">
                        <a:buNone/>
                      </a:pP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Agency — federal agency or GSE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Non-agency — private label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RMBS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Federal agency: full faith and credit of the government. GSE: its own guarantee, for a fee.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Private issuers, no guarantee. Credit risk handled inside the structure — pool insurance, subordination.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CMBS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Limited. Pools of commercial mortgages on income-producing property.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main CMBS market: offices, retail, industrial, multifamily, hotels, health care.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788920"/>
            <a:ext cx="2743200" cy="1508760"/>
          </a:xfrm>
          <a:prstGeom prst="rect">
            <a:avLst/>
          </a:prstGeom>
          <a:solidFill>
            <a:srgbClr val="F5F7FA"/>
          </a:solidFill>
          <a:ln/>
        </p:spPr>
      </p:sp>
      <p:sp>
        <p:nvSpPr>
          <p:cNvPr id="11" name="Shape 8"/>
          <p:cNvSpPr/>
          <p:nvPr/>
        </p:nvSpPr>
        <p:spPr>
          <a:xfrm>
            <a:off x="320040" y="2788920"/>
            <a:ext cx="73152" cy="1508760"/>
          </a:xfrm>
          <a:prstGeom prst="rect">
            <a:avLst/>
          </a:prstGeom>
          <a:solidFill>
            <a:srgbClr val="1B2A4A"/>
          </a:solidFill>
          <a:ln/>
        </p:spPr>
      </p:sp>
      <p:sp>
        <p:nvSpPr>
          <p:cNvPr id="12" name="Text 9"/>
          <p:cNvSpPr txBox="1"/>
          <p:nvPr/>
        </p:nvSpPr>
        <p:spPr>
          <a:xfrm>
            <a:off x="457200" y="28346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AGENCY RMBS</a:t>
            </a:r>
            <a:endParaRPr lang="en-US" sz="1100" dirty="0"/>
          </a:p>
        </p:txBody>
      </p:sp>
      <p:sp>
        <p:nvSpPr>
          <p:cNvPr id="13" name="Text 10"/>
          <p:cNvSpPr txBox="1"/>
          <p:nvPr/>
        </p:nvSpPr>
        <p:spPr>
          <a:xfrm>
            <a:off x="457200" y="3108960"/>
            <a:ext cx="2514600" cy="11430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guarantee removes credit risk from the investor. What is left is prepayment risk and interest-rate risk — which is why agency MBS analysis is almost entirely about prepayment behaviour.</a:t>
            </a:r>
            <a:endParaRPr lang="en-US" sz="1200" dirty="0"/>
          </a:p>
        </p:txBody>
      </p:sp>
      <p:sp>
        <p:nvSpPr>
          <p:cNvPr id="14" name="Shape 11"/>
          <p:cNvSpPr/>
          <p:nvPr/>
        </p:nvSpPr>
        <p:spPr>
          <a:xfrm>
            <a:off x="3200400" y="2788920"/>
            <a:ext cx="2743200" cy="1508760"/>
          </a:xfrm>
          <a:prstGeom prst="rect">
            <a:avLst/>
          </a:prstGeom>
          <a:solidFill>
            <a:srgbClr val="FEF0E7"/>
          </a:solidFill>
          <a:ln/>
        </p:spPr>
      </p:sp>
      <p:sp>
        <p:nvSpPr>
          <p:cNvPr id="15" name="Shape 12"/>
          <p:cNvSpPr/>
          <p:nvPr/>
        </p:nvSpPr>
        <p:spPr>
          <a:xfrm>
            <a:off x="3200400" y="2788920"/>
            <a:ext cx="73152" cy="1508760"/>
          </a:xfrm>
          <a:prstGeom prst="rect">
            <a:avLst/>
          </a:prstGeom>
          <a:solidFill>
            <a:srgbClr val="E8600A"/>
          </a:solidFill>
          <a:ln/>
        </p:spPr>
      </p:sp>
      <p:sp>
        <p:nvSpPr>
          <p:cNvPr id="16" name="Text 13"/>
          <p:cNvSpPr txBox="1"/>
          <p:nvPr/>
        </p:nvSpPr>
        <p:spPr>
          <a:xfrm>
            <a:off x="3337560" y="28346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NON-AGENCY RMBS</a:t>
            </a:r>
            <a:endParaRPr lang="en-US" sz="1100" dirty="0"/>
          </a:p>
        </p:txBody>
      </p:sp>
      <p:sp>
        <p:nvSpPr>
          <p:cNvPr id="17" name="Text 14"/>
          <p:cNvSpPr txBox="1"/>
          <p:nvPr/>
        </p:nvSpPr>
        <p:spPr>
          <a:xfrm>
            <a:off x="3337560" y="3108960"/>
            <a:ext cx="2514600" cy="11430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Investor bears credit risk as well. Collateral is non-conforming or subprime. Underwriting is read through LTV (loan ÷ property value) and DTI (monthly debt payment ÷ monthly pre-tax income). The sector all but disappeared after 2008.</a:t>
            </a:r>
            <a:endParaRPr lang="en-US" sz="1200" dirty="0"/>
          </a:p>
        </p:txBody>
      </p:sp>
      <p:sp>
        <p:nvSpPr>
          <p:cNvPr id="18" name="Shape 15"/>
          <p:cNvSpPr/>
          <p:nvPr/>
        </p:nvSpPr>
        <p:spPr>
          <a:xfrm>
            <a:off x="6080760" y="2788920"/>
            <a:ext cx="2743200" cy="1508760"/>
          </a:xfrm>
          <a:prstGeom prst="rect">
            <a:avLst/>
          </a:prstGeom>
          <a:solidFill>
            <a:srgbClr val="F5F7FA"/>
          </a:solidFill>
          <a:ln/>
        </p:spPr>
      </p:sp>
      <p:sp>
        <p:nvSpPr>
          <p:cNvPr id="19" name="Shape 16"/>
          <p:cNvSpPr/>
          <p:nvPr/>
        </p:nvSpPr>
        <p:spPr>
          <a:xfrm>
            <a:off x="6080760" y="2788920"/>
            <a:ext cx="73152" cy="1508760"/>
          </a:xfrm>
          <a:prstGeom prst="rect">
            <a:avLst/>
          </a:prstGeom>
          <a:solidFill>
            <a:srgbClr val="1B2A4A"/>
          </a:solidFill>
          <a:ln/>
        </p:spPr>
      </p:sp>
      <p:sp>
        <p:nvSpPr>
          <p:cNvPr id="20" name="Text 17"/>
          <p:cNvSpPr txBox="1"/>
          <p:nvPr/>
        </p:nvSpPr>
        <p:spPr>
          <a:xfrm>
            <a:off x="6217920" y="28346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RECOURSE MATTERS</a:t>
            </a:r>
            <a:endParaRPr lang="en-US" sz="1100" dirty="0"/>
          </a:p>
        </p:txBody>
      </p:sp>
      <p:sp>
        <p:nvSpPr>
          <p:cNvPr id="21" name="Text 18"/>
          <p:cNvSpPr txBox="1"/>
          <p:nvPr/>
        </p:nvSpPr>
        <p:spPr>
          <a:xfrm>
            <a:off x="6217920" y="3108960"/>
            <a:ext cx="2514600" cy="11430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 a recourse loan the lender can pursue the borrower for any shortfall after selling the property; in a non-recourse loan only the property. US residential mortgages are non-recourse in many states; most of Europe is recourse — which is why strategic default is a US phenomenon.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heterogeneous pool is summarised by WAC and WAM, both weighted on CURRENT balances — and the pass-through rate is the WAC net of servicing fees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19, Exhibits 2 and 4, printed pp. 508–509.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mortgages in a pool differ in balance, rate and remaining term. WAC and WAM collapse that into two numbers the investor can price.</a:t>
            </a:r>
            <a:endParaRPr lang="en-US" sz="1300" dirty="0"/>
          </a:p>
        </p:txBody>
      </p:sp>
      <p:sp>
        <p:nvSpPr>
          <p:cNvPr id="9" name="Shape 7"/>
          <p:cNvSpPr/>
          <p:nvPr/>
        </p:nvSpPr>
        <p:spPr>
          <a:xfrm>
            <a:off x="320040" y="1060704"/>
            <a:ext cx="8503920" cy="457200"/>
          </a:xfrm>
          <a:prstGeom prst="rect">
            <a:avLst/>
          </a:prstGeom>
          <a:solidFill>
            <a:srgbClr val="1B2A4A"/>
          </a:solidFill>
          <a:ln/>
        </p:spPr>
      </p:sp>
      <p:sp>
        <p:nvSpPr>
          <p:cNvPr id="10" name="Text 8"/>
          <p:cNvSpPr txBox="1"/>
          <p:nvPr/>
        </p:nvSpPr>
        <p:spPr>
          <a:xfrm>
            <a:off x="411480" y="1060704"/>
            <a:ext cx="8321040" cy="45720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WAC = Σ wᵢ × cᵢ      WAM = Σ wᵢ × mᵢ      wᵢ = CBᵢ / Σ CB</a:t>
            </a:r>
            <a:endParaRPr lang="en-US" sz="1800" dirty="0"/>
          </a:p>
        </p:txBody>
      </p:sp>
      <p:sp>
        <p:nvSpPr>
          <p:cNvPr id="11" name="Text 9"/>
          <p:cNvSpPr txBox="1"/>
          <p:nvPr/>
        </p:nvSpPr>
        <p:spPr>
          <a:xfrm>
            <a:off x="320040" y="1545336"/>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cᵢ = mortgage rate; mᵢ = remaining months to maturity; CB = CURRENT balance, not the original. Pass-through rate = WAC − servicing and guarantee fees; the curriculum's worked case is WAC 4.55% − fees 0.55% = 4.00%.</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20040" y="1847088"/>
          <a:ext cx="8503920" cy="914400"/>
        </p:xfrm>
        <a:graphic>
          <a:graphicData uri="http://schemas.openxmlformats.org/drawingml/2006/table">
            <a:tbl>
              <a:tblPr/>
              <a:tblGrid>
                <a:gridCol w="1188720"/>
                <a:gridCol w="868680"/>
                <a:gridCol w="1874520"/>
                <a:gridCol w="1737360"/>
                <a:gridCol w="1417320"/>
                <a:gridCol w="14173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Mortgage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Beginning balance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Current balance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Orig. term (m)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Months to mat.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300,000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238,000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420,000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380,000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100,000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87,000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288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280,000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132,000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350,000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312,000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384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TOTAL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EUR 1,450,000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EUR 1,149,000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WAC 3.29%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WAM 313 mo.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3" name="Shape 10"/>
          <p:cNvSpPr/>
          <p:nvPr/>
        </p:nvSpPr>
        <p:spPr>
          <a:xfrm>
            <a:off x="320040" y="3858768"/>
            <a:ext cx="8503920" cy="530352"/>
          </a:xfrm>
          <a:prstGeom prst="rect">
            <a:avLst/>
          </a:prstGeom>
          <a:solidFill>
            <a:srgbClr val="FEF0E7"/>
          </a:solidFill>
          <a:ln/>
        </p:spPr>
      </p:sp>
      <p:sp>
        <p:nvSpPr>
          <p:cNvPr id="14" name="Shape 11"/>
          <p:cNvSpPr/>
          <p:nvPr/>
        </p:nvSpPr>
        <p:spPr>
          <a:xfrm>
            <a:off x="320040" y="3858768"/>
            <a:ext cx="73152" cy="530352"/>
          </a:xfrm>
          <a:prstGeom prst="rect">
            <a:avLst/>
          </a:prstGeom>
          <a:solidFill>
            <a:srgbClr val="E8600A"/>
          </a:solidFill>
          <a:ln/>
        </p:spPr>
      </p:sp>
      <p:sp>
        <p:nvSpPr>
          <p:cNvPr id="15" name="Text 12"/>
          <p:cNvSpPr txBox="1"/>
          <p:nvPr/>
        </p:nvSpPr>
        <p:spPr>
          <a:xfrm>
            <a:off x="457200" y="390448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WEIGHTING TRAP</a:t>
            </a:r>
            <a:endParaRPr lang="en-US" sz="1100" dirty="0"/>
          </a:p>
        </p:txBody>
      </p:sp>
      <p:sp>
        <p:nvSpPr>
          <p:cNvPr id="16" name="Text 13"/>
          <p:cNvSpPr txBox="1"/>
          <p:nvPr/>
        </p:nvSpPr>
        <p:spPr>
          <a:xfrm>
            <a:off x="457200" y="4178808"/>
            <a:ext cx="8275320" cy="16459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Weight on CURRENT balances (1,149,000), never on beginning balances (1,450,000) — the curriculum's own distractor.</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Prepayment risk has two opposite faces — contraction risk when rates FALL and borrowers refinance, extension risk when rates RISE and they stop</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19, Prepayment Risk, printed p. 498, and Self-Assessment Q5, printed p. 496.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mortgage investor is short the borrower's prepayment option. It gets exercised precisely when the investor would rather it were not.</a:t>
            </a:r>
            <a:endParaRPr lang="en-US" sz="1300" dirty="0"/>
          </a:p>
        </p:txBody>
      </p:sp>
      <p:sp>
        <p:nvSpPr>
          <p:cNvPr id="9" name="Shape 7"/>
          <p:cNvSpPr/>
          <p:nvPr/>
        </p:nvSpPr>
        <p:spPr>
          <a:xfrm>
            <a:off x="320040" y="1115568"/>
            <a:ext cx="4160520" cy="3182112"/>
          </a:xfrm>
          <a:prstGeom prst="rect">
            <a:avLst/>
          </a:prstGeom>
          <a:solidFill>
            <a:srgbClr val="FFEBEE"/>
          </a:solidFill>
          <a:ln/>
        </p:spPr>
      </p:sp>
      <p:sp>
        <p:nvSpPr>
          <p:cNvPr id="10" name="Shape 8"/>
          <p:cNvSpPr/>
          <p:nvPr/>
        </p:nvSpPr>
        <p:spPr>
          <a:xfrm>
            <a:off x="320040" y="1115568"/>
            <a:ext cx="73152" cy="3182112"/>
          </a:xfrm>
          <a:prstGeom prst="rect">
            <a:avLst/>
          </a:prstGeom>
          <a:solidFill>
            <a:srgbClr val="B71C1C"/>
          </a:solidFill>
          <a:ln/>
        </p:spPr>
      </p:sp>
      <p:sp>
        <p:nvSpPr>
          <p:cNvPr id="11" name="Text 9"/>
          <p:cNvSpPr txBox="1"/>
          <p:nvPr/>
        </p:nvSpPr>
        <p:spPr>
          <a:xfrm>
            <a:off x="484632" y="1207008"/>
            <a:ext cx="3849624"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CONTRACTION RISK  —  RATES FALL</a:t>
            </a:r>
            <a:endParaRPr lang="en-US" sz="1100" dirty="0"/>
          </a:p>
        </p:txBody>
      </p:sp>
      <p:sp>
        <p:nvSpPr>
          <p:cNvPr id="12" name="Text 10"/>
          <p:cNvSpPr txBox="1"/>
          <p:nvPr/>
        </p:nvSpPr>
        <p:spPr>
          <a:xfrm>
            <a:off x="539496" y="1536192"/>
            <a:ext cx="3739896" cy="265176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Definition: the borrower repays principal in a SHORTER time than the contractual schedule, reducing the future payments the investor receives.</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Trigger: mortgage rates decline, so homeowners refinance into cheaper loans. Actual prepayments run higher than forecast and the maturity of the MBS is shorter than anticipated at purchase.</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Two adverse consequences for the investor:</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 principal must be reinvested at LOWER rates;</a:t>
            </a: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  · the prepayment option reduces potential price appreciation — the bond cannot rally like an option-free bond.</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Refinancing is especially common in the US, where prepayment penalties are rare; they are far more common in Europe.</a:t>
            </a:r>
            <a:endParaRPr lang="en-US" sz="1150" dirty="0"/>
          </a:p>
        </p:txBody>
      </p:sp>
      <p:sp>
        <p:nvSpPr>
          <p:cNvPr id="13" name="Shape 11"/>
          <p:cNvSpPr/>
          <p:nvPr/>
        </p:nvSpPr>
        <p:spPr>
          <a:xfrm>
            <a:off x="4663440" y="1115568"/>
            <a:ext cx="4160520" cy="3182112"/>
          </a:xfrm>
          <a:prstGeom prst="rect">
            <a:avLst/>
          </a:prstGeom>
          <a:solidFill>
            <a:srgbClr val="FFEBEE"/>
          </a:solidFill>
          <a:ln/>
        </p:spPr>
      </p:sp>
      <p:sp>
        <p:nvSpPr>
          <p:cNvPr id="14" name="Shape 12"/>
          <p:cNvSpPr/>
          <p:nvPr/>
        </p:nvSpPr>
        <p:spPr>
          <a:xfrm>
            <a:off x="4663440" y="1115568"/>
            <a:ext cx="73152" cy="3182112"/>
          </a:xfrm>
          <a:prstGeom prst="rect">
            <a:avLst/>
          </a:prstGeom>
          <a:solidFill>
            <a:srgbClr val="B71C1C"/>
          </a:solidFill>
          <a:ln/>
        </p:spPr>
      </p:sp>
      <p:sp>
        <p:nvSpPr>
          <p:cNvPr id="15" name="Text 13"/>
          <p:cNvSpPr txBox="1"/>
          <p:nvPr/>
        </p:nvSpPr>
        <p:spPr>
          <a:xfrm>
            <a:off x="4828032" y="1207008"/>
            <a:ext cx="3849624"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EXTENSION RISK  —  RATES RISE</a:t>
            </a:r>
            <a:endParaRPr lang="en-US" sz="1100" dirty="0"/>
          </a:p>
        </p:txBody>
      </p:sp>
      <p:sp>
        <p:nvSpPr>
          <p:cNvPr id="16" name="Text 14"/>
          <p:cNvSpPr txBox="1"/>
          <p:nvPr/>
        </p:nvSpPr>
        <p:spPr>
          <a:xfrm>
            <a:off x="4882896" y="1536192"/>
            <a:ext cx="3739896" cy="265176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Definition: the borrower repays principal over a LONGER period than the contractual schedule, extending the time of repayment and the maturity of the bond.</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Trigger: mortgage rates rise, so homeowners keep their below-market loans and may delay new purchases. Actual prepayments run lower than forecast.</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The adverse consequence: higher rates reduce the value of the cash flows, those cash flows are now discounted at a higher rate, AND the extension stretches them further out. Both effects push the price the same way.</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Balloon risk on a commercial mortgage is a type of extension risk — the lender extends the loan into a workout period rather than being repaid.</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Time tranching cannot eliminate prepayment risk, only redistribute it — the short tranche buys protection from extension, the long tranches from contraction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19, Exhibit 6 and Knowledge Check, printed pp. 510–512, and Practice Problem 2, printed pp. 514–515.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Sequential pay: all principal goes to Tranche A until it is retired, then to B, then to C. Credit tranching shares LOSSES; time tranching shares TIMING. A deal can have both.</a:t>
            </a:r>
            <a:endParaRPr lang="en-US" sz="13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188720"/>
                <a:gridCol w="1234440"/>
                <a:gridCol w="960120"/>
                <a:gridCol w="1737360"/>
                <a:gridCol w="1737360"/>
                <a:gridCol w="16459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Tranche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Par (USD 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Coupon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Principal window</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Protected against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Curriculum buyer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Tranche 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Years 0 – 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Extension risk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Mutual fund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Tranche B</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3.95%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Years 6 – 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Contraction risk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Insurance co.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Tranche 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Years 16 – 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Contraction risk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Pension fund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Collateral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4.00% p/t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WAM 360 mo.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WAC 4.55%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0" name="Shape 7"/>
          <p:cNvSpPr/>
          <p:nvPr/>
        </p:nvSpPr>
        <p:spPr>
          <a:xfrm>
            <a:off x="320040" y="2633472"/>
            <a:ext cx="8503920" cy="1664208"/>
          </a:xfrm>
          <a:prstGeom prst="rect">
            <a:avLst/>
          </a:prstGeom>
          <a:solidFill>
            <a:srgbClr val="FEF0E7"/>
          </a:solidFill>
          <a:ln/>
        </p:spPr>
      </p:sp>
      <p:sp>
        <p:nvSpPr>
          <p:cNvPr id="11" name="Shape 8"/>
          <p:cNvSpPr/>
          <p:nvPr/>
        </p:nvSpPr>
        <p:spPr>
          <a:xfrm>
            <a:off x="320040" y="2633472"/>
            <a:ext cx="73152" cy="1664208"/>
          </a:xfrm>
          <a:prstGeom prst="rect">
            <a:avLst/>
          </a:prstGeom>
          <a:solidFill>
            <a:srgbClr val="E8600A"/>
          </a:solidFill>
          <a:ln/>
        </p:spPr>
      </p:sp>
      <p:sp>
        <p:nvSpPr>
          <p:cNvPr id="12" name="Text 9"/>
          <p:cNvSpPr txBox="1"/>
          <p:nvPr/>
        </p:nvSpPr>
        <p:spPr>
          <a:xfrm>
            <a:off x="457200" y="267919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WHO PROTECTS WHOM — GET THE DIRECTION RIGHT</a:t>
            </a:r>
            <a:endParaRPr lang="en-US" sz="1100" dirty="0"/>
          </a:p>
        </p:txBody>
      </p:sp>
      <p:sp>
        <p:nvSpPr>
          <p:cNvPr id="13" name="Text 10"/>
          <p:cNvSpPr txBox="1"/>
          <p:nvPr/>
        </p:nvSpPr>
        <p:spPr>
          <a:xfrm>
            <a:off x="457200" y="2953512"/>
            <a:ext cx="8275320" cy="12984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Prioritising principal repayment protects the SHORT tranche (A) against EXTENSION risk, and that protection is supplied by the longer tranches B and C. In exchange, B and C are protected against CONTRACTION risk by A, which stands in front of them and absorbs the early principal.</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So an investor worried about extension buys Tranche A; an investor worried about contraction buys B or C. The curriculum matches a mutual fund seeking safe returns to A, an insurer with liabilities starting in fifteen years to B, and a pension fund willing to take more risk for higher returns to C. A foundation needing money within a few years and wanting to avoid extension risk also buys A.</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Across the range of CMO structures, the more senior a tranche is, the less exposure it has to prepayment risk AND to default risk.</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Five further CMO structures split the pool's cash flows differently — by timing, by principal versus interest, or by leaving one class to collect the residual</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19, Other CMO Structures, printed pp. 512–513, and Self-Assessment Q4, printed p. 496.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Z-tranches and residual tranches are created by TIME TRANCHING. POs, IOs and floaters are created by splitting up the pool's cash flows in other ways.</a:t>
            </a:r>
            <a:endParaRPr lang="en-US" sz="1300" dirty="0"/>
          </a:p>
        </p:txBody>
      </p:sp>
      <p:sp>
        <p:nvSpPr>
          <p:cNvPr id="9" name="Shape 7"/>
          <p:cNvSpPr/>
          <p:nvPr/>
        </p:nvSpPr>
        <p:spPr>
          <a:xfrm>
            <a:off x="320040" y="1133856"/>
            <a:ext cx="8503920" cy="566928"/>
          </a:xfrm>
          <a:prstGeom prst="rect">
            <a:avLst/>
          </a:prstGeom>
          <a:solidFill>
            <a:srgbClr val="FFFFFF"/>
          </a:solidFill>
          <a:ln/>
        </p:spPr>
      </p:sp>
      <p:sp>
        <p:nvSpPr>
          <p:cNvPr id="10" name="Shape 8"/>
          <p:cNvSpPr/>
          <p:nvPr/>
        </p:nvSpPr>
        <p:spPr>
          <a:xfrm>
            <a:off x="320040" y="1133856"/>
            <a:ext cx="91440" cy="566928"/>
          </a:xfrm>
          <a:prstGeom prst="rect">
            <a:avLst/>
          </a:prstGeom>
          <a:solidFill>
            <a:srgbClr val="E8600A"/>
          </a:solidFill>
          <a:ln/>
        </p:spPr>
      </p:sp>
      <p:sp>
        <p:nvSpPr>
          <p:cNvPr id="11" name="Text 9"/>
          <p:cNvSpPr txBox="1"/>
          <p:nvPr/>
        </p:nvSpPr>
        <p:spPr>
          <a:xfrm>
            <a:off x="502920" y="1133856"/>
            <a:ext cx="365760" cy="56692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2" name="Text 10"/>
          <p:cNvSpPr txBox="1"/>
          <p:nvPr/>
        </p:nvSpPr>
        <p:spPr>
          <a:xfrm>
            <a:off x="868680" y="1170432"/>
            <a:ext cx="7863840" cy="25511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Z-TRANCHE (accretion / accrual bond)</a:t>
            </a:r>
            <a:endParaRPr lang="en-US" sz="1200" dirty="0"/>
          </a:p>
        </p:txBody>
      </p:sp>
      <p:sp>
        <p:nvSpPr>
          <p:cNvPr id="13" name="Text 11"/>
          <p:cNvSpPr txBox="1"/>
          <p:nvPr/>
        </p:nvSpPr>
        <p:spPr>
          <a:xfrm>
            <a:off x="868680" y="1388974"/>
            <a:ext cx="7863840" cy="31181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Pays no interest until a pre-set date; during the accrual period the principal value is credited by the stated coupon. Usually the last tranche in a sequential or PAC series. It frees up cash for the other tranches, and its holder faces no reinvestment risk when yields fall. Average lives usually exceed 20 years — risky and hard to value.</a:t>
            </a:r>
            <a:endParaRPr lang="en-US" sz="1200" dirty="0"/>
          </a:p>
        </p:txBody>
      </p:sp>
      <p:sp>
        <p:nvSpPr>
          <p:cNvPr id="14" name="Shape 12"/>
          <p:cNvSpPr/>
          <p:nvPr/>
        </p:nvSpPr>
        <p:spPr>
          <a:xfrm>
            <a:off x="320040" y="1755648"/>
            <a:ext cx="8503920" cy="566928"/>
          </a:xfrm>
          <a:prstGeom prst="rect">
            <a:avLst/>
          </a:prstGeom>
          <a:solidFill>
            <a:srgbClr val="F5F7FA"/>
          </a:solidFill>
          <a:ln/>
        </p:spPr>
      </p:sp>
      <p:sp>
        <p:nvSpPr>
          <p:cNvPr id="15" name="Shape 13"/>
          <p:cNvSpPr/>
          <p:nvPr/>
        </p:nvSpPr>
        <p:spPr>
          <a:xfrm>
            <a:off x="320040" y="1755648"/>
            <a:ext cx="91440" cy="566928"/>
          </a:xfrm>
          <a:prstGeom prst="rect">
            <a:avLst/>
          </a:prstGeom>
          <a:solidFill>
            <a:srgbClr val="E8600A"/>
          </a:solidFill>
          <a:ln/>
        </p:spPr>
      </p:sp>
      <p:sp>
        <p:nvSpPr>
          <p:cNvPr id="16" name="Text 14"/>
          <p:cNvSpPr txBox="1"/>
          <p:nvPr/>
        </p:nvSpPr>
        <p:spPr>
          <a:xfrm>
            <a:off x="502920" y="1755648"/>
            <a:ext cx="365760" cy="56692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7" name="Text 15"/>
          <p:cNvSpPr txBox="1"/>
          <p:nvPr/>
        </p:nvSpPr>
        <p:spPr>
          <a:xfrm>
            <a:off x="868680" y="1792224"/>
            <a:ext cx="7863840" cy="25511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PRINCIPAL-ONLY (PO)</a:t>
            </a:r>
            <a:endParaRPr lang="en-US" sz="1200" dirty="0"/>
          </a:p>
        </p:txBody>
      </p:sp>
      <p:sp>
        <p:nvSpPr>
          <p:cNvPr id="18" name="Text 16"/>
          <p:cNvSpPr txBox="1"/>
          <p:nvPr/>
        </p:nvSpPr>
        <p:spPr>
          <a:xfrm>
            <a:off x="868680" y="2010766"/>
            <a:ext cx="7863840" cy="31181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Receives only the principal repayments from the pool. Holders get face value through scheduled principal and prepayments, so value is highly sensitive to prepayment and interest rates. When rates fall or prepayments accelerate, the PO rises in value.</a:t>
            </a:r>
            <a:endParaRPr lang="en-US" sz="1200" dirty="0"/>
          </a:p>
        </p:txBody>
      </p:sp>
      <p:sp>
        <p:nvSpPr>
          <p:cNvPr id="19" name="Shape 17"/>
          <p:cNvSpPr/>
          <p:nvPr/>
        </p:nvSpPr>
        <p:spPr>
          <a:xfrm>
            <a:off x="320040" y="2377440"/>
            <a:ext cx="8503920" cy="566928"/>
          </a:xfrm>
          <a:prstGeom prst="rect">
            <a:avLst/>
          </a:prstGeom>
          <a:solidFill>
            <a:srgbClr val="FFFFFF"/>
          </a:solidFill>
          <a:ln/>
        </p:spPr>
      </p:sp>
      <p:sp>
        <p:nvSpPr>
          <p:cNvPr id="20" name="Shape 18"/>
          <p:cNvSpPr/>
          <p:nvPr/>
        </p:nvSpPr>
        <p:spPr>
          <a:xfrm>
            <a:off x="320040" y="2377440"/>
            <a:ext cx="91440" cy="566928"/>
          </a:xfrm>
          <a:prstGeom prst="rect">
            <a:avLst/>
          </a:prstGeom>
          <a:solidFill>
            <a:srgbClr val="E8600A"/>
          </a:solidFill>
          <a:ln/>
        </p:spPr>
      </p:sp>
      <p:sp>
        <p:nvSpPr>
          <p:cNvPr id="21" name="Text 19"/>
          <p:cNvSpPr txBox="1"/>
          <p:nvPr/>
        </p:nvSpPr>
        <p:spPr>
          <a:xfrm>
            <a:off x="502920" y="2377440"/>
            <a:ext cx="365760" cy="56692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2" name="Text 20"/>
          <p:cNvSpPr txBox="1"/>
          <p:nvPr/>
        </p:nvSpPr>
        <p:spPr>
          <a:xfrm>
            <a:off x="868680" y="2414016"/>
            <a:ext cx="7863840" cy="25511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INTEREST-ONLY (IO)</a:t>
            </a:r>
            <a:endParaRPr lang="en-US" sz="1200" dirty="0"/>
          </a:p>
        </p:txBody>
      </p:sp>
      <p:sp>
        <p:nvSpPr>
          <p:cNvPr id="23" name="Text 21"/>
          <p:cNvSpPr txBox="1"/>
          <p:nvPr/>
        </p:nvSpPr>
        <p:spPr>
          <a:xfrm>
            <a:off x="868680" y="2632558"/>
            <a:ext cx="7863840" cy="31181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Receives only the interest payments — the companion of the PO. It has no face or par value. Faster prepayments shrink the cash flows paid to IO holders, which is precisely why investors use IOs to hedge portfolios against interest-rate risk.</a:t>
            </a:r>
            <a:endParaRPr lang="en-US" sz="1200" dirty="0"/>
          </a:p>
        </p:txBody>
      </p:sp>
      <p:sp>
        <p:nvSpPr>
          <p:cNvPr id="24" name="Shape 22"/>
          <p:cNvSpPr/>
          <p:nvPr/>
        </p:nvSpPr>
        <p:spPr>
          <a:xfrm>
            <a:off x="320040" y="2999232"/>
            <a:ext cx="8503920" cy="566928"/>
          </a:xfrm>
          <a:prstGeom prst="rect">
            <a:avLst/>
          </a:prstGeom>
          <a:solidFill>
            <a:srgbClr val="F5F7FA"/>
          </a:solidFill>
          <a:ln/>
        </p:spPr>
      </p:sp>
      <p:sp>
        <p:nvSpPr>
          <p:cNvPr id="25" name="Shape 23"/>
          <p:cNvSpPr/>
          <p:nvPr/>
        </p:nvSpPr>
        <p:spPr>
          <a:xfrm>
            <a:off x="320040" y="2999232"/>
            <a:ext cx="91440" cy="566928"/>
          </a:xfrm>
          <a:prstGeom prst="rect">
            <a:avLst/>
          </a:prstGeom>
          <a:solidFill>
            <a:srgbClr val="E8600A"/>
          </a:solidFill>
          <a:ln/>
        </p:spPr>
      </p:sp>
      <p:sp>
        <p:nvSpPr>
          <p:cNvPr id="26" name="Text 24"/>
          <p:cNvSpPr txBox="1"/>
          <p:nvPr/>
        </p:nvSpPr>
        <p:spPr>
          <a:xfrm>
            <a:off x="502920" y="2999232"/>
            <a:ext cx="365760" cy="56692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4</a:t>
            </a:r>
            <a:endParaRPr lang="en-US" sz="1300" dirty="0"/>
          </a:p>
        </p:txBody>
      </p:sp>
      <p:sp>
        <p:nvSpPr>
          <p:cNvPr id="27" name="Text 25"/>
          <p:cNvSpPr txBox="1"/>
          <p:nvPr/>
        </p:nvSpPr>
        <p:spPr>
          <a:xfrm>
            <a:off x="868680" y="3035808"/>
            <a:ext cx="7863840" cy="25511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FLOATING-RATE AND INVERSE FLOATERS</a:t>
            </a:r>
            <a:endParaRPr lang="en-US" sz="1200" dirty="0"/>
          </a:p>
        </p:txBody>
      </p:sp>
      <p:sp>
        <p:nvSpPr>
          <p:cNvPr id="28" name="Text 26"/>
          <p:cNvSpPr txBox="1"/>
          <p:nvPr/>
        </p:nvSpPr>
        <p:spPr>
          <a:xfrm>
            <a:off x="868680" y="3254350"/>
            <a:ext cx="7863840" cy="31181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Coupons linked to an index or market reference rate, usually with a cap and a floor. Inverse floaters pay MORE as rates fall. Both are used to hedge interest-rate risk, and both are affected by how rate moves change prepayment speeds.</a:t>
            </a:r>
            <a:endParaRPr lang="en-US" sz="1200" dirty="0"/>
          </a:p>
        </p:txBody>
      </p:sp>
      <p:sp>
        <p:nvSpPr>
          <p:cNvPr id="29" name="Shape 27"/>
          <p:cNvSpPr/>
          <p:nvPr/>
        </p:nvSpPr>
        <p:spPr>
          <a:xfrm>
            <a:off x="320040" y="3621024"/>
            <a:ext cx="8503920" cy="566928"/>
          </a:xfrm>
          <a:prstGeom prst="rect">
            <a:avLst/>
          </a:prstGeom>
          <a:solidFill>
            <a:srgbClr val="FFFFFF"/>
          </a:solidFill>
          <a:ln/>
        </p:spPr>
      </p:sp>
      <p:sp>
        <p:nvSpPr>
          <p:cNvPr id="30" name="Shape 28"/>
          <p:cNvSpPr/>
          <p:nvPr/>
        </p:nvSpPr>
        <p:spPr>
          <a:xfrm>
            <a:off x="320040" y="3621024"/>
            <a:ext cx="91440" cy="566928"/>
          </a:xfrm>
          <a:prstGeom prst="rect">
            <a:avLst/>
          </a:prstGeom>
          <a:solidFill>
            <a:srgbClr val="E8600A"/>
          </a:solidFill>
          <a:ln/>
        </p:spPr>
      </p:sp>
      <p:sp>
        <p:nvSpPr>
          <p:cNvPr id="31" name="Text 29"/>
          <p:cNvSpPr txBox="1"/>
          <p:nvPr/>
        </p:nvSpPr>
        <p:spPr>
          <a:xfrm>
            <a:off x="502920" y="3621024"/>
            <a:ext cx="365760" cy="56692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5</a:t>
            </a:r>
            <a:endParaRPr lang="en-US" sz="1300" dirty="0"/>
          </a:p>
        </p:txBody>
      </p:sp>
      <p:sp>
        <p:nvSpPr>
          <p:cNvPr id="32" name="Text 30"/>
          <p:cNvSpPr txBox="1"/>
          <p:nvPr/>
        </p:nvSpPr>
        <p:spPr>
          <a:xfrm>
            <a:off x="868680" y="3657600"/>
            <a:ext cx="7863840" cy="25511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RESIDUAL TRANCHE</a:t>
            </a:r>
            <a:endParaRPr lang="en-US" sz="1200" dirty="0"/>
          </a:p>
        </p:txBody>
      </p:sp>
      <p:sp>
        <p:nvSpPr>
          <p:cNvPr id="33" name="Text 31"/>
          <p:cNvSpPr txBox="1"/>
          <p:nvPr/>
        </p:nvSpPr>
        <p:spPr>
          <a:xfrm>
            <a:off x="868680" y="3876142"/>
            <a:ext cx="7863840" cy="31181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Collects whatever cash flow remains once every other tranche has been paid. Suited to investors who can carry and hedge that risk — hedge funds and long-term institutions. Banks typically avoid it because of the capital charge.</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PAC tranche is promised a fixed principal schedule while prepayments stay inside a range — and the support tranche absorbs every deviation from it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19, Other CMO Structures, printed p. 513, and Practice Problem 5, printed p. 524.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PACs are a further evolution of the sequential-pay CMO. The predictability is not free — it is bought from the support tranche, which gives up all of it.</a:t>
            </a:r>
            <a:endParaRPr lang="en-US" sz="1300" dirty="0"/>
          </a:p>
        </p:txBody>
      </p:sp>
      <p:sp>
        <p:nvSpPr>
          <p:cNvPr id="9" name="Shape 7"/>
          <p:cNvSpPr/>
          <p:nvPr/>
        </p:nvSpPr>
        <p:spPr>
          <a:xfrm>
            <a:off x="320040" y="1115568"/>
            <a:ext cx="4160520" cy="3182112"/>
          </a:xfrm>
          <a:prstGeom prst="rect">
            <a:avLst/>
          </a:prstGeom>
          <a:solidFill>
            <a:srgbClr val="F5F7FA"/>
          </a:solidFill>
          <a:ln/>
        </p:spPr>
      </p:sp>
      <p:sp>
        <p:nvSpPr>
          <p:cNvPr id="10" name="Shape 8"/>
          <p:cNvSpPr/>
          <p:nvPr/>
        </p:nvSpPr>
        <p:spPr>
          <a:xfrm>
            <a:off x="320040" y="1115568"/>
            <a:ext cx="73152" cy="3182112"/>
          </a:xfrm>
          <a:prstGeom prst="rect">
            <a:avLst/>
          </a:prstGeom>
          <a:solidFill>
            <a:srgbClr val="1B2A4A"/>
          </a:solidFill>
          <a:ln/>
        </p:spPr>
      </p:sp>
      <p:sp>
        <p:nvSpPr>
          <p:cNvPr id="11" name="Text 9"/>
          <p:cNvSpPr txBox="1"/>
          <p:nvPr/>
        </p:nvSpPr>
        <p:spPr>
          <a:xfrm>
            <a:off x="484632" y="1207008"/>
            <a:ext cx="3849624"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PLANNED AMORTIZATION CLASS (PAC)</a:t>
            </a:r>
            <a:endParaRPr lang="en-US" sz="1100" dirty="0"/>
          </a:p>
        </p:txBody>
      </p:sp>
      <p:sp>
        <p:nvSpPr>
          <p:cNvPr id="12" name="Text 10"/>
          <p:cNvSpPr txBox="1"/>
          <p:nvPr/>
        </p:nvSpPr>
        <p:spPr>
          <a:xfrm>
            <a:off x="539496" y="1536192"/>
            <a:ext cx="3739896" cy="265176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Makes scheduled and fixed principal payments over a predetermined period, provided prepayment levels in the pool stay within a specified maximum and minimum range.</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Inside that range, ALL prepayment risk is absorbed by the support tranche and the PAC schedule is honoured exactly.</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Outside the range the protection weakens: sustained prepayments above the maximum eventually exhaust the support tranche, and sustained prepayments below the minimum mean the support has no principal left to redirect.</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Result: a narrow band of average-life uncertainty, a tighter spread, and a natural home with insurers and pension funds that need cash-flow certainty.</a:t>
            </a:r>
            <a:endParaRPr lang="en-US" sz="1150" dirty="0"/>
          </a:p>
        </p:txBody>
      </p:sp>
      <p:sp>
        <p:nvSpPr>
          <p:cNvPr id="13" name="Shape 11"/>
          <p:cNvSpPr/>
          <p:nvPr/>
        </p:nvSpPr>
        <p:spPr>
          <a:xfrm>
            <a:off x="4663440" y="1115568"/>
            <a:ext cx="4160520" cy="3182112"/>
          </a:xfrm>
          <a:prstGeom prst="rect">
            <a:avLst/>
          </a:prstGeom>
          <a:solidFill>
            <a:srgbClr val="FFEBEE"/>
          </a:solidFill>
          <a:ln/>
        </p:spPr>
      </p:sp>
      <p:sp>
        <p:nvSpPr>
          <p:cNvPr id="14" name="Shape 12"/>
          <p:cNvSpPr/>
          <p:nvPr/>
        </p:nvSpPr>
        <p:spPr>
          <a:xfrm>
            <a:off x="4663440" y="1115568"/>
            <a:ext cx="73152" cy="3182112"/>
          </a:xfrm>
          <a:prstGeom prst="rect">
            <a:avLst/>
          </a:prstGeom>
          <a:solidFill>
            <a:srgbClr val="B71C1C"/>
          </a:solidFill>
          <a:ln/>
        </p:spPr>
      </p:sp>
      <p:sp>
        <p:nvSpPr>
          <p:cNvPr id="15" name="Text 13"/>
          <p:cNvSpPr txBox="1"/>
          <p:nvPr/>
        </p:nvSpPr>
        <p:spPr>
          <a:xfrm>
            <a:off x="4828032" y="1207008"/>
            <a:ext cx="3849624"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SUPPORT (COMPANION) TRANCHE</a:t>
            </a:r>
            <a:endParaRPr lang="en-US" sz="1100" dirty="0"/>
          </a:p>
        </p:txBody>
      </p:sp>
      <p:sp>
        <p:nvSpPr>
          <p:cNvPr id="16" name="Text 14"/>
          <p:cNvSpPr txBox="1"/>
          <p:nvPr/>
        </p:nvSpPr>
        <p:spPr>
          <a:xfrm>
            <a:off x="4882896" y="1536192"/>
            <a:ext cx="3739896" cy="2651760"/>
          </a:xfrm>
          <a:prstGeom prst="rect">
            <a:avLst/>
          </a:prstGeom>
          <a:noFill/>
          <a:ln/>
        </p:spPr>
        <p:txBody>
          <a:bodyPr wrap="square" lIns="508" tIns="508" rIns="508" bIns="508" rtlCol="0" anchor="t">
            <a:normAutofit/>
            <a:spAutoFit/>
          </a:bodyPr>
          <a:lstStyle/>
          <a:p>
            <a:pPr algn="l" indent="0" marL="0">
              <a:buNone/>
            </a:pPr>
            <a:r>
              <a:rPr lang="en-US" sz="1150" dirty="0">
                <a:solidFill>
                  <a:srgbClr val="334155"/>
                </a:solidFill>
                <a:latin typeface="Calibri" pitchFamily="34" charset="0"/>
                <a:ea typeface="Calibri" pitchFamily="34" charset="-122"/>
                <a:cs typeface="Calibri" pitchFamily="34" charset="-120"/>
              </a:rPr>
              <a:t>Takes the entire variability around the PAC schedule. It is the answer to Practice Problem 5: if prepayments are inside the anticipated range, it is the SUPPORT tranche that protects PAC investors from prepayment risk.</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Prepayments faster than expected: the excess principal is routed to the support tranche, so its average life CONTRACTS.</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Prepayments slower than expected: principal is redirected to keep the PAC on schedule and the support receives nothing until the PAC is current, so its average life EXTENDS.</a:t>
            </a:r>
            <a:endParaRPr lang="en-US" sz="1150" dirty="0"/>
          </a:p>
          <a:p>
            <a:pPr algn="l" indent="0" marL="0">
              <a:buNone/>
            </a:pPr>
            <a:endParaRPr lang="en-US" sz="1150" dirty="0"/>
          </a:p>
          <a:p>
            <a:pPr algn="l" indent="0" marL="0">
              <a:buNone/>
            </a:pPr>
            <a:r>
              <a:rPr lang="en-US" sz="1150" dirty="0">
                <a:solidFill>
                  <a:srgbClr val="334155"/>
                </a:solidFill>
                <a:latin typeface="Calibri" pitchFamily="34" charset="0"/>
                <a:ea typeface="Calibri" pitchFamily="34" charset="-122"/>
                <a:cs typeface="Calibri" pitchFamily="34" charset="-120"/>
              </a:rPr>
              <a:t>Result: highly variable average life, a wider spread, and a buyer base of specialists who are being paid to take convexity risk.</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market quotes prepayment speed as a PSA percentage — background you will meet on a desk, but it is not in the CFA Level I curriculum</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Kept because CMO prices are quoted at a PSA speed. Not examinable at Level I — the curriculum uses weighted average life.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MARKET CONVENTION — not CFA Level I. The PSA benchmark is an industry convention (Bond Market Association, now SIFMA). SMM, CPR and PSA do not appear anywhere in Curriculum Vol 6.</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SMM measures prepayment in a single month; CPR annualises it; PSA expresses CPR as a percentage of a benchmark ramp. Weighted average life, which IS in the curriculum, is what these feed into.</a:t>
            </a:r>
            <a:endParaRPr lang="en-US" sz="1300" dirty="0"/>
          </a:p>
        </p:txBody>
      </p:sp>
      <p:sp>
        <p:nvSpPr>
          <p:cNvPr id="10" name="Shape 8"/>
          <p:cNvSpPr/>
          <p:nvPr/>
        </p:nvSpPr>
        <p:spPr>
          <a:xfrm>
            <a:off x="320040" y="1115568"/>
            <a:ext cx="8503920" cy="658368"/>
          </a:xfrm>
          <a:prstGeom prst="rect">
            <a:avLst/>
          </a:prstGeom>
          <a:solidFill>
            <a:srgbClr val="1B2A4A"/>
          </a:solidFill>
          <a:ln/>
        </p:spPr>
      </p:sp>
      <p:sp>
        <p:nvSpPr>
          <p:cNvPr id="11" name="Text 9"/>
          <p:cNvSpPr txBox="1"/>
          <p:nvPr/>
        </p:nvSpPr>
        <p:spPr>
          <a:xfrm>
            <a:off x="411480" y="1115568"/>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SMM  =  Prepayment / (Balance − Scheduled principal)</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CPR  =  1 − (1 − SMM)¹²</a:t>
            </a:r>
            <a:endParaRPr lang="en-US" sz="1800" dirty="0"/>
          </a:p>
        </p:txBody>
      </p:sp>
      <p:sp>
        <p:nvSpPr>
          <p:cNvPr id="12" name="Text 10"/>
          <p:cNvSpPr txBox="1"/>
          <p:nvPr/>
        </p:nvSpPr>
        <p:spPr>
          <a:xfrm>
            <a:off x="320040" y="1801368"/>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The 100 PSA benchmark ramps CPR from 0.2% in month 1 by 0.2% a month to 6.0% at month 30, then stays flat. A quoted speed of 150 PSA means 1.5 times the benchmark CPR at every point on that ramp.</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320040" y="2231136"/>
          <a:ext cx="8503920" cy="914400"/>
        </p:xfrm>
        <a:graphic>
          <a:graphicData uri="http://schemas.openxmlformats.org/drawingml/2006/table">
            <a:tbl>
              <a:tblPr/>
              <a:tblGrid>
                <a:gridCol w="1234440"/>
                <a:gridCol w="1463040"/>
                <a:gridCol w="1463040"/>
                <a:gridCol w="1600200"/>
                <a:gridCol w="1417320"/>
                <a:gridCol w="13258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Pool month</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100 PSA CPR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150 PSA CPR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SMM at 150 PSA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250 PSA CPR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SMM at 250 PSA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0.042%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0.151%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0.254%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30 and beyond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0.783%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4" name="Shape 11"/>
          <p:cNvSpPr/>
          <p:nvPr/>
        </p:nvSpPr>
        <p:spPr>
          <a:xfrm>
            <a:off x="320040" y="3712464"/>
            <a:ext cx="8503920" cy="603504"/>
          </a:xfrm>
          <a:prstGeom prst="rect">
            <a:avLst/>
          </a:prstGeom>
          <a:solidFill>
            <a:srgbClr val="FEF0E7"/>
          </a:solidFill>
          <a:ln/>
        </p:spPr>
      </p:sp>
      <p:sp>
        <p:nvSpPr>
          <p:cNvPr id="15" name="Shape 12"/>
          <p:cNvSpPr/>
          <p:nvPr/>
        </p:nvSpPr>
        <p:spPr>
          <a:xfrm>
            <a:off x="320040" y="3712464"/>
            <a:ext cx="73152" cy="603504"/>
          </a:xfrm>
          <a:prstGeom prst="rect">
            <a:avLst/>
          </a:prstGeom>
          <a:solidFill>
            <a:srgbClr val="E8600A"/>
          </a:solidFill>
          <a:ln/>
        </p:spPr>
      </p:sp>
      <p:sp>
        <p:nvSpPr>
          <p:cNvPr id="16" name="Text 13"/>
          <p:cNvSpPr txBox="1"/>
          <p:nvPr/>
        </p:nvSpPr>
        <p:spPr>
          <a:xfrm>
            <a:off x="457200" y="3758184"/>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THE CURRICULUM USES INSTEAD</a:t>
            </a:r>
            <a:endParaRPr lang="en-US" sz="1100" dirty="0"/>
          </a:p>
        </p:txBody>
      </p:sp>
      <p:sp>
        <p:nvSpPr>
          <p:cNvPr id="17" name="Text 14"/>
          <p:cNvSpPr txBox="1"/>
          <p:nvPr/>
        </p:nvSpPr>
        <p:spPr>
          <a:xfrm>
            <a:off x="457200" y="4032504"/>
            <a:ext cx="8275320" cy="23774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Weighted average life — the measure of how long an investor can expect to hold the MBS before it is paid off, assuming rates stay put. The contractual maturity of an MBS does not reveal its actual payments and prepayments.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CMBS trade more like corporate bonds than like RMBS — call protection removes contraction risk, and the balloon payment puts extension risk back in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19, CMBS Structure, Exhibits 7–8 and Practice Problem 4, printed pp. 516–521.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Curriculum deal: four properties worth GBP 123m secure GBP 100m of mortgages — an LTV of 81.3% — with WAC 4.66% and WAM 88 months, funded by four GBP 25m tranches.</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920240"/>
                <a:gridCol w="3246120"/>
                <a:gridCol w="33375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Dimension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RMBS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CMBS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Pool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Thousands of small mortgages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One to a few large mortgages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Concentration risk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 — highly diversified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 — one loan can dominate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Contraction risk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 when rates fall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 — call protection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Extension risk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 when rates rise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 — balloon risk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Call protection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 — freely prepayable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Lockout, penalty points, defeasance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Rate convention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Fixed or floating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 fixed; Europe floating (capped)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Key underwriting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LTV and DTI</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LTV and DSC = NOI / debt service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456432"/>
            <a:ext cx="8503920" cy="841248"/>
          </a:xfrm>
          <a:prstGeom prst="rect">
            <a:avLst/>
          </a:prstGeom>
          <a:solidFill>
            <a:srgbClr val="FEF0E7"/>
          </a:solidFill>
          <a:ln/>
        </p:spPr>
      </p:sp>
      <p:sp>
        <p:nvSpPr>
          <p:cNvPr id="11" name="Shape 8"/>
          <p:cNvSpPr/>
          <p:nvPr/>
        </p:nvSpPr>
        <p:spPr>
          <a:xfrm>
            <a:off x="320040" y="3456432"/>
            <a:ext cx="73152" cy="841248"/>
          </a:xfrm>
          <a:prstGeom prst="rect">
            <a:avLst/>
          </a:prstGeom>
          <a:solidFill>
            <a:srgbClr val="E8600A"/>
          </a:solidFill>
          <a:ln/>
        </p:spPr>
      </p:sp>
      <p:sp>
        <p:nvSpPr>
          <p:cNvPr id="12" name="Text 9"/>
          <p:cNvSpPr txBox="1"/>
          <p:nvPr/>
        </p:nvSpPr>
        <p:spPr>
          <a:xfrm>
            <a:off x="457200" y="350215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BALLOON RISK IS EXTENSION RISK</a:t>
            </a:r>
            <a:endParaRPr lang="en-US" sz="1100" dirty="0"/>
          </a:p>
        </p:txBody>
      </p:sp>
      <p:sp>
        <p:nvSpPr>
          <p:cNvPr id="13" name="Text 10"/>
          <p:cNvSpPr txBox="1"/>
          <p:nvPr/>
        </p:nvSpPr>
        <p:spPr>
          <a:xfrm>
            <a:off x="457200" y="3776472"/>
            <a:ext cx="8275320" cy="47548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Commercial loans are not self-amortizing: they pay interest and some principal, then repay the unamortized balance as a large balloon at year 5 or 10. Balloon risk is the risk the borrower cannot make that payment — because refinancing is unavailable on deteriorating DSC or LTV, because the lender will not extend, or because the property cannot be sold. The lender then extends the loan into a workout period and modifies its terms, which is why the curriculum classifies balloon risk as a TYPE of extension risk. DSC = NOI ÷ debt service, where NOI is rental income less cash operating expenses less a replacement reserve; a DSC above 1.0x means the property covers its debt service while staying in its initial state of repair.</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16 — Fixed Income IV — Credit Risk, Credit Analysis &amp; Securitization</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Credit risk = expected loss = POD × LGD, where LGD = EE × (1 − RR). RR is what you recover; (1 − RR) is severity. A fair credit spread approximates that same product.</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The investment-grade line sits at Baa3 (Moody’s) and BBB− (S&amp;P, Fitch). Credit migration costs money without any default, and the spread moves long before the rating does.</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Sovereign creditworthiness needs ability to pay AND willingness to pay, because sovereign immunity blocks enforcement. Reserve-currency status is the one structural divide.</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The Cs of credit analysis are eight: five bottom-up (capacity, capital, collateral, covenants, character) and three top-down (conditions, country, currency).</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Exhibit 3 names four corporate ratios — EBIT margin, EBIT/interest, Debt/EBITDA, RCF/net debt. Ratios drive POD; seniority drives LGD; notching connects issuer to issue rating.</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Losses climb the waterfall from the bottom: equity, then subordinated, then senior unsecured. HoldCo debt is structurally subordinated to OpCo debt whatever the label says.</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Securitization needs a true sale to a bankruptcy-remote SPE. There are exactly three internal credit enhancements: overcollateralization, excess spread and subordination.</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Prepayment risk has two faces: contraction when rates FALL, extension when rates RISE. Credit tranching allocates losses; time tranching allocates timing. Balloon risk is extension risk.</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16 · Fixed Income IV — Credit Risk, Credit Analysis &amp; Securitization</dc:title>
  <dc:subject>PptxGenJS Presentation</dc:subject>
  <dc:creator>Studio Tonton Gug</dc:creator>
  <cp:lastModifiedBy>Studio Tonton Gug</cp:lastModifiedBy>
  <cp:revision>1</cp:revision>
  <dcterms:created xsi:type="dcterms:W3CDTF">2026-09-02T18:38:58Z</dcterms:created>
  <dcterms:modified xsi:type="dcterms:W3CDTF">2026-09-02T18:38:58Z</dcterms:modified>
</cp:coreProperties>
</file>