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82296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16  ·  WEEK 8  ·  MORNING 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Fixed Income IV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Credit &amp; Securitization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49300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A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credit risk is measured, analysed across issuer types, and repackaged into asset-backed securities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069080"/>
            <a:ext cx="82296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Level I · Vol 6 Learning Modules 14–19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 — Fixed Income IV — Credit Analysis &amp; Securitization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777240"/>
            <a:ext cx="850392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sections · ~2 hours · Built bottom-up from CFA readings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07008"/>
            <a:ext cx="8503920" cy="6803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320040" y="1207008"/>
            <a:ext cx="594360" cy="68031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1207008"/>
            <a:ext cx="594360" cy="68031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1252728"/>
            <a:ext cx="7726680" cy="30614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Credit-risk framework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1513149"/>
            <a:ext cx="7726680" cy="3741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· LGD · EAD · EL = POD × LGD · recovery rates · rating scales · spread-driven HPR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1923898"/>
            <a:ext cx="8503920" cy="680314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" y="1923898"/>
            <a:ext cx="594360" cy="68031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20040" y="1923898"/>
            <a:ext cx="594360" cy="68031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1969618"/>
            <a:ext cx="7726680" cy="30614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Sovereign credit analysis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2230039"/>
            <a:ext cx="7726680" cy="3741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Ability vs willingness to pay · fiscal strength · growth · external stability · Moody's ratio bands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" y="2640787"/>
            <a:ext cx="8503920" cy="6803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320040" y="2640787"/>
            <a:ext cx="594360" cy="68031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20040" y="2640787"/>
            <a:ext cx="594360" cy="68031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686507"/>
            <a:ext cx="7726680" cy="30614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Corporate credit analysis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2946928"/>
            <a:ext cx="7726680" cy="3741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C's · EBIT margin / coverage / leverage · seniority · priority of claims · structural subordination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3357677"/>
            <a:ext cx="8503920" cy="680314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" y="3357677"/>
            <a:ext cx="594360" cy="68031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0040" y="3357677"/>
            <a:ext cx="594360" cy="68031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3403397"/>
            <a:ext cx="7726680" cy="30614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Securitization structures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24128" y="3663818"/>
            <a:ext cx="7726680" cy="3741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SPV · true-sale bankruptcy-remote · tranching · credit enhancement · non-mortgage ABS · CLOs · covered bonds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" y="4074566"/>
            <a:ext cx="8503920" cy="6803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320040" y="4074566"/>
            <a:ext cx="594360" cy="68031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20040" y="4074566"/>
            <a:ext cx="594360" cy="68031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024128" y="4120286"/>
            <a:ext cx="7726680" cy="30614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MBS specifics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24128" y="4380708"/>
            <a:ext cx="7726680" cy="3741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RMBS vs CMBS · agency vs non-agency · WAC/WAM · prepayment · SMM/CPR/PSA · sequential-pay CMO · PAC · balloon risk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822960"/>
            <a:ext cx="8503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deck you should be able to: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1188720"/>
            <a:ext cx="85039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credit risk into probability of default, loss given default, and exposure at default, and compute expected loss in currency or percentage terms.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the long-term rating scales of Moody's, S&amp;P and Fitch and explain the investment-grade vs high-yield distinction and the role of rating migration.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a sovereign issuer on both qualitative (institutions, willingness) and quantitative (debt/GDP, external reserves, current account) dimensions.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4 C's to a corporate issuer, compute key ratios (EBIT margin, EBIT/interest, Debt/EBITDA, RCF/Net Debt), and rank claims in a bankruptcy waterfall.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securitization mechanics — SPV, true sale, tranching, internal and external credit enhancement — and work out loss absorption across tranches.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MBS cash flows using WAC, WAM, SMM, CPR and the PSA benchmark, and distinguish sequential-pay CMOs, PAC tranches, and CMBS balloon risk.
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Credit-risk framework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(PD × LGD × EAD)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of 5  ·  Deck 16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Credit risk is the expected economic loss from a borrower's failure to pay — decomposable into probability of default, loss given default, and exposure at default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14, pp. 341–350.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is a forward-looking annual probability; LGD combines severity (1 − RR) with claim size (EAD). Their product is the expected loss per period.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3444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  =  POD × LGD        where  LGD  =  EE × (1 − RR)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2024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POD = probability of default (annualized); EE = expected exposure (EAD); RR = recovery rate; LGD = loss given default.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057400"/>
            <a:ext cx="8503920" cy="6583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057400"/>
            <a:ext cx="91440" cy="658368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2920" y="2057400"/>
            <a:ext cx="36576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2093976"/>
            <a:ext cx="7863840" cy="29626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Probability of default (POD)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2353666"/>
            <a:ext cx="7863840" cy="36210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Forward-looking likelihood — typically annualized — that the issuer fails to make full &amp; timely payments. Driven by profitability, coverage and leverage.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2788920"/>
            <a:ext cx="8503920" cy="65836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320040" y="2788920"/>
            <a:ext cx="91440" cy="658368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02920" y="2788920"/>
            <a:ext cx="36576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2825496"/>
            <a:ext cx="7863840" cy="29626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Loss given default (LGD)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3085186"/>
            <a:ext cx="7863840" cy="36210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of loss if default occurs = EE × (1 − RR). Secured creditors recover more; deeply subordinated debt often has LGD ≈ 100%.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20040" y="3520440"/>
            <a:ext cx="8503920" cy="6583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320040" y="3520440"/>
            <a:ext cx="91440" cy="658368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02920" y="3520440"/>
            <a:ext cx="36576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68680" y="3557016"/>
            <a:ext cx="7863840" cy="29626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Expected exposure (EAD / EE)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68680" y="3816706"/>
            <a:ext cx="7863840" cy="36210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size at time of default = face + accrued interest − market value of available collateral. Drives the currency amount of loss.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Expected loss equals probability of default times loss given default — a fair credit spread approximates this same product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14, Self-Assessment Q2, pp. 342–354.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Collateral reduces EAD before the RR haircut — so a 90% recovery on an already-secured loan produces a very small expected loss.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3444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  =  POD × (EE − Collateral) × (1 − RR)        Credit Spread  ≈  POD × LGD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2024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Fair-spread approximation: investor is compensated for credit risk if the spread ≥ annualized expected loss.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14 SELF-ASSESSMENT Q2 — EUR 500,000 SECURED LOAN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= 5%, expected exposure EUR 400,000, collateral EUR 100,000, recovery rate on unrecovered claim = 90%.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exposure after collateral = 400,000 − 100,000 = EUR 300,000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= 1 − RR = 1 − 0.90 = 10%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LGD in currency = 300,000 × 10% = EUR 30,000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= POD × LGD = 0.05 × 30,000 = EUR 1,500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 = EUR 1,500 (0.30% of face). If spread &gt; 30 bps, investors are more than fairly compensated.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three major rating agencies split the debt universe at Baa3 / BBB− — below that line, bonds are high-yield (speculative-grade)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14, Exhibit 7, pp. 355–360.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Credit-migration (downgrade) risk matters even without default — an IG-to-HY "fallen-angel" downgrade can force forced selling by mandate-constrained funds.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85039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600200"/>
                <a:gridCol w="1600200"/>
                <a:gridCol w="137160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Grade band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Moody's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S&amp;P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Fitch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Description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quality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Aaa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AAA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AAA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Lowest credit risk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high quality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Aa1 – Aa3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AA+ – AA−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AA+ – AA−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Very low credit risk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quality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A1 – A3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A+ – A−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A+ – A−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 credit risk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medium — IG floor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Baa1 – Baa3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BBB+ – BBB−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BBB+ – BBB−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Moderate credit risk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Speculative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Ba1 – Ba3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BB+ – BB−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BB+ – BB−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Substantial credit risk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Highly speculative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B1 – B3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B+ – B−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B+ – B−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 credit risk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Substantial risk / near default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Caa1 – Ca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CCC+ – CC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CCC – CC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Default a real possibility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Default or default-like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611880"/>
            <a:ext cx="8503920" cy="7315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611880"/>
            <a:ext cx="73152" cy="7315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65760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BBB− / Baa3 LINE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931920"/>
            <a:ext cx="827532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= investment grade (institutional mandates, low spreads, low default rates historically &lt;1% p.a.). Below = high yield: covenants tighter, secured financing more common, spreads 300–800 bps+ typical.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financial ratios drive both POD (profitability, coverage, leverage) and LGD (seniority) — and hence credit ratings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14, Exhibit 5, pp. 352–354.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 ≠ a single ratio — agencies combine multiple metrics, industry benchmarks and qualitative factors. Bands below are generic investment-grade corporate indicative.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600200"/>
                <a:gridCol w="1600200"/>
                <a:gridCol w="1600200"/>
                <a:gridCol w="16002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Moody's rating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EBIT margin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EBIT / Interest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Debt / EBITDA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CF / Net Debt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&gt; 25%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&gt; 25×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&lt; 1.0×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&gt; 80%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 – 25%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 – 25×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 – 1.5×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60 – 80%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 – 20%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 – 15×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1.5 – 2.5×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40 – 60%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Baa  (IG floor)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 – 15%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 – 10×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2.5 – 3.5×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25 – 40%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 – 10%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 – 5×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3.5 – 5.0×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 – 25%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 – 7%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1.5 – 3×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5.0 – 7.0×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 – 15%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Caa and below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&lt; 3%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&lt; 1.5×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&gt; 7.0×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&lt; 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703320"/>
            <a:ext cx="8503920" cy="6400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703320"/>
            <a:ext cx="73152" cy="6400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74904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READING THE TABLE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023360"/>
            <a:ext cx="82753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drivers: higher EBIT margin + higher coverage + lower leverage = lower POD = higher rating. LGD is set separately by seniority (next slides).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Credit spreads widen at the bottom of the credit cycle and narrow at the top — spread change and duration together drive holding-period return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14, Self-Assessment Q6, pp. 362–372.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mechanics as interest-rate risk: spread ΔY acts on price through modified duration, with a small convexity correction.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%ΔPV_full  =  − (AnnModDur × ΔSpread)  +  ½ × AnnConvexity × (ΔSpread)²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Spread narrowing ⇒ positive price return; spread widening ⇒ negative. Convexity is typically small but positive for plain bonds.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14 SELF-ASSESSMENT Q6 — HY BOND, +100 BPS SPREAD WIDENING IN A RECESSION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Annualized modified duration = 4.5; reported annual convexity = 0.23 (rescale to 23 to pair with %²); spread shock ΔS = +1.00%.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effect:  − 4.5 × 1.00%  =  −4.500%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Convexity effect: ½ × 23 × (1.00%)²  =  ½ × 23 × 0.0001 × 10,000  =  +0.115%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(Using % units throughout: 23 × 0.5 × 1.0² = 11.5 bps = 0.115%)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%ΔPV_full = − 4.500% + 0.115%  =  −4.385%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%ΔPV_full ≈ −4.385% — convexity softens the blow by ~12 bps. Spread narrowing of the same size would produce +4.615%.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Sovereign credit analysis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of 5  ·  Deck 16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Sovereign creditworthiness hinges on BOTH ability to pay (taxation, FX reserves) AND willingness to pay — sovereign immunity blocks forced bankruptcy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15, Exhibit 1–2, pp. 380–388.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Qualitative framework used by all three major rating agencies, with variants. Willingness is harder to observe than ability — examples: Uruguay 2003, Argentina 2001.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1627632" cy="21031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43000"/>
            <a:ext cx="73152" cy="21031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188720"/>
            <a:ext cx="139903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GOVERNMENT INSTITUTIONS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463040"/>
            <a:ext cx="1399032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law · political stability · willingness-to-pay track record · transparency of data.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039112" y="1143000"/>
            <a:ext cx="1627632" cy="21031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2"/>
          <p:cNvSpPr/>
          <p:nvPr/>
        </p:nvSpPr>
        <p:spPr>
          <a:xfrm>
            <a:off x="2039112" y="1143000"/>
            <a:ext cx="73152" cy="21031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176272" y="1188720"/>
            <a:ext cx="139903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FISCAL FLEXIBILITY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2176272" y="1463040"/>
            <a:ext cx="1399032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base · ability to adjust revenue &amp; expenditure · track record of fiscal discipline.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58184" y="1143000"/>
            <a:ext cx="1627632" cy="21031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3758184" y="1143000"/>
            <a:ext cx="73152" cy="21031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895344" y="1188720"/>
            <a:ext cx="139903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MONETARY EFFECTIVENESS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895344" y="1463040"/>
            <a:ext cx="1399032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bank independence · credibility · exchange-rate regime · bond-market depth.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77256" y="1143000"/>
            <a:ext cx="1627632" cy="21031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22" name="Shape 20"/>
          <p:cNvSpPr/>
          <p:nvPr/>
        </p:nvSpPr>
        <p:spPr>
          <a:xfrm>
            <a:off x="5477256" y="1143000"/>
            <a:ext cx="73152" cy="21031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14416" y="1188720"/>
            <a:ext cx="139903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ECONOMIC FLEXIBILITY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614416" y="1463040"/>
            <a:ext cx="1399032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· per-capita income · diversification · growth · shock absorption capacity.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196328" y="1143000"/>
            <a:ext cx="1627632" cy="21031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6" name="Shape 24"/>
          <p:cNvSpPr/>
          <p:nvPr/>
        </p:nvSpPr>
        <p:spPr>
          <a:xfrm>
            <a:off x="7196328" y="1143000"/>
            <a:ext cx="73152" cy="21031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333488" y="1188720"/>
            <a:ext cx="139903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EXTERNAL STATUS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333488" y="1463040"/>
            <a:ext cx="1399032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Reserve-currency status · access to external funding · geopolitical risk · FX flexibility.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20040" y="3474720"/>
            <a:ext cx="8503920" cy="8686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30" name="Shape 28"/>
          <p:cNvSpPr/>
          <p:nvPr/>
        </p:nvSpPr>
        <p:spPr>
          <a:xfrm>
            <a:off x="320040" y="3474720"/>
            <a:ext cx="73152" cy="8686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57200" y="352044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WILLINGNESS MATTERS — URUGUAY 2003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3794760"/>
            <a:ext cx="8275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banking crisis &amp; peso devaluation, Uruguay carried out an IMF-supported voluntary debt exchange that extended maturities by 5 years. Although "voluntary," analysts deemed it a default-in-substance — a reminder that sovereigns can subordinate holdouts under sovereign-immunity protection.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Quantitative sovereign analysis centres on three ratio families: fiscal strength, economic growth and stability, and external stability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15, Exhibits 4–7, pp. 387–394.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Numerator is usually debt or interest; denominator uses GDP (ability to tax), Revenue (fiscal resources), or FX reserves (external firepower).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2697480"/>
                <a:gridCol w="640080"/>
                <a:gridCol w="64008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Family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Ratio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Definition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Aaa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Ba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Caa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Fiscal — debt burden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Debt / GDP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General govt debt to GDP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&lt; 35%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60–90%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&gt; 120%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Fiscal — debt burden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Debt / Revenue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General govt debt to govt revenue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&lt; 100%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250–400%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&gt; 500%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Fiscal — affordability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Interest / GDP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Interest payments to GDP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&lt; 1%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4–8%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&gt; 15%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Fiscal — affordability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Interest / Revenue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Interest payments to govt revenue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&lt; 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15–25%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&gt; 40%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&amp; stability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Real GDP growth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Avg growth, past decade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2–4%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1–3%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negative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 stability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FX reserves / GDP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Foreign currency reserves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&gt; 15%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5–10%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&lt; 3%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 stability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Reserve ratio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FX reserves / external debt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&gt; 80%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30–50%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&lt; 10%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Illustrative peer comparison shows how Moody's differentiates an A3 Malaysia from a Ba3 Vietnam and a B3 Moldova on the same four metrics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325112"/>
            <a:ext cx="8503920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Ratios are indicative FYE 2020–2021 values used in the CFA learning examples — illustrative, not current.
</a:t>
            </a:r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² Malaysia A3, Thailand Baa1, Philippines Baa2, Vietnam Ba3, Moldova B3 (Moody's, indicative at time of writing).
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15, Examples 4, 6, 7, pp. 385–393.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Reserve-currency issuers (USD, EUR, JPY, GBP, CHF) sit in a different universe — structural deficits and high debt/GDP do not mechanically downgrade them.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097280"/>
                <a:gridCol w="1371600"/>
                <a:gridCol w="1645920"/>
                <a:gridCol w="155448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Sovereign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Moody's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Debt / GDP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Real GDP growth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FX Reserves / GDP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Reserve ratio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~65%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11.9%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54%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Baa1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~58%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16.4%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102%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Philippines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Baa2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~58%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10.3%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96%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Vietnam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Ba3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~42%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6.4%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9.9%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84%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Baa2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~40%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5.2%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3.9%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31%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Moldova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~35%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20% (IMF)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IMF dep.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320040" y="3474720"/>
            <a:ext cx="8503920" cy="8686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2" name="Shape 9"/>
          <p:cNvSpPr/>
          <p:nvPr/>
        </p:nvSpPr>
        <p:spPr>
          <a:xfrm>
            <a:off x="320040" y="3474720"/>
            <a:ext cx="73152" cy="8686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7200" y="352044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RESERVE-CURRENCY vs NON-RESERVE SOVEREIGNS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3794760"/>
            <a:ext cx="8275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reserve-currency sovereign (US, Eurozone, UK, Japan, Switzerland) can borrow in its own currency from foreign investors and monetize if necessary — so debt/GDP ratios of 100%+ can still sit at AA–AAA. Non-reserve sovereigns are capped by FX reserve adequacy and external-debt discipline.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Corporate credit analysis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of 5  ·  Deck 16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Traditional credit analysis uses the "Cs of credit" — five bottom-up factors (Capacity, Capital, Collateral, Covenants, Character) and three top-down (Country, Conditions, Currency)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14, Exhibit 1, pp. 344–346.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Bottom-up Cs drive the issuer's own POD/LGD. Top-down Cs describe the macro environment faced by ALL borrowers in a jurisdiction.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2773680" cy="11887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43000"/>
            <a:ext cx="73152" cy="11887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188720"/>
            <a:ext cx="25450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COUNTRY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463040"/>
            <a:ext cx="254508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Geopolitical + legal environment. Rule of law, political stability, bankruptcy-code efficiency, property rights.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185160" y="1143000"/>
            <a:ext cx="2773680" cy="11887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3185160" y="1143000"/>
            <a:ext cx="73152" cy="11887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22320" y="1188720"/>
            <a:ext cx="25450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CONDITIONS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322320" y="1463040"/>
            <a:ext cx="254508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economic, competitive, business environment. Where we are in the credit cycle.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50280" y="1143000"/>
            <a:ext cx="2773680" cy="11887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6050280" y="1143000"/>
            <a:ext cx="73152" cy="11887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187440" y="1188720"/>
            <a:ext cx="25450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CURRENCY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187440" y="1463040"/>
            <a:ext cx="254508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 exposure of CFs. Cross-border borrowers with FX-debt or imports face currency mismatch risk.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0040" y="2468880"/>
            <a:ext cx="1627632" cy="11887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22" name="Shape 20"/>
          <p:cNvSpPr/>
          <p:nvPr/>
        </p:nvSpPr>
        <p:spPr>
          <a:xfrm>
            <a:off x="320040" y="2468880"/>
            <a:ext cx="73152" cy="11887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2514600"/>
            <a:ext cx="139903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CAPACITY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2788920"/>
            <a:ext cx="1399032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Ability to service debt on time (profitability, CFs).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39112" y="2468880"/>
            <a:ext cx="1627632" cy="11887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26" name="Shape 24"/>
          <p:cNvSpPr/>
          <p:nvPr/>
        </p:nvSpPr>
        <p:spPr>
          <a:xfrm>
            <a:off x="2039112" y="2468880"/>
            <a:ext cx="73152" cy="11887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176272" y="2514600"/>
            <a:ext cx="139903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CAPITAL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2176272" y="2788920"/>
            <a:ext cx="1399032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resources reducing debt reliance (equity, liquidity).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58184" y="2468880"/>
            <a:ext cx="1627632" cy="11887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30" name="Shape 28"/>
          <p:cNvSpPr/>
          <p:nvPr/>
        </p:nvSpPr>
        <p:spPr>
          <a:xfrm>
            <a:off x="3758184" y="2468880"/>
            <a:ext cx="73152" cy="11887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895344" y="2514600"/>
            <a:ext cx="139903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COLLATERAL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3895344" y="2788920"/>
            <a:ext cx="1399032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&amp; value of pledged assets supporting debt.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77256" y="2468880"/>
            <a:ext cx="1627632" cy="11887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34" name="Shape 32"/>
          <p:cNvSpPr/>
          <p:nvPr/>
        </p:nvSpPr>
        <p:spPr>
          <a:xfrm>
            <a:off x="5477256" y="2468880"/>
            <a:ext cx="73152" cy="11887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14416" y="2514600"/>
            <a:ext cx="139903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COVENANTS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5614416" y="2788920"/>
            <a:ext cx="1399032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terms restricting issuer behaviour.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196328" y="2468880"/>
            <a:ext cx="1627632" cy="11887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38" name="Shape 36"/>
          <p:cNvSpPr/>
          <p:nvPr/>
        </p:nvSpPr>
        <p:spPr>
          <a:xfrm>
            <a:off x="7196328" y="2468880"/>
            <a:ext cx="73152" cy="11887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333488" y="2514600"/>
            <a:ext cx="139903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CHARACTER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7333488" y="2788920"/>
            <a:ext cx="1399032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quality &amp; willingness to pay.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20040" y="3794760"/>
            <a:ext cx="8503920" cy="5486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42" name="Shape 40"/>
          <p:cNvSpPr/>
          <p:nvPr/>
        </p:nvSpPr>
        <p:spPr>
          <a:xfrm>
            <a:off x="320040" y="3794760"/>
            <a:ext cx="73152" cy="5486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57200" y="384048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QUANTITATIVE vs QUALITATIVE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4114800"/>
            <a:ext cx="827532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&amp; Capital are mostly quantitative (ratios). Collateral, Covenants, Character are largely qualitative — requiring analyst judgment on management track record and covenant strength.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Corporate POD is driven by profitability, coverage and leverage — higher profits and coverage with lower leverage mean lower POD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16, Exhibit 3, pp. 417–420.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vs EBITDA vs FFO vs RCF — be explicit about which cash-flow measure is in numerator/denominator before comparing across issuers.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85039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3200400"/>
                <a:gridCol w="11887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Family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Ratio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Formula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Higher = 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Profitability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EBIT margin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EBIT / Revenue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Better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Profitability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EBITDA margin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EBITDA / Revenue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Better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EBIT / Interest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EBIT / Interest expense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Better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EBITDA / Interest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(EBIT + D&amp;A) / Interest expense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Better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 — full burden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EBITDAR / (Int + Rent)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(EBITDA + Rent) / (Interest + Rent)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Better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Debt / EBITDA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Total debt / EBITDA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Worse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Debt / Capital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Debt / (Debt + Equity)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Worse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Leverage — cash-flow based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FFO / Debt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Funds from operations / Debt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Better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Leverage — cash-flow based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RCF / Net Debt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(FFO − Dividends) / (Debt − Cash)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Better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downside-scenario ratio walk shows how a compressing EBIT margin propagates to weaker coverage and higher leverage — credit-spread widening follows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16, Example 4 (Bowstream), pp. 419–423.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Bowstream: mid-sized IG consumer-durables issuer. Stress case — input cost inflation and rising rates, margin down 20 ppt, debt growing 10% p.a.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8503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68680"/>
                <a:gridCol w="868680"/>
                <a:gridCol w="868680"/>
                <a:gridCol w="868680"/>
                <a:gridCol w="868680"/>
                <a:gridCol w="86868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Metric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Y0 (A)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Y1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Y2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Y3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Y4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Y5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Rating drift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margin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 → Ba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/ Interest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51.9×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32.9×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23.0×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14.4×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5.8×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5.2×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Aaa→ Baa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/ EBITDA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0.36×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0.43×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0.54×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0.71×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1.06×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1.21×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Aaa→ Aa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RCF / Net Debt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379%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271%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191%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67%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54%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Aaa→ Baa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Implied credit outlook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Stable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Stable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Neg.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Neg.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Downgrade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Downgrade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520440"/>
            <a:ext cx="8503920" cy="822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520440"/>
            <a:ext cx="73152" cy="822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56616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TAKEAWAY — RATINGS ARE PROCYCLICAL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840480"/>
            <a:ext cx="827532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year 4, coverage, leverage and CF metrics have all crossed Baa-boundary thresholds. In practice: agency would put Bowstream on negative watch between Y2–Y3 and downgrade by Y4. Spread widening typically precedes the ratings action by 1–2 quarters.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Seniority ranking determines how much an investor recovers in default — highest for first-lien secured, near-zero for deeply subordinated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16, Exhibits 4–5, pp. 425–432.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NA non-financial recovery rates (Moody's, 2000–2019 avg). Actual recoveries vary by cycle — 2008–09 trough recoveries were ~50% of long-run averages.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85039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560320"/>
                <a:gridCol w="3520440"/>
                <a:gridCol w="137160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Rank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Class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Claim type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Typical recovery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LGD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First lien / first mortgage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Pledged specific assets (plant, inventory)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~65%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Senior secured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Pledged broader collateral pool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~55%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Junior secured / second lien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Residual claim on pledged assets after 1st lien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~45%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Senior unsecured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General claim on unpledged assets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~35%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Senior subordinated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Subordinated but senior to sub debt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~25%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Subordinated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Below all senior unsecured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~15%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Junior subordinated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Deeply subordinated, often LGD ≈ 100%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Equity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Residual; wiped out before unsecured creditors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794760"/>
            <a:ext cx="8503920" cy="5943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794760"/>
            <a:ext cx="73152" cy="5943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84048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NOTCHING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114800"/>
            <a:ext cx="82753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rating = rating of senior unsecured debt. Secured debt typically notched UP 1 notch; subordinated debt notched DOWN 1–2 notches.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 default the priority of claims cascades through a strict waterfall — a small pool of pledged collateral can still leave subordinated holders wiped out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16, Practice Problems 4–8 (Mojofon), pp. 433–437.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Mojofon (illustrative): insolvency, recovery pool of 150. Secured claims ride the collateral; senior unsec share the residual; sub is behind them.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41605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685800"/>
                <a:gridCol w="86868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Claim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Face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Recovery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secured (Coll 60)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unsecured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33.3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~95%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Subordinated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 equity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Pool available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0" y="1143000"/>
            <a:ext cx="4251960" cy="315468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09160" y="1188720"/>
            <a:ext cx="39776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WATERFALL — RECOVERY IN DEFAULT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709160" y="1481328"/>
            <a:ext cx="39776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Insolvency estate is 150. Secured bonds (50) are collateralised by assets worth 60 (excess 10 flows to unsecured pool).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709160" y="1993392"/>
            <a:ext cx="3977640" cy="17922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Secured: 50 face × 100% recovery (collateral worth 60 ≥ 50) = 50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Excess collateral of 10 is released into the unsecured pool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Pool for unsecured = 150 − 50 + 10 = 110, of which non-sec claims = 50 + 35 = unsec total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Actually: residual pool after secured = 100. Sr-unsec 35 / Sub 15 = ranks differently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Sr-unsec get their 35 in full first; Sub 15 = 15; leftover to equity = 50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663440" y="3858768"/>
            <a:ext cx="406908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709160" y="3858768"/>
            <a:ext cx="397764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Realistic split depends on estate size. Key principle: pari-passu within a class; strict priority across classes.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Structural subordination arises when holding-company debt is serviced only after operating-subsidiary debt — subsidiary bonds recover more than HoldCo bonds even if pari passu on paper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16, Practice Problem 8 (Mojofon holdco/opco), pp. 430–437.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Private-equity LBO structures frequently exploit this: push operating CFs into a subsidiary, issue lightly-secured HoldCo PIK notes above to amplify equity returns.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4160520" cy="32004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1252728"/>
            <a:ext cx="3886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HOLDING-CO DEBT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1600200"/>
            <a:ext cx="3794760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HoldCo owns stock of OpCo. HoldCo debt is paid from dividends UP-streamed by OpCo — but only AFTER OpCo has paid its own creditors.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default: HoldCo creditors hold equity claim on OpCo, which is BELOW OpCo creditors.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HoldCo senior unsecured = structurally subordinated to OpCo senior unsecured, EVEN IF both are labelled pari passu.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143000"/>
            <a:ext cx="4160520" cy="32004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3" name="Shape 11"/>
          <p:cNvSpPr/>
          <p:nvPr/>
        </p:nvSpPr>
        <p:spPr>
          <a:xfrm>
            <a:off x="4663440" y="1143000"/>
            <a:ext cx="73152" cy="32004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00600" y="1252728"/>
            <a:ext cx="3886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RATINGS IMPLICATIONS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1600200"/>
            <a:ext cx="3794760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Agencies notch HoldCo senior unsec 1–2 notches BELOW OpCo senior unsec.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&gt; 30% of group CFs are at subsidiary level and no downstream guarantee exists, the 2-notch adjustment is typical.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Investors ask: "What fraction of group debt sits at OpCo vs HoldCo? Is there a cross-guarantee? Are there dividend-restriction covenants at OpCo?"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Securitization structures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of 5  ·  Deck 16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Securitization moves an asset pool off the originator's balance sheet into a bankruptcy-remote SPV that issues ABS against those cash flows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17, Exhibits 6–9, pp. 439–455.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SPV/SPE is the critical legal device — "true sale" severs the asset from originator's bankruptcy estate. Without it, there is no securitization — just a secured bond.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8503920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43000"/>
            <a:ext cx="91440" cy="420624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1143000"/>
            <a:ext cx="365760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1179576"/>
            <a:ext cx="7863840" cy="18928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ORIGINATOR / SELLER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1332281"/>
            <a:ext cx="7863840" cy="231343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or owns the assets (bank, auto-lender, credit-card issuer). Sells pool to SPV, receives cash.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1600200"/>
            <a:ext cx="8503920" cy="420624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040" y="1600200"/>
            <a:ext cx="91440" cy="420624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2920" y="1600200"/>
            <a:ext cx="365760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1636776"/>
            <a:ext cx="7863840" cy="18928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SPV / SPE / TRUST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1789481"/>
            <a:ext cx="7863840" cy="231343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Bankruptcy-remote legal entity that buys the pool, issues ABS, receives pool cash flows, pays bondholders.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0040" y="2057400"/>
            <a:ext cx="8503920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320040" y="2057400"/>
            <a:ext cx="91440" cy="420624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02920" y="2057400"/>
            <a:ext cx="365760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68680" y="2093976"/>
            <a:ext cx="7863840" cy="18928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SERVICER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2246681"/>
            <a:ext cx="7863840" cy="231343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Administers loans: collects payments, chases delinquents, forecloses. Often the originator continues servicing.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" y="2514600"/>
            <a:ext cx="8503920" cy="420624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5" name="Shape 23"/>
          <p:cNvSpPr/>
          <p:nvPr/>
        </p:nvSpPr>
        <p:spPr>
          <a:xfrm>
            <a:off x="320040" y="2514600"/>
            <a:ext cx="91440" cy="420624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2920" y="2514600"/>
            <a:ext cx="365760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68680" y="2551176"/>
            <a:ext cx="7863840" cy="18928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TRUSTEE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68680" y="2703881"/>
            <a:ext cx="7863840" cy="231343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fiduciary (usually a bank): holds pool cash, disburses to investors, reports performance monthly.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20040" y="2971800"/>
            <a:ext cx="8503920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320040" y="2971800"/>
            <a:ext cx="91440" cy="420624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02920" y="2971800"/>
            <a:ext cx="365760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68680" y="3008376"/>
            <a:ext cx="7863840" cy="18928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RATING AGENCY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161081"/>
            <a:ext cx="7863840" cy="231343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Rates each tranche on both collateral quality and seniority. Drives coupon pricing and investor eligibility.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20040" y="3429000"/>
            <a:ext cx="8503920" cy="420624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5" name="Shape 33"/>
          <p:cNvSpPr/>
          <p:nvPr/>
        </p:nvSpPr>
        <p:spPr>
          <a:xfrm>
            <a:off x="320040" y="3429000"/>
            <a:ext cx="91440" cy="420624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02920" y="3429000"/>
            <a:ext cx="365760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868680" y="3465576"/>
            <a:ext cx="7863840" cy="18928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UNDERWRITER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868680" y="3618281"/>
            <a:ext cx="7863840" cy="231343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bank that structures the deal, markets to investors, provides liquidity in secondary.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20040" y="3886200"/>
            <a:ext cx="8503920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320040" y="3886200"/>
            <a:ext cx="91440" cy="420624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02920" y="3886200"/>
            <a:ext cx="365760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868680" y="3922776"/>
            <a:ext cx="7863840" cy="18928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868680" y="4075481"/>
            <a:ext cx="7863840" cy="231343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tranches matched to their mandate — pensions in senior AAA, hedge funds in mezz/equity.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Tranching stacks senior, mezzanine and equity bond classes on top of the same pool — each absorbs losses in reverse order of seniority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17, Exhibit 3, pp. 443–445.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Arbitrage math: pool yield (MRR+250) minus weighted cost of tranches = residual spread going to equity. Equity earns this spread times leverage.</a:t>
            </a:r>
            <a:endParaRPr lang="en-US" sz="13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85039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960120"/>
                <a:gridCol w="1143000"/>
                <a:gridCol w="960120"/>
                <a:gridCol w="822960"/>
                <a:gridCol w="822960"/>
                <a:gridCol w="1143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Tranche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Size ($)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Rating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Coupon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Attach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Detach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Expected loss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Role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Aaa / AAA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MRR + 40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 0 bp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Funding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Mezzanine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Baa / BBB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MRR + 250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 50 bp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Yield pick-up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/ residual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Unrated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Residual CF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First-loss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Issuer retains (skin in game)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Pool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Mix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MRR + 250 (net of fees)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246120"/>
            <a:ext cx="8503920" cy="109728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32918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EQUITY ECONOMICS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35844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yield 250 bps over MRR. Weighted debt cost = (70×40 + 20×250) / 90 = 87 bps over MRR.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11480" y="390448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390448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Residual to equity = (250 − 87) × 90/10 = 163 × 9  ≈  14.7% excess return per unit of equity (before losses).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Loss-waterfall mechanics — a hypothetical 3-tranche deal shows how a 12% pool loss is absorbed entirely by equity and mezzanine, sparing senior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Modules 17–18; structure per Exhibit 3.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 1,000 mm pool; tranches 700 / 200 / 100. Losses always absorbed bottom-up (equity first, then mezz, then senior).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85039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463040"/>
                <a:gridCol w="1463040"/>
                <a:gridCol w="1463040"/>
                <a:gridCol w="13716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Scenario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Pool loss (mm)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Equity (100)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Mezz (200)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Senior (700)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Sr recovery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— 5% pool loss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Loses 50 (50% hit)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Untouched (0)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Untouched (0)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— 12% pool loss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Wiped (100)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Loses 20 (10% hit)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Untouched (0)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— 25% pool loss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Wiped (100)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Wiped (200)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Loses 50 (7.1% hit)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92.9%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— 40% pool loss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Wiped (100)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Wiped (200)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Loses 100 (14.3% hit)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85.7%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108960"/>
            <a:ext cx="8503920" cy="12344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108960"/>
            <a:ext cx="73152" cy="12344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15468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INTUITION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429000"/>
            <a:ext cx="827532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investors have a DEEP cushion. In scenarios A and B they take no loss at all — all risk has been transferred to the 300 mm of junior capital (30% subordination). Only when pool losses exceed 30% does senior start to suffer. That protection is why senior tranches can carry AAA ratings even when collateral is sub-investment-grade.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Credit enhancement reduces investor risk via internal (subordination, overcollateralization, reserve accounts) and external (letters of credit, guarantees, insurance wraps) mechanisms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18, pp. 463–480.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= built into the deal structure; external = third-party promises. Post-2008, external wrap providers are far less used — the monoline insurers collapsed.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4160520" cy="32004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43000"/>
            <a:ext cx="73152" cy="32004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INTERNAL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1554480"/>
            <a:ext cx="3794760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Subordination / tranching: junior bonds absorb losses before senior.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Overcollateralization (OC): pool face &gt; bonds issued (e.g. 110 pool / 100 bonds). OC haircut is first-loss.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/ cash-collateral account: cash set aside at closing to cover shortfalls.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Excess spread: pool coupon − bond coupons − fees — retained to absorb losses before OC triggers.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63440" y="1143000"/>
            <a:ext cx="4160520" cy="32004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43000"/>
            <a:ext cx="73152" cy="32004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1234440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EXTERNAL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554480"/>
            <a:ext cx="3794760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 of credit (LoC): bank commits to advance shortfalls up to a cap.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guarantee: parent / supranational / sovereign guarantees all bond payments.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Surety bond or monoline wrap: specialist insurer (Ambac, MBIA pre-2008) pledges to cover defaults.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ABS investors are now exposed to the credit of the wrap provider — wrong-way risk in systemic stress (GFC 2008).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Non-mortgage ABS spans amortizing (auto loans) and non-amortizing (credit cards) collateral — the lockout / revolving period is the key distinction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18, pp. 482–500.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lockout period, principal repaid on the pool is REINVESTED in new receivables. After lockout, amortization begins and principal flows to bondholders.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85039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103120"/>
                <a:gridCol w="1005840"/>
                <a:gridCol w="1143000"/>
                <a:gridCol w="914400"/>
                <a:gridCol w="1371600"/>
                <a:gridCol w="8229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ABS type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Collateral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Amortizing?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Lockout period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Typical WAL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Key risk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AAA spread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Prime auto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New-car loans, 60–72m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 (sequential)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1–2y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Unemployment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25–50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Subprime auto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Lower-credit auto loans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2–3y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Default, servicer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80–200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Credit-card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Revolving receivables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 (revolving)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2–5y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3–5y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Early amortization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35–60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loan (FFELP)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Govt-guaranteed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5–15y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Extension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40–80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Equipment lease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Aircraft, rail, trucks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3–7y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Obsolescence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60–150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 ABS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Residential solar PPAs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Pre-funding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5–10y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Homeowner, tech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120–250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657600"/>
            <a:ext cx="8503920" cy="6858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657600"/>
            <a:ext cx="73152" cy="6858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70332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EARLY AMORTIZATION TRIGGERS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977640"/>
            <a:ext cx="827532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Credit-card ABS include triggers that force EARLY AMORTIZATION if performance deteriorates (e.g. yield falls, charge-offs spike). Protects investors but shortens WAL unexpectedly — a hidden call option.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CLO is the dominant CDO: an actively-managed pool of leveraged loans funded by a capital structure of debt tranches and an equity residual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18, pp. 498–505.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a static ABS, the CLO manager actively trades the loan pool during a 4–5 year reinvestment period — performance can diverge from pool-level default experience.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85039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463040"/>
                <a:gridCol w="1143000"/>
                <a:gridCol w="1828800"/>
                <a:gridCol w="19659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Tranche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Typical size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Rating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Coupon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OC test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A (senior)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 65%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AAA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SOFR + 125–175 bps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Breach → cash diversion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 12%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AA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SOFR + 175–225 bps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Breach → cash diversion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 7%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SOFR + 225–275 bps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Breach → cash diversion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 6%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BBB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SOFR + 300–400 bps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Breach → cash diversion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 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BB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SOFR + 600–800 bps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Equity absorbed first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(subordinated notes)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 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Unrated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Residual, 10–20% IRR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First-loss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520440"/>
            <a:ext cx="8503920" cy="822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520440"/>
            <a:ext cx="73152" cy="822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56616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 ARBITRAGE AND NON-LINEAR RISK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840480"/>
            <a:ext cx="827532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Arbitrage = weighted-average yield on leveraged-loan pool (~ SOFR + 350 bps) minus weighted-cost of debt tranches (~ SOFR + 200 bps). Non-linear risk: a small increase in default rates or drop in recovery can flip the OC test and cut off equity distributions entirely.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Covered bonds keep the cover pool on the ISSUER's balance sheet and give investors DUAL recourse — cover pool first, then general credit of the bank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18, pp. 464–472.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specialty — "Pfandbrief" in Germany since 1769. Adopted in Nordics, UK, France, Canada. Regulated by the EU Covered Bond Directive since 2019.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4160520" cy="32004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43000"/>
            <a:ext cx="73152" cy="32004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COVERED BOND (e.g. Pfandbrief)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1554480"/>
            <a:ext cx="3794760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stays ON the issuer's balance sheet — "ring-fenced" but not sold.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Investors: dual recourse — first on ring-fenced pool; if insufficient, claim on bank's general assets.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Overcollateralization: collateral value always &gt; face of bonds issued (legal minimum, e.g. 2–5% excess).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financial institutions issue; only eligible collateral (prime residential mortgages &lt; 80% LTV typically).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63440" y="1143000"/>
            <a:ext cx="4160520" cy="32004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43000"/>
            <a:ext cx="73152" cy="32004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1234440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TRUE-SALE ABS (e.g. RMBS)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554480"/>
            <a:ext cx="3794760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is SOLD to a bankruptcy-remote SPV — legal true-sale transfer.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Investors: recourse ONLY to pool and its enhancements. No claim on the originator.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Tranching creates multiple bond classes at different ratings. Credit enhancement is primarily INTERNAL.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corporate (bank or non-bank) can sponsor an ABS. Wide collateral universe.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MBS specifics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5  ·  Deck 16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Mortgage-backed securities divide along two axes: residential vs commercial, and agency (GSE-backed) vs non-agency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19, Exhibit 1–2, pp. 515–525.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Agency MBS = Ginnie Mae (full faith &amp; credit of US Treasury), Fannie Mae, Freddie Mac (implicit/explicit US gov support since 2008 conservatorship).</a:t>
            </a:r>
            <a:endParaRPr lang="en-US" sz="13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85039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474720"/>
                <a:gridCol w="3383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Agency (US GSE)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Non-agency (private label)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RMBS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Conforming loans only (&lt; $726k 2023, 80% LTV, FICO ≥ 620). Credit risk absorbed by GSE.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Jumbo, subprime, Alt-A, non-QM loans. Credit risk retained by structure (tranching + enhancement).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CMBS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Limited — Ginnie Mae multifamily project loans; Fannie/Freddie multifamily.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Commercial/multifamily pools: offices, retail, hotels, industrial. Typically conduit or single-asset / single-borrower.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2651760"/>
            <a:ext cx="2743200" cy="16916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2651760"/>
            <a:ext cx="73152" cy="16916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269748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AGENCY RMBS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2971800"/>
            <a:ext cx="2514600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 eliminated (GSE guarantee). Investor bears ONLY prepayment risk + interest-rate risk. Most liquid MBS market in the world; TBA trading convention.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200400" y="2651760"/>
            <a:ext cx="2743200" cy="16916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5" name="Shape 12"/>
          <p:cNvSpPr/>
          <p:nvPr/>
        </p:nvSpPr>
        <p:spPr>
          <a:xfrm>
            <a:off x="3200400" y="2651760"/>
            <a:ext cx="73152" cy="16916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337560" y="269748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NON-AGENCY RMBS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3337560" y="2971800"/>
            <a:ext cx="2514600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bears credit risk + prepayment + rate. Ratings driven by pool LTV, FICO, debt-to-income, doc quality. Post-2008: far smaller market, tighter underwriting.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080760" y="2651760"/>
            <a:ext cx="2743200" cy="16916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9" name="Shape 16"/>
          <p:cNvSpPr/>
          <p:nvPr/>
        </p:nvSpPr>
        <p:spPr>
          <a:xfrm>
            <a:off x="6080760" y="2651760"/>
            <a:ext cx="73152" cy="16916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17920" y="269748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CMBS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217920" y="2971800"/>
            <a:ext cx="2514600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bears credit risk but benefits from call protection (defeasance, yield maintenance, prepayment lockout). Balloon risk replaces contraction risk.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Pass-through pool characteristics are summarised by its weighted-average coupon (WAC), weighted-average maturity (WAM), and pass-through rate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19, Exhibit 4, pp. 525–535.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Pass-through rate = WAC − servicing fee − guarantee fee. Typical: 50 bps total spread between WAC and coupon received by MBS holder.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4300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WAC  =  Σ wᵢ × cᵢ          WAM  =  Σ wᵢ × mᵢ          wᵢ = Balanceᵢ / Total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2880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cᵢ = mortgage i coupon; mᵢ = remaining months to maturity; wᵢ = balance weight. Pool is re-weighted monthly as loans amortize and prepay.</a:t>
            </a:r>
            <a:endParaRPr lang="en-US" sz="11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011680"/>
          <a:ext cx="85039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508760"/>
                <a:gridCol w="1005840"/>
                <a:gridCol w="1005840"/>
                <a:gridCol w="1691640"/>
                <a:gridCol w="914400"/>
                <a:gridCol w="9144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Mortgage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Balance ($)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Weight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Coupon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Rem. term (months)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 × c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 × 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125,000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12.5%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2.50%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0.313%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30.0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340,000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34.0%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3.30%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288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1.122%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97.9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74,000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7.4%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2.80%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180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0.207%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13.3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132,000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13.2%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0.528%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31.7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329,000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32.9%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3.70%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252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1.217%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82.9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TOTAL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1,000,000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WAC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WAM (months)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3.29%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255.8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320040" y="3703320"/>
            <a:ext cx="8503920" cy="6400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1"/>
          <p:cNvSpPr/>
          <p:nvPr/>
        </p:nvSpPr>
        <p:spPr>
          <a:xfrm>
            <a:off x="320040" y="3703320"/>
            <a:ext cx="73152" cy="6400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" y="374904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PASS-THROUGH RATE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023360"/>
            <a:ext cx="82753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 = 3.29%, WAM = 255.8 months (21.3y). If servicing fee = 25 bps and guarantee fee = 6 bps, pass-through rate = 3.29% − 0.31% = 2.98%.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Prepayment risk is the defining risk of residential MBS — it has two faces: contraction risk when rates fall (refi wave) and extension risk when rates rise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19, pp. 535–545.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Mortgage investors are implicitly SHORT a prepayment option. When they benefit (rates up, bond price shouldn't fall), borrowers slow prepay — and vice versa.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4160520" cy="3200400"/>
          </a:xfrm>
          <a:prstGeom prst="rect">
            <a:avLst/>
          </a:prstGeom>
          <a:solidFill>
            <a:srgbClr val="FFEBEE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43000"/>
            <a:ext cx="73152" cy="320040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CONTRACTION RISK  (rates ↓)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1554480"/>
            <a:ext cx="3794760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mortgage rates fall, homeowners refinance into lower-rate loans.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Prepayments accelerate; pool WAL shortens.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Investor receives principal early — exactly when reinvestment rates are LOWER.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Price appreciation capped (negative convexity): unlike a normal bond that rallies fully, MBS rally is truncated by accelerating prepay.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63440" y="1143000"/>
            <a:ext cx="4160520" cy="3200400"/>
          </a:xfrm>
          <a:prstGeom prst="rect">
            <a:avLst/>
          </a:prstGeom>
          <a:solidFill>
            <a:srgbClr val="FFEBEE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43000"/>
            <a:ext cx="73152" cy="320040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1234440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 RISK  (rates ↑)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554480"/>
            <a:ext cx="3794760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mortgage rates rise, homeowners stay in their below-market loans.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Prepayments slow; pool WAL lengthens.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Investor is locked into a LOW-coupon bond while market yields are higher.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Price falls MORE than a comparable callable bond — duration extends just when you want it shorter.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Single monthly mortality (SMM) is the fraction of pool principal prepaid in a month; the PSA benchmark describes the ramp of conditional prepayment rate (CPR) over a pool's life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19, pp. 540–552.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 benchmark: CPR of 0.2% in month 1, ramps +0.2% per month until month 30, then flat 6% CPR. "100 PSA" = 100% of benchmark speed. "150 PSA" = 1.5× benchmark.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8503920" cy="9144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43000"/>
            <a:ext cx="832104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SMM  =  Prepay / (Beginning balance − Scheduled principal)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CPR  =  1 − (1 − SMM)¹²           PSA speed × 100 PSA benchmark  =  effective CPR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2084832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SMM = monthly; CPR = annualised conditional prepayment rate; PSA benchmark slopes from 0.2% → 6% CPR over months 1–30 then flat.</a:t>
            </a:r>
            <a:endParaRPr lang="en-US" sz="11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377440"/>
          <a:ext cx="850392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737360"/>
                <a:gridCol w="1737360"/>
                <a:gridCol w="1737360"/>
                <a:gridCol w="123444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Month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100 PSA CPR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150 PSA CPR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SMM at 150 PSA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250 PSA CPR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SMM at 250 PSA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0.025%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0.042%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2.40%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3.60%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0.305%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0.514%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9.00%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0.783%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15.00%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1.340%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9.00%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0.783%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15.00%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1.340%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9.00%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0.783%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15.00%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1.340%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150 PSA on a $100mm 30-year pool at month 36 means CPR 9.00%, SMM 0.783%, and $782,600 of voluntary prepayment on top of scheduled principal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19, PSA worked examples, pp. 545–555.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36 is well past the PSA ramp (which ends at month 30). So CPR is flat at 9%, SMM flat at 0.783%.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8503920" cy="320040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188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CASH-FLOW BUILD — $100mm 30y POOL @ 4% WAC, MONTH 36, 150 PSA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48132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Beginning balance = $100,000,000. 150 PSA means CPR = 9%. SMM = 1 − (1 − 0.09)^(1/12) = 0.00783 = 0.783%.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993392"/>
            <a:ext cx="8229600" cy="18379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Interest CF = Balance × WAC / 12 = 100,000,000 × 4% / 12 = $333,333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Scheduled principal ≈ balance × factor ≈ 100,000,000 × 0.00167 ≈ $167,000 (from amortization table)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(3) Prepay base = Balance − Scheduled principal = 100,000,000 − 167,000 = $99,833,000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(4) Voluntary prepayment = SMM × Prepay base = 0.00783 × 99,833,000 = $781,692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(5) Total principal CF = Scheduled + Prepay = 167,000 + 781,692 = $948,692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(6) Total cash flow = Interest + Principal = 333,333 + 948,692 = $1,282,025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" y="390448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390448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Pool balance falls to $99,051,308 at start of month 37. Pool WAL is ~7.5y at 150 PSA vs 10y at 100 PSA.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sequential-pay CMO redirects all pool principal to Tranche A first, then B, then Z — shortening A's WAL and lengthening Z's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19, pp. 555–568.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Pass-through alone has single WAL for all investors. Tranching creates a menu — short-WAL tranche A for money-market buyers, long-WAL Z for liability-matched insurers.</a:t>
            </a:r>
            <a:endParaRPr lang="en-US" sz="13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850392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005840"/>
                <a:gridCol w="2560320"/>
                <a:gridCol w="1188720"/>
                <a:gridCol w="1188720"/>
                <a:gridCol w="7772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Tranche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Size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Priority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WAL @ 165 PSA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WAL @ 250 PSA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Target buyer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Tranche A (short)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$200mm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All principal until paid off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3.3y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2.2y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Money-market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Tranche B (intermediate)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$140mm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Principal after A fully repaid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7.5y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5.3y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Insurer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Tranche Z (accrual)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$60mm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Interest accrues; principal last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22.0y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16.5y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Pension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Pool total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$400mm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10.0y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6.8y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200400"/>
            <a:ext cx="8503920" cy="11430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200400"/>
            <a:ext cx="73152" cy="11430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24612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SEQUENTIAL-PAY WORKS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520440"/>
            <a:ext cx="8275320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Tranche A absorbs ALL prepayment risk first — its WAL variability is still high but the absolute maturity is short, so price volatility is small. Tranche Z absorbs very little contraction risk (by the time A and B are paid off, most prepayment waves are over) so its CF is more predictable. Investors pick the tranche matching their duration needs.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planned-amortization-class (PAC) structure guarantees a schedule of principal payments over a collar of prepayment speeds — support tranches absorb the volatility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19, pp. 568–575.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 collar e.g. 100–250 PSA. Inside the collar, PAC CF is certain. Outside: if too fast, support absorbs excess; if too slow, support delays principal to PAC.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4160520" cy="32004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43000"/>
            <a:ext cx="73152" cy="32004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 TRANCHE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1554480"/>
            <a:ext cx="3794760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a scheduled principal payment each month.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collar (e.g. 100–250 PSA): schedule honoured EXACTLY.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upper bound: support tranche buffers the excess prepayment.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lower bound: support's principal is redirected TO the PAC — only after prolonged slow prepay does PAC schedule break.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narrow band of WAL uncertainty; tight spread; popular with insurers &amp; pensions.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63440" y="1143000"/>
            <a:ext cx="4160520" cy="3200400"/>
          </a:xfrm>
          <a:prstGeom prst="rect">
            <a:avLst/>
          </a:prstGeom>
          <a:solidFill>
            <a:srgbClr val="FFEBEE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43000"/>
            <a:ext cx="73152" cy="320040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1234440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 TRANCHE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554480"/>
            <a:ext cx="3794760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Absorbs ALL prepayment variability around the PAC schedule.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upper bound: extra principal flows to support (CONTRACTION — WAL shortens).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lower bound: support gets no principal until PAC is caught up (EXTENSION — WAL lengthens).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support WAL is extremely variable; spread 50–150 bps wider than comparable non-structured MBS.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buyers: specialists with appetite for convexity risk.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CMBS differs from RMBS: commercial mortgages are non-recourse, usually have call protection, and frequently include a balloon — so balloon risk replaces contraction risk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6, Learning Module 19, pp. 575–585.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RMBS investor worries about prepayment. CMBS investor worries about loan-level credit, concentration, and inability to refinance the balloon at maturity.</a:t>
            </a:r>
            <a:endParaRPr lang="en-US" sz="13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85039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291840"/>
                <a:gridCol w="32918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Dimension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RMBS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CMBS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Recourse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Full (most jurisdictions)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Typically non-recourse — lender relies on property cash flow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 size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Thousands of small loans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20–200 large loans; single-asset CMBS exists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Concentration risk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 (diversified)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 — one large loan can be 5–15% of deal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 protection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None — borrower may prepay anytime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Lockout + defeasance / yield-maintenance penalty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risk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Prepayment (contraction + extension)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Balloon refinance risk + credit risk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ratios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LTV, FICO, DTI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DSCR, LTV at origination, debt yield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520440"/>
            <a:ext cx="8503920" cy="822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520440"/>
            <a:ext cx="73152" cy="822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56616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BALLOON RISK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840480"/>
            <a:ext cx="827532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commercial mortgages are 10-year interest-only or partially amortizing with a balloon maturity. At balloon, borrower must refinance or sell — if refinance markets are closed (2008–09, 2023 office) borrower defaults despite positive cash flow. CMBS investor is exposed to this binary refinancing event.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28600"/>
            <a:ext cx="82296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82296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16 — Fixed Income IV — Credit Analysis &amp; Securitization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7" name="Shape 5"/>
          <p:cNvSpPr/>
          <p:nvPr/>
        </p:nvSpPr>
        <p:spPr>
          <a:xfrm>
            <a:off x="621792" y="138988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33502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 decomposes into POD × LGD = expected loss. A fair credit spread approximates EL; LGD = EE × (1 − RR).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40580" y="126187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0" name="Shape 8"/>
          <p:cNvSpPr/>
          <p:nvPr/>
        </p:nvSpPr>
        <p:spPr>
          <a:xfrm>
            <a:off x="4805172" y="138988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06340" y="133502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investment-grade / high-yield line sits at Baa3 (Moody's) and BBB− (S&amp;P, Fitch); crossing it triggers mandate-driven forced selling.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08483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" y="221284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215798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creditworthiness = ability to pay (taxation, fiscal strength, FX reserves) AND willingness to pay (sovereign immunity limits enforcement).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40580" y="208483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6" name="Shape 14"/>
          <p:cNvSpPr/>
          <p:nvPr/>
        </p:nvSpPr>
        <p:spPr>
          <a:xfrm>
            <a:off x="4805172" y="221284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06340" y="215798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credit rests on 4 C's (Capacity, Capital, Collateral, Covenants, Character) plus 3 top-down (Country, Conditions, Currency), driving profitability, coverage, leverage ratios.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290779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" y="303580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298094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of claims cascades first lien → senior secured → senior unsecured → subordinated → equity; recovery ranges from ~65% (first lien) to 0% (equity).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40580" y="290779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2" name="Shape 20"/>
          <p:cNvSpPr/>
          <p:nvPr/>
        </p:nvSpPr>
        <p:spPr>
          <a:xfrm>
            <a:off x="4805172" y="303580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06340" y="298094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Securitization: true-sale transfer to a bankruptcy-remote SPV, tranching redistributes risk; senior AAA typically has 30%+ subordination cushion.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373075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5" name="Shape 23"/>
          <p:cNvSpPr/>
          <p:nvPr/>
        </p:nvSpPr>
        <p:spPr>
          <a:xfrm>
            <a:off x="621792" y="385876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380390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enhancement is internal (subordination, OC, reserve accounts, excess spread) or external (LoCs, guarantees, insurance wraps).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40580" y="373075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8" name="Shape 26"/>
          <p:cNvSpPr/>
          <p:nvPr/>
        </p:nvSpPr>
        <p:spPr>
          <a:xfrm>
            <a:off x="4805172" y="385876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006340" y="380390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Residential MBS investors are short a prepayment option; 150 PSA on a 30y pool post-month-30 means 9% CPR / 0.78% SMM. CMBS trades balloon risk for prepayment risk via call protection.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Studio Tonton Gug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FF v2 · Deck 16 · Fixed Income IV — Credit Analysis &amp; Securitization</dc:title>
  <dc:subject>PptxGenJS Presentation</dc:subject>
  <dc:creator>Studio Tonton Gug</dc:creator>
  <cp:lastModifiedBy>Studio Tonton Gug</cp:lastModifiedBy>
  <cp:revision>1</cp:revision>
  <dcterms:created xsi:type="dcterms:W3CDTF">2026-04-23T14:07:34Z</dcterms:created>
  <dcterms:modified xsi:type="dcterms:W3CDTF">2026-04-23T14:07:34Z</dcterms:modified>
</cp:coreProperties>
</file>