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Last deck. Say so out loud — and say what it closes: the r we assumed in Deck 01 gets derived today.
•  Two hours, six sections. Densest half is the first: MPT through the SML.
•  Frame the arc: Deck 01 took r as given. Today the market tells us what r must be.
•  Warn them the CAL / CML / SML confusion is the #1 exam trap — we will separate them slowly.
•  Last 15 minutes are the course wrap, not new material. Protect that time.
NEXT — Agenda, then straight into risk aversion.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them the shape of the afternoon so they know when the maths stops and the judgement starts.
•  Sections 1–2 are the quantitative core — roughly half the time.
•  Sections 3–5 are professional practice: process, IPS, client psychology.
•  Section 6 is risk management, then the course close.
•  Flag now: everything before the break is examinable maths; everything after is examinable vocabulary.
NEXT — Learning objectives, then section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objectives; the middle three are the examinable core. Read them fast, do not linger.
•  Objective 1 and 2 = the maths they will actually be tested on.
•  Objective 3 (the four appraisal ratios) is the one candidates most often skip.
•  Objectives 4 and 5 are vocabulary and judgement — cheap marks if they learn the lists.
•  Say: by 17:00 you should be able to write CAPM from memory and defend every term in it.
NEXT — Section one: what does it mean to be risk-averse, in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1 of 6 — ~25 minutes. Markowitz only: no risk-free asset yet, no beta yet.
•  Five slides: utility → two-asset variance → the CFA example → correlation → efficient frontier.
•  Hold back CAL, CML and beta. They arrive in section 2 and mixing them now costs 20 minutes later.
•  One sentence to land: return adds linearly, risk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is not a personality label — it is the exchange rate between variance and return. Make them feel that.
•  Open with the curriculum gamble: £50 certain vs 50/50 on £100. Same expected value, three possible answers.
•  Do LM1 Example 1 live: E(R) 10%, σ 20%, A = 3 → U = 0.10 − 0.5(3)(0.04) = 0.04.
•  Then the punchline: this investor is indifferent to a GUARANTEED 4%. That is what A = 3 costs.
•  Stress the decimals — σ in % blows the second term up by 10,000×.
•  Utility only RANKS. Never "twice as happy", never compare two people's U.
•  Sign of A drives the slope: up-and-convex, flat, or downward. That is the whole exhibit.
FROM THE DESK — No client has ever told me their A. What they do tell you is a drawdown they could not stomach — and you back out an implied A from that. The number is an inference from behaviour, never an input from the client.
ASK THE ROOM — If a risky 10% at σ = 20% and a certain 4% feel identical to you, what is your A?
NEXT — One asset is easy. Two assets is where the interesting thing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line, one asymmetry: return is linear in weights, risk is not. Everything else in MPT is a consequence.
•  Count the terms out loud: N variance terms, N(N−1) covariance terms. Covariance wins on arithmetic alone.
•  For 1,000 assets that is 499,500 correlations — say the number, it justifies the whole single-index shortcut later.
•  Cov(i,j) = ρ σᵢ σⱼ. Write it on the board once; it recurs on every remaining slide of this section.
•  The two-asset formula is the one they must be able to write blind. Everything else extends from it.
•  Weights must sum to 1 — including cash. Easy exam trap.
FROM THE DESK — The covariance matrix is where portfolio maths meets reality and loses. Estimated correlations are unstable, and optimisers are exquisitely sensitive to them — which is why practitioners shrink the matrix or constrain the weights rather than trust a raw optimisation.
NEXT — The curriculum proves the point with two real indices. Let us do their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one slide that makes diversification feel like magic rather than a formula. Let them predict the answer first.
•  Put the two assets up and ASK for the portfolio σ before revealing it — most will guess something between 16.21% and 33.11%.
•  Reveal 15.10%: below BOTH the S&amp;P alone and any weighted average. That is the moment.
•  Return 9.93% → 11.58% and risk 16.21% → 15.10%. Both moved the right way.
•  The covariance is 0.0050, implied ρ ≈ 0.09 — near-zero co-movement is doing all the work.
•  Show the three terms separately: 0.01682 + 0.00439 + 0.00160. The cross term is tiny; that is the point.
FROM THE DESK — This works on paper because ρ is measured over a long calm sample. In March 2020 the S&amp;P and EM fell together — correlations converge toward 1 exactly in the drawdowns you bought diversification to survive. Diversification is real, but it is weakest when you need it most.
ASK THE ROOM — Adding a 33% volatility asset LOWERED total risk. Under what condition does that stop working?
NEXT — That condition is correlation. Let us hold everything else fixed and move only 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variable moves. Five outcomes. This table is the cleanest possible proof that risk is not additive.
•  Point at the return column that is not there: E(R) is 10% in every row. Only risk changes.
•  ρ = +1 → σ_p = weighted average = 20%. No benefit. This is the only case with equality.
•  ρ = 0 → 14.14%, and note there is still a benefit even with NO negative correlation.
•  ρ = −1 → zero. A genuinely riskless portfolio out of two 20%-vol stocks. Let that land.
•  The rule to memorise is the callout, not the table: σ_p &lt; weighted average for any ρ &lt; +1.
FROM THE DESK — ρ = −1 assets do not exist for free. Anything reliably negatively correlated with equities — puts, long vol, quality government bonds in a risk-off regime — is priced as insurance and carries negative expected return. You are buying the hedge, not finding it.
NEXT — Now stop hand-picking pairs. Plot every possible portfolio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names get confused every year: opportunity set, minimum-variance frontier, efficient frontier. Separate them on the board before you say anything else.
•  Draw the bullet. Opportunity set = the whole shaded region. Min-var frontier = its left edge, top AND bottom.
•  GMVP = the single leftmost point. Nothing built from risky assets alone has less risk.
•  Efficient frontier = the min-var frontier ABOVE the GMVP only. Say "upper branch" every time.
•  Kill the classic error out loud: the efficient frontier is not the whole curve.
•  Concavity: the curriculum notes the extra risk from A to D is 3–4× the extra risk from Z to A, for the same extra return.
ASK THE ROOM — Two portfolios sit on the min-variance frontier with identical σ. Which one is efficient, and how do you know without any numbers?
NEXT — Everything so far assumed risky assets only. Now introduce an asset with zero risk — and the curve becomes a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2 of 6 — ~40 minutes, the densest stretch of the deck and the most examinable.
•  Eight slides: CAL → CML → risk decomposition → beta → CAPM → the CFA example → SML → the four appraisal ratios.
•  Write the three lines on the board NOW and leave them there: CAL(σ), CML(σ), SML(β).
•  The single sentence that prevents most errors: x-axis is σ for the first two, β for the third.
•  Take questions as you go here. Do not bank them — the errors compound.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decisions, not one. Which risky portfolio (same for everyone) and how much of it (different for everyone).
•  Derive the line, do not assert it: σ_f = 0 kills two of the three variance terms, so σ_p = (1−w₁)σ_i — linear.
•  Slope = (E(R_i) − R_f)/σ_i. Name it three ways: Sharpe ratio, reward-to-variability, market price of risk.
•  Show why a steeper CAL always wins: same σ, higher return, at every point.
•  Left of P = lending. Right of P = borrowing at R_f and buying more of P.
•  Then the bottom callout: preferences pick the POINT, not the portfolio. Two decisions, cleanly separated.
FROM THE DESK — The theory assumes you borrow at R_f. Nobody does. Retail margin runs several points above the bill rate, so the real CAL kinks downward past P — the leveraged segment is genuinely flatter, and levering a mediocre portfolio to look like a good one is a fee-generation strategy, not an alpha strategy.
NEXT — If everyone computes the same optimal risky portfolio, what is it? That question turns the CAL into the CML.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CML is just one specific CAL — the one whose risky portfolio is the market. Say that first, then everything else follows.
•  CML = CAL(M). Same equation, one substitution: the optimal risky portfolio IS the market portfolio.
•  Why? Homogeneous expectations. Everyone runs the same optimisation on the same inputs and gets the same answer.
•  If everyone wants the same risky portfolio, market clearing forces it to be the value-weighted market.
•  Two-fund separation: investment decision (which risky portfolio) is separated from financing decision (how much borrowing/lending).
•  Land it: this theorem is the intellectual foundation of index investing, decades before the first index fund.
•  Footnote is the exam point — CML uses σ, and only for efficient portfolios.
FROM THE DESK — The theoretical market portfolio includes property, private assets and human capital. The curriculum openly narrows it to the S&amp;P 500 for convenience — which quietly means every beta and every ERP you will ever quote is measured against a proxy, not against the market the theory describes.
ASK THE ROOM — If every investor holds the identical risky portfolio, what is left for an active manager to do?
NEXT — To price a single asset rather than a portfolio, we first have to split its risk in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hinge of the whole deck: the market pays for risk you cannot escape, and nothing else.
•  Run the curriculum's own argument as a proof by contradiction — it is more convincing than asserting the conclusion.
•  Assume idiosyncratic risk is paid → everyone buys it → diversifies it away → free money → price rises → premium goes to zero.
•  Be precise: variances add, standard deviations do not. Say it once, clearly.
•  Market portfolio has ZERO nonsystematic risk by construction — that is why its total risk equals its systematic risk.
•  A risk-free asset has zero of both. Useful boundary case for the exam.
•  Consequence they must carry into CAPM: σ does not determine E(R). Only β does.
FROM THE DESK — A concentrated founder holding a single stock does bear its idiosyncratic risk and is not paid a cent for it. That is the entire economic case for a diversification mandate on concentrated wealth — you are removing an uncompensated risk, not chasing a return.
NEXT — So we need a number for "how much market risk does this asset carry". That number is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Beta is a ratio of a covariance to a variance. Everything intuitive about it comes from reading it that way.
•  Derive β = 1 for the market in one line: ρ(m,m) = 1, so β = σ_m/σ_m = 1. No memorisation needed.
•  Both forms are the same object: Cov/σ²_m and ρ σ_i/σ_m. Show they are algebraically identical.
•  Critical: σ_i can be huge with β = 0 if ρ = 0. High volatility does NOT mean high beta.
•  Negative beta is rare and valuable — the curriculum uses insurance: pays out exactly when your wealth falls.
•  Portfolio beta is a plain weighted average. Contrast with portfolio σ, which is not. Two slides ago.
•  Estimation: regress asset returns on market returns; the slope is beta, the intercept is alpha.
FROM THE DESK — Beta is an estimate, and the estimate depends on the window and the index. Bloomberg, a two-year weekly regression and a five-year monthly one will give you three different betas for the same stock, all defensible. When two banks quote different WACCs, this is usually why — not bad faith, just different windows.
NEXT — One number for systematic risk. Now convert it into a required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most-cited equation in finance, and the moment Deck 09 stops being a black box. Say explicitly: this is where that r came from.
•  Read the equation as a sentence: what you get for waiting, plus what you get for bearing market risk.
•  β = 0 collapses it to R_f. β = 1 gives exactly E(R_m). Two anchors worth checking on any answer.
•  Do the sensitivity line out loud — 0.10 of beta is 60bp. That is why beta gets argued over.
•  Point at the footnotes: SIX assumptions. Candidates routinely list four and lose the mark.
•  Frictionless markets is the one they forget — no transaction costs, no taxes, borrow and lend at R_f.
•  Close the loop: identical inputs to Deck 09 slide 30. Same number, arrived at from the other side.
FROM THE DESK — In a live valuation the cash flows are argued about for an hour and r for a week. Beta, ERP and the choice of spot versus target leverage move value more than any operating assumption — which is why WACC belongs at the front of a pitch, with a sensitivity grid, not buried in an appendix.
NEXT — The curriculum proves the "only correlation matters" point with two companies of identical volatility.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If any slide kills the "volatile equals risky equals high return" instinct, it is this one. Two 50%-vol stocks, 14 points apart.
•  Write both σ values on the board first: 50% and 50%. Ask what return each deserves before revealing.
•  Bajaj: ρ = 0 → β = 0 → E(R) = R_f = 3%. A 50%-volatility stock that deserves the T-bill return.
•  Mueller: ρ = 0.65 → β = 1.41 → 17.1%. Same volatility, five times the required return.
•  The lever is ρ, and only ρ. Both have σ_i = 0.50 and σ_m = 0.23 in the beta formula.
•  Say it plainly: an investor holding Bajaj ALONE bears enormous risk. The market simply refuses to pay for it.
ASK THE ROOM — Would you personally hold Bajaj on its own at an expected 3%? What does your answer tell you about the assumption behind CAPM?
NEXT — Plot every asset on that beta axis and you get the third line of the afternoon: the SML.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Third line, third x-axis. If they leave with one thing from this section, it is that the SML runs on beta.
•  Draw all three lines side by side one last time. CAL: σ. CML: σ. SML: β. Then rub out the CAL and CML.
•  Intercept R_f, market at (β = 1, E(R_m)), slope = the market risk premium. Three points define it.
•  Vertical distance from the line IS Jensen's alpha. Say it now — it saves explaining it later.
•  Above the line = you are paid more than the equilibrium price of that beta = buy.
•  Stress the equilibrium logic: buying pushes the price up and the expected return down, back onto the line.
•  The CML prices only efficient portfolios. The SML prices anything — a single stock, a bad portfolio, a project.
FROM THE DESK — Nobody actually trades off the SML, because the alpha you compute is only as good as the beta and ERP you assumed. Shift the ERP by 100bp and half your "underpriced" names cross the line. Treat SML alpha as a screen, never as a signal.
ASK THE ROOM — A stock sits above the SML. If the CAPM holds and everyone can see it, how long does that last?
NEXT — The SML judges assets. The next slide judges managers — four ratios, two different denominators.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ratios is a memorisation slide unless you make the Y-versus-Z disagreement the story. Lead with the disagreement.
•  Group them first: two on σ (Sharpe, M²), two on β (Treynor, Jensen). That halves the memory load.
•  Verify one live — Manager Y: (11% − 3%) / 10% = 0.80, and 8% / 0.70 = 0.114.
•  M² is only a rescaling of Sharpe, so it ALWAYS ranks identically — but reads as a percentage return.
•  Y M² = 0.80 × 19% + 3% = 18.2%; market made 9%; so M² alpha = 9.2%.
•  Now the point: Sharpe ranks Y first, Treynor ranks Z first. Both are correct — different questions.
•  Sharpe fails if the numerator is negative; Treynor fails for negative beta. Say both caveats once.
FROM THE DESK — Every manager presents the ratio that flatters them. A concentrated fund quotes Treynor; a diversified one quotes Sharpe. Ask which denominator they used before you look at the number — and ask over what period, because three years of a bull market makes almost anyone look skilled.
ASK THE ROOM — The pension can hire only ONE manager for all its assets. Y or Z — and which ratio decides it?
NEXT — That closes the theory. The rest of the afternoon is how the profession actually runs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3 of 6 — ~15 minutes. Gear change: the maths is done, this is professional practice.
•  Three slides: the three-step process, investor types, DB versus DC.
•  Signal the change of register — descriptive, list-heavy, cheap exam marks.
•  Good place for a five-minute break if you are running to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steps, and the arrow back from three to one is the part people forget. Draw the loop.
•  Plan / Execute / Feed back. Make them say it back before you unpack any of it.
•  Step 1 is two things: understand the client, THEN write the IPS. Not one thing.
•  Step 2 in order: asset allocation, security analysis, construction. Allocation first — it matters most.
•  Top-down versus bottom-up: define both in one sentence each, they combine rather than compete.
•  Step 3 is not just reporting — drift-driven rebalancing lives here too.
•  Then draw the arrow back to step 1: performance review can trigger an IPS rewrite.
FROM THE DESK — In practice step 1 gets compressed into a form the client signs and nobody reads again. Then markets fall 25%, the client wants out at the bottom, and the only thing that keeps them invested is a document written when they were calm. That is what an IPS is actually for.
NEXT — Same three steps for everyone. But "the client" ranges from a graduate to a sovereign fund.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let them memorise this as trivia. Every column is an inference from the liability, and that is the transferable skill.
•  Ask the diagnostic question first: what does this investor OWE, and when?
•  Bank owes deposits on demand → short horizon, low risk, high liquidity. Derive it, do not read it.
•  Endowment owes a perpetual spending rate → very long horizon, high risk tolerance, low liquidity need.
•  P&amp;C insurer owes unpredictable claims → short and highly liquid. Life insurer owes decades out → long.
•  Flag the counter-intuitive one: DB pensions rate "quite high" on risk tolerance in Exhibit 17.
•  Individuals and SWFs are "varies" on every dimension — that is the curriculum's actual answer, not a cop-out.
FROM THE DESK — Yale at 4.6% fixed income and MassMutual at roughly 80% bonds are not disagreeing about markets. One has no fixed liability and a perpetual horizon; the other owes contractual amounts on a schedule and is told by regulators what it may hold. Same economy, opposite portfolios.
NEXT — The sharpest liability contrast of all sits inside pensions: who carries the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question separates them: who is left holding the loss if markets fall 30%? Ask it before you define anything.
•  DB defines the BENEFIT, so the sponsor absorbs whatever the assets do. DC defines the CONTRIBUTION and stops there.
•  Be exact with the curriculum: the DC employee accepts the investment AND the inflation risk.
•  DB horizon: indefinite while open to new members, finite once closed. Changes the whole asset mix.
•  Note where DC sits in the syllabus — under INDIVIDUAL investors, not institutional. Deliberate, and examinable.
•  Tie back to Deck 01: PV of promised pensions is a DCF; funded ratio is assets over that PV.
•  A falling discount rate raises the liability. Same mechanic as bond pricing from Deck 14.
FROM THE DESK — The move from DB to DC transferred decades of investment risk to people with no training in it, and then handed them a fund menu. That is the single largest reason financial literacy became a policy question — and why default target-date funds matter more than any fund selection.
NEXT — Which brings us to the document that governs all of it: the 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4 of 6 — ~25 minutes. The single most practically useful section of the afternoon.
•  Four slides: the components, ability vs willingness, the constraints template, the Gascon return objective.
•  This is the section they will actually use if they work with clients. Say so.
•  The ability-versus-willingness slide is the one that gets examined. Slow down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Nine rows, but only two matter for the exam and for the client. Say which, then move.
•  Count them out: eight named sections plus two appendices. Candidates habitually list six or seven.
•  The two most commonly dropped are Procedures and Evaluation and Review. Name them twice.
•  The curriculum is explicit that objectives and constraints are the sections tied to the client's distinctive needs.
•  That two-part structure has a name worth using: the "objectives and constraints" format.
•  The SAA lives in an APPENDIX, not the body — it changes more often than the policy does.
•  Review cadence: every three years, or on any material change in circumstances.
FROM THE DESK — Sections 3 and 4 look like boilerplate right up to the moment something goes wrong. Then "who was allowed to decide what, and what were we supposed to do in this situation" is the only part of the document anyone reads.
NEXT — Section 5 is where the judgement is. Start with the risk half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rule is one word: LOWER. Everything else on this slide exists to stop them averaging.
•  Run the two consistent cells fast — they are trivial. Spend the time on the two conflict cells.
•  High ability + low willingness: counsel, explain the cost in forgone return, then respect the low willingness anyway.
•  Low ability + high willingness: no discussion needed — ability binds, tolerance is below average, full stop.
•  The curriculum forbids trying to change personality. It permits correcting a miscalculation or misperception.
•  Use the two Gascon brothers: Henri is high/high; Jacques is low ability, high willingness.
•  And say why Jacques is low ability — volatile income, maintenance payments, a 2–6 year horizon for school fees.
FROM THE DESK — Stated willingness is measured in a calm room and revealed willingness is measured in a drawdown, and they are rarely the same person. The useful question in a fact-find is not "how much risk can you take" but "what did you do in 2008, or in March 2020, and how did it feel".
ASK THE ROOM — A client has high ability and low willingness. You set the portfolio conservatively and they underperform their peers for five years. Were you right?
NEXT — Ability and willingness fix the risk objective. Now the other five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Give them a form they can fill in on Monday. The mnemonic is scaffolding; the discipline is answering all seven rows.
•  Be explicit that Sophie is my illustration, not a CFA case — the definitions column is the curriculum.
•  Legal and regulatory is broader than they expect: pension asset-allocation limits, self-investment caps, insider blackout windows.
•  Unique circumstances covers values as well as facts — Shari'a compliance, exclusion screens, an entrepreneur avoiding competitors.
•  Name the six ESG approaches if there is time: negative and positive screening, integration, thematic, engagement, impact.
•  The concentrated-employer-stock point is the one that saves real clients real money.
•  Tax: income is usually taxed more heavily than gains, and gains are taxed later — that deferral is worth money.
FROM THE DESK — The row people underestimate is liquidity. A portfolio that is right on every other dimension and forces a sale in a bad month has failed, and the failure will be blamed on the market rather than on the plan.
NEXT — One row deserves its own slide, because it is arithmetic rather than judgement: the return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return objective is a calculation, not an aspiration. Show them the whole chain from constraint to number.
•  Start with the trap: €2m is in TODAY'S money. Inflate it first or every later step is wrong.
•  €2m × 1.02^20 = €2,971,895. Say the number slowly — a million euros of pure inflation.
•  The €100k emergency fund is a LIQUIDITY constraint that shrinks the invested base to €900k. Constraints feed objectives.
•  Then the CAGR: 3.3021 to the power 1/20 gives 6.15%, which is the curriculum's 6.2%.
•  Nice cross-check: run it in real terms straight off €2m and you get 4.07% — no inflation step needed.
•  Last question, and it is the real one: is 6.2% nominal achievable at Marie's risk tolerance? If not, something has to give.
FROM THE DESK — This is where the difficult client conversation actually happens. When the required return exceeds what their risk tolerance can support, there are only three levers — save more, retire later, or spend less in retirement. Raising the risk is the fourth and it is the one clients ask for.
ASK THE ROOM — Marie needs 6.2% but her risk tolerance supports 4%. Which lever would you pull, and how would you say it to her?
NEXT — That assumes she behaves rationally for twenty years. She will not — and nor will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5 of 6 — ~15 minutes. Keep it fast and personal; this is the part they enjoy.
•  Three slides: the cognitive/emotional split, the fifteen-bias table, loss aversion in depth.
•  The split is the examinable point. The individual biases are vocabulary.
•  Invite examples from the room — they all have one. Cap it at two or you lose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question decides the whole taxonomy: would better information fix this? If yes it is cognitive; if no it is emotional.
•  Cognitive = faulty reasoning. Emotional = impulse, intuition, feeling — arising spontaneously, sometimes unwanted.
•  Cognitive splits in two: belief perseverance (5) and processing errors (4). Give both sub-names.
•  Belief perseverance is driven by cognitive dissonance — the discomfort of information that contradicts you.
•  Six emotional biases, and the curriculum names all six. Get them to list them back.
•  The remedy asymmetry is the exam answer AND the practical one: educate vs adapt.
•  Overconfidence is the awkward case — it has cognitive features but the curriculum classes it as emotional.
FROM THE DESK — The professional version of the same distinction: a cognitive error is fixed with a checklist, an emotional one with a rule you cannot override in the moment. Pre-committed rebalancing dates exist for precisely this reason — the decision is made on a calm day and executed on a bad one.
NEXT — Fifteen named biases. Here they all are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read fifteen definitions. Teach the three groups, then let them ask about the ones they recognise.
•  Say the arithmetic once: 5 + 4 = 9 cognitive, plus 6 emotional, equals 15.
•  Belief perseverance = protecting what you already believe. Processing = mishandling the information itself.
•  Anchoring is the one that costs money in practice — the purchase price is a number with no informational content.
•  Mental accounting: "this is my fun money" — the market does not know which pot it came from.
•  Representativeness has two named sub-types worth a mention: base-rate neglect and sample-size neglect.
•  Ask which ones they recognise in themselves. Two examples, then move — this can eat the section.
FROM THE DESK — Confirmation bias is structural in research, not personal: an analyst calls the sell-side analyst who already agrees, and gets reassured. The counter is procedural — before you add to a losing position, write down what the person on the other side of the trade believes.
NEXT — One of these does more portfolio damage than the rest combined.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inversion is the whole slide: the same person is risk-averse above water and risk-seeking below it.
•  Draw the S. Reference point at the origin, concave above, convex below, steeper on the loss side.
•  Say the concavity correctly: the FIRST €10 of gain is worth more than the second. Diminishing sensitivity.
•  Convex below means the reverse — a second €10 of loss hurts less than the first, so gambling to get back looks cheap.
•  Run the curriculum's Example 10: the monthly statement, winners and losers, and the instinct to hold "until it breaks even".
•  Be honest about the number: no ratio appears in Vol 9. The famous 2.25× is later prospect-theory literature, not this syllabus.
•  Reference point is usually the purchase price — a number with no bearing on the asset's future.
FROM THE DESK — The tell in a portfolio review is a position nobody defends but nobody sells. Ask the reframing question: if you held cash instead, would you buy this today at this price? If the answer is no, the only thing keeping it is the entry price.
ASK THE ROOM — Why does a stop-loss written on a calm Tuesday work, when the same decision on the day does not?
NEXT — Individuals have biases. Institutions build frameworks to contain them — the last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Section 6 of 6 — ~20 minutes including the course close. Watch the clock; the last two slides matter.
•  Two content slides — the seven-element framework, then tolerance versus budgeting.
•  Then the synthesis slide and the takeaways. Do not let the framework eat them.
•  If you are running late, cut the framework detail, never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Open with the negative definition. Risk management is not minimising risk — a firm that avoided all risk could not operate.
•  Use the curriculum's line: risk management is not about avoiding risk any more than a diet is about avoiding calories.
•  Seven elements. Governance first because everything else derives from it.
•  Distinguish the three "risks" that get conflated: driver (the underlying uncertainty), position (what you took on), exposure (the valuation change).
•  The bank/real-estate example is worth telling: nobody expected the risk manager to forecast the crisis — only to have sized the 60%-of-capital scenario in advance.
•  Item 7 is the one candidates skip. Risk management as offence, not policing.
•  In a good process most of the work happens BEFORE the event; in a bad one, all of it happens after.
FROM THE DESK — The framework fails at element 6 far more often than at element 2. The number is usually somewhere in a system — it is simply not on the page in front of the person making the decision, at the moment they make it.
NEXT — Governance sets the appetite. Two mechanisms turn appetite into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Tolerance is a sentence the board writes. Budgeting is the arithmetic that turns that sentence into position limits.
•  Use the curriculum's Spanish construction-equipment example: can tolerate a 5–10% revenue drop, a 20% drop breaks covenants.
•  Inside view = what would break us. Outside view = what are we exposed to. Both, then set the limit.
•  Budgeting metrics: σ, β, VaR, scenario loss. Four names, worth memorising.
•  The hidden benefit: a budget forces you to compare every risky decision against the market on a risk-equivalent basis.
•  Flag the classic individual failure — concentrating a portfolio in your own employer, so salary and savings share one risk.
•  Say out loud that the three-lines model is market practice, not curriculum. It is in the footnote for a reason.
FROM THE DESK — The three lines only work when the second line can say no and survive. Where the risk function reports into the business it is supervising, the model is an org chart rather than a control — that is usually visible from the reporting line alone.
NEXT — That closes Volume 9. Now let us close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payoff slide of the entire course. Slow right down — it is worth two minutes of silence and one sentence.
•  Put the two formulas side by side and say it once: this is where r came from.
•  Walk the table quickly, decade by decade of the course, but land on the 09 row — cost of capital.
•  Deck 09 used CAPM and told you it belonged to Vol 9. Today you have it. Loop closed.
•  The honest caveat: CAPM is a starting point, not an answer. Fama–French and Carhart beat it empirically.
•  But nothing has replaced it as the shared language for pricing risk. That is why it is still the default.
•  Then pause. Let them see twenty decks as one argument rather than twenty topics.
FROM THE DESK — Every valuation dispute you will ever sit in comes down to this line. The cash flows get argued about because they are visible; r decides the answer because it is not. Whoever is trusted on r controls the number.
NEXT — Eight takeaways, then we are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read eight bullets. Land three sentences, thank them properly, and stop.
•  Take the top row only: risk is not additive, and only the non-diversifiable part is paid for.
•  Then the appraisal row — σ or β, and which question you are asking. It is the newest material.
•  Then the last card. Read it out loud; it is the end of the course, not the end of a module.
•  Say what they can now do that they could not on day one: build a discount rate and defend every term in it.
•  Point them at Vol 9 practice problems as the highest-yield revision per hour.
•  Thank them by name if the group is small. Then stop talking and take questions.
FROM THE DESK — The honest closing note: none of this makes you right about the future. It makes your reasoning legible — to a committee, to a client, and to yourself in two years when you reread the memo. In this industry that is the durable skill.
NEXT — End of Deck 20. End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20  ·  WEEK 4  ·  AFTERNOON 5</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Portfolio Management,</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MPT, CAPM &amp; Risk</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How the market prices risk — and how investors build portfolios to harvest the reward for bearing it</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9 Learning Modules 1–6 · FINAL DECK (20 of 20)</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Portfolio Management, MPT, CAPM &amp; Risk Management</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6 sections · ~2 hours · Built bottom-up from CFA readings</a:t>
            </a:r>
            <a:endParaRPr lang="en-US" sz="1300" dirty="0"/>
          </a:p>
        </p:txBody>
      </p:sp>
      <p:sp>
        <p:nvSpPr>
          <p:cNvPr id="8" name="Shape 6"/>
          <p:cNvSpPr/>
          <p:nvPr/>
        </p:nvSpPr>
        <p:spPr>
          <a:xfrm>
            <a:off x="320040" y="1207008"/>
            <a:ext cx="8503920" cy="560832"/>
          </a:xfrm>
          <a:prstGeom prst="rect">
            <a:avLst/>
          </a:prstGeom>
          <a:solidFill>
            <a:srgbClr val="FFFFFF"/>
          </a:solidFill>
          <a:ln/>
        </p:spPr>
      </p:sp>
      <p:sp>
        <p:nvSpPr>
          <p:cNvPr id="9" name="Shape 7"/>
          <p:cNvSpPr/>
          <p:nvPr/>
        </p:nvSpPr>
        <p:spPr>
          <a:xfrm>
            <a:off x="320040" y="1207008"/>
            <a:ext cx="594360" cy="560832"/>
          </a:xfrm>
          <a:prstGeom prst="rect">
            <a:avLst/>
          </a:prstGeom>
          <a:solidFill>
            <a:srgbClr val="1B2A4A"/>
          </a:solidFill>
          <a:ln/>
        </p:spPr>
      </p:sp>
      <p:sp>
        <p:nvSpPr>
          <p:cNvPr id="10" name="Text 8"/>
          <p:cNvSpPr txBox="1"/>
          <p:nvPr/>
        </p:nvSpPr>
        <p:spPr>
          <a:xfrm>
            <a:off x="320040" y="120700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MPT foundations</a:t>
            </a:r>
            <a:endParaRPr lang="en-US" sz="1200" dirty="0"/>
          </a:p>
        </p:txBody>
      </p:sp>
      <p:sp>
        <p:nvSpPr>
          <p:cNvPr id="12" name="Text 10"/>
          <p:cNvSpPr txBox="1"/>
          <p:nvPr/>
        </p:nvSpPr>
        <p:spPr>
          <a:xfrm>
            <a:off x="1024128" y="145938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risk aversion &amp; utility · two-asset variance · correlation &amp; diversification · efficient frontier · min-variance portfolios</a:t>
            </a:r>
            <a:endParaRPr lang="en-US" sz="1100" dirty="0"/>
          </a:p>
        </p:txBody>
      </p:sp>
      <p:sp>
        <p:nvSpPr>
          <p:cNvPr id="13" name="Shape 11"/>
          <p:cNvSpPr/>
          <p:nvPr/>
        </p:nvSpPr>
        <p:spPr>
          <a:xfrm>
            <a:off x="320040" y="1804416"/>
            <a:ext cx="8503920" cy="560832"/>
          </a:xfrm>
          <a:prstGeom prst="rect">
            <a:avLst/>
          </a:prstGeom>
          <a:solidFill>
            <a:srgbClr val="F5F7FA"/>
          </a:solidFill>
          <a:ln/>
        </p:spPr>
      </p:sp>
      <p:sp>
        <p:nvSpPr>
          <p:cNvPr id="14" name="Shape 12"/>
          <p:cNvSpPr/>
          <p:nvPr/>
        </p:nvSpPr>
        <p:spPr>
          <a:xfrm>
            <a:off x="320040" y="1804416"/>
            <a:ext cx="594360" cy="560832"/>
          </a:xfrm>
          <a:prstGeom prst="rect">
            <a:avLst/>
          </a:prstGeom>
          <a:solidFill>
            <a:srgbClr val="1B2A4A"/>
          </a:solidFill>
          <a:ln/>
        </p:spPr>
      </p:sp>
      <p:sp>
        <p:nvSpPr>
          <p:cNvPr id="15" name="Text 13"/>
          <p:cNvSpPr txBox="1"/>
          <p:nvPr/>
        </p:nvSpPr>
        <p:spPr>
          <a:xfrm>
            <a:off x="320040" y="1804416"/>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850136"/>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CAL, CML, CAPM &amp; SML</a:t>
            </a:r>
            <a:endParaRPr lang="en-US" sz="1200" dirty="0"/>
          </a:p>
        </p:txBody>
      </p:sp>
      <p:sp>
        <p:nvSpPr>
          <p:cNvPr id="17" name="Text 15"/>
          <p:cNvSpPr txBox="1"/>
          <p:nvPr/>
        </p:nvSpPr>
        <p:spPr>
          <a:xfrm>
            <a:off x="1024128" y="2056790"/>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capital allocation line · market portfolio · systematic vs idiosyncratic · β · CAPM · security market line · Sharpe / Treynor / M² / Jensen</a:t>
            </a:r>
            <a:endParaRPr lang="en-US" sz="1100" dirty="0"/>
          </a:p>
        </p:txBody>
      </p:sp>
      <p:sp>
        <p:nvSpPr>
          <p:cNvPr id="18" name="Shape 16"/>
          <p:cNvSpPr/>
          <p:nvPr/>
        </p:nvSpPr>
        <p:spPr>
          <a:xfrm>
            <a:off x="320040" y="2401824"/>
            <a:ext cx="8503920" cy="560832"/>
          </a:xfrm>
          <a:prstGeom prst="rect">
            <a:avLst/>
          </a:prstGeom>
          <a:solidFill>
            <a:srgbClr val="FFFFFF"/>
          </a:solidFill>
          <a:ln/>
        </p:spPr>
      </p:sp>
      <p:sp>
        <p:nvSpPr>
          <p:cNvPr id="19" name="Shape 17"/>
          <p:cNvSpPr/>
          <p:nvPr/>
        </p:nvSpPr>
        <p:spPr>
          <a:xfrm>
            <a:off x="320040" y="2401824"/>
            <a:ext cx="594360" cy="560832"/>
          </a:xfrm>
          <a:prstGeom prst="rect">
            <a:avLst/>
          </a:prstGeom>
          <a:solidFill>
            <a:srgbClr val="1B2A4A"/>
          </a:solidFill>
          <a:ln/>
        </p:spPr>
      </p:sp>
      <p:sp>
        <p:nvSpPr>
          <p:cNvPr id="20" name="Text 18"/>
          <p:cNvSpPr txBox="1"/>
          <p:nvPr/>
        </p:nvSpPr>
        <p:spPr>
          <a:xfrm>
            <a:off x="320040" y="2401824"/>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447544"/>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The portfolio management process</a:t>
            </a:r>
            <a:endParaRPr lang="en-US" sz="1200" dirty="0"/>
          </a:p>
        </p:txBody>
      </p:sp>
      <p:sp>
        <p:nvSpPr>
          <p:cNvPr id="22" name="Text 20"/>
          <p:cNvSpPr txBox="1"/>
          <p:nvPr/>
        </p:nvSpPr>
        <p:spPr>
          <a:xfrm>
            <a:off x="1024128" y="2654198"/>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planning · execution · feedback · individual vs institutional investors · DB vs DC pensions · asset management industry</a:t>
            </a:r>
            <a:endParaRPr lang="en-US" sz="1100" dirty="0"/>
          </a:p>
        </p:txBody>
      </p:sp>
      <p:sp>
        <p:nvSpPr>
          <p:cNvPr id="23" name="Shape 21"/>
          <p:cNvSpPr/>
          <p:nvPr/>
        </p:nvSpPr>
        <p:spPr>
          <a:xfrm>
            <a:off x="320040" y="2999232"/>
            <a:ext cx="8503920" cy="560832"/>
          </a:xfrm>
          <a:prstGeom prst="rect">
            <a:avLst/>
          </a:prstGeom>
          <a:solidFill>
            <a:srgbClr val="F5F7FA"/>
          </a:solidFill>
          <a:ln/>
        </p:spPr>
      </p:sp>
      <p:sp>
        <p:nvSpPr>
          <p:cNvPr id="24" name="Shape 22"/>
          <p:cNvSpPr/>
          <p:nvPr/>
        </p:nvSpPr>
        <p:spPr>
          <a:xfrm>
            <a:off x="320040" y="2999232"/>
            <a:ext cx="594360" cy="560832"/>
          </a:xfrm>
          <a:prstGeom prst="rect">
            <a:avLst/>
          </a:prstGeom>
          <a:solidFill>
            <a:srgbClr val="1B2A4A"/>
          </a:solidFill>
          <a:ln/>
        </p:spPr>
      </p:sp>
      <p:sp>
        <p:nvSpPr>
          <p:cNvPr id="25" name="Text 23"/>
          <p:cNvSpPr txBox="1"/>
          <p:nvPr/>
        </p:nvSpPr>
        <p:spPr>
          <a:xfrm>
            <a:off x="320040" y="2999232"/>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044952"/>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The investment policy statement</a:t>
            </a:r>
            <a:endParaRPr lang="en-US" sz="1200" dirty="0"/>
          </a:p>
        </p:txBody>
      </p:sp>
      <p:sp>
        <p:nvSpPr>
          <p:cNvPr id="27" name="Text 25"/>
          <p:cNvSpPr txBox="1"/>
          <p:nvPr/>
        </p:nvSpPr>
        <p:spPr>
          <a:xfrm>
            <a:off x="1024128" y="3251606"/>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IPS components · risk &amp; return objectives · ability vs willingness · constraints (LTTLU) · Marie Gascon worked example</a:t>
            </a:r>
            <a:endParaRPr lang="en-US" sz="1100" dirty="0"/>
          </a:p>
        </p:txBody>
      </p:sp>
      <p:sp>
        <p:nvSpPr>
          <p:cNvPr id="28" name="Shape 26"/>
          <p:cNvSpPr/>
          <p:nvPr/>
        </p:nvSpPr>
        <p:spPr>
          <a:xfrm>
            <a:off x="320040" y="3596640"/>
            <a:ext cx="8503920" cy="560832"/>
          </a:xfrm>
          <a:prstGeom prst="rect">
            <a:avLst/>
          </a:prstGeom>
          <a:solidFill>
            <a:srgbClr val="FFFFFF"/>
          </a:solidFill>
          <a:ln/>
        </p:spPr>
      </p:sp>
      <p:sp>
        <p:nvSpPr>
          <p:cNvPr id="29" name="Shape 27"/>
          <p:cNvSpPr/>
          <p:nvPr/>
        </p:nvSpPr>
        <p:spPr>
          <a:xfrm>
            <a:off x="320040" y="3596640"/>
            <a:ext cx="594360" cy="560832"/>
          </a:xfrm>
          <a:prstGeom prst="rect">
            <a:avLst/>
          </a:prstGeom>
          <a:solidFill>
            <a:srgbClr val="1B2A4A"/>
          </a:solidFill>
          <a:ln/>
        </p:spPr>
      </p:sp>
      <p:sp>
        <p:nvSpPr>
          <p:cNvPr id="30" name="Text 28"/>
          <p:cNvSpPr txBox="1"/>
          <p:nvPr/>
        </p:nvSpPr>
        <p:spPr>
          <a:xfrm>
            <a:off x="320040" y="3596640"/>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3642360"/>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Behavioral biases</a:t>
            </a:r>
            <a:endParaRPr lang="en-US" sz="1200" dirty="0"/>
          </a:p>
        </p:txBody>
      </p:sp>
      <p:sp>
        <p:nvSpPr>
          <p:cNvPr id="32" name="Text 30"/>
          <p:cNvSpPr txBox="1"/>
          <p:nvPr/>
        </p:nvSpPr>
        <p:spPr>
          <a:xfrm>
            <a:off x="1024128" y="3849014"/>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cognitive errors (fixable) vs emotional biases (adapt) · belief perseverance · processing · loss aversion · disposition effect</a:t>
            </a:r>
            <a:endParaRPr lang="en-US" sz="1100" dirty="0"/>
          </a:p>
        </p:txBody>
      </p:sp>
      <p:sp>
        <p:nvSpPr>
          <p:cNvPr id="33" name="Shape 31"/>
          <p:cNvSpPr/>
          <p:nvPr/>
        </p:nvSpPr>
        <p:spPr>
          <a:xfrm>
            <a:off x="320040" y="4194048"/>
            <a:ext cx="8503920" cy="560832"/>
          </a:xfrm>
          <a:prstGeom prst="rect">
            <a:avLst/>
          </a:prstGeom>
          <a:solidFill>
            <a:srgbClr val="F5F7FA"/>
          </a:solidFill>
          <a:ln/>
        </p:spPr>
      </p:sp>
      <p:sp>
        <p:nvSpPr>
          <p:cNvPr id="34" name="Shape 32"/>
          <p:cNvSpPr/>
          <p:nvPr/>
        </p:nvSpPr>
        <p:spPr>
          <a:xfrm>
            <a:off x="320040" y="4194048"/>
            <a:ext cx="594360" cy="560832"/>
          </a:xfrm>
          <a:prstGeom prst="rect">
            <a:avLst/>
          </a:prstGeom>
          <a:solidFill>
            <a:srgbClr val="1B2A4A"/>
          </a:solidFill>
          <a:ln/>
        </p:spPr>
      </p:sp>
      <p:sp>
        <p:nvSpPr>
          <p:cNvPr id="35" name="Text 33"/>
          <p:cNvSpPr txBox="1"/>
          <p:nvPr/>
        </p:nvSpPr>
        <p:spPr>
          <a:xfrm>
            <a:off x="320040" y="4194048"/>
            <a:ext cx="594360" cy="560832"/>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06</a:t>
            </a:r>
            <a:endParaRPr lang="en-US" sz="1300" dirty="0"/>
          </a:p>
        </p:txBody>
      </p:sp>
      <p:sp>
        <p:nvSpPr>
          <p:cNvPr id="36" name="Text 34"/>
          <p:cNvSpPr txBox="1"/>
          <p:nvPr/>
        </p:nvSpPr>
        <p:spPr>
          <a:xfrm>
            <a:off x="1024128" y="4239768"/>
            <a:ext cx="7726680" cy="25237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Risk management framework</a:t>
            </a:r>
            <a:endParaRPr lang="en-US" sz="1200" dirty="0"/>
          </a:p>
        </p:txBody>
      </p:sp>
      <p:sp>
        <p:nvSpPr>
          <p:cNvPr id="37" name="Text 35"/>
          <p:cNvSpPr txBox="1"/>
          <p:nvPr/>
        </p:nvSpPr>
        <p:spPr>
          <a:xfrm>
            <a:off x="1024128" y="4446422"/>
            <a:ext cx="7726680" cy="308458"/>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risk governance · tolerance · budgeting · risk drivers vs exposures · closing the Deck 01 → Deck 20 arc</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Compute portfolio expected return and variance for a two-asset portfolio, and explain how correlation (not standard deviation alone) drives diversification benefits.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Derive an asset's expected return using the CAPM, distinguish systematic from idiosyncratic risk, and use the Security Market Line to identify under- and over-priced assets.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Compute and interpret the Sharpe ratio, Treynor ratio, M² and Jensen's alpha, and say which of them belongs on total risk (σ) and which on systematic risk (β).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Describe the three-step portfolio management process and the role of the IPS — including how to resolve the conflict between a client's ability and willingness to take risk.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Distinguish cognitive errors from emotional biases, and connect the risk management framework and the CAPM discount rate back to the DCF valuation of Deck 01.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MPT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foundations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6  ·  Deck 20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Risk-averse investors require a higher expected return for every extra unit of variance they accept — utility encodes this trade-off numerically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1, §4–5 "Risk Aversion" and "Utility Theory and Indifference Curves", pp. 12–17.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Utility here is only an ordering device: a portfolio scoring 4 beats one scoring 2, but it is not twice as good, and scores cannot be compared across people.</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U  =  E(R)  −  ½ × A × σ²</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U = utility; A = coefficient of risk aversion; σ² = variance (in decimals, not %). Higher A → steeper indifference curves → more averse.</a:t>
            </a:r>
            <a:endParaRPr lang="en-US" sz="1100" dirty="0"/>
          </a:p>
        </p:txBody>
      </p:sp>
      <p:sp>
        <p:nvSpPr>
          <p:cNvPr id="12" name="Shape 10"/>
          <p:cNvSpPr/>
          <p:nvPr/>
        </p:nvSpPr>
        <p:spPr>
          <a:xfrm>
            <a:off x="320040" y="2267712"/>
            <a:ext cx="8503920" cy="658368"/>
          </a:xfrm>
          <a:prstGeom prst="rect">
            <a:avLst/>
          </a:prstGeom>
          <a:solidFill>
            <a:srgbClr val="FFFFFF"/>
          </a:solidFill>
          <a:ln/>
        </p:spPr>
      </p:sp>
      <p:sp>
        <p:nvSpPr>
          <p:cNvPr id="13" name="Shape 11"/>
          <p:cNvSpPr/>
          <p:nvPr/>
        </p:nvSpPr>
        <p:spPr>
          <a:xfrm>
            <a:off x="320040" y="2267712"/>
            <a:ext cx="91440" cy="658368"/>
          </a:xfrm>
          <a:prstGeom prst="rect">
            <a:avLst/>
          </a:prstGeom>
          <a:solidFill>
            <a:srgbClr val="E8600A"/>
          </a:solidFill>
          <a:ln/>
        </p:spPr>
      </p:sp>
      <p:sp>
        <p:nvSpPr>
          <p:cNvPr id="14" name="Text 12"/>
          <p:cNvSpPr txBox="1"/>
          <p:nvPr/>
        </p:nvSpPr>
        <p:spPr>
          <a:xfrm>
            <a:off x="502920" y="2267712"/>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5" name="Text 13"/>
          <p:cNvSpPr txBox="1"/>
          <p:nvPr/>
        </p:nvSpPr>
        <p:spPr>
          <a:xfrm>
            <a:off x="868680" y="2304288"/>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A &gt; 0  ·  Risk-averse</a:t>
            </a:r>
            <a:endParaRPr lang="en-US" sz="1200" dirty="0"/>
          </a:p>
        </p:txBody>
      </p:sp>
      <p:sp>
        <p:nvSpPr>
          <p:cNvPr id="16" name="Text 14"/>
          <p:cNvSpPr txBox="1"/>
          <p:nvPr/>
        </p:nvSpPr>
        <p:spPr>
          <a:xfrm>
            <a:off x="868680" y="2563978"/>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assumed investor throughout. Demands higher return to accept variance. Indifference curves slope up and are convex — steeper as A rises. Curriculum examples run A = 2 (Kelly) to A = 4 (Jane).</a:t>
            </a:r>
            <a:endParaRPr lang="en-US" sz="1200" dirty="0"/>
          </a:p>
        </p:txBody>
      </p:sp>
      <p:sp>
        <p:nvSpPr>
          <p:cNvPr id="17" name="Shape 15"/>
          <p:cNvSpPr/>
          <p:nvPr/>
        </p:nvSpPr>
        <p:spPr>
          <a:xfrm>
            <a:off x="320040" y="2999232"/>
            <a:ext cx="8503920" cy="658368"/>
          </a:xfrm>
          <a:prstGeom prst="rect">
            <a:avLst/>
          </a:prstGeom>
          <a:solidFill>
            <a:srgbClr val="F5F7FA"/>
          </a:solidFill>
          <a:ln/>
        </p:spPr>
      </p:sp>
      <p:sp>
        <p:nvSpPr>
          <p:cNvPr id="18" name="Shape 16"/>
          <p:cNvSpPr/>
          <p:nvPr/>
        </p:nvSpPr>
        <p:spPr>
          <a:xfrm>
            <a:off x="320040" y="2999232"/>
            <a:ext cx="91440" cy="658368"/>
          </a:xfrm>
          <a:prstGeom prst="rect">
            <a:avLst/>
          </a:prstGeom>
          <a:solidFill>
            <a:srgbClr val="E8600A"/>
          </a:solidFill>
          <a:ln/>
        </p:spPr>
      </p:sp>
      <p:sp>
        <p:nvSpPr>
          <p:cNvPr id="19" name="Text 17"/>
          <p:cNvSpPr txBox="1"/>
          <p:nvPr/>
        </p:nvSpPr>
        <p:spPr>
          <a:xfrm>
            <a:off x="502920" y="2999232"/>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20" name="Text 18"/>
          <p:cNvSpPr txBox="1"/>
          <p:nvPr/>
        </p:nvSpPr>
        <p:spPr>
          <a:xfrm>
            <a:off x="868680" y="3035808"/>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A = 0  ·  Risk-neutral</a:t>
            </a:r>
            <a:endParaRPr lang="en-US" sz="1200" dirty="0"/>
          </a:p>
        </p:txBody>
      </p:sp>
      <p:sp>
        <p:nvSpPr>
          <p:cNvPr id="21" name="Text 19"/>
          <p:cNvSpPr txBox="1"/>
          <p:nvPr/>
        </p:nvSpPr>
        <p:spPr>
          <a:xfrm>
            <a:off x="868680" y="3295498"/>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Cares only about return, ignores risk. Indifference curves are horizontal. Picks the highest-return investment whatever its σ. A theoretical benchmark, not a client type.</a:t>
            </a:r>
            <a:endParaRPr lang="en-US" sz="1200" dirty="0"/>
          </a:p>
        </p:txBody>
      </p:sp>
      <p:sp>
        <p:nvSpPr>
          <p:cNvPr id="22" name="Shape 20"/>
          <p:cNvSpPr/>
          <p:nvPr/>
        </p:nvSpPr>
        <p:spPr>
          <a:xfrm>
            <a:off x="320040" y="3730752"/>
            <a:ext cx="8503920" cy="658368"/>
          </a:xfrm>
          <a:prstGeom prst="rect">
            <a:avLst/>
          </a:prstGeom>
          <a:solidFill>
            <a:srgbClr val="FFFFFF"/>
          </a:solidFill>
          <a:ln/>
        </p:spPr>
      </p:sp>
      <p:sp>
        <p:nvSpPr>
          <p:cNvPr id="23" name="Shape 21"/>
          <p:cNvSpPr/>
          <p:nvPr/>
        </p:nvSpPr>
        <p:spPr>
          <a:xfrm>
            <a:off x="320040" y="3730752"/>
            <a:ext cx="91440" cy="658368"/>
          </a:xfrm>
          <a:prstGeom prst="rect">
            <a:avLst/>
          </a:prstGeom>
          <a:solidFill>
            <a:srgbClr val="E8600A"/>
          </a:solidFill>
          <a:ln/>
        </p:spPr>
      </p:sp>
      <p:sp>
        <p:nvSpPr>
          <p:cNvPr id="24" name="Text 22"/>
          <p:cNvSpPr txBox="1"/>
          <p:nvPr/>
        </p:nvSpPr>
        <p:spPr>
          <a:xfrm>
            <a:off x="502920" y="3730752"/>
            <a:ext cx="365760" cy="658368"/>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5" name="Text 23"/>
          <p:cNvSpPr txBox="1"/>
          <p:nvPr/>
        </p:nvSpPr>
        <p:spPr>
          <a:xfrm>
            <a:off x="868680" y="3767328"/>
            <a:ext cx="7863840" cy="29626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A &lt; 0  ·  Risk-seeking</a:t>
            </a:r>
            <a:endParaRPr lang="en-US" sz="1200" dirty="0"/>
          </a:p>
        </p:txBody>
      </p:sp>
      <p:sp>
        <p:nvSpPr>
          <p:cNvPr id="26" name="Text 24"/>
          <p:cNvSpPr txBox="1"/>
          <p:nvPr/>
        </p:nvSpPr>
        <p:spPr>
          <a:xfrm>
            <a:off x="868680" y="4027018"/>
            <a:ext cx="7863840" cy="3621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Utility rises with variance, so indifference curves slope DOWN. Lottery-ticket and casino behaviour. Picks the highest risk AND highest return on offer.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Portfolio return is a weighted average of asset returns — but portfolio variance depends on the correlation between assets, diversification's only free lunch</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1, §7 "Portfolio Risk &amp; Portfolio of Two Risky Assets", pp. 21–23.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For a large N-asset portfolio, as N rises the w² variance terms vanish and average covariance dominates — the end-state of diversification.</a:t>
            </a:r>
            <a:endParaRPr lang="en-US" sz="1300" dirty="0"/>
          </a:p>
        </p:txBody>
      </p:sp>
      <p:sp>
        <p:nvSpPr>
          <p:cNvPr id="9" name="Shape 7"/>
          <p:cNvSpPr/>
          <p:nvPr/>
        </p:nvSpPr>
        <p:spPr>
          <a:xfrm>
            <a:off x="320040" y="1234440"/>
            <a:ext cx="8503920" cy="731520"/>
          </a:xfrm>
          <a:prstGeom prst="rect">
            <a:avLst/>
          </a:prstGeom>
          <a:solidFill>
            <a:srgbClr val="1B2A4A"/>
          </a:solidFill>
          <a:ln/>
        </p:spPr>
      </p:sp>
      <p:sp>
        <p:nvSpPr>
          <p:cNvPr id="10" name="Text 8"/>
          <p:cNvSpPr txBox="1"/>
          <p:nvPr/>
        </p:nvSpPr>
        <p:spPr>
          <a:xfrm>
            <a:off x="411480" y="123444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E(R_p) = Σ wᵢ E(Rᵢ)       σ²_p = Σ wᵢ² σᵢ² + Σ Σᵢ≠ⱼ wᵢ wⱼ Cov(Rᵢ, Rⱼ)</a:t>
            </a:r>
            <a:endParaRPr lang="en-US" sz="1800" dirty="0"/>
          </a:p>
        </p:txBody>
      </p:sp>
      <p:sp>
        <p:nvSpPr>
          <p:cNvPr id="11" name="Text 9"/>
          <p:cNvSpPr txBox="1"/>
          <p:nvPr/>
        </p:nvSpPr>
        <p:spPr>
          <a:xfrm>
            <a:off x="320040" y="19933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Cov(Rᵢ, Rⱼ) = ρᵢⱼ × σᵢ × σⱼ.  Return is linear in weights; risk is NOT — that asymmetry is what makes diversification work.</a:t>
            </a:r>
            <a:endParaRPr lang="en-US" sz="1100" dirty="0"/>
          </a:p>
        </p:txBody>
      </p:sp>
      <p:sp>
        <p:nvSpPr>
          <p:cNvPr id="12" name="Shape 10"/>
          <p:cNvSpPr/>
          <p:nvPr/>
        </p:nvSpPr>
        <p:spPr>
          <a:xfrm>
            <a:off x="320040" y="2286000"/>
            <a:ext cx="4160520" cy="1965960"/>
          </a:xfrm>
          <a:prstGeom prst="rect">
            <a:avLst/>
          </a:prstGeom>
          <a:solidFill>
            <a:srgbClr val="FEF0E7"/>
          </a:solidFill>
          <a:ln/>
        </p:spPr>
      </p:sp>
      <p:sp>
        <p:nvSpPr>
          <p:cNvPr id="13" name="Shape 11"/>
          <p:cNvSpPr/>
          <p:nvPr/>
        </p:nvSpPr>
        <p:spPr>
          <a:xfrm>
            <a:off x="320040" y="2286000"/>
            <a:ext cx="73152" cy="1965960"/>
          </a:xfrm>
          <a:prstGeom prst="rect">
            <a:avLst/>
          </a:prstGeom>
          <a:solidFill>
            <a:srgbClr val="E8600A"/>
          </a:solidFill>
          <a:ln/>
        </p:spPr>
      </p:sp>
      <p:sp>
        <p:nvSpPr>
          <p:cNvPr id="14" name="Text 12"/>
          <p:cNvSpPr txBox="1"/>
          <p:nvPr/>
        </p:nvSpPr>
        <p:spPr>
          <a:xfrm>
            <a:off x="4572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TWO-ASSET SPECIAL CASE</a:t>
            </a:r>
            <a:endParaRPr lang="en-US" sz="1100" dirty="0"/>
          </a:p>
        </p:txBody>
      </p:sp>
      <p:sp>
        <p:nvSpPr>
          <p:cNvPr id="15" name="Text 13"/>
          <p:cNvSpPr txBox="1"/>
          <p:nvPr/>
        </p:nvSpPr>
        <p:spPr>
          <a:xfrm>
            <a:off x="457200" y="260604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σ²_p = w₁²σ₁² + w₂²σ₂² + 2 w₁ w₂ ρ σ₁ σ₂</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This is the workhorse formula you memorize for CFA L1 — every multi-asset result extends from this base.</a:t>
            </a:r>
            <a:endParaRPr lang="en-US" sz="1200" dirty="0"/>
          </a:p>
        </p:txBody>
      </p:sp>
      <p:sp>
        <p:nvSpPr>
          <p:cNvPr id="16" name="Shape 14"/>
          <p:cNvSpPr/>
          <p:nvPr/>
        </p:nvSpPr>
        <p:spPr>
          <a:xfrm>
            <a:off x="4663440" y="2286000"/>
            <a:ext cx="4160520" cy="1965960"/>
          </a:xfrm>
          <a:prstGeom prst="rect">
            <a:avLst/>
          </a:prstGeom>
          <a:solidFill>
            <a:srgbClr val="F5F7FA"/>
          </a:solidFill>
          <a:ln/>
        </p:spPr>
      </p:sp>
      <p:sp>
        <p:nvSpPr>
          <p:cNvPr id="17" name="Shape 15"/>
          <p:cNvSpPr/>
          <p:nvPr/>
        </p:nvSpPr>
        <p:spPr>
          <a:xfrm>
            <a:off x="4663440" y="2286000"/>
            <a:ext cx="73152" cy="1965960"/>
          </a:xfrm>
          <a:prstGeom prst="rect">
            <a:avLst/>
          </a:prstGeom>
          <a:solidFill>
            <a:srgbClr val="1B2A4A"/>
          </a:solidFill>
          <a:ln/>
        </p:spPr>
      </p:sp>
      <p:sp>
        <p:nvSpPr>
          <p:cNvPr id="18" name="Text 16"/>
          <p:cNvSpPr txBox="1"/>
          <p:nvPr/>
        </p:nvSpPr>
        <p:spPr>
          <a:xfrm>
            <a:off x="48006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LARGE-N LIMIT</a:t>
            </a:r>
            <a:endParaRPr lang="en-US" sz="1100" dirty="0"/>
          </a:p>
        </p:txBody>
      </p:sp>
      <p:sp>
        <p:nvSpPr>
          <p:cNvPr id="19" name="Text 17"/>
          <p:cNvSpPr txBox="1"/>
          <p:nvPr/>
        </p:nvSpPr>
        <p:spPr>
          <a:xfrm>
            <a:off x="4800600" y="2606040"/>
            <a:ext cx="3931920" cy="1600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 N → ∞ with equal weights, σ²_p → average pairwise covariance. Individual-asset variance ceases to matter — only the covariance structure does.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CFA LM 1 Example 3 — combining an 80% S&amp;P 500 position with 20% Emerging Markets raises return and lowers risk at the same time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1, Example 3 "Return and Risk of a Two-Asset Portfolio", p. 23.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Adding a *riskier* asset to a portfolio can REDUCE total portfolio risk when its correlation with the existing holdings is low enough — the classic MPT insight.</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4160520" cy="914400"/>
        </p:xfrm>
        <a:graphic>
          <a:graphicData uri="http://schemas.openxmlformats.org/drawingml/2006/table">
            <a:tbl>
              <a:tblPr/>
              <a:tblGrid>
                <a:gridCol w="1691640"/>
                <a:gridCol w="822960"/>
                <a:gridCol w="822960"/>
                <a:gridCol w="8229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Asset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Weight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σ</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S&amp;P 500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9.93%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16.21%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MSCI Emerging Mkts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33.11%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Covariance S&amp;P / EM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Portfolio (80/20)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11.58%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697480"/>
            <a:ext cx="4160520" cy="1600200"/>
          </a:xfrm>
          <a:prstGeom prst="rect">
            <a:avLst/>
          </a:prstGeom>
          <a:solidFill>
            <a:srgbClr val="F5F7FA"/>
          </a:solidFill>
          <a:ln/>
        </p:spPr>
      </p:sp>
      <p:sp>
        <p:nvSpPr>
          <p:cNvPr id="11" name="Shape 8"/>
          <p:cNvSpPr/>
          <p:nvPr/>
        </p:nvSpPr>
        <p:spPr>
          <a:xfrm>
            <a:off x="320040" y="2697480"/>
            <a:ext cx="73152" cy="1600200"/>
          </a:xfrm>
          <a:prstGeom prst="rect">
            <a:avLst/>
          </a:prstGeom>
          <a:solidFill>
            <a:srgbClr val="1B2A4A"/>
          </a:solidFill>
          <a:ln/>
        </p:spPr>
      </p:sp>
      <p:sp>
        <p:nvSpPr>
          <p:cNvPr id="12" name="Text 9"/>
          <p:cNvSpPr txBox="1"/>
          <p:nvPr/>
        </p:nvSpPr>
        <p:spPr>
          <a:xfrm>
            <a:off x="457200" y="274320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WHY IT WORKS</a:t>
            </a:r>
            <a:endParaRPr lang="en-US" sz="1100" dirty="0"/>
          </a:p>
        </p:txBody>
      </p:sp>
      <p:sp>
        <p:nvSpPr>
          <p:cNvPr id="13" name="Text 10"/>
          <p:cNvSpPr txBox="1"/>
          <p:nvPr/>
        </p:nvSpPr>
        <p:spPr>
          <a:xfrm>
            <a:off x="457200" y="3017520"/>
            <a:ext cx="3931920" cy="12344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covariance implies ρ = 0.0050 / (0.1621 × 0.3311) = 0.093.</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At near-zero correlation the cross term contributes only 0.00160 of the 0.02281 variance — so adding a 33% volatility asset still pulls total risk DOWN.</a:t>
            </a:r>
            <a:endParaRPr lang="en-US" sz="1200" dirty="0"/>
          </a:p>
        </p:txBody>
      </p:sp>
      <p:sp>
        <p:nvSpPr>
          <p:cNvPr id="14" name="Shape 11"/>
          <p:cNvSpPr/>
          <p:nvPr/>
        </p:nvSpPr>
        <p:spPr>
          <a:xfrm>
            <a:off x="4572000" y="1188720"/>
            <a:ext cx="4251960" cy="3108960"/>
          </a:xfrm>
          <a:prstGeom prst="rect">
            <a:avLst/>
          </a:prstGeom>
          <a:solidFill>
            <a:srgbClr val="FEF0E7"/>
          </a:solidFill>
          <a:ln w="9525">
            <a:solidFill>
              <a:srgbClr val="E8600A"/>
            </a:solidFill>
            <a:prstDash val="solid"/>
          </a:ln>
        </p:spPr>
      </p:sp>
      <p:sp>
        <p:nvSpPr>
          <p:cNvPr id="15" name="Text 12"/>
          <p:cNvSpPr txBox="1"/>
          <p:nvPr/>
        </p:nvSpPr>
        <p:spPr>
          <a:xfrm>
            <a:off x="4709160" y="1234440"/>
            <a:ext cx="397764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SOLUTION</a:t>
            </a:r>
            <a:endParaRPr lang="en-US" sz="1100" dirty="0"/>
          </a:p>
        </p:txBody>
      </p:sp>
      <p:sp>
        <p:nvSpPr>
          <p:cNvPr id="16" name="Text 13"/>
          <p:cNvSpPr txBox="1"/>
          <p:nvPr/>
        </p:nvSpPr>
        <p:spPr>
          <a:xfrm>
            <a:off x="4709160" y="1527048"/>
            <a:ext cx="397764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Compute portfolio return (weighted avg) and variance using the two-asset formula.</a:t>
            </a:r>
            <a:endParaRPr lang="en-US" sz="1200" dirty="0"/>
          </a:p>
        </p:txBody>
      </p:sp>
      <p:sp>
        <p:nvSpPr>
          <p:cNvPr id="17" name="Text 14"/>
          <p:cNvSpPr txBox="1"/>
          <p:nvPr/>
        </p:nvSpPr>
        <p:spPr>
          <a:xfrm>
            <a:off x="4709160" y="2039112"/>
            <a:ext cx="3977640" cy="17465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E(R_p) = 0.80 × 9.93% + 0.20 × 18.20% = 11.58%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σ²_p = (0.80² × 0.1621²) + (0.20² × 0.3311²) + (2 × 0.80 × 0.20 × 0.0050)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 0.01682 + 0.00439 + 0.00160 = 0.02281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σ_p = √0.02281 = 15.10%</a:t>
            </a:r>
            <a:endParaRPr lang="en-US" sz="1200" dirty="0"/>
          </a:p>
        </p:txBody>
      </p:sp>
      <p:sp>
        <p:nvSpPr>
          <p:cNvPr id="18" name="Shape 15"/>
          <p:cNvSpPr/>
          <p:nvPr/>
        </p:nvSpPr>
        <p:spPr>
          <a:xfrm>
            <a:off x="4663440" y="3858768"/>
            <a:ext cx="4069080" cy="365760"/>
          </a:xfrm>
          <a:prstGeom prst="rect">
            <a:avLst/>
          </a:prstGeom>
          <a:solidFill>
            <a:srgbClr val="E8600A"/>
          </a:solidFill>
          <a:ln/>
        </p:spPr>
      </p:sp>
      <p:sp>
        <p:nvSpPr>
          <p:cNvPr id="19" name="Text 16"/>
          <p:cNvSpPr txBox="1"/>
          <p:nvPr/>
        </p:nvSpPr>
        <p:spPr>
          <a:xfrm>
            <a:off x="4709160" y="3858768"/>
            <a:ext cx="397764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E(R)=11.58% and σ=15.10% — higher return AND lower risk than S&amp;P alone.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Correlation ρ is the lever: ρ = +1 erases diversification, ρ = −1 builds a risk-free portfolio, and every ρ below +1 delivers something in between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1, "Covariance and Correlation" and Example 4 "Effect of Correlation on Portfolio Risk", pp. 24–26.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CFA LM 1 Example 4: two stocks with identical 10% return and 20% risk, combined 50/50. Only correlation changes — expected return stays 10% in every row.</a:t>
            </a:r>
            <a:endParaRPr lang="en-US" sz="1300" dirty="0"/>
          </a:p>
        </p:txBody>
      </p:sp>
      <p:sp>
        <p:nvSpPr>
          <p:cNvPr id="9" name="Shape 7"/>
          <p:cNvSpPr/>
          <p:nvPr/>
        </p:nvSpPr>
        <p:spPr>
          <a:xfrm>
            <a:off x="320040" y="1234440"/>
            <a:ext cx="8503920" cy="566928"/>
          </a:xfrm>
          <a:prstGeom prst="rect">
            <a:avLst/>
          </a:prstGeom>
          <a:solidFill>
            <a:srgbClr val="1B2A4A"/>
          </a:solidFill>
          <a:ln/>
        </p:spPr>
      </p:sp>
      <p:sp>
        <p:nvSpPr>
          <p:cNvPr id="10" name="Text 8"/>
          <p:cNvSpPr txBox="1"/>
          <p:nvPr/>
        </p:nvSpPr>
        <p:spPr>
          <a:xfrm>
            <a:off x="411480" y="123444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σ²_p  =  w₁²σ₁²  +  w₂²σ₂²  +  2 w₁ w₂ ρ σ₁ σ₂</a:t>
            </a:r>
            <a:endParaRPr lang="en-US" sz="1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965960"/>
          <a:ext cx="8503920" cy="914400"/>
        </p:xfrm>
        <a:graphic>
          <a:graphicData uri="http://schemas.openxmlformats.org/drawingml/2006/table">
            <a:tbl>
              <a:tblPr/>
              <a:tblGrid>
                <a:gridCol w="1920240"/>
                <a:gridCol w="3017520"/>
                <a:gridCol w="1645920"/>
                <a:gridCol w="19202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Correlation ρ</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Portfolio variance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Portfolio σ_p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Diversification benefit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0.04 (= weighted avg)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None — σ equals weighted avg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2.68 pp risk reduction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5.86 pp — no co-movement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Half the risk erased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Perfect hedge — risk-free portfolio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2" name="Shape 9"/>
          <p:cNvSpPr/>
          <p:nvPr/>
        </p:nvSpPr>
        <p:spPr>
          <a:xfrm>
            <a:off x="320040" y="3977640"/>
            <a:ext cx="8503920" cy="594360"/>
          </a:xfrm>
          <a:prstGeom prst="rect">
            <a:avLst/>
          </a:prstGeom>
          <a:solidFill>
            <a:srgbClr val="FEF0E7"/>
          </a:solidFill>
          <a:ln/>
        </p:spPr>
      </p:sp>
      <p:sp>
        <p:nvSpPr>
          <p:cNvPr id="13" name="Shape 10"/>
          <p:cNvSpPr/>
          <p:nvPr/>
        </p:nvSpPr>
        <p:spPr>
          <a:xfrm>
            <a:off x="320040" y="3977640"/>
            <a:ext cx="73152" cy="594360"/>
          </a:xfrm>
          <a:prstGeom prst="rect">
            <a:avLst/>
          </a:prstGeom>
          <a:solidFill>
            <a:srgbClr val="E8600A"/>
          </a:solidFill>
          <a:ln/>
        </p:spPr>
      </p:sp>
      <p:sp>
        <p:nvSpPr>
          <p:cNvPr id="14" name="Text 11"/>
          <p:cNvSpPr txBox="1"/>
          <p:nvPr/>
        </p:nvSpPr>
        <p:spPr>
          <a:xfrm>
            <a:off x="457200" y="40233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KEY RULE</a:t>
            </a:r>
            <a:endParaRPr lang="en-US" sz="1100" dirty="0"/>
          </a:p>
        </p:txBody>
      </p:sp>
      <p:sp>
        <p:nvSpPr>
          <p:cNvPr id="15" name="Text 12"/>
          <p:cNvSpPr txBox="1"/>
          <p:nvPr/>
        </p:nvSpPr>
        <p:spPr>
          <a:xfrm>
            <a:off x="457200" y="4297680"/>
            <a:ext cx="8275320" cy="2286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For any ρ &lt; +1, portfolio standard deviation is LESS than the weighted average of individual standard deviations. Equality only at ρ = +1.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efficient frontier is the upper boundary of all portfolios with minimum variance at each expected return — every portfolio below it is dominated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1, §10 "Investment Opportunity Set &amp; Minimum-Variance Portfolios", pp. 37–40.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Markowitz (1952): rational investors hold only portfolios on the efficient frontier. Everything inside the opportunity set, and the whole lower branch, is dominated.</a:t>
            </a:r>
            <a:endParaRPr lang="en-US" sz="1300" dirty="0"/>
          </a:p>
        </p:txBody>
      </p:sp>
      <p:sp>
        <p:nvSpPr>
          <p:cNvPr id="9" name="Shape 7"/>
          <p:cNvSpPr/>
          <p:nvPr/>
        </p:nvSpPr>
        <p:spPr>
          <a:xfrm>
            <a:off x="320040" y="1188720"/>
            <a:ext cx="4160520" cy="2788920"/>
          </a:xfrm>
          <a:prstGeom prst="rect">
            <a:avLst/>
          </a:prstGeom>
          <a:solidFill>
            <a:srgbClr val="FEF0E7"/>
          </a:solidFill>
          <a:ln/>
        </p:spPr>
      </p:sp>
      <p:sp>
        <p:nvSpPr>
          <p:cNvPr id="10" name="Shape 8"/>
          <p:cNvSpPr/>
          <p:nvPr/>
        </p:nvSpPr>
        <p:spPr>
          <a:xfrm>
            <a:off x="320040" y="1188720"/>
            <a:ext cx="73152" cy="278892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THREE KEY PORTFOLIOS</a:t>
            </a:r>
            <a:endParaRPr lang="en-US" sz="1100" dirty="0"/>
          </a:p>
        </p:txBody>
      </p:sp>
      <p:sp>
        <p:nvSpPr>
          <p:cNvPr id="12" name="Text 10"/>
          <p:cNvSpPr txBox="1"/>
          <p:nvPr/>
        </p:nvSpPr>
        <p:spPr>
          <a:xfrm>
            <a:off x="4572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Global Minimum-Variance Portfolio (GMVP): the single portfolio on the frontier with lowest possible risk.</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Minimum-Variance Frontier: lowest σ for each level of E(R).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Efficient Frontier: the UPPER half of the minimum-variance frontier — from GMVP upward to the highest-return asset.</a:t>
            </a:r>
            <a:endParaRPr lang="en-US" sz="1200" dirty="0"/>
          </a:p>
        </p:txBody>
      </p:sp>
      <p:sp>
        <p:nvSpPr>
          <p:cNvPr id="13" name="Shape 11"/>
          <p:cNvSpPr/>
          <p:nvPr/>
        </p:nvSpPr>
        <p:spPr>
          <a:xfrm>
            <a:off x="4663440" y="1188720"/>
            <a:ext cx="4160520" cy="2788920"/>
          </a:xfrm>
          <a:prstGeom prst="rect">
            <a:avLst/>
          </a:prstGeom>
          <a:solidFill>
            <a:srgbClr val="F5F7FA"/>
          </a:solidFill>
          <a:ln/>
        </p:spPr>
      </p:sp>
      <p:sp>
        <p:nvSpPr>
          <p:cNvPr id="14" name="Shape 12"/>
          <p:cNvSpPr/>
          <p:nvPr/>
        </p:nvSpPr>
        <p:spPr>
          <a:xfrm>
            <a:off x="4663440" y="1188720"/>
            <a:ext cx="73152" cy="278892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WHY THE LOWER HALF IS DOMINATED</a:t>
            </a:r>
            <a:endParaRPr lang="en-US" sz="1100" dirty="0"/>
          </a:p>
        </p:txBody>
      </p:sp>
      <p:sp>
        <p:nvSpPr>
          <p:cNvPr id="16" name="Text 14"/>
          <p:cNvSpPr txBox="1"/>
          <p:nvPr/>
        </p:nvSpPr>
        <p:spPr>
          <a:xfrm>
            <a:off x="48006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Any portfolio on the lower branch has a mirror-image above it with the same σ but higher E(R).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No rational investor would ever choose the lower one — hence "dominated."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With risky assets only, the investor's optimum is where their highest indifference curve is TANGENT to this frontier. Add a risk-free asset and that tangency moves to the CAL.</a:t>
            </a:r>
            <a:endParaRPr lang="en-US" sz="1200" dirty="0"/>
          </a:p>
        </p:txBody>
      </p:sp>
      <p:sp>
        <p:nvSpPr>
          <p:cNvPr id="17" name="Shape 15"/>
          <p:cNvSpPr/>
          <p:nvPr/>
        </p:nvSpPr>
        <p:spPr>
          <a:xfrm>
            <a:off x="320040" y="4069080"/>
            <a:ext cx="8503920" cy="502920"/>
          </a:xfrm>
          <a:prstGeom prst="rect">
            <a:avLst/>
          </a:prstGeom>
          <a:solidFill>
            <a:srgbClr val="FEF0E7"/>
          </a:solidFill>
          <a:ln/>
        </p:spPr>
      </p:sp>
      <p:sp>
        <p:nvSpPr>
          <p:cNvPr id="18" name="Shape 16"/>
          <p:cNvSpPr/>
          <p:nvPr/>
        </p:nvSpPr>
        <p:spPr>
          <a:xfrm>
            <a:off x="320040" y="4069080"/>
            <a:ext cx="73152" cy="502920"/>
          </a:xfrm>
          <a:prstGeom prst="rect">
            <a:avLst/>
          </a:prstGeom>
          <a:solidFill>
            <a:srgbClr val="E8600A"/>
          </a:solidFill>
          <a:ln/>
        </p:spPr>
      </p:sp>
      <p:sp>
        <p:nvSpPr>
          <p:cNvPr id="19" name="Text 17"/>
          <p:cNvSpPr txBox="1"/>
          <p:nvPr/>
        </p:nvSpPr>
        <p:spPr>
          <a:xfrm>
            <a:off x="457200" y="4114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ECONOMIC MEANING</a:t>
            </a:r>
            <a:endParaRPr lang="en-US" sz="1100" dirty="0"/>
          </a:p>
        </p:txBody>
      </p:sp>
      <p:sp>
        <p:nvSpPr>
          <p:cNvPr id="20" name="Text 18"/>
          <p:cNvSpPr txBox="1"/>
          <p:nvPr/>
        </p:nvSpPr>
        <p:spPr>
          <a:xfrm>
            <a:off x="457200" y="4389120"/>
            <a:ext cx="8275320" cy="137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Concave: doubling risk does NOT double return. Each extra unit of σ buys less E(R) than the one before it.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CAL, CML,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CAPM &amp; SML</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6  ·  Deck 20 of 20  ·  Studio Tonton Gug</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Adding a risk-free asset produces the Capital Allocation Line — a straight line whose slope is the Sharpe ratio of the risky portfolio</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§2 "Portfolio of Risk-Free and Risky Assets", pp. 64–68.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CAL dominates the efficient frontier of risky assets alone: for every point on the frontier there is a point on the CAL with the same σ and a higher return.</a:t>
            </a:r>
            <a:endParaRPr lang="en-US" sz="1300" dirty="0"/>
          </a:p>
        </p:txBody>
      </p:sp>
      <p:sp>
        <p:nvSpPr>
          <p:cNvPr id="9" name="Shape 7"/>
          <p:cNvSpPr/>
          <p:nvPr/>
        </p:nvSpPr>
        <p:spPr>
          <a:xfrm>
            <a:off x="320040" y="1234440"/>
            <a:ext cx="8503920" cy="731520"/>
          </a:xfrm>
          <a:prstGeom prst="rect">
            <a:avLst/>
          </a:prstGeom>
          <a:solidFill>
            <a:srgbClr val="1B2A4A"/>
          </a:solidFill>
          <a:ln/>
        </p:spPr>
      </p:sp>
      <p:sp>
        <p:nvSpPr>
          <p:cNvPr id="10" name="Text 8"/>
          <p:cNvSpPr txBox="1"/>
          <p:nvPr/>
        </p:nvSpPr>
        <p:spPr>
          <a:xfrm>
            <a:off x="411480" y="123444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E(R_p)  =  R_f  +  [ (E(R_i) − R_f) / σ_i ]  ×  σ_p</a:t>
            </a:r>
            <a:endParaRPr lang="en-US" sz="1800" dirty="0"/>
          </a:p>
        </p:txBody>
      </p:sp>
      <p:sp>
        <p:nvSpPr>
          <p:cNvPr id="11" name="Text 9"/>
          <p:cNvSpPr txBox="1"/>
          <p:nvPr/>
        </p:nvSpPr>
        <p:spPr>
          <a:xfrm>
            <a:off x="320040" y="19933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Intercept = R_f; slope = (E(R_i) − R_f) / σ_i = Sharpe ratio = "market price of risk". Every portfolio on one CAL shares that slope.</a:t>
            </a:r>
            <a:endParaRPr lang="en-US" sz="1100" dirty="0"/>
          </a:p>
        </p:txBody>
      </p:sp>
      <p:sp>
        <p:nvSpPr>
          <p:cNvPr id="12" name="Shape 10"/>
          <p:cNvSpPr/>
          <p:nvPr/>
        </p:nvSpPr>
        <p:spPr>
          <a:xfrm>
            <a:off x="320040" y="2377440"/>
            <a:ext cx="2743200" cy="1645920"/>
          </a:xfrm>
          <a:prstGeom prst="rect">
            <a:avLst/>
          </a:prstGeom>
          <a:solidFill>
            <a:srgbClr val="F5F7FA"/>
          </a:solidFill>
          <a:ln/>
        </p:spPr>
      </p:sp>
      <p:sp>
        <p:nvSpPr>
          <p:cNvPr id="13" name="Shape 11"/>
          <p:cNvSpPr/>
          <p:nvPr/>
        </p:nvSpPr>
        <p:spPr>
          <a:xfrm>
            <a:off x="320040" y="2377440"/>
            <a:ext cx="73152" cy="1645920"/>
          </a:xfrm>
          <a:prstGeom prst="rect">
            <a:avLst/>
          </a:prstGeom>
          <a:solidFill>
            <a:srgbClr val="1B2A4A"/>
          </a:solidFill>
          <a:ln/>
        </p:spPr>
      </p:sp>
      <p:sp>
        <p:nvSpPr>
          <p:cNvPr id="14" name="Text 12"/>
          <p:cNvSpPr txBox="1"/>
          <p:nvPr/>
        </p:nvSpPr>
        <p:spPr>
          <a:xfrm>
            <a:off x="45720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AT R_f · LENDING</a:t>
            </a:r>
            <a:endParaRPr lang="en-US" sz="1100" dirty="0"/>
          </a:p>
        </p:txBody>
      </p:sp>
      <p:sp>
        <p:nvSpPr>
          <p:cNvPr id="15" name="Text 13"/>
          <p:cNvSpPr txBox="1"/>
          <p:nvPr/>
        </p:nvSpPr>
        <p:spPr>
          <a:xfrm>
            <a:off x="457200" y="2697480"/>
            <a:ext cx="2514600" cy="1280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100% in the risk-free asset. σ = 0, return = R_f. Leftmost point on the CAL.</a:t>
            </a:r>
            <a:endParaRPr lang="en-US" sz="1200" dirty="0"/>
          </a:p>
        </p:txBody>
      </p:sp>
      <p:sp>
        <p:nvSpPr>
          <p:cNvPr id="16" name="Shape 14"/>
          <p:cNvSpPr/>
          <p:nvPr/>
        </p:nvSpPr>
        <p:spPr>
          <a:xfrm>
            <a:off x="3200400" y="2377440"/>
            <a:ext cx="2743200" cy="1645920"/>
          </a:xfrm>
          <a:prstGeom prst="rect">
            <a:avLst/>
          </a:prstGeom>
          <a:solidFill>
            <a:srgbClr val="FEF0E7"/>
          </a:solidFill>
          <a:ln/>
        </p:spPr>
      </p:sp>
      <p:sp>
        <p:nvSpPr>
          <p:cNvPr id="17" name="Shape 15"/>
          <p:cNvSpPr/>
          <p:nvPr/>
        </p:nvSpPr>
        <p:spPr>
          <a:xfrm>
            <a:off x="3200400" y="2377440"/>
            <a:ext cx="73152" cy="1645920"/>
          </a:xfrm>
          <a:prstGeom prst="rect">
            <a:avLst/>
          </a:prstGeom>
          <a:solidFill>
            <a:srgbClr val="E8600A"/>
          </a:solidFill>
          <a:ln/>
        </p:spPr>
      </p:sp>
      <p:sp>
        <p:nvSpPr>
          <p:cNvPr id="18" name="Text 16"/>
          <p:cNvSpPr txBox="1"/>
          <p:nvPr/>
        </p:nvSpPr>
        <p:spPr>
          <a:xfrm>
            <a:off x="333756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AT P · TANGENCY</a:t>
            </a:r>
            <a:endParaRPr lang="en-US" sz="1100" dirty="0"/>
          </a:p>
        </p:txBody>
      </p:sp>
      <p:sp>
        <p:nvSpPr>
          <p:cNvPr id="19" name="Text 17"/>
          <p:cNvSpPr txBox="1"/>
          <p:nvPr/>
        </p:nvSpPr>
        <p:spPr>
          <a:xfrm>
            <a:off x="3337560" y="2697480"/>
            <a:ext cx="2514600" cy="1280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100% in the risky portfolio. Point of tangency with the efficient frontier — the steepest CAL available, chosen WITHOUT reference to investor preferences.</a:t>
            </a:r>
            <a:endParaRPr lang="en-US" sz="1200" dirty="0"/>
          </a:p>
        </p:txBody>
      </p:sp>
      <p:sp>
        <p:nvSpPr>
          <p:cNvPr id="20" name="Shape 18"/>
          <p:cNvSpPr/>
          <p:nvPr/>
        </p:nvSpPr>
        <p:spPr>
          <a:xfrm>
            <a:off x="6080760" y="2377440"/>
            <a:ext cx="2743200" cy="1645920"/>
          </a:xfrm>
          <a:prstGeom prst="rect">
            <a:avLst/>
          </a:prstGeom>
          <a:solidFill>
            <a:srgbClr val="F5F7FA"/>
          </a:solidFill>
          <a:ln/>
        </p:spPr>
      </p:sp>
      <p:sp>
        <p:nvSpPr>
          <p:cNvPr id="21" name="Shape 19"/>
          <p:cNvSpPr/>
          <p:nvPr/>
        </p:nvSpPr>
        <p:spPr>
          <a:xfrm>
            <a:off x="6080760" y="2377440"/>
            <a:ext cx="73152" cy="1645920"/>
          </a:xfrm>
          <a:prstGeom prst="rect">
            <a:avLst/>
          </a:prstGeom>
          <a:solidFill>
            <a:srgbClr val="1B2A4A"/>
          </a:solidFill>
          <a:ln/>
        </p:spPr>
      </p:sp>
      <p:sp>
        <p:nvSpPr>
          <p:cNvPr id="22" name="Text 20"/>
          <p:cNvSpPr txBox="1"/>
          <p:nvPr/>
        </p:nvSpPr>
        <p:spPr>
          <a:xfrm>
            <a:off x="6217920" y="2423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BEYOND P · BORROWING</a:t>
            </a:r>
            <a:endParaRPr lang="en-US" sz="1100" dirty="0"/>
          </a:p>
        </p:txBody>
      </p:sp>
      <p:sp>
        <p:nvSpPr>
          <p:cNvPr id="23" name="Text 21"/>
          <p:cNvSpPr txBox="1"/>
          <p:nvPr/>
        </p:nvSpPr>
        <p:spPr>
          <a:xfrm>
            <a:off x="6217920" y="2697480"/>
            <a:ext cx="2514600" cy="1280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Borrow at R_f and invest &gt;100% in P. Weight on the risk-free asset goes negative; return and σ both rise linearly.</a:t>
            </a:r>
            <a:endParaRPr lang="en-US" sz="1200" dirty="0"/>
          </a:p>
        </p:txBody>
      </p:sp>
      <p:sp>
        <p:nvSpPr>
          <p:cNvPr id="24" name="Shape 22"/>
          <p:cNvSpPr/>
          <p:nvPr/>
        </p:nvSpPr>
        <p:spPr>
          <a:xfrm>
            <a:off x="320040" y="4096512"/>
            <a:ext cx="8503920" cy="502920"/>
          </a:xfrm>
          <a:prstGeom prst="rect">
            <a:avLst/>
          </a:prstGeom>
          <a:solidFill>
            <a:srgbClr val="FEF0E7"/>
          </a:solidFill>
          <a:ln/>
        </p:spPr>
      </p:sp>
      <p:sp>
        <p:nvSpPr>
          <p:cNvPr id="25" name="Shape 23"/>
          <p:cNvSpPr/>
          <p:nvPr/>
        </p:nvSpPr>
        <p:spPr>
          <a:xfrm>
            <a:off x="320040" y="4096512"/>
            <a:ext cx="73152" cy="502920"/>
          </a:xfrm>
          <a:prstGeom prst="rect">
            <a:avLst/>
          </a:prstGeom>
          <a:solidFill>
            <a:srgbClr val="E8600A"/>
          </a:solidFill>
          <a:ln/>
        </p:spPr>
      </p:sp>
      <p:sp>
        <p:nvSpPr>
          <p:cNvPr id="26" name="Text 24"/>
          <p:cNvSpPr txBox="1"/>
          <p:nvPr/>
        </p:nvSpPr>
        <p:spPr>
          <a:xfrm>
            <a:off x="457200" y="414223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WHERE THE INVESTOR ACTUALLY LANDS</a:t>
            </a:r>
            <a:endParaRPr lang="en-US" sz="1100" dirty="0"/>
          </a:p>
        </p:txBody>
      </p:sp>
      <p:sp>
        <p:nvSpPr>
          <p:cNvPr id="27" name="Text 25"/>
          <p:cNvSpPr txBox="1"/>
          <p:nvPr/>
        </p:nvSpPr>
        <p:spPr>
          <a:xfrm>
            <a:off x="457200" y="4416552"/>
            <a:ext cx="8275320" cy="137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Overlay the indifference curves: the optimal investor portfolio is where the highest attainable curve is TANGENT to the CAL.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When every investor holds the same optimal risky portfolio — the market portfolio — the CAL becomes the Capital Market Line, and two-fund separation obtains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Axes matter: the CML plots total risk σ and holds only for efficient portfolios. The SML plots β and holds for any asset, efficient or not.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§3 "The Capital Market Line", pp. 68–73; two-fund separation LM 1, p. 41.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Under homogeneous expectations every investor picks the same risky portfolio = the value-weighted market portfolio M. Differences in risk tolerance only change the R_f/M mix.</a:t>
            </a:r>
            <a:endParaRPr lang="en-US" sz="1300" dirty="0"/>
          </a:p>
        </p:txBody>
      </p:sp>
      <p:sp>
        <p:nvSpPr>
          <p:cNvPr id="10" name="Shape 8"/>
          <p:cNvSpPr/>
          <p:nvPr/>
        </p:nvSpPr>
        <p:spPr>
          <a:xfrm>
            <a:off x="320040" y="1188720"/>
            <a:ext cx="8503920" cy="731520"/>
          </a:xfrm>
          <a:prstGeom prst="rect">
            <a:avLst/>
          </a:prstGeom>
          <a:solidFill>
            <a:srgbClr val="1B2A4A"/>
          </a:solidFill>
          <a:ln/>
        </p:spPr>
      </p:sp>
      <p:sp>
        <p:nvSpPr>
          <p:cNvPr id="11" name="Text 9"/>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E(R_p)  =  R_f  +  [ (E(R_m) − R_f) / σ_m ]  ×  σ_p</a:t>
            </a:r>
            <a:endParaRPr lang="en-US" sz="1800" dirty="0"/>
          </a:p>
        </p:txBody>
      </p:sp>
      <p:sp>
        <p:nvSpPr>
          <p:cNvPr id="12" name="Text 10"/>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Slope = Sharpe ratio of the market = equity risk premium ÷ market σ. This is the CAL of the market portfolio — the CML.</a:t>
            </a:r>
            <a:endParaRPr lang="en-US" sz="1100" dirty="0"/>
          </a:p>
        </p:txBody>
      </p:sp>
      <p:sp>
        <p:nvSpPr>
          <p:cNvPr id="13" name="Shape 11"/>
          <p:cNvSpPr/>
          <p:nvPr/>
        </p:nvSpPr>
        <p:spPr>
          <a:xfrm>
            <a:off x="320040" y="2331720"/>
            <a:ext cx="4160520" cy="1920240"/>
          </a:xfrm>
          <a:prstGeom prst="rect">
            <a:avLst/>
          </a:prstGeom>
          <a:solidFill>
            <a:srgbClr val="FEF0E7"/>
          </a:solidFill>
          <a:ln/>
        </p:spPr>
      </p:sp>
      <p:sp>
        <p:nvSpPr>
          <p:cNvPr id="14" name="Shape 12"/>
          <p:cNvSpPr/>
          <p:nvPr/>
        </p:nvSpPr>
        <p:spPr>
          <a:xfrm>
            <a:off x="320040" y="2331720"/>
            <a:ext cx="73152" cy="1920240"/>
          </a:xfrm>
          <a:prstGeom prst="rect">
            <a:avLst/>
          </a:prstGeom>
          <a:solidFill>
            <a:srgbClr val="E8600A"/>
          </a:solidFill>
          <a:ln/>
        </p:spPr>
      </p:sp>
      <p:sp>
        <p:nvSpPr>
          <p:cNvPr id="15" name="Text 13"/>
          <p:cNvSpPr txBox="1"/>
          <p:nvPr/>
        </p:nvSpPr>
        <p:spPr>
          <a:xfrm>
            <a:off x="4572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TWO-FUND SEPARATION THEOREM</a:t>
            </a:r>
            <a:endParaRPr lang="en-US" sz="1100" dirty="0"/>
          </a:p>
        </p:txBody>
      </p:sp>
      <p:sp>
        <p:nvSpPr>
          <p:cNvPr id="16" name="Text 14"/>
          <p:cNvSpPr txBox="1"/>
          <p:nvPr/>
        </p:nvSpPr>
        <p:spPr>
          <a:xfrm>
            <a:off x="4572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Every rational investor holds only two funds: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(1) the risk-free asset, and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(2) the market portfolio 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Risk tolerance dictates the split; asset selection is the SAME for everyone — the core insight behind index investing.</a:t>
            </a:r>
            <a:endParaRPr lang="en-US" sz="1200" dirty="0"/>
          </a:p>
        </p:txBody>
      </p:sp>
      <p:sp>
        <p:nvSpPr>
          <p:cNvPr id="17" name="Shape 15"/>
          <p:cNvSpPr/>
          <p:nvPr/>
        </p:nvSpPr>
        <p:spPr>
          <a:xfrm>
            <a:off x="4663440" y="2331720"/>
            <a:ext cx="4160520" cy="1920240"/>
          </a:xfrm>
          <a:prstGeom prst="rect">
            <a:avLst/>
          </a:prstGeom>
          <a:solidFill>
            <a:srgbClr val="F5F7FA"/>
          </a:solidFill>
          <a:ln/>
        </p:spPr>
      </p:sp>
      <p:sp>
        <p:nvSpPr>
          <p:cNvPr id="18" name="Shape 16"/>
          <p:cNvSpPr/>
          <p:nvPr/>
        </p:nvSpPr>
        <p:spPr>
          <a:xfrm>
            <a:off x="4663440" y="2331720"/>
            <a:ext cx="73152" cy="1920240"/>
          </a:xfrm>
          <a:prstGeom prst="rect">
            <a:avLst/>
          </a:prstGeom>
          <a:solidFill>
            <a:srgbClr val="1B2A4A"/>
          </a:solidFill>
          <a:ln/>
        </p:spPr>
      </p:sp>
      <p:sp>
        <p:nvSpPr>
          <p:cNvPr id="19" name="Text 17"/>
          <p:cNvSpPr txBox="1"/>
          <p:nvPr/>
        </p:nvSpPr>
        <p:spPr>
          <a:xfrm>
            <a:off x="4800600" y="2377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PASSIVE VS ACTIVE</a:t>
            </a:r>
            <a:endParaRPr lang="en-US" sz="1100" dirty="0"/>
          </a:p>
        </p:txBody>
      </p:sp>
      <p:sp>
        <p:nvSpPr>
          <p:cNvPr id="20" name="Text 18"/>
          <p:cNvSpPr txBox="1"/>
          <p:nvPr/>
        </p:nvSpPr>
        <p:spPr>
          <a:xfrm>
            <a:off x="4800600" y="2651760"/>
            <a:ext cx="3931920" cy="1554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If prices are informationally unbiased, replicating the index is optimal — that is the CML argument for passive investing.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Active managers must either beat the CML on skill or accept sitting below it after costs. The curriculum notes most analysts still believe active adds value; the debate is open.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Total risk = systematic + nonsystematic; only systematic risk is priced because diversification eliminates the rest for free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§5 "Systematic and Nonsystematic Risk" and "Pricing of Risk", pp. 77–79.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Note the equality is between VARIANCES, not standard deviations — the curriculum is explicit about that even though everyone says "total risk = systematic + nonsystematic".</a:t>
            </a:r>
            <a:endParaRPr lang="en-US" sz="1300" dirty="0"/>
          </a:p>
        </p:txBody>
      </p:sp>
      <p:sp>
        <p:nvSpPr>
          <p:cNvPr id="9" name="Shape 7"/>
          <p:cNvSpPr/>
          <p:nvPr/>
        </p:nvSpPr>
        <p:spPr>
          <a:xfrm>
            <a:off x="320040" y="1234440"/>
            <a:ext cx="8503920" cy="566928"/>
          </a:xfrm>
          <a:prstGeom prst="rect">
            <a:avLst/>
          </a:prstGeom>
          <a:solidFill>
            <a:srgbClr val="1B2A4A"/>
          </a:solidFill>
          <a:ln/>
        </p:spPr>
      </p:sp>
      <p:sp>
        <p:nvSpPr>
          <p:cNvPr id="10" name="Text 8"/>
          <p:cNvSpPr txBox="1"/>
          <p:nvPr/>
        </p:nvSpPr>
        <p:spPr>
          <a:xfrm>
            <a:off x="411480" y="123444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σ²_i  =  β²_i σ²_m  +  σ²_e        (systematic  +  nonsystematic)</a:t>
            </a:r>
            <a:endParaRPr lang="en-US" sz="1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1965960"/>
          <a:ext cx="8503920" cy="914400"/>
        </p:xfrm>
        <a:graphic>
          <a:graphicData uri="http://schemas.openxmlformats.org/drawingml/2006/table">
            <a:tbl>
              <a:tblPr/>
              <a:tblGrid>
                <a:gridCol w="2011680"/>
                <a:gridCol w="2468880"/>
                <a:gridCol w="2788920"/>
                <a:gridCol w="12344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Risk 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synonyms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Examples given in the text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Diversifiable?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Systematic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market / non-diversifiable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Rates, inflation, cycles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Nonsystematic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company/industry-specific</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failed drug trial; a crash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2" name="Shape 9"/>
          <p:cNvSpPr/>
          <p:nvPr/>
        </p:nvSpPr>
        <p:spPr>
          <a:xfrm>
            <a:off x="320040" y="3337560"/>
            <a:ext cx="8503920" cy="960120"/>
          </a:xfrm>
          <a:prstGeom prst="rect">
            <a:avLst/>
          </a:prstGeom>
          <a:solidFill>
            <a:srgbClr val="FEF0E7"/>
          </a:solidFill>
          <a:ln/>
        </p:spPr>
      </p:sp>
      <p:sp>
        <p:nvSpPr>
          <p:cNvPr id="13" name="Shape 10"/>
          <p:cNvSpPr/>
          <p:nvPr/>
        </p:nvSpPr>
        <p:spPr>
          <a:xfrm>
            <a:off x="320040" y="3337560"/>
            <a:ext cx="73152" cy="960120"/>
          </a:xfrm>
          <a:prstGeom prst="rect">
            <a:avLst/>
          </a:prstGeom>
          <a:solidFill>
            <a:srgbClr val="E8600A"/>
          </a:solidFill>
          <a:ln/>
        </p:spPr>
      </p:sp>
      <p:sp>
        <p:nvSpPr>
          <p:cNvPr id="14" name="Text 11"/>
          <p:cNvSpPr txBox="1"/>
          <p:nvPr/>
        </p:nvSpPr>
        <p:spPr>
          <a:xfrm>
            <a:off x="457200" y="33832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ONLY SYSTEMATIC RISK IS COMPENSATED</a:t>
            </a:r>
            <a:endParaRPr lang="en-US" sz="1100" dirty="0"/>
          </a:p>
        </p:txBody>
      </p:sp>
      <p:sp>
        <p:nvSpPr>
          <p:cNvPr id="15" name="Text 12"/>
          <p:cNvSpPr txBox="1"/>
          <p:nvPr/>
        </p:nvSpPr>
        <p:spPr>
          <a:xfrm>
            <a:off x="457200" y="365760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Suppose idiosyncratic risk paid a premium. Everyone would load up on it, diversify it away for free, and keep the premium. Demand would bid the price up until that premium reached zero. So in equilibrium it IS zero — and only non-diversifiable risk carries an expected-return premium.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Beta measures how much an asset moves with the market — the only risk the market compensates you for</a:t>
            </a:r>
            <a:endParaRPr lang="en-US" sz="18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§7 "Calculation and Interpretation of Beta" and "Estimation of Beta", pp. 82–85.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curriculum's own warning: 12-month betas track today's risk but are noisy; 3–5-year betas are more accurate but may describe a company that no longer exists.</a:t>
            </a:r>
            <a:endParaRPr lang="en-US" sz="1300" dirty="0"/>
          </a:p>
        </p:txBody>
      </p:sp>
      <p:sp>
        <p:nvSpPr>
          <p:cNvPr id="9" name="Shape 7"/>
          <p:cNvSpPr/>
          <p:nvPr/>
        </p:nvSpPr>
        <p:spPr>
          <a:xfrm>
            <a:off x="320040" y="1234440"/>
            <a:ext cx="8503920" cy="731520"/>
          </a:xfrm>
          <a:prstGeom prst="rect">
            <a:avLst/>
          </a:prstGeom>
          <a:solidFill>
            <a:srgbClr val="1B2A4A"/>
          </a:solidFill>
          <a:ln/>
        </p:spPr>
      </p:sp>
      <p:sp>
        <p:nvSpPr>
          <p:cNvPr id="10" name="Text 8"/>
          <p:cNvSpPr txBox="1"/>
          <p:nvPr/>
        </p:nvSpPr>
        <p:spPr>
          <a:xfrm>
            <a:off x="411480" y="123444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β_i  =  Cov(R_i, R_m) / σ²_m  =  ρ_i,m × σ_i / σ_m</a:t>
            </a:r>
            <a:endParaRPr lang="en-US" sz="1800" dirty="0"/>
          </a:p>
        </p:txBody>
      </p:sp>
      <p:sp>
        <p:nvSpPr>
          <p:cNvPr id="11" name="Text 9"/>
          <p:cNvSpPr txBox="1"/>
          <p:nvPr/>
        </p:nvSpPr>
        <p:spPr>
          <a:xfrm>
            <a:off x="320040" y="19933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β is both the slope coefficient in the market model R_i = α_i + β_i R_m + e_i and the standardised measure of systematic risk.</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1005840"/>
                <a:gridCol w="4846320"/>
                <a:gridCol w="26517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Beta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Interpretation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Curriculum 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β = 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Uncorrelated with the market. E(R) = R_f in CAPM.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T-bill; gold (Ex. 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 &lt; β &lt; 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Less volatile than the market. Defensive.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Post-deal ANR, β 0.90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β = 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Moves one-for-one with the market, by definition.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market portfolio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β &gt; 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Amplifies the market. E(R) exceeds E(R_m).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Mueller Metals, β 1.41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β &lt; 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Moves against the market. E(R) below R_f.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Insurance; emerging mkt −0.24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3" name="Shape 10"/>
          <p:cNvSpPr/>
          <p:nvPr/>
        </p:nvSpPr>
        <p:spPr>
          <a:xfrm>
            <a:off x="320040" y="4069080"/>
            <a:ext cx="8503920" cy="530352"/>
          </a:xfrm>
          <a:prstGeom prst="rect">
            <a:avLst/>
          </a:prstGeom>
          <a:solidFill>
            <a:srgbClr val="FEF0E7"/>
          </a:solidFill>
          <a:ln/>
        </p:spPr>
      </p:sp>
      <p:sp>
        <p:nvSpPr>
          <p:cNvPr id="14" name="Shape 11"/>
          <p:cNvSpPr/>
          <p:nvPr/>
        </p:nvSpPr>
        <p:spPr>
          <a:xfrm>
            <a:off x="320040" y="4069080"/>
            <a:ext cx="73152" cy="530352"/>
          </a:xfrm>
          <a:prstGeom prst="rect">
            <a:avLst/>
          </a:prstGeom>
          <a:solidFill>
            <a:srgbClr val="E8600A"/>
          </a:solidFill>
          <a:ln/>
        </p:spPr>
      </p:sp>
      <p:sp>
        <p:nvSpPr>
          <p:cNvPr id="15" name="Text 12"/>
          <p:cNvSpPr txBox="1"/>
          <p:nvPr/>
        </p:nvSpPr>
        <p:spPr>
          <a:xfrm>
            <a:off x="457200" y="4114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PORTFOLIO BETA</a:t>
            </a:r>
            <a:endParaRPr lang="en-US" sz="1100" dirty="0"/>
          </a:p>
        </p:txBody>
      </p:sp>
      <p:sp>
        <p:nvSpPr>
          <p:cNvPr id="16" name="Text 13"/>
          <p:cNvSpPr txBox="1"/>
          <p:nvPr/>
        </p:nvSpPr>
        <p:spPr>
          <a:xfrm>
            <a:off x="457200" y="4389120"/>
            <a:ext cx="8275320" cy="1645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β_p = Σ wᵢ × βᵢ  —  a weighted average, exactly like portfolio return. Risk-free asset β = 0, market β = 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CAPM says expected return equals the risk-free rate plus beta times the equity risk premium — the single most-cited formula in modern finance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SIX assumptions: (1) risk-averse, utility-maximising, rational investors; (2) frictionless markets — no costs, no taxes, borrow at R_f;
</a:t>
            </a:r>
            <a:pPr indent="0" marL="0">
              <a:buNone/>
            </a:pPr>
            <a:r>
              <a:rPr lang="en-US" sz="1000" dirty="0">
                <a:solidFill>
                  <a:srgbClr val="6B7A8D"/>
                </a:solidFill>
                <a:latin typeface="Calibri" pitchFamily="34" charset="0"/>
                <a:ea typeface="Calibri" pitchFamily="34" charset="-122"/>
                <a:cs typeface="Calibri" pitchFamily="34" charset="-120"/>
              </a:rPr>
              <a:t>² (3) one single holding period; (4) homogeneous expectations; (5) infinitely divisible investments; (6) investors are price takers.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§8 "Assumptions of the CAPM", pp. 87–88. Worked figures reuse the Deck 09 cost-of-capital inputs.</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R_f is usually a government-bond yield; the ERP is the long-run excess return of equities over R_f — 4–6% in developed markets, and the single most argued-over input in finance.</a:t>
            </a:r>
            <a:endParaRPr lang="en-US" sz="1300" dirty="0"/>
          </a:p>
        </p:txBody>
      </p:sp>
      <p:sp>
        <p:nvSpPr>
          <p:cNvPr id="10" name="Shape 8"/>
          <p:cNvSpPr/>
          <p:nvPr/>
        </p:nvSpPr>
        <p:spPr>
          <a:xfrm>
            <a:off x="320040" y="1234440"/>
            <a:ext cx="8503920" cy="731520"/>
          </a:xfrm>
          <a:prstGeom prst="rect">
            <a:avLst/>
          </a:prstGeom>
          <a:solidFill>
            <a:srgbClr val="1B2A4A"/>
          </a:solidFill>
          <a:ln/>
        </p:spPr>
      </p:sp>
      <p:sp>
        <p:nvSpPr>
          <p:cNvPr id="11" name="Text 9"/>
          <p:cNvSpPr txBox="1"/>
          <p:nvPr/>
        </p:nvSpPr>
        <p:spPr>
          <a:xfrm>
            <a:off x="411480" y="123444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E(R_i)  =  R_f  +  β_i  ×  [ E(R_m)  −  R_f ]</a:t>
            </a:r>
            <a:endParaRPr lang="en-US" sz="1800" dirty="0"/>
          </a:p>
        </p:txBody>
      </p:sp>
      <p:sp>
        <p:nvSpPr>
          <p:cNvPr id="12" name="Text 10"/>
          <p:cNvSpPr txBox="1"/>
          <p:nvPr/>
        </p:nvSpPr>
        <p:spPr>
          <a:xfrm>
            <a:off x="320040" y="19933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E(R_m) − R_f = equity risk premium (ERP). The CAPM maps systematic risk (β) linearly into required return — and nothing else enters.</a:t>
            </a:r>
            <a:endParaRPr lang="en-US" sz="1100" dirty="0"/>
          </a:p>
        </p:txBody>
      </p:sp>
      <p:sp>
        <p:nvSpPr>
          <p:cNvPr id="13" name="Shape 11"/>
          <p:cNvSpPr/>
          <p:nvPr/>
        </p:nvSpPr>
        <p:spPr>
          <a:xfrm>
            <a:off x="320040" y="2331720"/>
            <a:ext cx="8503920" cy="1828800"/>
          </a:xfrm>
          <a:prstGeom prst="rect">
            <a:avLst/>
          </a:prstGeom>
          <a:solidFill>
            <a:srgbClr val="FEF0E7"/>
          </a:solidFill>
          <a:ln w="9525">
            <a:solidFill>
              <a:srgbClr val="E8600A"/>
            </a:solidFill>
            <a:prstDash val="solid"/>
          </a:ln>
        </p:spPr>
      </p:sp>
      <p:sp>
        <p:nvSpPr>
          <p:cNvPr id="14" name="Text 12"/>
          <p:cNvSpPr txBox="1"/>
          <p:nvPr/>
        </p:nvSpPr>
        <p:spPr>
          <a:xfrm>
            <a:off x="457200" y="2377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COST OF EQUITY FOR A CYCLICAL STOCK — THE SAME INPUTS WE USED IN DECK 09</a:t>
            </a:r>
            <a:endParaRPr lang="en-US" sz="1100" dirty="0"/>
          </a:p>
        </p:txBody>
      </p:sp>
      <p:sp>
        <p:nvSpPr>
          <p:cNvPr id="15" name="Text 13"/>
          <p:cNvSpPr txBox="1"/>
          <p:nvPr/>
        </p:nvSpPr>
        <p:spPr>
          <a:xfrm>
            <a:off x="457200" y="2670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Cyclical manufacturer, levered β = 1.20. Risk-free rate R_f = 4.0% on the 10-year government bond. Equity risk premium E(R_m) − R_f = 6.0%.</a:t>
            </a:r>
            <a:endParaRPr lang="en-US" sz="1200" dirty="0"/>
          </a:p>
        </p:txBody>
      </p:sp>
      <p:sp>
        <p:nvSpPr>
          <p:cNvPr id="16" name="Text 14"/>
          <p:cNvSpPr txBox="1"/>
          <p:nvPr/>
        </p:nvSpPr>
        <p:spPr>
          <a:xfrm>
            <a:off x="457200" y="3182112"/>
            <a:ext cx="8229600" cy="466344"/>
          </a:xfrm>
          <a:prstGeom prst="rect">
            <a:avLst/>
          </a:prstGeom>
          <a:noFill/>
          <a:ln/>
        </p:spPr>
        <p:txBody>
          <a:bodyPr wrap="square" lIns="254" tIns="254" rIns="254" bIns="254" rtlCol="0" anchor="t">
            <a:normAutofit/>
            <a:spAutoFit/>
          </a:bodyPr>
          <a:lstStyle/>
          <a:p>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Plug into CAPM: E(R_i) = 4.0% + 1.20 × 6.0%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The beta premium is the STOCK'S premium, not the market's: 1.20 × 6.0% = 7.2%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Sum: 4.0% + 7.2% = 11.2%
</a:t>
            </a:r>
            <a:pPr indent="0" marL="0">
              <a:spcAft>
                <a:spcPts val="200"/>
              </a:spcAft>
              <a:buNone/>
            </a:pPr>
            <a:r>
              <a:rPr lang="en-US" sz="10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050" dirty="0">
                <a:solidFill>
                  <a:srgbClr val="334155"/>
                </a:solidFill>
                <a:latin typeface="Calibri" pitchFamily="34" charset="0"/>
                <a:ea typeface="Calibri" pitchFamily="34" charset="-122"/>
                <a:cs typeface="Calibri" pitchFamily="34" charset="-120"/>
              </a:rPr>
              <a:t>Sensitivity: β = 1.50 → 13.0%; β = 0.80 → 8.8%. Every 0.10 of beta is worth 60bp here.</a:t>
            </a:r>
            <a:endParaRPr lang="en-US" sz="1050" dirty="0"/>
          </a:p>
        </p:txBody>
      </p:sp>
      <p:sp>
        <p:nvSpPr>
          <p:cNvPr id="17" name="Shape 15"/>
          <p:cNvSpPr/>
          <p:nvPr/>
        </p:nvSpPr>
        <p:spPr>
          <a:xfrm>
            <a:off x="411480" y="3721608"/>
            <a:ext cx="8321040" cy="365760"/>
          </a:xfrm>
          <a:prstGeom prst="rect">
            <a:avLst/>
          </a:prstGeom>
          <a:solidFill>
            <a:srgbClr val="E8600A"/>
          </a:solidFill>
          <a:ln/>
        </p:spPr>
      </p:sp>
      <p:sp>
        <p:nvSpPr>
          <p:cNvPr id="18" name="Text 16"/>
          <p:cNvSpPr txBox="1"/>
          <p:nvPr/>
        </p:nvSpPr>
        <p:spPr>
          <a:xfrm>
            <a:off x="457200" y="372160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E(R) = 11.2% = required return = cost of equity = the r in the Deck 09 WACC and every DCF since Deck 01.</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CFA LM2 Example 7 — Bajaj Auto has zero correlation with the market, so its CAPM expected return collapses back to the risk-free rate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Example 7 "Security Market Line and Expected Return", pp. 89–90.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Assumptions shared by both companies: R_f = 3%, E(R_m) = 13%, σ_m = 23%. Only correlation with the market and σ_i differ between the two.</a:t>
            </a:r>
            <a:endParaRPr lang="en-US" sz="1300" dirty="0"/>
          </a:p>
        </p:txBody>
      </p:sp>
      <p:sp>
        <p:nvSpPr>
          <p:cNvPr id="9" name="Shape 7"/>
          <p:cNvSpPr/>
          <p:nvPr/>
        </p:nvSpPr>
        <p:spPr>
          <a:xfrm>
            <a:off x="320040" y="1188720"/>
            <a:ext cx="4160520" cy="2788920"/>
          </a:xfrm>
          <a:prstGeom prst="rect">
            <a:avLst/>
          </a:prstGeom>
          <a:solidFill>
            <a:srgbClr val="FEF0E7"/>
          </a:solidFill>
          <a:ln w="9525">
            <a:solidFill>
              <a:srgbClr val="E8600A"/>
            </a:solidFill>
            <a:prstDash val="solid"/>
          </a:ln>
        </p:spPr>
      </p:sp>
      <p:sp>
        <p:nvSpPr>
          <p:cNvPr id="10" name="Text 8"/>
          <p:cNvSpPr txBox="1"/>
          <p:nvPr/>
        </p:nvSpPr>
        <p:spPr>
          <a:xfrm>
            <a:off x="457200" y="123444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BAJAJ AUTO (INDIA)  ·  ρ = 0.00</a:t>
            </a:r>
            <a:endParaRPr lang="en-US" sz="1100" dirty="0"/>
          </a:p>
        </p:txBody>
      </p:sp>
      <p:sp>
        <p:nvSpPr>
          <p:cNvPr id="11" name="Text 9"/>
          <p:cNvSpPr txBox="1"/>
          <p:nvPr/>
        </p:nvSpPr>
        <p:spPr>
          <a:xfrm>
            <a:off x="457200" y="152704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σ_i = 50%, ρ_i,m = 0 with the market. Compute β and E(R).</a:t>
            </a:r>
            <a:endParaRPr lang="en-US" sz="1200" dirty="0"/>
          </a:p>
        </p:txBody>
      </p:sp>
      <p:sp>
        <p:nvSpPr>
          <p:cNvPr id="12" name="Text 10"/>
          <p:cNvSpPr txBox="1"/>
          <p:nvPr/>
        </p:nvSpPr>
        <p:spPr>
          <a:xfrm>
            <a:off x="457200" y="2039112"/>
            <a:ext cx="3886200" cy="142646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β = ρ × σ_i / σ_m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 0.00 × 0.50 / 0.23 = 0.00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E(R) = 3% + 0 × (13% − 3%)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 3.0%</a:t>
            </a:r>
            <a:endParaRPr lang="en-US" sz="1200" dirty="0"/>
          </a:p>
        </p:txBody>
      </p:sp>
      <p:sp>
        <p:nvSpPr>
          <p:cNvPr id="13" name="Shape 11"/>
          <p:cNvSpPr/>
          <p:nvPr/>
        </p:nvSpPr>
        <p:spPr>
          <a:xfrm>
            <a:off x="411480" y="3538728"/>
            <a:ext cx="3977640" cy="365760"/>
          </a:xfrm>
          <a:prstGeom prst="rect">
            <a:avLst/>
          </a:prstGeom>
          <a:solidFill>
            <a:srgbClr val="E8600A"/>
          </a:solidFill>
          <a:ln/>
        </p:spPr>
      </p:sp>
      <p:sp>
        <p:nvSpPr>
          <p:cNvPr id="14" name="Text 12"/>
          <p:cNvSpPr txBox="1"/>
          <p:nvPr/>
        </p:nvSpPr>
        <p:spPr>
          <a:xfrm>
            <a:off x="457200" y="353872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E(R) = R_f = 3.0% — no systematic exposure = no premium.</a:t>
            </a:r>
            <a:endParaRPr lang="en-US" sz="1150" dirty="0"/>
          </a:p>
        </p:txBody>
      </p:sp>
      <p:sp>
        <p:nvSpPr>
          <p:cNvPr id="15" name="Shape 13"/>
          <p:cNvSpPr/>
          <p:nvPr/>
        </p:nvSpPr>
        <p:spPr>
          <a:xfrm>
            <a:off x="4663440" y="1188720"/>
            <a:ext cx="4160520" cy="2788920"/>
          </a:xfrm>
          <a:prstGeom prst="rect">
            <a:avLst/>
          </a:prstGeom>
          <a:solidFill>
            <a:srgbClr val="FEF0E7"/>
          </a:solidFill>
          <a:ln w="9525">
            <a:solidFill>
              <a:srgbClr val="E8600A"/>
            </a:solidFill>
            <a:prstDash val="solid"/>
          </a:ln>
        </p:spPr>
      </p:sp>
      <p:sp>
        <p:nvSpPr>
          <p:cNvPr id="16" name="Text 14"/>
          <p:cNvSpPr txBox="1"/>
          <p:nvPr/>
        </p:nvSpPr>
        <p:spPr>
          <a:xfrm>
            <a:off x="4800600" y="123444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MUELLER METALS (GERMANY)  ·  ρ = 0.65</a:t>
            </a:r>
            <a:endParaRPr lang="en-US" sz="1100" dirty="0"/>
          </a:p>
        </p:txBody>
      </p:sp>
      <p:sp>
        <p:nvSpPr>
          <p:cNvPr id="17" name="Text 15"/>
          <p:cNvSpPr txBox="1"/>
          <p:nvPr/>
        </p:nvSpPr>
        <p:spPr>
          <a:xfrm>
            <a:off x="4800600" y="1527048"/>
            <a:ext cx="38862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σ_i = 50%, ρ_i,m = 0.65 with the market. Compute β and E(R).</a:t>
            </a:r>
            <a:endParaRPr lang="en-US" sz="1200" dirty="0"/>
          </a:p>
        </p:txBody>
      </p:sp>
      <p:sp>
        <p:nvSpPr>
          <p:cNvPr id="18" name="Text 16"/>
          <p:cNvSpPr txBox="1"/>
          <p:nvPr/>
        </p:nvSpPr>
        <p:spPr>
          <a:xfrm>
            <a:off x="4800600" y="2039112"/>
            <a:ext cx="3886200" cy="142646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β = ρ × σ_i / σ_m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 0.65 × 0.50 / 0.23 = 1.41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E(R) = 3% + 1.41 × (13% − 3%)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 3% + 14.1% = 17.1%</a:t>
            </a:r>
            <a:endParaRPr lang="en-US" sz="1200" dirty="0"/>
          </a:p>
        </p:txBody>
      </p:sp>
      <p:sp>
        <p:nvSpPr>
          <p:cNvPr id="19" name="Shape 17"/>
          <p:cNvSpPr/>
          <p:nvPr/>
        </p:nvSpPr>
        <p:spPr>
          <a:xfrm>
            <a:off x="4754880" y="3538728"/>
            <a:ext cx="3977640" cy="365760"/>
          </a:xfrm>
          <a:prstGeom prst="rect">
            <a:avLst/>
          </a:prstGeom>
          <a:solidFill>
            <a:srgbClr val="E8600A"/>
          </a:solidFill>
          <a:ln/>
        </p:spPr>
      </p:sp>
      <p:sp>
        <p:nvSpPr>
          <p:cNvPr id="20" name="Text 18"/>
          <p:cNvSpPr txBox="1"/>
          <p:nvPr/>
        </p:nvSpPr>
        <p:spPr>
          <a:xfrm>
            <a:off x="4800600" y="3538728"/>
            <a:ext cx="38862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E(R) = 17.1% — high correlation drives the premium.</a:t>
            </a:r>
            <a:endParaRPr lang="en-US" sz="1150" dirty="0"/>
          </a:p>
        </p:txBody>
      </p:sp>
      <p:sp>
        <p:nvSpPr>
          <p:cNvPr id="21" name="Shape 19"/>
          <p:cNvSpPr/>
          <p:nvPr/>
        </p:nvSpPr>
        <p:spPr>
          <a:xfrm>
            <a:off x="320040" y="4069080"/>
            <a:ext cx="8503920" cy="502920"/>
          </a:xfrm>
          <a:prstGeom prst="rect">
            <a:avLst/>
          </a:prstGeom>
          <a:solidFill>
            <a:srgbClr val="FEF0E7"/>
          </a:solidFill>
          <a:ln/>
        </p:spPr>
      </p:sp>
      <p:sp>
        <p:nvSpPr>
          <p:cNvPr id="22" name="Shape 20"/>
          <p:cNvSpPr/>
          <p:nvPr/>
        </p:nvSpPr>
        <p:spPr>
          <a:xfrm>
            <a:off x="320040" y="4069080"/>
            <a:ext cx="73152" cy="502920"/>
          </a:xfrm>
          <a:prstGeom prst="rect">
            <a:avLst/>
          </a:prstGeom>
          <a:solidFill>
            <a:srgbClr val="E8600A"/>
          </a:solidFill>
          <a:ln/>
        </p:spPr>
      </p:sp>
      <p:sp>
        <p:nvSpPr>
          <p:cNvPr id="23" name="Text 21"/>
          <p:cNvSpPr txBox="1"/>
          <p:nvPr/>
        </p:nvSpPr>
        <p:spPr>
          <a:xfrm>
            <a:off x="457200" y="4114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TAKEAWAY</a:t>
            </a:r>
            <a:endParaRPr lang="en-US" sz="1100" dirty="0"/>
          </a:p>
        </p:txBody>
      </p:sp>
      <p:sp>
        <p:nvSpPr>
          <p:cNvPr id="24" name="Text 22"/>
          <p:cNvSpPr txBox="1"/>
          <p:nvPr/>
        </p:nvSpPr>
        <p:spPr>
          <a:xfrm>
            <a:off x="457200" y="4389120"/>
            <a:ext cx="8275320" cy="137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Identical total risk, σ = 50%. Only the CORRELATION differs — and it alone opens a 14.1pp gap in required return.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Security Market Line plots expected return against beta — assets above the line are underpriced, below the line are overpriced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SML is not the CML. CML: total risk σ on the x-axis, efficient portfolios only. SML: systematic risk β on the x-axis, and it prices ANY asset, efficient or not.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§8 "The Security Market Line", pp. 88–90.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Estimated return above the CAPM required return ⇒ α &gt; 0 ⇒ BUY. Below ⇒ α &lt; 0 ⇒ SELL. In equilibrium α = 0 for every asset and every point sits exactly ON the line.</a:t>
            </a:r>
            <a:endParaRPr lang="en-US" sz="1300" dirty="0"/>
          </a:p>
        </p:txBody>
      </p:sp>
      <p:sp>
        <p:nvSpPr>
          <p:cNvPr id="10" name="Shape 8"/>
          <p:cNvSpPr/>
          <p:nvPr/>
        </p:nvSpPr>
        <p:spPr>
          <a:xfrm>
            <a:off x="320040" y="1115568"/>
            <a:ext cx="8503920" cy="502920"/>
          </a:xfrm>
          <a:prstGeom prst="rect">
            <a:avLst/>
          </a:prstGeom>
          <a:solidFill>
            <a:srgbClr val="1B2A4A"/>
          </a:solidFill>
          <a:ln/>
        </p:spPr>
      </p:sp>
      <p:sp>
        <p:nvSpPr>
          <p:cNvPr id="11" name="Text 9"/>
          <p:cNvSpPr txBox="1"/>
          <p:nvPr/>
        </p:nvSpPr>
        <p:spPr>
          <a:xfrm>
            <a:off x="411480" y="1115568"/>
            <a:ext cx="8321040" cy="5029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intercept = R_f  ·  slope = E(R_m) − R_f  ·  x-axis is BETA</a:t>
            </a:r>
            <a:endParaRPr lang="en-US" sz="1800" dirty="0"/>
          </a:p>
        </p:txBody>
      </p:sp>
      <p:sp>
        <p:nvSpPr>
          <p:cNvPr id="12" name="Shape 10"/>
          <p:cNvSpPr/>
          <p:nvPr/>
        </p:nvSpPr>
        <p:spPr>
          <a:xfrm>
            <a:off x="320040" y="1783080"/>
            <a:ext cx="2743200" cy="2514600"/>
          </a:xfrm>
          <a:prstGeom prst="rect">
            <a:avLst/>
          </a:prstGeom>
          <a:solidFill>
            <a:srgbClr val="E8F5E9"/>
          </a:solidFill>
          <a:ln/>
        </p:spPr>
      </p:sp>
      <p:sp>
        <p:nvSpPr>
          <p:cNvPr id="13" name="Shape 11"/>
          <p:cNvSpPr/>
          <p:nvPr/>
        </p:nvSpPr>
        <p:spPr>
          <a:xfrm>
            <a:off x="320040" y="1783080"/>
            <a:ext cx="73152" cy="2514600"/>
          </a:xfrm>
          <a:prstGeom prst="rect">
            <a:avLst/>
          </a:prstGeom>
          <a:solidFill>
            <a:srgbClr val="1A6B3C"/>
          </a:solidFill>
          <a:ln/>
        </p:spPr>
      </p:sp>
      <p:sp>
        <p:nvSpPr>
          <p:cNvPr id="14" name="Text 12"/>
          <p:cNvSpPr txBox="1"/>
          <p:nvPr/>
        </p:nvSpPr>
        <p:spPr>
          <a:xfrm>
            <a:off x="457200" y="187452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A6B3C"/>
                </a:solidFill>
                <a:latin typeface="Trebuchet MS" pitchFamily="34" charset="0"/>
                <a:ea typeface="Trebuchet MS" pitchFamily="34" charset="-122"/>
                <a:cs typeface="Trebuchet MS" pitchFamily="34" charset="-120"/>
              </a:rPr>
              <a:t>ABOVE SML  ·  UNDERPRICED</a:t>
            </a:r>
            <a:endParaRPr lang="en-US" sz="1100" dirty="0"/>
          </a:p>
        </p:txBody>
      </p:sp>
      <p:sp>
        <p:nvSpPr>
          <p:cNvPr id="15" name="Text 13"/>
          <p:cNvSpPr txBox="1"/>
          <p:nvPr/>
        </p:nvSpPr>
        <p:spPr>
          <a:xfrm>
            <a:off x="457200" y="2240280"/>
            <a:ext cx="2468880" cy="1965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Estimated return &gt; CAPM required return for the given β.</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α &gt; 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Action: BUY — the market is paying you MORE than its equilibrium compensation for the risk taken.</a:t>
            </a:r>
            <a:endParaRPr lang="en-US" sz="1100" dirty="0"/>
          </a:p>
        </p:txBody>
      </p:sp>
      <p:sp>
        <p:nvSpPr>
          <p:cNvPr id="16" name="Shape 14"/>
          <p:cNvSpPr/>
          <p:nvPr/>
        </p:nvSpPr>
        <p:spPr>
          <a:xfrm>
            <a:off x="3200400" y="1783080"/>
            <a:ext cx="2743200" cy="2514600"/>
          </a:xfrm>
          <a:prstGeom prst="rect">
            <a:avLst/>
          </a:prstGeom>
          <a:solidFill>
            <a:srgbClr val="F5F7FA"/>
          </a:solidFill>
          <a:ln/>
        </p:spPr>
      </p:sp>
      <p:sp>
        <p:nvSpPr>
          <p:cNvPr id="17" name="Shape 15"/>
          <p:cNvSpPr/>
          <p:nvPr/>
        </p:nvSpPr>
        <p:spPr>
          <a:xfrm>
            <a:off x="3200400" y="1783080"/>
            <a:ext cx="73152" cy="2514600"/>
          </a:xfrm>
          <a:prstGeom prst="rect">
            <a:avLst/>
          </a:prstGeom>
          <a:solidFill>
            <a:srgbClr val="1B2A4A"/>
          </a:solidFill>
          <a:ln/>
        </p:spPr>
      </p:sp>
      <p:sp>
        <p:nvSpPr>
          <p:cNvPr id="18" name="Text 16"/>
          <p:cNvSpPr txBox="1"/>
          <p:nvPr/>
        </p:nvSpPr>
        <p:spPr>
          <a:xfrm>
            <a:off x="3337560" y="187452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ON THE SML  ·  FAIRLY PRICED</a:t>
            </a:r>
            <a:endParaRPr lang="en-US" sz="1100" dirty="0"/>
          </a:p>
        </p:txBody>
      </p:sp>
      <p:sp>
        <p:nvSpPr>
          <p:cNvPr id="19" name="Text 17"/>
          <p:cNvSpPr txBox="1"/>
          <p:nvPr/>
        </p:nvSpPr>
        <p:spPr>
          <a:xfrm>
            <a:off x="3337560" y="2240280"/>
            <a:ext cx="2468880" cy="1965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Estimated return = CAPM required return for the given β.</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α = 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Action: HOLD at market weight. In CAPM equilibrium, every asset sits exactly on the SML — no free lunch.</a:t>
            </a:r>
            <a:endParaRPr lang="en-US" sz="1100" dirty="0"/>
          </a:p>
        </p:txBody>
      </p:sp>
      <p:sp>
        <p:nvSpPr>
          <p:cNvPr id="20" name="Shape 18"/>
          <p:cNvSpPr/>
          <p:nvPr/>
        </p:nvSpPr>
        <p:spPr>
          <a:xfrm>
            <a:off x="6080760" y="1783080"/>
            <a:ext cx="2743200" cy="2514600"/>
          </a:xfrm>
          <a:prstGeom prst="rect">
            <a:avLst/>
          </a:prstGeom>
          <a:solidFill>
            <a:srgbClr val="FFEBEE"/>
          </a:solidFill>
          <a:ln/>
        </p:spPr>
      </p:sp>
      <p:sp>
        <p:nvSpPr>
          <p:cNvPr id="21" name="Shape 19"/>
          <p:cNvSpPr/>
          <p:nvPr/>
        </p:nvSpPr>
        <p:spPr>
          <a:xfrm>
            <a:off x="6080760" y="1783080"/>
            <a:ext cx="73152" cy="2514600"/>
          </a:xfrm>
          <a:prstGeom prst="rect">
            <a:avLst/>
          </a:prstGeom>
          <a:solidFill>
            <a:srgbClr val="B71C1C"/>
          </a:solidFill>
          <a:ln/>
        </p:spPr>
      </p:sp>
      <p:sp>
        <p:nvSpPr>
          <p:cNvPr id="22" name="Text 20"/>
          <p:cNvSpPr txBox="1"/>
          <p:nvPr/>
        </p:nvSpPr>
        <p:spPr>
          <a:xfrm>
            <a:off x="6217920" y="1874520"/>
            <a:ext cx="2468880" cy="274320"/>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B71C1C"/>
                </a:solidFill>
                <a:latin typeface="Trebuchet MS" pitchFamily="34" charset="0"/>
                <a:ea typeface="Trebuchet MS" pitchFamily="34" charset="-122"/>
                <a:cs typeface="Trebuchet MS" pitchFamily="34" charset="-120"/>
              </a:rPr>
              <a:t>BELOW SML  ·  OVERPRICED</a:t>
            </a:r>
            <a:endParaRPr lang="en-US" sz="1100" dirty="0"/>
          </a:p>
        </p:txBody>
      </p:sp>
      <p:sp>
        <p:nvSpPr>
          <p:cNvPr id="23" name="Text 21"/>
          <p:cNvSpPr txBox="1"/>
          <p:nvPr/>
        </p:nvSpPr>
        <p:spPr>
          <a:xfrm>
            <a:off x="6217920" y="2240280"/>
            <a:ext cx="2468880" cy="1965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Estimated return &lt; CAPM required return for the given β.</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α &lt; 0.</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Action: SELL / UNDERWEIGHT — compensation is inadequate for the β exposure. Long-only funds underweight; hedge funds short.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Four appraisal measures, two denominators: Sharpe and M² divide by total risk, Treynor and Jensen's alpha divide by beta — and they can disagree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2, §11 "Portfolio Performance Appraisal Measures" and Example 10, pp. 96–102.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Which denominator is right depends on one question: is this portfolio the investor's entire wealth, or one sleeve of an already-diversified whole?</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20040" y="1115568"/>
          <a:ext cx="8503920" cy="914400"/>
        </p:xfrm>
        <a:graphic>
          <a:graphicData uri="http://schemas.openxmlformats.org/drawingml/2006/table">
            <a:tbl>
              <a:tblPr/>
              <a:tblGrid>
                <a:gridCol w="1508760"/>
                <a:gridCol w="1965960"/>
                <a:gridCol w="1691640"/>
                <a:gridCol w="33375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Measure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Formula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Denominator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Use it when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Sharpe ratio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[E(R_p) − R_f] / σ_p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risk σ</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Portfolio is the investor's whole wealth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M² (Modigliani RAP)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SR × σ_m + R_f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Total risk σ</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Ranks like Sharpe; reads as a % return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Treynor ratio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[E(R_p) − R_f] / β_p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Systematic risk 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One sleeve of a well-diversified whole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Jensen's alpha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R_p − [R_f + β_p·ERP]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Systematic risk β</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Same as Treynor; also sizes the gap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320040" y="2633472"/>
          <a:ext cx="8503920" cy="914400"/>
        </p:xfrm>
        <a:graphic>
          <a:graphicData uri="http://schemas.openxmlformats.org/drawingml/2006/table">
            <a:tbl>
              <a:tblPr/>
              <a:tblGrid>
                <a:gridCol w="1325880"/>
                <a:gridCol w="1005840"/>
                <a:gridCol w="914400"/>
                <a:gridCol w="868680"/>
                <a:gridCol w="1005840"/>
                <a:gridCol w="1097280"/>
                <a:gridCol w="1143000"/>
                <a:gridCol w="1143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Manager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Return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σ</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β</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Sharpe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Treynor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M² alpha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Jensen α</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Manager 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Manager 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0.114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Manager Z</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0.150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Market M</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7"/>
          <p:cNvSpPr/>
          <p:nvPr/>
        </p:nvSpPr>
        <p:spPr>
          <a:xfrm>
            <a:off x="320040" y="4114800"/>
            <a:ext cx="8503920" cy="530352"/>
          </a:xfrm>
          <a:prstGeom prst="rect">
            <a:avLst/>
          </a:prstGeom>
          <a:solidFill>
            <a:srgbClr val="FEF0E7"/>
          </a:solidFill>
          <a:ln/>
        </p:spPr>
      </p:sp>
      <p:sp>
        <p:nvSpPr>
          <p:cNvPr id="12" name="Shape 8"/>
          <p:cNvSpPr/>
          <p:nvPr/>
        </p:nvSpPr>
        <p:spPr>
          <a:xfrm>
            <a:off x="320040" y="4114800"/>
            <a:ext cx="73152" cy="530352"/>
          </a:xfrm>
          <a:prstGeom prst="rect">
            <a:avLst/>
          </a:prstGeom>
          <a:solidFill>
            <a:srgbClr val="E8600A"/>
          </a:solidFill>
          <a:ln/>
        </p:spPr>
      </p:sp>
      <p:sp>
        <p:nvSpPr>
          <p:cNvPr id="13" name="Text 9"/>
          <p:cNvSpPr txBox="1"/>
          <p:nvPr/>
        </p:nvSpPr>
        <p:spPr>
          <a:xfrm>
            <a:off x="457200" y="41605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DISAGREEMENT IS THE LESSON</a:t>
            </a:r>
            <a:endParaRPr lang="en-US" sz="1100" dirty="0"/>
          </a:p>
        </p:txBody>
      </p:sp>
      <p:sp>
        <p:nvSpPr>
          <p:cNvPr id="14" name="Text 10"/>
          <p:cNvSpPr txBox="1"/>
          <p:nvPr/>
        </p:nvSpPr>
        <p:spPr>
          <a:xfrm>
            <a:off x="457200" y="4434840"/>
            <a:ext cx="8275320" cy="1645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Y wins on total risk, Z wins on beta risk. Hire Y to run everything; hire Z for one sleeve.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 portfolio</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process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6  ·  Deck 20 of 20  ·  Studio Tonton Gug</a:t>
            </a:r>
            <a:endParaRPr lang="en-US" sz="7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Every professional portfolio is built in the same three steps — plan, execute, feed back — and the IPS anchors all three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3, §4 "Steps in the Portfolio Management Process", pp. 133–136.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most-tested workflow in CFA L1 portfolio management. Sequence matters: everything downstream is defended by reference to the document written in step one.</a:t>
            </a:r>
            <a:endParaRPr lang="en-US" sz="1300" dirty="0"/>
          </a:p>
        </p:txBody>
      </p:sp>
      <p:sp>
        <p:nvSpPr>
          <p:cNvPr id="9" name="Shape 7"/>
          <p:cNvSpPr/>
          <p:nvPr/>
        </p:nvSpPr>
        <p:spPr>
          <a:xfrm>
            <a:off x="320040" y="1188720"/>
            <a:ext cx="8503920" cy="960120"/>
          </a:xfrm>
          <a:prstGeom prst="rect">
            <a:avLst/>
          </a:prstGeom>
          <a:solidFill>
            <a:srgbClr val="FFFFFF"/>
          </a:solidFill>
          <a:ln/>
        </p:spPr>
      </p:sp>
      <p:sp>
        <p:nvSpPr>
          <p:cNvPr id="10" name="Shape 8"/>
          <p:cNvSpPr/>
          <p:nvPr/>
        </p:nvSpPr>
        <p:spPr>
          <a:xfrm>
            <a:off x="320040" y="1188720"/>
            <a:ext cx="91440" cy="960120"/>
          </a:xfrm>
          <a:prstGeom prst="rect">
            <a:avLst/>
          </a:prstGeom>
          <a:solidFill>
            <a:srgbClr val="E8600A"/>
          </a:solidFill>
          <a:ln/>
        </p:spPr>
      </p:sp>
      <p:sp>
        <p:nvSpPr>
          <p:cNvPr id="11" name="Text 9"/>
          <p:cNvSpPr txBox="1"/>
          <p:nvPr/>
        </p:nvSpPr>
        <p:spPr>
          <a:xfrm>
            <a:off x="502920" y="1188720"/>
            <a:ext cx="365760" cy="96012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225296"/>
            <a:ext cx="7863840" cy="43205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STEP 1  ·  PLANNING</a:t>
            </a:r>
            <a:endParaRPr lang="en-US" sz="1200" dirty="0"/>
          </a:p>
        </p:txBody>
      </p:sp>
      <p:sp>
        <p:nvSpPr>
          <p:cNvPr id="13" name="Text 11"/>
          <p:cNvSpPr txBox="1"/>
          <p:nvPr/>
        </p:nvSpPr>
        <p:spPr>
          <a:xfrm>
            <a:off x="868680" y="1620774"/>
            <a:ext cx="7863840" cy="52806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Understand the client's needs — objectives and constraints — through fact-finding and questionnaires, then write the IPS. It may name a benchmark, which step 3 later measures against. Review every three years or on any material change.</a:t>
            </a:r>
            <a:endParaRPr lang="en-US" sz="1200" dirty="0"/>
          </a:p>
        </p:txBody>
      </p:sp>
      <p:sp>
        <p:nvSpPr>
          <p:cNvPr id="14" name="Shape 12"/>
          <p:cNvSpPr/>
          <p:nvPr/>
        </p:nvSpPr>
        <p:spPr>
          <a:xfrm>
            <a:off x="320040" y="2240280"/>
            <a:ext cx="8503920" cy="960120"/>
          </a:xfrm>
          <a:prstGeom prst="rect">
            <a:avLst/>
          </a:prstGeom>
          <a:solidFill>
            <a:srgbClr val="F5F7FA"/>
          </a:solidFill>
          <a:ln/>
        </p:spPr>
      </p:sp>
      <p:sp>
        <p:nvSpPr>
          <p:cNvPr id="15" name="Shape 13"/>
          <p:cNvSpPr/>
          <p:nvPr/>
        </p:nvSpPr>
        <p:spPr>
          <a:xfrm>
            <a:off x="320040" y="2240280"/>
            <a:ext cx="91440" cy="960120"/>
          </a:xfrm>
          <a:prstGeom prst="rect">
            <a:avLst/>
          </a:prstGeom>
          <a:solidFill>
            <a:srgbClr val="E8600A"/>
          </a:solidFill>
          <a:ln/>
        </p:spPr>
      </p:sp>
      <p:sp>
        <p:nvSpPr>
          <p:cNvPr id="16" name="Text 14"/>
          <p:cNvSpPr txBox="1"/>
          <p:nvPr/>
        </p:nvSpPr>
        <p:spPr>
          <a:xfrm>
            <a:off x="502920" y="2240280"/>
            <a:ext cx="365760" cy="96012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2276856"/>
            <a:ext cx="7863840" cy="43205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STEP 2  ·  EXECUTION</a:t>
            </a:r>
            <a:endParaRPr lang="en-US" sz="1200" dirty="0"/>
          </a:p>
        </p:txBody>
      </p:sp>
      <p:sp>
        <p:nvSpPr>
          <p:cNvPr id="18" name="Text 16"/>
          <p:cNvSpPr txBox="1"/>
          <p:nvPr/>
        </p:nvSpPr>
        <p:spPr>
          <a:xfrm>
            <a:off x="868680" y="2672334"/>
            <a:ext cx="7863840" cy="52806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Asset allocation → security analysis → portfolio construction, then trading. Top-down sets the economic view, bottom-up picks the names. The curriculum is explicit: the asset allocation decision has the greatest impact on performance.</a:t>
            </a:r>
            <a:endParaRPr lang="en-US" sz="1200" dirty="0"/>
          </a:p>
        </p:txBody>
      </p:sp>
      <p:sp>
        <p:nvSpPr>
          <p:cNvPr id="19" name="Shape 17"/>
          <p:cNvSpPr/>
          <p:nvPr/>
        </p:nvSpPr>
        <p:spPr>
          <a:xfrm>
            <a:off x="320040" y="3291840"/>
            <a:ext cx="8503920" cy="960120"/>
          </a:xfrm>
          <a:prstGeom prst="rect">
            <a:avLst/>
          </a:prstGeom>
          <a:solidFill>
            <a:srgbClr val="FFFFFF"/>
          </a:solidFill>
          <a:ln/>
        </p:spPr>
      </p:sp>
      <p:sp>
        <p:nvSpPr>
          <p:cNvPr id="20" name="Shape 18"/>
          <p:cNvSpPr/>
          <p:nvPr/>
        </p:nvSpPr>
        <p:spPr>
          <a:xfrm>
            <a:off x="320040" y="3291840"/>
            <a:ext cx="91440" cy="960120"/>
          </a:xfrm>
          <a:prstGeom prst="rect">
            <a:avLst/>
          </a:prstGeom>
          <a:solidFill>
            <a:srgbClr val="E8600A"/>
          </a:solidFill>
          <a:ln/>
        </p:spPr>
      </p:sp>
      <p:sp>
        <p:nvSpPr>
          <p:cNvPr id="21" name="Text 19"/>
          <p:cNvSpPr txBox="1"/>
          <p:nvPr/>
        </p:nvSpPr>
        <p:spPr>
          <a:xfrm>
            <a:off x="502920" y="3291840"/>
            <a:ext cx="365760" cy="96012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3328416"/>
            <a:ext cx="7863840" cy="43205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STEP 3  ·  FEEDBACK</a:t>
            </a:r>
            <a:endParaRPr lang="en-US" sz="1200" dirty="0"/>
          </a:p>
        </p:txBody>
      </p:sp>
      <p:sp>
        <p:nvSpPr>
          <p:cNvPr id="23" name="Text 21"/>
          <p:cNvSpPr txBox="1"/>
          <p:nvPr/>
        </p:nvSpPr>
        <p:spPr>
          <a:xfrm>
            <a:off x="868680" y="3723894"/>
            <a:ext cx="7863840" cy="528066"/>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Monitor and rebalance as weights drift from intended levels, then evaluate performance against the benchmark and report. The analysis may send you back to step one and rewrite the IPS — this is a loop, not a line.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Liabilities, not preferences, drive institutional portfolios — which is why an endowment and a life insurer hold opposite assets in the same economy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Yale endowment (June 2017): only 4.6% fixed income. MassMutual life insurer: about 80% in bonds, mortgages, loans and cash.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3, §5 "Types of Investors", Exhibit 17, pp. 137–143. Portfolio weights from Exhibits 10 and 11, pp. 135–136.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Read the risk-tolerance column carefully — the curriculum rates DB pension plans as "typically quite high", which surprises most candidates. Long horizon, not caution, drives it.</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783080"/>
                <a:gridCol w="1874520"/>
                <a:gridCol w="1371600"/>
                <a:gridCol w="1737360"/>
                <a:gridCol w="17373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Client type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Time horizon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Risk tolerance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Income needs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Liquidity needs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Individual investors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DB pension plans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Typically 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Quite 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if mature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 by maturity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Endowments/foundations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long term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Typically 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Fund the spend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Quite 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Banks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Short term</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Quite 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Pay depositors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 withdrawals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Insurance companies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P&amp;C short, life long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Quite 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Typically 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 — claims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Sovereign wealth funds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 by fund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 by fund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 by fund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 by fund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154680"/>
            <a:ext cx="8503920" cy="960120"/>
          </a:xfrm>
          <a:prstGeom prst="rect">
            <a:avLst/>
          </a:prstGeom>
          <a:solidFill>
            <a:srgbClr val="FEF0E7"/>
          </a:solidFill>
          <a:ln/>
        </p:spPr>
      </p:sp>
      <p:sp>
        <p:nvSpPr>
          <p:cNvPr id="12" name="Shape 9"/>
          <p:cNvSpPr/>
          <p:nvPr/>
        </p:nvSpPr>
        <p:spPr>
          <a:xfrm>
            <a:off x="320040" y="3154680"/>
            <a:ext cx="73152" cy="960120"/>
          </a:xfrm>
          <a:prstGeom prst="rect">
            <a:avLst/>
          </a:prstGeom>
          <a:solidFill>
            <a:srgbClr val="E8600A"/>
          </a:solidFill>
          <a:ln/>
        </p:spPr>
      </p:sp>
      <p:sp>
        <p:nvSpPr>
          <p:cNvPr id="13" name="Text 10"/>
          <p:cNvSpPr txBox="1"/>
          <p:nvPr/>
        </p:nvSpPr>
        <p:spPr>
          <a:xfrm>
            <a:off x="457200" y="32004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DIAGNOSTIC QUESTION</a:t>
            </a:r>
            <a:endParaRPr lang="en-US" sz="1100" dirty="0"/>
          </a:p>
        </p:txBody>
      </p:sp>
      <p:sp>
        <p:nvSpPr>
          <p:cNvPr id="14" name="Text 11"/>
          <p:cNvSpPr txBox="1"/>
          <p:nvPr/>
        </p:nvSpPr>
        <p:spPr>
          <a:xfrm>
            <a:off x="457200" y="347472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Ask what the investor OWES, and when — every column then follows. A bank owes deposits on demand: short horizon, low risk tolerance, high liquidity. An endowment owes a perpetual spending rate: very long horizon, high risk tolerance, low liquidity need. Individuals and sovereign funds read "varies" because their liabilities genuinely differ case by case.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DB and DC pensions place the investment risk on opposite sides of the ledger — the key distinction every portfolio manager must internalise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Global pension assets exceeded US$41 trillion at end-2017; the US, UK and Japan alone were more than 76% of that. Plan sponsors keep shifting from DB to DC.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3, §5 "Individual Investors" and "Defined Benefit Pension Plans", pp. 137–139.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If the Deck 01 discount-rate framework ever felt abstract, a DB plan makes it concrete: the present value of the promised pensions IS a DCF, and funded ratio = assets ÷ that DCF.</a:t>
            </a:r>
            <a:endParaRPr lang="en-US" sz="1300" dirty="0"/>
          </a:p>
        </p:txBody>
      </p:sp>
      <p:sp>
        <p:nvSpPr>
          <p:cNvPr id="10" name="Shape 8"/>
          <p:cNvSpPr/>
          <p:nvPr/>
        </p:nvSpPr>
        <p:spPr>
          <a:xfrm>
            <a:off x="320040" y="1188720"/>
            <a:ext cx="4160520" cy="2697480"/>
          </a:xfrm>
          <a:prstGeom prst="rect">
            <a:avLst/>
          </a:prstGeom>
          <a:solidFill>
            <a:srgbClr val="FEF0E7"/>
          </a:solidFill>
          <a:ln/>
        </p:spPr>
      </p:sp>
      <p:sp>
        <p:nvSpPr>
          <p:cNvPr id="11" name="Shape 9"/>
          <p:cNvSpPr/>
          <p:nvPr/>
        </p:nvSpPr>
        <p:spPr>
          <a:xfrm>
            <a:off x="320040" y="1188720"/>
            <a:ext cx="73152" cy="2697480"/>
          </a:xfrm>
          <a:prstGeom prst="rect">
            <a:avLst/>
          </a:prstGeom>
          <a:solidFill>
            <a:srgbClr val="E8600A"/>
          </a:solidFill>
          <a:ln/>
        </p:spPr>
      </p:sp>
      <p:sp>
        <p:nvSpPr>
          <p:cNvPr id="12" name="Text 10"/>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DEFINED BENEFIT (DB)</a:t>
            </a:r>
            <a:endParaRPr lang="en-US" sz="1100" dirty="0"/>
          </a:p>
        </p:txBody>
      </p:sp>
      <p:sp>
        <p:nvSpPr>
          <p:cNvPr id="13" name="Text 11"/>
          <p:cNvSpPr txBox="1"/>
          <p:nvPr/>
        </p:nvSpPr>
        <p:spPr>
          <a:xfrm>
            <a:off x="457200" y="1508760"/>
            <a:ext cx="3931920" cy="2331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sponsor promises a specified benefit on retirement — the obligation is stated in retirement income owed to participants.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WHO BEARS THE RISK: the EMPLOYER, who is responsible for funding the benefits.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Managers must ensure assets are there when benefits fall due, often matching asset cash flows to expected pension payments with bonds. Horizon is indefinite if open to new members, finite if closed.</a:t>
            </a:r>
            <a:endParaRPr lang="en-US" sz="1200" dirty="0"/>
          </a:p>
        </p:txBody>
      </p:sp>
      <p:sp>
        <p:nvSpPr>
          <p:cNvPr id="14" name="Shape 12"/>
          <p:cNvSpPr/>
          <p:nvPr/>
        </p:nvSpPr>
        <p:spPr>
          <a:xfrm>
            <a:off x="4663440" y="1188720"/>
            <a:ext cx="4160520" cy="2697480"/>
          </a:xfrm>
          <a:prstGeom prst="rect">
            <a:avLst/>
          </a:prstGeom>
          <a:solidFill>
            <a:srgbClr val="F5F7FA"/>
          </a:solidFill>
          <a:ln/>
        </p:spPr>
      </p:sp>
      <p:sp>
        <p:nvSpPr>
          <p:cNvPr id="15" name="Shape 13"/>
          <p:cNvSpPr/>
          <p:nvPr/>
        </p:nvSpPr>
        <p:spPr>
          <a:xfrm>
            <a:off x="4663440" y="1188720"/>
            <a:ext cx="73152" cy="2697480"/>
          </a:xfrm>
          <a:prstGeom prst="rect">
            <a:avLst/>
          </a:prstGeom>
          <a:solidFill>
            <a:srgbClr val="1B2A4A"/>
          </a:solidFill>
          <a:ln/>
        </p:spPr>
      </p:sp>
      <p:sp>
        <p:nvSpPr>
          <p:cNvPr id="16" name="Text 14"/>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DEFINED CONTRIBUTION (DC)</a:t>
            </a:r>
            <a:endParaRPr lang="en-US" sz="1100" dirty="0"/>
          </a:p>
        </p:txBody>
      </p:sp>
      <p:sp>
        <p:nvSpPr>
          <p:cNvPr id="17" name="Text 15"/>
          <p:cNvSpPr txBox="1"/>
          <p:nvPr/>
        </p:nvSpPr>
        <p:spPr>
          <a:xfrm>
            <a:off x="4800600" y="1508760"/>
            <a:ext cx="3931920" cy="2331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plan is in the employee's name and usually funded by both parties. A contribution is specified — a payout is not.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WHO BEARS THE RISK: the EMPLOYEE, who accepts BOTH the investment and the inflation risk.</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US 401(k), UK group personal pensions, Australian superannuation. The employee is also responsible for there being enough in the plan at retirement.</a:t>
            </a:r>
            <a:endParaRPr lang="en-US" sz="1200" dirty="0"/>
          </a:p>
        </p:txBody>
      </p:sp>
      <p:sp>
        <p:nvSpPr>
          <p:cNvPr id="18" name="Shape 16"/>
          <p:cNvSpPr/>
          <p:nvPr/>
        </p:nvSpPr>
        <p:spPr>
          <a:xfrm>
            <a:off x="320040" y="3913632"/>
            <a:ext cx="8503920" cy="530352"/>
          </a:xfrm>
          <a:prstGeom prst="rect">
            <a:avLst/>
          </a:prstGeom>
          <a:solidFill>
            <a:srgbClr val="FEF0E7"/>
          </a:solidFill>
          <a:ln/>
        </p:spPr>
      </p:sp>
      <p:sp>
        <p:nvSpPr>
          <p:cNvPr id="19" name="Shape 17"/>
          <p:cNvSpPr/>
          <p:nvPr/>
        </p:nvSpPr>
        <p:spPr>
          <a:xfrm>
            <a:off x="320040" y="3913632"/>
            <a:ext cx="73152" cy="530352"/>
          </a:xfrm>
          <a:prstGeom prst="rect">
            <a:avLst/>
          </a:prstGeom>
          <a:solidFill>
            <a:srgbClr val="E8600A"/>
          </a:solidFill>
          <a:ln/>
        </p:spPr>
      </p:sp>
      <p:sp>
        <p:nvSpPr>
          <p:cNvPr id="20" name="Text 18"/>
          <p:cNvSpPr txBox="1"/>
          <p:nvPr/>
        </p:nvSpPr>
        <p:spPr>
          <a:xfrm>
            <a:off x="457200" y="395935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GLOBAL SHIFT</a:t>
            </a:r>
            <a:endParaRPr lang="en-US" sz="1100" dirty="0"/>
          </a:p>
        </p:txBody>
      </p:sp>
      <p:sp>
        <p:nvSpPr>
          <p:cNvPr id="21" name="Text 19"/>
          <p:cNvSpPr txBox="1"/>
          <p:nvPr/>
        </p:nvSpPr>
        <p:spPr>
          <a:xfrm>
            <a:off x="457200" y="4233672"/>
            <a:ext cx="8275320" cy="16459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Sponsors favour DC because it costs and risks the company less — moving both risks onto households.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The</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IPS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6  ·  Deck 20 of 20  ·  Studio Tonton Gug</a:t>
            </a:r>
            <a:endParaRPr lang="en-US" sz="7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An IPS has eight sections plus appendices — but the two that carry the client's fingerprints are the objectives and the constraints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4, §2 "Major Components of an IPS", pp. 163–164.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No single standard format exists. But in places it is a legal requirement: UK pension schemes need one under the Pensions Act 1995, s.35.</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743200"/>
                <a:gridCol w="5760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Section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contains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Introduction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Describes the client.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Statement of Purpose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States the purpose of the IPS itself.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Duties and Responsibilities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Of the client, the custodian of the assets, and the managers.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Procedures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How to keep the IPS current; how to respond to contingencies.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Investment Objectives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objectives in investing — risk and return, which must agree.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 Investment Constraints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Factors constraining those objectives — the "LTTLU" five.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 Investment Guidelines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How policy is executed: leverage, derivatives, exclusions.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8. Evaluation and Review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How feedback on investment results is obtained.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Appendices A and 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Strategic asset allocation (policy portfolio); rebalancing.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Risk tolerance is the lower of ability (objective) and willingness (subjective) — never average them; always defer to the more conservative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4, §3 "IPS Risk and Return Objectives", Exhibit 1, pp. 165–168.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curriculum is direct: counsel the client, conclude at the LOWER of the two factors, and document the decision. Modifying personality is not the adviser's role.</a:t>
            </a:r>
            <a:endParaRPr lang="en-US" sz="1300" dirty="0"/>
          </a:p>
        </p:txBody>
      </p:sp>
      <p:sp>
        <p:nvSpPr>
          <p:cNvPr id="9" name="Shape 7"/>
          <p:cNvSpPr/>
          <p:nvPr/>
        </p:nvSpPr>
        <p:spPr>
          <a:xfrm>
            <a:off x="320040" y="1188720"/>
            <a:ext cx="8503920" cy="566928"/>
          </a:xfrm>
          <a:prstGeom prst="rect">
            <a:avLst/>
          </a:prstGeom>
          <a:solidFill>
            <a:srgbClr val="1B2A4A"/>
          </a:solidFill>
          <a:ln/>
        </p:spPr>
      </p:sp>
      <p:sp>
        <p:nvSpPr>
          <p:cNvPr id="10" name="Text 8"/>
          <p:cNvSpPr txBox="1"/>
          <p:nvPr/>
        </p:nvSpPr>
        <p:spPr>
          <a:xfrm>
            <a:off x="411480" y="118872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Risk tolerance  =  MIN ( Ability ,  Willingness )</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20040" y="1920240"/>
          <a:ext cx="8503920" cy="914400"/>
        </p:xfrm>
        <a:graphic>
          <a:graphicData uri="http://schemas.openxmlformats.org/drawingml/2006/table">
            <a:tbl>
              <a:tblPr/>
              <a:tblGrid>
                <a:gridCol w="2468880"/>
                <a:gridCol w="3017520"/>
                <a:gridCol w="3017520"/>
              </a:tblGrid>
              <a:tr h="274320">
                <a:tc>
                  <a:txBody>
                    <a:bodyPr/>
                    <a:lstStyle/>
                    <a:p>
                      <a:pPr algn="ctr" indent="0" marL="0">
                        <a:buNone/>
                      </a:pP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Willingness: BELOW avg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Willingness: ABOVE avg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Ability: ABOVE avg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Resolve — default to BELOW avg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CONSISTENT → above-average tolerance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Ability: BELOW avg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CONSISTENT → below-average tolerance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Resolve — default to BELOW avg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2" name="Shape 9"/>
          <p:cNvSpPr/>
          <p:nvPr/>
        </p:nvSpPr>
        <p:spPr>
          <a:xfrm>
            <a:off x="320040" y="3154680"/>
            <a:ext cx="8503920" cy="1188720"/>
          </a:xfrm>
          <a:prstGeom prst="rect">
            <a:avLst/>
          </a:prstGeom>
          <a:solidFill>
            <a:srgbClr val="FEF0E7"/>
          </a:solidFill>
          <a:ln/>
        </p:spPr>
      </p:sp>
      <p:sp>
        <p:nvSpPr>
          <p:cNvPr id="13" name="Shape 10"/>
          <p:cNvSpPr/>
          <p:nvPr/>
        </p:nvSpPr>
        <p:spPr>
          <a:xfrm>
            <a:off x="320040" y="3154680"/>
            <a:ext cx="73152" cy="1188720"/>
          </a:xfrm>
          <a:prstGeom prst="rect">
            <a:avLst/>
          </a:prstGeom>
          <a:solidFill>
            <a:srgbClr val="E8600A"/>
          </a:solidFill>
          <a:ln/>
        </p:spPr>
      </p:sp>
      <p:sp>
        <p:nvSpPr>
          <p:cNvPr id="14" name="Text 11"/>
          <p:cNvSpPr txBox="1"/>
          <p:nvPr/>
        </p:nvSpPr>
        <p:spPr>
          <a:xfrm>
            <a:off x="457200" y="32004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ABILITY = OBJECTIVE, WILLINGNESS = SUBJECTIVE</a:t>
            </a:r>
            <a:endParaRPr lang="en-US" sz="1100" dirty="0"/>
          </a:p>
        </p:txBody>
      </p:sp>
      <p:sp>
        <p:nvSpPr>
          <p:cNvPr id="15" name="Text 12"/>
          <p:cNvSpPr txBox="1"/>
          <p:nvPr/>
        </p:nvSpPr>
        <p:spPr>
          <a:xfrm>
            <a:off x="457200" y="3474720"/>
            <a:ext cx="8275320" cy="8229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ABILITY drivers, mainly objective: time horizon, expected income, wealth relative to liabilities. A 20-year horizon beats a 2-year one; assets comfortably above liabilities beat a finely balanced position.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WILLINGNESS drivers, subjective: personality, self-esteem, independence of thought — gauged by discussion or a psychometric questionnaire such as the five-item Grable instrument in Exhibit 2.</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"RR LTTLU" template covers every IPS constraint — Liquidity, Time horizon, Tax, Legal/regulatory, Unique, on top of Risk &amp; Return objectives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Definitions: CFA Institute, Curriculum Vol 9, Learning Module 4, §4 "IPS Constraints", pp. 172–176. Sophie is an instructor-built illustration, not a curriculum case.</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mnemonic is a teaching device; the five constraints are the curriculum's own — liquidity, time horizon, tax concerns, legal and regulatory factors, unique circumstances.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920240"/>
                <a:gridCol w="3840480"/>
                <a:gridCol w="27432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Component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CFA definition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Illustration — Sophie, 45, UK DC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RETURN objective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Absolute or relative, nominal or real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Real 4.5% p.a. over 20 years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RISK objective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Absolute (σ, VaR) or relative (tracking)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Max 15% σ; 25% drawdown limit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LIQUIDITY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What must be withdrawn from the portfolio</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£20k emergency fund in cash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TIME horizon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Accumulation period, or until things change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Two-stage: 20y, then drawdown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TAXES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Taxed or not; income versus capital gains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UK higher rate; pension relief</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LEGAL / regulatory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Portfolio limits, self-investment caps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UK DC rules; lump sum from 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UNIQUE circumstances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Beliefs, values, ESG, concentrated stakes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Employer stock capped at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566160"/>
            <a:ext cx="8503920" cy="822960"/>
          </a:xfrm>
          <a:prstGeom prst="rect">
            <a:avLst/>
          </a:prstGeom>
          <a:solidFill>
            <a:srgbClr val="F5F7FA"/>
          </a:solidFill>
          <a:ln/>
        </p:spPr>
      </p:sp>
      <p:sp>
        <p:nvSpPr>
          <p:cNvPr id="11" name="Shape 8"/>
          <p:cNvSpPr/>
          <p:nvPr/>
        </p:nvSpPr>
        <p:spPr>
          <a:xfrm>
            <a:off x="320040" y="3566160"/>
            <a:ext cx="73152" cy="822960"/>
          </a:xfrm>
          <a:prstGeom prst="rect">
            <a:avLst/>
          </a:prstGeom>
          <a:solidFill>
            <a:srgbClr val="1B2A4A"/>
          </a:solidFill>
          <a:ln/>
        </p:spPr>
      </p:sp>
      <p:sp>
        <p:nvSpPr>
          <p:cNvPr id="12" name="Text 9"/>
          <p:cNvSpPr txBox="1"/>
          <p:nvPr/>
        </p:nvSpPr>
        <p:spPr>
          <a:xfrm>
            <a:off x="457200" y="36118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CURRICULUM NAMES SIX ESG APPROACHES</a:t>
            </a:r>
            <a:endParaRPr lang="en-US" sz="1100" dirty="0"/>
          </a:p>
        </p:txBody>
      </p:sp>
      <p:sp>
        <p:nvSpPr>
          <p:cNvPr id="13" name="Text 10"/>
          <p:cNvSpPr txBox="1"/>
          <p:nvPr/>
        </p:nvSpPr>
        <p:spPr>
          <a:xfrm>
            <a:off x="457200" y="3886200"/>
            <a:ext cx="827532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Negative screening (exclude) · positive screening (best-in-class) · ESG integration (systematic, in allocation and selection) · thematic investing · engagement and active ownership · impact investing.</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CFA LM4 Example 4 — Marie Gascon's case solves the annual return she needs to fund a €2m retirement in 20 years at 2% inflation</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4, Example 4 "The Case of Marie Gascon: Return Objectives", p. 171.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return objective falls out of the constraints — target capital, horizon, inflation — not out of a market view. This is Deck 01 time-value arithmetic, used backwards.</a:t>
            </a:r>
            <a:endParaRPr lang="en-US" sz="1300" dirty="0"/>
          </a:p>
        </p:txBody>
      </p:sp>
      <p:sp>
        <p:nvSpPr>
          <p:cNvPr id="9" name="Shape 7"/>
          <p:cNvSpPr/>
          <p:nvPr/>
        </p:nvSpPr>
        <p:spPr>
          <a:xfrm>
            <a:off x="320040" y="1188720"/>
            <a:ext cx="8503920" cy="3108960"/>
          </a:xfrm>
          <a:prstGeom prst="rect">
            <a:avLst/>
          </a:prstGeom>
          <a:solidFill>
            <a:srgbClr val="FEF0E7"/>
          </a:solidFill>
          <a:ln w="9525">
            <a:solidFill>
              <a:srgbClr val="E8600A"/>
            </a:solidFill>
            <a:prstDash val="solid"/>
          </a:ln>
        </p:spPr>
      </p:sp>
      <p:sp>
        <p:nvSpPr>
          <p:cNvPr id="10" name="Text 8"/>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MARIE GASCON  ·  RETIRING AT 50  ·  20-YEAR HORIZON</a:t>
            </a:r>
            <a:endParaRPr lang="en-US" sz="1100" dirty="0"/>
          </a:p>
        </p:txBody>
      </p:sp>
      <p:sp>
        <p:nvSpPr>
          <p:cNvPr id="11" name="Text 9"/>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Savings €1,000,000. €100,000 is set aside as an emergency fund in cash, so €900,000 is invested for retirement. She estimates €2,000,000 in today's money will fund her retirement income needs. Inflation is expected to average 2% p.a. French pension contributions and returns are tax-exempt; distributions at retirement are taxable.</a:t>
            </a:r>
            <a:endParaRPr lang="en-US" sz="1200" dirty="0"/>
          </a:p>
        </p:txBody>
      </p:sp>
      <p:sp>
        <p:nvSpPr>
          <p:cNvPr id="12" name="Text 10"/>
          <p:cNvSpPr txBox="1"/>
          <p:nvPr/>
        </p:nvSpPr>
        <p:spPr>
          <a:xfrm>
            <a:off x="457200" y="2039112"/>
            <a:ext cx="8229600" cy="17465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Inflate the target: €2,000,000 × 1.02^20 = €2,971,895 in money of the day.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Required nominal CAGR on €900,000: (€2,971,895 / €900,000)^(1/20) − 1.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Ratio = 3.3021;  3.3021^(1/20) = 1.0615  →  6.15%, which rounds to the curriculum's 6.2%.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Cross-check in real terms: (€2,000,000 / €900,000)^(1/20) − 1 = 4.07% real p.a.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Verify at the curriculum's 6.2%: €900,000 × 1.062^20 = €2,997,318, just above target. ✓</a:t>
            </a:r>
            <a:endParaRPr lang="en-US" sz="1200" dirty="0"/>
          </a:p>
        </p:txBody>
      </p:sp>
      <p:sp>
        <p:nvSpPr>
          <p:cNvPr id="13" name="Shape 11"/>
          <p:cNvSpPr/>
          <p:nvPr/>
        </p:nvSpPr>
        <p:spPr>
          <a:xfrm>
            <a:off x="411480" y="3858768"/>
            <a:ext cx="8321040" cy="365760"/>
          </a:xfrm>
          <a:prstGeom prst="rect">
            <a:avLst/>
          </a:prstGeom>
          <a:solidFill>
            <a:srgbClr val="E8600A"/>
          </a:solidFill>
          <a:ln/>
        </p:spPr>
      </p:sp>
      <p:sp>
        <p:nvSpPr>
          <p:cNvPr id="14" name="Text 12"/>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 Required return ≈ 6.2% nominal (≈ 4.1% real) — now build a portfolio that plausibly delivers it inside Marie's risk tolerance.</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Behavioral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biases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6  ·  Deck 20 of 20  ·  Studio Tonton Gug</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Behavioral biases split cleanly into cognitive errors — fixable with better information — and emotional biases, which you can only recognise and adapt around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5, §2–3 "Behavioral Bias Categories" and "Cognitive Errors", pp. 206–207.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distinction drives the remedy: cognitive errors respond to better information, education and advice. Emotional biases arise spontaneously and often can only be recognised and adapted to.</a:t>
            </a:r>
            <a:endParaRPr lang="en-US" sz="1300" dirty="0"/>
          </a:p>
        </p:txBody>
      </p:sp>
      <p:sp>
        <p:nvSpPr>
          <p:cNvPr id="9" name="Shape 7"/>
          <p:cNvSpPr/>
          <p:nvPr/>
        </p:nvSpPr>
        <p:spPr>
          <a:xfrm>
            <a:off x="320040" y="1188720"/>
            <a:ext cx="4160520" cy="2788920"/>
          </a:xfrm>
          <a:prstGeom prst="rect">
            <a:avLst/>
          </a:prstGeom>
          <a:solidFill>
            <a:srgbClr val="FEF0E7"/>
          </a:solidFill>
          <a:ln/>
        </p:spPr>
      </p:sp>
      <p:sp>
        <p:nvSpPr>
          <p:cNvPr id="10" name="Shape 8"/>
          <p:cNvSpPr/>
          <p:nvPr/>
        </p:nvSpPr>
        <p:spPr>
          <a:xfrm>
            <a:off x="320040" y="1188720"/>
            <a:ext cx="73152" cy="278892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COGNITIVE ERRORS</a:t>
            </a:r>
            <a:endParaRPr lang="en-US" sz="1100" dirty="0"/>
          </a:p>
        </p:txBody>
      </p:sp>
      <p:sp>
        <p:nvSpPr>
          <p:cNvPr id="12" name="Text 10"/>
          <p:cNvSpPr txBox="1"/>
          <p:nvPr/>
        </p:nvSpPr>
        <p:spPr>
          <a:xfrm>
            <a:off x="4572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SOURCE: faulty reasoning. Mistakes made while processing information.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SPLIT: belief-perseverance (conservatism, confirmation, representativeness, illusion of control, hindsight) and processing (anchoring, mental accounting, framing, availability).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FIX: yes — with better information, education, advice, systematic decision frameworks.</a:t>
            </a:r>
            <a:endParaRPr lang="en-US" sz="1200" dirty="0"/>
          </a:p>
        </p:txBody>
      </p:sp>
      <p:sp>
        <p:nvSpPr>
          <p:cNvPr id="13" name="Shape 11"/>
          <p:cNvSpPr/>
          <p:nvPr/>
        </p:nvSpPr>
        <p:spPr>
          <a:xfrm>
            <a:off x="4663440" y="1188720"/>
            <a:ext cx="4160520" cy="2788920"/>
          </a:xfrm>
          <a:prstGeom prst="rect">
            <a:avLst/>
          </a:prstGeom>
          <a:solidFill>
            <a:srgbClr val="F5F7FA"/>
          </a:solidFill>
          <a:ln/>
        </p:spPr>
      </p:sp>
      <p:sp>
        <p:nvSpPr>
          <p:cNvPr id="14" name="Shape 12"/>
          <p:cNvSpPr/>
          <p:nvPr/>
        </p:nvSpPr>
        <p:spPr>
          <a:xfrm>
            <a:off x="4663440" y="1188720"/>
            <a:ext cx="73152" cy="278892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EMOTIONAL BIASES</a:t>
            </a:r>
            <a:endParaRPr lang="en-US" sz="1100" dirty="0"/>
          </a:p>
        </p:txBody>
      </p:sp>
      <p:sp>
        <p:nvSpPr>
          <p:cNvPr id="16" name="Text 14"/>
          <p:cNvSpPr txBox="1"/>
          <p:nvPr/>
        </p:nvSpPr>
        <p:spPr>
          <a:xfrm>
            <a:off x="48006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SOURCE: impulses, intuitions, feelings. Not conscious errors — they arise spontaneously.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SIX: loss aversion, overconfidence, self-control, status quo, endowment, regret aversion.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FIX: no — recognize and ADAPT. Structural portfolio rules (rebalancing thresholds, sell-discipline, DCA) that remove discretion from the client.</a:t>
            </a:r>
            <a:endParaRPr lang="en-US" sz="1200" dirty="0"/>
          </a:p>
        </p:txBody>
      </p:sp>
      <p:sp>
        <p:nvSpPr>
          <p:cNvPr id="17" name="Shape 15"/>
          <p:cNvSpPr/>
          <p:nvPr/>
        </p:nvSpPr>
        <p:spPr>
          <a:xfrm>
            <a:off x="320040" y="4069080"/>
            <a:ext cx="8503920" cy="502920"/>
          </a:xfrm>
          <a:prstGeom prst="rect">
            <a:avLst/>
          </a:prstGeom>
          <a:solidFill>
            <a:srgbClr val="FEF0E7"/>
          </a:solidFill>
          <a:ln/>
        </p:spPr>
      </p:sp>
      <p:sp>
        <p:nvSpPr>
          <p:cNvPr id="18" name="Shape 16"/>
          <p:cNvSpPr/>
          <p:nvPr/>
        </p:nvSpPr>
        <p:spPr>
          <a:xfrm>
            <a:off x="320040" y="4069080"/>
            <a:ext cx="73152" cy="502920"/>
          </a:xfrm>
          <a:prstGeom prst="rect">
            <a:avLst/>
          </a:prstGeom>
          <a:solidFill>
            <a:srgbClr val="E8600A"/>
          </a:solidFill>
          <a:ln/>
        </p:spPr>
      </p:sp>
      <p:sp>
        <p:nvSpPr>
          <p:cNvPr id="19" name="Text 17"/>
          <p:cNvSpPr txBox="1"/>
          <p:nvPr/>
        </p:nvSpPr>
        <p:spPr>
          <a:xfrm>
            <a:off x="457200" y="4114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RULE OF THUMB</a:t>
            </a:r>
            <a:endParaRPr lang="en-US" sz="1100" dirty="0"/>
          </a:p>
        </p:txBody>
      </p:sp>
      <p:sp>
        <p:nvSpPr>
          <p:cNvPr id="20" name="Text 18"/>
          <p:cNvSpPr txBox="1"/>
          <p:nvPr/>
        </p:nvSpPr>
        <p:spPr>
          <a:xfrm>
            <a:off x="457200" y="4389120"/>
            <a:ext cx="8275320" cy="137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Cognitive → educate. Emotional → automate. What you cannot teach away, engineer out of the decision path.</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Fifteen named biases in three groups — five belief-perseverance, four processing, six emotional — and the group tells you how to treat each one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5, §3 "Cognitive Errors" and §4 "Emotional Biases", pp. 206–228.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Count them: 5 belief-perseverance + 4 processing = 9 cognitive, plus 6 emotional = 15. The first two groups are both cognitive — it is not a 2×2, it is a split of a split.</a:t>
            </a:r>
            <a:endParaRPr lang="en-US" sz="1300" dirty="0"/>
          </a:p>
        </p:txBody>
      </p:sp>
      <p:sp>
        <p:nvSpPr>
          <p:cNvPr id="9" name="Shape 7"/>
          <p:cNvSpPr/>
          <p:nvPr/>
        </p:nvSpPr>
        <p:spPr>
          <a:xfrm>
            <a:off x="320040" y="1188720"/>
            <a:ext cx="2743200" cy="3401568"/>
          </a:xfrm>
          <a:prstGeom prst="rect">
            <a:avLst/>
          </a:prstGeom>
          <a:solidFill>
            <a:srgbClr val="F5F7FA"/>
          </a:solidFill>
          <a:ln/>
        </p:spPr>
      </p:sp>
      <p:sp>
        <p:nvSpPr>
          <p:cNvPr id="10" name="Shape 8"/>
          <p:cNvSpPr/>
          <p:nvPr/>
        </p:nvSpPr>
        <p:spPr>
          <a:xfrm>
            <a:off x="320040" y="1188720"/>
            <a:ext cx="73152" cy="3401568"/>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BELIEF PERSEVERANCE</a:t>
            </a:r>
            <a:endParaRPr lang="en-US" sz="1100" dirty="0"/>
          </a:p>
        </p:txBody>
      </p:sp>
      <p:sp>
        <p:nvSpPr>
          <p:cNvPr id="12" name="Text 10"/>
          <p:cNvSpPr txBox="1"/>
          <p:nvPr/>
        </p:nvSpPr>
        <p:spPr>
          <a:xfrm>
            <a:off x="457200" y="1508760"/>
            <a:ext cx="2514600" cy="30358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Cognitive · five biases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Conservatism — underweight new information vs priors.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Confirmation — seek what confirms; ignore what contradicts.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Representativeness — judge on similarity; neglect base rates.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Illusion of control — overestimate your own influence.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Hindsight — "I knew it all along", after the fact.</a:t>
            </a:r>
            <a:endParaRPr lang="en-US" sz="1200" dirty="0"/>
          </a:p>
        </p:txBody>
      </p:sp>
      <p:sp>
        <p:nvSpPr>
          <p:cNvPr id="13" name="Shape 11"/>
          <p:cNvSpPr/>
          <p:nvPr/>
        </p:nvSpPr>
        <p:spPr>
          <a:xfrm>
            <a:off x="3200400" y="1188720"/>
            <a:ext cx="2743200" cy="3401568"/>
          </a:xfrm>
          <a:prstGeom prst="rect">
            <a:avLst/>
          </a:prstGeom>
          <a:solidFill>
            <a:srgbClr val="FEF0E7"/>
          </a:solidFill>
          <a:ln/>
        </p:spPr>
      </p:sp>
      <p:sp>
        <p:nvSpPr>
          <p:cNvPr id="14" name="Shape 12"/>
          <p:cNvSpPr/>
          <p:nvPr/>
        </p:nvSpPr>
        <p:spPr>
          <a:xfrm>
            <a:off x="3200400" y="1188720"/>
            <a:ext cx="73152" cy="3401568"/>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PROCESSING ERRORS</a:t>
            </a:r>
            <a:endParaRPr lang="en-US" sz="1100" dirty="0"/>
          </a:p>
        </p:txBody>
      </p:sp>
      <p:sp>
        <p:nvSpPr>
          <p:cNvPr id="16" name="Text 14"/>
          <p:cNvSpPr txBox="1"/>
          <p:nvPr/>
        </p:nvSpPr>
        <p:spPr>
          <a:xfrm>
            <a:off x="3337560" y="1508760"/>
            <a:ext cx="2514600" cy="30358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Cognitive · four biases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Anchoring and adjustment — estimates stay too close to the first number seen.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Mental accounting — treat fungible money as separate pots.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Framing — answer changes with the presentation.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Availability — overweight recent or memorable events.</a:t>
            </a:r>
            <a:endParaRPr lang="en-US" sz="1200" dirty="0"/>
          </a:p>
        </p:txBody>
      </p:sp>
      <p:sp>
        <p:nvSpPr>
          <p:cNvPr id="17" name="Shape 15"/>
          <p:cNvSpPr/>
          <p:nvPr/>
        </p:nvSpPr>
        <p:spPr>
          <a:xfrm>
            <a:off x="6080760" y="1188720"/>
            <a:ext cx="2743200" cy="3401568"/>
          </a:xfrm>
          <a:prstGeom prst="rect">
            <a:avLst/>
          </a:prstGeom>
          <a:solidFill>
            <a:srgbClr val="F5F7FA"/>
          </a:solidFill>
          <a:ln/>
        </p:spPr>
      </p:sp>
      <p:sp>
        <p:nvSpPr>
          <p:cNvPr id="18" name="Shape 16"/>
          <p:cNvSpPr/>
          <p:nvPr/>
        </p:nvSpPr>
        <p:spPr>
          <a:xfrm>
            <a:off x="6080760" y="1188720"/>
            <a:ext cx="73152" cy="3401568"/>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EMOTIONAL BIASES</a:t>
            </a:r>
            <a:endParaRPr lang="en-US" sz="1100" dirty="0"/>
          </a:p>
        </p:txBody>
      </p:sp>
      <p:sp>
        <p:nvSpPr>
          <p:cNvPr id="20" name="Text 18"/>
          <p:cNvSpPr txBox="1"/>
          <p:nvPr/>
        </p:nvSpPr>
        <p:spPr>
          <a:xfrm>
            <a:off x="6217920" y="1508760"/>
            <a:ext cx="2514600" cy="303580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Six biases · adapt, do not educate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Loss aversion — hold losers, sell winners.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Overconfidence — intervals too narrow.</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Self-control — short-term gratification wins.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Status quo — leave the portfolio alone.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Endowment — value what you own too highly.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Regret aversion — avoid decisions you may regret.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Loss aversion inverts the textbook investor: risk-averse in gains, but risk-SEEKING in losses — which is why people double down on what is already falling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5, §4 "Loss-Aversion Bias" and Example 10, pp. 219–221.</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Kahneman &amp; Tversky (1979): the value function is S-shaped and asymmetric around a reference point — a loss weighs more than a gain of the same absolute size.</a:t>
            </a:r>
            <a:endParaRPr lang="en-US" sz="1300" dirty="0"/>
          </a:p>
        </p:txBody>
      </p:sp>
      <p:sp>
        <p:nvSpPr>
          <p:cNvPr id="9" name="Shape 7"/>
          <p:cNvSpPr/>
          <p:nvPr/>
        </p:nvSpPr>
        <p:spPr>
          <a:xfrm>
            <a:off x="320040" y="1188720"/>
            <a:ext cx="4160520" cy="2788920"/>
          </a:xfrm>
          <a:prstGeom prst="rect">
            <a:avLst/>
          </a:prstGeom>
          <a:solidFill>
            <a:srgbClr val="FEF0E7"/>
          </a:solidFill>
          <a:ln/>
        </p:spPr>
      </p:sp>
      <p:sp>
        <p:nvSpPr>
          <p:cNvPr id="10" name="Shape 8"/>
          <p:cNvSpPr/>
          <p:nvPr/>
        </p:nvSpPr>
        <p:spPr>
          <a:xfrm>
            <a:off x="320040" y="1188720"/>
            <a:ext cx="73152" cy="2788920"/>
          </a:xfrm>
          <a:prstGeom prst="rect">
            <a:avLst/>
          </a:prstGeom>
          <a:solidFill>
            <a:srgbClr val="E8600A"/>
          </a:solidFill>
          <a:ln/>
        </p:spPr>
      </p:sp>
      <p:sp>
        <p:nvSpPr>
          <p:cNvPr id="11" name="Text 9"/>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S-SHAPED VALUE FUNCTION</a:t>
            </a:r>
            <a:endParaRPr lang="en-US" sz="1100" dirty="0"/>
          </a:p>
        </p:txBody>
      </p:sp>
      <p:sp>
        <p:nvSpPr>
          <p:cNvPr id="12" name="Text 10"/>
          <p:cNvSpPr txBox="1"/>
          <p:nvPr/>
        </p:nvSpPr>
        <p:spPr>
          <a:xfrm>
            <a:off x="4572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Above the reference point (gains): CONCAVE → risk-avoiding. The first €10 of gain is worth more than the second €10.</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Below it (losses): CONVEX → risk-SEEKING. The investor will accept more risk to avoid realising a loss than to make a gain.</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Asymmetry: for the same absolute move, the loss side has the greater impact on utility. The curriculum states this qualitatively and puts no number on it.</a:t>
            </a:r>
            <a:endParaRPr lang="en-US" sz="1200" dirty="0"/>
          </a:p>
        </p:txBody>
      </p:sp>
      <p:sp>
        <p:nvSpPr>
          <p:cNvPr id="13" name="Shape 11"/>
          <p:cNvSpPr/>
          <p:nvPr/>
        </p:nvSpPr>
        <p:spPr>
          <a:xfrm>
            <a:off x="4663440" y="1188720"/>
            <a:ext cx="4160520" cy="2788920"/>
          </a:xfrm>
          <a:prstGeom prst="rect">
            <a:avLst/>
          </a:prstGeom>
          <a:solidFill>
            <a:srgbClr val="F5F7FA"/>
          </a:solidFill>
          <a:ln/>
        </p:spPr>
      </p:sp>
      <p:sp>
        <p:nvSpPr>
          <p:cNvPr id="14" name="Shape 12"/>
          <p:cNvSpPr/>
          <p:nvPr/>
        </p:nvSpPr>
        <p:spPr>
          <a:xfrm>
            <a:off x="4663440" y="1188720"/>
            <a:ext cx="73152" cy="2788920"/>
          </a:xfrm>
          <a:prstGeom prst="rect">
            <a:avLst/>
          </a:prstGeom>
          <a:solidFill>
            <a:srgbClr val="1B2A4A"/>
          </a:solidFill>
          <a:ln/>
        </p:spPr>
      </p:sp>
      <p:sp>
        <p:nvSpPr>
          <p:cNvPr id="15" name="Text 13"/>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DISPOSITION EFFECT</a:t>
            </a:r>
            <a:endParaRPr lang="en-US" sz="1100" dirty="0"/>
          </a:p>
        </p:txBody>
      </p:sp>
      <p:sp>
        <p:nvSpPr>
          <p:cNvPr id="16" name="Text 14"/>
          <p:cNvSpPr txBox="1"/>
          <p:nvPr/>
        </p:nvSpPr>
        <p:spPr>
          <a:xfrm>
            <a:off x="4800600" y="1508760"/>
            <a:ext cx="3931920" cy="2423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name for the behaviour: hold losers too long, hoping to break even, and sell winners too quickly, in case the gain evaporates.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Consequence per the curriculum: the resulting portfolio may be RISKIER than the one the investor's own risk–return objectives call for.</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Remedy: a disciplined process. Analyse the position and weigh the actual probabilities of future gains and losses — not the entry price.</a:t>
            </a:r>
            <a:endParaRPr lang="en-US" sz="1200" dirty="0"/>
          </a:p>
        </p:txBody>
      </p:sp>
      <p:sp>
        <p:nvSpPr>
          <p:cNvPr id="17" name="Shape 15"/>
          <p:cNvSpPr/>
          <p:nvPr/>
        </p:nvSpPr>
        <p:spPr>
          <a:xfrm>
            <a:off x="320040" y="4069080"/>
            <a:ext cx="8503920" cy="502920"/>
          </a:xfrm>
          <a:prstGeom prst="rect">
            <a:avLst/>
          </a:prstGeom>
          <a:solidFill>
            <a:srgbClr val="FEF0E7"/>
          </a:solidFill>
          <a:ln/>
        </p:spPr>
      </p:sp>
      <p:sp>
        <p:nvSpPr>
          <p:cNvPr id="18" name="Shape 16"/>
          <p:cNvSpPr/>
          <p:nvPr/>
        </p:nvSpPr>
        <p:spPr>
          <a:xfrm>
            <a:off x="320040" y="4069080"/>
            <a:ext cx="73152" cy="502920"/>
          </a:xfrm>
          <a:prstGeom prst="rect">
            <a:avLst/>
          </a:prstGeom>
          <a:solidFill>
            <a:srgbClr val="E8600A"/>
          </a:solidFill>
          <a:ln/>
        </p:spPr>
      </p:sp>
      <p:sp>
        <p:nvSpPr>
          <p:cNvPr id="19" name="Text 17"/>
          <p:cNvSpPr txBox="1"/>
          <p:nvPr/>
        </p:nvSpPr>
        <p:spPr>
          <a:xfrm>
            <a:off x="457200" y="41148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PM IMPLICATION</a:t>
            </a:r>
            <a:endParaRPr lang="en-US" sz="1100" dirty="0"/>
          </a:p>
        </p:txBody>
      </p:sp>
      <p:sp>
        <p:nvSpPr>
          <p:cNvPr id="20" name="Text 18"/>
          <p:cNvSpPr txBox="1"/>
          <p:nvPr/>
        </p:nvSpPr>
        <p:spPr>
          <a:xfrm>
            <a:off x="457200" y="4389120"/>
            <a:ext cx="8275320" cy="1371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Automate the sell discipline. Discretion at the exit is where loss aversion destroys most value.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06</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Risk</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management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6 of 6  ·  Deck 20 of 20  ·  Studio Tonton Gug</a:t>
            </a:r>
            <a:endParaRPr lang="en-US" sz="7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Risk management is not risk minimisation — it is choosing and sizing the risks that fit the enterprise's tolerance, then monitoring them continuously</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6, §2–3 "Risk Management Process" and "Risk Management Framework", pp. 243–247.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Doctrine of No Surprises" does not mean predicting the event. It means that when the event happens, its impact on the portfolio has already been quantified and discussed.</a:t>
            </a:r>
            <a:endParaRPr lang="en-US" sz="13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926080"/>
                <a:gridCol w="55778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Framework element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does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Risk governance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Board-level and top-down: sets goals, risk tolerance, oversight.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Risk identification &amp; measurement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Qualitative and quantitative: risk drivers, exposures, metrics.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Risk infrastructure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People and systems: data, models, a scenario engine, reporting.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Policies and processes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Limits and procedures that push governance into daily decisions.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Monitoring, mitigation, management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Continuous. Spot exposure drifting from tolerance, then act on 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 Communications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Continual, at every level, with a feedback loop to the board.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 Strategic analysis and integration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Risk management as an offensive tool — better decisions, more value.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520440"/>
            <a:ext cx="8503920" cy="868680"/>
          </a:xfrm>
          <a:prstGeom prst="rect">
            <a:avLst/>
          </a:prstGeom>
          <a:solidFill>
            <a:srgbClr val="F5F7FA"/>
          </a:solidFill>
          <a:ln/>
        </p:spPr>
      </p:sp>
      <p:sp>
        <p:nvSpPr>
          <p:cNvPr id="11" name="Shape 8"/>
          <p:cNvSpPr/>
          <p:nvPr/>
        </p:nvSpPr>
        <p:spPr>
          <a:xfrm>
            <a:off x="320040" y="3520440"/>
            <a:ext cx="73152" cy="868680"/>
          </a:xfrm>
          <a:prstGeom prst="rect">
            <a:avLst/>
          </a:prstGeom>
          <a:solidFill>
            <a:srgbClr val="1B2A4A"/>
          </a:solidFill>
          <a:ln/>
        </p:spPr>
      </p:sp>
      <p:sp>
        <p:nvSpPr>
          <p:cNvPr id="12" name="Text 9"/>
          <p:cNvSpPr txBox="1"/>
          <p:nvPr/>
        </p:nvSpPr>
        <p:spPr>
          <a:xfrm>
            <a:off x="457200" y="35661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THREE THINGS EVERYONE CALLS "RISK"</a:t>
            </a:r>
            <a:endParaRPr lang="en-US" sz="1100" dirty="0"/>
          </a:p>
        </p:txBody>
      </p:sp>
      <p:sp>
        <p:nvSpPr>
          <p:cNvPr id="13" name="Text 10"/>
          <p:cNvSpPr txBox="1"/>
          <p:nvPr/>
        </p:nvSpPr>
        <p:spPr>
          <a:xfrm>
            <a:off x="457200" y="384048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Risk DRIVER = the underlying uncertainty. Risk POSITION = the risky action taken. Risk EXPOSURE = the valuation change that may result. In the curriculum's yen example those are ±1%, ¥1,000,000, and ±¥10,000 — and exposure = position × driver.</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Risk tolerance says which risks are acceptable; risk budgeting says how much of that tolerance each strategy may spend — appetite becomes positions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three-lines-of-defence row above is standard bank and asset-manager practice. It is NOT part of the CFA Level I curriculum.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9, Learning Module 6, §5–6 "Risk Tolerance" and "Risk Budgeting", pp. 254–258.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Tolerance should be chosen and communicated BEFORE a crisis. The curriculum notes many organisations only do it afterwards — better than never, but much like insuring after the fire.</a:t>
            </a:r>
            <a:endParaRPr lang="en-US" sz="1300" dirty="0"/>
          </a:p>
        </p:txBody>
      </p:sp>
      <p:sp>
        <p:nvSpPr>
          <p:cNvPr id="10" name="Shape 8"/>
          <p:cNvSpPr/>
          <p:nvPr/>
        </p:nvSpPr>
        <p:spPr>
          <a:xfrm>
            <a:off x="320040" y="1188720"/>
            <a:ext cx="4160520" cy="1600200"/>
          </a:xfrm>
          <a:prstGeom prst="rect">
            <a:avLst/>
          </a:prstGeom>
          <a:solidFill>
            <a:srgbClr val="FEF0E7"/>
          </a:solidFill>
          <a:ln/>
        </p:spPr>
      </p:sp>
      <p:sp>
        <p:nvSpPr>
          <p:cNvPr id="11" name="Shape 9"/>
          <p:cNvSpPr/>
          <p:nvPr/>
        </p:nvSpPr>
        <p:spPr>
          <a:xfrm>
            <a:off x="320040" y="1188720"/>
            <a:ext cx="73152" cy="1600200"/>
          </a:xfrm>
          <a:prstGeom prst="rect">
            <a:avLst/>
          </a:prstGeom>
          <a:solidFill>
            <a:srgbClr val="E8600A"/>
          </a:solidFill>
          <a:ln/>
        </p:spPr>
      </p:sp>
      <p:sp>
        <p:nvSpPr>
          <p:cNvPr id="12" name="Text 10"/>
          <p:cNvSpPr txBox="1"/>
          <p:nvPr/>
        </p:nvSpPr>
        <p:spPr>
          <a:xfrm>
            <a:off x="4572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RISK TOLERANCE</a:t>
            </a:r>
            <a:endParaRPr lang="en-US" sz="1100" dirty="0"/>
          </a:p>
        </p:txBody>
      </p:sp>
      <p:sp>
        <p:nvSpPr>
          <p:cNvPr id="13" name="Text 11"/>
          <p:cNvSpPr txBox="1"/>
          <p:nvPr/>
        </p:nvSpPr>
        <p:spPr>
          <a:xfrm>
            <a:off x="457200" y="1508760"/>
            <a:ext cx="3931920" cy="12344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WHICH risks are acceptable, and at what level?</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 board decision, built from two analyses: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Inside view — what shortfalls would make us fail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 Outside view — which risk drivers are we exposed to</a:t>
            </a:r>
            <a:endParaRPr lang="en-US" sz="1200" dirty="0"/>
          </a:p>
        </p:txBody>
      </p:sp>
      <p:sp>
        <p:nvSpPr>
          <p:cNvPr id="14" name="Shape 12"/>
          <p:cNvSpPr/>
          <p:nvPr/>
        </p:nvSpPr>
        <p:spPr>
          <a:xfrm>
            <a:off x="4663440" y="1188720"/>
            <a:ext cx="4160520" cy="1600200"/>
          </a:xfrm>
          <a:prstGeom prst="rect">
            <a:avLst/>
          </a:prstGeom>
          <a:solidFill>
            <a:srgbClr val="F5F7FA"/>
          </a:solidFill>
          <a:ln/>
        </p:spPr>
      </p:sp>
      <p:sp>
        <p:nvSpPr>
          <p:cNvPr id="15" name="Shape 13"/>
          <p:cNvSpPr/>
          <p:nvPr/>
        </p:nvSpPr>
        <p:spPr>
          <a:xfrm>
            <a:off x="4663440" y="1188720"/>
            <a:ext cx="73152" cy="1600200"/>
          </a:xfrm>
          <a:prstGeom prst="rect">
            <a:avLst/>
          </a:prstGeom>
          <a:solidFill>
            <a:srgbClr val="1B2A4A"/>
          </a:solidFill>
          <a:ln/>
        </p:spPr>
      </p:sp>
      <p:sp>
        <p:nvSpPr>
          <p:cNvPr id="16" name="Text 14"/>
          <p:cNvSpPr txBox="1"/>
          <p:nvPr/>
        </p:nvSpPr>
        <p:spPr>
          <a:xfrm>
            <a:off x="4800600" y="123444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RISK BUDGETING</a:t>
            </a:r>
            <a:endParaRPr lang="en-US" sz="1100" dirty="0"/>
          </a:p>
        </p:txBody>
      </p:sp>
      <p:sp>
        <p:nvSpPr>
          <p:cNvPr id="17" name="Text 15"/>
          <p:cNvSpPr txBox="1"/>
          <p:nvPr/>
        </p:nvSpPr>
        <p:spPr>
          <a:xfrm>
            <a:off x="4800600" y="1508760"/>
            <a:ext cx="3931920" cy="12344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HOW MUCH of that tolerance does each strategy, asset or factor get to spend?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Four single-dimension metrics named in the text: standard deviation, beta, VaR, scenario loss.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It forces every risky decision to compete on return per unit of risk.</a:t>
            </a:r>
            <a:endParaRPr lang="en-US" sz="1200" dirty="0"/>
          </a:p>
        </p:txBody>
      </p:sp>
      <p:sp>
        <p:nvSpPr>
          <p:cNvPr id="18" name="Shape 16"/>
          <p:cNvSpPr/>
          <p:nvPr/>
        </p:nvSpPr>
        <p:spPr>
          <a:xfrm>
            <a:off x="320040" y="2926080"/>
            <a:ext cx="2743200" cy="1298448"/>
          </a:xfrm>
          <a:prstGeom prst="rect">
            <a:avLst/>
          </a:prstGeom>
          <a:solidFill>
            <a:srgbClr val="F5F7FA"/>
          </a:solidFill>
          <a:ln/>
        </p:spPr>
      </p:sp>
      <p:sp>
        <p:nvSpPr>
          <p:cNvPr id="19" name="Shape 17"/>
          <p:cNvSpPr/>
          <p:nvPr/>
        </p:nvSpPr>
        <p:spPr>
          <a:xfrm>
            <a:off x="320040" y="2926080"/>
            <a:ext cx="73152" cy="1298448"/>
          </a:xfrm>
          <a:prstGeom prst="rect">
            <a:avLst/>
          </a:prstGeom>
          <a:solidFill>
            <a:srgbClr val="1B2A4A"/>
          </a:solidFill>
          <a:ln/>
        </p:spPr>
      </p:sp>
      <p:sp>
        <p:nvSpPr>
          <p:cNvPr id="20" name="Text 18"/>
          <p:cNvSpPr txBox="1"/>
          <p:nvPr/>
        </p:nvSpPr>
        <p:spPr>
          <a:xfrm>
            <a:off x="457200" y="29718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1ST LINE · BUSINESS</a:t>
            </a:r>
            <a:endParaRPr lang="en-US" sz="1100" dirty="0"/>
          </a:p>
        </p:txBody>
      </p:sp>
      <p:sp>
        <p:nvSpPr>
          <p:cNvPr id="21" name="Text 19"/>
          <p:cNvSpPr txBox="1"/>
          <p:nvPr/>
        </p:nvSpPr>
        <p:spPr>
          <a:xfrm>
            <a:off x="457200" y="3246120"/>
            <a:ext cx="2514600" cy="9326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PMs, traders, front office. Own the risks; make the decisions.</a:t>
            </a:r>
            <a:endParaRPr lang="en-US" sz="1200" dirty="0"/>
          </a:p>
        </p:txBody>
      </p:sp>
      <p:sp>
        <p:nvSpPr>
          <p:cNvPr id="22" name="Shape 20"/>
          <p:cNvSpPr/>
          <p:nvPr/>
        </p:nvSpPr>
        <p:spPr>
          <a:xfrm>
            <a:off x="3200400" y="2926080"/>
            <a:ext cx="2743200" cy="1298448"/>
          </a:xfrm>
          <a:prstGeom prst="rect">
            <a:avLst/>
          </a:prstGeom>
          <a:solidFill>
            <a:srgbClr val="FEF0E7"/>
          </a:solidFill>
          <a:ln/>
        </p:spPr>
      </p:sp>
      <p:sp>
        <p:nvSpPr>
          <p:cNvPr id="23" name="Shape 21"/>
          <p:cNvSpPr/>
          <p:nvPr/>
        </p:nvSpPr>
        <p:spPr>
          <a:xfrm>
            <a:off x="3200400" y="2926080"/>
            <a:ext cx="73152" cy="1298448"/>
          </a:xfrm>
          <a:prstGeom prst="rect">
            <a:avLst/>
          </a:prstGeom>
          <a:solidFill>
            <a:srgbClr val="E8600A"/>
          </a:solidFill>
          <a:ln/>
        </p:spPr>
      </p:sp>
      <p:sp>
        <p:nvSpPr>
          <p:cNvPr id="24" name="Text 22"/>
          <p:cNvSpPr txBox="1"/>
          <p:nvPr/>
        </p:nvSpPr>
        <p:spPr>
          <a:xfrm>
            <a:off x="3337560" y="29718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2ND LINE · RISK</a:t>
            </a:r>
            <a:endParaRPr lang="en-US" sz="1100" dirty="0"/>
          </a:p>
        </p:txBody>
      </p:sp>
      <p:sp>
        <p:nvSpPr>
          <p:cNvPr id="25" name="Text 23"/>
          <p:cNvSpPr txBox="1"/>
          <p:nvPr/>
        </p:nvSpPr>
        <p:spPr>
          <a:xfrm>
            <a:off x="3337560" y="3246120"/>
            <a:ext cx="2514600" cy="9326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Risk team, CRO, compliance. Independent oversight of the first line.</a:t>
            </a:r>
            <a:endParaRPr lang="en-US" sz="1200" dirty="0"/>
          </a:p>
        </p:txBody>
      </p:sp>
      <p:sp>
        <p:nvSpPr>
          <p:cNvPr id="26" name="Shape 24"/>
          <p:cNvSpPr/>
          <p:nvPr/>
        </p:nvSpPr>
        <p:spPr>
          <a:xfrm>
            <a:off x="6080760" y="2926080"/>
            <a:ext cx="2743200" cy="1298448"/>
          </a:xfrm>
          <a:prstGeom prst="rect">
            <a:avLst/>
          </a:prstGeom>
          <a:solidFill>
            <a:srgbClr val="F5F7FA"/>
          </a:solidFill>
          <a:ln/>
        </p:spPr>
      </p:sp>
      <p:sp>
        <p:nvSpPr>
          <p:cNvPr id="27" name="Shape 25"/>
          <p:cNvSpPr/>
          <p:nvPr/>
        </p:nvSpPr>
        <p:spPr>
          <a:xfrm>
            <a:off x="6080760" y="2926080"/>
            <a:ext cx="73152" cy="1298448"/>
          </a:xfrm>
          <a:prstGeom prst="rect">
            <a:avLst/>
          </a:prstGeom>
          <a:solidFill>
            <a:srgbClr val="1B2A4A"/>
          </a:solidFill>
          <a:ln/>
        </p:spPr>
      </p:sp>
      <p:sp>
        <p:nvSpPr>
          <p:cNvPr id="28" name="Text 26"/>
          <p:cNvSpPr txBox="1"/>
          <p:nvPr/>
        </p:nvSpPr>
        <p:spPr>
          <a:xfrm>
            <a:off x="6217920" y="297180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3RD LINE · AUDIT</a:t>
            </a:r>
            <a:endParaRPr lang="en-US" sz="1100" dirty="0"/>
          </a:p>
        </p:txBody>
      </p:sp>
      <p:sp>
        <p:nvSpPr>
          <p:cNvPr id="29" name="Text 27"/>
          <p:cNvSpPr txBox="1"/>
          <p:nvPr/>
        </p:nvSpPr>
        <p:spPr>
          <a:xfrm>
            <a:off x="6217920" y="3246120"/>
            <a:ext cx="2514600" cy="93268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Internal audit. Periodic review of both lines; reports to the board.</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full arc from Deck 01 to Deck 20 collapses into one statement: the discount rate we assumed on day one is the equilibrium price of systematic risk</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Synthesis across the 20-deck course — see ../curriculum_map.md. Ties back to Deck 01 slides 5–8 and Deck 09 slide 30.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"r" in every DCF since Deck 01 stopped being an assumption twenty minutes ago. MPT and the CAPM tell you exactly what it must be in equilibrium, and why.</a:t>
            </a:r>
            <a:endParaRPr lang="en-US" sz="1300" dirty="0"/>
          </a:p>
        </p:txBody>
      </p:sp>
      <p:sp>
        <p:nvSpPr>
          <p:cNvPr id="9" name="Shape 7"/>
          <p:cNvSpPr/>
          <p:nvPr/>
        </p:nvSpPr>
        <p:spPr>
          <a:xfrm>
            <a:off x="320040" y="1188720"/>
            <a:ext cx="8503920" cy="731520"/>
          </a:xfrm>
          <a:prstGeom prst="rect">
            <a:avLst/>
          </a:prstGeom>
          <a:solidFill>
            <a:srgbClr val="1B2A4A"/>
          </a:solidFill>
          <a:ln/>
        </p:spPr>
      </p:sp>
      <p:sp>
        <p:nvSpPr>
          <p:cNvPr id="10" name="Text 8"/>
          <p:cNvSpPr txBox="1"/>
          <p:nvPr/>
        </p:nvSpPr>
        <p:spPr>
          <a:xfrm>
            <a:off x="411480" y="1188720"/>
            <a:ext cx="8321040" cy="7315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PV = Σ CFₜ / (1+r)ᵗ    with    r = R_f + β × [E(R_m) − R_f]</a:t>
            </a:r>
            <a:endParaRPr lang="en-US" sz="1800" dirty="0"/>
          </a:p>
        </p:txBody>
      </p:sp>
      <p:sp>
        <p:nvSpPr>
          <p:cNvPr id="11" name="Text 9"/>
          <p:cNvSpPr txBox="1"/>
          <p:nvPr/>
        </p:nvSpPr>
        <p:spPr>
          <a:xfrm>
            <a:off x="320040" y="194767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Deck 01 on the left, Deck 20 on the right. The two bookends of the course are the same equation seen from opposite sides.</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20040" y="2331720"/>
          <a:ext cx="8503920" cy="914400"/>
        </p:xfrm>
        <a:graphic>
          <a:graphicData uri="http://schemas.openxmlformats.org/drawingml/2006/table">
            <a:tbl>
              <a:tblPr/>
              <a:tblGrid>
                <a:gridCol w="1005840"/>
                <a:gridCol w="3474720"/>
                <a:gridCol w="402336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Decks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they covered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they contributed to the DCF</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TVM and DCF foundations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Defined PV, NPV, IRR — and took r as given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02–05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Quant methods and economics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Distributions, regression, rates, inflation, FX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06–08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Financial statement analysis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Supplied and stress-tested the cash flows CF_t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09–12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Corporate issuers and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WACC and the cost of equity; forecast the payouts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13–16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Fixed income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Priced the risk-free leg and the credit spread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17–19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Derivatives and alternatives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Hedged, replicated, and priced illiquidity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MPT and CAPM (this deck)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Derived r = R_f + β·ERP — the last missing piece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20 — Portfolio Management, MPT, CAPM &amp; Risk Management</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Return adds linearly across a portfolio; risk does not. For any ρ &lt; +1, portfolio σ is below the weighted average — that gap is the whole of diversification.</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Efficient frontier = the min-variance frontier ABOVE the GMVP. Add a risk-free asset and you get the CAL; make the risky portfolio the market and you get the CML.</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Only systematic risk is priced. E(R) = R_f + β × ERP. Three lines, three x-axes: CAL and CML on σ, SML on β. Above the SML = underpriced, below = overpriced.</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Sharpe and M² use total risk σ; Treynor and Jensen's alpha use β. Use σ when the portfolio is all the investor has; use β when it is one sleeve of many.</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Process = Plan, Execute, Feed back, and back to Plan. The IPS has eight sections plus appendices, and separates objectives from the five LTTLU constraints.</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Risk tolerance = the LOWER of ability and willingness, never the average. Cognitive biases you educate away; emotional ones you design the portfolio around.</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Risk management is not minimisation. Seven framework elements; tolerance is the board's sentence, the budget is its arithmetic in σ, β, VaR or scenario loss.</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And the arc closes: the r you assumed in Deck 01 is R_f + β·ERP. Twenty decks, one equation. Everything else was learning what to put into it. Thank you.</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20 · Portfolio Management, MPT, CAPM &amp; Risk Management</dc:title>
  <dc:subject>PptxGenJS Presentation</dc:subject>
  <dc:creator>Studio Tonton Gug</dc:creator>
  <cp:lastModifiedBy>Studio Tonton Gug</cp:lastModifiedBy>
  <cp:revision>1</cp:revision>
  <dcterms:created xsi:type="dcterms:W3CDTF">2026-09-02T18:43:50Z</dcterms:created>
  <dcterms:modified xsi:type="dcterms:W3CDTF">2026-09-02T18:43:50Z</dcterms:modified>
</cp:coreProperties>
</file>