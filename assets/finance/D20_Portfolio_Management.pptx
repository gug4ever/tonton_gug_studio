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20  ·  WEEK 4  ·  AFTERNOON 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 Management,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MPT, CAPM &amp; Risk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market prices risk — and how investors build portfolios to harvest the reward for bearing it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9 Learning Modules 1–6 · FINAL DECK (20 of 20)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Portfolio Management, MPT, CAPM &amp; Risk Management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MPT foundations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459382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aversion &amp; utility · two-asset variance · correlation &amp; diversification · efficient frontier · min-variance portfolios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804416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1804416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1804416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1850136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CAL, CML, CAPM &amp; SML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056790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allocation line · market portfolio · systematic vs idiosyncratic · β · CAPM · security market line · under/overpriced assets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401824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401824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401824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447544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portfolio management process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2654198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· execution · feedback · individual vs institutional investors · DB vs DC pensions · asset management industry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2999232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2999232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2999232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044952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investment policy statement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3251606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 7 components · risk &amp; return objectives · ability vs willingness · constraints (LTTLU) · Marie Gascon worked example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" y="3596640"/>
            <a:ext cx="8503920" cy="5608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20040" y="3596640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0040" y="3596640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3642360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Behavioral biases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24128" y="3849014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errors (fixable) vs emotional biases (adapt) · belief perseverance · processing · loss aversion · disposition effect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0040" y="4194048"/>
            <a:ext cx="8503920" cy="560832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4" name="Shape 32"/>
          <p:cNvSpPr/>
          <p:nvPr/>
        </p:nvSpPr>
        <p:spPr>
          <a:xfrm>
            <a:off x="320040" y="4194048"/>
            <a:ext cx="594360" cy="56083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0040" y="4194048"/>
            <a:ext cx="594360" cy="5608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" y="4239768"/>
            <a:ext cx="7726680" cy="25237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management framework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24128" y="4446422"/>
            <a:ext cx="7726680" cy="30845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governance · tolerance · budgeting · three lines of defense · closing the Deck 01 → Deck 20 arc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portfolio expected return and variance for a two-asset portfolio, and explain how correlation (not standard deviation alone) drives diversification benefits.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 an asset's expected return using the CAPM, distinguish systematic from idiosyncratic risk, and use the Security Market Line to identify under- and over-priced assets.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three-step portfolio management process and the role of the IPS — including how to resolve the conflict between a client's ability and willingness to take risk.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cognitive errors from emotional biases and name the specific biases (anchoring, loss aversion, herding, overconfidence) most likely to impair portfolio decisions.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risk management framework, the difference between risk tolerance and risk budgeting, and connect the CAPM discount rate back to the DCF valuation framework of Deck 01.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MPT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6  ·  Deck 20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Risk-averse investors require a higher expected return for every extra unit of variance they accept — utility encodes this trade-off numerically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1, §4 "Risk Aversion and Portfolio Selection", pp. 12–20.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investors are risk-averse: they demand compensation for bearing risk. The coefficient A is calibrated per-client in the IPS.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  =  E(R)  −  ½ × A × σ²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U = utility; A = coefficient of risk aversion; σ² = portfolio variance. Higher A → steeper indifference curves → more averse.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057400"/>
            <a:ext cx="85039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05740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2920" y="205740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209397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&gt; 0  ·  Risk-averse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235366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investor. Demands higher return to accept variance. Indifference curves slope up and are convex — steeper as A rises. Retail clients: A ≈ 2–4; institutions: A ≈ 2.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788920"/>
            <a:ext cx="8503920" cy="65836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278892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2920" y="278892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282549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= 0  ·  Risk-neutral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308518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Indifferent between certain and uncertain outcomes of equal expected value. Theoretical benchmark — vanishingly rare in practice except in option-pricing math.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3520440"/>
            <a:ext cx="8503920" cy="65836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" y="3520440"/>
            <a:ext cx="91440" cy="65836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02920" y="3520440"/>
            <a:ext cx="36576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3557016"/>
            <a:ext cx="7863840" cy="2962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&lt; 0  ·  Risk-seeking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3816706"/>
            <a:ext cx="7863840" cy="36210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rises with variance. Gamblers, lottery-ticket buyers. Often exhibited in the loss domain per Kahneman–Tversky — risk-seeking when underwater.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 return is a weighted average of asset returns — but portfolio variance depends on the correlation between assets, diversification's only free lunch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1, §7 "Portfolio Risk", pp. 21–25.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large N-asset portfolio, as N rises the w² variance terms vanish and average covariance dominates — the end-state of diversification.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E(R_p) = Σ wᵢ E(Rᵢ)       σ²_p = Σ wᵢ² σᵢ² + Σ Σᵢ≠ⱼ wᵢ wⱼ Cov(Rᵢ, Rⱼ)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9339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Cov(Rᵢ, Rⱼ) = ρᵢⱼ × σᵢ × σⱼ.  Return is linear in weights; risk is NOT — that asymmetry is what makes diversification work.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86000"/>
            <a:ext cx="4160520" cy="1965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286000"/>
            <a:ext cx="73152" cy="1965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TWO-ASSET SPECIAL CASE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0604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σ²_p = w₁²σ₁² + w₂²σ₂² + 2 w₁ w₂ ρ σ₁ σ₂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workhorse formula you memorize for CFA L1 — every multi-asset result extends from this base.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286000"/>
            <a:ext cx="4160520" cy="1965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286000"/>
            <a:ext cx="73152" cy="1965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3172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LARGE-N LIMIT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06040"/>
            <a:ext cx="3931920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N → ∞ with equal weights, σ²_p → average pairwise covariance. Individual-asset variance ceases to matter — only the covariance structure does.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1 Example 3 — combining an 80% S&amp;P 500 position with 20% Emerging Markets raises return and lowers risk at the same time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1, Example 3, pp. 22–24.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*riskier* asset to a portfolio can REDUCE total portfolio risk when its correlation with the existing holdings is low enough — the classic MPT insight.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416052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822960"/>
                <a:gridCol w="82296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Asset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Weight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E(R)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σ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S&amp;P 500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9.93%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16.21%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MSCI Emerging Mkts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18.20%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33.11%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Covariance S&amp;P / 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0.0050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Portfolio (80/20)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11.58%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15.10%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0" y="1188720"/>
            <a:ext cx="4251960" cy="3108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09160" y="1234440"/>
            <a:ext cx="39776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709160" y="1527048"/>
            <a:ext cx="39776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portfolio return (weighted avg) and variance using the two-asset formula.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709160" y="2039112"/>
            <a:ext cx="3977640" cy="1746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E(R_p) = 0.80 × 9.93% + 0.20 × 18.20% = 11.58%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σ²_p = (0.80² × 0.1621²) + (0.20² × 0.3311²) + (2 × 0.80 × 0.20 × 0.0050)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= 0.01682 + 0.00439 + 0.00160 = 0.02281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σ_p = √0.02281 = 15.10%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663440" y="3858768"/>
            <a:ext cx="406908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709160" y="3858768"/>
            <a:ext cx="397764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⇒  E(R)=11.58% and σ=15.10% — higher return AND lower risk than S&amp;P alone.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Correlation ρ is the lever: ρ = +1 erases diversification, ρ = −1 allows a risk-free portfolio, 0 ≤ ρ &lt; 1 is where diversification actually lives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1, §8 "Correlation and Risk Diversification", pp. 25–35.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stocks with identical 10% return and 20% risk, combined 50/50. Only correlation changes. Portfolio variance collapses as ρ falls.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σ²_p  =  w₁²σ₁²  +  w₂²σ₂²  +  2 w₁ w₂ ρ σ₁ σ₂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96596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17520"/>
                <a:gridCol w="1645920"/>
                <a:gridCol w="19202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Correlation ρ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Portfolio variance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Portfolio σ_p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Diversification benefit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0.04 (= weighted avg)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None — σ equals weighted avg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17.32%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2.68 pp risk reduction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14.14%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5.86 pp — no co-movement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Half the risk erased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Perfect hedge — risk-free portfolio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20040" y="3977640"/>
            <a:ext cx="8503920" cy="5943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0"/>
          <p:cNvSpPr/>
          <p:nvPr/>
        </p:nvSpPr>
        <p:spPr>
          <a:xfrm>
            <a:off x="320040" y="3977640"/>
            <a:ext cx="73152" cy="5943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40233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RULE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297680"/>
            <a:ext cx="827532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ρ &lt; +1, portfolio standard deviation is LESS than the weighted average of individual standard deviations. Equality only at ρ = +1.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efficient frontier is the upper boundary of all portfolios with minimum variance at each expected return — every portfolio below it is dominated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1, §10 "Efficient Frontier", pp. 37–43.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Markowitz's 1952 insight: rational investors should hold only portfolios on the efficient frontier. Everything inside the opportunity set is sub-optimal.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063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063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KEY PORTFOLIOS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Minimum-Variance Portfolio (GMVP): the single portfolio on the frontier with lowest possible risk.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Minimum-Variance Frontier: lowest σ for each level of E(R).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Frontier: the UPPER half of the minimum-variance frontier — from GMVP upward to the highest-return asset.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063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063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THE LOWER HALF IS DOMINATED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portfolio on the lower half of the min-variance frontier has a mirror-image above it with the same σ but higher E(R).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rational investor would ever choose the lower portfolio — hence "dominated."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maximization selects a single point on the frontier where the highest indifference curve is tangent.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4343400"/>
            <a:ext cx="8503920" cy="4572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4343400"/>
            <a:ext cx="73152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43891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ECONOMIC MEANING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63440"/>
            <a:ext cx="8275320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efficient frontier is concave — doubling risk does NOT double return. Each marginal unit of σ buys less E(R) than the previous one.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CAL, CML,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CAPM &amp; SML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6  ·  Deck 20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Adding a risk-free asset produces the Capital Allocation Line — a straight line whose slope is the Sharpe ratio of the risky portfolio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2, §2 "Portfolio of Risk-Free and Risky Assets", pp. 64–68.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 dominates the efficient frontier of risky assets alone. Investors hold some combination of the risk-free asset and the optimal risky portfolio.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E(R_p)  =  R_f  +  [ (E(R_i) − R_f) / σ_i ]  ×  σ_p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9339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Intercept = R_f; slope = (E(R_i) − R_f) / σ_i = Sharpe ratio = "market price of risk". All portfolios on the CAL share this slope.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7744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4231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 R_f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9748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in risk-free asset. σ = 0. Return = R_f. Leftmost point on CAL.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377440"/>
            <a:ext cx="274320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37744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37560" y="24231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POINT i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269748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in risky portfolio. σ = σ_i. Return = E(R_i). Tangent point with efficient frontier — the *optimal* risky portfolio.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80760" y="2377440"/>
            <a:ext cx="274320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1" name="Shape 19"/>
          <p:cNvSpPr/>
          <p:nvPr/>
        </p:nvSpPr>
        <p:spPr>
          <a:xfrm>
            <a:off x="6080760" y="237744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0" y="24231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BEYOND i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2697480"/>
            <a:ext cx="251460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Leverage: borrow at R_f, invest &gt;100% in i. w_rf &lt; 0; return rises linearly, σ rises linearly.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every investor holds the same optimal risky portfolio — the market portfolio — the CAL becomes the Capital Market Line, and two-fund separation obtains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2, §3 "The Capital Market Line", pp. 68–74.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homogeneous expectations every investor picks the same risky portfolio = the value-weighted market portfolio M. Differences in risk tolerance only change the R_f/M mix.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E(R_p)  =  R_f  +  [ (E(R_m) − R_f) / σ_m ]  ×  σ_p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Slope = Sharpe ratio of the market = equity risk premium ÷ market σ. This is the CAL of the market portfolio — the CML.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31720"/>
            <a:ext cx="4160520" cy="1920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331720"/>
            <a:ext cx="73152" cy="1920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TWO-FUND SEPARATION THEOREM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rational investor holds only two funds: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(1) the risk-free asset, and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(2) the market portfolio M.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tolerance dictates the split; asset selection is the SAME for everyone — the core insight behind index investing.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331720"/>
            <a:ext cx="4160520" cy="19202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331720"/>
            <a:ext cx="73152" cy="19202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77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PASSIVE VS ACTIVE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51760"/>
            <a:ext cx="3931920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CML says passive = optimal if markets are efficient.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managers must either (a) beat the CML by skill (α &gt; 0) or (b) accept that they are below the CML with additional costs.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risk = systematic + nonsystematic; only systematic risk is priced because diversification eliminates the rest for free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2, §5 "Systematic and Nonsystematic Risk", pp. 77–81.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Idiosyncratic shocks wash out in a well-diversified portfolio (N ≳ 30 uncorrelated names). Market-wide shocks do not. The market pays only for the latter.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σ²_total  =  σ²_systematic  +  σ²_nonsystematic</a:t>
            </a:r>
            <a:endParaRPr lang="en-US" sz="1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96596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286000"/>
                <a:gridCol w="301752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Risk 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Other names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Examples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Diversifiable?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Systematic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market / non-diversifiable / β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Recession, policy rate move, pandemic, war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Nonsystematic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idiosyncratic / specific / α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CEO scandal, product recall, single-firm fraud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20040" y="3337560"/>
            <a:ext cx="8503920" cy="960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0"/>
          <p:cNvSpPr/>
          <p:nvPr/>
        </p:nvSpPr>
        <p:spPr>
          <a:xfrm>
            <a:off x="320040" y="3337560"/>
            <a:ext cx="73152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3832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ONLY SYSTEMATIC RISK IS COMPENSATED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3657600"/>
            <a:ext cx="827532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investors could earn a premium for idiosyncratic risk, they could diversify it away costlessly and still pocket the premium — an arbitrage the market eliminates. Thus in equilibrium, only non-diversifiable risk carries an expected-return premium.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Beta measures how much an asset moves with the market — the only risk the market compensates you for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2, §6 "Calculation and Interpretation of Beta", pp. 81–86.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is estimated from historical data via regression of asset returns on market returns. Practitioners adjust raw β toward 1 (Blume adjustment) for forecasting.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β_i  =  Cov(R_i, R_m) / σ²_m  =  ρ_i,m × σ_i / σ_m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9339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β is both the slope coefficient in R_i = α + β R_m + ε (market model) and the standardized measure of systematic risk.</a:t>
            </a:r>
            <a:endParaRPr lang="en-US" sz="1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5852160"/>
                <a:gridCol w="16459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Beta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Interpretation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Typical name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=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Asset return uncorrelated with market. Return = R_f in CAPM.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Risk-free asset, Bajaj Auto (Ex. 7)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&lt; β &lt;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Less volatile than market. Defensive.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Utilities, consumer staples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=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Moves one-for-one with the market by definition.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The market portfolio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&gt;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More volatile than market. Cyclical / amplifying.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Tech, semiconductors, small-caps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&lt;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Moves opposite to market — rare, valuable hedges.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Gold (sometimes), VIX-linked products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4069080"/>
            <a:ext cx="8503920" cy="3657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4069080"/>
            <a:ext cx="73152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41148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PORTFOLIO BETA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389120"/>
            <a:ext cx="827532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β_p = Σ wᵢ × βᵢ  —  a weighted average, exactly like portfolio return. Use this to target portfolio-level market exposure.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CAPM says expected return equals the risk-free rate plus beta times the equity risk premium — the single most-cited formula in modern finance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CAPM assumes: (i) homogeneous investor expectations, (ii) single holding period, (iii) investors are rational mean-variance optimizers, (iv) unlimited borrowing/lending at R_f.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2, §7 "CAPM Assumptions and the Security Market Line", pp. 86–91.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is usually a government-bond yield; ERP is the long-run excess return of equities over R_f (typically 4–6% in developed markets).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23444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23444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E(R_i)  =  R_f  +  β_i  ×  [ E(R_m)  −  R_f ]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199339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E(R_m) − R_f = equity risk premium (ERP). The CAPM linearly maps systematic risk (β) into required return.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331720"/>
            <a:ext cx="850392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377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CAPM WORKED EXAMPLE — COST OF EQUITY FOR A CYCLICAL STOCK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70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has β = 1.2. Risk-free rate R_f = 2.0%. Equity risk premium E(R_m) − R_f = 5.0%.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82112"/>
            <a:ext cx="822960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 into CAPM: E(R_i) = 2.0% + 1.2 × 5.0%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premium: 1.2 × 5.0% = 6.0%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Sum: 2.0% + 6.0% = 8.0%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8.0% is both the required return and the discount rate for DCF valuation of the stock's equity cash flows.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⇒ E(R) = 8.0% = required return = cost of equity = DCF discount rate.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LM2 Example 7 — Bajaj Auto has zero correlation with the market, so its CAPM expected return collapses back to the risk-free rate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2, Example 7, pp. 89–90.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shared by both companies: R_f = 3%, E(R_m) = 13%, σ_m = 23%. Only correlation with the market and σ_i differ between the two.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063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BAJAJ AUTO (INDIA)  ·  ρ = 0.00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38862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σ_i = 50%, ρ_i,m = 0 with the market. Compute β and E(R).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3886200" cy="1700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ρ × σ_i / σ_m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0.00 × 0.50 / 0.23 = 0.00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 = 3% + 0 × (13% − 3%)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3.0%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13048"/>
            <a:ext cx="39776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13048"/>
            <a:ext cx="38862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⇒ E(R) = R_f = 3.0% — no systematic exposure = no premium.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188720"/>
            <a:ext cx="4160520" cy="3063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0600" y="123444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MUELLER METALS (GERMANY)  ·  ρ = 0.65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1527048"/>
            <a:ext cx="38862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σ_i = 50%, ρ_i,m = 0.65 with the market. Compute β and E(R).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2039112"/>
            <a:ext cx="3886200" cy="1700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 = ρ × σ_i / σ_m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0.65 × 0.50 / 0.23 = 1.41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E(R) = 3% + 1.41 × (13% − 3%)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3% + 14.1% = 17.1%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54880" y="3813048"/>
            <a:ext cx="39776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813048"/>
            <a:ext cx="38862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⇒ E(R) = 17.1% — high correlation drives the premium.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" y="4343400"/>
            <a:ext cx="73152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43891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TAKEAWAY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663440"/>
            <a:ext cx="827532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 risk (σ=50%). Only the CORRELATION with the market differs — and that alone drives the 14pp return gap.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Security Market Line plots expected return against beta — assets above the line are underpriced, below the line are overpriced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The SML differs from the CML: CML uses total risk (σ) and applies only to efficient portfolios. SML uses systematic risk (β) and applies to ANY asset, efficient or not.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2, §7 "The Security Market Line", pp. 88–91.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return above CAPM required return ⇒ α &gt; 0 ⇒ BUY. Below ⇒ α &lt; 0 ⇒ SELL. In equilibrium α = 0 for all assets and every point sits ON the SML.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2743200" cy="310896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ABOVE SML  ·  UNDERPRICED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645920"/>
            <a:ext cx="2468880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return &gt; CAPM required return for the given β.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&gt; 0.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BUY — the market is paying you MORE than its equilibrium compensation for the risk taken.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188720"/>
            <a:ext cx="274320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3756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 THE SML  ·  FAIRLY PRICED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1645920"/>
            <a:ext cx="2468880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return = CAPM required return for the given β.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HOLD at market weight. In CAPM equilibrium, every asset sits exactly on the SML — no free lunch.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2743200" cy="310896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0760" y="1188720"/>
            <a:ext cx="73152" cy="310896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280160"/>
            <a:ext cx="2468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BELOW SML  ·  OVERPRICED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1645920"/>
            <a:ext cx="2468880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return &lt; CAPM required return for the given β.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&lt; 0.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SELL / UNDERWEIGHT — compensation is inadequate for the β exposure. Long-only funds underweight; hedge funds short.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portfolio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process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6  ·  Deck 20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professional portfolio is built in the same three steps — plan, execute, feed back — and the IPS anchors all three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3, §4 "Steps in the Portfolio Management Process", pp. 133–137.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most-tested workflow on CFA L1 portfolio management. Sequence matters: skipping the planning step is the #1 practitioner failure.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91440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188720"/>
            <a:ext cx="3657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1225296"/>
            <a:ext cx="7863840" cy="43205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1  ·  PLANNING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620774"/>
            <a:ext cx="7863840" cy="5280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client (fact-finding, questionnaires, interviews) → draft the IPS (investment policy statement). Output: written IPS with risk/return objectives and constraints. Reviewed every 3 years or at any material change.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240280"/>
            <a:ext cx="8503920" cy="9601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" y="2240280"/>
            <a:ext cx="91440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2240280"/>
            <a:ext cx="3657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2276856"/>
            <a:ext cx="7863840" cy="43205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2  ·  EXECUTION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2672334"/>
            <a:ext cx="7863840" cy="5280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asset allocation (SAA) → security analysis (top-down + bottom-up) → portfolio construction (sizing, sector tilts, trading). The SAA is the single biggest driver of long-run portfolio returns.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3291840"/>
            <a:ext cx="8503920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3291840"/>
            <a:ext cx="91440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3291840"/>
            <a:ext cx="365760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3328416"/>
            <a:ext cx="7863840" cy="43205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3  ·  FEEDBACK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3723894"/>
            <a:ext cx="7863840" cy="52806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portfolio → rebalance when drift &gt; threshold → evaluate performance vs benchmark → report to client. Feedback loop may trigger IPS revision if circumstances have changed.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Individual vs institutional investors face very different horizons, liabilities, and constraints — one portfolio template does not fit all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3, §5 "Types of Investors", pp. 137–143.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Yale endowment: 80%+ alternatives / equities, &lt;5% fixed income. MassMutual insurer: 80%+ bonds. Same economy, opposite portfolios — because their liabilities differ.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71600"/>
                <a:gridCol w="1554480"/>
                <a:gridCol w="19202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Investor type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Horizon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Risk tol.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Liquidity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Primary constraint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Retail individual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10–50y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Variable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Moderate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Taxes; unique circumstances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pension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Long (LDI)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Low-moderate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Liabilities + regulation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 pension 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Participant's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Participant's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 at retire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Participant chooses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Endowment / foundation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Perpetual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Spending policy (~5%)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Insurer (life / P&amp;C)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Matched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 for P&amp;C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Regulation (Solvency II etc.)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Sovereign wealth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Very long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Political mandate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DB and DC pensions place the investment risk on opposite sides of the ledger — the key distinction every portfolio manager must internalize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Global pension assets ≈ US$41T at end-2017. US / UK / Japan = 76% of that. Secular trend: DB → DC as firms shed risk.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3, §5.1 "Defined Benefit Pension Plans", pp. 138–143.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Deck 01 discount-rate framework feels abstract, a DB plan makes it concrete: the plan's PV of liabilities IS a DCF calculation, and funded ratio = assets / DCF.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DEFINED BENEFIT (DB)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 promises a specified pension formula (e.g. 2% × years × final salary).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RISK: on the EMPLOYER.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RISK: on the EMPLOYER.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Asset-liability management (LDI) framework. Discount liabilities at a bond-like rate; match duration with bonds. Underfunded DB plans are off-balance-sheet corporate debt.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DEFINED CONTRIBUTION (DC)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Employer contributes a specified amount (e.g. 5% match on 5% employee) — not a specified payout.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RISK: on the EMPLOYEE.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RISK: on the EMPLOYEE.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401(k) / personal pension accounts. Target-date / lifestyle funds are the default. Employee bears all capital-market outcomes.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4343400"/>
            <a:ext cx="73152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3891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GLOBAL SHIFT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663440"/>
            <a:ext cx="827532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the 1990s, most private-sector plans have shifted from DB to DC — transferring decades of investment and longevity risk from corporate balance sheets to households.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6  ·  Deck 20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IPS answers two questions in turn: what are the client's risk and return objectives, and what constraints apply to meeting them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4, §2 "The Investment Policy Statement", pp. 162–164.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IPS is a legal requirement in many jurisdictions (UK Pensions Act 1995, EU MiFID KYC) — and a defensive document for the adviser when clients push back later.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760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Section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Contents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Introduction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Describes the client (individual, institution). Basic demographics, wealth level, sources of income.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Statement of Purpose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Why the IPS exists. Goals the portfolio is to achieve. Framework for measuring success.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Duties and Responsibilities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 client, custodian, investment manager, any sub-advisers. Fiduciary obligations.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Procedures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Steps to keep the IPS current. Process for responding to market events, rebalancing, contingencies.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Investment Objectives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Return and risk objectives, absolute or relative to benchmarks. Must be consistent with each other.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Investment Constraints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Liquidity, time horizon, tax, legal/regulatory, unique (the "LTTLU" mnemonic). ESG if applicable.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Investment Guidelines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Permissible asset classes, use of leverage, derivatives, excluded securities. + SAA appendix (policy portfolio).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tolerance is the lower of ability (objective) and willingness (subjective) — never average them; always defer to the more conservative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4, §3 "IPS Risk and Return Objectives", pp. 164–170.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ability and willingness conflict, the adviser counsels the client, documents the gap, and SETS the portfolio at the lower of the two. Never modify personality.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56692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 tolerance  =  MIN ( Ability to bear risk ,  Willingness to take risk )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920240"/>
          <a:ext cx="85039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01752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Willingness: BELOW avg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Willingness: ABOVE avg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Ability: ABOVE 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Resolution needed — educate, document gap, default to BELOW avg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CONSISTENT → above-average tolerance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Ability: BELOW 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CONSISTENT → below-average tolerance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Resolution needed — counsel, default to BELOW avg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320040" y="3429000"/>
            <a:ext cx="8503920" cy="9144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0"/>
          <p:cNvSpPr/>
          <p:nvPr/>
        </p:nvSpPr>
        <p:spPr>
          <a:xfrm>
            <a:off x="320040" y="3429000"/>
            <a:ext cx="73152" cy="9144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4747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ABILITY = OBJECTIVE, WILLINGNESS = SUBJECTIVE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3749040"/>
            <a:ext cx="8275320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ABILITY drivers (measurable): time horizon, wealth/liabilities ratio, income stability, expected future expenses. LONGER horizon + HIGHER wealth = higher ability.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WILLINGNESS drivers (psychological): risk attitude questionnaires, past investment experience, self-reported tolerance. Not the adviser's job to change it.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"RR LTTLU" template covers every IPS constraint — Liquidity, Time horizon, Tax, Legal/regulatory, Unique, on top of Risk &amp; Return objectives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4, §4 "IPS Constraints", pp. 172–176.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for a DC participant: Sophie, 45yo, £80k salary, 20y to retirement, targeting £700k retirement pot. Fill each row to produce a complete IPS.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11480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Component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Definition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Sophie's IPS entry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objective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Absolute or relative; nominal or real; before or after fees/tax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Real 4.5% p.a. over 20y (nominal ~7% @ 2.5% inflation)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objective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Absolute (σ, max drawdown) or relative (tracking error)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 15% annual σ; drawdown limit 25% in any 12m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Upcoming cash needs from the portfolio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Emergency fund £20k; no planned drawdowns before age 65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horizon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Single- or multi-stage; may include accumulation + decumulation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Two-stage: 20y accumulation; 25y retirement decumulation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Marginal rates; tax-advantaged wrappers (pensions, ISAs)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UK higher-rate 40%; max pension contribution relief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/ regulatory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Jurisdictional rules, trust deeds, corporate restrictions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UK DC rules; 25% tax-free lump sum from age 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circumstances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ESG preferences, concentrated holdings, illiquid assets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Employer-stock holdings must not exceed 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LM4 Example 4 — Marie Gascon's case solves the annual return she needs to fund a €2m retirement in 20 years at 2% inflation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4, Example 4, pp. 169–170.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return objective flows straight from the constraint analysis (inflation + horizon + capital) — NOT from subjective market expectations. TVM math from Deck 01.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MARIE GASCON  ·  AGE 30  ·  RETIRE AT 50  ·  20-YEAR HORIZON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52704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savings €1m total. Earmark €100k as emergency cash, invest €900k. Target: €2m in today's money at retirement. Inflation expected 2% p.a. Pension contributions and returns are tax-exempt in France; distributions at retirement taxable.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39112"/>
            <a:ext cx="8229600" cy="1746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Inflate the target: €2,000,000 × (1.02)^20 = €2,971,895 (nominal money-of-the-day)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Required CAGR on €900k to reach €2,971,895: (€2,971,895 / €900,000)^(1/20) − 1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Ratio = 3.302;  3.302^(1/20) = 1.0617  →  6.17% nominal p.a.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Real required return: (1.0617 / 1.02) − 1 = 4.09% real p.a.
</a:t>
            </a:r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Verify: €900,000 × (1.062)^20 ≈ €2,997,000 ≈ target. ✓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⇒ Required nominal return 6.2% p.a. (4.1% real) — now build a portfolio that plausibly delivers it within Marie's risk tolerance.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Behavioral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biases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of 6  ·  Deck 20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Behavioral biases split cleanly into cognitive errors — fixable with better information — and emotional biases, which you can only recognize and adapt around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5, §2 "Behavioral Bias Categories", pp. 206–207.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distinction drives the remediation: for cognitive biases → more / better data, education, decision checklists. For emotional biases → structural portfolio rules the client cannot override.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COGNITIVE ERRORS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faulty reasoning. Mistakes made while processing information.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 belief-perseverance (conservatism, confirmation, representativeness, illusion of control, hindsight) and processing (anchoring, mental accounting, framing, availability).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yes — with better information, education, advice, systematic decision frameworks.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EMOTIONAL BIASES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impulses, intuitions, feelings. Not conscious errors — they arise spontaneously.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SIX: loss aversion, overconfidence, self-control, status quo, endowment, regret aversion.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no — recognize and ADAPT. Structural portfolio rules (rebalancing thresholds, sell-discipline, DCA) that remove discretion from the client.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4343400"/>
            <a:ext cx="73152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43891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RULE OF THUMB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63440"/>
            <a:ext cx="827532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→ educate. Emotional → automate. If you can't "teach your way out" of the bias, engineer it out of the decision path.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Fifteen biases fit a 2×2 of source × mechanism — anchoring and loss aversion are the two that move markets most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5, §3–4, pp. 207–228.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diagram every CFA L1 candidate should memorize. Count: 5 belief-perseverance + 4 processing + 6 emotional = 15 biases.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3566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Category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Bias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Quick definition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Cognitive — belief persev.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Conservatism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Underweight new info vs prior beliefs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Cognitive — belief persev.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Confirmation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Seek info that confirms; ignore contradicting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Cognitive — belief persev.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Representativeness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Classify on superficial similarity; ignore base rates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Cognitive — belief persev.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Illusion of control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Overestimate personal influence on outcomes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Cognitive — belief persev.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Hindsight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"I knew it all along" after the fact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Cognitive —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Anchoring &amp; adjustment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Fix estimates too close to initial (e.g. purchase) value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Cognitive —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Mental accounting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Treat fungible money as separate "pots"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Cognitive —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Answer differently based on presentation (gain vs loss)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Cognitive — 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Availability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Weight recent / memorable events too heavily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Emotional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Loss aversion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Loss ≈ 2× as painful as equivalent gain; disposition effect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Emotional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Overconfidence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Too-narrow confidence intervals; over-trading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Emotional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Self-control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Short-term gratification over long-term goals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Emotional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Status quo / endowment / regret av.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Prefer current state; value own holdings more; avoid actions that may be regretted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Loss aversion — a loss hurts roughly 2.25× as much as an equivalent gain feels good — is the emotional bias with the biggest portfolio consequences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5, §4 "Loss-Aversion Bias", pp. 219–221.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Kahneman &amp; Tversky (1979): utility function is S-shaped around a reference point — concave in gains (risk-averse) and CONVEX in losses (risk-SEEKING).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089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089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S-SHAPED VALUE FUNCTION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half (gains): concave → risk-averse. A 100→110 gain feels less than 50% as good as a 100→120 gain.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half (losses): convex → risk-seeking. Investor will "double down" on losing positions to avoid realizing the loss.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property: the function is ~2.25× steeper on the loss side than the gain side.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0896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089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DISPOSITION EFFECT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aversion → hold losers too long (hoping for breakeven) and sell winners too soon (to lock in gains).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result: loss-averse investors underperform passive benchmarks by ~1–2% p.a. on average.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structural stop-losses, pre-committed rebalancing rules, tax-loss harvesting to remove the emotional "lock-in" of losses.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4343400"/>
            <a:ext cx="8503920" cy="3657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4343400"/>
            <a:ext cx="73152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438912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PM IMPLICATION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663440"/>
            <a:ext cx="8275320" cy="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>
            <a:lvl1pPr algn="l"/>
          </a:lstStyle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sell-discipline. Human discretion at the exit point is where loss aversion destroys the most value — pre-commit mechanisms bypass it.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management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of 6  ·  Deck 20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management is not risk minimization — it's choosing and sizing risks to fit the enterprise's tolerance, then monitoring continuously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6, §2–3 "Risk Management Process &amp; Framework", pp. 243–250.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Doctrine of No Surprises" — a good risk manager is not expected to predict events; they are expected to have quantified and stress-tested the impact of those events in advance.</a:t>
            </a:r>
            <a:endParaRPr lang="en-US" sz="13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55778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Framework element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does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Risk governance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Board-level: defines goals, risk appetite, oversight, delegation. Top-down.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Risk identification &amp; measurement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Qualitative + quantitative inventory of exposures. σ, VaR, stress tests, scenarios.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Risk infrastructure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People + systems: data, models, engines, reports. Scale depends on complexity.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Policies &amp; processes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Limits, procedures, checklists. Operationalizes governance into daily actions.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Risk monitoring, mitigation, mgmt.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Continuous. When exposure breaches tolerance: mitigate (prevent, avoid, accept, transfer).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Communications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Timely reports across all levels; feedback loops with governance body.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Strategic analysis / 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Risk management as OFFENSIVE tool — improves risk-adjusted decision quality.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tolerance and risk budgeting bridge the gap between the board's appetite and the PM's daily trading decisions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9, Learning Module 6, §5–6 "Risk Tolerance" and "Risk Budgeting", pp. 254–259.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is the appetite statement ("not more than X% loss in a year"); budgeting allocates that X% across strategies, assets, and factors in a measurable way.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16002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1600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TOLERANCE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508760"/>
            <a:ext cx="39319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risks are acceptable, and at what level?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the BOARD. Informed by two analyses: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Inside view: what failures we cannot tolerate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Outside view: what drivers we're exposed to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16002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16002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3444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RISK BUDGETING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1508760"/>
            <a:ext cx="3931920" cy="1234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of the tolerance is spent on each strategy / asset / factor?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metrics: σ, β, VaR, scenario loss.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tolerance operationally.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2926080"/>
            <a:ext cx="2743200" cy="13716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" y="2926080"/>
            <a:ext cx="73152" cy="13716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297180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1ST LINE · BUSINESS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146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PMs, traders, front office. Own the risks. Make the decisions.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200400" y="2926080"/>
            <a:ext cx="2743200" cy="13716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2" name="Shape 20"/>
          <p:cNvSpPr/>
          <p:nvPr/>
        </p:nvSpPr>
        <p:spPr>
          <a:xfrm>
            <a:off x="3200400" y="2926080"/>
            <a:ext cx="73152" cy="1371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337560" y="297180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2ND LINE · RISK &amp; COMPLIANCE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337560" y="3246120"/>
            <a:ext cx="25146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team, CRO, compliance. Independent oversight of 1st-line.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080760" y="2926080"/>
            <a:ext cx="2743200" cy="13716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6" name="Shape 24"/>
          <p:cNvSpPr/>
          <p:nvPr/>
        </p:nvSpPr>
        <p:spPr>
          <a:xfrm>
            <a:off x="6080760" y="2926080"/>
            <a:ext cx="73152" cy="13716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217920" y="297180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3RD LINE · INTERNAL AUDIT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217920" y="3246120"/>
            <a:ext cx="2514600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review of both 1st and 2nd lines. Reports to board.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full arc of Deck 01 (TVM) to Deck 20 (MPT/CAPM) collapses into a single statement: the discount rate we started with is the equilibrium price of risk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Synthesis — CFA Level I Volumes 1–9; ties back to Deck 01 §1 slides 5–8.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"r" in every DCF from Deck 01 onwards is no longer an exogenous assumption. MPT/CAPM tells us exactly what it should be in equilibrium — and why.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731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PV = Σ CFₜ / (1 + r)ᵗ       where   r  =  R_f  +  β × [ E(R_m) − R_f ]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47672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Deck 01 formula (left) meets Deck 20 formula (right). The course's two bookends are the same equation viewed from two sides.</a:t>
            </a:r>
            <a:endParaRPr lang="en-US" sz="11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331720"/>
          <a:ext cx="85039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291840"/>
                <a:gridCol w="4389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Deck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Concept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How it contributes to r or DCF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TVM &amp; DCF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Defined PV, FV, NPV, IRR; treated r as given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02–08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Financial statements &amp; ratios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Supplied the cash flows (CF_t) used in the numerator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09–13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Equity &amp; fixed-income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Built payout forecasts; introduced yield spreads &amp; ERP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14–17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Quant methods &amp; portfolios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Showed how correlations shape portfolio σ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18–19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Alternatives &amp; risk tools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Added non-systematic premia (illiquidity, complexity)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MPT &amp; CAPM (this deck)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Derived r as R_f + β·ERP — the missing piece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20 — Portfolio Management, MPT, CAPM &amp; Risk Management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return is a weighted average of asset returns; portfolio variance depends on correlation — diversification's one free lunch lives at ρ &lt; +1.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Efficient frontier = upper half of min-var frontier. CAL adds the risk-free asset; under homogeneous expectations it becomes the Capital Market Line (two-fund separation).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systematic (β) risk is priced. CAPM: E(R) = R_f + β × ERP. SML positions any asset — above = underpriced (α&gt;0 buy), below = overpriced (α&lt;0 sell).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process = Plan → Execute → Feed back. IPS anchors all three; its 7 sections separate objectives (risk/return) from constraints (LTTLU).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tolerance = MIN(ability, willingness). Ability is objective (horizon, wealth); willingness is subjective (attitude). Never average — always default to lower.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Biases split into cognitive (fixable via info/education) and emotional (adapt via structural rules). Loss aversion is the single most portfolio-damaging bias.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management ≠ minimization. Framework = governance + measurement + infrastructure + policies + monitoring + comms + strategy. Budget the tolerance; 3 lines of defense.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01 → Deck 20 arc: the "r" in every DCF is the CAPM equilibrium cost of capital — R_f + β·ERP. 20 decks, one unifying equation. Thank you for the journey.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20 · Portfolio Management, MPT, CAPM &amp; Risk Management</dc:title>
  <dc:subject>PptxGenJS Presentation</dc:subject>
  <dc:creator>Studio Tonton Gug</dc:creator>
  <cp:lastModifiedBy>Studio Tonton Gug</cp:lastModifiedBy>
  <cp:revision>1</cp:revision>
  <dcterms:created xsi:type="dcterms:W3CDTF">2026-04-23T14:07:42Z</dcterms:created>
  <dcterms:modified xsi:type="dcterms:W3CDTF">2026-04-23T14:07:42Z</dcterms:modified>
</cp:coreProperties>
</file>