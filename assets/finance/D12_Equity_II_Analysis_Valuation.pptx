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Four modules, one arc: understand the business, understand the industry, forecast it, then put a number on it. The number is the easy part.
•  Two hours. Roughly 25 min on §1, 35 on §2, 25 on §3, 45 on §4 — the valuation block is the payload.
•  Say it up front: every figure in this deck is from the 2025 curriculum and they can check the page.
•  Flag that §4 is the exam-heavy block and the one closest to what an IB analyst does daily.
NEXT — Straight to the agenda — do not linger on the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Set the shape so nobody is surprised when the qualitative frameworks stop and the arithmetic starts.
•  §1 and §2 are qualitative — frameworks, checklists, judgement. They feel soft; they set every input in §4.
•  §3 is the hinge: it turns judgement into numbers.
•  §4 is the maths — DDM, FCFE, multiples, EV, asset-based. Four named CFA cases.
•  Break after §2. Say it now so they pace themselves.
NEXT — Objectives — read them fast, they are the exam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Five objectives; four of them are things they will be asked to DO, not describe. Say which.
•  Objectives 1–2 are describe/analyze — frameworks and vocabulary.
•  Objectives 3–5 are calculate. That is where the marks and the job are.
•  Point at objective 5's clause on numerator/denominator — flag it now, land it on the EV slide.
•  Thirty seconds. Do not read all five aloud word for word.
NEXT — Section 1 — start where every research report starts: the company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Before anyone forecasts anything, they have to be able to say what the company actually does and how it makes money.
•  Four slides, about 25 minutes.
•  One framing line: "you cannot forecast a business you cannot describe in four sentences."
•  Do not preview the content — slide 5 does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whole deck in one picture: three analytical blocks stacked, valuation sitting on top of all three. Everything after this is a zoom into one block.
•  Build it bottom-up: you cannot do industry work without knowing the business model, or forecast without both.
•  Left = the analysis. Right = the artefact it gets written into. Same content, different order.
•  Eight elements — count them out loud, it is an exam-friendly list.
•  Point out that valuation is element 6 of 8. The maths is a minority of the report.
•  Subsequent reports are shorter: they update what changed, not the whole edifice.
FROM THE DESK — The order on the page is not the order of work. In practice you build the model first, get a number, then write the narrative that supports it — which is exactly why an initiation reads so confident. The discipline is to let a bad number kill the story rather than the other way round.
ASK THE ROOM — Which of these eight would you write LAST, and why?
NEXT — Start at the foundation — block one, and its first step: the business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Five questions, and a student who can answer all five out loud can already build a revenue driver tree. One who cannot is guessing.
•  Make them count: FIVE elements, not four. Sell · to whom · channel · price · buy.
•  Channel and supplier are the two students always drop — and they are where the margin lives.
•  Warehouse Club Inc.: single line of business, so classification and modelling are easy. Say why that is unusual.
•  Footnote matters: strategy is not part of the business model. That comes in §2.
•  Sources ladder: issuer → public third party → proprietary third party → your own primary research.
FROM THE DESK — The fastest read on a business you have never seen: find the channel and the payment terms. Who takes the order and who holds the receivable tells you more about the economics than the product description does. It is also the first thing that breaks in diligence.
ASK THE ROOM — Pick a company you shop at. Answer all five in thirty seconds — where do you stall?
NEXT — Once you know what is sold and at what price, the revenue line decomposes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Revenue is never one number. It is volume, price, mix and FX — and only one of those four is a real pricing decision.
•  Put the question up and let them compute before you reveal: 2m cases at USD 20, then 3m at +5% ASP.
•  The trap is answering 55% — adding +50% volume and +5% price. The interaction term is +2.5%.
•  Land the decomposition on the answer bar: 50 + 5 + 2.5 = 57.5, rounded to 58%.
•  Then the real point: which of the four is management actually choosing? Only price.
•  Pricing power = industry structure + competitive strategy. Not a management aspiration.
FROM THE DESK — A pricing-power claim survives exactly one recession. When you underwrite a business on "they take 2% price every year", check whether they took it in the last downturn — and whether volume held when they did. Price you cannot hold in a bad year is a discount you have not booked yet.
ASK THE ROOM — Volume +50% and price +5%. Why is the answer not 55%?
NEXT — Revenue moves. What that does to profit depends on the cost structure underneath.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multipliers in series. Operating leverage amplifies sales into EBIT; financial leverage amplifies EBIT into net income. Shareholders feel the product.
•  Rebuild operating income from the P&amp;L first — 9,707 − 4,850 − 993 − 1,700 − 491 = 1,673. Interest is NOT deducted.
•  That exclusion is the whole exam trap: use pre-tax income instead of EBIT and you get 1.08.
•  Then DOL = 9.56% / 4.87% = 1.96×. Say it as "a 1% sales move becomes a 2% EBIT move".
•  DOL comes from fixed COSTS. DFL comes from fixed INTEREST. Different balance-sheet causes.
•  Q8 is the judgement call: a firm already running high DOL should be cautious adding DFL.
FROM THE DESK — This is the single most useful ratio in rating advisory. A high-DOL issuer asking for more leverage is asking you to sell a credit that looks fine at mid-cycle and breaches at trough. Agencies model the trough; sponsors model the base case. The gap between those two is the whole conversation.
ASK THE ROOM — Two firms, same EBIT margin. One is 80% fixed cost, one 80% variable. Which one do you lend to?
NEXT — The cost structure is the company's. But the ceiling on its returns is set by the industry.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Zoom out. The company sets how close it gets to the ceiling; the industry sets where the ceiling is.
•  Six slides, about 35 minutes. The densest qualitative block.
•  One framing line: "the second-best firm in a great industry beats the best firm in a broken one."
•  Warn them Porter and PESTLE are examinable as a PAIR — the classic question is which one a given fact belongs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Give them the mental model: the industry sets the ceiling, the company decides how close it gets. Nothing in §2 makes sense without that.
•  Walk the five steps left to right — this strip is the map for the next five slides.
•  Steps 3 and 4 are the two named frameworks: Porter (structure) and PESTLE (external).
•  McGahan &amp; Porter: industry matters most for how LONG excess returns last, not whether they appear.
•  Ceiling, not floor — a bad operator in a good industry still underperforms.
•  Second use, often forgotten: industry work generates ideas the company screen never surfaces.
FROM THE DESK — Sector coverage exists because of this slide. Nobody staffs a "great companies" desk — they staff chemicals, healthcare, TMT. The base rate lives in the sector head's memory, and the fastest way to be wrong on a name is to model it without knowing what the sector has historically earned.
ASK THE ROOM — Would you rather own the best airline or an average software company? Why?
NEXT — Step one of five: define the industry. That is harder than it sounds.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Classification schemes are a starting point, never an answer. The comp set you defend in a pitch is one you built, not one you downloaded.
•  Strict taxonomy = one company, one bucket at the lowest tier. Like species → genus → family.
•  Numbers are worth memorising for GICS: 11 / 25 / 74 / 163.
•  TRBC has 14 top-tier sectors, not 11 — the extra three are government, academia, and institutions.
•  Amazon is the killer example: classified as a retailer, but the profit engine is cloud.
•  Limitation 4 is the sneaky one — restate history to current groupings or your base rates are junk.
FROM THE DESK — Nobody in a live process picks comps off a GICS screen. You choose the set that supports the argument, then defend it on growth, margin and capital intensity — and you keep the rejected names in an appendix because the other side will ask. A comp set is an argument, not a lookup.
ASK THE ROOM — Is Amazon a retailer or a cloud company? Which comp set would you defend in front of a board?
NEXT — Industry defined. Now score its structure — the five forces.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This is the reference scoring in the curriculum. Make them read it as a diagnosis, not a table: three hostile forces, two friendly, and that is why retail is hard.
•  Go force by force and make them justify the rating before you show the driver column.
•  40,000 new retail firm formations a MONTH in the US — that is what "very high entry" means.
•  Substitutes LOW: services can replace some spending, but you cannot eat a streaming subscription.
•  Supplier power LOW to MODERATE — the split is branded vs commodity goods. Luxury brands choose their retailers.
•  Close on the verdict: three hostile forces is a structural cap, not a management failure.
FROM THE DESK — Five Forces is where sell-side initiations go to die — three pages of it, then a DCF that ignores every word. If the structure says the industry caps ROIC, the model has to show margins converging, not the CEO's 2030 target. When the qualitative section and the terminal margin disagree, the terminal margin is wrong.
ASK THE ROOM — Which single force would you have to change to make retail attractive?
NEXT — Five scores is a description. An analyst has to say which ones actually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Scoring all five is homework. Naming the one or two that decide the industry is the job — those are what you monitor every quarter.
•  There is no quantitative test for "which force dominates". It is judgement, and it is defensible or it is not.
•  The CFA's own trick question: "what if X raised prices 10% tomorrow?" The answer names the force.
•  Note the pattern: four of six cards are entry or buyer power. Rivalry gets the headlines; barriers earn the money.
•  Aircraft is the instructive one — every force benign except rivalry, and rivalry alone ruins the economics.
•  Generic pharma is the number to remember: nine competitors instead of one cuts price roughly sixfold.
FROM THE DESK — Ranking the forces is also how you sanity-check a management team. Ask them which force worries them most. A CEO who says "competition" has not thought about it; one who says "our top three distributors" has.
ASK THE ROOM — Take an industry you know. Which force would you put on the front page of the report?
NEXT — Porter looks inside the industry. Now look outside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PESTLE is not "Porter, extended". It answers a different question — how fast does this industry grow and who gains share — and the exam tests whether students can tell them apart.
•  Say the split once, hard: Porter = profitability. PESTLE = growth rate and share dynamics.
•  Run the table quickly; the six letters are memorisation, the examples are the teaching.
•  Then stop on the callout and run it as a live sorting exercise before you reveal.
•  The discriminator: is the actor inside the industry (Porter) or outside it (PESTLE)?
•  Useful aside: PESTLE moves slowly. You do not redo it every quarter — but you do monitor the metric.
FROM THE DESK — PESTLE is where thematic money is raised and where it is lost. "Ageing demographics" or "energy transition" is a real tailwind and a terrible investment case on its own — the theme tells you the industry grows, not that anyone in it earns a return. You still need Porter to say who captures it.
ASK THE ROOM — A competitor buys its own delivery fleet. PESTLE or Porter?
NEXT — Structure and external tides set the field. Now the company has to choose how to 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Three strategies is a small number for a big claim — but it holds. What matters is that a strategy must be a CHOICE, and the middle is not one of the three.
•  Open on the distinction the curriculum makes: intentional strategy vs unintentional drift.
•  Cost leadership is a cost POSITION, not low prices. Costco charges low prices because its costs allow it.
•  Differentiation = uniqueness customers pay for. The test is the price premium, not the marketing budget.
•  Focus can borrow from either — but only inside the niche. Ferrari is focus, not differentiation.
•  The three-part test in the kicker is examinable: five forces · PESTLE · resources and capabilities.
FROM THE DESK — "Stuck in the middle" is where most mid-cap industrials actually live, and it is the single most common reason a sponsor process ends without a deal. The company is not cheap enough to be a cost story and not special enough to be a growth story, so nobody will pay for either narrative.
ASK THE ROOM — Name a company you think is stuck in the middle. What would it have to give up to escape?
NEXT — That closes the qualitative work. Now turn all of it into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hinge of the deck: everything qualitative from §1 and §2 now has to become a number someone can disagree with.
•  Four slides, about 25 minutes.
•  One framing line: "a forecast is a view with a decimal point on it."
•  Take the break AFTER this section, before valuation. Say it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four-item lists, and students conflate them. WHAT you forecast (object) is a different choice from HOW you forecast it (approach).
•  Draw the grid on the board if needed: four objects × four approaches. Any cell is legal.
•  Objects: drivers → lines → summary measures → ad hoc. Explanatory power falls, efficiency rises.
•  Approaches: history · base-rate convergence · guidance · discretion.
•  The base-rate trap is worth a beat — Alphabet and Meta ARE the digital-ad base rate.
•  Verifiability rule at the bottom of the callout is the one professionals actually live by.
•  Footnote: read the guidance range from the top down, not the midpoint.
FROM THE DESK — Management guidance is an anchor, not an input. Standard practice is to take the guide, haircut it — a few points off revenue, more off margin — and then check what the buy-side is carrying, because the number that moves the stock is the whisper, not the guide. Guidance for objects management controls (capex, opex) is worth far more than guidance for anything macro.
ASK THE ROOM — Guidance says "sales growth 2%–4%". What number goes in your model, and why not 3%?
NEXT — Take the revenue line specifically. Two routes to it, and you should walk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routes to the same line. Neither is more correct — but running only one hides an assumption you are making anyway.
•  Top-down: market × share. Bottom-up: units × unit economics. Both end at revenue.
•  Be precise on the CFA numbers: net sales PER STORE grew 3.8%, which is not the same as same-store sales.
•  Share was 70 bps and rising ~2 bps a year. Two basis points sounds trivial — on a market that size it is not.
•  Key move: if bottom-up gives more than top-down, you are implicitly forecasting a share gain. Say it out loud.
•  Any of the four approaches from the last slide can drive either route — Exhibit 2 crosses them.
FROM THE DESK — The reconciliation is the whole exercise. A bottom-up build that quietly implies a company takes 300 bps of share in five years is the number a client will hand back to you — so put the implied share on its own line in the model, where everyone can see it and argue about it.
ASK THE ROOM — Bottom-up says +8%, top-down says +5%. What have you just assumed?
NEXT — One number is a guess. Three numbers with probabilities is a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Three scenarios is not three guesses. It is the Porter and PESTLE risk list, priced.
•  Work the base case live. Top-down and bottom-up, then stop on the 135 m gap before averaging.
•  Name the gap: bottom-up above top-down means you have assumed a share gain. Make them say it.
•  Then the table — same method, three sets of inputs. Let them verify one row themselves.
•  Probability-weighted: 0.2 × 11,510 + 0.6 × 12,085 + 0.2 × 12,315 = 12,016. Check it on the board.
•  Point out the asymmetry: bear is −4.8% from base, bull only +1.9%. Downside is fatter. Say why.
•  Flag clearly: these numbers are illustrative. The CFA scenario case is the next slide.
FROM THE DESK — Bear cases are written to be survivable, not to be bad. Ask what the revenue line looks like if the thing management says cannot happen, happens — that is the number the credit committee wants, and it is almost never in the deck. A bear case that still clears covenants is marketing.
ASK THE ROOM — Your bear case is 5% below base. Is that a recession, or a rounding error?
NEXT — Now the CFA's own scenario case — a real technological threat, sized.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A disruption story turned into four numbers. This is what "quantify the risk" actually looks like, and it is the CFA's own worked case.
•  Walk the chain out loud: tablets shipped → split consumer / non-consumer → cannibalisation factor → PCs lost → × ASP.
•  The two ASPs are the trick: USD 85 consumer, USD 155 non-consumer, because ~80% of Office goes to institutions.
•  Check one cell with them: FY12 consumer = 90,000 × 92% × 30% = 24,840; × USD 85 ≈ USD 2.1 bn.
•  Then the operating-leverage kicker — 70% fixed costs turn a 4.2 bn revenue hit into 2.6 bn of EBIT.
•  Sensitivity: 40% / 15% instead of 30% / 10% moves FY12 from 2.2 to 3.0 bn. One assumption, USD 0.8 bn.
•  Tie it back to slide 8 — this is DOL doing the damage, not the revenue line alone.
FROM THE DESK — Every assumption on this slide is contestable and none of them is the model's fault. That is the honest version of scenario work: you are not predicting, you are bounding. The number that matters in a meeting is not the base case — it is how far the assumption has to move before the recommendation flips.
ASK THE ROOM — Which single input here would you fight hardest about — the cannibalisation factor or the ASP?
NEXT — Forecast built, risks bounded. Time to turn it into a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payload. Nine slides, five tools, four named CFA cases — and one rule that runs through all of it: keep the cash flow and the discount rate on the same claim.
•  About 45 minutes. Do not start this after a break of less than five minutes — they need to be sharp.
•  One framing line: "the model is arithmetic; the argument is the assumptions."
•  Tell them now that the exam loves two things here: D₁ vs D₀, and equity-level vs enterprise-level multiples.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Three families, and the point of the slide is that they are complements, not competitors. You run at least two and see whether they agree.
•  Present value = what the business generates. Multiples = what the market pays others. Assets = what the pieces fetch.
•  The decision rule is one line: price &lt; value → undervalued. But say "with a confidence band" every time.
•  Middle column: flag NOW that P/E is equity-level and EV/EBITDA is enterprise-level. Land it on slide 29.
•  Also flag trailing vs forward — either is acceptable, mixing them across a comp set is not.
•  CFA's own worked point: a one-year-old company is the worst case for a present-value model and the best for multiples.
FROM THE DESK — Every valuation deck you will ever see is a football field — DCF, trading comps, transaction comps, LBO, 52-week range — and the ranges are tuned until they overlap where the banker wants them. The honest question is not "what is the number", it is "which of these five bars would you actually defend to a board".
ASK THE ROOM — A firm with one year of financials and no dividend. Which family do you reach for, and which do you refuse?
NEXT — Start with the present-value family — and the simplest cash flow of all: the dividend.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One idea, two cash flows. Dividends are what management chose to pay; FCFE is what it could have paid. Everything else is identical.
•  Say the definition precisely: FCFE is dividend-paying CAPACITY, not dividends.
•  Both discount at the cost of equity. Both produce an equity value directly. Repeat that — it is the exam line.
•  The DDM's failure mode is a zero-dividend firm: you must guess when payments start and how they grow.
•  FCFE swaps one hard guess for four forecastable line items. That is usually a good trade.
•  Buybacks are the modern complication — a firm returning cash entirely via repurchase has a DDM of nearly zero.
FROM THE DESK — On the desk nobody runs a DDM outside financials and utilities. FCFE and FCFF are the working tools, and the reason FCFE is less popular still is that net borrowing forces you to forecast the capital structure — which is precisely the thing under negotiation in most mandates.
ASK THE ROOM — A company pays no dividend but bought back 4% of its shares. What is the DDM worth here?
NEXT — Take the DDM to its simplest form: one dividend, growing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Two formulas, one number — and a table that shows the number is almost entirely an artefact of two assumptions.
•  Write both forms side by side: D₀(1+g)/(r−g) and D₁/(r−g). Same thing. Ask which one they were given.
•  Compute it with them: 3.70 × 1.054 = 3.90, over 0.021, = 185.70. Market was 119.20.
•  Now the honest part — 3.90 over a 2.1% spread. The denominator is doing all the work.
•  Read the table across ONE row: r = 8%, g from 3.5% to 5.5% takes the value from 85 to 156.
•  Then the b × ROE check: implied sustainable g is 8.5%, above r. That should make them uncomfortable.
•  Close on the constraint: r must exceed g, and g must be plausible against long-run nominal GDP.
FROM THE DESK — A model this sensitive is not a valuation, it is an opinion with three decimal places. In practice Gordon is used backwards — plug in the market price and see what growth the market is paying for. If that implied g is above nominal GDP forever, you have found the argument, not the answer.
ASK THE ROOM — Siemens says undervalued at 185.70 versus 119.20. Would you buy on this slide alone?
NEXT — One growth rate forever is rarely true. Bolt an explicit phase in front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workhorse model, and the one place students reliably lose a mark: how many periods you discount the terminal value.
•  Set it up: one year of 5% growth, then 2.33% forever. r = 2.0% + 0.95 × 5.0% = 6.75%.
•  The curriculum carries TWO explicit dividends — D₂₀₁₉ and D₂₀₂₀ — so n = 2 in Equation 11.
•  The terminal value takes D₂₀₂₁ on top, which dates V at the END of 2020, i.e. t = n = 2.
•  Write the off-by-one on the board: 154.477 / 1.0675², not / 1.0675³. Three years is the classic dropped mark.
•  Total 147.52 against a market price of 148.56 — fairly valued. Note how rarely that happens.
•  Point at the split: the terminal value alone is 135.56 of the 147.52. Ninety-two percent.
FROM THE DESK — That 92% is not an artefact of a short stage 1 — a five-year DCF still puts 60–80% of value in the terminal. Which means the debate that decides the price is never the explicit forecast everyone spent three weeks building; it is g_L and the exit multiple, argued in 25 bp steps in the last hour before the pitch.
ASK THE ROOM — If you discounted the terminal value three years instead of two, does the value rise or fall — and by roughly how much?
NEXT — Dividends are a choice. Now value the cash the firm could have paid.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Five lines, one number — and the whole slide exists so they never discount FCFE at WACC.
•  Build it live down the column: 1,000 + 400 − 50 − 600 + 200 = 950.
•  The line students fight: why does NEW BORROWING add? Because it is cash the equity holder can be paid with.
•  Then the discipline point: FCFE 950 vs dividends 300. The gap is a management choice, not a modelling one.
•  Land the footnote hard. FCFE → cost of equity → equity value. FCFF → WACC → enterprise value, then subtract net debt.
•  Two ways to get it wrong, and both give you the same wrong answer: mismatched rate, or subtracting debt twice.
FROM THE DESK — FCFE is fragile precisely because net borrowing is an input. Lever the company up in the forecast and FCFE rises, so the equity looks more valuable — which is nonsense, and it is why most shops model FCFF and bridge to equity at the end. If you see FCFE in a pitch, check what the debt schedule is doing.
ASK THE ROOM — A firm draws USD 500 m on a revolver. FCFE goes up. Is the equity worth more?
NEXT — That is the present-value family. Now the shortcut everyone actually quotes: multiples.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bridge between the DCF world and the multiples world. A P/E is not a market opinion — it is a DCF in disguise.
•  Derive it verbally: divide the Gordon formula through by E₁ and the payout ratio appears on top.
•  Then the three levers, and only three: payout, r, g. High-quality, low-risk, growing firms print high P/Es.
•  Nestlé: 0.68 / 0.021 = 32.4×. Then say the uncomfortable part — the street was at 19 to 26.
•  That gap is the lesson. 32.4× is not a target price, it is a statement about ROE and r.
•  Footnote 2 shows why: r 9% → 9.5% takes it to 26.2×. Fifty basis points, six turns.
•  Kicker trap: raising payout raises the numerator but cuts g. The two effects fight.
FROM THE DESK — This is the cleanest way to challenge a comp-based value. If a peer trades at 25× and your justified multiple says 15×, the peer is not a benchmark — it is a bet on ROE or r that you can now name out loud. Multiples do not free you from assumptions; they hide them.
ASK THE ROOM — Payout goes from 68% to 80%. Does the justified P/E rise or fall?
NEXT — That was one company from the inside. Now rank a whole industry from the outside.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Nine names, one ratio, one line of ranking — and the whole point is that the ranking is a question, not an answer.
•  Why P/S and not P/E here? Sales fall less than earnings in a downturn — operating and financial leverage.
•  The CFA answer is that Peugeot "offers the best value". Read that carefully: it says the SCREEN flags Peugeot.
•  Then flip it: 0.28 vs 0.80 is a 3× spread inside one industry. That is not mispricing, that is margin.
•  Make them do the arithmetic — P/S is only meaningful next to net margin. P/S ÷ margin ≈ P/E.
•  P/S has one real virtue: sales are harder to manipulate than earnings. That is why it survives.
•  Right column is my commentary, not the curriculum. Say so.
FROM THE DESK — A one-line screen like this is where a pitch starts, never where it ends. The first question in any comps discussion is what the low multiple is telling you that you have not modelled yet — and nine times out of ten it is margin, leverage, or a business inside the business that the ratio cannot see.
ASK THE ROOM — Peugeot at 0.28 and Toyota at 0.80. Which is mispriced — and what would you need to know to answer?
NEXT — P/S and P/E are equity-level. Some comparisons need the whole capital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The metric an acquirer actually uses — and the slide where the numerator/denominator rule finally has to land.
•  Build EV out loud: equity, plus preferred, plus debt, minus cash. Ask why cash comes off before you say it.
•  Note the market-vs-book debt point: 1,905 book becomes 1,480 at market. That is 425 of EV, not a rounding.
•  Then 7,487 / 606 = 12.4×. Simple arithmetic; the work was all in the numerator.
•  Now the right-hand box — say it twice: EV goes with pre-interest measures, price goes with post-interest ones.
•  EV/EPS and P/EBITDA are both nonsense. Make them tell you why before you explain it.
•  EBITDA caveat: it adds back D&amp;A, so in capital-heavy sectors it flatters cash generation badly.
FROM THE DESK — EV/EBITDA dominates because it is the only multiple that survives a leveraged buyout — the sponsor changes the capital structure entirely, so anything post-interest is meaningless. Which is also its weakness: for a business that must spend its D&amp;A back every year just to stand still, EBITDA is a number nobody ever receives.
ASK THE ROOM — Two identical businesses, one debt-free and one at 4× leverage. Which multiple compares them, and which one lies?
NEXT — All of this assumes a going concern. What if there is not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Three cases, one message: asset-based valuation almost never gives you the answer, but it very often gives you the floor — and occasionally it is the only lens that works.
•  Run them left to right; the pattern is how much of the value is intangible.
•  Laundry: mostly tangible, so it is tractable — but CFA still calls the result inaccurate. Say that, do not soften it.
•  Restaurant: the asset is the owner, and he is leaving. Baseline only.
•  Airline: the going concern is worth less than nothing, yet slots and aircraft are worth plenty to a rival.
•  Generalise: use it for financials, natural resources, and businesses being wound up.
•  Footnote: it is hardest exactly where you need it — heavy PP&amp;E with no observable price.
FROM THE DESK — In restructuring this is not a supplementary method, it is the whole negotiation. Every creditor class is arguing about liquidation value versus going-concern value, and the gap between the two is what determines who gets equity in the new company. The asset floor is where the fight starts.
ASK THE ROOM — Where would you rather be a creditor — the restaurant or the airline?
NEXT — Five tools, four cases. Pull 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ANGLE — Eight cards, and only three of them are arithmetic. Say that out loud — it is the honest summary of the session.
•  Do not read all eight. Pick three: the five business-model questions, D₁ not D₀, and the consistency rule.
•  Ask the room which of the five valuation tools they would reach for first, and make someone defend it.
•  Remind them the four named cases — Siemens, IBM, Nestlé, Cameco — are all in the curriculum and worth re-deriving.
•  Last line to leave them with: the model is arithmetic, the argument is the assumptions.
•  Five minutes for questions. Do not start a new topic.
FROM THE DESK — What separates a good analyst from a fast one is not the model — everyone builds the same model. It is being able to say, in one sentence, which assumption the whole valuation hangs on, and what would have to be true for it to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p:spPr>
      </p:sp>
      <p:sp>
        <p:nvSpPr>
          <p:cNvPr id="3" name="Shape 1"/>
          <p:cNvSpPr/>
          <p:nvPr/>
        </p:nvSpPr>
        <p:spPr>
          <a:xfrm>
            <a:off x="0" y="4914900"/>
            <a:ext cx="9144000" cy="228600"/>
          </a:xfrm>
          <a:prstGeom prst="rect">
            <a:avLst/>
          </a:prstGeom>
          <a:solidFill>
            <a:srgbClr val="E8600A"/>
          </a:solidFill>
          <a:ln/>
        </p:spPr>
      </p:sp>
      <p:sp>
        <p:nvSpPr>
          <p:cNvPr id="4" name="Text 2"/>
          <p:cNvSpPr txBox="1"/>
          <p:nvPr/>
        </p:nvSpPr>
        <p:spPr>
          <a:xfrm>
            <a:off x="457200" y="1005840"/>
            <a:ext cx="8229600" cy="384048"/>
          </a:xfrm>
          <a:prstGeom prst="rect">
            <a:avLst/>
          </a:prstGeom>
          <a:noFill/>
          <a:ln/>
        </p:spPr>
        <p:txBody>
          <a:bodyPr wrap="square" lIns="508" tIns="508" rIns="508" bIns="508" rtlCol="0" anchor="ctr">
            <a:normAutofit/>
            <a:spAutoFit/>
          </a:bodyPr>
          <a:lstStyle/>
          <a:p>
            <a:pPr algn="l" indent="0" marL="0">
              <a:buNone/>
            </a:pPr>
            <a:r>
              <a:rPr lang="en-US" sz="1100" b="1" spc="800" kern="0" dirty="0">
                <a:solidFill>
                  <a:srgbClr val="E8600A"/>
                </a:solidFill>
                <a:latin typeface="Trebuchet MS" pitchFamily="34" charset="0"/>
                <a:ea typeface="Trebuchet MS" pitchFamily="34" charset="-122"/>
                <a:cs typeface="Trebuchet MS" pitchFamily="34" charset="-120"/>
              </a:rPr>
              <a:t>DECK 12  ·  WEEK 6  ·  MORNING 1</a:t>
            </a:r>
            <a:endParaRPr lang="en-US" sz="1100" dirty="0"/>
          </a:p>
        </p:txBody>
      </p:sp>
      <p:sp>
        <p:nvSpPr>
          <p:cNvPr id="5" name="Text 3"/>
          <p:cNvSpPr txBox="1"/>
          <p:nvPr/>
        </p:nvSpPr>
        <p:spPr>
          <a:xfrm>
            <a:off x="457200" y="1463040"/>
            <a:ext cx="8229600" cy="1920240"/>
          </a:xfrm>
          <a:prstGeom prst="rect">
            <a:avLst/>
          </a:prstGeom>
          <a:noFill/>
          <a:ln/>
        </p:spPr>
        <p:txBody>
          <a:bodyPr wrap="square" lIns="508" tIns="508" rIns="508" bIns="508" rtlCol="0" anchor="t">
            <a:normAutofit/>
            <a:spAutoFit/>
          </a:bodyPr>
          <a:lstStyle/>
          <a:p>
            <a:pPr algn="l" indent="0" marL="0">
              <a:buNone/>
            </a:pPr>
            <a:r>
              <a:rPr lang="en-US" sz="4200" b="1" dirty="0">
                <a:solidFill>
                  <a:srgbClr val="1B2A4A"/>
                </a:solidFill>
                <a:latin typeface="Trebuchet MS" pitchFamily="34" charset="0"/>
                <a:ea typeface="Trebuchet MS" pitchFamily="34" charset="-122"/>
                <a:cs typeface="Trebuchet MS" pitchFamily="34" charset="-120"/>
              </a:rPr>
              <a:t>Equity II</a:t>
            </a:r>
            <a:endParaRPr lang="en-US" sz="4200" dirty="0"/>
          </a:p>
          <a:p>
            <a:pPr algn="l" indent="0" marL="0">
              <a:buNone/>
            </a:pPr>
            <a:r>
              <a:rPr lang="en-US" sz="4200" b="1" dirty="0">
                <a:solidFill>
                  <a:srgbClr val="1B2A4A"/>
                </a:solidFill>
                <a:latin typeface="Trebuchet MS" pitchFamily="34" charset="0"/>
                <a:ea typeface="Trebuchet MS" pitchFamily="34" charset="-122"/>
                <a:cs typeface="Trebuchet MS" pitchFamily="34" charset="-120"/>
              </a:rPr>
              <a:t>Analysis &amp; Valuation</a:t>
            </a:r>
            <a:endParaRPr lang="en-US" sz="4200" dirty="0"/>
          </a:p>
        </p:txBody>
      </p:sp>
      <p:sp>
        <p:nvSpPr>
          <p:cNvPr id="6" name="Text 4"/>
          <p:cNvSpPr txBox="1"/>
          <p:nvPr/>
        </p:nvSpPr>
        <p:spPr>
          <a:xfrm>
            <a:off x="457200" y="3493008"/>
            <a:ext cx="8229600" cy="457200"/>
          </a:xfrm>
          <a:prstGeom prst="rect">
            <a:avLst/>
          </a:prstGeom>
          <a:noFill/>
          <a:ln/>
        </p:spPr>
        <p:txBody>
          <a:bodyPr wrap="square" lIns="508" tIns="508" rIns="508" bIns="508" rtlCol="0" anchor="t">
            <a:normAutofit/>
            <a:spAutoFit/>
          </a:bodyPr>
          <a:lstStyle/>
          <a:p>
            <a:pPr algn="l" indent="0" marL="0">
              <a:buNone/>
            </a:pPr>
            <a:r>
              <a:rPr lang="en-US" sz="1500" i="1" dirty="0">
                <a:solidFill>
                  <a:srgbClr val="6B7A8D"/>
                </a:solidFill>
                <a:latin typeface="Trebuchet MS" pitchFamily="34" charset="0"/>
                <a:ea typeface="Trebuchet MS" pitchFamily="34" charset="-122"/>
                <a:cs typeface="Trebuchet MS" pitchFamily="34" charset="-120"/>
              </a:rPr>
              <a:t>From business model to intrinsic value: the five valuation tools every analyst owns</a:t>
            </a:r>
            <a:endParaRPr lang="en-US" sz="1500" dirty="0"/>
          </a:p>
        </p:txBody>
      </p:sp>
      <p:sp>
        <p:nvSpPr>
          <p:cNvPr id="7" name="Text 5"/>
          <p:cNvSpPr txBox="1"/>
          <p:nvPr/>
        </p:nvSpPr>
        <p:spPr>
          <a:xfrm>
            <a:off x="457200" y="4069080"/>
            <a:ext cx="8229600" cy="274320"/>
          </a:xfrm>
          <a:prstGeom prst="rect">
            <a:avLst/>
          </a:prstGeom>
          <a:noFill/>
          <a:ln/>
        </p:spPr>
        <p:txBody>
          <a:bodyPr wrap="square" lIns="508" tIns="508" rIns="508" bIns="508" rtlCol="0" anchor="ctr">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CFA Level I · Vol 5 Learning Modules 5–8</a:t>
            </a:r>
            <a:endParaRPr lang="en-US" sz="1100" dirty="0"/>
          </a:p>
        </p:txBody>
      </p:sp>
      <p:sp>
        <p:nvSpPr>
          <p:cNvPr id="8" name="Text 6"/>
          <p:cNvSpPr txBox="1"/>
          <p:nvPr/>
        </p:nvSpPr>
        <p:spPr>
          <a:xfrm>
            <a:off x="457200" y="4617720"/>
            <a:ext cx="8229600" cy="256032"/>
          </a:xfrm>
          <a:prstGeom prst="rect">
            <a:avLst/>
          </a:prstGeom>
          <a:noFill/>
          <a:ln/>
        </p:spPr>
        <p:txBody>
          <a:bodyPr wrap="square" lIns="508" tIns="508" rIns="508" bIns="508" rtlCol="0" anchor="ctr">
            <a:normAutofit/>
            <a:spAutoFit/>
          </a:bodyPr>
          <a:lstStyle/>
          <a:p>
            <a:pPr algn="l" indent="0" marL="0">
              <a:buNone/>
            </a:pPr>
            <a:r>
              <a:rPr lang="en-US" sz="80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900" b="1" dirty="0">
                <a:solidFill>
                  <a:srgbClr val="FFFFFF"/>
                </a:solidFill>
                <a:latin typeface="Trebuchet MS" pitchFamily="34" charset="0"/>
                <a:ea typeface="Trebuchet MS" pitchFamily="34" charset="-122"/>
                <a:cs typeface="Trebuchet MS" pitchFamily="34" charset="-120"/>
              </a:rPr>
              <a:t>Roadmap — Equity II — Analysis &amp; Valuation</a:t>
            </a:r>
            <a:endParaRPr lang="en-US" sz="19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777240"/>
            <a:ext cx="8503920" cy="347472"/>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4 sections · ~2 hours · Built bottom-up from CFA readings</a:t>
            </a:r>
            <a:endParaRPr lang="en-US" sz="1300" dirty="0"/>
          </a:p>
        </p:txBody>
      </p:sp>
      <p:sp>
        <p:nvSpPr>
          <p:cNvPr id="8" name="Shape 6"/>
          <p:cNvSpPr/>
          <p:nvPr/>
        </p:nvSpPr>
        <p:spPr>
          <a:xfrm>
            <a:off x="320040" y="1207008"/>
            <a:ext cx="8503920" cy="859536"/>
          </a:xfrm>
          <a:prstGeom prst="rect">
            <a:avLst/>
          </a:prstGeom>
          <a:solidFill>
            <a:srgbClr val="FFFFFF"/>
          </a:solidFill>
          <a:ln/>
        </p:spPr>
      </p:sp>
      <p:sp>
        <p:nvSpPr>
          <p:cNvPr id="9" name="Shape 7"/>
          <p:cNvSpPr/>
          <p:nvPr/>
        </p:nvSpPr>
        <p:spPr>
          <a:xfrm>
            <a:off x="320040" y="1207008"/>
            <a:ext cx="594360" cy="859536"/>
          </a:xfrm>
          <a:prstGeom prst="rect">
            <a:avLst/>
          </a:prstGeom>
          <a:solidFill>
            <a:srgbClr val="1B2A4A"/>
          </a:solidFill>
          <a:ln/>
        </p:spPr>
      </p:sp>
      <p:sp>
        <p:nvSpPr>
          <p:cNvPr id="10" name="Text 8"/>
          <p:cNvSpPr txBox="1"/>
          <p:nvPr/>
        </p:nvSpPr>
        <p:spPr>
          <a:xfrm>
            <a:off x="320040" y="1207008"/>
            <a:ext cx="594360" cy="859536"/>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01</a:t>
            </a:r>
            <a:endParaRPr lang="en-US" sz="1300" dirty="0"/>
          </a:p>
        </p:txBody>
      </p:sp>
      <p:sp>
        <p:nvSpPr>
          <p:cNvPr id="11" name="Text 9"/>
          <p:cNvSpPr txBox="1"/>
          <p:nvPr/>
        </p:nvSpPr>
        <p:spPr>
          <a:xfrm>
            <a:off x="1024128" y="1252728"/>
            <a:ext cx="7726680" cy="38679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Company analysis — past &amp; present</a:t>
            </a:r>
            <a:endParaRPr lang="en-US" sz="1200" dirty="0"/>
          </a:p>
        </p:txBody>
      </p:sp>
      <p:sp>
        <p:nvSpPr>
          <p:cNvPr id="12" name="Text 10"/>
          <p:cNvSpPr txBox="1"/>
          <p:nvPr/>
        </p:nvSpPr>
        <p:spPr>
          <a:xfrm>
            <a:off x="1024128" y="1593799"/>
            <a:ext cx="7726680" cy="472745"/>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Research-report anatomy · business model · revenue drivers · pricing power · operating &amp; financial leverage</a:t>
            </a:r>
            <a:endParaRPr lang="en-US" sz="1100" dirty="0"/>
          </a:p>
        </p:txBody>
      </p:sp>
      <p:sp>
        <p:nvSpPr>
          <p:cNvPr id="13" name="Shape 11"/>
          <p:cNvSpPr/>
          <p:nvPr/>
        </p:nvSpPr>
        <p:spPr>
          <a:xfrm>
            <a:off x="320040" y="2103120"/>
            <a:ext cx="8503920" cy="859536"/>
          </a:xfrm>
          <a:prstGeom prst="rect">
            <a:avLst/>
          </a:prstGeom>
          <a:solidFill>
            <a:srgbClr val="F5F7FA"/>
          </a:solidFill>
          <a:ln/>
        </p:spPr>
      </p:sp>
      <p:sp>
        <p:nvSpPr>
          <p:cNvPr id="14" name="Shape 12"/>
          <p:cNvSpPr/>
          <p:nvPr/>
        </p:nvSpPr>
        <p:spPr>
          <a:xfrm>
            <a:off x="320040" y="2103120"/>
            <a:ext cx="594360" cy="859536"/>
          </a:xfrm>
          <a:prstGeom prst="rect">
            <a:avLst/>
          </a:prstGeom>
          <a:solidFill>
            <a:srgbClr val="1B2A4A"/>
          </a:solidFill>
          <a:ln/>
        </p:spPr>
      </p:sp>
      <p:sp>
        <p:nvSpPr>
          <p:cNvPr id="15" name="Text 13"/>
          <p:cNvSpPr txBox="1"/>
          <p:nvPr/>
        </p:nvSpPr>
        <p:spPr>
          <a:xfrm>
            <a:off x="320040" y="2103120"/>
            <a:ext cx="594360" cy="859536"/>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02</a:t>
            </a:r>
            <a:endParaRPr lang="en-US" sz="1300" dirty="0"/>
          </a:p>
        </p:txBody>
      </p:sp>
      <p:sp>
        <p:nvSpPr>
          <p:cNvPr id="16" name="Text 14"/>
          <p:cNvSpPr txBox="1"/>
          <p:nvPr/>
        </p:nvSpPr>
        <p:spPr>
          <a:xfrm>
            <a:off x="1024128" y="2148840"/>
            <a:ext cx="7726680" cy="38679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Industry &amp; competitive analysis</a:t>
            </a:r>
            <a:endParaRPr lang="en-US" sz="1200" dirty="0"/>
          </a:p>
        </p:txBody>
      </p:sp>
      <p:sp>
        <p:nvSpPr>
          <p:cNvPr id="17" name="Text 15"/>
          <p:cNvSpPr txBox="1"/>
          <p:nvPr/>
        </p:nvSpPr>
        <p:spPr>
          <a:xfrm>
            <a:off x="1024128" y="2489911"/>
            <a:ext cx="7726680" cy="472745"/>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Classification (GICS / ICB / TRBC) · Porter Five Forces · how to rank them · PESTLE · three generic strategies</a:t>
            </a:r>
            <a:endParaRPr lang="en-US" sz="1100" dirty="0"/>
          </a:p>
        </p:txBody>
      </p:sp>
      <p:sp>
        <p:nvSpPr>
          <p:cNvPr id="18" name="Shape 16"/>
          <p:cNvSpPr/>
          <p:nvPr/>
        </p:nvSpPr>
        <p:spPr>
          <a:xfrm>
            <a:off x="320040" y="2999232"/>
            <a:ext cx="8503920" cy="859536"/>
          </a:xfrm>
          <a:prstGeom prst="rect">
            <a:avLst/>
          </a:prstGeom>
          <a:solidFill>
            <a:srgbClr val="FFFFFF"/>
          </a:solidFill>
          <a:ln/>
        </p:spPr>
      </p:sp>
      <p:sp>
        <p:nvSpPr>
          <p:cNvPr id="19" name="Shape 17"/>
          <p:cNvSpPr/>
          <p:nvPr/>
        </p:nvSpPr>
        <p:spPr>
          <a:xfrm>
            <a:off x="320040" y="2999232"/>
            <a:ext cx="594360" cy="859536"/>
          </a:xfrm>
          <a:prstGeom prst="rect">
            <a:avLst/>
          </a:prstGeom>
          <a:solidFill>
            <a:srgbClr val="1B2A4A"/>
          </a:solidFill>
          <a:ln/>
        </p:spPr>
      </p:sp>
      <p:sp>
        <p:nvSpPr>
          <p:cNvPr id="20" name="Text 18"/>
          <p:cNvSpPr txBox="1"/>
          <p:nvPr/>
        </p:nvSpPr>
        <p:spPr>
          <a:xfrm>
            <a:off x="320040" y="2999232"/>
            <a:ext cx="594360" cy="859536"/>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03</a:t>
            </a:r>
            <a:endParaRPr lang="en-US" sz="1300" dirty="0"/>
          </a:p>
        </p:txBody>
      </p:sp>
      <p:sp>
        <p:nvSpPr>
          <p:cNvPr id="21" name="Text 19"/>
          <p:cNvSpPr txBox="1"/>
          <p:nvPr/>
        </p:nvSpPr>
        <p:spPr>
          <a:xfrm>
            <a:off x="1024128" y="3044952"/>
            <a:ext cx="7726680" cy="38679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Company forecasting</a:t>
            </a:r>
            <a:endParaRPr lang="en-US" sz="1200" dirty="0"/>
          </a:p>
        </p:txBody>
      </p:sp>
      <p:sp>
        <p:nvSpPr>
          <p:cNvPr id="22" name="Text 20"/>
          <p:cNvSpPr txBox="1"/>
          <p:nvPr/>
        </p:nvSpPr>
        <p:spPr>
          <a:xfrm>
            <a:off x="1024128" y="3386023"/>
            <a:ext cx="7726680" cy="472745"/>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Four forecast approaches · top-down vs bottom-up revenue · scenario analysis (bear/base/bull) · iPad-vs-PC worked case</a:t>
            </a:r>
            <a:endParaRPr lang="en-US" sz="1100" dirty="0"/>
          </a:p>
        </p:txBody>
      </p:sp>
      <p:sp>
        <p:nvSpPr>
          <p:cNvPr id="23" name="Shape 21"/>
          <p:cNvSpPr/>
          <p:nvPr/>
        </p:nvSpPr>
        <p:spPr>
          <a:xfrm>
            <a:off x="320040" y="3895344"/>
            <a:ext cx="8503920" cy="859536"/>
          </a:xfrm>
          <a:prstGeom prst="rect">
            <a:avLst/>
          </a:prstGeom>
          <a:solidFill>
            <a:srgbClr val="F5F7FA"/>
          </a:solidFill>
          <a:ln/>
        </p:spPr>
      </p:sp>
      <p:sp>
        <p:nvSpPr>
          <p:cNvPr id="24" name="Shape 22"/>
          <p:cNvSpPr/>
          <p:nvPr/>
        </p:nvSpPr>
        <p:spPr>
          <a:xfrm>
            <a:off x="320040" y="3895344"/>
            <a:ext cx="594360" cy="859536"/>
          </a:xfrm>
          <a:prstGeom prst="rect">
            <a:avLst/>
          </a:prstGeom>
          <a:solidFill>
            <a:srgbClr val="1B2A4A"/>
          </a:solidFill>
          <a:ln/>
        </p:spPr>
      </p:sp>
      <p:sp>
        <p:nvSpPr>
          <p:cNvPr id="25" name="Text 23"/>
          <p:cNvSpPr txBox="1"/>
          <p:nvPr/>
        </p:nvSpPr>
        <p:spPr>
          <a:xfrm>
            <a:off x="320040" y="3895344"/>
            <a:ext cx="594360" cy="859536"/>
          </a:xfrm>
          <a:prstGeom prst="rect">
            <a:avLst/>
          </a:prstGeom>
          <a:noFill/>
          <a:ln/>
        </p:spPr>
        <p:txBody>
          <a:bodyPr wrap="square" lIns="508" tIns="508" rIns="508" bIns="508" rtlCol="0" anchor="ctr">
            <a:normAutofit/>
            <a:spAutoFit/>
          </a:bodyPr>
          <a:lstStyle/>
          <a:p>
            <a:pPr algn="ctr" indent="0" marL="0">
              <a:buNone/>
            </a:pPr>
            <a:r>
              <a:rPr lang="en-US" sz="1300" b="1" dirty="0">
                <a:solidFill>
                  <a:srgbClr val="E8600A"/>
                </a:solidFill>
                <a:latin typeface="Trebuchet MS" pitchFamily="34" charset="0"/>
                <a:ea typeface="Trebuchet MS" pitchFamily="34" charset="-122"/>
                <a:cs typeface="Trebuchet MS" pitchFamily="34" charset="-120"/>
              </a:rPr>
              <a:t>04</a:t>
            </a:r>
            <a:endParaRPr lang="en-US" sz="1300" dirty="0"/>
          </a:p>
        </p:txBody>
      </p:sp>
      <p:sp>
        <p:nvSpPr>
          <p:cNvPr id="26" name="Text 24"/>
          <p:cNvSpPr txBox="1"/>
          <p:nvPr/>
        </p:nvSpPr>
        <p:spPr>
          <a:xfrm>
            <a:off x="1024128" y="3941064"/>
            <a:ext cx="7726680" cy="386791"/>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Valuation toolkit</a:t>
            </a:r>
            <a:endParaRPr lang="en-US" sz="1200" dirty="0"/>
          </a:p>
        </p:txBody>
      </p:sp>
      <p:sp>
        <p:nvSpPr>
          <p:cNvPr id="27" name="Text 25"/>
          <p:cNvSpPr txBox="1"/>
          <p:nvPr/>
        </p:nvSpPr>
        <p:spPr>
          <a:xfrm>
            <a:off x="1024128" y="4282135"/>
            <a:ext cx="7726680" cy="472745"/>
          </a:xfrm>
          <a:prstGeom prst="rect">
            <a:avLst/>
          </a:prstGeom>
          <a:noFill/>
          <a:ln/>
        </p:spPr>
        <p:txBody>
          <a:bodyPr wrap="square" lIns="508" tIns="508" rIns="508" bIns="508" rtlCol="0" anchor="t">
            <a:normAutofit/>
            <a:spAutoFit/>
          </a:bodyPr>
          <a:lstStyle/>
          <a:p>
            <a:pPr algn="l" indent="0" marL="0">
              <a:buNone/>
            </a:pPr>
            <a:r>
              <a:rPr lang="en-US" sz="1100" dirty="0">
                <a:solidFill>
                  <a:srgbClr val="6B7A8D"/>
                </a:solidFill>
                <a:latin typeface="Calibri" pitchFamily="34" charset="0"/>
                <a:ea typeface="Calibri" pitchFamily="34" charset="-122"/>
                <a:cs typeface="Calibri" pitchFamily="34" charset="-120"/>
              </a:rPr>
              <a:t>DDM, Gordon &amp; two-stage · FCFE · P/E, P/S, P/B · EV/EBITDA · asset-based — Siemens, IBM, Nestlé, Cameco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900" b="1" dirty="0">
                <a:solidFill>
                  <a:srgbClr val="FFFFFF"/>
                </a:solidFill>
                <a:latin typeface="Trebuchet MS" pitchFamily="34" charset="0"/>
                <a:ea typeface="Trebuchet MS" pitchFamily="34" charset="-122"/>
                <a:cs typeface="Trebuchet MS" pitchFamily="34" charset="-120"/>
              </a:rPr>
              <a:t>Learning objectives</a:t>
            </a:r>
            <a:endParaRPr lang="en-US" sz="19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822960"/>
            <a:ext cx="8503920" cy="274320"/>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By the end of this deck you should be able to:</a:t>
            </a:r>
            <a:endParaRPr lang="en-US" sz="1300" dirty="0"/>
          </a:p>
        </p:txBody>
      </p:sp>
      <p:sp>
        <p:nvSpPr>
          <p:cNvPr id="8" name="Text 6"/>
          <p:cNvSpPr txBox="1"/>
          <p:nvPr/>
        </p:nvSpPr>
        <p:spPr>
          <a:xfrm>
            <a:off x="320040" y="1188720"/>
            <a:ext cx="8503920" cy="3108960"/>
          </a:xfrm>
          <a:prstGeom prst="rect">
            <a:avLst/>
          </a:prstGeom>
          <a:noFill/>
          <a:ln/>
        </p:spPr>
        <p:txBody>
          <a:bodyPr wrap="square" rtlCol="0" anchor="t"/>
          <a:lstStyle/>
          <a:p>
            <a:pPr indent="0" marL="0">
              <a:buNone/>
            </a:pPr>
            <a:r>
              <a:rPr lang="en-US" sz="1200" b="1" dirty="0">
                <a:solidFill>
                  <a:srgbClr val="E8600A"/>
                </a:solidFill>
                <a:latin typeface="Trebuchet MS" pitchFamily="34" charset="0"/>
                <a:ea typeface="Trebuchet MS" pitchFamily="34" charset="-122"/>
                <a:cs typeface="Trebuchet MS" pitchFamily="34" charset="-120"/>
              </a:rPr>
              <a:t>1. </a:t>
            </a:r>
            <a:pPr indent="0" marL="0">
              <a:buNone/>
            </a:pPr>
            <a:r>
              <a:rPr lang="en-US" sz="1200" dirty="0">
                <a:solidFill>
                  <a:srgbClr val="334155"/>
                </a:solidFill>
                <a:latin typeface="Calibri" pitchFamily="34" charset="0"/>
                <a:ea typeface="Calibri" pitchFamily="34" charset="-122"/>
                <a:cs typeface="Calibri" pitchFamily="34" charset="-120"/>
              </a:rPr>
              <a:t>Describe the eight elements of an initial equity research report, and evaluate a company's business model, revenue drivers, and operating/financial leverage.
</a:t>
            </a:r>
            <a:pPr indent="0" marL="0">
              <a:buNone/>
            </a:pPr>
            <a:r>
              <a:rPr lang="en-US" sz="1200" b="1" dirty="0">
                <a:solidFill>
                  <a:srgbClr val="E8600A"/>
                </a:solidFill>
                <a:latin typeface="Trebuchet MS" pitchFamily="34" charset="0"/>
                <a:ea typeface="Trebuchet MS" pitchFamily="34" charset="-122"/>
                <a:cs typeface="Trebuchet MS" pitchFamily="34" charset="-120"/>
              </a:rPr>
              <a:t>2. </a:t>
            </a:r>
            <a:pPr indent="0" marL="0">
              <a:buNone/>
            </a:pPr>
            <a:r>
              <a:rPr lang="en-US" sz="1200" dirty="0">
                <a:solidFill>
                  <a:srgbClr val="334155"/>
                </a:solidFill>
                <a:latin typeface="Calibri" pitchFamily="34" charset="0"/>
                <a:ea typeface="Calibri" pitchFamily="34" charset="-122"/>
                <a:cs typeface="Calibri" pitchFamily="34" charset="-120"/>
              </a:rPr>
              <a:t>Analyze an industry's structure using Porter's Five Forces and identify the dominant forces to monitor, and complement the analysis with a PESTLE scan.
</a:t>
            </a:r>
            <a:pPr indent="0" marL="0">
              <a:buNone/>
            </a:pPr>
            <a:r>
              <a:rPr lang="en-US" sz="1200" b="1" dirty="0">
                <a:solidFill>
                  <a:srgbClr val="E8600A"/>
                </a:solidFill>
                <a:latin typeface="Trebuchet MS" pitchFamily="34" charset="0"/>
                <a:ea typeface="Trebuchet MS" pitchFamily="34" charset="-122"/>
                <a:cs typeface="Trebuchet MS" pitchFamily="34" charset="-120"/>
              </a:rPr>
              <a:t>3. </a:t>
            </a:r>
            <a:pPr indent="0" marL="0">
              <a:buNone/>
            </a:pPr>
            <a:r>
              <a:rPr lang="en-US" sz="1200" dirty="0">
                <a:solidFill>
                  <a:srgbClr val="334155"/>
                </a:solidFill>
                <a:latin typeface="Calibri" pitchFamily="34" charset="0"/>
                <a:ea typeface="Calibri" pitchFamily="34" charset="-122"/>
                <a:cs typeface="Calibri" pitchFamily="34" charset="-120"/>
              </a:rPr>
              <a:t>Apply the four forecast approaches to build a top-down or bottom-up revenue forecast and quantify key risks with bear / base / bull scenarios.
</a:t>
            </a:r>
            <a:pPr indent="0" marL="0">
              <a:buNone/>
            </a:pPr>
            <a:r>
              <a:rPr lang="en-US" sz="1200" b="1" dirty="0">
                <a:solidFill>
                  <a:srgbClr val="E8600A"/>
                </a:solidFill>
                <a:latin typeface="Trebuchet MS" pitchFamily="34" charset="0"/>
                <a:ea typeface="Trebuchet MS" pitchFamily="34" charset="-122"/>
                <a:cs typeface="Trebuchet MS" pitchFamily="34" charset="-120"/>
              </a:rPr>
              <a:t>4. </a:t>
            </a:r>
            <a:pPr indent="0" marL="0">
              <a:buNone/>
            </a:pPr>
            <a:r>
              <a:rPr lang="en-US" sz="1200" dirty="0">
                <a:solidFill>
                  <a:srgbClr val="334155"/>
                </a:solidFill>
                <a:latin typeface="Calibri" pitchFamily="34" charset="0"/>
                <a:ea typeface="Calibri" pitchFamily="34" charset="-122"/>
                <a:cs typeface="Calibri" pitchFamily="34" charset="-120"/>
              </a:rPr>
              <a:t>Calculate intrinsic value using the Gordon growth model, a two-stage DDM, and an FCFE model, and identify the company profile each is suited to.
</a:t>
            </a:r>
            <a:pPr indent="0" marL="0">
              <a:buNone/>
            </a:pPr>
            <a:r>
              <a:rPr lang="en-US" sz="1200" b="1" dirty="0">
                <a:solidFill>
                  <a:srgbClr val="E8600A"/>
                </a:solidFill>
                <a:latin typeface="Trebuchet MS" pitchFamily="34" charset="0"/>
                <a:ea typeface="Trebuchet MS" pitchFamily="34" charset="-122"/>
                <a:cs typeface="Trebuchet MS" pitchFamily="34" charset="-120"/>
              </a:rPr>
              <a:t>5. </a:t>
            </a:r>
            <a:pPr indent="0" marL="0">
              <a:buNone/>
            </a:pPr>
            <a:r>
              <a:rPr lang="en-US" sz="1200" dirty="0">
                <a:solidFill>
                  <a:srgbClr val="334155"/>
                </a:solidFill>
                <a:latin typeface="Calibri" pitchFamily="34" charset="0"/>
                <a:ea typeface="Calibri" pitchFamily="34" charset="-122"/>
                <a:cs typeface="Calibri" pitchFamily="34" charset="-120"/>
              </a:rPr>
              <a:t>Compute and interpret P/E, P/S, P/B, EV/EBITDA and asset-based valuations — keeping numerator and denominator on the same claim — and understand why a low multiple demands a "why" before a "buy".
</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01</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Company analysis</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past &amp; present</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1 of 4  ·  Deck 12 of 20  ·  Studio Tonton Gug</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An initial equity research report sits on three analytical pillars — company, industry, and forecast — all feeding valuation and a recommendation</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5, §2 "Company Research Reports", Exhibits 1–2, pp. 202–203.</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Initial reports cover all eight elements below. Subsequent reports are shorter and revisit only what changed — usually the financial model and the valuation.</a:t>
            </a:r>
            <a:endParaRPr lang="en-US" sz="1300" dirty="0"/>
          </a:p>
        </p:txBody>
      </p:sp>
      <p:sp>
        <p:nvSpPr>
          <p:cNvPr id="9" name="Shape 7"/>
          <p:cNvSpPr/>
          <p:nvPr/>
        </p:nvSpPr>
        <p:spPr>
          <a:xfrm>
            <a:off x="320040" y="1097280"/>
            <a:ext cx="4160520" cy="3154680"/>
          </a:xfrm>
          <a:prstGeom prst="rect">
            <a:avLst/>
          </a:prstGeom>
          <a:solidFill>
            <a:srgbClr val="F5F7FA"/>
          </a:solidFill>
          <a:ln/>
        </p:spPr>
      </p:sp>
      <p:sp>
        <p:nvSpPr>
          <p:cNvPr id="10" name="Text 8"/>
          <p:cNvSpPr txBox="1"/>
          <p:nvPr/>
        </p:nvSpPr>
        <p:spPr>
          <a:xfrm>
            <a:off x="457200" y="1170432"/>
            <a:ext cx="38862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ANALYTICAL FRAMEWORK</a:t>
            </a:r>
            <a:endParaRPr lang="en-US" sz="1100" dirty="0"/>
          </a:p>
        </p:txBody>
      </p:sp>
      <p:sp>
        <p:nvSpPr>
          <p:cNvPr id="11" name="Shape 9"/>
          <p:cNvSpPr/>
          <p:nvPr/>
        </p:nvSpPr>
        <p:spPr>
          <a:xfrm>
            <a:off x="457200" y="1508760"/>
            <a:ext cx="3886200" cy="841248"/>
          </a:xfrm>
          <a:prstGeom prst="rect">
            <a:avLst/>
          </a:prstGeom>
          <a:solidFill>
            <a:srgbClr val="1B2A4A"/>
          </a:solidFill>
          <a:ln/>
        </p:spPr>
      </p:sp>
      <p:sp>
        <p:nvSpPr>
          <p:cNvPr id="12" name="Shape 10"/>
          <p:cNvSpPr/>
          <p:nvPr/>
        </p:nvSpPr>
        <p:spPr>
          <a:xfrm>
            <a:off x="457200" y="1508760"/>
            <a:ext cx="73152" cy="841248"/>
          </a:xfrm>
          <a:prstGeom prst="rect">
            <a:avLst/>
          </a:prstGeom>
          <a:solidFill>
            <a:srgbClr val="E8600A"/>
          </a:solidFill>
          <a:ln/>
        </p:spPr>
      </p:sp>
      <p:sp>
        <p:nvSpPr>
          <p:cNvPr id="13" name="Text 11"/>
          <p:cNvSpPr txBox="1"/>
          <p:nvPr/>
        </p:nvSpPr>
        <p:spPr>
          <a:xfrm>
            <a:off x="594360" y="1554480"/>
            <a:ext cx="3703320" cy="219456"/>
          </a:xfrm>
          <a:prstGeom prst="rect">
            <a:avLst/>
          </a:prstGeom>
          <a:noFill/>
          <a:ln/>
        </p:spPr>
        <p:txBody>
          <a:bodyPr wrap="square" lIns="508" tIns="508" rIns="508" bIns="508" rtlCol="0" anchor="ctr">
            <a:normAutofit/>
            <a:spAutoFit/>
          </a:bodyPr>
          <a:lstStyle/>
          <a:p>
            <a:pPr algn="l" indent="0" marL="0">
              <a:buNone/>
            </a:pPr>
            <a:r>
              <a:rPr lang="en-US" sz="1000" b="1" spc="300" kern="0" dirty="0">
                <a:solidFill>
                  <a:srgbClr val="E8600A"/>
                </a:solidFill>
                <a:latin typeface="Trebuchet MS" pitchFamily="34" charset="0"/>
                <a:ea typeface="Trebuchet MS" pitchFamily="34" charset="-122"/>
                <a:cs typeface="Trebuchet MS" pitchFamily="34" charset="-120"/>
              </a:rPr>
              <a:t>3. FORECASTING</a:t>
            </a:r>
            <a:endParaRPr lang="en-US" sz="1000" dirty="0"/>
          </a:p>
        </p:txBody>
      </p:sp>
      <p:sp>
        <p:nvSpPr>
          <p:cNvPr id="14" name="Text 12"/>
          <p:cNvSpPr txBox="1"/>
          <p:nvPr/>
        </p:nvSpPr>
        <p:spPr>
          <a:xfrm>
            <a:off x="594360" y="1764792"/>
            <a:ext cx="3703320" cy="548640"/>
          </a:xfrm>
          <a:prstGeom prst="rect">
            <a:avLst/>
          </a:prstGeom>
          <a:noFill/>
          <a:ln/>
        </p:spPr>
        <p:txBody>
          <a:bodyPr wrap="square" lIns="508" tIns="508" rIns="508" bIns="508" rtlCol="0" anchor="t">
            <a:normAutofit/>
            <a:spAutoFit/>
          </a:bodyPr>
          <a:lstStyle/>
          <a:p>
            <a:pPr algn="l" indent="0" marL="0">
              <a:buNone/>
            </a:pPr>
            <a:r>
              <a:rPr lang="en-US" sz="1100" dirty="0">
                <a:solidFill>
                  <a:srgbClr val="FFFFFF"/>
                </a:solidFill>
                <a:latin typeface="Calibri" pitchFamily="34" charset="0"/>
                <a:ea typeface="Calibri" pitchFamily="34" charset="-122"/>
                <a:cs typeface="Calibri" pitchFamily="34" charset="-120"/>
              </a:rPr>
              <a:t>Forecast objects &amp; approaches · revenue · profitability &amp; working capital · capital investments &amp; structure · key risks</a:t>
            </a:r>
            <a:endParaRPr lang="en-US" sz="1100" dirty="0"/>
          </a:p>
        </p:txBody>
      </p:sp>
      <p:sp>
        <p:nvSpPr>
          <p:cNvPr id="15" name="Shape 13"/>
          <p:cNvSpPr/>
          <p:nvPr/>
        </p:nvSpPr>
        <p:spPr>
          <a:xfrm>
            <a:off x="457200" y="2441448"/>
            <a:ext cx="3886200" cy="841248"/>
          </a:xfrm>
          <a:prstGeom prst="rect">
            <a:avLst/>
          </a:prstGeom>
          <a:solidFill>
            <a:srgbClr val="2D3752"/>
          </a:solidFill>
          <a:ln/>
        </p:spPr>
      </p:sp>
      <p:sp>
        <p:nvSpPr>
          <p:cNvPr id="16" name="Shape 14"/>
          <p:cNvSpPr/>
          <p:nvPr/>
        </p:nvSpPr>
        <p:spPr>
          <a:xfrm>
            <a:off x="457200" y="2441448"/>
            <a:ext cx="73152" cy="841248"/>
          </a:xfrm>
          <a:prstGeom prst="rect">
            <a:avLst/>
          </a:prstGeom>
          <a:solidFill>
            <a:srgbClr val="E8600A"/>
          </a:solidFill>
          <a:ln/>
        </p:spPr>
      </p:sp>
      <p:sp>
        <p:nvSpPr>
          <p:cNvPr id="17" name="Text 15"/>
          <p:cNvSpPr txBox="1"/>
          <p:nvPr/>
        </p:nvSpPr>
        <p:spPr>
          <a:xfrm>
            <a:off x="594360" y="2487168"/>
            <a:ext cx="3703320" cy="219456"/>
          </a:xfrm>
          <a:prstGeom prst="rect">
            <a:avLst/>
          </a:prstGeom>
          <a:noFill/>
          <a:ln/>
        </p:spPr>
        <p:txBody>
          <a:bodyPr wrap="square" lIns="508" tIns="508" rIns="508" bIns="508" rtlCol="0" anchor="ctr">
            <a:normAutofit/>
            <a:spAutoFit/>
          </a:bodyPr>
          <a:lstStyle/>
          <a:p>
            <a:pPr algn="l" indent="0" marL="0">
              <a:buNone/>
            </a:pPr>
            <a:r>
              <a:rPr lang="en-US" sz="1000" b="1" spc="300" kern="0" dirty="0">
                <a:solidFill>
                  <a:srgbClr val="E8600A"/>
                </a:solidFill>
                <a:latin typeface="Trebuchet MS" pitchFamily="34" charset="0"/>
                <a:ea typeface="Trebuchet MS" pitchFamily="34" charset="-122"/>
                <a:cs typeface="Trebuchet MS" pitchFamily="34" charset="-120"/>
              </a:rPr>
              <a:t>2. INDUSTRY &amp; COMPETITIVE</a:t>
            </a:r>
            <a:endParaRPr lang="en-US" sz="1000" dirty="0"/>
          </a:p>
        </p:txBody>
      </p:sp>
      <p:sp>
        <p:nvSpPr>
          <p:cNvPr id="18" name="Text 16"/>
          <p:cNvSpPr txBox="1"/>
          <p:nvPr/>
        </p:nvSpPr>
        <p:spPr>
          <a:xfrm>
            <a:off x="594360" y="2697480"/>
            <a:ext cx="3703320" cy="548640"/>
          </a:xfrm>
          <a:prstGeom prst="rect">
            <a:avLst/>
          </a:prstGeom>
          <a:noFill/>
          <a:ln/>
        </p:spPr>
        <p:txBody>
          <a:bodyPr wrap="square" lIns="508" tIns="508" rIns="508" bIns="508" rtlCol="0" anchor="t">
            <a:normAutofit/>
            <a:spAutoFit/>
          </a:bodyPr>
          <a:lstStyle/>
          <a:p>
            <a:pPr algn="l" indent="0" marL="0">
              <a:buNone/>
            </a:pPr>
            <a:r>
              <a:rPr lang="en-US" sz="1100" dirty="0">
                <a:solidFill>
                  <a:srgbClr val="FFFFFF"/>
                </a:solidFill>
                <a:latin typeface="Calibri" pitchFamily="34" charset="0"/>
                <a:ea typeface="Calibri" pitchFamily="34" charset="-122"/>
                <a:cs typeface="Calibri" pitchFamily="34" charset="-120"/>
              </a:rPr>
              <a:t>Define industry · size, growth, profitability, share · structure (Porter) &amp; external influences (PESTLE) · position</a:t>
            </a:r>
            <a:endParaRPr lang="en-US" sz="1100" dirty="0"/>
          </a:p>
        </p:txBody>
      </p:sp>
      <p:sp>
        <p:nvSpPr>
          <p:cNvPr id="19" name="Shape 17"/>
          <p:cNvSpPr/>
          <p:nvPr/>
        </p:nvSpPr>
        <p:spPr>
          <a:xfrm>
            <a:off x="457200" y="3374136"/>
            <a:ext cx="3886200" cy="841248"/>
          </a:xfrm>
          <a:prstGeom prst="rect">
            <a:avLst/>
          </a:prstGeom>
          <a:solidFill>
            <a:srgbClr val="253A5E"/>
          </a:solidFill>
          <a:ln/>
        </p:spPr>
      </p:sp>
      <p:sp>
        <p:nvSpPr>
          <p:cNvPr id="20" name="Shape 18"/>
          <p:cNvSpPr/>
          <p:nvPr/>
        </p:nvSpPr>
        <p:spPr>
          <a:xfrm>
            <a:off x="457200" y="3374136"/>
            <a:ext cx="73152" cy="841248"/>
          </a:xfrm>
          <a:prstGeom prst="rect">
            <a:avLst/>
          </a:prstGeom>
          <a:solidFill>
            <a:srgbClr val="E8600A"/>
          </a:solidFill>
          <a:ln/>
        </p:spPr>
      </p:sp>
      <p:sp>
        <p:nvSpPr>
          <p:cNvPr id="21" name="Text 19"/>
          <p:cNvSpPr txBox="1"/>
          <p:nvPr/>
        </p:nvSpPr>
        <p:spPr>
          <a:xfrm>
            <a:off x="594360" y="3419856"/>
            <a:ext cx="3703320" cy="219456"/>
          </a:xfrm>
          <a:prstGeom prst="rect">
            <a:avLst/>
          </a:prstGeom>
          <a:noFill/>
          <a:ln/>
        </p:spPr>
        <p:txBody>
          <a:bodyPr wrap="square" lIns="508" tIns="508" rIns="508" bIns="508" rtlCol="0" anchor="ctr">
            <a:normAutofit/>
            <a:spAutoFit/>
          </a:bodyPr>
          <a:lstStyle/>
          <a:p>
            <a:pPr algn="l" indent="0" marL="0">
              <a:buNone/>
            </a:pPr>
            <a:r>
              <a:rPr lang="en-US" sz="1000" b="1" spc="300" kern="0" dirty="0">
                <a:solidFill>
                  <a:srgbClr val="E8600A"/>
                </a:solidFill>
                <a:latin typeface="Trebuchet MS" pitchFamily="34" charset="0"/>
                <a:ea typeface="Trebuchet MS" pitchFamily="34" charset="-122"/>
                <a:cs typeface="Trebuchet MS" pitchFamily="34" charset="-120"/>
              </a:rPr>
              <a:t>1. COMPANY — PAST &amp; PRESENT</a:t>
            </a:r>
            <a:endParaRPr lang="en-US" sz="1000" dirty="0"/>
          </a:p>
        </p:txBody>
      </p:sp>
      <p:sp>
        <p:nvSpPr>
          <p:cNvPr id="22" name="Text 20"/>
          <p:cNvSpPr txBox="1"/>
          <p:nvPr/>
        </p:nvSpPr>
        <p:spPr>
          <a:xfrm>
            <a:off x="594360" y="3630168"/>
            <a:ext cx="3703320" cy="548640"/>
          </a:xfrm>
          <a:prstGeom prst="rect">
            <a:avLst/>
          </a:prstGeom>
          <a:noFill/>
          <a:ln/>
        </p:spPr>
        <p:txBody>
          <a:bodyPr wrap="square" lIns="508" tIns="508" rIns="508" bIns="508" rtlCol="0" anchor="t">
            <a:normAutofit/>
            <a:spAutoFit/>
          </a:bodyPr>
          <a:lstStyle/>
          <a:p>
            <a:pPr algn="l" indent="0" marL="0">
              <a:buNone/>
            </a:pPr>
            <a:r>
              <a:rPr lang="en-US" sz="1100" dirty="0">
                <a:solidFill>
                  <a:srgbClr val="FFFFFF"/>
                </a:solidFill>
                <a:latin typeface="Calibri" pitchFamily="34" charset="0"/>
                <a:ea typeface="Calibri" pitchFamily="34" charset="-122"/>
                <a:cs typeface="Calibri" pitchFamily="34" charset="-120"/>
              </a:rPr>
              <a:t>Business model · revenue &amp; revenue drivers · operating profitability &amp; working capital · capital investments &amp; structure</a:t>
            </a:r>
            <a:endParaRPr lang="en-US" sz="1100" dirty="0"/>
          </a:p>
        </p:txBody>
      </p:sp>
      <p:sp>
        <p:nvSpPr>
          <p:cNvPr id="23" name="Shape 21"/>
          <p:cNvSpPr/>
          <p:nvPr/>
        </p:nvSpPr>
        <p:spPr>
          <a:xfrm>
            <a:off x="4663440" y="1097280"/>
            <a:ext cx="4160520" cy="3154680"/>
          </a:xfrm>
          <a:prstGeom prst="rect">
            <a:avLst/>
          </a:prstGeom>
          <a:solidFill>
            <a:srgbClr val="FEF0E7"/>
          </a:solidFill>
          <a:ln/>
        </p:spPr>
      </p:sp>
      <p:sp>
        <p:nvSpPr>
          <p:cNvPr id="24" name="Shape 22"/>
          <p:cNvSpPr/>
          <p:nvPr/>
        </p:nvSpPr>
        <p:spPr>
          <a:xfrm>
            <a:off x="4663440" y="1097280"/>
            <a:ext cx="73152" cy="3154680"/>
          </a:xfrm>
          <a:prstGeom prst="rect">
            <a:avLst/>
          </a:prstGeom>
          <a:solidFill>
            <a:srgbClr val="E8600A"/>
          </a:solidFill>
          <a:ln/>
        </p:spPr>
      </p:sp>
      <p:sp>
        <p:nvSpPr>
          <p:cNvPr id="25" name="Text 23"/>
          <p:cNvSpPr txBox="1"/>
          <p:nvPr/>
        </p:nvSpPr>
        <p:spPr>
          <a:xfrm>
            <a:off x="4800600" y="1170432"/>
            <a:ext cx="38862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INITIAL-REPORT ELEMENTS</a:t>
            </a:r>
            <a:endParaRPr lang="en-US" sz="1100" dirty="0"/>
          </a:p>
        </p:txBody>
      </p:sp>
      <p:sp>
        <p:nvSpPr>
          <p:cNvPr id="26" name="Text 24"/>
          <p:cNvSpPr txBox="1"/>
          <p:nvPr/>
        </p:nvSpPr>
        <p:spPr>
          <a:xfrm>
            <a:off x="4846320" y="1481328"/>
            <a:ext cx="3840480" cy="2697480"/>
          </a:xfrm>
          <a:prstGeom prst="rect">
            <a:avLst/>
          </a:prstGeom>
          <a:noFill/>
          <a:ln/>
        </p:spPr>
        <p:txBody>
          <a:bodyPr wrap="square" rtlCol="0" anchor="t"/>
          <a:lstStyle/>
          <a:p>
            <a:pPr indent="0" marL="0">
              <a:buNone/>
            </a:pPr>
            <a:r>
              <a:rPr lang="en-US" sz="1100" b="1" dirty="0">
                <a:solidFill>
                  <a:srgbClr val="E8600A"/>
                </a:solidFill>
                <a:latin typeface="Trebuchet MS" pitchFamily="34" charset="0"/>
                <a:ea typeface="Trebuchet MS" pitchFamily="34" charset="-122"/>
                <a:cs typeface="Trebuchet MS" pitchFamily="34" charset="-120"/>
              </a:rPr>
              <a:t>1. </a:t>
            </a:r>
            <a:pPr indent="0" marL="0">
              <a:buNone/>
            </a:pPr>
            <a:r>
              <a:rPr lang="en-US" sz="1100" dirty="0">
                <a:solidFill>
                  <a:srgbClr val="334155"/>
                </a:solidFill>
                <a:latin typeface="Calibri" pitchFamily="34" charset="0"/>
                <a:ea typeface="Calibri" pitchFamily="34" charset="-122"/>
                <a:cs typeface="Calibri" pitchFamily="34" charset="-120"/>
              </a:rPr>
              <a:t>Front matter — identifiers, rating, disclosures
</a:t>
            </a:r>
            <a:pPr indent="0" marL="0">
              <a:buNone/>
            </a:pPr>
            <a:r>
              <a:rPr lang="en-US" sz="1100" b="1" dirty="0">
                <a:solidFill>
                  <a:srgbClr val="E8600A"/>
                </a:solidFill>
                <a:latin typeface="Trebuchet MS" pitchFamily="34" charset="0"/>
                <a:ea typeface="Trebuchet MS" pitchFamily="34" charset="-122"/>
                <a:cs typeface="Trebuchet MS" pitchFamily="34" charset="-120"/>
              </a:rPr>
              <a:t>2. </a:t>
            </a:r>
            <a:pPr indent="0" marL="0">
              <a:buNone/>
            </a:pPr>
            <a:r>
              <a:rPr lang="en-US" sz="1100" dirty="0">
                <a:solidFill>
                  <a:srgbClr val="334155"/>
                </a:solidFill>
                <a:latin typeface="Calibri" pitchFamily="34" charset="0"/>
                <a:ea typeface="Calibri" pitchFamily="34" charset="-122"/>
                <a:cs typeface="Calibri" pitchFamily="34" charset="-120"/>
              </a:rPr>
              <a:t>Recommendation + target price, and why
</a:t>
            </a:r>
            <a:pPr indent="0" marL="0">
              <a:buNone/>
            </a:pPr>
            <a:r>
              <a:rPr lang="en-US" sz="1100" b="1" dirty="0">
                <a:solidFill>
                  <a:srgbClr val="E8600A"/>
                </a:solidFill>
                <a:latin typeface="Trebuchet MS" pitchFamily="34" charset="0"/>
                <a:ea typeface="Trebuchet MS" pitchFamily="34" charset="-122"/>
                <a:cs typeface="Trebuchet MS" pitchFamily="34" charset="-120"/>
              </a:rPr>
              <a:t>3. </a:t>
            </a:r>
            <a:pPr indent="0" marL="0">
              <a:buNone/>
            </a:pPr>
            <a:r>
              <a:rPr lang="en-US" sz="1100" dirty="0">
                <a:solidFill>
                  <a:srgbClr val="334155"/>
                </a:solidFill>
                <a:latin typeface="Calibri" pitchFamily="34" charset="0"/>
                <a:ea typeface="Calibri" pitchFamily="34" charset="-122"/>
                <a:cs typeface="Calibri" pitchFamily="34" charset="-120"/>
              </a:rPr>
              <a:t>Company description &amp; business model
</a:t>
            </a:r>
            <a:pPr indent="0" marL="0">
              <a:buNone/>
            </a:pPr>
            <a:r>
              <a:rPr lang="en-US" sz="1100" b="1" dirty="0">
                <a:solidFill>
                  <a:srgbClr val="E8600A"/>
                </a:solidFill>
                <a:latin typeface="Trebuchet MS" pitchFamily="34" charset="0"/>
                <a:ea typeface="Trebuchet MS" pitchFamily="34" charset="-122"/>
                <a:cs typeface="Trebuchet MS" pitchFamily="34" charset="-120"/>
              </a:rPr>
              <a:t>4. </a:t>
            </a:r>
            <a:pPr indent="0" marL="0">
              <a:buNone/>
            </a:pPr>
            <a:r>
              <a:rPr lang="en-US" sz="1100" dirty="0">
                <a:solidFill>
                  <a:srgbClr val="334155"/>
                </a:solidFill>
                <a:latin typeface="Calibri" pitchFamily="34" charset="0"/>
                <a:ea typeface="Calibri" pitchFamily="34" charset="-122"/>
                <a:cs typeface="Calibri" pitchFamily="34" charset="-120"/>
              </a:rPr>
              <a:t>Industry overview &amp; competitive positioning
</a:t>
            </a:r>
            <a:pPr indent="0" marL="0">
              <a:buNone/>
            </a:pPr>
            <a:r>
              <a:rPr lang="en-US" sz="1100" b="1" dirty="0">
                <a:solidFill>
                  <a:srgbClr val="E8600A"/>
                </a:solidFill>
                <a:latin typeface="Trebuchet MS" pitchFamily="34" charset="0"/>
                <a:ea typeface="Trebuchet MS" pitchFamily="34" charset="-122"/>
                <a:cs typeface="Trebuchet MS" pitchFamily="34" charset="-120"/>
              </a:rPr>
              <a:t>5. </a:t>
            </a:r>
            <a:pPr indent="0" marL="0">
              <a:buNone/>
            </a:pPr>
            <a:r>
              <a:rPr lang="en-US" sz="1100" dirty="0">
                <a:solidFill>
                  <a:srgbClr val="334155"/>
                </a:solidFill>
                <a:latin typeface="Calibri" pitchFamily="34" charset="0"/>
                <a:ea typeface="Calibri" pitchFamily="34" charset="-122"/>
                <a:cs typeface="Calibri" pitchFamily="34" charset="-120"/>
              </a:rPr>
              <a:t>Financial analysis &amp; model
</a:t>
            </a:r>
            <a:pPr indent="0" marL="0">
              <a:buNone/>
            </a:pPr>
            <a:r>
              <a:rPr lang="en-US" sz="1100" b="1" dirty="0">
                <a:solidFill>
                  <a:srgbClr val="E8600A"/>
                </a:solidFill>
                <a:latin typeface="Trebuchet MS" pitchFamily="34" charset="0"/>
                <a:ea typeface="Trebuchet MS" pitchFamily="34" charset="-122"/>
                <a:cs typeface="Trebuchet MS" pitchFamily="34" charset="-120"/>
              </a:rPr>
              <a:t>6. </a:t>
            </a:r>
            <a:pPr indent="0" marL="0">
              <a:buNone/>
            </a:pPr>
            <a:r>
              <a:rPr lang="en-US" sz="1100" dirty="0">
                <a:solidFill>
                  <a:srgbClr val="334155"/>
                </a:solidFill>
                <a:latin typeface="Calibri" pitchFamily="34" charset="0"/>
                <a:ea typeface="Calibri" pitchFamily="34" charset="-122"/>
                <a:cs typeface="Calibri" pitchFamily="34" charset="-120"/>
              </a:rPr>
              <a:t>Valuation — relative and present-value
</a:t>
            </a:r>
            <a:pPr indent="0" marL="0">
              <a:buNone/>
            </a:pPr>
            <a:r>
              <a:rPr lang="en-US" sz="1100" b="1" dirty="0">
                <a:solidFill>
                  <a:srgbClr val="E8600A"/>
                </a:solidFill>
                <a:latin typeface="Trebuchet MS" pitchFamily="34" charset="0"/>
                <a:ea typeface="Trebuchet MS" pitchFamily="34" charset="-122"/>
                <a:cs typeface="Trebuchet MS" pitchFamily="34" charset="-120"/>
              </a:rPr>
              <a:t>7. </a:t>
            </a:r>
            <a:pPr indent="0" marL="0">
              <a:buNone/>
            </a:pPr>
            <a:r>
              <a:rPr lang="en-US" sz="1100" dirty="0">
                <a:solidFill>
                  <a:srgbClr val="334155"/>
                </a:solidFill>
                <a:latin typeface="Calibri" pitchFamily="34" charset="0"/>
                <a:ea typeface="Calibri" pitchFamily="34" charset="-122"/>
                <a:cs typeface="Calibri" pitchFamily="34" charset="-120"/>
              </a:rPr>
              <a:t>ESG — incl. ownership, management, pay
</a:t>
            </a:r>
            <a:pPr indent="0" marL="0">
              <a:buNone/>
            </a:pPr>
            <a:r>
              <a:rPr lang="en-US" sz="1100" b="1" dirty="0">
                <a:solidFill>
                  <a:srgbClr val="E8600A"/>
                </a:solidFill>
                <a:latin typeface="Trebuchet MS" pitchFamily="34" charset="0"/>
                <a:ea typeface="Trebuchet MS" pitchFamily="34" charset="-122"/>
                <a:cs typeface="Trebuchet MS" pitchFamily="34" charset="-120"/>
              </a:rPr>
              <a:t>8. </a:t>
            </a:r>
            <a:pPr indent="0" marL="0">
              <a:buNone/>
            </a:pPr>
            <a:r>
              <a:rPr lang="en-US" sz="1100" dirty="0">
                <a:solidFill>
                  <a:srgbClr val="334155"/>
                </a:solidFill>
                <a:latin typeface="Calibri" pitchFamily="34" charset="0"/>
                <a:ea typeface="Calibri" pitchFamily="34" charset="-122"/>
                <a:cs typeface="Calibri" pitchFamily="34" charset="-120"/>
              </a:rPr>
              <a:t>Material upside / downside risks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A business model is five questions — what, to whom, through which channel, at what price, and bought from whom</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Competitive strategy is not one of the five elements — it belongs to industry analysis (LM 6, §6). Describe first, judge later.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5, §3 "Determining the Business Model", pp. 205–206.</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Verify answers against filings, earnings calls, investor events, site visits and third-party research — never management alone.</a:t>
            </a:r>
            <a:endParaRPr lang="en-US" sz="1300" dirty="0"/>
          </a:p>
        </p:txBody>
      </p:sp>
      <p:sp>
        <p:nvSpPr>
          <p:cNvPr id="10" name="Shape 8"/>
          <p:cNvSpPr/>
          <p:nvPr/>
        </p:nvSpPr>
        <p:spPr>
          <a:xfrm>
            <a:off x="320040" y="1051560"/>
            <a:ext cx="8503920" cy="640080"/>
          </a:xfrm>
          <a:prstGeom prst="rect">
            <a:avLst/>
          </a:prstGeom>
          <a:solidFill>
            <a:srgbClr val="FFFFFF"/>
          </a:solidFill>
          <a:ln/>
        </p:spPr>
      </p:sp>
      <p:sp>
        <p:nvSpPr>
          <p:cNvPr id="11" name="Shape 9"/>
          <p:cNvSpPr/>
          <p:nvPr/>
        </p:nvSpPr>
        <p:spPr>
          <a:xfrm>
            <a:off x="320040" y="1051560"/>
            <a:ext cx="91440" cy="640080"/>
          </a:xfrm>
          <a:prstGeom prst="rect">
            <a:avLst/>
          </a:prstGeom>
          <a:solidFill>
            <a:srgbClr val="E8600A"/>
          </a:solidFill>
          <a:ln/>
        </p:spPr>
      </p:sp>
      <p:sp>
        <p:nvSpPr>
          <p:cNvPr id="12" name="Text 10"/>
          <p:cNvSpPr txBox="1"/>
          <p:nvPr/>
        </p:nvSpPr>
        <p:spPr>
          <a:xfrm>
            <a:off x="502920" y="1051560"/>
            <a:ext cx="365760" cy="640080"/>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1</a:t>
            </a:r>
            <a:endParaRPr lang="en-US" sz="1300" dirty="0"/>
          </a:p>
        </p:txBody>
      </p:sp>
      <p:sp>
        <p:nvSpPr>
          <p:cNvPr id="13" name="Text 11"/>
          <p:cNvSpPr txBox="1"/>
          <p:nvPr/>
        </p:nvSpPr>
        <p:spPr>
          <a:xfrm>
            <a:off x="868680" y="1088136"/>
            <a:ext cx="7863840" cy="288036"/>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WHAT IS THE FIRM SELLING?</a:t>
            </a:r>
            <a:endParaRPr lang="en-US" sz="1200" dirty="0"/>
          </a:p>
        </p:txBody>
      </p:sp>
      <p:sp>
        <p:nvSpPr>
          <p:cNvPr id="14" name="Text 12"/>
          <p:cNvSpPr txBox="1"/>
          <p:nvPr/>
        </p:nvSpPr>
        <p:spPr>
          <a:xfrm>
            <a:off x="868680" y="1339596"/>
            <a:ext cx="7863840" cy="352044"/>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Products and services; recurring vs one-off; single-segment (Warehouse Club Inc.) or a conglomerate. Most firms fit a conventional model — analyse the differences.</a:t>
            </a:r>
            <a:endParaRPr lang="en-US" sz="1200" dirty="0"/>
          </a:p>
        </p:txBody>
      </p:sp>
      <p:sp>
        <p:nvSpPr>
          <p:cNvPr id="15" name="Shape 13"/>
          <p:cNvSpPr/>
          <p:nvPr/>
        </p:nvSpPr>
        <p:spPr>
          <a:xfrm>
            <a:off x="320040" y="1719072"/>
            <a:ext cx="8503920" cy="640080"/>
          </a:xfrm>
          <a:prstGeom prst="rect">
            <a:avLst/>
          </a:prstGeom>
          <a:solidFill>
            <a:srgbClr val="F5F7FA"/>
          </a:solidFill>
          <a:ln/>
        </p:spPr>
      </p:sp>
      <p:sp>
        <p:nvSpPr>
          <p:cNvPr id="16" name="Shape 14"/>
          <p:cNvSpPr/>
          <p:nvPr/>
        </p:nvSpPr>
        <p:spPr>
          <a:xfrm>
            <a:off x="320040" y="1719072"/>
            <a:ext cx="91440" cy="640080"/>
          </a:xfrm>
          <a:prstGeom prst="rect">
            <a:avLst/>
          </a:prstGeom>
          <a:solidFill>
            <a:srgbClr val="E8600A"/>
          </a:solidFill>
          <a:ln/>
        </p:spPr>
      </p:sp>
      <p:sp>
        <p:nvSpPr>
          <p:cNvPr id="17" name="Text 15"/>
          <p:cNvSpPr txBox="1"/>
          <p:nvPr/>
        </p:nvSpPr>
        <p:spPr>
          <a:xfrm>
            <a:off x="502920" y="1719072"/>
            <a:ext cx="365760" cy="640080"/>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2</a:t>
            </a:r>
            <a:endParaRPr lang="en-US" sz="1300" dirty="0"/>
          </a:p>
        </p:txBody>
      </p:sp>
      <p:sp>
        <p:nvSpPr>
          <p:cNvPr id="18" name="Text 16"/>
          <p:cNvSpPr txBox="1"/>
          <p:nvPr/>
        </p:nvSpPr>
        <p:spPr>
          <a:xfrm>
            <a:off x="868680" y="1755648"/>
            <a:ext cx="7863840" cy="288036"/>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TO WHOM DOES IT SELL?</a:t>
            </a:r>
            <a:endParaRPr lang="en-US" sz="1200" dirty="0"/>
          </a:p>
        </p:txBody>
      </p:sp>
      <p:sp>
        <p:nvSpPr>
          <p:cNvPr id="19" name="Text 17"/>
          <p:cNvSpPr txBox="1"/>
          <p:nvPr/>
        </p:nvSpPr>
        <p:spPr>
          <a:xfrm>
            <a:off x="868680" y="2007108"/>
            <a:ext cx="7863840" cy="352044"/>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Customers and key customer groups: one dominant buyer, a fragmented consumer base, or a captive government buyer. Concentration is the number to find.</a:t>
            </a:r>
            <a:endParaRPr lang="en-US" sz="1200" dirty="0"/>
          </a:p>
        </p:txBody>
      </p:sp>
      <p:sp>
        <p:nvSpPr>
          <p:cNvPr id="20" name="Shape 18"/>
          <p:cNvSpPr/>
          <p:nvPr/>
        </p:nvSpPr>
        <p:spPr>
          <a:xfrm>
            <a:off x="320040" y="2386584"/>
            <a:ext cx="8503920" cy="640080"/>
          </a:xfrm>
          <a:prstGeom prst="rect">
            <a:avLst/>
          </a:prstGeom>
          <a:solidFill>
            <a:srgbClr val="FFFFFF"/>
          </a:solidFill>
          <a:ln/>
        </p:spPr>
      </p:sp>
      <p:sp>
        <p:nvSpPr>
          <p:cNvPr id="21" name="Shape 19"/>
          <p:cNvSpPr/>
          <p:nvPr/>
        </p:nvSpPr>
        <p:spPr>
          <a:xfrm>
            <a:off x="320040" y="2386584"/>
            <a:ext cx="91440" cy="640080"/>
          </a:xfrm>
          <a:prstGeom prst="rect">
            <a:avLst/>
          </a:prstGeom>
          <a:solidFill>
            <a:srgbClr val="E8600A"/>
          </a:solidFill>
          <a:ln/>
        </p:spPr>
      </p:sp>
      <p:sp>
        <p:nvSpPr>
          <p:cNvPr id="22" name="Text 20"/>
          <p:cNvSpPr txBox="1"/>
          <p:nvPr/>
        </p:nvSpPr>
        <p:spPr>
          <a:xfrm>
            <a:off x="502920" y="2386584"/>
            <a:ext cx="365760" cy="640080"/>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3</a:t>
            </a:r>
            <a:endParaRPr lang="en-US" sz="1300" dirty="0"/>
          </a:p>
        </p:txBody>
      </p:sp>
      <p:sp>
        <p:nvSpPr>
          <p:cNvPr id="23" name="Text 21"/>
          <p:cNvSpPr txBox="1"/>
          <p:nvPr/>
        </p:nvSpPr>
        <p:spPr>
          <a:xfrm>
            <a:off x="868680" y="2423160"/>
            <a:ext cx="7863840" cy="288036"/>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HOW DOES IT REACH THEM?</a:t>
            </a:r>
            <a:endParaRPr lang="en-US" sz="1200" dirty="0"/>
          </a:p>
        </p:txBody>
      </p:sp>
      <p:sp>
        <p:nvSpPr>
          <p:cNvPr id="24" name="Text 22"/>
          <p:cNvSpPr txBox="1"/>
          <p:nvPr/>
        </p:nvSpPr>
        <p:spPr>
          <a:xfrm>
            <a:off x="868680" y="2674620"/>
            <a:ext cx="7863840" cy="352044"/>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Sales channels: customer acquisition and delivery. Own stores, wholesale, direct-to-consumer, marketplace, distributor — each carries a different cost and margin.</a:t>
            </a:r>
            <a:endParaRPr lang="en-US" sz="1200" dirty="0"/>
          </a:p>
        </p:txBody>
      </p:sp>
      <p:sp>
        <p:nvSpPr>
          <p:cNvPr id="25" name="Shape 23"/>
          <p:cNvSpPr/>
          <p:nvPr/>
        </p:nvSpPr>
        <p:spPr>
          <a:xfrm>
            <a:off x="320040" y="3054096"/>
            <a:ext cx="8503920" cy="640080"/>
          </a:xfrm>
          <a:prstGeom prst="rect">
            <a:avLst/>
          </a:prstGeom>
          <a:solidFill>
            <a:srgbClr val="F5F7FA"/>
          </a:solidFill>
          <a:ln/>
        </p:spPr>
      </p:sp>
      <p:sp>
        <p:nvSpPr>
          <p:cNvPr id="26" name="Shape 24"/>
          <p:cNvSpPr/>
          <p:nvPr/>
        </p:nvSpPr>
        <p:spPr>
          <a:xfrm>
            <a:off x="320040" y="3054096"/>
            <a:ext cx="91440" cy="640080"/>
          </a:xfrm>
          <a:prstGeom prst="rect">
            <a:avLst/>
          </a:prstGeom>
          <a:solidFill>
            <a:srgbClr val="E8600A"/>
          </a:solidFill>
          <a:ln/>
        </p:spPr>
      </p:sp>
      <p:sp>
        <p:nvSpPr>
          <p:cNvPr id="27" name="Text 25"/>
          <p:cNvSpPr txBox="1"/>
          <p:nvPr/>
        </p:nvSpPr>
        <p:spPr>
          <a:xfrm>
            <a:off x="502920" y="3054096"/>
            <a:ext cx="365760" cy="640080"/>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4</a:t>
            </a:r>
            <a:endParaRPr lang="en-US" sz="1300" dirty="0"/>
          </a:p>
        </p:txBody>
      </p:sp>
      <p:sp>
        <p:nvSpPr>
          <p:cNvPr id="28" name="Text 26"/>
          <p:cNvSpPr txBox="1"/>
          <p:nvPr/>
        </p:nvSpPr>
        <p:spPr>
          <a:xfrm>
            <a:off x="868680" y="3090672"/>
            <a:ext cx="7863840" cy="288036"/>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HOW IS IT PRICED AND PAID?</a:t>
            </a:r>
            <a:endParaRPr lang="en-US" sz="1200" dirty="0"/>
          </a:p>
        </p:txBody>
      </p:sp>
      <p:sp>
        <p:nvSpPr>
          <p:cNvPr id="29" name="Text 27"/>
          <p:cNvSpPr txBox="1"/>
          <p:nvPr/>
        </p:nvSpPr>
        <p:spPr>
          <a:xfrm>
            <a:off x="868680" y="3342132"/>
            <a:ext cx="7863840" cy="352044"/>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Price levels and structure, payment terms, subscriptions vs transactions. Sets the revenue line and the working-capital cycle at the same time.</a:t>
            </a:r>
            <a:endParaRPr lang="en-US" sz="1200" dirty="0"/>
          </a:p>
        </p:txBody>
      </p:sp>
      <p:sp>
        <p:nvSpPr>
          <p:cNvPr id="30" name="Shape 28"/>
          <p:cNvSpPr/>
          <p:nvPr/>
        </p:nvSpPr>
        <p:spPr>
          <a:xfrm>
            <a:off x="320040" y="3721608"/>
            <a:ext cx="8503920" cy="640080"/>
          </a:xfrm>
          <a:prstGeom prst="rect">
            <a:avLst/>
          </a:prstGeom>
          <a:solidFill>
            <a:srgbClr val="FFFFFF"/>
          </a:solidFill>
          <a:ln/>
        </p:spPr>
      </p:sp>
      <p:sp>
        <p:nvSpPr>
          <p:cNvPr id="31" name="Shape 29"/>
          <p:cNvSpPr/>
          <p:nvPr/>
        </p:nvSpPr>
        <p:spPr>
          <a:xfrm>
            <a:off x="320040" y="3721608"/>
            <a:ext cx="91440" cy="640080"/>
          </a:xfrm>
          <a:prstGeom prst="rect">
            <a:avLst/>
          </a:prstGeom>
          <a:solidFill>
            <a:srgbClr val="E8600A"/>
          </a:solidFill>
          <a:ln/>
        </p:spPr>
      </p:sp>
      <p:sp>
        <p:nvSpPr>
          <p:cNvPr id="32" name="Text 30"/>
          <p:cNvSpPr txBox="1"/>
          <p:nvPr/>
        </p:nvSpPr>
        <p:spPr>
          <a:xfrm>
            <a:off x="502920" y="3721608"/>
            <a:ext cx="365760" cy="640080"/>
          </a:xfrm>
          <a:prstGeom prst="rect">
            <a:avLst/>
          </a:prstGeom>
          <a:noFill/>
          <a:ln/>
        </p:spPr>
        <p:txBody>
          <a:bodyPr wrap="square" lIns="508" tIns="508" rIns="508" bIns="508" rtlCol="0" anchor="ctr">
            <a:normAutofit/>
            <a:spAutoFit/>
          </a:bodyPr>
          <a:lstStyle/>
          <a:p>
            <a:pPr algn="l" indent="0" marL="0">
              <a:buNone/>
            </a:pPr>
            <a:r>
              <a:rPr lang="en-US" sz="1300" b="1" dirty="0">
                <a:solidFill>
                  <a:srgbClr val="1B2A4A"/>
                </a:solidFill>
                <a:latin typeface="Trebuchet MS" pitchFamily="34" charset="0"/>
                <a:ea typeface="Trebuchet MS" pitchFamily="34" charset="-122"/>
                <a:cs typeface="Trebuchet MS" pitchFamily="34" charset="-120"/>
              </a:rPr>
              <a:t>5</a:t>
            </a:r>
            <a:endParaRPr lang="en-US" sz="1300" dirty="0"/>
          </a:p>
        </p:txBody>
      </p:sp>
      <p:sp>
        <p:nvSpPr>
          <p:cNvPr id="33" name="Text 31"/>
          <p:cNvSpPr txBox="1"/>
          <p:nvPr/>
        </p:nvSpPr>
        <p:spPr>
          <a:xfrm>
            <a:off x="868680" y="3758184"/>
            <a:ext cx="7863840" cy="288036"/>
          </a:xfrm>
          <a:prstGeom prst="rect">
            <a:avLst/>
          </a:prstGeom>
          <a:noFill/>
          <a:ln/>
        </p:spPr>
        <p:txBody>
          <a:bodyPr wrap="square" lIns="508" tIns="508" rIns="508" bIns="508" rtlCol="0" anchor="ctr">
            <a:normAutofit/>
            <a:spAutoFit/>
          </a:bodyPr>
          <a:lstStyle/>
          <a:p>
            <a:pPr algn="l" indent="0" marL="0">
              <a:buNone/>
            </a:pPr>
            <a:r>
              <a:rPr lang="en-US" sz="1200" b="1" dirty="0">
                <a:solidFill>
                  <a:srgbClr val="1B2A4A"/>
                </a:solidFill>
                <a:latin typeface="Trebuchet MS" pitchFamily="34" charset="0"/>
                <a:ea typeface="Trebuchet MS" pitchFamily="34" charset="-122"/>
                <a:cs typeface="Trebuchet MS" pitchFamily="34" charset="-120"/>
              </a:rPr>
              <a:t>WHAT DOES IT BUY AND RELY ON?</a:t>
            </a:r>
            <a:endParaRPr lang="en-US" sz="1200" dirty="0"/>
          </a:p>
        </p:txBody>
      </p:sp>
      <p:sp>
        <p:nvSpPr>
          <p:cNvPr id="34" name="Text 32"/>
          <p:cNvSpPr txBox="1"/>
          <p:nvPr/>
        </p:nvSpPr>
        <p:spPr>
          <a:xfrm>
            <a:off x="868680" y="4009644"/>
            <a:ext cx="7863840" cy="352044"/>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Resources, suppliers and partners. Are inputs specialised or hard to replace? This is where supplier power and single points of failure hide.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Revenue analysis decomposes growth into volumes, prices and mix — with pricing power the decisive lever</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5, self-assessment Q4 (p. 199) and §4 "Revenue Analysis", pp. 217–223.</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Pricing power is a function of industry structure (few concentrated suppliers, differentiation, switching costs) and strategy — not wishful thinking by management.</a:t>
            </a:r>
            <a:endParaRPr lang="en-US" sz="1300" dirty="0"/>
          </a:p>
        </p:txBody>
      </p:sp>
      <p:sp>
        <p:nvSpPr>
          <p:cNvPr id="9" name="Shape 7"/>
          <p:cNvSpPr/>
          <p:nvPr/>
        </p:nvSpPr>
        <p:spPr>
          <a:xfrm>
            <a:off x="320040" y="1234440"/>
            <a:ext cx="8503920" cy="658368"/>
          </a:xfrm>
          <a:prstGeom prst="rect">
            <a:avLst/>
          </a:prstGeom>
          <a:solidFill>
            <a:srgbClr val="1B2A4A"/>
          </a:solidFill>
          <a:ln/>
        </p:spPr>
      </p:sp>
      <p:sp>
        <p:nvSpPr>
          <p:cNvPr id="10" name="Text 8"/>
          <p:cNvSpPr txBox="1"/>
          <p:nvPr/>
        </p:nvSpPr>
        <p:spPr>
          <a:xfrm>
            <a:off x="411480" y="123444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Revenue = Volume × Price    ΔRev ≈ %ΔVolume + %ΔPrice + Mix + FX</a:t>
            </a:r>
            <a:endParaRPr lang="en-US" sz="1800" dirty="0"/>
          </a:p>
        </p:txBody>
      </p:sp>
      <p:sp>
        <p:nvSpPr>
          <p:cNvPr id="11" name="Text 9"/>
          <p:cNvSpPr txBox="1"/>
          <p:nvPr/>
        </p:nvSpPr>
        <p:spPr>
          <a:xfrm>
            <a:off x="320040" y="192024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Mix = shift in product / geography weights; FX = currency translation for reporters in one functional currency.</a:t>
            </a:r>
            <a:endParaRPr lang="en-US" sz="1100" dirty="0"/>
          </a:p>
        </p:txBody>
      </p:sp>
      <p:sp>
        <p:nvSpPr>
          <p:cNvPr id="12" name="Shape 10"/>
          <p:cNvSpPr/>
          <p:nvPr/>
        </p:nvSpPr>
        <p:spPr>
          <a:xfrm>
            <a:off x="320040" y="2240280"/>
            <a:ext cx="8503920" cy="2194560"/>
          </a:xfrm>
          <a:prstGeom prst="rect">
            <a:avLst/>
          </a:prstGeom>
          <a:solidFill>
            <a:srgbClr val="FEF0E7"/>
          </a:solidFill>
          <a:ln w="9525">
            <a:solidFill>
              <a:srgbClr val="E8600A"/>
            </a:solidFill>
            <a:prstDash val="solid"/>
          </a:ln>
        </p:spPr>
      </p:sp>
      <p:sp>
        <p:nvSpPr>
          <p:cNvPr id="13" name="Text 11"/>
          <p:cNvSpPr txBox="1"/>
          <p:nvPr/>
        </p:nvSpPr>
        <p:spPr>
          <a:xfrm>
            <a:off x="457200" y="228600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LM 5 SELF-ASSESSMENT Q4 — BEVERAGE PRICE × VOLUME WALK</a:t>
            </a:r>
            <a:endParaRPr lang="en-US" sz="1100" dirty="0"/>
          </a:p>
        </p:txBody>
      </p:sp>
      <p:sp>
        <p:nvSpPr>
          <p:cNvPr id="14" name="Text 12"/>
          <p:cNvSpPr txBox="1"/>
          <p:nvPr/>
        </p:nvSpPr>
        <p:spPr>
          <a:xfrm>
            <a:off x="457200" y="257860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Tea-based drink manufacturer: last year 2 m cases at USD 20 average price. This year: 3 m cases, ASP rises 5% (less discounting). Forecast net-sales growth?</a:t>
            </a:r>
            <a:endParaRPr lang="en-US" sz="1200" dirty="0"/>
          </a:p>
        </p:txBody>
      </p:sp>
      <p:sp>
        <p:nvSpPr>
          <p:cNvPr id="15" name="Text 13"/>
          <p:cNvSpPr txBox="1"/>
          <p:nvPr/>
        </p:nvSpPr>
        <p:spPr>
          <a:xfrm>
            <a:off x="457200" y="3090672"/>
            <a:ext cx="8229600" cy="832104"/>
          </a:xfrm>
          <a:prstGeom prst="rect">
            <a:avLst/>
          </a:prstGeom>
          <a:noFill/>
          <a:ln/>
        </p:spPr>
        <p:txBody>
          <a:bodyPr wrap="square" lIns="254" tIns="254" rIns="254" bIns="254" rtlCol="0" anchor="t">
            <a:normAutofit/>
            <a:spAutoFit/>
          </a:bodyPr>
          <a:lstStyle/>
          <a:p>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Prior-year sales: USD 20 × 2 m = USD 40 m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Forecast ASP: USD 20 × 1.05 = USD 21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Forecast sales: USD 21 × 3 m = USD 63 m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Growth: 63 / 40 − 1 = +57.5%, rounded to 58%</a:t>
            </a:r>
            <a:endParaRPr lang="en-US" sz="1150" dirty="0"/>
          </a:p>
        </p:txBody>
      </p:sp>
      <p:sp>
        <p:nvSpPr>
          <p:cNvPr id="16" name="Shape 14"/>
          <p:cNvSpPr/>
          <p:nvPr/>
        </p:nvSpPr>
        <p:spPr>
          <a:xfrm>
            <a:off x="411480" y="3995928"/>
            <a:ext cx="8321040" cy="365760"/>
          </a:xfrm>
          <a:prstGeom prst="rect">
            <a:avLst/>
          </a:prstGeom>
          <a:solidFill>
            <a:srgbClr val="E8600A"/>
          </a:solidFill>
          <a:ln/>
        </p:spPr>
      </p:sp>
      <p:sp>
        <p:nvSpPr>
          <p:cNvPr id="17" name="Text 15"/>
          <p:cNvSpPr txBox="1"/>
          <p:nvPr/>
        </p:nvSpPr>
        <p:spPr>
          <a:xfrm>
            <a:off x="457200" y="399592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Growth = +58%. Volume effect +50%, price effect +5%, interaction +2.5% — all three at once.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Operating and financial leverage multiply each other — total leverage is their product, and can make or break a cyclical business</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5, self-assessment Q6 &amp; Q8 (pp. 200–201); DOL §5 p. 226; DFL §6 p. 237; DTL p. 244.</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Rule of thumb: a firm already running high operating leverage should be cautious with financial leverage — their product is what shareholders actually experience.</a:t>
            </a:r>
            <a:endParaRPr lang="en-US" sz="1300" dirty="0"/>
          </a:p>
        </p:txBody>
      </p:sp>
      <p:sp>
        <p:nvSpPr>
          <p:cNvPr id="9" name="Shape 7"/>
          <p:cNvSpPr/>
          <p:nvPr/>
        </p:nvSpPr>
        <p:spPr>
          <a:xfrm>
            <a:off x="320040" y="1234440"/>
            <a:ext cx="8503920" cy="658368"/>
          </a:xfrm>
          <a:prstGeom prst="rect">
            <a:avLst/>
          </a:prstGeom>
          <a:solidFill>
            <a:srgbClr val="1B2A4A"/>
          </a:solidFill>
          <a:ln/>
        </p:spPr>
      </p:sp>
      <p:sp>
        <p:nvSpPr>
          <p:cNvPr id="10" name="Text 8"/>
          <p:cNvSpPr txBox="1"/>
          <p:nvPr/>
        </p:nvSpPr>
        <p:spPr>
          <a:xfrm>
            <a:off x="411480" y="123444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DOL = %ΔEBIT/%ΔSales    DFL = %ΔNI/%ΔEBIT    DTL = DOL × DFL</a:t>
            </a:r>
            <a:endParaRPr lang="en-US" sz="1800" dirty="0"/>
          </a:p>
        </p:txBody>
      </p:sp>
      <p:sp>
        <p:nvSpPr>
          <p:cNvPr id="11" name="Text 9"/>
          <p:cNvSpPr txBox="1"/>
          <p:nvPr/>
        </p:nvSpPr>
        <p:spPr>
          <a:xfrm>
            <a:off x="320040" y="192024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DOL = degree of operating leverage (from fixed costs). DFL = degree of financial leverage (from fixed interest). DTL = degree of total leverage.</a:t>
            </a:r>
            <a:endParaRPr lang="en-US" sz="1100" dirty="0"/>
          </a:p>
        </p:txBody>
      </p:sp>
      <p:sp>
        <p:nvSpPr>
          <p:cNvPr id="12" name="Shape 10"/>
          <p:cNvSpPr/>
          <p:nvPr/>
        </p:nvSpPr>
        <p:spPr>
          <a:xfrm>
            <a:off x="320040" y="2240280"/>
            <a:ext cx="8503920" cy="2194560"/>
          </a:xfrm>
          <a:prstGeom prst="rect">
            <a:avLst/>
          </a:prstGeom>
          <a:solidFill>
            <a:srgbClr val="FEF0E7"/>
          </a:solidFill>
          <a:ln w="9525">
            <a:solidFill>
              <a:srgbClr val="E8600A"/>
            </a:solidFill>
            <a:prstDash val="solid"/>
          </a:ln>
        </p:spPr>
      </p:sp>
      <p:sp>
        <p:nvSpPr>
          <p:cNvPr id="13" name="Text 11"/>
          <p:cNvSpPr txBox="1"/>
          <p:nvPr/>
        </p:nvSpPr>
        <p:spPr>
          <a:xfrm>
            <a:off x="457200" y="228600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LM 5 SELF-ASSESSMENT Q6 — COMPANY XYZ DOL</a:t>
            </a:r>
            <a:endParaRPr lang="en-US" sz="1100" dirty="0"/>
          </a:p>
        </p:txBody>
      </p:sp>
      <p:sp>
        <p:nvSpPr>
          <p:cNvPr id="14" name="Text 12"/>
          <p:cNvSpPr txBox="1"/>
          <p:nvPr/>
        </p:nvSpPr>
        <p:spPr>
          <a:xfrm>
            <a:off x="457200" y="257860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Revenue 20X0: EUR 9,256 m → 20X1: EUR 9,707 m. Operating income: EUR 1,527 m → EUR 1,673 m. What is DOL for 20X1?</a:t>
            </a:r>
            <a:endParaRPr lang="en-US" sz="1200" dirty="0"/>
          </a:p>
        </p:txBody>
      </p:sp>
      <p:sp>
        <p:nvSpPr>
          <p:cNvPr id="15" name="Text 13"/>
          <p:cNvSpPr txBox="1"/>
          <p:nvPr/>
        </p:nvSpPr>
        <p:spPr>
          <a:xfrm>
            <a:off x="457200" y="3090672"/>
            <a:ext cx="8229600" cy="832104"/>
          </a:xfrm>
          <a:prstGeom prst="rect">
            <a:avLst/>
          </a:prstGeom>
          <a:noFill/>
          <a:ln/>
        </p:spPr>
        <p:txBody>
          <a:bodyPr wrap="square" lIns="254" tIns="254" rIns="254" bIns="254" rtlCol="0" anchor="t">
            <a:normAutofit/>
            <a:spAutoFit/>
          </a:bodyPr>
          <a:lstStyle/>
          <a:p>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%ΔSales  =  9,707 / 9,256 − 1  =  +4.87%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%ΔEBIT   =  1,673 / 1,527 − 1  =  +9.56%
</a:t>
            </a:r>
            <a:pPr indent="0" marL="0">
              <a:spcAft>
                <a:spcPts val="200"/>
              </a:spcAft>
              <a:buNone/>
            </a:pPr>
            <a:r>
              <a:rPr lang="en-US" sz="12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200" dirty="0">
                <a:solidFill>
                  <a:srgbClr val="334155"/>
                </a:solidFill>
                <a:latin typeface="Calibri" pitchFamily="34" charset="0"/>
                <a:ea typeface="Calibri" pitchFamily="34" charset="-122"/>
                <a:cs typeface="Calibri" pitchFamily="34" charset="-120"/>
              </a:rPr>
              <a:t>DOL      =  9.56% / 4.87%     =  1.96×</a:t>
            </a:r>
            <a:endParaRPr lang="en-US" sz="1200" dirty="0"/>
          </a:p>
        </p:txBody>
      </p:sp>
      <p:sp>
        <p:nvSpPr>
          <p:cNvPr id="16" name="Shape 14"/>
          <p:cNvSpPr/>
          <p:nvPr/>
        </p:nvSpPr>
        <p:spPr>
          <a:xfrm>
            <a:off x="411480" y="3995928"/>
            <a:ext cx="8321040" cy="365760"/>
          </a:xfrm>
          <a:prstGeom prst="rect">
            <a:avLst/>
          </a:prstGeom>
          <a:solidFill>
            <a:srgbClr val="E8600A"/>
          </a:solidFill>
          <a:ln/>
        </p:spPr>
      </p:sp>
      <p:sp>
        <p:nvSpPr>
          <p:cNvPr id="17" name="Text 15"/>
          <p:cNvSpPr txBox="1"/>
          <p:nvPr/>
        </p:nvSpPr>
        <p:spPr>
          <a:xfrm>
            <a:off x="457200" y="399592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DOL = 1.96× — a 1% sales move becomes a 1.96% EBIT move. DFL on top amplifies it again at the equity line.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02</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Industry &amp;</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competitive analysis</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2 of 4  ·  Deck 12 of 20  ·  Studio Tonton Gug</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Industry structural factors set a long-run profitability ceiling — company-specific factors create the spread beneath it</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McGahan &amp; Porter (1997): industry mattered most for the SUSTAINABILITY of economic profits — the forces act as a ceiling, not a floor.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6, §2 "Uses of Industry Analysis", Exhibit 2, pp. 248–250. McGahan &amp; Porter (1997).</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Competition "pulls" company profitability to an industry base rate over time. Industry analysis estimates that base rate; company analysis estimates the gap to it.</a:t>
            </a:r>
            <a:endParaRPr lang="en-US" sz="1300" dirty="0"/>
          </a:p>
        </p:txBody>
      </p:sp>
      <p:sp>
        <p:nvSpPr>
          <p:cNvPr id="10" name="Shape 8"/>
          <p:cNvSpPr/>
          <p:nvPr/>
        </p:nvSpPr>
        <p:spPr>
          <a:xfrm>
            <a:off x="320040" y="1234440"/>
            <a:ext cx="1671523" cy="731520"/>
          </a:xfrm>
          <a:prstGeom prst="rect">
            <a:avLst/>
          </a:prstGeom>
          <a:solidFill>
            <a:srgbClr val="1B2A4A"/>
          </a:solidFill>
          <a:ln/>
        </p:spPr>
      </p:sp>
      <p:sp>
        <p:nvSpPr>
          <p:cNvPr id="11" name="Text 9"/>
          <p:cNvSpPr txBox="1"/>
          <p:nvPr/>
        </p:nvSpPr>
        <p:spPr>
          <a:xfrm>
            <a:off x="320040" y="1280160"/>
            <a:ext cx="1671523" cy="201168"/>
          </a:xfrm>
          <a:prstGeom prst="rect">
            <a:avLst/>
          </a:prstGeom>
          <a:noFill/>
          <a:ln/>
        </p:spPr>
        <p:txBody>
          <a:bodyPr wrap="square" lIns="508" tIns="508" rIns="508" bIns="508" rtlCol="0" anchor="ctr">
            <a:normAutofit/>
            <a:spAutoFit/>
          </a:bodyPr>
          <a:lstStyle/>
          <a:p>
            <a:pPr algn="ctr" indent="0" marL="0">
              <a:buNone/>
            </a:pPr>
            <a:r>
              <a:rPr lang="en-US" sz="1000" b="1" spc="300" kern="0" dirty="0">
                <a:solidFill>
                  <a:srgbClr val="E8600A"/>
                </a:solidFill>
                <a:latin typeface="Trebuchet MS" pitchFamily="34" charset="0"/>
                <a:ea typeface="Trebuchet MS" pitchFamily="34" charset="-122"/>
                <a:cs typeface="Trebuchet MS" pitchFamily="34" charset="-120"/>
              </a:rPr>
              <a:t>STEP 1</a:t>
            </a:r>
            <a:endParaRPr lang="en-US" sz="1000" dirty="0"/>
          </a:p>
        </p:txBody>
      </p:sp>
      <p:sp>
        <p:nvSpPr>
          <p:cNvPr id="12" name="Text 10"/>
          <p:cNvSpPr txBox="1"/>
          <p:nvPr/>
        </p:nvSpPr>
        <p:spPr>
          <a:xfrm>
            <a:off x="320040" y="1472184"/>
            <a:ext cx="1671523" cy="201168"/>
          </a:xfrm>
          <a:prstGeom prst="rect">
            <a:avLst/>
          </a:prstGeom>
          <a:noFill/>
          <a:ln/>
        </p:spPr>
        <p:txBody>
          <a:bodyPr wrap="square" lIns="508" tIns="508" rIns="508" bIns="508" rtlCol="0" anchor="ctr">
            <a:normAutofit/>
            <a:spAutoFit/>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DEFINE</a:t>
            </a:r>
            <a:endParaRPr lang="en-US" sz="1100" dirty="0"/>
          </a:p>
        </p:txBody>
      </p:sp>
      <p:sp>
        <p:nvSpPr>
          <p:cNvPr id="13" name="Text 11"/>
          <p:cNvSpPr txBox="1"/>
          <p:nvPr/>
        </p:nvSpPr>
        <p:spPr>
          <a:xfrm>
            <a:off x="365760" y="1673352"/>
            <a:ext cx="1580083" cy="274320"/>
          </a:xfrm>
          <a:prstGeom prst="rect">
            <a:avLst/>
          </a:prstGeom>
          <a:noFill/>
          <a:ln/>
        </p:spPr>
        <p:txBody>
          <a:bodyPr wrap="square" lIns="508" tIns="508" rIns="508" bIns="508" rtlCol="0" anchor="t">
            <a:normAutofit/>
            <a:spAutoFit/>
          </a:bodyPr>
          <a:lstStyle/>
          <a:p>
            <a:pPr algn="ctr" indent="0" marL="0">
              <a:buNone/>
            </a:pPr>
            <a:r>
              <a:rPr lang="en-US" sz="1000" dirty="0">
                <a:solidFill>
                  <a:srgbClr val="E8ECF0"/>
                </a:solidFill>
                <a:latin typeface="Calibri" pitchFamily="34" charset="0"/>
                <a:ea typeface="Calibri" pitchFamily="34" charset="-122"/>
                <a:cs typeface="Calibri" pitchFamily="34" charset="-120"/>
              </a:rPr>
              <a:t>Industry boundaries, constituents, substitutes</a:t>
            </a:r>
            <a:endParaRPr lang="en-US" sz="1000" dirty="0"/>
          </a:p>
        </p:txBody>
      </p:sp>
      <p:sp>
        <p:nvSpPr>
          <p:cNvPr id="14" name="Shape 12"/>
          <p:cNvSpPr/>
          <p:nvPr/>
        </p:nvSpPr>
        <p:spPr>
          <a:xfrm>
            <a:off x="2028139" y="1234440"/>
            <a:ext cx="1671523" cy="731520"/>
          </a:xfrm>
          <a:prstGeom prst="rect">
            <a:avLst/>
          </a:prstGeom>
          <a:solidFill>
            <a:srgbClr val="253A5E"/>
          </a:solidFill>
          <a:ln/>
        </p:spPr>
      </p:sp>
      <p:sp>
        <p:nvSpPr>
          <p:cNvPr id="15" name="Text 13"/>
          <p:cNvSpPr txBox="1"/>
          <p:nvPr/>
        </p:nvSpPr>
        <p:spPr>
          <a:xfrm>
            <a:off x="2028139" y="1280160"/>
            <a:ext cx="1671523" cy="201168"/>
          </a:xfrm>
          <a:prstGeom prst="rect">
            <a:avLst/>
          </a:prstGeom>
          <a:noFill/>
          <a:ln/>
        </p:spPr>
        <p:txBody>
          <a:bodyPr wrap="square" lIns="508" tIns="508" rIns="508" bIns="508" rtlCol="0" anchor="ctr">
            <a:normAutofit/>
            <a:spAutoFit/>
          </a:bodyPr>
          <a:lstStyle/>
          <a:p>
            <a:pPr algn="ctr" indent="0" marL="0">
              <a:buNone/>
            </a:pPr>
            <a:r>
              <a:rPr lang="en-US" sz="1000" b="1" spc="300" kern="0" dirty="0">
                <a:solidFill>
                  <a:srgbClr val="E8600A"/>
                </a:solidFill>
                <a:latin typeface="Trebuchet MS" pitchFamily="34" charset="0"/>
                <a:ea typeface="Trebuchet MS" pitchFamily="34" charset="-122"/>
                <a:cs typeface="Trebuchet MS" pitchFamily="34" charset="-120"/>
              </a:rPr>
              <a:t>STEP 2</a:t>
            </a:r>
            <a:endParaRPr lang="en-US" sz="1000" dirty="0"/>
          </a:p>
        </p:txBody>
      </p:sp>
      <p:sp>
        <p:nvSpPr>
          <p:cNvPr id="16" name="Text 14"/>
          <p:cNvSpPr txBox="1"/>
          <p:nvPr/>
        </p:nvSpPr>
        <p:spPr>
          <a:xfrm>
            <a:off x="2028139" y="1472184"/>
            <a:ext cx="1671523" cy="201168"/>
          </a:xfrm>
          <a:prstGeom prst="rect">
            <a:avLst/>
          </a:prstGeom>
          <a:noFill/>
          <a:ln/>
        </p:spPr>
        <p:txBody>
          <a:bodyPr wrap="square" lIns="508" tIns="508" rIns="508" bIns="508" rtlCol="0" anchor="ctr">
            <a:normAutofit/>
            <a:spAutoFit/>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SURVEY</a:t>
            </a:r>
            <a:endParaRPr lang="en-US" sz="1100" dirty="0"/>
          </a:p>
        </p:txBody>
      </p:sp>
      <p:sp>
        <p:nvSpPr>
          <p:cNvPr id="17" name="Text 15"/>
          <p:cNvSpPr txBox="1"/>
          <p:nvPr/>
        </p:nvSpPr>
        <p:spPr>
          <a:xfrm>
            <a:off x="2073859" y="1673352"/>
            <a:ext cx="1580083" cy="274320"/>
          </a:xfrm>
          <a:prstGeom prst="rect">
            <a:avLst/>
          </a:prstGeom>
          <a:noFill/>
          <a:ln/>
        </p:spPr>
        <p:txBody>
          <a:bodyPr wrap="square" lIns="508" tIns="508" rIns="508" bIns="508" rtlCol="0" anchor="t">
            <a:normAutofit/>
            <a:spAutoFit/>
          </a:bodyPr>
          <a:lstStyle/>
          <a:p>
            <a:pPr algn="ctr" indent="0" marL="0">
              <a:buNone/>
            </a:pPr>
            <a:r>
              <a:rPr lang="en-US" sz="1000" dirty="0">
                <a:solidFill>
                  <a:srgbClr val="E8ECF0"/>
                </a:solidFill>
                <a:latin typeface="Calibri" pitchFamily="34" charset="0"/>
                <a:ea typeface="Calibri" pitchFamily="34" charset="-122"/>
                <a:cs typeface="Calibri" pitchFamily="34" charset="-120"/>
              </a:rPr>
              <a:t>Size, growth, character, profitability, market share</a:t>
            </a:r>
            <a:endParaRPr lang="en-US" sz="1000" dirty="0"/>
          </a:p>
        </p:txBody>
      </p:sp>
      <p:sp>
        <p:nvSpPr>
          <p:cNvPr id="18" name="Shape 16"/>
          <p:cNvSpPr/>
          <p:nvPr/>
        </p:nvSpPr>
        <p:spPr>
          <a:xfrm>
            <a:off x="3736238" y="1234440"/>
            <a:ext cx="1671523" cy="731520"/>
          </a:xfrm>
          <a:prstGeom prst="rect">
            <a:avLst/>
          </a:prstGeom>
          <a:solidFill>
            <a:srgbClr val="1B2A4A"/>
          </a:solidFill>
          <a:ln/>
        </p:spPr>
      </p:sp>
      <p:sp>
        <p:nvSpPr>
          <p:cNvPr id="19" name="Text 17"/>
          <p:cNvSpPr txBox="1"/>
          <p:nvPr/>
        </p:nvSpPr>
        <p:spPr>
          <a:xfrm>
            <a:off x="3736238" y="1280160"/>
            <a:ext cx="1671523" cy="201168"/>
          </a:xfrm>
          <a:prstGeom prst="rect">
            <a:avLst/>
          </a:prstGeom>
          <a:noFill/>
          <a:ln/>
        </p:spPr>
        <p:txBody>
          <a:bodyPr wrap="square" lIns="508" tIns="508" rIns="508" bIns="508" rtlCol="0" anchor="ctr">
            <a:normAutofit/>
            <a:spAutoFit/>
          </a:bodyPr>
          <a:lstStyle/>
          <a:p>
            <a:pPr algn="ctr" indent="0" marL="0">
              <a:buNone/>
            </a:pPr>
            <a:r>
              <a:rPr lang="en-US" sz="1000" b="1" spc="300" kern="0" dirty="0">
                <a:solidFill>
                  <a:srgbClr val="E8600A"/>
                </a:solidFill>
                <a:latin typeface="Trebuchet MS" pitchFamily="34" charset="0"/>
                <a:ea typeface="Trebuchet MS" pitchFamily="34" charset="-122"/>
                <a:cs typeface="Trebuchet MS" pitchFamily="34" charset="-120"/>
              </a:rPr>
              <a:t>STEP 3</a:t>
            </a:r>
            <a:endParaRPr lang="en-US" sz="1000" dirty="0"/>
          </a:p>
        </p:txBody>
      </p:sp>
      <p:sp>
        <p:nvSpPr>
          <p:cNvPr id="20" name="Text 18"/>
          <p:cNvSpPr txBox="1"/>
          <p:nvPr/>
        </p:nvSpPr>
        <p:spPr>
          <a:xfrm>
            <a:off x="3736238" y="1472184"/>
            <a:ext cx="1671523" cy="201168"/>
          </a:xfrm>
          <a:prstGeom prst="rect">
            <a:avLst/>
          </a:prstGeom>
          <a:noFill/>
          <a:ln/>
        </p:spPr>
        <p:txBody>
          <a:bodyPr wrap="square" lIns="508" tIns="508" rIns="508" bIns="508" rtlCol="0" anchor="ctr">
            <a:normAutofit/>
            <a:spAutoFit/>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STRUCTURE</a:t>
            </a:r>
            <a:endParaRPr lang="en-US" sz="1100" dirty="0"/>
          </a:p>
        </p:txBody>
      </p:sp>
      <p:sp>
        <p:nvSpPr>
          <p:cNvPr id="21" name="Text 19"/>
          <p:cNvSpPr txBox="1"/>
          <p:nvPr/>
        </p:nvSpPr>
        <p:spPr>
          <a:xfrm>
            <a:off x="3781958" y="1673352"/>
            <a:ext cx="1580083" cy="274320"/>
          </a:xfrm>
          <a:prstGeom prst="rect">
            <a:avLst/>
          </a:prstGeom>
          <a:noFill/>
          <a:ln/>
        </p:spPr>
        <p:txBody>
          <a:bodyPr wrap="square" lIns="508" tIns="508" rIns="508" bIns="508" rtlCol="0" anchor="t">
            <a:normAutofit/>
            <a:spAutoFit/>
          </a:bodyPr>
          <a:lstStyle/>
          <a:p>
            <a:pPr algn="ctr" indent="0" marL="0">
              <a:buNone/>
            </a:pPr>
            <a:r>
              <a:rPr lang="en-US" sz="1000" dirty="0">
                <a:solidFill>
                  <a:srgbClr val="E8ECF0"/>
                </a:solidFill>
                <a:latin typeface="Calibri" pitchFamily="34" charset="0"/>
                <a:ea typeface="Calibri" pitchFamily="34" charset="-122"/>
                <a:cs typeface="Calibri" pitchFamily="34" charset="-120"/>
              </a:rPr>
              <a:t>Porter Five Forces — long-run profitability drivers</a:t>
            </a:r>
            <a:endParaRPr lang="en-US" sz="1000" dirty="0"/>
          </a:p>
        </p:txBody>
      </p:sp>
      <p:sp>
        <p:nvSpPr>
          <p:cNvPr id="22" name="Shape 20"/>
          <p:cNvSpPr/>
          <p:nvPr/>
        </p:nvSpPr>
        <p:spPr>
          <a:xfrm>
            <a:off x="5444338" y="1234440"/>
            <a:ext cx="1671523" cy="731520"/>
          </a:xfrm>
          <a:prstGeom prst="rect">
            <a:avLst/>
          </a:prstGeom>
          <a:solidFill>
            <a:srgbClr val="253A5E"/>
          </a:solidFill>
          <a:ln/>
        </p:spPr>
      </p:sp>
      <p:sp>
        <p:nvSpPr>
          <p:cNvPr id="23" name="Text 21"/>
          <p:cNvSpPr txBox="1"/>
          <p:nvPr/>
        </p:nvSpPr>
        <p:spPr>
          <a:xfrm>
            <a:off x="5444338" y="1280160"/>
            <a:ext cx="1671523" cy="201168"/>
          </a:xfrm>
          <a:prstGeom prst="rect">
            <a:avLst/>
          </a:prstGeom>
          <a:noFill/>
          <a:ln/>
        </p:spPr>
        <p:txBody>
          <a:bodyPr wrap="square" lIns="508" tIns="508" rIns="508" bIns="508" rtlCol="0" anchor="ctr">
            <a:normAutofit/>
            <a:spAutoFit/>
          </a:bodyPr>
          <a:lstStyle/>
          <a:p>
            <a:pPr algn="ctr" indent="0" marL="0">
              <a:buNone/>
            </a:pPr>
            <a:r>
              <a:rPr lang="en-US" sz="1000" b="1" spc="300" kern="0" dirty="0">
                <a:solidFill>
                  <a:srgbClr val="E8600A"/>
                </a:solidFill>
                <a:latin typeface="Trebuchet MS" pitchFamily="34" charset="0"/>
                <a:ea typeface="Trebuchet MS" pitchFamily="34" charset="-122"/>
                <a:cs typeface="Trebuchet MS" pitchFamily="34" charset="-120"/>
              </a:rPr>
              <a:t>STEP 4</a:t>
            </a:r>
            <a:endParaRPr lang="en-US" sz="1000" dirty="0"/>
          </a:p>
        </p:txBody>
      </p:sp>
      <p:sp>
        <p:nvSpPr>
          <p:cNvPr id="24" name="Text 22"/>
          <p:cNvSpPr txBox="1"/>
          <p:nvPr/>
        </p:nvSpPr>
        <p:spPr>
          <a:xfrm>
            <a:off x="5444338" y="1472184"/>
            <a:ext cx="1671523" cy="201168"/>
          </a:xfrm>
          <a:prstGeom prst="rect">
            <a:avLst/>
          </a:prstGeom>
          <a:noFill/>
          <a:ln/>
        </p:spPr>
        <p:txBody>
          <a:bodyPr wrap="square" lIns="508" tIns="508" rIns="508" bIns="508" rtlCol="0" anchor="ctr">
            <a:normAutofit/>
            <a:spAutoFit/>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EXTERNAL</a:t>
            </a:r>
            <a:endParaRPr lang="en-US" sz="1100" dirty="0"/>
          </a:p>
        </p:txBody>
      </p:sp>
      <p:sp>
        <p:nvSpPr>
          <p:cNvPr id="25" name="Text 23"/>
          <p:cNvSpPr txBox="1"/>
          <p:nvPr/>
        </p:nvSpPr>
        <p:spPr>
          <a:xfrm>
            <a:off x="5490058" y="1673352"/>
            <a:ext cx="1580083" cy="274320"/>
          </a:xfrm>
          <a:prstGeom prst="rect">
            <a:avLst/>
          </a:prstGeom>
          <a:noFill/>
          <a:ln/>
        </p:spPr>
        <p:txBody>
          <a:bodyPr wrap="square" lIns="508" tIns="508" rIns="508" bIns="508" rtlCol="0" anchor="t">
            <a:normAutofit/>
            <a:spAutoFit/>
          </a:bodyPr>
          <a:lstStyle/>
          <a:p>
            <a:pPr algn="ctr" indent="0" marL="0">
              <a:buNone/>
            </a:pPr>
            <a:r>
              <a:rPr lang="en-US" sz="1000" dirty="0">
                <a:solidFill>
                  <a:srgbClr val="E8ECF0"/>
                </a:solidFill>
                <a:latin typeface="Calibri" pitchFamily="34" charset="0"/>
                <a:ea typeface="Calibri" pitchFamily="34" charset="-122"/>
                <a:cs typeface="Calibri" pitchFamily="34" charset="-120"/>
              </a:rPr>
              <a:t>PESTLE — growth &amp; share dynamics</a:t>
            </a:r>
            <a:endParaRPr lang="en-US" sz="1000" dirty="0"/>
          </a:p>
        </p:txBody>
      </p:sp>
      <p:sp>
        <p:nvSpPr>
          <p:cNvPr id="26" name="Shape 24"/>
          <p:cNvSpPr/>
          <p:nvPr/>
        </p:nvSpPr>
        <p:spPr>
          <a:xfrm>
            <a:off x="7152437" y="1234440"/>
            <a:ext cx="1671523" cy="731520"/>
          </a:xfrm>
          <a:prstGeom prst="rect">
            <a:avLst/>
          </a:prstGeom>
          <a:solidFill>
            <a:srgbClr val="1B2A4A"/>
          </a:solidFill>
          <a:ln/>
        </p:spPr>
      </p:sp>
      <p:sp>
        <p:nvSpPr>
          <p:cNvPr id="27" name="Text 25"/>
          <p:cNvSpPr txBox="1"/>
          <p:nvPr/>
        </p:nvSpPr>
        <p:spPr>
          <a:xfrm>
            <a:off x="7152437" y="1280160"/>
            <a:ext cx="1671523" cy="201168"/>
          </a:xfrm>
          <a:prstGeom prst="rect">
            <a:avLst/>
          </a:prstGeom>
          <a:noFill/>
          <a:ln/>
        </p:spPr>
        <p:txBody>
          <a:bodyPr wrap="square" lIns="508" tIns="508" rIns="508" bIns="508" rtlCol="0" anchor="ctr">
            <a:normAutofit/>
            <a:spAutoFit/>
          </a:bodyPr>
          <a:lstStyle/>
          <a:p>
            <a:pPr algn="ctr" indent="0" marL="0">
              <a:buNone/>
            </a:pPr>
            <a:r>
              <a:rPr lang="en-US" sz="1000" b="1" spc="300" kern="0" dirty="0">
                <a:solidFill>
                  <a:srgbClr val="E8600A"/>
                </a:solidFill>
                <a:latin typeface="Trebuchet MS" pitchFamily="34" charset="0"/>
                <a:ea typeface="Trebuchet MS" pitchFamily="34" charset="-122"/>
                <a:cs typeface="Trebuchet MS" pitchFamily="34" charset="-120"/>
              </a:rPr>
              <a:t>STEP 5</a:t>
            </a:r>
            <a:endParaRPr lang="en-US" sz="1000" dirty="0"/>
          </a:p>
        </p:txBody>
      </p:sp>
      <p:sp>
        <p:nvSpPr>
          <p:cNvPr id="28" name="Text 26"/>
          <p:cNvSpPr txBox="1"/>
          <p:nvPr/>
        </p:nvSpPr>
        <p:spPr>
          <a:xfrm>
            <a:off x="7152437" y="1472184"/>
            <a:ext cx="1671523" cy="201168"/>
          </a:xfrm>
          <a:prstGeom prst="rect">
            <a:avLst/>
          </a:prstGeom>
          <a:noFill/>
          <a:ln/>
        </p:spPr>
        <p:txBody>
          <a:bodyPr wrap="square" lIns="508" tIns="508" rIns="508" bIns="508" rtlCol="0" anchor="ctr">
            <a:normAutofit/>
            <a:spAutoFit/>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POSITION</a:t>
            </a:r>
            <a:endParaRPr lang="en-US" sz="1100" dirty="0"/>
          </a:p>
        </p:txBody>
      </p:sp>
      <p:sp>
        <p:nvSpPr>
          <p:cNvPr id="29" name="Text 27"/>
          <p:cNvSpPr txBox="1"/>
          <p:nvPr/>
        </p:nvSpPr>
        <p:spPr>
          <a:xfrm>
            <a:off x="7198157" y="1673352"/>
            <a:ext cx="1580083" cy="274320"/>
          </a:xfrm>
          <a:prstGeom prst="rect">
            <a:avLst/>
          </a:prstGeom>
          <a:noFill/>
          <a:ln/>
        </p:spPr>
        <p:txBody>
          <a:bodyPr wrap="square" lIns="508" tIns="508" rIns="508" bIns="508" rtlCol="0" anchor="t">
            <a:normAutofit/>
            <a:spAutoFit/>
          </a:bodyPr>
          <a:lstStyle/>
          <a:p>
            <a:pPr algn="ctr" indent="0" marL="0">
              <a:buNone/>
            </a:pPr>
            <a:r>
              <a:rPr lang="en-US" sz="1000" dirty="0">
                <a:solidFill>
                  <a:srgbClr val="E8ECF0"/>
                </a:solidFill>
                <a:latin typeface="Calibri" pitchFamily="34" charset="0"/>
                <a:ea typeface="Calibri" pitchFamily="34" charset="-122"/>
                <a:cs typeface="Calibri" pitchFamily="34" charset="-120"/>
              </a:rPr>
              <a:t>Company strategy vs industry forces</a:t>
            </a:r>
            <a:endParaRPr lang="en-US" sz="1000" dirty="0"/>
          </a:p>
        </p:txBody>
      </p:sp>
      <p:sp>
        <p:nvSpPr>
          <p:cNvPr id="30" name="Shape 28"/>
          <p:cNvSpPr/>
          <p:nvPr/>
        </p:nvSpPr>
        <p:spPr>
          <a:xfrm>
            <a:off x="320040" y="2148840"/>
            <a:ext cx="4160520" cy="2148840"/>
          </a:xfrm>
          <a:prstGeom prst="rect">
            <a:avLst/>
          </a:prstGeom>
          <a:solidFill>
            <a:srgbClr val="FEF0E7"/>
          </a:solidFill>
          <a:ln/>
        </p:spPr>
      </p:sp>
      <p:sp>
        <p:nvSpPr>
          <p:cNvPr id="31" name="Shape 29"/>
          <p:cNvSpPr/>
          <p:nvPr/>
        </p:nvSpPr>
        <p:spPr>
          <a:xfrm>
            <a:off x="320040" y="2148840"/>
            <a:ext cx="73152" cy="2148840"/>
          </a:xfrm>
          <a:prstGeom prst="rect">
            <a:avLst/>
          </a:prstGeom>
          <a:solidFill>
            <a:srgbClr val="E8600A"/>
          </a:solidFill>
          <a:ln/>
        </p:spPr>
      </p:sp>
      <p:sp>
        <p:nvSpPr>
          <p:cNvPr id="32" name="Text 30"/>
          <p:cNvSpPr txBox="1"/>
          <p:nvPr/>
        </p:nvSpPr>
        <p:spPr>
          <a:xfrm>
            <a:off x="457200" y="219456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WHY INDUSTRY MATTERS</a:t>
            </a:r>
            <a:endParaRPr lang="en-US" sz="1100" dirty="0"/>
          </a:p>
        </p:txBody>
      </p:sp>
      <p:sp>
        <p:nvSpPr>
          <p:cNvPr id="33" name="Text 31"/>
          <p:cNvSpPr txBox="1"/>
          <p:nvPr/>
        </p:nvSpPr>
        <p:spPr>
          <a:xfrm>
            <a:off x="457200" y="2468880"/>
            <a:ext cx="3931920" cy="17830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Firms in the same industry face similar demand, factor costs, regulation, and substitutes. Structural forces (Porter) determine long-run returns on invested capital — the ceiling.</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Company-specific factors — size, execution, strategy — determine how close a firm gets to that ceiling.</a:t>
            </a:r>
            <a:endParaRPr lang="en-US" sz="1200" dirty="0"/>
          </a:p>
        </p:txBody>
      </p:sp>
      <p:sp>
        <p:nvSpPr>
          <p:cNvPr id="34" name="Shape 32"/>
          <p:cNvSpPr/>
          <p:nvPr/>
        </p:nvSpPr>
        <p:spPr>
          <a:xfrm>
            <a:off x="4663440" y="2148840"/>
            <a:ext cx="4160520" cy="2148840"/>
          </a:xfrm>
          <a:prstGeom prst="rect">
            <a:avLst/>
          </a:prstGeom>
          <a:solidFill>
            <a:srgbClr val="F5F7FA"/>
          </a:solidFill>
          <a:ln/>
        </p:spPr>
      </p:sp>
      <p:sp>
        <p:nvSpPr>
          <p:cNvPr id="35" name="Shape 33"/>
          <p:cNvSpPr/>
          <p:nvPr/>
        </p:nvSpPr>
        <p:spPr>
          <a:xfrm>
            <a:off x="4663440" y="2148840"/>
            <a:ext cx="73152" cy="2148840"/>
          </a:xfrm>
          <a:prstGeom prst="rect">
            <a:avLst/>
          </a:prstGeom>
          <a:solidFill>
            <a:srgbClr val="1B2A4A"/>
          </a:solidFill>
          <a:ln/>
        </p:spPr>
      </p:sp>
      <p:sp>
        <p:nvSpPr>
          <p:cNvPr id="36" name="Text 34"/>
          <p:cNvSpPr txBox="1"/>
          <p:nvPr/>
        </p:nvSpPr>
        <p:spPr>
          <a:xfrm>
            <a:off x="4800600" y="219456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IMPROVED FORECASTS &amp; IDEAS</a:t>
            </a:r>
            <a:endParaRPr lang="en-US" sz="1100" dirty="0"/>
          </a:p>
        </p:txBody>
      </p:sp>
      <p:sp>
        <p:nvSpPr>
          <p:cNvPr id="37" name="Text 35"/>
          <p:cNvSpPr txBox="1"/>
          <p:nvPr/>
        </p:nvSpPr>
        <p:spPr>
          <a:xfrm>
            <a:off x="4800600" y="2468880"/>
            <a:ext cx="3931920" cy="17830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Industry analysis sharpens forecasts by modelling the competitive forces that discipline prices, costs, and share.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It also surfaces investment candidates the bottom-up screen missed — the second-best in an attractive industry can beat the best in a structurally broken one.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GICS, ICB and TRBC are strict hierarchical taxonomies — useful starting points, but limited by multi-segment firms and geography</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Multi-segment firms: classify on the segment with &gt;50% of revenue, profits or assets; failing that, ≥60% of revenue; failing that, discretion.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6, §3 "Industry Classification", Exhibits 3–4, pp. 251–257.</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A "demand" grouping — similar products from the customer's perspective — has largely replaced legacy "supply" schemes like SIC / NACE / ISIC.</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1417320"/>
                <a:gridCol w="1508760"/>
                <a:gridCol w="3886200"/>
                <a:gridCol w="169164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Scheme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Provider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Tiers (top → bottom)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Groups per tier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GICS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MSCI+S&amp;P DJI</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Sector → Ind. Group → Industry → Sub-Industry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11 / 25 / 74 / 163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ICB</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FTSE Russell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Industry → Supersector → Sector → Subsector</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11 / 20 / 45 / 173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TRBC</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Refinitiv</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Econ. Sector → Business → Ind. Group → …</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14 / 33 / 62 / 154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SIC / NACE / ISIC</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Governments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Legacy supply-based — updated infrequently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varies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1" name="Shape 8"/>
          <p:cNvSpPr/>
          <p:nvPr/>
        </p:nvSpPr>
        <p:spPr>
          <a:xfrm>
            <a:off x="320040" y="3154680"/>
            <a:ext cx="8503920" cy="1143000"/>
          </a:xfrm>
          <a:prstGeom prst="rect">
            <a:avLst/>
          </a:prstGeom>
          <a:solidFill>
            <a:srgbClr val="FEF0E7"/>
          </a:solidFill>
          <a:ln/>
        </p:spPr>
      </p:sp>
      <p:sp>
        <p:nvSpPr>
          <p:cNvPr id="12" name="Shape 9"/>
          <p:cNvSpPr/>
          <p:nvPr/>
        </p:nvSpPr>
        <p:spPr>
          <a:xfrm>
            <a:off x="320040" y="3154680"/>
            <a:ext cx="73152" cy="1143000"/>
          </a:xfrm>
          <a:prstGeom prst="rect">
            <a:avLst/>
          </a:prstGeom>
          <a:solidFill>
            <a:srgbClr val="E8600A"/>
          </a:solidFill>
          <a:ln/>
        </p:spPr>
      </p:sp>
      <p:sp>
        <p:nvSpPr>
          <p:cNvPr id="13" name="Text 10"/>
          <p:cNvSpPr txBox="1"/>
          <p:nvPr/>
        </p:nvSpPr>
        <p:spPr>
          <a:xfrm>
            <a:off x="457200" y="320040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FOUR LIMITATIONS ANALYSTS LIVE WITH</a:t>
            </a:r>
            <a:endParaRPr lang="en-US" sz="1100" dirty="0"/>
          </a:p>
        </p:txBody>
      </p:sp>
      <p:sp>
        <p:nvSpPr>
          <p:cNvPr id="14" name="Text 11"/>
          <p:cNvSpPr txBox="1"/>
          <p:nvPr/>
        </p:nvSpPr>
        <p:spPr>
          <a:xfrm>
            <a:off x="457200" y="3474720"/>
            <a:ext cx="8275320" cy="77724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1. Groups too narrow or too broad (Shopify sits with Check Point in "Application Software")  ·  2. Multi-product firms get a single bucket (Amazon is Consumer Discretionary although most operating profit is AWS)  ·  3. Global schemes miss local industries (healthcare services, where geography and licensing bind)  ·  4. Groupings change over time, breaking prior-period comparability (the Real Estate sector was carved out of Financials).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Porter's Five Forces assesses long-run industry profitability — scored High / Moderate / Low on each of the five dimensions</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6, §5 Case Study "Porter's Five Forces for US Retail (ex autos)", pp. 270–271. Costco/Home Depot margins: presenter commentary.</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Scoring is qualitative — if several forces are intense, almost no firm earns attractive returns on capital; if all are benign, the industry is a goldmine.</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2331720"/>
                <a:gridCol w="1325880"/>
                <a:gridCol w="48463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Force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Score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Driver — why this rating?</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Threat of new entrants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VERY HIGH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&gt;40,000 new US retail firm formations per month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Threat of substitutes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Services replace some spending, but not most goods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Bargaining power of customers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MODERATE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Fragmented buyers, but the internet made SKUs comparable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Bargaining power of suppliers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LOW–MODERATE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Many manufacturers; branded and luxury are the exception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Rivalry among competitors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Many similar firms, similar SKUs — price is the weapon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3246120"/>
            <a:ext cx="8503920" cy="1051560"/>
          </a:xfrm>
          <a:prstGeom prst="rect">
            <a:avLst/>
          </a:prstGeom>
          <a:solidFill>
            <a:srgbClr val="FEF0E7"/>
          </a:solidFill>
          <a:ln/>
        </p:spPr>
      </p:sp>
      <p:sp>
        <p:nvSpPr>
          <p:cNvPr id="11" name="Shape 8"/>
          <p:cNvSpPr/>
          <p:nvPr/>
        </p:nvSpPr>
        <p:spPr>
          <a:xfrm>
            <a:off x="320040" y="3246120"/>
            <a:ext cx="73152" cy="1051560"/>
          </a:xfrm>
          <a:prstGeom prst="rect">
            <a:avLst/>
          </a:prstGeom>
          <a:solidFill>
            <a:srgbClr val="E8600A"/>
          </a:solidFill>
          <a:ln/>
        </p:spPr>
      </p:sp>
      <p:sp>
        <p:nvSpPr>
          <p:cNvPr id="12" name="Text 9"/>
          <p:cNvSpPr txBox="1"/>
          <p:nvPr/>
        </p:nvSpPr>
        <p:spPr>
          <a:xfrm>
            <a:off x="457200" y="329184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VERDICT — THREE OF FIVE FORCES ARE HOSTILE</a:t>
            </a:r>
            <a:endParaRPr lang="en-US" sz="1100" dirty="0"/>
          </a:p>
        </p:txBody>
      </p:sp>
      <p:sp>
        <p:nvSpPr>
          <p:cNvPr id="13" name="Text 10"/>
          <p:cNvSpPr txBox="1"/>
          <p:nvPr/>
        </p:nvSpPr>
        <p:spPr>
          <a:xfrm>
            <a:off x="457200" y="3566160"/>
            <a:ext cx="8275320" cy="6858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Very high entry threat, high rivalry, moderate customer power — structurally, retail caps returns on invested capital for the median operator. The escape routes are scale, scope and brand, and they run in opposite directions: Costco clears a low-single-digit operating margin on volume plus membership fees; a category specialist like Home Depot runs a double-digit one. Same forces, two answers.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An analyst must rank the five forces — one or two usually dominate, and those are what must be monitored quarter to quarter</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Each label names one of the five forces; the phrase after it is the DRIVER that makes the force intense or benign there.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6, §5 "Industry Structure", checklist and ranking guidance, pp. 265–270.</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"What would happen if company X raised prices by 10% tomorrow?" If a large share of customers would switch, buyer power and substitutes are the forces to watch.</a:t>
            </a:r>
            <a:endParaRPr lang="en-US" sz="1300" dirty="0"/>
          </a:p>
        </p:txBody>
      </p:sp>
      <p:sp>
        <p:nvSpPr>
          <p:cNvPr id="10" name="Shape 8"/>
          <p:cNvSpPr/>
          <p:nvPr/>
        </p:nvSpPr>
        <p:spPr>
          <a:xfrm>
            <a:off x="320040" y="1143000"/>
            <a:ext cx="2773680" cy="1417320"/>
          </a:xfrm>
          <a:prstGeom prst="rect">
            <a:avLst/>
          </a:prstGeom>
          <a:solidFill>
            <a:srgbClr val="F5F7FA"/>
          </a:solidFill>
          <a:ln/>
        </p:spPr>
      </p:sp>
      <p:sp>
        <p:nvSpPr>
          <p:cNvPr id="11" name="Shape 9"/>
          <p:cNvSpPr/>
          <p:nvPr/>
        </p:nvSpPr>
        <p:spPr>
          <a:xfrm>
            <a:off x="320040" y="1143000"/>
            <a:ext cx="73152" cy="1417320"/>
          </a:xfrm>
          <a:prstGeom prst="rect">
            <a:avLst/>
          </a:prstGeom>
          <a:solidFill>
            <a:srgbClr val="E8600A"/>
          </a:solidFill>
          <a:ln/>
        </p:spPr>
      </p:sp>
      <p:sp>
        <p:nvSpPr>
          <p:cNvPr id="12" name="Text 10"/>
          <p:cNvSpPr txBox="1"/>
          <p:nvPr/>
        </p:nvSpPr>
        <p:spPr>
          <a:xfrm>
            <a:off x="457200" y="1216152"/>
            <a:ext cx="2545080" cy="237744"/>
          </a:xfrm>
          <a:prstGeom prst="rect">
            <a:avLst/>
          </a:prstGeom>
          <a:noFill/>
          <a:ln/>
        </p:spPr>
        <p:txBody>
          <a:bodyPr wrap="square" lIns="508" tIns="508" rIns="508" bIns="508" rtlCol="0" anchor="ctr">
            <a:normAutofit/>
            <a:spAutoFit/>
          </a:bodyPr>
          <a:lstStyle/>
          <a:p>
            <a:pPr algn="l" indent="0" marL="0">
              <a:buNone/>
            </a:pPr>
            <a:r>
              <a:rPr lang="en-US" sz="1000" b="1" spc="300" kern="0" dirty="0">
                <a:solidFill>
                  <a:srgbClr val="1B2A4A"/>
                </a:solidFill>
                <a:latin typeface="Trebuchet MS" pitchFamily="34" charset="0"/>
                <a:ea typeface="Trebuchet MS" pitchFamily="34" charset="-122"/>
                <a:cs typeface="Trebuchet MS" pitchFamily="34" charset="-120"/>
              </a:rPr>
              <a:t>BRANDED BEVERAGES</a:t>
            </a:r>
            <a:endParaRPr lang="en-US" sz="1000" dirty="0"/>
          </a:p>
        </p:txBody>
      </p:sp>
      <p:sp>
        <p:nvSpPr>
          <p:cNvPr id="13" name="Text 11"/>
          <p:cNvSpPr txBox="1"/>
          <p:nvPr/>
        </p:nvSpPr>
        <p:spPr>
          <a:xfrm>
            <a:off x="457200" y="1444752"/>
            <a:ext cx="2545080" cy="219456"/>
          </a:xfrm>
          <a:prstGeom prst="rect">
            <a:avLst/>
          </a:prstGeom>
          <a:noFill/>
          <a:ln/>
        </p:spPr>
        <p:txBody>
          <a:bodyPr wrap="square" lIns="508" tIns="508" rIns="508" bIns="508" rtlCol="0" anchor="ctr">
            <a:normAutofit/>
            <a:spAutoFit/>
          </a:bodyPr>
          <a:lstStyle/>
          <a:p>
            <a:pPr algn="l" indent="0" marL="0">
              <a:buNone/>
            </a:pPr>
            <a:r>
              <a:rPr lang="en-US" sz="1000" b="1" dirty="0">
                <a:solidFill>
                  <a:srgbClr val="E8600A"/>
                </a:solidFill>
                <a:latin typeface="Trebuchet MS" pitchFamily="34" charset="0"/>
                <a:ea typeface="Trebuchet MS" pitchFamily="34" charset="-122"/>
                <a:cs typeface="Trebuchet MS" pitchFamily="34" charset="-120"/>
              </a:rPr>
              <a:t>Dominant: New entrants — LOW</a:t>
            </a:r>
            <a:endParaRPr lang="en-US" sz="1000" dirty="0"/>
          </a:p>
        </p:txBody>
      </p:sp>
      <p:sp>
        <p:nvSpPr>
          <p:cNvPr id="14" name="Text 12"/>
          <p:cNvSpPr txBox="1"/>
          <p:nvPr/>
        </p:nvSpPr>
        <p:spPr>
          <a:xfrm>
            <a:off x="457200" y="1673352"/>
            <a:ext cx="2545080" cy="82296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Incumbents hold shelf-space arrangements with retailers, own distribution, and lock up on-trade accounts. A new brand cannot reach the customer.</a:t>
            </a:r>
            <a:endParaRPr lang="en-US" sz="1100" dirty="0"/>
          </a:p>
        </p:txBody>
      </p:sp>
      <p:sp>
        <p:nvSpPr>
          <p:cNvPr id="15" name="Shape 13"/>
          <p:cNvSpPr/>
          <p:nvPr/>
        </p:nvSpPr>
        <p:spPr>
          <a:xfrm>
            <a:off x="3185160" y="1143000"/>
            <a:ext cx="2773680" cy="1417320"/>
          </a:xfrm>
          <a:prstGeom prst="rect">
            <a:avLst/>
          </a:prstGeom>
          <a:solidFill>
            <a:srgbClr val="F5F7FA"/>
          </a:solidFill>
          <a:ln/>
        </p:spPr>
      </p:sp>
      <p:sp>
        <p:nvSpPr>
          <p:cNvPr id="16" name="Shape 14"/>
          <p:cNvSpPr/>
          <p:nvPr/>
        </p:nvSpPr>
        <p:spPr>
          <a:xfrm>
            <a:off x="3185160" y="1143000"/>
            <a:ext cx="73152" cy="1417320"/>
          </a:xfrm>
          <a:prstGeom prst="rect">
            <a:avLst/>
          </a:prstGeom>
          <a:solidFill>
            <a:srgbClr val="E8600A"/>
          </a:solidFill>
          <a:ln/>
        </p:spPr>
      </p:sp>
      <p:sp>
        <p:nvSpPr>
          <p:cNvPr id="17" name="Text 15"/>
          <p:cNvSpPr txBox="1"/>
          <p:nvPr/>
        </p:nvSpPr>
        <p:spPr>
          <a:xfrm>
            <a:off x="3322320" y="1216152"/>
            <a:ext cx="2545080" cy="237744"/>
          </a:xfrm>
          <a:prstGeom prst="rect">
            <a:avLst/>
          </a:prstGeom>
          <a:noFill/>
          <a:ln/>
        </p:spPr>
        <p:txBody>
          <a:bodyPr wrap="square" lIns="508" tIns="508" rIns="508" bIns="508" rtlCol="0" anchor="ctr">
            <a:normAutofit/>
            <a:spAutoFit/>
          </a:bodyPr>
          <a:lstStyle/>
          <a:p>
            <a:pPr algn="l" indent="0" marL="0">
              <a:buNone/>
            </a:pPr>
            <a:r>
              <a:rPr lang="en-US" sz="1000" b="1" spc="300" kern="0" dirty="0">
                <a:solidFill>
                  <a:srgbClr val="1B2A4A"/>
                </a:solidFill>
                <a:latin typeface="Trebuchet MS" pitchFamily="34" charset="0"/>
                <a:ea typeface="Trebuchet MS" pitchFamily="34" charset="-122"/>
                <a:cs typeface="Trebuchet MS" pitchFamily="34" charset="-120"/>
              </a:rPr>
              <a:t>CLOUD INFRASTRUCTURE</a:t>
            </a:r>
            <a:endParaRPr lang="en-US" sz="1000" dirty="0"/>
          </a:p>
        </p:txBody>
      </p:sp>
      <p:sp>
        <p:nvSpPr>
          <p:cNvPr id="18" name="Text 16"/>
          <p:cNvSpPr txBox="1"/>
          <p:nvPr/>
        </p:nvSpPr>
        <p:spPr>
          <a:xfrm>
            <a:off x="3322320" y="1444752"/>
            <a:ext cx="2545080" cy="219456"/>
          </a:xfrm>
          <a:prstGeom prst="rect">
            <a:avLst/>
          </a:prstGeom>
          <a:noFill/>
          <a:ln/>
        </p:spPr>
        <p:txBody>
          <a:bodyPr wrap="square" lIns="508" tIns="508" rIns="508" bIns="508" rtlCol="0" anchor="ctr">
            <a:normAutofit/>
            <a:spAutoFit/>
          </a:bodyPr>
          <a:lstStyle/>
          <a:p>
            <a:pPr algn="l" indent="0" marL="0">
              <a:buNone/>
            </a:pPr>
            <a:r>
              <a:rPr lang="en-US" sz="1000" b="1" dirty="0">
                <a:solidFill>
                  <a:srgbClr val="E8600A"/>
                </a:solidFill>
                <a:latin typeface="Trebuchet MS" pitchFamily="34" charset="0"/>
                <a:ea typeface="Trebuchet MS" pitchFamily="34" charset="-122"/>
                <a:cs typeface="Trebuchet MS" pitchFamily="34" charset="-120"/>
              </a:rPr>
              <a:t>Dominant: New entrants — LOW</a:t>
            </a:r>
            <a:endParaRPr lang="en-US" sz="1000" dirty="0"/>
          </a:p>
        </p:txBody>
      </p:sp>
      <p:sp>
        <p:nvSpPr>
          <p:cNvPr id="19" name="Text 17"/>
          <p:cNvSpPr txBox="1"/>
          <p:nvPr/>
        </p:nvSpPr>
        <p:spPr>
          <a:xfrm>
            <a:off x="3322320" y="1673352"/>
            <a:ext cx="2545080" cy="82296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Enormous fixed assets in servers and networking, near-zero variable cost, and economies of scope with adjacent businesses. Incumbents cut unit prices as they scale.</a:t>
            </a:r>
            <a:endParaRPr lang="en-US" sz="1100" dirty="0"/>
          </a:p>
        </p:txBody>
      </p:sp>
      <p:sp>
        <p:nvSpPr>
          <p:cNvPr id="20" name="Shape 18"/>
          <p:cNvSpPr/>
          <p:nvPr/>
        </p:nvSpPr>
        <p:spPr>
          <a:xfrm>
            <a:off x="6050280" y="1143000"/>
            <a:ext cx="2773680" cy="1417320"/>
          </a:xfrm>
          <a:prstGeom prst="rect">
            <a:avLst/>
          </a:prstGeom>
          <a:solidFill>
            <a:srgbClr val="F5F7FA"/>
          </a:solidFill>
          <a:ln/>
        </p:spPr>
      </p:sp>
      <p:sp>
        <p:nvSpPr>
          <p:cNvPr id="21" name="Shape 19"/>
          <p:cNvSpPr/>
          <p:nvPr/>
        </p:nvSpPr>
        <p:spPr>
          <a:xfrm>
            <a:off x="6050280" y="1143000"/>
            <a:ext cx="73152" cy="1417320"/>
          </a:xfrm>
          <a:prstGeom prst="rect">
            <a:avLst/>
          </a:prstGeom>
          <a:solidFill>
            <a:srgbClr val="E8600A"/>
          </a:solidFill>
          <a:ln/>
        </p:spPr>
      </p:sp>
      <p:sp>
        <p:nvSpPr>
          <p:cNvPr id="22" name="Text 20"/>
          <p:cNvSpPr txBox="1"/>
          <p:nvPr/>
        </p:nvSpPr>
        <p:spPr>
          <a:xfrm>
            <a:off x="6187440" y="1216152"/>
            <a:ext cx="2545080" cy="237744"/>
          </a:xfrm>
          <a:prstGeom prst="rect">
            <a:avLst/>
          </a:prstGeom>
          <a:noFill/>
          <a:ln/>
        </p:spPr>
        <p:txBody>
          <a:bodyPr wrap="square" lIns="508" tIns="508" rIns="508" bIns="508" rtlCol="0" anchor="ctr">
            <a:normAutofit/>
            <a:spAutoFit/>
          </a:bodyPr>
          <a:lstStyle/>
          <a:p>
            <a:pPr algn="l" indent="0" marL="0">
              <a:buNone/>
            </a:pPr>
            <a:r>
              <a:rPr lang="en-US" sz="1000" b="1" spc="300" kern="0" dirty="0">
                <a:solidFill>
                  <a:srgbClr val="1B2A4A"/>
                </a:solidFill>
                <a:latin typeface="Trebuchet MS" pitchFamily="34" charset="0"/>
                <a:ea typeface="Trebuchet MS" pitchFamily="34" charset="-122"/>
                <a:cs typeface="Trebuchet MS" pitchFamily="34" charset="-120"/>
              </a:rPr>
              <a:t>GENERIC PHARMA</a:t>
            </a:r>
            <a:endParaRPr lang="en-US" sz="1000" dirty="0"/>
          </a:p>
        </p:txBody>
      </p:sp>
      <p:sp>
        <p:nvSpPr>
          <p:cNvPr id="23" name="Text 21"/>
          <p:cNvSpPr txBox="1"/>
          <p:nvPr/>
        </p:nvSpPr>
        <p:spPr>
          <a:xfrm>
            <a:off x="6187440" y="1444752"/>
            <a:ext cx="2545080" cy="219456"/>
          </a:xfrm>
          <a:prstGeom prst="rect">
            <a:avLst/>
          </a:prstGeom>
          <a:noFill/>
          <a:ln/>
        </p:spPr>
        <p:txBody>
          <a:bodyPr wrap="square" lIns="508" tIns="508" rIns="508" bIns="508" rtlCol="0" anchor="ctr">
            <a:normAutofit/>
            <a:spAutoFit/>
          </a:bodyPr>
          <a:lstStyle/>
          <a:p>
            <a:pPr algn="l" indent="0" marL="0">
              <a:buNone/>
            </a:pPr>
            <a:r>
              <a:rPr lang="en-US" sz="1000" b="1" dirty="0">
                <a:solidFill>
                  <a:srgbClr val="E8600A"/>
                </a:solidFill>
                <a:latin typeface="Trebuchet MS" pitchFamily="34" charset="0"/>
                <a:ea typeface="Trebuchet MS" pitchFamily="34" charset="-122"/>
                <a:cs typeface="Trebuchet MS" pitchFamily="34" charset="-120"/>
              </a:rPr>
              <a:t>Dominant: Rivalry — VERY HIGH</a:t>
            </a:r>
            <a:endParaRPr lang="en-US" sz="1000" dirty="0"/>
          </a:p>
        </p:txBody>
      </p:sp>
      <p:sp>
        <p:nvSpPr>
          <p:cNvPr id="24" name="Text 22"/>
          <p:cNvSpPr txBox="1"/>
          <p:nvPr/>
        </p:nvSpPr>
        <p:spPr>
          <a:xfrm>
            <a:off x="6187440" y="1673352"/>
            <a:ext cx="2545080" cy="82296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Regulators certify chemical equivalence, so pharmacies are indifferent. One generic competitor vs nine moves price by roughly 6× (Dave et al., 2017).</a:t>
            </a:r>
            <a:endParaRPr lang="en-US" sz="1100" dirty="0"/>
          </a:p>
        </p:txBody>
      </p:sp>
      <p:sp>
        <p:nvSpPr>
          <p:cNvPr id="25" name="Shape 23"/>
          <p:cNvSpPr/>
          <p:nvPr/>
        </p:nvSpPr>
        <p:spPr>
          <a:xfrm>
            <a:off x="320040" y="2697480"/>
            <a:ext cx="2773680" cy="1417320"/>
          </a:xfrm>
          <a:prstGeom prst="rect">
            <a:avLst/>
          </a:prstGeom>
          <a:solidFill>
            <a:srgbClr val="F5F7FA"/>
          </a:solidFill>
          <a:ln/>
        </p:spPr>
      </p:sp>
      <p:sp>
        <p:nvSpPr>
          <p:cNvPr id="26" name="Shape 24"/>
          <p:cNvSpPr/>
          <p:nvPr/>
        </p:nvSpPr>
        <p:spPr>
          <a:xfrm>
            <a:off x="320040" y="2697480"/>
            <a:ext cx="73152" cy="1417320"/>
          </a:xfrm>
          <a:prstGeom prst="rect">
            <a:avLst/>
          </a:prstGeom>
          <a:solidFill>
            <a:srgbClr val="E8600A"/>
          </a:solidFill>
          <a:ln/>
        </p:spPr>
      </p:sp>
      <p:sp>
        <p:nvSpPr>
          <p:cNvPr id="27" name="Text 25"/>
          <p:cNvSpPr txBox="1"/>
          <p:nvPr/>
        </p:nvSpPr>
        <p:spPr>
          <a:xfrm>
            <a:off x="457200" y="2770632"/>
            <a:ext cx="2545080" cy="237744"/>
          </a:xfrm>
          <a:prstGeom prst="rect">
            <a:avLst/>
          </a:prstGeom>
          <a:noFill/>
          <a:ln/>
        </p:spPr>
        <p:txBody>
          <a:bodyPr wrap="square" lIns="508" tIns="508" rIns="508" bIns="508" rtlCol="0" anchor="ctr">
            <a:normAutofit/>
            <a:spAutoFit/>
          </a:bodyPr>
          <a:lstStyle/>
          <a:p>
            <a:pPr algn="l" indent="0" marL="0">
              <a:buNone/>
            </a:pPr>
            <a:r>
              <a:rPr lang="en-US" sz="1000" b="1" spc="300" kern="0" dirty="0">
                <a:solidFill>
                  <a:srgbClr val="1B2A4A"/>
                </a:solidFill>
                <a:latin typeface="Trebuchet MS" pitchFamily="34" charset="0"/>
                <a:ea typeface="Trebuchet MS" pitchFamily="34" charset="-122"/>
                <a:cs typeface="Trebuchet MS" pitchFamily="34" charset="-120"/>
              </a:rPr>
              <a:t>US COMMERCIAL BANKS</a:t>
            </a:r>
            <a:endParaRPr lang="en-US" sz="1000" dirty="0"/>
          </a:p>
        </p:txBody>
      </p:sp>
      <p:sp>
        <p:nvSpPr>
          <p:cNvPr id="28" name="Text 26"/>
          <p:cNvSpPr txBox="1"/>
          <p:nvPr/>
        </p:nvSpPr>
        <p:spPr>
          <a:xfrm>
            <a:off x="457200" y="2999232"/>
            <a:ext cx="2545080" cy="219456"/>
          </a:xfrm>
          <a:prstGeom prst="rect">
            <a:avLst/>
          </a:prstGeom>
          <a:noFill/>
          <a:ln/>
        </p:spPr>
        <p:txBody>
          <a:bodyPr wrap="square" lIns="508" tIns="508" rIns="508" bIns="508" rtlCol="0" anchor="ctr">
            <a:normAutofit/>
            <a:spAutoFit/>
          </a:bodyPr>
          <a:lstStyle/>
          <a:p>
            <a:pPr algn="l" indent="0" marL="0">
              <a:buNone/>
            </a:pPr>
            <a:r>
              <a:rPr lang="en-US" sz="1000" b="1" dirty="0">
                <a:solidFill>
                  <a:srgbClr val="E8600A"/>
                </a:solidFill>
                <a:latin typeface="Trebuchet MS" pitchFamily="34" charset="0"/>
                <a:ea typeface="Trebuchet MS" pitchFamily="34" charset="-122"/>
                <a:cs typeface="Trebuchet MS" pitchFamily="34" charset="-120"/>
              </a:rPr>
              <a:t>Dominant: New entrants — VERY LOW</a:t>
            </a:r>
            <a:endParaRPr lang="en-US" sz="1000" dirty="0"/>
          </a:p>
        </p:txBody>
      </p:sp>
      <p:sp>
        <p:nvSpPr>
          <p:cNvPr id="29" name="Text 27"/>
          <p:cNvSpPr txBox="1"/>
          <p:nvPr/>
        </p:nvSpPr>
        <p:spPr>
          <a:xfrm>
            <a:off x="457200" y="3227832"/>
            <a:ext cx="2545080" cy="82296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Fewer than three new commercial bank charters per year over 2010–2021. Regulatory capital, deposit insurance and licensing make de novo entry near-impossible.</a:t>
            </a:r>
            <a:endParaRPr lang="en-US" sz="1100" dirty="0"/>
          </a:p>
        </p:txBody>
      </p:sp>
      <p:sp>
        <p:nvSpPr>
          <p:cNvPr id="30" name="Shape 28"/>
          <p:cNvSpPr/>
          <p:nvPr/>
        </p:nvSpPr>
        <p:spPr>
          <a:xfrm>
            <a:off x="3185160" y="2697480"/>
            <a:ext cx="2773680" cy="1417320"/>
          </a:xfrm>
          <a:prstGeom prst="rect">
            <a:avLst/>
          </a:prstGeom>
          <a:solidFill>
            <a:srgbClr val="F5F7FA"/>
          </a:solidFill>
          <a:ln/>
        </p:spPr>
      </p:sp>
      <p:sp>
        <p:nvSpPr>
          <p:cNvPr id="31" name="Shape 29"/>
          <p:cNvSpPr/>
          <p:nvPr/>
        </p:nvSpPr>
        <p:spPr>
          <a:xfrm>
            <a:off x="3185160" y="2697480"/>
            <a:ext cx="73152" cy="1417320"/>
          </a:xfrm>
          <a:prstGeom prst="rect">
            <a:avLst/>
          </a:prstGeom>
          <a:solidFill>
            <a:srgbClr val="E8600A"/>
          </a:solidFill>
          <a:ln/>
        </p:spPr>
      </p:sp>
      <p:sp>
        <p:nvSpPr>
          <p:cNvPr id="32" name="Text 30"/>
          <p:cNvSpPr txBox="1"/>
          <p:nvPr/>
        </p:nvSpPr>
        <p:spPr>
          <a:xfrm>
            <a:off x="3322320" y="2770632"/>
            <a:ext cx="2545080" cy="237744"/>
          </a:xfrm>
          <a:prstGeom prst="rect">
            <a:avLst/>
          </a:prstGeom>
          <a:noFill/>
          <a:ln/>
        </p:spPr>
        <p:txBody>
          <a:bodyPr wrap="square" lIns="508" tIns="508" rIns="508" bIns="508" rtlCol="0" anchor="ctr">
            <a:normAutofit/>
            <a:spAutoFit/>
          </a:bodyPr>
          <a:lstStyle/>
          <a:p>
            <a:pPr algn="l" indent="0" marL="0">
              <a:buNone/>
            </a:pPr>
            <a:r>
              <a:rPr lang="en-US" sz="1000" b="1" spc="300" kern="0" dirty="0">
                <a:solidFill>
                  <a:srgbClr val="1B2A4A"/>
                </a:solidFill>
                <a:latin typeface="Trebuchet MS" pitchFamily="34" charset="0"/>
                <a:ea typeface="Trebuchet MS" pitchFamily="34" charset="-122"/>
                <a:cs typeface="Trebuchet MS" pitchFamily="34" charset="-120"/>
              </a:rPr>
              <a:t>COMMERCIAL AIRCRAFT</a:t>
            </a:r>
            <a:endParaRPr lang="en-US" sz="1000" dirty="0"/>
          </a:p>
        </p:txBody>
      </p:sp>
      <p:sp>
        <p:nvSpPr>
          <p:cNvPr id="33" name="Text 31"/>
          <p:cNvSpPr txBox="1"/>
          <p:nvPr/>
        </p:nvSpPr>
        <p:spPr>
          <a:xfrm>
            <a:off x="3322320" y="2999232"/>
            <a:ext cx="2545080" cy="219456"/>
          </a:xfrm>
          <a:prstGeom prst="rect">
            <a:avLst/>
          </a:prstGeom>
          <a:noFill/>
          <a:ln/>
        </p:spPr>
        <p:txBody>
          <a:bodyPr wrap="square" lIns="508" tIns="508" rIns="508" bIns="508" rtlCol="0" anchor="ctr">
            <a:normAutofit/>
            <a:spAutoFit/>
          </a:bodyPr>
          <a:lstStyle/>
          <a:p>
            <a:pPr algn="l" indent="0" marL="0">
              <a:buNone/>
            </a:pPr>
            <a:r>
              <a:rPr lang="en-US" sz="1000" b="1" dirty="0">
                <a:solidFill>
                  <a:srgbClr val="E8600A"/>
                </a:solidFill>
                <a:latin typeface="Trebuchet MS" pitchFamily="34" charset="0"/>
                <a:ea typeface="Trebuchet MS" pitchFamily="34" charset="-122"/>
                <a:cs typeface="Trebuchet MS" pitchFamily="34" charset="-120"/>
              </a:rPr>
              <a:t>Dominant: Rivalry — HIGH</a:t>
            </a:r>
            <a:endParaRPr lang="en-US" sz="1000" dirty="0"/>
          </a:p>
        </p:txBody>
      </p:sp>
      <p:sp>
        <p:nvSpPr>
          <p:cNvPr id="34" name="Text 32"/>
          <p:cNvSpPr txBox="1"/>
          <p:nvPr/>
        </p:nvSpPr>
        <p:spPr>
          <a:xfrm>
            <a:off x="3322320" y="3227832"/>
            <a:ext cx="2545080" cy="82296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A duopoly, yet every other force is benign and they still fight on price, financing and warranty terms per sale. Specialised assets make exit costly.</a:t>
            </a:r>
            <a:endParaRPr lang="en-US" sz="1100" dirty="0"/>
          </a:p>
        </p:txBody>
      </p:sp>
      <p:sp>
        <p:nvSpPr>
          <p:cNvPr id="35" name="Shape 33"/>
          <p:cNvSpPr/>
          <p:nvPr/>
        </p:nvSpPr>
        <p:spPr>
          <a:xfrm>
            <a:off x="6050280" y="2697480"/>
            <a:ext cx="2773680" cy="1417320"/>
          </a:xfrm>
          <a:prstGeom prst="rect">
            <a:avLst/>
          </a:prstGeom>
          <a:solidFill>
            <a:srgbClr val="F5F7FA"/>
          </a:solidFill>
          <a:ln/>
        </p:spPr>
      </p:sp>
      <p:sp>
        <p:nvSpPr>
          <p:cNvPr id="36" name="Shape 34"/>
          <p:cNvSpPr/>
          <p:nvPr/>
        </p:nvSpPr>
        <p:spPr>
          <a:xfrm>
            <a:off x="6050280" y="2697480"/>
            <a:ext cx="73152" cy="1417320"/>
          </a:xfrm>
          <a:prstGeom prst="rect">
            <a:avLst/>
          </a:prstGeom>
          <a:solidFill>
            <a:srgbClr val="E8600A"/>
          </a:solidFill>
          <a:ln/>
        </p:spPr>
      </p:sp>
      <p:sp>
        <p:nvSpPr>
          <p:cNvPr id="37" name="Text 35"/>
          <p:cNvSpPr txBox="1"/>
          <p:nvPr/>
        </p:nvSpPr>
        <p:spPr>
          <a:xfrm>
            <a:off x="6187440" y="2770632"/>
            <a:ext cx="2545080" cy="237744"/>
          </a:xfrm>
          <a:prstGeom prst="rect">
            <a:avLst/>
          </a:prstGeom>
          <a:noFill/>
          <a:ln/>
        </p:spPr>
        <p:txBody>
          <a:bodyPr wrap="square" lIns="508" tIns="508" rIns="508" bIns="508" rtlCol="0" anchor="ctr">
            <a:normAutofit/>
            <a:spAutoFit/>
          </a:bodyPr>
          <a:lstStyle/>
          <a:p>
            <a:pPr algn="l" indent="0" marL="0">
              <a:buNone/>
            </a:pPr>
            <a:r>
              <a:rPr lang="en-US" sz="1000" b="1" spc="300" kern="0" dirty="0">
                <a:solidFill>
                  <a:srgbClr val="1B2A4A"/>
                </a:solidFill>
                <a:latin typeface="Trebuchet MS" pitchFamily="34" charset="0"/>
                <a:ea typeface="Trebuchet MS" pitchFamily="34" charset="-122"/>
                <a:cs typeface="Trebuchet MS" pitchFamily="34" charset="-120"/>
              </a:rPr>
              <a:t>ENTERPRISE SOFTWARE</a:t>
            </a:r>
            <a:endParaRPr lang="en-US" sz="1000" dirty="0"/>
          </a:p>
        </p:txBody>
      </p:sp>
      <p:sp>
        <p:nvSpPr>
          <p:cNvPr id="38" name="Text 36"/>
          <p:cNvSpPr txBox="1"/>
          <p:nvPr/>
        </p:nvSpPr>
        <p:spPr>
          <a:xfrm>
            <a:off x="6187440" y="2999232"/>
            <a:ext cx="2545080" cy="219456"/>
          </a:xfrm>
          <a:prstGeom prst="rect">
            <a:avLst/>
          </a:prstGeom>
          <a:noFill/>
          <a:ln/>
        </p:spPr>
        <p:txBody>
          <a:bodyPr wrap="square" lIns="508" tIns="508" rIns="508" bIns="508" rtlCol="0" anchor="ctr">
            <a:normAutofit/>
            <a:spAutoFit/>
          </a:bodyPr>
          <a:lstStyle/>
          <a:p>
            <a:pPr algn="l" indent="0" marL="0">
              <a:buNone/>
            </a:pPr>
            <a:r>
              <a:rPr lang="en-US" sz="1000" b="1" dirty="0">
                <a:solidFill>
                  <a:srgbClr val="E8600A"/>
                </a:solidFill>
                <a:latin typeface="Trebuchet MS" pitchFamily="34" charset="0"/>
                <a:ea typeface="Trebuchet MS" pitchFamily="34" charset="-122"/>
                <a:cs typeface="Trebuchet MS" pitchFamily="34" charset="-120"/>
              </a:rPr>
              <a:t>Dominant: Buyer power — LOW</a:t>
            </a:r>
            <a:endParaRPr lang="en-US" sz="1000" dirty="0"/>
          </a:p>
        </p:txBody>
      </p:sp>
      <p:sp>
        <p:nvSpPr>
          <p:cNvPr id="39" name="Text 37"/>
          <p:cNvSpPr txBox="1"/>
          <p:nvPr/>
        </p:nvSpPr>
        <p:spPr>
          <a:xfrm>
            <a:off x="6187440" y="3227832"/>
            <a:ext cx="2545080" cy="82296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SAP-class implementations take years and wire into mission-critical systems. Switching costs neutralise the buyer; incumbents price accordingly.</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PESTLE catches what Porter misses — the external tides that move an industry's growth rate and share dynamics</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6, §5 "External Influences on Industry Growth", pp. 271–274; beauty example from LM 6 self-assessment Q7, p. 248.</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Porter asks "how attractive is this industry?". PESTLE asks "what outside it is about to change?". Porter drives profitability; PESTLE drives growth and share.</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320040" y="1143000"/>
          <a:ext cx="8503920" cy="914400"/>
        </p:xfrm>
        <a:graphic>
          <a:graphicData uri="http://schemas.openxmlformats.org/drawingml/2006/table">
            <a:tbl>
              <a:tblPr/>
              <a:tblGrid>
                <a:gridCol w="1417320"/>
                <a:gridCol w="3246120"/>
                <a:gridCol w="38404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Factor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it covers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Beauty-industry example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 — Political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Policy, regulation, geopolitics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Excise tax debated on plastic packaging</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 — Economic</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GDP, income, inflation, rates, FX</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EM income growth lifts premium demand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S — Social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Demographics, culture, lifestyles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Phone cameras and social media lift demand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 — Technological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Sustaining vs disruptive innovation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Influencer video: an efficient new channel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L — Legal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Court and policymaker rule changes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Counterfeit and trademark enforcement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E — Environmental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Carbon transition, waste, land use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Sustainable-packaging commitments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0" name="Shape 7"/>
          <p:cNvSpPr/>
          <p:nvPr/>
        </p:nvSpPr>
        <p:spPr>
          <a:xfrm>
            <a:off x="320040" y="3520440"/>
            <a:ext cx="8503920" cy="777240"/>
          </a:xfrm>
          <a:prstGeom prst="rect">
            <a:avLst/>
          </a:prstGeom>
          <a:solidFill>
            <a:srgbClr val="FEF0E7"/>
          </a:solidFill>
          <a:ln/>
        </p:spPr>
      </p:sp>
      <p:sp>
        <p:nvSpPr>
          <p:cNvPr id="11" name="Shape 8"/>
          <p:cNvSpPr/>
          <p:nvPr/>
        </p:nvSpPr>
        <p:spPr>
          <a:xfrm>
            <a:off x="320040" y="3520440"/>
            <a:ext cx="73152" cy="777240"/>
          </a:xfrm>
          <a:prstGeom prst="rect">
            <a:avLst/>
          </a:prstGeom>
          <a:solidFill>
            <a:srgbClr val="E8600A"/>
          </a:solidFill>
          <a:ln/>
        </p:spPr>
      </p:sp>
      <p:sp>
        <p:nvSpPr>
          <p:cNvPr id="12" name="Text 9"/>
          <p:cNvSpPr txBox="1"/>
          <p:nvPr/>
        </p:nvSpPr>
        <p:spPr>
          <a:xfrm>
            <a:off x="457200" y="356616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THE EXAM QUESTION: PESTLE OR PORTER?</a:t>
            </a:r>
            <a:endParaRPr lang="en-US" sz="1100" dirty="0"/>
          </a:p>
        </p:txBody>
      </p:sp>
      <p:sp>
        <p:nvSpPr>
          <p:cNvPr id="13" name="Text 10"/>
          <p:cNvSpPr txBox="1"/>
          <p:nvPr/>
        </p:nvSpPr>
        <p:spPr>
          <a:xfrm>
            <a:off x="457200" y="3840480"/>
            <a:ext cx="8275320" cy="41148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A legislature debating a packaging tax is PESTLE — external, political. A rival launching AR "try-on" filters is NOT PESTLE: it is a competitor move inside the industry, so it is Porter. Test: is the actor inside the industry or outside it?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Three generic competitive strategies — cost leadership, differentiation, focus — explain most of what companies actually do</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"Stuck in the middle" — not a cost leader, not differentiated, not focused — is the worst place to be. Effectiveness is only ever judged in hindsight.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6, §6 "Competitive Positioning", Exhibit 6, pp. 276–279. Porter (1980).</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Evaluating a strategy has three tests: (1) does it defend against the five forces?  (2) does it align with PESTLE?  (3) does the firm have the resources and capabilities to execute?</a:t>
            </a:r>
            <a:endParaRPr lang="en-US" sz="1300" dirty="0"/>
          </a:p>
        </p:txBody>
      </p:sp>
      <p:sp>
        <p:nvSpPr>
          <p:cNvPr id="10" name="Shape 8"/>
          <p:cNvSpPr/>
          <p:nvPr/>
        </p:nvSpPr>
        <p:spPr>
          <a:xfrm>
            <a:off x="320040" y="1188720"/>
            <a:ext cx="2743200" cy="3154680"/>
          </a:xfrm>
          <a:prstGeom prst="rect">
            <a:avLst/>
          </a:prstGeom>
          <a:solidFill>
            <a:srgbClr val="253A5E"/>
          </a:solidFill>
          <a:ln/>
        </p:spPr>
      </p:sp>
      <p:sp>
        <p:nvSpPr>
          <p:cNvPr id="11" name="Shape 9"/>
          <p:cNvSpPr/>
          <p:nvPr/>
        </p:nvSpPr>
        <p:spPr>
          <a:xfrm>
            <a:off x="320040" y="1188720"/>
            <a:ext cx="73152" cy="3154680"/>
          </a:xfrm>
          <a:prstGeom prst="rect">
            <a:avLst/>
          </a:prstGeom>
          <a:solidFill>
            <a:srgbClr val="E8600A"/>
          </a:solidFill>
          <a:ln/>
        </p:spPr>
      </p:sp>
      <p:sp>
        <p:nvSpPr>
          <p:cNvPr id="12" name="Text 10"/>
          <p:cNvSpPr txBox="1"/>
          <p:nvPr/>
        </p:nvSpPr>
        <p:spPr>
          <a:xfrm>
            <a:off x="457200" y="128016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COST LEADERSHIP</a:t>
            </a:r>
            <a:endParaRPr lang="en-US" sz="1100" dirty="0"/>
          </a:p>
        </p:txBody>
      </p:sp>
      <p:sp>
        <p:nvSpPr>
          <p:cNvPr id="13" name="Text 11"/>
          <p:cNvSpPr txBox="1"/>
          <p:nvPr/>
        </p:nvSpPr>
        <p:spPr>
          <a:xfrm>
            <a:off x="502920" y="1600200"/>
            <a:ext cx="2423160" cy="2651760"/>
          </a:xfrm>
          <a:prstGeom prst="rect">
            <a:avLst/>
          </a:prstGeom>
          <a:noFill/>
          <a:ln/>
        </p:spPr>
        <p:txBody>
          <a:bodyPr wrap="square" lIns="508" tIns="508" rIns="508" bIns="508" rtlCol="0" anchor="t">
            <a:normAutofit/>
            <a:spAutoFit/>
          </a:bodyPr>
          <a:lstStyle/>
          <a:p>
            <a:pPr algn="l" indent="0" marL="0">
              <a:buNone/>
            </a:pPr>
            <a:r>
              <a:rPr lang="en-US" sz="1100" dirty="0">
                <a:solidFill>
                  <a:srgbClr val="FFFFFF"/>
                </a:solidFill>
                <a:latin typeface="Calibri" pitchFamily="34" charset="0"/>
                <a:ea typeface="Calibri" pitchFamily="34" charset="-122"/>
                <a:cs typeface="Calibri" pitchFamily="34" charset="-120"/>
              </a:rPr>
              <a:t>Lowest unit cost in the industry.</a:t>
            </a:r>
            <a:endParaRPr lang="en-US" sz="1100" dirty="0"/>
          </a:p>
          <a:p>
            <a:pPr algn="l" indent="0" marL="0">
              <a:buNone/>
            </a:pP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Means:</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Scale economies from fixed costs</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Favorable raw-material access</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Strict cost culture</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Aggressive pricing for volume</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Low-cost distribution</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Economies of scope</a:t>
            </a:r>
            <a:endParaRPr lang="en-US" sz="1100" dirty="0"/>
          </a:p>
          <a:p>
            <a:pPr algn="l" indent="0" marL="0">
              <a:buNone/>
            </a:pP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Exemplars:</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Costco · Walmart · Ryanair · Southwest Airlines · Vanguard</a:t>
            </a:r>
            <a:endParaRPr lang="en-US" sz="1100" dirty="0"/>
          </a:p>
        </p:txBody>
      </p:sp>
      <p:sp>
        <p:nvSpPr>
          <p:cNvPr id="14" name="Shape 12"/>
          <p:cNvSpPr/>
          <p:nvPr/>
        </p:nvSpPr>
        <p:spPr>
          <a:xfrm>
            <a:off x="3200400" y="1188720"/>
            <a:ext cx="2743200" cy="3154680"/>
          </a:xfrm>
          <a:prstGeom prst="rect">
            <a:avLst/>
          </a:prstGeom>
          <a:solidFill>
            <a:srgbClr val="FEF0E7"/>
          </a:solidFill>
          <a:ln/>
        </p:spPr>
      </p:sp>
      <p:sp>
        <p:nvSpPr>
          <p:cNvPr id="15" name="Shape 13"/>
          <p:cNvSpPr/>
          <p:nvPr/>
        </p:nvSpPr>
        <p:spPr>
          <a:xfrm>
            <a:off x="3200400" y="1188720"/>
            <a:ext cx="73152" cy="3154680"/>
          </a:xfrm>
          <a:prstGeom prst="rect">
            <a:avLst/>
          </a:prstGeom>
          <a:solidFill>
            <a:srgbClr val="E8600A"/>
          </a:solidFill>
          <a:ln/>
        </p:spPr>
      </p:sp>
      <p:sp>
        <p:nvSpPr>
          <p:cNvPr id="16" name="Text 14"/>
          <p:cNvSpPr txBox="1"/>
          <p:nvPr/>
        </p:nvSpPr>
        <p:spPr>
          <a:xfrm>
            <a:off x="3337560" y="128016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DIFFERENTIATION</a:t>
            </a:r>
            <a:endParaRPr lang="en-US" sz="1100" dirty="0"/>
          </a:p>
        </p:txBody>
      </p:sp>
      <p:sp>
        <p:nvSpPr>
          <p:cNvPr id="17" name="Text 15"/>
          <p:cNvSpPr txBox="1"/>
          <p:nvPr/>
        </p:nvSpPr>
        <p:spPr>
          <a:xfrm>
            <a:off x="3383280" y="1600200"/>
            <a:ext cx="2423160" cy="265176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Uniqueness customers will pay for.</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Means:</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Brand, advertising, proprietary channels</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Trademarks, patents, copyright</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Superior quality / unique features</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Culture of customer experience</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Integration of hardware, software, service</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Premium pricing</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Exemplars:</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Apple · LVMH · Rolex · Nike · Disney</a:t>
            </a:r>
            <a:endParaRPr lang="en-US" sz="1100" dirty="0"/>
          </a:p>
        </p:txBody>
      </p:sp>
      <p:sp>
        <p:nvSpPr>
          <p:cNvPr id="18" name="Shape 16"/>
          <p:cNvSpPr/>
          <p:nvPr/>
        </p:nvSpPr>
        <p:spPr>
          <a:xfrm>
            <a:off x="6080760" y="1188720"/>
            <a:ext cx="2743200" cy="3154680"/>
          </a:xfrm>
          <a:prstGeom prst="rect">
            <a:avLst/>
          </a:prstGeom>
          <a:solidFill>
            <a:srgbClr val="F5F7FA"/>
          </a:solidFill>
          <a:ln/>
        </p:spPr>
      </p:sp>
      <p:sp>
        <p:nvSpPr>
          <p:cNvPr id="19" name="Shape 17"/>
          <p:cNvSpPr/>
          <p:nvPr/>
        </p:nvSpPr>
        <p:spPr>
          <a:xfrm>
            <a:off x="6080760" y="1188720"/>
            <a:ext cx="73152" cy="3154680"/>
          </a:xfrm>
          <a:prstGeom prst="rect">
            <a:avLst/>
          </a:prstGeom>
          <a:solidFill>
            <a:srgbClr val="1B2A4A"/>
          </a:solidFill>
          <a:ln/>
        </p:spPr>
      </p:sp>
      <p:sp>
        <p:nvSpPr>
          <p:cNvPr id="20" name="Text 18"/>
          <p:cNvSpPr txBox="1"/>
          <p:nvPr/>
        </p:nvSpPr>
        <p:spPr>
          <a:xfrm>
            <a:off x="6217920" y="1280160"/>
            <a:ext cx="2514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FOCUS</a:t>
            </a:r>
            <a:endParaRPr lang="en-US" sz="1100" dirty="0"/>
          </a:p>
        </p:txBody>
      </p:sp>
      <p:sp>
        <p:nvSpPr>
          <p:cNvPr id="21" name="Text 19"/>
          <p:cNvSpPr txBox="1"/>
          <p:nvPr/>
        </p:nvSpPr>
        <p:spPr>
          <a:xfrm>
            <a:off x="6263640" y="1600200"/>
            <a:ext cx="2423160" cy="265176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One narrow segment, served exceptionally.</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Means:</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Proximity to a specific customer group</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Deep understanding of their needs</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May borrow from cost leadership OR differentiation — but only inside that niche</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Exemplars:</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Ferrari (luxury auto) · Edward Jones (small-town US brokerage) · Ducati (sport motorcycles)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03</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Company</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forecasting</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3 of 4  ·  Deck 12 of 20  ·  Studio Tonton Gug</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There are four forecast approaches — historical, base-rate convergence, management guidance, and analyst discretionary — each fits a different setting</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Ciconte et al. (2013): the UPPER bound of a guidance range often represents management's true expectation, padded with a beatable lower bound.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7, §2 "Forecast Objects, Principles, and Approaches", Exhibit 1, pp. 288–294.</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In practice the four are combined — guidance for next year, base-rate convergence for the long run, discretionary judgement at a disruptive inflection.</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20040" y="1143000"/>
          <a:ext cx="8503920" cy="914400"/>
        </p:xfrm>
        <a:graphic>
          <a:graphicData uri="http://schemas.openxmlformats.org/drawingml/2006/table">
            <a:tbl>
              <a:tblPr/>
              <a:tblGrid>
                <a:gridCol w="2011680"/>
                <a:gridCol w="3291840"/>
                <a:gridCol w="320040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Approach</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Best-fit setting</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Where it breaks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Historical results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Mature, non-cyclical; immaterial lines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Past conditions need not repeat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Base rates &amp; convergence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Young firms maturing toward peer norms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Leader IS the base rate (Alphabet)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Management guidance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Good track record; firm-level variables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Macro lines — no info advantage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Analyst discretionary</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Cyclicals, no comparables, disruption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Only as good as the judgement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
        <p:nvSpPr>
          <p:cNvPr id="11" name="Shape 8"/>
          <p:cNvSpPr/>
          <p:nvPr/>
        </p:nvSpPr>
        <p:spPr>
          <a:xfrm>
            <a:off x="320040" y="2971800"/>
            <a:ext cx="8503920" cy="1325880"/>
          </a:xfrm>
          <a:prstGeom prst="rect">
            <a:avLst/>
          </a:prstGeom>
          <a:solidFill>
            <a:srgbClr val="FEF0E7"/>
          </a:solidFill>
          <a:ln/>
        </p:spPr>
      </p:sp>
      <p:sp>
        <p:nvSpPr>
          <p:cNvPr id="12" name="Shape 9"/>
          <p:cNvSpPr/>
          <p:nvPr/>
        </p:nvSpPr>
        <p:spPr>
          <a:xfrm>
            <a:off x="320040" y="2971800"/>
            <a:ext cx="73152" cy="1325880"/>
          </a:xfrm>
          <a:prstGeom prst="rect">
            <a:avLst/>
          </a:prstGeom>
          <a:solidFill>
            <a:srgbClr val="E8600A"/>
          </a:solidFill>
          <a:ln/>
        </p:spPr>
      </p:sp>
      <p:sp>
        <p:nvSpPr>
          <p:cNvPr id="13" name="Text 10"/>
          <p:cNvSpPr txBox="1"/>
          <p:nvPr/>
        </p:nvSpPr>
        <p:spPr>
          <a:xfrm>
            <a:off x="457200" y="301752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AND FOUR FORECAST OBJECTS — PICK THE RIGHT GRANULARITY</a:t>
            </a:r>
            <a:endParaRPr lang="en-US" sz="1100" dirty="0"/>
          </a:p>
        </p:txBody>
      </p:sp>
      <p:sp>
        <p:nvSpPr>
          <p:cNvPr id="14" name="Text 11"/>
          <p:cNvSpPr txBox="1"/>
          <p:nvPr/>
        </p:nvSpPr>
        <p:spPr>
          <a:xfrm>
            <a:off x="457200" y="3291840"/>
            <a:ext cx="8275320" cy="9601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1. DRIVERS of financial-statement lines (stores × sales per store) — highest explanatory value.  ·  2. INDIVIDUAL LINES directly — efficient where drivers are unclear or the line is immaterial.  ·  3. SUMMARY MEASURES (FCF, EPS, total assets) — efficient but opaque.  ·  4. AD HOC objects (litigation, regulatory action, disaster) — not yet on any statement.</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Rule: forecast only what is disclosed regularly — otherwise you can never check whether you were wrong.</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Top-down revenue forecasts pivot on market size and share; bottom-up forecasts build from volumes and prices — cross-checking both uncovers hidden assumptions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7, §3 "Forecasting Revenues", Exhibit 2 (Warehouse Club Inc.), pp. 296–298.</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Run both on the same company. Where they disagree, the gap is an assumption you have not made explicit yet — usually market share.</a:t>
            </a:r>
            <a:endParaRPr lang="en-US" sz="1300" dirty="0"/>
          </a:p>
        </p:txBody>
      </p:sp>
      <p:sp>
        <p:nvSpPr>
          <p:cNvPr id="9" name="Shape 7"/>
          <p:cNvSpPr/>
          <p:nvPr/>
        </p:nvSpPr>
        <p:spPr>
          <a:xfrm>
            <a:off x="320040" y="1188720"/>
            <a:ext cx="4160520" cy="3154680"/>
          </a:xfrm>
          <a:prstGeom prst="rect">
            <a:avLst/>
          </a:prstGeom>
          <a:solidFill>
            <a:srgbClr val="F5F7FA"/>
          </a:solidFill>
          <a:ln/>
        </p:spPr>
      </p:sp>
      <p:sp>
        <p:nvSpPr>
          <p:cNvPr id="10" name="Shape 8"/>
          <p:cNvSpPr/>
          <p:nvPr/>
        </p:nvSpPr>
        <p:spPr>
          <a:xfrm>
            <a:off x="320040" y="1188720"/>
            <a:ext cx="73152" cy="3154680"/>
          </a:xfrm>
          <a:prstGeom prst="rect">
            <a:avLst/>
          </a:prstGeom>
          <a:solidFill>
            <a:srgbClr val="1B2A4A"/>
          </a:solidFill>
          <a:ln/>
        </p:spPr>
      </p:sp>
      <p:sp>
        <p:nvSpPr>
          <p:cNvPr id="11" name="Text 9"/>
          <p:cNvSpPr txBox="1"/>
          <p:nvPr/>
        </p:nvSpPr>
        <p:spPr>
          <a:xfrm>
            <a:off x="457200" y="1280160"/>
            <a:ext cx="38862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TOP-DOWN (MARKET × SHARE)</a:t>
            </a:r>
            <a:endParaRPr lang="en-US" sz="1100" dirty="0"/>
          </a:p>
        </p:txBody>
      </p:sp>
      <p:sp>
        <p:nvSpPr>
          <p:cNvPr id="12" name="Text 10"/>
          <p:cNvSpPr txBox="1"/>
          <p:nvPr/>
        </p:nvSpPr>
        <p:spPr>
          <a:xfrm>
            <a:off x="502920" y="1600200"/>
            <a:ext cx="3840480" cy="265176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Step 1 — forecast market size</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 nominal GDP, then a premium or discount to it</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 or market growth directly, adjusted for life cycle</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Step 2 — forecast company share</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 stable, gaining, losing — and by how much</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Step 3 — multiply</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 Revenue = Market size × Share</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CFA example (Warehouse Club Inc.):</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US retail ex autos grew 3.4% p.a. over 10 years</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Share was 70 bps in 2X19, rising ~2 bps a year</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Forecast = market × 1.034 × (share + 2 bps)</a:t>
            </a:r>
            <a:endParaRPr lang="en-US" sz="1100" dirty="0"/>
          </a:p>
        </p:txBody>
      </p:sp>
      <p:sp>
        <p:nvSpPr>
          <p:cNvPr id="13" name="Shape 11"/>
          <p:cNvSpPr/>
          <p:nvPr/>
        </p:nvSpPr>
        <p:spPr>
          <a:xfrm>
            <a:off x="4663440" y="1188720"/>
            <a:ext cx="4160520" cy="3154680"/>
          </a:xfrm>
          <a:prstGeom prst="rect">
            <a:avLst/>
          </a:prstGeom>
          <a:solidFill>
            <a:srgbClr val="FEF0E7"/>
          </a:solidFill>
          <a:ln/>
        </p:spPr>
      </p:sp>
      <p:sp>
        <p:nvSpPr>
          <p:cNvPr id="14" name="Shape 12"/>
          <p:cNvSpPr/>
          <p:nvPr/>
        </p:nvSpPr>
        <p:spPr>
          <a:xfrm>
            <a:off x="4663440" y="1188720"/>
            <a:ext cx="73152" cy="3154680"/>
          </a:xfrm>
          <a:prstGeom prst="rect">
            <a:avLst/>
          </a:prstGeom>
          <a:solidFill>
            <a:srgbClr val="E8600A"/>
          </a:solidFill>
          <a:ln/>
        </p:spPr>
      </p:sp>
      <p:sp>
        <p:nvSpPr>
          <p:cNvPr id="15" name="Text 13"/>
          <p:cNvSpPr txBox="1"/>
          <p:nvPr/>
        </p:nvSpPr>
        <p:spPr>
          <a:xfrm>
            <a:off x="4800600" y="1280160"/>
            <a:ext cx="38862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BOTTOM-UP (VOLUME × PRICE)</a:t>
            </a:r>
            <a:endParaRPr lang="en-US" sz="1100" dirty="0"/>
          </a:p>
        </p:txBody>
      </p:sp>
      <p:sp>
        <p:nvSpPr>
          <p:cNvPr id="16" name="Text 14"/>
          <p:cNvSpPr txBox="1"/>
          <p:nvPr/>
        </p:nvSpPr>
        <p:spPr>
          <a:xfrm>
            <a:off x="4846320" y="1600200"/>
            <a:ext cx="3840480" cy="265176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Step 1 — forecast capacity / units</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 stores opened, subscribers added, planes in fleet</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Step 2 — forecast unit economics</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 sales per store, ARPU, yield per seat-mile</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Step 3 — multiply &amp; aggregate</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 Revenue = Σ (units × unit price) by segment</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CFA example (Warehouse Club Inc.):</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4–6 new stores opened per year</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Net sales PER STORE grew 3.8% p.a.</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~450,000 members added per year × annual fee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 three-scenario forecast — bear, base, bull — disciplines the analyst into quantifying the risks already identified in Porter and PESTLE</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7, §6 "Scenario Analysis", pp. 318–319. Figures here are an illustrative build, not a CFA example.</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Every scenario needs a story, not just a number — bear = recession plus accelerating e-commerce share loss; bull = store traffic recovers and pricing sticks.</a:t>
            </a:r>
            <a:endParaRPr lang="en-US" sz="1300" dirty="0"/>
          </a:p>
        </p:txBody>
      </p:sp>
      <p:sp>
        <p:nvSpPr>
          <p:cNvPr id="9" name="Shape 7"/>
          <p:cNvSpPr/>
          <p:nvPr/>
        </p:nvSpPr>
        <p:spPr>
          <a:xfrm>
            <a:off x="320040" y="1097280"/>
            <a:ext cx="8503920" cy="1874520"/>
          </a:xfrm>
          <a:prstGeom prst="rect">
            <a:avLst/>
          </a:prstGeom>
          <a:solidFill>
            <a:srgbClr val="FEF0E7"/>
          </a:solidFill>
          <a:ln w="9525">
            <a:solidFill>
              <a:srgbClr val="E8600A"/>
            </a:solidFill>
            <a:prstDash val="solid"/>
          </a:ln>
        </p:spPr>
      </p:sp>
      <p:sp>
        <p:nvSpPr>
          <p:cNvPr id="10" name="Text 8"/>
          <p:cNvSpPr txBox="1"/>
          <p:nvPr/>
        </p:nvSpPr>
        <p:spPr>
          <a:xfrm>
            <a:off x="457200" y="114300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BASE CASE — ILLUSTRATIVE US CONSUMER-STAPLES RETAILER (FY+1)</a:t>
            </a:r>
            <a:endParaRPr lang="en-US" sz="1100" dirty="0"/>
          </a:p>
        </p:txBody>
      </p:sp>
      <p:sp>
        <p:nvSpPr>
          <p:cNvPr id="11" name="Text 9"/>
          <p:cNvSpPr txBox="1"/>
          <p:nvPr/>
        </p:nvSpPr>
        <p:spPr>
          <a:xfrm>
            <a:off x="457200" y="143560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Prior-year revenue USD 11,500 m. Real GDP +2.0% and inflation +2.5% → nominal GDP +4.5%; industry tracks it. Bottom-up: same-store sales +3.5% and five new stores at USD 50 m each. Five stores open in every scenario.</a:t>
            </a:r>
            <a:endParaRPr lang="en-US" sz="1200" dirty="0"/>
          </a:p>
        </p:txBody>
      </p:sp>
      <p:sp>
        <p:nvSpPr>
          <p:cNvPr id="12" name="Text 10"/>
          <p:cNvSpPr txBox="1"/>
          <p:nvPr/>
        </p:nvSpPr>
        <p:spPr>
          <a:xfrm>
            <a:off x="457200" y="1947672"/>
            <a:ext cx="8229600" cy="512064"/>
          </a:xfrm>
          <a:prstGeom prst="rect">
            <a:avLst/>
          </a:prstGeom>
          <a:noFill/>
          <a:ln/>
        </p:spPr>
        <p:txBody>
          <a:bodyPr wrap="square" lIns="254" tIns="254" rIns="254" bIns="254" rtlCol="0" anchor="t">
            <a:normAutofit/>
            <a:spAutoFit/>
          </a:bodyPr>
          <a:lstStyle/>
          <a:p>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Top-down:  11,500 × 1.045  =  12,018 m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Bottom-up:  11,500 × 1.035 = 11,903, + (5 × 50) = 250  →  12,153 m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Gap = 135 m ≈ 1.1% of sales — that gap IS an implied share gain. Split it: (12,018 + 12,153) / 2</a:t>
            </a:r>
            <a:endParaRPr lang="en-US" sz="1100" dirty="0"/>
          </a:p>
        </p:txBody>
      </p:sp>
      <p:sp>
        <p:nvSpPr>
          <p:cNvPr id="13" name="Shape 11"/>
          <p:cNvSpPr/>
          <p:nvPr/>
        </p:nvSpPr>
        <p:spPr>
          <a:xfrm>
            <a:off x="411480" y="2532888"/>
            <a:ext cx="8321040" cy="365760"/>
          </a:xfrm>
          <a:prstGeom prst="rect">
            <a:avLst/>
          </a:prstGeom>
          <a:solidFill>
            <a:srgbClr val="E8600A"/>
          </a:solidFill>
          <a:ln/>
        </p:spPr>
      </p:sp>
      <p:sp>
        <p:nvSpPr>
          <p:cNvPr id="14" name="Text 12"/>
          <p:cNvSpPr txBox="1"/>
          <p:nvPr/>
        </p:nvSpPr>
        <p:spPr>
          <a:xfrm>
            <a:off x="457200" y="253288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BASE-CASE FY+1 REVENUE  =  USD 12,085 m   (+5.1% YoY)</a:t>
            </a:r>
            <a:endParaRPr lang="en-US" sz="11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20040" y="3063240"/>
          <a:ext cx="8503920" cy="914400"/>
        </p:xfrm>
        <a:graphic>
          <a:graphicData uri="http://schemas.openxmlformats.org/drawingml/2006/table">
            <a:tbl>
              <a:tblPr/>
              <a:tblGrid>
                <a:gridCol w="1188720"/>
                <a:gridCol w="2834640"/>
                <a:gridCol w="960120"/>
                <a:gridCol w="777240"/>
                <a:gridCol w="914400"/>
                <a:gridCol w="960120"/>
                <a:gridCol w="8686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Scenario</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Story</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Nom. GDP</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SSS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Top-down</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Bottom-up</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FY+1 rev</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Bear (20%)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Recession; e-commerce takes share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11,615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11,405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11,510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Base (60%)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Trend holds; share edges up</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+4.5%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12,018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12,153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12,085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Bull (20%)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Traffic recovers; pricing sticks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+6.0%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+6.0%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12,190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12,440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12,315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b="1" dirty="0">
                          <a:solidFill>
                            <a:srgbClr val="1B2A4A"/>
                          </a:solidFill>
                          <a:latin typeface="Consolas" pitchFamily="34" charset="0"/>
                          <a:ea typeface="Consolas" pitchFamily="34" charset="-122"/>
                          <a:cs typeface="Consolas" pitchFamily="34" charset="-120"/>
                        </a:rPr>
                        <a:t>Weighted</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Probability-weighted expectation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12,016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Scenario analysis of a disruptive threat — the iPad cannibalizing PC demand — sizes potential Microsoft revenue losses with explicit assumptions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7, Example 4, Exhibits 13 &amp; 17 and the Knowledge Check, pp. 319–325.</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Set at the start of 2012, just over a year after the iPad launched. The question: what share of PC sales do tablets replace, and what does that cost Microsoft?</a:t>
            </a:r>
            <a:endParaRPr lang="en-US" sz="13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320040" y="1188720"/>
          <a:ext cx="8503920" cy="914400"/>
        </p:xfrm>
        <a:graphic>
          <a:graphicData uri="http://schemas.openxmlformats.org/drawingml/2006/table">
            <a:tbl>
              <a:tblPr/>
              <a:tblGrid>
                <a:gridCol w="3108960"/>
                <a:gridCol w="1078992"/>
                <a:gridCol w="1078992"/>
                <a:gridCol w="1078992"/>
                <a:gridCol w="1078992"/>
                <a:gridCol w="1078992"/>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Row (thousands of units unless noted)</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FY11</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FY12E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FY13E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FY14E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3-y CAGR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Pre-cannibalisation PC shipments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350,903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360,000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380,000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400,000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+4.5%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Tablet shipments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38,471</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90,000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125,000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175,000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+65.7%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Cannib. factor, consumer / non-consumer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30% / 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30% / 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30% / 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30% / 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PCs cannibalised by tablets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11,205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25,560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34,750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47,250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MSFT revenue lost (USD m, ASP 85 / 155)</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964</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2,223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3,050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4,200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+63%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
        <p:nvSpPr>
          <p:cNvPr id="10" name="Shape 7"/>
          <p:cNvSpPr/>
          <p:nvPr/>
        </p:nvSpPr>
        <p:spPr>
          <a:xfrm>
            <a:off x="320040" y="3337560"/>
            <a:ext cx="8503920" cy="960120"/>
          </a:xfrm>
          <a:prstGeom prst="rect">
            <a:avLst/>
          </a:prstGeom>
          <a:solidFill>
            <a:srgbClr val="FEF0E7"/>
          </a:solidFill>
          <a:ln/>
        </p:spPr>
      </p:sp>
      <p:sp>
        <p:nvSpPr>
          <p:cNvPr id="11" name="Shape 8"/>
          <p:cNvSpPr/>
          <p:nvPr/>
        </p:nvSpPr>
        <p:spPr>
          <a:xfrm>
            <a:off x="320040" y="3337560"/>
            <a:ext cx="73152" cy="960120"/>
          </a:xfrm>
          <a:prstGeom prst="rect">
            <a:avLst/>
          </a:prstGeom>
          <a:solidFill>
            <a:srgbClr val="E8600A"/>
          </a:solidFill>
          <a:ln/>
        </p:spPr>
      </p:sp>
      <p:sp>
        <p:nvSpPr>
          <p:cNvPr id="12" name="Text 9"/>
          <p:cNvSpPr txBox="1"/>
          <p:nvPr/>
        </p:nvSpPr>
        <p:spPr>
          <a:xfrm>
            <a:off x="457200" y="3383280"/>
            <a:ext cx="82753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WHAT THE SCENARIO ACTUALLY BUYS YOU</a:t>
            </a:r>
            <a:endParaRPr lang="en-US" sz="1100" dirty="0"/>
          </a:p>
        </p:txBody>
      </p:sp>
      <p:sp>
        <p:nvSpPr>
          <p:cNvPr id="13" name="Text 10"/>
          <p:cNvSpPr txBox="1"/>
          <p:nvPr/>
        </p:nvSpPr>
        <p:spPr>
          <a:xfrm>
            <a:off x="457200" y="3657600"/>
            <a:ext cx="8275320" cy="5943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Base case (30% / 10%): Microsoft loses ~USD 2.2 bn of revenue in FY12, rising to USD 4.2 bn by FY14 — and with ~70% of its cost base fixed, that FY14 hit becomes USD 2.6 bn of operating income, 96 bps of margin and USD 0.25 of EPS. Move the factors to 40% / 15% and FY12 goes from 2.2 to 3.0 bn. The call turns on which is priced in.</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B2A4A"/>
          </a:solidFill>
          <a:ln/>
        </p:spPr>
      </p:sp>
      <p:sp>
        <p:nvSpPr>
          <p:cNvPr id="3" name="Shape 1"/>
          <p:cNvSpPr/>
          <p:nvPr/>
        </p:nvSpPr>
        <p:spPr>
          <a:xfrm>
            <a:off x="0" y="0"/>
            <a:ext cx="201168" cy="5143500"/>
          </a:xfrm>
          <a:prstGeom prst="rect">
            <a:avLst/>
          </a:prstGeom>
          <a:solidFill>
            <a:srgbClr val="E8600A"/>
          </a:solidFill>
          <a:ln/>
        </p:spPr>
      </p:sp>
      <p:sp>
        <p:nvSpPr>
          <p:cNvPr id="4" name="Text 2"/>
          <p:cNvSpPr txBox="1"/>
          <p:nvPr/>
        </p:nvSpPr>
        <p:spPr>
          <a:xfrm>
            <a:off x="914400" y="1371600"/>
            <a:ext cx="7315200" cy="411480"/>
          </a:xfrm>
          <a:prstGeom prst="rect">
            <a:avLst/>
          </a:prstGeom>
          <a:noFill/>
          <a:ln/>
        </p:spPr>
        <p:txBody>
          <a:bodyPr wrap="square" lIns="508" tIns="508" rIns="508" bIns="508" rtlCol="0" anchor="ctr">
            <a:normAutofit/>
            <a:spAutoFit/>
          </a:bodyPr>
          <a:lstStyle/>
          <a:p>
            <a:pPr algn="l" indent="0" marL="0">
              <a:buNone/>
            </a:pPr>
            <a:r>
              <a:rPr lang="en-US" sz="1200" b="1" spc="600" kern="0" dirty="0">
                <a:solidFill>
                  <a:srgbClr val="FFFFFF"/>
                </a:solidFill>
                <a:latin typeface="Trebuchet MS" pitchFamily="34" charset="0"/>
                <a:ea typeface="Trebuchet MS" pitchFamily="34" charset="-122"/>
                <a:cs typeface="Trebuchet MS" pitchFamily="34" charset="-120"/>
              </a:rPr>
              <a:t>SECTION 04</a:t>
            </a:r>
            <a:endParaRPr lang="en-US" sz="1200" dirty="0"/>
          </a:p>
        </p:txBody>
      </p:sp>
      <p:sp>
        <p:nvSpPr>
          <p:cNvPr id="5" name="Shape 3"/>
          <p:cNvSpPr/>
          <p:nvPr/>
        </p:nvSpPr>
        <p:spPr>
          <a:xfrm>
            <a:off x="914400" y="1920240"/>
            <a:ext cx="2743200" cy="45720"/>
          </a:xfrm>
          <a:prstGeom prst="rect">
            <a:avLst/>
          </a:prstGeom>
          <a:solidFill>
            <a:srgbClr val="FFFFFF"/>
          </a:solidFill>
          <a:ln/>
        </p:spPr>
      </p:sp>
      <p:sp>
        <p:nvSpPr>
          <p:cNvPr id="6" name="Text 4"/>
          <p:cNvSpPr txBox="1"/>
          <p:nvPr/>
        </p:nvSpPr>
        <p:spPr>
          <a:xfrm>
            <a:off x="914400" y="2057400"/>
            <a:ext cx="7315200" cy="1645920"/>
          </a:xfrm>
          <a:prstGeom prst="rect">
            <a:avLst/>
          </a:prstGeom>
          <a:noFill/>
          <a:ln/>
        </p:spPr>
        <p:txBody>
          <a:bodyPr wrap="square" lIns="508" tIns="508" rIns="508" bIns="508" rtlCol="0" anchor="t">
            <a:normAutofit/>
            <a:spAutoFit/>
          </a:bodyPr>
          <a:lstStyle/>
          <a:p>
            <a:pPr algn="l" indent="0" marL="0">
              <a:buNone/>
            </a:pPr>
            <a:r>
              <a:rPr lang="en-US" sz="3200" b="1" dirty="0">
                <a:solidFill>
                  <a:srgbClr val="FFFFFF"/>
                </a:solidFill>
                <a:latin typeface="Trebuchet MS" pitchFamily="34" charset="0"/>
                <a:ea typeface="Trebuchet MS" pitchFamily="34" charset="-122"/>
                <a:cs typeface="Trebuchet MS" pitchFamily="34" charset="-120"/>
              </a:rPr>
              <a:t>Valuation</a:t>
            </a:r>
            <a:endParaRPr lang="en-US" sz="3200" dirty="0"/>
          </a:p>
          <a:p>
            <a:pPr algn="l" indent="0" marL="0">
              <a:buNone/>
            </a:pPr>
            <a:r>
              <a:rPr lang="en-US" sz="3200" b="1" dirty="0">
                <a:solidFill>
                  <a:srgbClr val="FFFFFF"/>
                </a:solidFill>
                <a:latin typeface="Trebuchet MS" pitchFamily="34" charset="0"/>
                <a:ea typeface="Trebuchet MS" pitchFamily="34" charset="-122"/>
                <a:cs typeface="Trebuchet MS" pitchFamily="34" charset="-120"/>
              </a:rPr>
              <a:t>toolkit</a:t>
            </a:r>
            <a:endParaRPr lang="en-US" sz="3200" dirty="0"/>
          </a:p>
        </p:txBody>
      </p:sp>
      <p:sp>
        <p:nvSpPr>
          <p:cNvPr id="7" name="Text 5"/>
          <p:cNvSpPr txBox="1"/>
          <p:nvPr/>
        </p:nvSpPr>
        <p:spPr>
          <a:xfrm>
            <a:off x="914400" y="4640580"/>
            <a:ext cx="7315200" cy="274320"/>
          </a:xfrm>
          <a:prstGeom prst="rect">
            <a:avLst/>
          </a:prstGeom>
          <a:noFill/>
          <a:ln/>
        </p:spPr>
        <p:txBody>
          <a:bodyPr wrap="square" lIns="508" tIns="508" rIns="508" bIns="508" rtlCol="0" anchor="ctr">
            <a:normAutofit/>
            <a:spAutoFit/>
          </a:bodyPr>
          <a:lstStyle/>
          <a:p>
            <a:pPr algn="l" indent="0" marL="0">
              <a:buNone/>
            </a:pPr>
            <a:r>
              <a:rPr lang="en-US" sz="750" i="1" dirty="0">
                <a:solidFill>
                  <a:srgbClr val="E8ECF0"/>
                </a:solidFill>
                <a:latin typeface="Calibri" pitchFamily="34" charset="0"/>
                <a:ea typeface="Calibri" pitchFamily="34" charset="-122"/>
                <a:cs typeface="Calibri" pitchFamily="34" charset="-120"/>
              </a:rPr>
              <a:t>Section 4 of 4  ·  Deck 12 of 20  ·  Studio Tonton Gug</a:t>
            </a:r>
            <a:endParaRPr lang="en-US" sz="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Three families of valuation models — present-value, multiplier, and asset-based — together triangulate an intrinsic-value estimate</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8, §3 "Categories of Valuation Models", pp. 338–340.</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Price &lt; value → undervalued; price &gt; value → overvalued; price ≈ value → fairly valued — always interpreted with an analyst confidence band.</a:t>
            </a:r>
            <a:endParaRPr lang="en-US" sz="1300" dirty="0"/>
          </a:p>
        </p:txBody>
      </p:sp>
      <p:sp>
        <p:nvSpPr>
          <p:cNvPr id="9" name="Shape 7"/>
          <p:cNvSpPr/>
          <p:nvPr/>
        </p:nvSpPr>
        <p:spPr>
          <a:xfrm>
            <a:off x="320040" y="1143000"/>
            <a:ext cx="2743200" cy="3154680"/>
          </a:xfrm>
          <a:prstGeom prst="rect">
            <a:avLst/>
          </a:prstGeom>
          <a:solidFill>
            <a:srgbClr val="FEF0E7"/>
          </a:solidFill>
          <a:ln/>
        </p:spPr>
      </p:sp>
      <p:sp>
        <p:nvSpPr>
          <p:cNvPr id="10" name="Shape 8"/>
          <p:cNvSpPr/>
          <p:nvPr/>
        </p:nvSpPr>
        <p:spPr>
          <a:xfrm>
            <a:off x="320040" y="1143000"/>
            <a:ext cx="73152" cy="3154680"/>
          </a:xfrm>
          <a:prstGeom prst="rect">
            <a:avLst/>
          </a:prstGeom>
          <a:solidFill>
            <a:srgbClr val="E8600A"/>
          </a:solidFill>
          <a:ln/>
        </p:spPr>
      </p:sp>
      <p:sp>
        <p:nvSpPr>
          <p:cNvPr id="11" name="Text 9"/>
          <p:cNvSpPr txBox="1"/>
          <p:nvPr/>
        </p:nvSpPr>
        <p:spPr>
          <a:xfrm>
            <a:off x="457200" y="1234440"/>
            <a:ext cx="246888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PRESENT VALUE (DCF)</a:t>
            </a:r>
            <a:endParaRPr lang="en-US" sz="1100" dirty="0"/>
          </a:p>
        </p:txBody>
      </p:sp>
      <p:sp>
        <p:nvSpPr>
          <p:cNvPr id="12" name="Text 10"/>
          <p:cNvSpPr txBox="1"/>
          <p:nvPr/>
        </p:nvSpPr>
        <p:spPr>
          <a:xfrm>
            <a:off x="502920" y="1554480"/>
            <a:ext cx="2423160" cy="265176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Intrinsic value = PV of future cash flows to equity.</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Models:</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Gordon growth DDM</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Multi-stage DDM</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 FCFE model</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Best for:</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Mature, dividend-paying, predictable firms with forecastable cash flows.</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Weakness:</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Sensitive to r and g; terminal value often dominates.</a:t>
            </a:r>
            <a:endParaRPr lang="en-US" sz="1100" dirty="0"/>
          </a:p>
        </p:txBody>
      </p:sp>
      <p:sp>
        <p:nvSpPr>
          <p:cNvPr id="13" name="Shape 11"/>
          <p:cNvSpPr/>
          <p:nvPr/>
        </p:nvSpPr>
        <p:spPr>
          <a:xfrm>
            <a:off x="3200400" y="1143000"/>
            <a:ext cx="2743200" cy="3154680"/>
          </a:xfrm>
          <a:prstGeom prst="rect">
            <a:avLst/>
          </a:prstGeom>
          <a:solidFill>
            <a:srgbClr val="F5F7FA"/>
          </a:solidFill>
          <a:ln/>
        </p:spPr>
      </p:sp>
      <p:sp>
        <p:nvSpPr>
          <p:cNvPr id="14" name="Shape 12"/>
          <p:cNvSpPr/>
          <p:nvPr/>
        </p:nvSpPr>
        <p:spPr>
          <a:xfrm>
            <a:off x="3200400" y="1143000"/>
            <a:ext cx="73152" cy="3154680"/>
          </a:xfrm>
          <a:prstGeom prst="rect">
            <a:avLst/>
          </a:prstGeom>
          <a:solidFill>
            <a:srgbClr val="1B2A4A"/>
          </a:solidFill>
          <a:ln/>
        </p:spPr>
      </p:sp>
      <p:sp>
        <p:nvSpPr>
          <p:cNvPr id="15" name="Text 13"/>
          <p:cNvSpPr txBox="1"/>
          <p:nvPr/>
        </p:nvSpPr>
        <p:spPr>
          <a:xfrm>
            <a:off x="3337560" y="1234440"/>
            <a:ext cx="246888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MULTIPLES</a:t>
            </a:r>
            <a:endParaRPr lang="en-US" sz="1100" dirty="0"/>
          </a:p>
        </p:txBody>
      </p:sp>
      <p:sp>
        <p:nvSpPr>
          <p:cNvPr id="16" name="Text 14"/>
          <p:cNvSpPr txBox="1"/>
          <p:nvPr/>
        </p:nvSpPr>
        <p:spPr>
          <a:xfrm>
            <a:off x="3383280" y="1554480"/>
            <a:ext cx="2423160" cy="265176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Intrinsic value inferred from comparable companies.</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Equity level: P/E, P/B, P/S, P/CF</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Enterprise level: EV/EBITDA, EV/Sales, EV/Operating income</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Trailing or forward — either is fine, provided it is the SAME basis across every company compared.</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Weakness:</a:t>
            </a: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Assumes peers are correctly priced; accounting noise; cyclicality distorts the denominator.</a:t>
            </a:r>
            <a:endParaRPr lang="en-US" sz="1100" dirty="0"/>
          </a:p>
        </p:txBody>
      </p:sp>
      <p:sp>
        <p:nvSpPr>
          <p:cNvPr id="17" name="Shape 15"/>
          <p:cNvSpPr/>
          <p:nvPr/>
        </p:nvSpPr>
        <p:spPr>
          <a:xfrm>
            <a:off x="6080760" y="1143000"/>
            <a:ext cx="2743200" cy="3154680"/>
          </a:xfrm>
          <a:prstGeom prst="rect">
            <a:avLst/>
          </a:prstGeom>
          <a:solidFill>
            <a:srgbClr val="253A5E"/>
          </a:solidFill>
          <a:ln/>
        </p:spPr>
      </p:sp>
      <p:sp>
        <p:nvSpPr>
          <p:cNvPr id="18" name="Shape 16"/>
          <p:cNvSpPr/>
          <p:nvPr/>
        </p:nvSpPr>
        <p:spPr>
          <a:xfrm>
            <a:off x="6080760" y="1143000"/>
            <a:ext cx="73152" cy="3154680"/>
          </a:xfrm>
          <a:prstGeom prst="rect">
            <a:avLst/>
          </a:prstGeom>
          <a:solidFill>
            <a:srgbClr val="E8600A"/>
          </a:solidFill>
          <a:ln/>
        </p:spPr>
      </p:sp>
      <p:sp>
        <p:nvSpPr>
          <p:cNvPr id="19" name="Text 17"/>
          <p:cNvSpPr txBox="1"/>
          <p:nvPr/>
        </p:nvSpPr>
        <p:spPr>
          <a:xfrm>
            <a:off x="6217920" y="1234440"/>
            <a:ext cx="246888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ASSET-BASED</a:t>
            </a:r>
            <a:endParaRPr lang="en-US" sz="1100" dirty="0"/>
          </a:p>
        </p:txBody>
      </p:sp>
      <p:sp>
        <p:nvSpPr>
          <p:cNvPr id="20" name="Text 18"/>
          <p:cNvSpPr txBox="1"/>
          <p:nvPr/>
        </p:nvSpPr>
        <p:spPr>
          <a:xfrm>
            <a:off x="6263640" y="1554480"/>
            <a:ext cx="2423160" cy="2651760"/>
          </a:xfrm>
          <a:prstGeom prst="rect">
            <a:avLst/>
          </a:prstGeom>
          <a:noFill/>
          <a:ln/>
        </p:spPr>
        <p:txBody>
          <a:bodyPr wrap="square" lIns="508" tIns="508" rIns="508" bIns="508" rtlCol="0" anchor="t">
            <a:normAutofit/>
            <a:spAutoFit/>
          </a:bodyPr>
          <a:lstStyle/>
          <a:p>
            <a:pPr algn="l" indent="0" marL="0">
              <a:buNone/>
            </a:pPr>
            <a:r>
              <a:rPr lang="en-US" sz="1100" dirty="0">
                <a:solidFill>
                  <a:srgbClr val="FFFFFF"/>
                </a:solidFill>
                <a:latin typeface="Calibri" pitchFamily="34" charset="0"/>
                <a:ea typeface="Calibri" pitchFamily="34" charset="-122"/>
                <a:cs typeface="Calibri" pitchFamily="34" charset="-120"/>
              </a:rPr>
              <a:t>Intrinsic value = Σ assets − Σ liabilities − preferred, at fair values.</a:t>
            </a:r>
            <a:endParaRPr lang="en-US" sz="1100" dirty="0"/>
          </a:p>
          <a:p>
            <a:pPr algn="l" indent="0" marL="0">
              <a:buNone/>
            </a:pP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Best for:</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Financial companies</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Natural-resource companies</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 Former going concerns being liquidated</a:t>
            </a:r>
            <a:endParaRPr lang="en-US" sz="1100" dirty="0"/>
          </a:p>
          <a:p>
            <a:pPr algn="l" indent="0" marL="0">
              <a:buNone/>
            </a:pP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Weakness:</a:t>
            </a:r>
            <a:endParaRPr lang="en-US" sz="1100" dirty="0"/>
          </a:p>
          <a:p>
            <a:pPr algn="l" indent="0" marL="0">
              <a:buNone/>
            </a:pPr>
            <a:r>
              <a:rPr lang="en-US" sz="1100" dirty="0">
                <a:solidFill>
                  <a:srgbClr val="FFFFFF"/>
                </a:solidFill>
                <a:latin typeface="Calibri" pitchFamily="34" charset="0"/>
                <a:ea typeface="Calibri" pitchFamily="34" charset="-122"/>
                <a:cs typeface="Calibri" pitchFamily="34" charset="-120"/>
              </a:rPr>
              <a:t>Ignores intangibles (brands, people, growth) and is hard where PP&amp;E has no observable price. A floor, not a going-concern value.</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The DDM prices a share as the PV of future dividends — FCFE applies the same idea to dividend-paying capacity instead of actual dividends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8, §5 "Dividend Discount Model (DDM) and Free-Cash-Flow-to-Equity Model (FCFE)", Eqs. 1 &amp; 4, pp. 343–345.</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Mature dividend-payer with a stable payout? DDM. Young firm, non-payer, or heavy buybacks? FCFE. Both are equity-level, so both discount at the cost of equity.</a:t>
            </a:r>
            <a:endParaRPr lang="en-US" sz="1300" dirty="0"/>
          </a:p>
        </p:txBody>
      </p:sp>
      <p:sp>
        <p:nvSpPr>
          <p:cNvPr id="9" name="Shape 7"/>
          <p:cNvSpPr/>
          <p:nvPr/>
        </p:nvSpPr>
        <p:spPr>
          <a:xfrm>
            <a:off x="320040" y="1188720"/>
            <a:ext cx="8503920" cy="658368"/>
          </a:xfrm>
          <a:prstGeom prst="rect">
            <a:avLst/>
          </a:prstGeom>
          <a:solidFill>
            <a:srgbClr val="1B2A4A"/>
          </a:solidFill>
          <a:ln/>
        </p:spPr>
      </p:sp>
      <p:sp>
        <p:nvSpPr>
          <p:cNvPr id="10" name="Text 8"/>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V₀ = Σ Dₜ / (1 + r)ᵗ     FCFE = CFO − FCInv + Net borrowing</a:t>
            </a:r>
            <a:endParaRPr lang="en-US" sz="1800" dirty="0"/>
          </a:p>
        </p:txBody>
      </p:sp>
      <p:sp>
        <p:nvSpPr>
          <p:cNvPr id="11" name="Text 9"/>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Dₜ = expected dividend in year t; r = required return on EQUITY; FCInv = capex; Net borrowing = new debt − repayments.</a:t>
            </a:r>
            <a:endParaRPr lang="en-US" sz="1100" dirty="0"/>
          </a:p>
        </p:txBody>
      </p:sp>
      <p:sp>
        <p:nvSpPr>
          <p:cNvPr id="12" name="Shape 10"/>
          <p:cNvSpPr/>
          <p:nvPr/>
        </p:nvSpPr>
        <p:spPr>
          <a:xfrm>
            <a:off x="320040" y="2286000"/>
            <a:ext cx="4160520" cy="2011680"/>
          </a:xfrm>
          <a:prstGeom prst="rect">
            <a:avLst/>
          </a:prstGeom>
          <a:solidFill>
            <a:srgbClr val="FEF0E7"/>
          </a:solidFill>
          <a:ln/>
        </p:spPr>
      </p:sp>
      <p:sp>
        <p:nvSpPr>
          <p:cNvPr id="13" name="Shape 11"/>
          <p:cNvSpPr/>
          <p:nvPr/>
        </p:nvSpPr>
        <p:spPr>
          <a:xfrm>
            <a:off x="320040" y="2286000"/>
            <a:ext cx="73152" cy="2011680"/>
          </a:xfrm>
          <a:prstGeom prst="rect">
            <a:avLst/>
          </a:prstGeom>
          <a:solidFill>
            <a:srgbClr val="E8600A"/>
          </a:solidFill>
          <a:ln/>
        </p:spPr>
      </p:sp>
      <p:sp>
        <p:nvSpPr>
          <p:cNvPr id="14" name="Text 12"/>
          <p:cNvSpPr txBox="1"/>
          <p:nvPr/>
        </p:nvSpPr>
        <p:spPr>
          <a:xfrm>
            <a:off x="457200" y="233172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USE DDM WHEN</a:t>
            </a:r>
            <a:endParaRPr lang="en-US" sz="1100" dirty="0"/>
          </a:p>
        </p:txBody>
      </p:sp>
      <p:sp>
        <p:nvSpPr>
          <p:cNvPr id="15" name="Text 13"/>
          <p:cNvSpPr txBox="1"/>
          <p:nvPr/>
        </p:nvSpPr>
        <p:spPr>
          <a:xfrm>
            <a:off x="457200" y="2606040"/>
            <a:ext cx="3931920" cy="16459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 The firm pays a stable, predictable dividend</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Dividends track earnings at a consistent payout</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Management has signaled dividend policy credibly</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Examples: mature utilities, consumer staples, tobacco</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Pitfalls: very low or zero dividends force assumptions; buybacks distort the "dividend" proxy.</a:t>
            </a:r>
            <a:endParaRPr lang="en-US" sz="1200" dirty="0"/>
          </a:p>
        </p:txBody>
      </p:sp>
      <p:sp>
        <p:nvSpPr>
          <p:cNvPr id="16" name="Shape 14"/>
          <p:cNvSpPr/>
          <p:nvPr/>
        </p:nvSpPr>
        <p:spPr>
          <a:xfrm>
            <a:off x="4663440" y="2286000"/>
            <a:ext cx="4160520" cy="2011680"/>
          </a:xfrm>
          <a:prstGeom prst="rect">
            <a:avLst/>
          </a:prstGeom>
          <a:solidFill>
            <a:srgbClr val="F5F7FA"/>
          </a:solidFill>
          <a:ln/>
        </p:spPr>
      </p:sp>
      <p:sp>
        <p:nvSpPr>
          <p:cNvPr id="17" name="Shape 15"/>
          <p:cNvSpPr/>
          <p:nvPr/>
        </p:nvSpPr>
        <p:spPr>
          <a:xfrm>
            <a:off x="4663440" y="2286000"/>
            <a:ext cx="73152" cy="2011680"/>
          </a:xfrm>
          <a:prstGeom prst="rect">
            <a:avLst/>
          </a:prstGeom>
          <a:solidFill>
            <a:srgbClr val="1B2A4A"/>
          </a:solidFill>
          <a:ln/>
        </p:spPr>
      </p:sp>
      <p:sp>
        <p:nvSpPr>
          <p:cNvPr id="18" name="Text 16"/>
          <p:cNvSpPr txBox="1"/>
          <p:nvPr/>
        </p:nvSpPr>
        <p:spPr>
          <a:xfrm>
            <a:off x="4800600" y="2331720"/>
            <a:ext cx="393192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USE FCFE WHEN</a:t>
            </a:r>
            <a:endParaRPr lang="en-US" sz="1100" dirty="0"/>
          </a:p>
        </p:txBody>
      </p:sp>
      <p:sp>
        <p:nvSpPr>
          <p:cNvPr id="19" name="Text 17"/>
          <p:cNvSpPr txBox="1"/>
          <p:nvPr/>
        </p:nvSpPr>
        <p:spPr>
          <a:xfrm>
            <a:off x="4800600" y="2606040"/>
            <a:ext cx="3931920" cy="164592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 The firm doesn't pay dividends (Amazon; Meta pre-2024)</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Dividends are disconnected from capacity to pay</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Heavy buybacks supplement or replace dividends</a:t>
            </a: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 Leverage changes meaningfully affect equity CF</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FCFE needs CFO, capex, working capital and net borrowing — more inputs, but far less arbitrary than guessing when a dividend starts.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The Gordon growth model prices a stock as a growing perpetuity — elegant, but extremely sensitive to r and g</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The numerator is D₁, the NEXT-year dividend — either D₀(1+g) or a forecast D₁. Putting D₀ on top is the single most common error here.
</a:t>
            </a:r>
            <a:pPr indent="0" marL="0">
              <a:buNone/>
            </a:pPr>
            <a:r>
              <a:rPr lang="en-US" sz="1000" dirty="0">
                <a:solidFill>
                  <a:srgbClr val="6B7A8D"/>
                </a:solidFill>
                <a:latin typeface="Calibri" pitchFamily="34" charset="0"/>
                <a:ea typeface="Calibri" pitchFamily="34" charset="-122"/>
                <a:cs typeface="Calibri" pitchFamily="34" charset="-120"/>
              </a:rPr>
              <a:t>² Sanity check g with b × ROE: Siemens' 5-year average retention × ROE gives ≈ 0.49 × 17.3% ≈ 8.5%, well above the 5.4% dividend-growth estimate.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8, §7 "The Gordon Growth Model", Example 7 and Exhibit 4, pp. 350–352.</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Deck 01 did this on Shipline: D₀ = 1.50, r = 15%, g = 6% → GBP 17.67. Same formula, different inputs — here CFA uses Siemens, D₀ = 3.70, r = 7.5%, g = 5.4%.</a:t>
            </a:r>
            <a:endParaRPr lang="en-US" sz="1300" dirty="0"/>
          </a:p>
        </p:txBody>
      </p:sp>
      <p:sp>
        <p:nvSpPr>
          <p:cNvPr id="10" name="Shape 8"/>
          <p:cNvSpPr/>
          <p:nvPr/>
        </p:nvSpPr>
        <p:spPr>
          <a:xfrm>
            <a:off x="320040" y="1188720"/>
            <a:ext cx="8503920" cy="658368"/>
          </a:xfrm>
          <a:prstGeom prst="rect">
            <a:avLst/>
          </a:prstGeom>
          <a:solidFill>
            <a:srgbClr val="1B2A4A"/>
          </a:solidFill>
          <a:ln/>
        </p:spPr>
      </p:sp>
      <p:sp>
        <p:nvSpPr>
          <p:cNvPr id="11" name="Text 9"/>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V₀  =  D₀ × (1 + g) / (r − g)  =  D₁ / (r − g)</a:t>
            </a:r>
            <a:endParaRPr lang="en-US" sz="1800" dirty="0"/>
          </a:p>
        </p:txBody>
      </p:sp>
      <p:sp>
        <p:nvSpPr>
          <p:cNvPr id="12" name="Text 10"/>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Assumes r &gt; g (else infinite); constant g forever; constant r forever; dividends are the right cash-flow measure.</a:t>
            </a:r>
            <a:endParaRPr lang="en-US" sz="1100" dirty="0"/>
          </a:p>
        </p:txBody>
      </p:sp>
      <p:sp>
        <p:nvSpPr>
          <p:cNvPr id="13" name="Shape 11"/>
          <p:cNvSpPr/>
          <p:nvPr/>
        </p:nvSpPr>
        <p:spPr>
          <a:xfrm>
            <a:off x="320040" y="2194560"/>
            <a:ext cx="4937760" cy="1965960"/>
          </a:xfrm>
          <a:prstGeom prst="rect">
            <a:avLst/>
          </a:prstGeom>
          <a:solidFill>
            <a:srgbClr val="FEF0E7"/>
          </a:solidFill>
          <a:ln w="9525">
            <a:solidFill>
              <a:srgbClr val="E8600A"/>
            </a:solidFill>
            <a:prstDash val="solid"/>
          </a:ln>
        </p:spPr>
      </p:sp>
      <p:sp>
        <p:nvSpPr>
          <p:cNvPr id="14" name="Text 12"/>
          <p:cNvSpPr txBox="1"/>
          <p:nvPr/>
        </p:nvSpPr>
        <p:spPr>
          <a:xfrm>
            <a:off x="457200" y="2240280"/>
            <a:ext cx="466344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LM 8 EXAMPLE 7 — SIEMENS AG (FY2017)</a:t>
            </a:r>
            <a:endParaRPr lang="en-US" sz="1100" dirty="0"/>
          </a:p>
        </p:txBody>
      </p:sp>
      <p:sp>
        <p:nvSpPr>
          <p:cNvPr id="15" name="Text 13"/>
          <p:cNvSpPr txBox="1"/>
          <p:nvPr/>
        </p:nvSpPr>
        <p:spPr>
          <a:xfrm>
            <a:off x="457200" y="2532888"/>
            <a:ext cx="466344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Most recent dividend D₀ = €3.70. Dividends grew 5.4% p.a. over 2013–2017 [3.00(1+g)⁴ = 3.70]. Required return estimated at 7.5%.</a:t>
            </a:r>
            <a:endParaRPr lang="en-US" sz="1200" dirty="0"/>
          </a:p>
        </p:txBody>
      </p:sp>
      <p:sp>
        <p:nvSpPr>
          <p:cNvPr id="16" name="Text 14"/>
          <p:cNvSpPr txBox="1"/>
          <p:nvPr/>
        </p:nvSpPr>
        <p:spPr>
          <a:xfrm>
            <a:off x="457200" y="3044952"/>
            <a:ext cx="4663440" cy="603504"/>
          </a:xfrm>
          <a:prstGeom prst="rect">
            <a:avLst/>
          </a:prstGeom>
          <a:noFill/>
          <a:ln/>
        </p:spPr>
        <p:txBody>
          <a:bodyPr wrap="square" lIns="254" tIns="254" rIns="254" bIns="254" rtlCol="0" anchor="t">
            <a:normAutofit/>
            <a:spAutoFit/>
          </a:bodyPr>
          <a:lstStyle/>
          <a:p>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D₁ = 3.70 × 1.054 = 3.90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r − g = 7.5% − 5.4% = 2.1%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V₀ = 3.90 / 0.021</a:t>
            </a:r>
            <a:endParaRPr lang="en-US" sz="1100" dirty="0"/>
          </a:p>
        </p:txBody>
      </p:sp>
      <p:sp>
        <p:nvSpPr>
          <p:cNvPr id="17" name="Shape 15"/>
          <p:cNvSpPr/>
          <p:nvPr/>
        </p:nvSpPr>
        <p:spPr>
          <a:xfrm>
            <a:off x="411480" y="3721608"/>
            <a:ext cx="4754880" cy="365760"/>
          </a:xfrm>
          <a:prstGeom prst="rect">
            <a:avLst/>
          </a:prstGeom>
          <a:solidFill>
            <a:srgbClr val="E8600A"/>
          </a:solidFill>
          <a:ln/>
        </p:spPr>
      </p:sp>
      <p:sp>
        <p:nvSpPr>
          <p:cNvPr id="18" name="Text 16"/>
          <p:cNvSpPr txBox="1"/>
          <p:nvPr/>
        </p:nvSpPr>
        <p:spPr>
          <a:xfrm>
            <a:off x="457200" y="3721608"/>
            <a:ext cx="466344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V₀ = €185.70 vs market €119.20 → appears undervalued</a:t>
            </a:r>
            <a:endParaRPr lang="en-US" sz="11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349240" y="2194560"/>
          <a:ext cx="3474720" cy="914400"/>
        </p:xfrm>
        <a:graphic>
          <a:graphicData uri="http://schemas.openxmlformats.org/drawingml/2006/table">
            <a:tbl>
              <a:tblPr/>
              <a:tblGrid>
                <a:gridCol w="1097280"/>
                <a:gridCol w="795528"/>
                <a:gridCol w="795528"/>
                <a:gridCol w="786384"/>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r ↓ / g →</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3.5%</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4.5%</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5.5%</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155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260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85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110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156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86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112</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59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70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87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The two-stage DDM bolts a Gordon terminal onto an explicit high-growth phase — the workhorse for firms transitioning to maturity</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8, §8 "Multistage Dividend Discount Models", Example 10, pp. 355–357.</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IBM in 2018: dividends had grown 13.5% p.a. over five years, but Value Line forecast 4.5% for 2015–2023. Two-stage DDM is built for exactly that profile.</a:t>
            </a:r>
            <a:endParaRPr lang="en-US" sz="1300" dirty="0"/>
          </a:p>
        </p:txBody>
      </p:sp>
      <p:sp>
        <p:nvSpPr>
          <p:cNvPr id="9" name="Shape 7"/>
          <p:cNvSpPr/>
          <p:nvPr/>
        </p:nvSpPr>
        <p:spPr>
          <a:xfrm>
            <a:off x="320040" y="1143000"/>
            <a:ext cx="8503920" cy="658368"/>
          </a:xfrm>
          <a:prstGeom prst="rect">
            <a:avLst/>
          </a:prstGeom>
          <a:solidFill>
            <a:srgbClr val="1B2A4A"/>
          </a:solidFill>
          <a:ln/>
        </p:spPr>
      </p:sp>
      <p:sp>
        <p:nvSpPr>
          <p:cNvPr id="10" name="Text 8"/>
          <p:cNvSpPr txBox="1"/>
          <p:nvPr/>
        </p:nvSpPr>
        <p:spPr>
          <a:xfrm>
            <a:off x="411480" y="114300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V₀ = Σ D₀(1+g_S)ᵗ/(1+r)ᵗ  +  [D_(n+1)/(r − g_L)]/(1+r)ⁿ</a:t>
            </a:r>
            <a:endParaRPr lang="en-US" sz="1800" dirty="0"/>
          </a:p>
        </p:txBody>
      </p:sp>
      <p:sp>
        <p:nvSpPr>
          <p:cNvPr id="11" name="Text 9"/>
          <p:cNvSpPr txBox="1"/>
          <p:nvPr/>
        </p:nvSpPr>
        <p:spPr>
          <a:xfrm>
            <a:off x="320040" y="182880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g_S = stage-1 growth; g_L = long-run growth. D_{n+1} on top puts the terminal value at end of year n — discount n periods, not n+1.</a:t>
            </a:r>
            <a:endParaRPr lang="en-US" sz="1100" dirty="0"/>
          </a:p>
        </p:txBody>
      </p:sp>
      <p:sp>
        <p:nvSpPr>
          <p:cNvPr id="12" name="Shape 10"/>
          <p:cNvSpPr/>
          <p:nvPr/>
        </p:nvSpPr>
        <p:spPr>
          <a:xfrm>
            <a:off x="320040" y="2240280"/>
            <a:ext cx="8503920" cy="2240280"/>
          </a:xfrm>
          <a:prstGeom prst="rect">
            <a:avLst/>
          </a:prstGeom>
          <a:solidFill>
            <a:srgbClr val="FEF0E7"/>
          </a:solidFill>
          <a:ln w="9525">
            <a:solidFill>
              <a:srgbClr val="E8600A"/>
            </a:solidFill>
            <a:prstDash val="solid"/>
          </a:ln>
        </p:spPr>
      </p:sp>
      <p:sp>
        <p:nvSpPr>
          <p:cNvPr id="13" name="Text 11"/>
          <p:cNvSpPr txBox="1"/>
          <p:nvPr/>
        </p:nvSpPr>
        <p:spPr>
          <a:xfrm>
            <a:off x="457200" y="2286000"/>
            <a:ext cx="822960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LM 8 EXAMPLE 10 — IBM TWO-STAGE DDM (END 2018)</a:t>
            </a:r>
            <a:endParaRPr lang="en-US" sz="1100" dirty="0"/>
          </a:p>
        </p:txBody>
      </p:sp>
      <p:sp>
        <p:nvSpPr>
          <p:cNvPr id="14" name="Text 12"/>
          <p:cNvSpPr txBox="1"/>
          <p:nvPr/>
        </p:nvSpPr>
        <p:spPr>
          <a:xfrm>
            <a:off x="457200" y="2578608"/>
            <a:ext cx="822960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D₂₀₁₈ = USD 6.21. g_S = 5% for one year, then g_L = 2.33% forever (produces the 8-y CAGR of 4.5% Value Line forecasts). r from CAPM: 2% + 0.95 × 5% = 6.75%. CFA carries two explicit dividends, so n = 2.</a:t>
            </a:r>
            <a:endParaRPr lang="en-US" sz="1200" dirty="0"/>
          </a:p>
        </p:txBody>
      </p:sp>
      <p:sp>
        <p:nvSpPr>
          <p:cNvPr id="15" name="Text 13"/>
          <p:cNvSpPr txBox="1"/>
          <p:nvPr/>
        </p:nvSpPr>
        <p:spPr>
          <a:xfrm>
            <a:off x="457200" y="3090672"/>
            <a:ext cx="8229600" cy="877824"/>
          </a:xfrm>
          <a:prstGeom prst="rect">
            <a:avLst/>
          </a:prstGeom>
          <a:noFill/>
          <a:ln/>
        </p:spPr>
        <p:txBody>
          <a:bodyPr wrap="square" lIns="254" tIns="254" rIns="254" bIns="254" rtlCol="0" anchor="t">
            <a:normAutofit/>
            <a:spAutoFit/>
          </a:bodyPr>
          <a:lstStyle/>
          <a:p>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D₂₀₁₉ = 6.21 × 1.05 = 6.5205        D₂₀₂₀ = 6.5205 × 1.0233 = 6.6724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D₂₀₂₁ = 6.6724 × 1.0233 = 6.8279 — the first dividend of the perpetual-growth phase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V₂₀₂₀ = D₂₀₂₁ / (r − g_L) = 6.8279 / 0.0442 = 154.477 — struck at the END of 2020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V₂₀₁₈ = 6.5205/1.0675 + 6.6724/1.0675² + 154.477/1.0675² = USD 147.52</a:t>
            </a:r>
            <a:endParaRPr lang="en-US" sz="1150" dirty="0"/>
          </a:p>
        </p:txBody>
      </p:sp>
      <p:sp>
        <p:nvSpPr>
          <p:cNvPr id="16" name="Shape 14"/>
          <p:cNvSpPr/>
          <p:nvPr/>
        </p:nvSpPr>
        <p:spPr>
          <a:xfrm>
            <a:off x="411480" y="4041648"/>
            <a:ext cx="8321040" cy="365760"/>
          </a:xfrm>
          <a:prstGeom prst="rect">
            <a:avLst/>
          </a:prstGeom>
          <a:solidFill>
            <a:srgbClr val="E8600A"/>
          </a:solidFill>
          <a:ln/>
        </p:spPr>
      </p:sp>
      <p:sp>
        <p:nvSpPr>
          <p:cNvPr id="17" name="Text 15"/>
          <p:cNvSpPr txBox="1"/>
          <p:nvPr/>
        </p:nvSpPr>
        <p:spPr>
          <a:xfrm>
            <a:off x="457200" y="4041648"/>
            <a:ext cx="822960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V₀ = USD 147.52 vs market USD 148.56 → approximately fairly valued</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Free cash flow to equity is the capacity to pay dividends — start from net income, add non-cash, subtract net investment, add net borrowing</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V₀ = Σ FCFEₜ /(1+r)ᵗ with a Gordon tail. Discount FCFE at WACC, or subtract net debt from an FCFE value, and you double-count the debt.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8, §5 "FCFE Model", Eq. 4, pp. 344–345. Figures here are an illustrative build.</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FCFE ≠ dividends paid. A firm generating USD 950 of FCFE and paying USD 300 of dividends is retaining USD 650 — for reinvestment, buybacks, or a future distribution.</a:t>
            </a:r>
            <a:endParaRPr lang="en-US" sz="1300" dirty="0"/>
          </a:p>
        </p:txBody>
      </p:sp>
      <p:sp>
        <p:nvSpPr>
          <p:cNvPr id="10" name="Shape 8"/>
          <p:cNvSpPr/>
          <p:nvPr/>
        </p:nvSpPr>
        <p:spPr>
          <a:xfrm>
            <a:off x="320040" y="1188720"/>
            <a:ext cx="8503920" cy="658368"/>
          </a:xfrm>
          <a:prstGeom prst="rect">
            <a:avLst/>
          </a:prstGeom>
          <a:solidFill>
            <a:srgbClr val="1B2A4A"/>
          </a:solidFill>
          <a:ln/>
        </p:spPr>
      </p:sp>
      <p:sp>
        <p:nvSpPr>
          <p:cNvPr id="11" name="Text 9"/>
          <p:cNvSpPr txBox="1"/>
          <p:nvPr/>
        </p:nvSpPr>
        <p:spPr>
          <a:xfrm>
            <a:off x="411480" y="1188720"/>
            <a:ext cx="8321040" cy="65836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FCFE  =  NI  +  D&amp;A  −  ΔWC  −  Capex  +  Net borrowing</a:t>
            </a:r>
            <a:endParaRPr lang="en-US" sz="1800" dirty="0"/>
          </a:p>
        </p:txBody>
      </p:sp>
      <p:sp>
        <p:nvSpPr>
          <p:cNvPr id="12" name="Text 10"/>
          <p:cNvSpPr txBox="1"/>
          <p:nvPr/>
        </p:nvSpPr>
        <p:spPr>
          <a:xfrm>
            <a:off x="320040" y="187452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the same thing as CFO − FCInv + Net borrowing. FCFE is an EQUITY claim — discount at the cost of equity and the result IS equity value.</a:t>
            </a:r>
            <a:endParaRPr lang="en-US" sz="1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320040" y="2212848"/>
          <a:ext cx="8503920" cy="914400"/>
        </p:xfrm>
        <a:graphic>
          <a:graphicData uri="http://schemas.openxmlformats.org/drawingml/2006/table">
            <a:tbl>
              <a:tblPr/>
              <a:tblGrid>
                <a:gridCol w="3977640"/>
                <a:gridCol w="1051560"/>
                <a:gridCol w="347472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Build step</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USD m</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Why it belongs here</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Net income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1,000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After-tax earnings, bottom of the P&amp;L</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 Depreciation &amp; amortisation</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+400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Non-cash charge already deducted in NI</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 Increase in working capital</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Growth ties up cash in receivables/stock</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 Capital expenditure</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−600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FCInv — needed to stay a going concern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 Net borrowing</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+200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New debt is cash available to equity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b="1" dirty="0">
                          <a:solidFill>
                            <a:srgbClr val="1B2A4A"/>
                          </a:solidFill>
                          <a:latin typeface="Consolas" pitchFamily="34" charset="0"/>
                          <a:ea typeface="Consolas" pitchFamily="34" charset="-122"/>
                          <a:cs typeface="Consolas" pitchFamily="34" charset="-120"/>
                        </a:rPr>
                        <a:t>FCFE available to common shareholders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950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c>
                  <a:txBody>
                    <a:bodyPr/>
                    <a:lstStyle/>
                    <a:p>
                      <a:pPr algn="r" indent="0" marL="0">
                        <a:buNone/>
                      </a:pPr>
                      <a:r>
                        <a:rPr lang="en-US" sz="1100" b="1" dirty="0">
                          <a:solidFill>
                            <a:srgbClr val="1B2A4A"/>
                          </a:solidFill>
                          <a:latin typeface="Consolas" pitchFamily="34" charset="0"/>
                          <a:ea typeface="Consolas" pitchFamily="34" charset="-122"/>
                          <a:cs typeface="Consolas" pitchFamily="34" charset="-120"/>
                        </a:rPr>
                        <a:t>95% of net income — healthy conversion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12700" cap="flat" cmpd="sng" algn="ctr">
                      <a:solidFill>
                        <a:srgbClr val="1B2A4A"/>
                      </a:solidFill>
                      <a:prstDash val="solid"/>
                      <a:round/>
                      <a:headEnd type="none" w="med" len="med"/>
                      <a:tailEnd type="none" w="med" len="med"/>
                    </a:lnT>
                    <a:lnB w="12700" cap="flat" cmpd="sng" algn="ctr">
                      <a:solidFill>
                        <a:srgbClr val="1B2A4A"/>
                      </a:solidFill>
                      <a:prstDash val="solid"/>
                      <a:round/>
                      <a:headEnd type="none" w="med" len="med"/>
                      <a:tailEnd type="none" w="med" len="med"/>
                    </a:lnB>
                    <a:solidFill>
                      <a:srgbClr val="E8ECF0"/>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The justified forward P/E falls out of the Gordon model as payout / (r − g) — which is why high-quality, high-growth, low-r firms print high P/Es</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FORWARD P/E uses next year's EPS, TRAILING the last twelve months. Either works — but every company in a comp set must use the same basis.
</a:t>
            </a:r>
            <a:pPr indent="0" marL="0">
              <a:buNone/>
            </a:pPr>
            <a:r>
              <a:rPr lang="en-US" sz="1000" dirty="0">
                <a:solidFill>
                  <a:srgbClr val="6B7A8D"/>
                </a:solidFill>
                <a:latin typeface="Calibri" pitchFamily="34" charset="0"/>
                <a:ea typeface="Calibri" pitchFamily="34" charset="-122"/>
                <a:cs typeface="Calibri" pitchFamily="34" charset="-120"/>
              </a:rPr>
              <a:t>² Grid assumes r = 9%. Raising r to 9.5% cuts the justified P/E to 26.2×; using ROE of 16.5% instead of 21.5% cuts it to 18.4×.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8, §9 "Multiplier Models…and Fundamentals", Example 12 and Exhibit 6, pp. 360–362.</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Watch the trap: raise the payout and the numerator rises, but retention falls, so g = b × ROE falls and the denominator widens. Never move one input alone.</a:t>
            </a:r>
            <a:endParaRPr lang="en-US" sz="1300" dirty="0"/>
          </a:p>
        </p:txBody>
      </p:sp>
      <p:sp>
        <p:nvSpPr>
          <p:cNvPr id="10" name="Shape 8"/>
          <p:cNvSpPr/>
          <p:nvPr/>
        </p:nvSpPr>
        <p:spPr>
          <a:xfrm>
            <a:off x="320040" y="1143000"/>
            <a:ext cx="8503920" cy="594360"/>
          </a:xfrm>
          <a:prstGeom prst="rect">
            <a:avLst/>
          </a:prstGeom>
          <a:solidFill>
            <a:srgbClr val="1B2A4A"/>
          </a:solidFill>
          <a:ln/>
        </p:spPr>
      </p:sp>
      <p:sp>
        <p:nvSpPr>
          <p:cNvPr id="11" name="Text 9"/>
          <p:cNvSpPr txBox="1"/>
          <p:nvPr/>
        </p:nvSpPr>
        <p:spPr>
          <a:xfrm>
            <a:off x="411480" y="1143000"/>
            <a:ext cx="8321040" cy="594360"/>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P₀/E₁  =  payout / (r − g)       g  =  (1 − payout) × ROE</a:t>
            </a:r>
            <a:endParaRPr lang="en-US" sz="1800" dirty="0"/>
          </a:p>
        </p:txBody>
      </p:sp>
      <p:sp>
        <p:nvSpPr>
          <p:cNvPr id="12" name="Shape 10"/>
          <p:cNvSpPr/>
          <p:nvPr/>
        </p:nvSpPr>
        <p:spPr>
          <a:xfrm>
            <a:off x="320040" y="1920240"/>
            <a:ext cx="4937760" cy="2240280"/>
          </a:xfrm>
          <a:prstGeom prst="rect">
            <a:avLst/>
          </a:prstGeom>
          <a:solidFill>
            <a:srgbClr val="FEF0E7"/>
          </a:solidFill>
          <a:ln w="9525">
            <a:solidFill>
              <a:srgbClr val="E8600A"/>
            </a:solidFill>
            <a:prstDash val="solid"/>
          </a:ln>
        </p:spPr>
      </p:sp>
      <p:sp>
        <p:nvSpPr>
          <p:cNvPr id="13" name="Text 11"/>
          <p:cNvSpPr txBox="1"/>
          <p:nvPr/>
        </p:nvSpPr>
        <p:spPr>
          <a:xfrm>
            <a:off x="457200" y="1965960"/>
            <a:ext cx="466344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EX. 12 — NESTLÉ JUSTIFIED FWD P/E</a:t>
            </a:r>
            <a:endParaRPr lang="en-US" sz="1100" dirty="0"/>
          </a:p>
        </p:txBody>
      </p:sp>
      <p:sp>
        <p:nvSpPr>
          <p:cNvPr id="14" name="Text 12"/>
          <p:cNvSpPr txBox="1"/>
          <p:nvPr/>
        </p:nvSpPr>
        <p:spPr>
          <a:xfrm>
            <a:off x="457200" y="2258568"/>
            <a:ext cx="466344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Payout ratio 68% (2013–17 average, rounded); retention b = 32%; long-run ROE estimated at 21.5%; required return r = 9%.</a:t>
            </a:r>
            <a:endParaRPr lang="en-US" sz="1200" dirty="0"/>
          </a:p>
        </p:txBody>
      </p:sp>
      <p:sp>
        <p:nvSpPr>
          <p:cNvPr id="15" name="Text 13"/>
          <p:cNvSpPr txBox="1"/>
          <p:nvPr/>
        </p:nvSpPr>
        <p:spPr>
          <a:xfrm>
            <a:off x="457200" y="2770632"/>
            <a:ext cx="4663440" cy="877824"/>
          </a:xfrm>
          <a:prstGeom prst="rect">
            <a:avLst/>
          </a:prstGeom>
          <a:noFill/>
          <a:ln/>
        </p:spPr>
        <p:txBody>
          <a:bodyPr wrap="square" lIns="254" tIns="254" rIns="254" bIns="254" rtlCol="0" anchor="t">
            <a:normAutofit/>
            <a:spAutoFit/>
          </a:bodyPr>
          <a:lstStyle/>
          <a:p>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g = b × ROE = 0.32 × 0.215 = 6.9%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r − g = 9.0% − 6.9% = 2.1%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P₀/E₁ = 0.68 / 0.021
</a:t>
            </a:r>
            <a:pPr indent="0" marL="0">
              <a:spcAft>
                <a:spcPts val="200"/>
              </a:spcAft>
              <a:buNone/>
            </a:pPr>
            <a:r>
              <a:rPr lang="en-US" sz="115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50" dirty="0">
                <a:solidFill>
                  <a:srgbClr val="334155"/>
                </a:solidFill>
                <a:latin typeface="Calibri" pitchFamily="34" charset="0"/>
                <a:ea typeface="Calibri" pitchFamily="34" charset="-122"/>
                <a:cs typeface="Calibri" pitchFamily="34" charset="-120"/>
              </a:rPr>
              <a:t>Sell-side forward P/Es at the time: 19.3× to 26.3×</a:t>
            </a:r>
            <a:endParaRPr lang="en-US" sz="1150" dirty="0"/>
          </a:p>
        </p:txBody>
      </p:sp>
      <p:sp>
        <p:nvSpPr>
          <p:cNvPr id="16" name="Shape 14"/>
          <p:cNvSpPr/>
          <p:nvPr/>
        </p:nvSpPr>
        <p:spPr>
          <a:xfrm>
            <a:off x="411480" y="3721608"/>
            <a:ext cx="4754880" cy="365760"/>
          </a:xfrm>
          <a:prstGeom prst="rect">
            <a:avLst/>
          </a:prstGeom>
          <a:solidFill>
            <a:srgbClr val="E8600A"/>
          </a:solidFill>
          <a:ln/>
        </p:spPr>
      </p:sp>
      <p:sp>
        <p:nvSpPr>
          <p:cNvPr id="17" name="Text 15"/>
          <p:cNvSpPr txBox="1"/>
          <p:nvPr/>
        </p:nvSpPr>
        <p:spPr>
          <a:xfrm>
            <a:off x="457200" y="3721608"/>
            <a:ext cx="466344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Justified forward P/E = 32.4× — above the whole street</a:t>
            </a:r>
            <a:endParaRPr lang="en-US" sz="11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349240" y="1920240"/>
          <a:ext cx="3474720" cy="914400"/>
        </p:xfrm>
        <a:graphic>
          <a:graphicData uri="http://schemas.openxmlformats.org/drawingml/2006/table">
            <a:tbl>
              <a:tblPr/>
              <a:tblGrid>
                <a:gridCol w="1234440"/>
                <a:gridCol w="749808"/>
                <a:gridCol w="749808"/>
                <a:gridCol w="740664"/>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Payout ↓ / g →</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5.0%</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6.0%</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7.0%</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13.8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18.3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27.5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65%</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16.3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21.7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32.5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70%</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17.5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23.3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75%</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18.8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25.0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37.5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700" b="1" dirty="0">
                <a:solidFill>
                  <a:srgbClr val="FFFFFF"/>
                </a:solidFill>
                <a:latin typeface="Trebuchet MS" pitchFamily="34" charset="0"/>
                <a:ea typeface="Trebuchet MS" pitchFamily="34" charset="-122"/>
                <a:cs typeface="Trebuchet MS" pitchFamily="34" charset="-120"/>
              </a:rPr>
              <a:t>Method-of-comparables P/S ranks autos in one line — but cheap multiples demand a "why" before a "buy"</a:t>
            </a:r>
            <a:endParaRPr lang="en-US" sz="17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8, §10 "Method of Comparables", Example 13, p. 363 (P/S as at December 2017). Right-hand column is presenter commentary, not CFA text.</a:t>
            </a:r>
            <a:endParaRPr lang="en-US" sz="750" dirty="0"/>
          </a:p>
        </p:txBody>
      </p:sp>
      <p:sp>
        <p:nvSpPr>
          <p:cNvPr id="8" name="Text 6"/>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Law of one price: identical assets should sell for the same price. Cars are not identical — growth, margin, leverage and cyclicality all differ. P/S is where the question starts.</a:t>
            </a:r>
            <a:endParaRPr lang="en-US" sz="13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320040" y="1143000"/>
          <a:ext cx="8503920" cy="914400"/>
        </p:xfrm>
        <a:graphic>
          <a:graphicData uri="http://schemas.openxmlformats.org/drawingml/2006/table">
            <a:tbl>
              <a:tblPr/>
              <a:tblGrid>
                <a:gridCol w="2194560"/>
                <a:gridCol w="868680"/>
                <a:gridCol w="5440680"/>
              </a:tblGrid>
              <a:tr h="274320">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Automaker</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P/S</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c>
                  <a:txBody>
                    <a:bodyPr/>
                    <a:lstStyle/>
                    <a:p>
                      <a:pPr algn="ctr" indent="0" marL="0">
                        <a:buNone/>
                      </a:pPr>
                      <a:r>
                        <a:rPr lang="en-US" sz="1100" b="1" dirty="0">
                          <a:solidFill>
                            <a:srgbClr val="FFFFFF"/>
                          </a:solidFill>
                          <a:latin typeface="Trebuchet MS" pitchFamily="34" charset="0"/>
                          <a:ea typeface="Trebuchet MS" pitchFamily="34" charset="-122"/>
                          <a:cs typeface="Trebuchet MS" pitchFamily="34" charset="-120"/>
                        </a:rPr>
                        <a:t>What you would have to check before calling it cheap</a:t>
                      </a:r>
                      <a:endParaRPr lang="en-US" sz="1100" dirty="0">
                        <a:latin typeface="Trebuchet MS" charset="0"/>
                        <a:ea typeface="Trebuchet MS" charset="0"/>
                        <a:cs typeface="Trebuchet MS" charset="0"/>
                      </a:endParaRPr>
                    </a:p>
                  </a:txBody>
                  <a:tcPr marL="91440" marR="91440" marT="45720" marB="45720" anchor="ctr">
                    <a:lnL w="0" cap="flat" cmpd="sng" algn="ctr">
                      <a:noFill/>
                    </a:lnL>
                    <a:lnR w="0" cap="flat" cmpd="sng" algn="ctr">
                      <a:noFill/>
                    </a:lnR>
                    <a:lnT w="6350" cap="flat" cmpd="sng" algn="ctr">
                      <a:solidFill>
                        <a:srgbClr val="1B2A4A"/>
                      </a:solidFill>
                      <a:prstDash val="solid"/>
                      <a:round/>
                      <a:headEnd type="none" w="med" len="med"/>
                      <a:tailEnd type="none" w="med" len="med"/>
                    </a:lnT>
                    <a:lnB w="0" cap="flat" cmpd="sng" algn="ctr">
                      <a:noFill/>
                    </a:lnB>
                    <a:solidFill>
                      <a:srgbClr val="1B2A4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Peugeot</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0.28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Lowest P/S — mid-turnaround, thin and volatile margins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Ford Motor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0.33</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US cyclical exposure; legacy obligations sit ahead of equity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General Motors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0.36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Like Ford, on a balance sheet cleaned up after 2009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Nissan Motor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0.38</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Alliance structure and governance complicate the equity story</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Honda Motor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0.46</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Diversified beyond cars — motorcycles and power products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Tata Motors</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0.49</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India volume plus Jaguar Land Rover — two different businesses</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Daimler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0.55</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Premium mix (Mercedes-Benz) supports a higher multiple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BMW</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0.57</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Premium-only mix, strong brand, high retention</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5F7FA"/>
                    </a:solidFill>
                  </a:tcPr>
                </a:tc>
              </a:tr>
              <a:tr h="274320">
                <a:tc>
                  <a:txBody>
                    <a:bodyPr/>
                    <a:lstStyle/>
                    <a:p>
                      <a:pPr algn="l" indent="0" marL="0">
                        <a:buNone/>
                      </a:pPr>
                      <a:r>
                        <a:rPr lang="en-US" sz="1100" dirty="0">
                          <a:solidFill>
                            <a:srgbClr val="334155"/>
                          </a:solidFill>
                          <a:latin typeface="Calibri" pitchFamily="34" charset="0"/>
                          <a:ea typeface="Calibri" pitchFamily="34" charset="-122"/>
                          <a:cs typeface="Calibri" pitchFamily="34" charset="-120"/>
                        </a:rPr>
                        <a:t>Toyota Motor</a:t>
                      </a:r>
                      <a:endParaRPr lang="en-US" sz="11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r" indent="0" marL="0">
                        <a:buNone/>
                      </a:pPr>
                      <a:r>
                        <a:rPr lang="en-US" sz="1100" dirty="0">
                          <a:solidFill>
                            <a:srgbClr val="334155"/>
                          </a:solidFill>
                          <a:latin typeface="Consolas" pitchFamily="34" charset="0"/>
                          <a:ea typeface="Consolas" pitchFamily="34" charset="-122"/>
                          <a:cs typeface="Consolas" pitchFamily="34" charset="-120"/>
                        </a:rPr>
                        <a:t>0.80</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34155"/>
                          </a:solidFill>
                          <a:latin typeface="Consolas" pitchFamily="34" charset="0"/>
                          <a:ea typeface="Consolas" pitchFamily="34" charset="-122"/>
                          <a:cs typeface="Consolas" pitchFamily="34" charset="-120"/>
                        </a:rPr>
                        <a:t>Highest P/S — scale, reliability, capital discipline</a:t>
                      </a:r>
                      <a:endParaRPr lang="en-US" sz="1100" dirty="0">
                        <a:latin typeface="Consolas" charset="0"/>
                        <a:ea typeface="Consolas" charset="0"/>
                        <a:cs typeface="Consolas" charset="0"/>
                      </a:endParaRPr>
                    </a:p>
                  </a:txBody>
                  <a:tcPr marL="91440" marR="91440" marT="45720" marB="45720" anchor="ctr">
                    <a:lnL w="0" cap="flat" cmpd="sng" algn="ctr">
                      <a:noFill/>
                    </a:lnL>
                    <a:lnR w="0" cap="flat" cmpd="sng" algn="ctr">
                      <a:noFill/>
                    </a:lnR>
                    <a:lnT w="0" cap="flat" cmpd="sng" algn="ctr">
                      <a:noFill/>
                    </a:lnT>
                    <a:lnB w="3175" cap="flat" cmpd="sng" algn="ctr">
                      <a:solidFill>
                        <a:srgbClr val="D0D8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EV/EBITDA compares firms at the operating level, immune to capital-structure noise — the metric of choice for cross-border and LBO work</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325112"/>
            <a:ext cx="8503920" cy="338328"/>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EV is the cost of a takeover: the acquirer assumes the debt and receives the cash. That is why cash is subtracted.
</a:t>
            </a:r>
            <a:pPr indent="0" marL="0">
              <a:buNone/>
            </a:pPr>
            <a:r>
              <a:rPr lang="en-US" sz="1000" dirty="0">
                <a:solidFill>
                  <a:srgbClr val="6B7A8D"/>
                </a:solidFill>
                <a:latin typeface="Calibri" pitchFamily="34" charset="0"/>
                <a:ea typeface="Calibri" pitchFamily="34" charset="-122"/>
                <a:cs typeface="Calibri" pitchFamily="34" charset="-120"/>
              </a:rPr>
              <a:t>² EV survives what P/E cannot — different leverage, different tax regimes, negative earnings. But EBITDA adds back D&amp;A, so it flatters capital-heavy firms.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8, §11 "Enterprise Value", Example 16 and Exhibit 9, pp. 368–369.</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EV is the whole capital stack an acquirer pays for — equity + preferred + debt − cash. EBITDA is pre-D&amp;A, pre-interest, pre-tax: the cash engine, before financing and accounting choices.</a:t>
            </a:r>
            <a:endParaRPr lang="en-US" sz="1300" dirty="0"/>
          </a:p>
        </p:txBody>
      </p:sp>
      <p:sp>
        <p:nvSpPr>
          <p:cNvPr id="10" name="Shape 8"/>
          <p:cNvSpPr/>
          <p:nvPr/>
        </p:nvSpPr>
        <p:spPr>
          <a:xfrm>
            <a:off x="320040" y="1097280"/>
            <a:ext cx="8503920" cy="566928"/>
          </a:xfrm>
          <a:prstGeom prst="rect">
            <a:avLst/>
          </a:prstGeom>
          <a:solidFill>
            <a:srgbClr val="1B2A4A"/>
          </a:solidFill>
          <a:ln/>
        </p:spPr>
      </p:sp>
      <p:sp>
        <p:nvSpPr>
          <p:cNvPr id="11" name="Text 9"/>
          <p:cNvSpPr txBox="1"/>
          <p:nvPr/>
        </p:nvSpPr>
        <p:spPr>
          <a:xfrm>
            <a:off x="411480" y="1097280"/>
            <a:ext cx="8321040" cy="566928"/>
          </a:xfrm>
          <a:prstGeom prst="rect">
            <a:avLst/>
          </a:prstGeom>
          <a:noFill/>
          <a:ln/>
        </p:spPr>
        <p:txBody>
          <a:bodyPr wrap="square" lIns="508" tIns="508" rIns="508" bIns="508" rtlCol="0" anchor="ctr">
            <a:normAutofit/>
            <a:spAutoFit/>
          </a:bodyPr>
          <a:lstStyle/>
          <a:p>
            <a:pPr algn="ctr" indent="0" marL="0">
              <a:buNone/>
            </a:pPr>
            <a:r>
              <a:rPr lang="en-US" sz="1800" b="1" dirty="0">
                <a:solidFill>
                  <a:srgbClr val="FFFFFF"/>
                </a:solidFill>
                <a:latin typeface="Consolas" pitchFamily="34" charset="0"/>
                <a:ea typeface="Consolas" pitchFamily="34" charset="-122"/>
                <a:cs typeface="Consolas" pitchFamily="34" charset="-120"/>
              </a:rPr>
              <a:t>EV  =  Market cap  +  Preferred  +  Debt  −  Cash</a:t>
            </a:r>
            <a:endParaRPr lang="en-US" sz="1800" dirty="0"/>
          </a:p>
        </p:txBody>
      </p:sp>
      <p:sp>
        <p:nvSpPr>
          <p:cNvPr id="12" name="Text 10"/>
          <p:cNvSpPr txBox="1"/>
          <p:nvPr/>
        </p:nvSpPr>
        <p:spPr>
          <a:xfrm>
            <a:off x="320040" y="1691640"/>
            <a:ext cx="8503920" cy="256032"/>
          </a:xfrm>
          <a:prstGeom prst="rect">
            <a:avLst/>
          </a:prstGeom>
          <a:noFill/>
          <a:ln/>
        </p:spPr>
        <p:txBody>
          <a:bodyPr wrap="square" lIns="508" tIns="508" rIns="508" bIns="508" rtlCol="0" anchor="ctr">
            <a:normAutofit/>
            <a:spAutoFit/>
          </a:bodyPr>
          <a:lstStyle/>
          <a:p>
            <a:pPr algn="l" indent="0" marL="0">
              <a:buNone/>
            </a:pPr>
            <a:r>
              <a:rPr lang="en-US" sz="1100" i="1" dirty="0">
                <a:solidFill>
                  <a:srgbClr val="334155"/>
                </a:solidFill>
                <a:latin typeface="Calibri" pitchFamily="34" charset="0"/>
                <a:ea typeface="Calibri" pitchFamily="34" charset="-122"/>
                <a:cs typeface="Calibri" pitchFamily="34" charset="-120"/>
              </a:rPr>
              <a:t>where: Debt at MARKET value where available — book value is only a rough proxy, since rates and perceived credit risk move after issue. Cash includes short-term investments.</a:t>
            </a:r>
            <a:endParaRPr lang="en-US" sz="1100" dirty="0"/>
          </a:p>
        </p:txBody>
      </p:sp>
      <p:sp>
        <p:nvSpPr>
          <p:cNvPr id="13" name="Shape 11"/>
          <p:cNvSpPr/>
          <p:nvPr/>
        </p:nvSpPr>
        <p:spPr>
          <a:xfrm>
            <a:off x="320040" y="2011680"/>
            <a:ext cx="4526280" cy="2103120"/>
          </a:xfrm>
          <a:prstGeom prst="rect">
            <a:avLst/>
          </a:prstGeom>
          <a:solidFill>
            <a:srgbClr val="FEF0E7"/>
          </a:solidFill>
          <a:ln w="9525">
            <a:solidFill>
              <a:srgbClr val="E8600A"/>
            </a:solidFill>
            <a:prstDash val="solid"/>
          </a:ln>
        </p:spPr>
      </p:sp>
      <p:sp>
        <p:nvSpPr>
          <p:cNvPr id="14" name="Text 12"/>
          <p:cNvSpPr txBox="1"/>
          <p:nvPr/>
        </p:nvSpPr>
        <p:spPr>
          <a:xfrm>
            <a:off x="457200" y="2057400"/>
            <a:ext cx="425196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E8600A"/>
                </a:solidFill>
                <a:latin typeface="Trebuchet MS" pitchFamily="34" charset="0"/>
                <a:ea typeface="Trebuchet MS" pitchFamily="34" charset="-122"/>
                <a:cs typeface="Trebuchet MS" pitchFamily="34" charset="-120"/>
              </a:rPr>
              <a:t>CFA EX. 16 — CAMECO (FY2017, CAD m)</a:t>
            </a:r>
            <a:endParaRPr lang="en-US" sz="1100" dirty="0"/>
          </a:p>
        </p:txBody>
      </p:sp>
      <p:sp>
        <p:nvSpPr>
          <p:cNvPr id="15" name="Text 13"/>
          <p:cNvSpPr txBox="1"/>
          <p:nvPr/>
        </p:nvSpPr>
        <p:spPr>
          <a:xfrm>
            <a:off x="457200" y="2350008"/>
            <a:ext cx="4251960" cy="45720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395.8 m shares at CAD 14.11. LT debt: book 1,905, market 1,480. Other liabilities 1,014. Cash 592. EBITDA 606.</a:t>
            </a:r>
            <a:endParaRPr lang="en-US" sz="1200" dirty="0"/>
          </a:p>
        </p:txBody>
      </p:sp>
      <p:sp>
        <p:nvSpPr>
          <p:cNvPr id="16" name="Text 14"/>
          <p:cNvSpPr txBox="1"/>
          <p:nvPr/>
        </p:nvSpPr>
        <p:spPr>
          <a:xfrm>
            <a:off x="457200" y="2862072"/>
            <a:ext cx="4251960" cy="740664"/>
          </a:xfrm>
          <a:prstGeom prst="rect">
            <a:avLst/>
          </a:prstGeom>
          <a:noFill/>
          <a:ln/>
        </p:spPr>
        <p:txBody>
          <a:bodyPr wrap="square" lIns="254" tIns="254" rIns="254" bIns="254" rtlCol="0" anchor="t">
            <a:normAutofit/>
            <a:spAutoFit/>
          </a:bodyPr>
          <a:lstStyle/>
          <a:p>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1.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Market cap = 395.8 × 14.11 = 5,585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2.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Debt &amp; other liabilities = 1,480 + 1,014 = 2,494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3.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EV = 5,585 + 2,494 − 592 = 7,487
</a:t>
            </a:r>
            <a:pPr indent="0" marL="0">
              <a:spcAft>
                <a:spcPts val="200"/>
              </a:spcAft>
              <a:buNone/>
            </a:pPr>
            <a:r>
              <a:rPr lang="en-US" sz="1100" b="1" dirty="0">
                <a:solidFill>
                  <a:srgbClr val="1B2A4A"/>
                </a:solidFill>
                <a:latin typeface="Calibri" pitchFamily="34" charset="0"/>
                <a:ea typeface="Calibri" pitchFamily="34" charset="-122"/>
                <a:cs typeface="Calibri" pitchFamily="34" charset="-120"/>
              </a:rPr>
              <a:t>4. </a:t>
            </a:r>
            <a:pPr indent="0" marL="0">
              <a:spcAft>
                <a:spcPts val="200"/>
              </a:spcAft>
              <a:buNone/>
            </a:pPr>
            <a:r>
              <a:rPr lang="en-US" sz="1100" dirty="0">
                <a:solidFill>
                  <a:srgbClr val="334155"/>
                </a:solidFill>
                <a:latin typeface="Calibri" pitchFamily="34" charset="0"/>
                <a:ea typeface="Calibri" pitchFamily="34" charset="-122"/>
                <a:cs typeface="Calibri" pitchFamily="34" charset="-120"/>
              </a:rPr>
              <a:t>EV / EBITDA = 7,487 / 606</a:t>
            </a:r>
            <a:endParaRPr lang="en-US" sz="1100" dirty="0"/>
          </a:p>
        </p:txBody>
      </p:sp>
      <p:sp>
        <p:nvSpPr>
          <p:cNvPr id="17" name="Shape 15"/>
          <p:cNvSpPr/>
          <p:nvPr/>
        </p:nvSpPr>
        <p:spPr>
          <a:xfrm>
            <a:off x="411480" y="3675888"/>
            <a:ext cx="4343400" cy="365760"/>
          </a:xfrm>
          <a:prstGeom prst="rect">
            <a:avLst/>
          </a:prstGeom>
          <a:solidFill>
            <a:srgbClr val="E8600A"/>
          </a:solidFill>
          <a:ln/>
        </p:spPr>
      </p:sp>
      <p:sp>
        <p:nvSpPr>
          <p:cNvPr id="18" name="Text 16"/>
          <p:cNvSpPr txBox="1"/>
          <p:nvPr/>
        </p:nvSpPr>
        <p:spPr>
          <a:xfrm>
            <a:off x="457200" y="3675888"/>
            <a:ext cx="4251960" cy="365760"/>
          </a:xfrm>
          <a:prstGeom prst="rect">
            <a:avLst/>
          </a:prstGeom>
          <a:noFill/>
          <a:ln/>
        </p:spPr>
        <p:txBody>
          <a:bodyPr wrap="square" lIns="508" tIns="508" rIns="508" bIns="508" rtlCol="0" anchor="ctr">
            <a:normAutofit/>
            <a:spAutoFit/>
          </a:bodyPr>
          <a:lstStyle/>
          <a:p>
            <a:pPr algn="l" indent="0" marL="0">
              <a:buNone/>
            </a:pPr>
            <a:r>
              <a:rPr lang="en-US" sz="1150" b="1" dirty="0">
                <a:solidFill>
                  <a:srgbClr val="FFFFFF"/>
                </a:solidFill>
                <a:latin typeface="Consolas" pitchFamily="34" charset="0"/>
                <a:ea typeface="Consolas" pitchFamily="34" charset="-122"/>
                <a:cs typeface="Consolas" pitchFamily="34" charset="-120"/>
              </a:rPr>
              <a:t>EV / EBITDA  =  12.4×</a:t>
            </a:r>
            <a:endParaRPr lang="en-US" sz="1150" dirty="0"/>
          </a:p>
        </p:txBody>
      </p:sp>
      <p:sp>
        <p:nvSpPr>
          <p:cNvPr id="19" name="Shape 17"/>
          <p:cNvSpPr/>
          <p:nvPr/>
        </p:nvSpPr>
        <p:spPr>
          <a:xfrm>
            <a:off x="5029200" y="2011680"/>
            <a:ext cx="3794760" cy="2103120"/>
          </a:xfrm>
          <a:prstGeom prst="rect">
            <a:avLst/>
          </a:prstGeom>
          <a:solidFill>
            <a:srgbClr val="F5F7FA"/>
          </a:solidFill>
          <a:ln/>
        </p:spPr>
      </p:sp>
      <p:sp>
        <p:nvSpPr>
          <p:cNvPr id="20" name="Shape 18"/>
          <p:cNvSpPr/>
          <p:nvPr/>
        </p:nvSpPr>
        <p:spPr>
          <a:xfrm>
            <a:off x="5029200" y="2011680"/>
            <a:ext cx="73152" cy="2103120"/>
          </a:xfrm>
          <a:prstGeom prst="rect">
            <a:avLst/>
          </a:prstGeom>
          <a:solidFill>
            <a:srgbClr val="1B2A4A"/>
          </a:solidFill>
          <a:ln/>
        </p:spPr>
      </p:sp>
      <p:sp>
        <p:nvSpPr>
          <p:cNvPr id="21" name="Text 19"/>
          <p:cNvSpPr txBox="1"/>
          <p:nvPr/>
        </p:nvSpPr>
        <p:spPr>
          <a:xfrm>
            <a:off x="5166360" y="2057400"/>
            <a:ext cx="3566160" cy="256032"/>
          </a:xfrm>
          <a:prstGeom prst="rect">
            <a:avLst/>
          </a:prstGeom>
          <a:noFill/>
          <a:ln/>
        </p:spPr>
        <p:txBody>
          <a:bodyPr wrap="square" lIns="508" tIns="508" rIns="508" bIns="508" rtlCol="0" anchor="ctr">
            <a:normAutofit/>
            <a:spAutoFit/>
          </a:bodyPr>
          <a:lstStyle/>
          <a:p>
            <a:pPr algn="l" indent="0" marL="0">
              <a:buNone/>
            </a:pPr>
            <a:r>
              <a:rPr lang="en-US" sz="1100" b="1" spc="400" kern="0" dirty="0">
                <a:solidFill>
                  <a:srgbClr val="1B2A4A"/>
                </a:solidFill>
                <a:latin typeface="Trebuchet MS" pitchFamily="34" charset="0"/>
                <a:ea typeface="Trebuchet MS" pitchFamily="34" charset="-122"/>
                <a:cs typeface="Trebuchet MS" pitchFamily="34" charset="-120"/>
              </a:rPr>
              <a:t>THE CONSISTENCY RULE</a:t>
            </a:r>
            <a:endParaRPr lang="en-US" sz="1100" dirty="0"/>
          </a:p>
        </p:txBody>
      </p:sp>
      <p:sp>
        <p:nvSpPr>
          <p:cNvPr id="22" name="Text 20"/>
          <p:cNvSpPr txBox="1"/>
          <p:nvPr/>
        </p:nvSpPr>
        <p:spPr>
          <a:xfrm>
            <a:off x="5166360" y="2331720"/>
            <a:ext cx="3566160" cy="1737360"/>
          </a:xfrm>
          <a:prstGeom prst="rect">
            <a:avLst/>
          </a:prstGeom>
          <a:noFill/>
          <a:ln/>
        </p:spPr>
        <p:txBody>
          <a:bodyPr wrap="square" lIns="508" tIns="508" rIns="508" bIns="508" rtlCol="0" anchor="t">
            <a:normAutofit/>
            <a:spAutoFit/>
          </a:bodyPr>
          <a:lstStyle/>
          <a:p>
            <a:pPr algn="l" indent="0" marL="0">
              <a:buNone/>
            </a:pPr>
            <a:r>
              <a:rPr lang="en-US" sz="1200" dirty="0">
                <a:solidFill>
                  <a:srgbClr val="334155"/>
                </a:solidFill>
                <a:latin typeface="Calibri" pitchFamily="34" charset="0"/>
                <a:ea typeface="Calibri" pitchFamily="34" charset="-122"/>
                <a:cs typeface="Calibri" pitchFamily="34" charset="-120"/>
              </a:rPr>
              <a:t>Numerator and denominator must describe the SAME claim.</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EQUITY: price over EPS, book value, sales.</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ENTERPRISE: EV over EBITDA, EBIT, revenue.</a:t>
            </a:r>
            <a:endParaRPr lang="en-US" sz="1200" dirty="0"/>
          </a:p>
          <a:p>
            <a:pPr algn="l" indent="0" marL="0">
              <a:buNone/>
            </a:pPr>
            <a:endParaRPr lang="en-US" sz="1200" dirty="0"/>
          </a:p>
          <a:p>
            <a:pPr algn="l" indent="0" marL="0">
              <a:buNone/>
            </a:pPr>
            <a:r>
              <a:rPr lang="en-US" sz="1200" dirty="0">
                <a:solidFill>
                  <a:srgbClr val="334155"/>
                </a:solidFill>
                <a:latin typeface="Calibri" pitchFamily="34" charset="0"/>
                <a:ea typeface="Calibri" pitchFamily="34" charset="-122"/>
                <a:cs typeface="Calibri" pitchFamily="34" charset="-120"/>
              </a:rPr>
              <a:t>EV/EPS and price/EBITDA are the classic error. To cross over, subtract debt and preferred from EV.</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9144000" cy="621792"/>
          </a:xfrm>
          <a:prstGeom prst="rect">
            <a:avLst/>
          </a:prstGeom>
          <a:solidFill>
            <a:srgbClr val="1B2A4A"/>
          </a:solidFill>
          <a:ln/>
        </p:spPr>
      </p:sp>
      <p:sp>
        <p:nvSpPr>
          <p:cNvPr id="3" name="Shape 1"/>
          <p:cNvSpPr/>
          <p:nvPr/>
        </p:nvSpPr>
        <p:spPr>
          <a:xfrm>
            <a:off x="0" y="0"/>
            <a:ext cx="109728" cy="621792"/>
          </a:xfrm>
          <a:prstGeom prst="rect">
            <a:avLst/>
          </a:prstGeom>
          <a:solidFill>
            <a:srgbClr val="E8600A"/>
          </a:solidFill>
          <a:ln/>
        </p:spPr>
      </p:sp>
      <p:sp>
        <p:nvSpPr>
          <p:cNvPr id="4" name="Text 2"/>
          <p:cNvSpPr txBox="1"/>
          <p:nvPr/>
        </p:nvSpPr>
        <p:spPr>
          <a:xfrm>
            <a:off x="256032" y="0"/>
            <a:ext cx="8686800" cy="621792"/>
          </a:xfrm>
          <a:prstGeom prst="rect">
            <a:avLst/>
          </a:prstGeom>
          <a:noFill/>
          <a:ln/>
        </p:spPr>
        <p:txBody>
          <a:bodyPr wrap="square" lIns="508" tIns="508" rIns="508" bIns="508" rtlCol="0" anchor="ctr">
            <a:normAutofit/>
            <a:spAutoFit/>
          </a:bodyPr>
          <a:lstStyle/>
          <a:p>
            <a:pPr algn="l" indent="0" marL="0">
              <a:buNone/>
            </a:pPr>
            <a:r>
              <a:rPr lang="en-US" sz="1600" b="1" dirty="0">
                <a:solidFill>
                  <a:srgbClr val="FFFFFF"/>
                </a:solidFill>
                <a:latin typeface="Trebuchet MS" pitchFamily="34" charset="0"/>
                <a:ea typeface="Trebuchet MS" pitchFamily="34" charset="-122"/>
                <a:cs typeface="Trebuchet MS" pitchFamily="34" charset="-120"/>
              </a:rPr>
              <a:t>Asset-based valuation sets a floor — useful for asset-heavy, intangible-light, or winding-down businesses, but weak when value sits in brands, people, or growth</a:t>
            </a:r>
            <a:endParaRPr lang="en-US" sz="1600" dirty="0"/>
          </a:p>
        </p:txBody>
      </p:sp>
      <p:sp>
        <p:nvSpPr>
          <p:cNvPr id="5" name="Shape 3"/>
          <p:cNvSpPr/>
          <p:nvPr/>
        </p:nvSpPr>
        <p:spPr>
          <a:xfrm>
            <a:off x="0" y="4892040"/>
            <a:ext cx="9144000" cy="256032"/>
          </a:xfrm>
          <a:prstGeom prst="rect">
            <a:avLst/>
          </a:prstGeom>
          <a:solidFill>
            <a:srgbClr val="E8ECF0"/>
          </a:solidFill>
          <a:ln/>
        </p:spPr>
      </p:sp>
      <p:sp>
        <p:nvSpPr>
          <p:cNvPr id="6" name="Text 4"/>
          <p:cNvSpPr txBox="1"/>
          <p:nvPr/>
        </p:nvSpPr>
        <p:spPr>
          <a:xfrm>
            <a:off x="274320" y="4892040"/>
            <a:ext cx="5943600" cy="256032"/>
          </a:xfrm>
          <a:prstGeom prst="rect">
            <a:avLst/>
          </a:prstGeom>
          <a:noFill/>
          <a:ln/>
        </p:spPr>
        <p:txBody>
          <a:bodyPr wrap="square" lIns="508" tIns="508" rIns="508" bIns="508" rtlCol="0" anchor="ctr">
            <a:normAutofit/>
            <a:spAutoFit/>
          </a:bodyPr>
          <a:lstStyle/>
          <a:p>
            <a:pPr algn="l" indent="0" marL="0">
              <a:buNone/>
            </a:pPr>
            <a:r>
              <a:rPr lang="en-US" sz="750" dirty="0">
                <a:solidFill>
                  <a:srgbClr val="6B7A8D"/>
                </a:solidFill>
                <a:latin typeface="Calibri" pitchFamily="34" charset="0"/>
                <a:ea typeface="Calibri" pitchFamily="34" charset="-122"/>
                <a:cs typeface="Calibri" pitchFamily="34" charset="-120"/>
              </a:rPr>
              <a:t>STUDIO TONTON GUG  ·  Finance Fundamentals</a:t>
            </a:r>
            <a:endParaRPr lang="en-US" sz="750" dirty="0"/>
          </a:p>
        </p:txBody>
      </p:sp>
      <p:sp>
        <p:nvSpPr>
          <p:cNvPr id="7" name="Text 5"/>
          <p:cNvSpPr txBox="1"/>
          <p:nvPr/>
        </p:nvSpPr>
        <p:spPr>
          <a:xfrm>
            <a:off x="320040" y="4471416"/>
            <a:ext cx="8503920" cy="192024"/>
          </a:xfrm>
          <a:prstGeom prst="rect">
            <a:avLst/>
          </a:prstGeom>
          <a:noFill/>
          <a:ln/>
        </p:spPr>
        <p:txBody>
          <a:bodyPr wrap="square" lIns="254" tIns="254" rIns="254" bIns="254" rtlCol="0" anchor="t"/>
          <a:lstStyle/>
          <a:p>
            <a:pPr indent="0" marL="0">
              <a:buNone/>
            </a:pPr>
            <a:r>
              <a:rPr lang="en-US" sz="1000" dirty="0">
                <a:solidFill>
                  <a:srgbClr val="6B7A8D"/>
                </a:solidFill>
                <a:latin typeface="Calibri" pitchFamily="34" charset="0"/>
                <a:ea typeface="Calibri" pitchFamily="34" charset="-122"/>
                <a:cs typeface="Calibri" pitchFamily="34" charset="-120"/>
              </a:rPr>
              <a:t>¹ Hardest where it is most needed: firms with heavy PP&amp;E that has no observable market price, and any hyper-inflationary environment.
</a:t>
            </a:r>
            <a:endParaRPr lang="en-US" sz="1000" dirty="0"/>
          </a:p>
        </p:txBody>
      </p:sp>
      <p:sp>
        <p:nvSpPr>
          <p:cNvPr id="8" name="Text 6"/>
          <p:cNvSpPr txBox="1"/>
          <p:nvPr/>
        </p:nvSpPr>
        <p:spPr>
          <a:xfrm>
            <a:off x="320040" y="4663440"/>
            <a:ext cx="8503920" cy="201168"/>
          </a:xfrm>
          <a:prstGeom prst="rect">
            <a:avLst/>
          </a:prstGeom>
          <a:noFill/>
          <a:ln/>
        </p:spPr>
        <p:txBody>
          <a:bodyPr wrap="square" lIns="508" tIns="508" rIns="508" bIns="508" rtlCol="0" anchor="t">
            <a:normAutofit/>
            <a:spAutoFit/>
          </a:bodyPr>
          <a:lstStyle/>
          <a:p>
            <a:pPr algn="l" indent="0" marL="0">
              <a:buNone/>
            </a:pPr>
            <a:r>
              <a:rPr lang="en-US" sz="750" i="1" dirty="0">
                <a:solidFill>
                  <a:srgbClr val="6B7A8D"/>
                </a:solidFill>
                <a:latin typeface="Calibri" pitchFamily="34" charset="0"/>
                <a:ea typeface="Calibri" pitchFamily="34" charset="-122"/>
                <a:cs typeface="Calibri" pitchFamily="34" charset="-120"/>
              </a:rPr>
              <a:t>Source: CFA Institute, Curriculum Vol 5, Learning Module 8, §12 "Asset-Based Valuation", Examples 18–20, pp. 371–372.</a:t>
            </a:r>
            <a:endParaRPr lang="en-US" sz="750" dirty="0"/>
          </a:p>
        </p:txBody>
      </p:sp>
      <p:sp>
        <p:nvSpPr>
          <p:cNvPr id="9" name="Text 7"/>
          <p:cNvSpPr txBox="1"/>
          <p:nvPr/>
        </p:nvSpPr>
        <p:spPr>
          <a:xfrm>
            <a:off x="320040" y="731520"/>
            <a:ext cx="8503920" cy="292608"/>
          </a:xfrm>
          <a:prstGeom prst="rect">
            <a:avLst/>
          </a:prstGeom>
          <a:noFill/>
          <a:ln/>
        </p:spPr>
        <p:txBody>
          <a:bodyPr wrap="square" lIns="508" tIns="508" rIns="508" bIns="508" rtlCol="0" anchor="ctr">
            <a:normAutofit/>
            <a:spAutoFit/>
          </a:bodyPr>
          <a:lstStyle/>
          <a:p>
            <a:pPr algn="l" indent="0" marL="0">
              <a:buNone/>
            </a:pPr>
            <a:r>
              <a:rPr lang="en-US" sz="1300" i="1" dirty="0">
                <a:solidFill>
                  <a:srgbClr val="334155"/>
                </a:solidFill>
                <a:latin typeface="Calibri" pitchFamily="34" charset="0"/>
                <a:ea typeface="Calibri" pitchFamily="34" charset="-122"/>
                <a:cs typeface="Calibri" pitchFamily="34" charset="-120"/>
              </a:rPr>
              <a:t>Value = fair value of assets − fair value of liabilities − preferred. Getting from book to fair value is the whole difficulty, and excluded intangibles make the answer a floor.</a:t>
            </a:r>
            <a:endParaRPr lang="en-US" sz="1300" dirty="0"/>
          </a:p>
        </p:txBody>
      </p:sp>
      <p:sp>
        <p:nvSpPr>
          <p:cNvPr id="10" name="Shape 8"/>
          <p:cNvSpPr/>
          <p:nvPr/>
        </p:nvSpPr>
        <p:spPr>
          <a:xfrm>
            <a:off x="320040" y="1188720"/>
            <a:ext cx="2743200" cy="3154680"/>
          </a:xfrm>
          <a:prstGeom prst="rect">
            <a:avLst/>
          </a:prstGeom>
          <a:solidFill>
            <a:srgbClr val="E8F5E9"/>
          </a:solidFill>
          <a:ln/>
        </p:spPr>
      </p:sp>
      <p:sp>
        <p:nvSpPr>
          <p:cNvPr id="11" name="Shape 9"/>
          <p:cNvSpPr/>
          <p:nvPr/>
        </p:nvSpPr>
        <p:spPr>
          <a:xfrm>
            <a:off x="320040" y="1188720"/>
            <a:ext cx="73152" cy="3154680"/>
          </a:xfrm>
          <a:prstGeom prst="rect">
            <a:avLst/>
          </a:prstGeom>
          <a:solidFill>
            <a:srgbClr val="1A6B3C"/>
          </a:solidFill>
          <a:ln/>
        </p:spPr>
      </p:sp>
      <p:sp>
        <p:nvSpPr>
          <p:cNvPr id="12" name="Text 10"/>
          <p:cNvSpPr txBox="1"/>
          <p:nvPr/>
        </p:nvSpPr>
        <p:spPr>
          <a:xfrm>
            <a:off x="457200" y="1280160"/>
            <a:ext cx="2468880" cy="256032"/>
          </a:xfrm>
          <a:prstGeom prst="rect">
            <a:avLst/>
          </a:prstGeom>
          <a:noFill/>
          <a:ln/>
        </p:spPr>
        <p:txBody>
          <a:bodyPr wrap="square" lIns="508" tIns="508" rIns="508" bIns="508" rtlCol="0" anchor="ctr">
            <a:normAutofit/>
            <a:spAutoFit/>
          </a:bodyPr>
          <a:lstStyle/>
          <a:p>
            <a:pPr algn="l" indent="0" marL="0">
              <a:buNone/>
            </a:pPr>
            <a:r>
              <a:rPr lang="en-US" sz="1000" b="1" spc="300" kern="0" dirty="0">
                <a:solidFill>
                  <a:srgbClr val="1A6B3C"/>
                </a:solidFill>
                <a:latin typeface="Trebuchet MS" pitchFamily="34" charset="0"/>
                <a:ea typeface="Trebuchet MS" pitchFamily="34" charset="-122"/>
                <a:cs typeface="Trebuchet MS" pitchFamily="34" charset="-120"/>
              </a:rPr>
              <a:t>MOST TRACTABLE — FAMILY LAUNDRY</a:t>
            </a:r>
            <a:endParaRPr lang="en-US" sz="1000" dirty="0"/>
          </a:p>
        </p:txBody>
      </p:sp>
      <p:sp>
        <p:nvSpPr>
          <p:cNvPr id="13" name="Text 11"/>
          <p:cNvSpPr txBox="1"/>
          <p:nvPr/>
        </p:nvSpPr>
        <p:spPr>
          <a:xfrm>
            <a:off x="502920" y="1600200"/>
            <a:ext cx="2423160" cy="265176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Tangibles dominate: building, land, washers and dryers, inventory. Take two market appraisals on the property and cost the used machines at replacement.</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Deduct the USD 100,000 loan.</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But CFA is blunt: any intangible value — prime location, clever marketing — is excluded, which makes even this valuation inaccurate.</a:t>
            </a:r>
            <a:endParaRPr lang="en-US" sz="1100" dirty="0"/>
          </a:p>
        </p:txBody>
      </p:sp>
      <p:sp>
        <p:nvSpPr>
          <p:cNvPr id="14" name="Shape 12"/>
          <p:cNvSpPr/>
          <p:nvPr/>
        </p:nvSpPr>
        <p:spPr>
          <a:xfrm>
            <a:off x="3200400" y="1188720"/>
            <a:ext cx="2743200" cy="3154680"/>
          </a:xfrm>
          <a:prstGeom prst="rect">
            <a:avLst/>
          </a:prstGeom>
          <a:solidFill>
            <a:srgbClr val="FFEBEE"/>
          </a:solidFill>
          <a:ln/>
        </p:spPr>
      </p:sp>
      <p:sp>
        <p:nvSpPr>
          <p:cNvPr id="15" name="Shape 13"/>
          <p:cNvSpPr/>
          <p:nvPr/>
        </p:nvSpPr>
        <p:spPr>
          <a:xfrm>
            <a:off x="3200400" y="1188720"/>
            <a:ext cx="73152" cy="3154680"/>
          </a:xfrm>
          <a:prstGeom prst="rect">
            <a:avLst/>
          </a:prstGeom>
          <a:solidFill>
            <a:srgbClr val="B71C1C"/>
          </a:solidFill>
          <a:ln/>
        </p:spPr>
      </p:sp>
      <p:sp>
        <p:nvSpPr>
          <p:cNvPr id="16" name="Text 14"/>
          <p:cNvSpPr txBox="1"/>
          <p:nvPr/>
        </p:nvSpPr>
        <p:spPr>
          <a:xfrm>
            <a:off x="3337560" y="1280160"/>
            <a:ext cx="2468880" cy="256032"/>
          </a:xfrm>
          <a:prstGeom prst="rect">
            <a:avLst/>
          </a:prstGeom>
          <a:noFill/>
          <a:ln/>
        </p:spPr>
        <p:txBody>
          <a:bodyPr wrap="square" lIns="508" tIns="508" rIns="508" bIns="508" rtlCol="0" anchor="ctr">
            <a:normAutofit/>
            <a:spAutoFit/>
          </a:bodyPr>
          <a:lstStyle/>
          <a:p>
            <a:pPr algn="l" indent="0" marL="0">
              <a:buNone/>
            </a:pPr>
            <a:r>
              <a:rPr lang="en-US" sz="1000" b="1" spc="300" kern="0" dirty="0">
                <a:solidFill>
                  <a:srgbClr val="B71C1C"/>
                </a:solidFill>
                <a:latin typeface="Trebuchet MS" pitchFamily="34" charset="0"/>
                <a:ea typeface="Trebuchet MS" pitchFamily="34" charset="-122"/>
                <a:cs typeface="Trebuchet MS" pitchFamily="34" charset="-120"/>
              </a:rPr>
              <a:t>FLOOR ONLY — SECRET-RECIPE RESTAURANT</a:t>
            </a:r>
            <a:endParaRPr lang="en-US" sz="1000" dirty="0"/>
          </a:p>
        </p:txBody>
      </p:sp>
      <p:sp>
        <p:nvSpPr>
          <p:cNvPr id="17" name="Text 15"/>
          <p:cNvSpPr txBox="1"/>
          <p:nvPr/>
        </p:nvSpPr>
        <p:spPr>
          <a:xfrm>
            <a:off x="3383280" y="1600200"/>
            <a:ext cx="2423160" cy="265176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Equipment plus inventory, less liabilities, gives a baseline — and the space is rented, so there is no property to appraise.</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The secret recipes and the owner's cooking are the business, and the owner is retiring. Some or all of the intangibles vanish on sale.</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A minimum valuation, nothing more.</a:t>
            </a:r>
            <a:endParaRPr lang="en-US" sz="1100" dirty="0"/>
          </a:p>
        </p:txBody>
      </p:sp>
      <p:sp>
        <p:nvSpPr>
          <p:cNvPr id="18" name="Shape 16"/>
          <p:cNvSpPr/>
          <p:nvPr/>
        </p:nvSpPr>
        <p:spPr>
          <a:xfrm>
            <a:off x="6080760" y="1188720"/>
            <a:ext cx="2743200" cy="3154680"/>
          </a:xfrm>
          <a:prstGeom prst="rect">
            <a:avLst/>
          </a:prstGeom>
          <a:solidFill>
            <a:srgbClr val="F5F7FA"/>
          </a:solidFill>
          <a:ln/>
        </p:spPr>
      </p:sp>
      <p:sp>
        <p:nvSpPr>
          <p:cNvPr id="19" name="Shape 17"/>
          <p:cNvSpPr/>
          <p:nvPr/>
        </p:nvSpPr>
        <p:spPr>
          <a:xfrm>
            <a:off x="6080760" y="1188720"/>
            <a:ext cx="73152" cy="3154680"/>
          </a:xfrm>
          <a:prstGeom prst="rect">
            <a:avLst/>
          </a:prstGeom>
          <a:solidFill>
            <a:srgbClr val="1B2A4A"/>
          </a:solidFill>
          <a:ln/>
        </p:spPr>
      </p:sp>
      <p:sp>
        <p:nvSpPr>
          <p:cNvPr id="20" name="Text 18"/>
          <p:cNvSpPr txBox="1"/>
          <p:nvPr/>
        </p:nvSpPr>
        <p:spPr>
          <a:xfrm>
            <a:off x="6217920" y="1280160"/>
            <a:ext cx="2468880" cy="256032"/>
          </a:xfrm>
          <a:prstGeom prst="rect">
            <a:avLst/>
          </a:prstGeom>
          <a:noFill/>
          <a:ln/>
        </p:spPr>
        <p:txBody>
          <a:bodyPr wrap="square" lIns="508" tIns="508" rIns="508" bIns="508" rtlCol="0" anchor="ctr">
            <a:normAutofit/>
            <a:spAutoFit/>
          </a:bodyPr>
          <a:lstStyle/>
          <a:p>
            <a:pPr algn="l" indent="0" marL="0">
              <a:buNone/>
            </a:pPr>
            <a:r>
              <a:rPr lang="en-US" sz="1000" b="1" spc="300" kern="0" dirty="0">
                <a:solidFill>
                  <a:srgbClr val="1B2A4A"/>
                </a:solidFill>
                <a:latin typeface="Trebuchet MS" pitchFamily="34" charset="0"/>
                <a:ea typeface="Trebuchet MS" pitchFamily="34" charset="-122"/>
                <a:cs typeface="Trebuchet MS" pitchFamily="34" charset="-120"/>
              </a:rPr>
              <a:t>RIGHT LENS — LOSS-MAKING AIRLINE</a:t>
            </a:r>
            <a:endParaRPr lang="en-US" sz="1000" dirty="0"/>
          </a:p>
        </p:txBody>
      </p:sp>
      <p:sp>
        <p:nvSpPr>
          <p:cNvPr id="21" name="Text 19"/>
          <p:cNvSpPr txBox="1"/>
          <p:nvPr/>
        </p:nvSpPr>
        <p:spPr>
          <a:xfrm>
            <a:off x="6263640" y="1600200"/>
            <a:ext cx="2423160" cy="2651760"/>
          </a:xfrm>
          <a:prstGeom prst="rect">
            <a:avLst/>
          </a:prstGeom>
          <a:noFill/>
          <a:ln/>
        </p:spPr>
        <p:txBody>
          <a:bodyPr wrap="square" lIns="508" tIns="508" rIns="508" bIns="508" rtlCol="0" anchor="t">
            <a:normAutofit/>
            <a:spAutoFit/>
          </a:bodyPr>
          <a:lstStyle/>
          <a:p>
            <a:pPr algn="l" indent="0" marL="0">
              <a:buNone/>
            </a:pPr>
            <a:r>
              <a:rPr lang="en-US" sz="1100" dirty="0">
                <a:solidFill>
                  <a:srgbClr val="334155"/>
                </a:solidFill>
                <a:latin typeface="Calibri" pitchFamily="34" charset="0"/>
                <a:ea typeface="Calibri" pitchFamily="34" charset="-122"/>
                <a:cs typeface="Calibri" pitchFamily="34" charset="-120"/>
              </a:rPr>
              <a:t>Few routes, high labour costs, no dividend, losing millions a year. Most valuation approaches return a negative number.</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But the routes, landing rights, airport facility leases, ground equipment and aircraft are worth a great deal to a competitor.</a:t>
            </a:r>
            <a:endParaRPr lang="en-US" sz="1100" dirty="0"/>
          </a:p>
          <a:p>
            <a:pPr algn="l" indent="0" marL="0">
              <a:buNone/>
            </a:pPr>
            <a:endParaRPr lang="en-US" sz="1100" dirty="0"/>
          </a:p>
          <a:p>
            <a:pPr algn="l" indent="0" marL="0">
              <a:buNone/>
            </a:pPr>
            <a:r>
              <a:rPr lang="en-US" sz="1100" dirty="0">
                <a:solidFill>
                  <a:srgbClr val="334155"/>
                </a:solidFill>
                <a:latin typeface="Calibri" pitchFamily="34" charset="0"/>
                <a:ea typeface="Calibri" pitchFamily="34" charset="-122"/>
                <a:cs typeface="Calibri" pitchFamily="34" charset="-120"/>
              </a:rPr>
              <a:t>Value the assets apart from the business losing money with them.</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E8600A"/>
          </a:solidFill>
          <a:ln/>
        </p:spPr>
      </p:sp>
      <p:sp>
        <p:nvSpPr>
          <p:cNvPr id="3" name="Shape 1"/>
          <p:cNvSpPr/>
          <p:nvPr/>
        </p:nvSpPr>
        <p:spPr>
          <a:xfrm>
            <a:off x="0" y="4914900"/>
            <a:ext cx="9144000" cy="228600"/>
          </a:xfrm>
          <a:prstGeom prst="rect">
            <a:avLst/>
          </a:prstGeom>
          <a:solidFill>
            <a:srgbClr val="E8600A"/>
          </a:solidFill>
          <a:ln/>
        </p:spPr>
      </p:sp>
      <p:sp>
        <p:nvSpPr>
          <p:cNvPr id="4" name="Text 2"/>
          <p:cNvSpPr txBox="1"/>
          <p:nvPr/>
        </p:nvSpPr>
        <p:spPr>
          <a:xfrm>
            <a:off x="457200" y="228600"/>
            <a:ext cx="8229600" cy="384048"/>
          </a:xfrm>
          <a:prstGeom prst="rect">
            <a:avLst/>
          </a:prstGeom>
          <a:noFill/>
          <a:ln/>
        </p:spPr>
        <p:txBody>
          <a:bodyPr wrap="square" lIns="508" tIns="508" rIns="508" bIns="508" rtlCol="0" anchor="ctr">
            <a:normAutofit/>
            <a:spAutoFit/>
          </a:bodyPr>
          <a:lstStyle/>
          <a:p>
            <a:pPr algn="l" indent="0" marL="0">
              <a:buNone/>
            </a:pPr>
            <a:r>
              <a:rPr lang="en-US" sz="1100" b="1" spc="800" kern="0" dirty="0">
                <a:solidFill>
                  <a:srgbClr val="E8600A"/>
                </a:solidFill>
                <a:latin typeface="Trebuchet MS" pitchFamily="34" charset="0"/>
                <a:ea typeface="Trebuchet MS" pitchFamily="34" charset="-122"/>
                <a:cs typeface="Trebuchet MS" pitchFamily="34" charset="-120"/>
              </a:rPr>
              <a:t>KEY TAKEAWAYS</a:t>
            </a:r>
            <a:endParaRPr lang="en-US" sz="1100" dirty="0"/>
          </a:p>
        </p:txBody>
      </p:sp>
      <p:sp>
        <p:nvSpPr>
          <p:cNvPr id="5" name="Text 3"/>
          <p:cNvSpPr txBox="1"/>
          <p:nvPr/>
        </p:nvSpPr>
        <p:spPr>
          <a:xfrm>
            <a:off x="457200" y="640080"/>
            <a:ext cx="8229600" cy="475488"/>
          </a:xfrm>
          <a:prstGeom prst="rect">
            <a:avLst/>
          </a:prstGeom>
          <a:noFill/>
          <a:ln/>
        </p:spPr>
        <p:txBody>
          <a:bodyPr wrap="square" lIns="508" tIns="508" rIns="508" bIns="508" rtlCol="0" anchor="t">
            <a:normAutofit/>
            <a:spAutoFit/>
          </a:bodyPr>
          <a:lstStyle/>
          <a:p>
            <a:pPr algn="l" indent="0" marL="0">
              <a:buNone/>
            </a:pPr>
            <a:r>
              <a:rPr lang="en-US" sz="1700" b="1" dirty="0">
                <a:solidFill>
                  <a:srgbClr val="1B2A4A"/>
                </a:solidFill>
                <a:latin typeface="Trebuchet MS" pitchFamily="34" charset="0"/>
                <a:ea typeface="Trebuchet MS" pitchFamily="34" charset="-122"/>
                <a:cs typeface="Trebuchet MS" pitchFamily="34" charset="-120"/>
              </a:rPr>
              <a:t>Deck 12 — Equity II — Analysis &amp; Valuation</a:t>
            </a:r>
            <a:endParaRPr lang="en-US" sz="1700" dirty="0"/>
          </a:p>
        </p:txBody>
      </p:sp>
      <p:sp>
        <p:nvSpPr>
          <p:cNvPr id="6" name="Shape 4"/>
          <p:cNvSpPr/>
          <p:nvPr/>
        </p:nvSpPr>
        <p:spPr>
          <a:xfrm>
            <a:off x="457200" y="1261872"/>
            <a:ext cx="4046220" cy="749808"/>
          </a:xfrm>
          <a:prstGeom prst="rect">
            <a:avLst/>
          </a:prstGeom>
          <a:solidFill>
            <a:srgbClr val="253A5E"/>
          </a:solidFill>
          <a:ln/>
        </p:spPr>
      </p:sp>
      <p:sp>
        <p:nvSpPr>
          <p:cNvPr id="7" name="Shape 5"/>
          <p:cNvSpPr/>
          <p:nvPr/>
        </p:nvSpPr>
        <p:spPr>
          <a:xfrm>
            <a:off x="621792" y="1389888"/>
            <a:ext cx="128016" cy="128016"/>
          </a:xfrm>
          <a:prstGeom prst="rect">
            <a:avLst/>
          </a:prstGeom>
          <a:solidFill>
            <a:srgbClr val="E8600A"/>
          </a:solidFill>
          <a:ln/>
        </p:spPr>
      </p:sp>
      <p:sp>
        <p:nvSpPr>
          <p:cNvPr id="8" name="Text 6"/>
          <p:cNvSpPr txBox="1"/>
          <p:nvPr/>
        </p:nvSpPr>
        <p:spPr>
          <a:xfrm>
            <a:off x="822960" y="133502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An initial research report has eight elements, built on three analytical blocks — company, industry, forecast — with valuation and a recommendation on top.</a:t>
            </a:r>
            <a:endParaRPr lang="en-US" sz="1150" dirty="0"/>
          </a:p>
        </p:txBody>
      </p:sp>
      <p:sp>
        <p:nvSpPr>
          <p:cNvPr id="9" name="Shape 7"/>
          <p:cNvSpPr/>
          <p:nvPr/>
        </p:nvSpPr>
        <p:spPr>
          <a:xfrm>
            <a:off x="4640580" y="1261872"/>
            <a:ext cx="4046220" cy="749808"/>
          </a:xfrm>
          <a:prstGeom prst="rect">
            <a:avLst/>
          </a:prstGeom>
          <a:solidFill>
            <a:srgbClr val="253A5E"/>
          </a:solidFill>
          <a:ln/>
        </p:spPr>
      </p:sp>
      <p:sp>
        <p:nvSpPr>
          <p:cNvPr id="10" name="Shape 8"/>
          <p:cNvSpPr/>
          <p:nvPr/>
        </p:nvSpPr>
        <p:spPr>
          <a:xfrm>
            <a:off x="4805172" y="1389888"/>
            <a:ext cx="128016" cy="128016"/>
          </a:xfrm>
          <a:prstGeom prst="rect">
            <a:avLst/>
          </a:prstGeom>
          <a:solidFill>
            <a:srgbClr val="E8600A"/>
          </a:solidFill>
          <a:ln/>
        </p:spPr>
      </p:sp>
      <p:sp>
        <p:nvSpPr>
          <p:cNvPr id="11" name="Text 9"/>
          <p:cNvSpPr txBox="1"/>
          <p:nvPr/>
        </p:nvSpPr>
        <p:spPr>
          <a:xfrm>
            <a:off x="5006340" y="133502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Business model = five questions: what is sold, to whom, through which channel, at what price, bought from whom. Then split revenue into volume × price × mix × FX.</a:t>
            </a:r>
            <a:endParaRPr lang="en-US" sz="1150" dirty="0"/>
          </a:p>
        </p:txBody>
      </p:sp>
      <p:sp>
        <p:nvSpPr>
          <p:cNvPr id="12" name="Shape 10"/>
          <p:cNvSpPr/>
          <p:nvPr/>
        </p:nvSpPr>
        <p:spPr>
          <a:xfrm>
            <a:off x="457200" y="2084832"/>
            <a:ext cx="4046220" cy="749808"/>
          </a:xfrm>
          <a:prstGeom prst="rect">
            <a:avLst/>
          </a:prstGeom>
          <a:solidFill>
            <a:srgbClr val="253A5E"/>
          </a:solidFill>
          <a:ln/>
        </p:spPr>
      </p:sp>
      <p:sp>
        <p:nvSpPr>
          <p:cNvPr id="13" name="Shape 11"/>
          <p:cNvSpPr/>
          <p:nvPr/>
        </p:nvSpPr>
        <p:spPr>
          <a:xfrm>
            <a:off x="621792" y="2212848"/>
            <a:ext cx="128016" cy="128016"/>
          </a:xfrm>
          <a:prstGeom prst="rect">
            <a:avLst/>
          </a:prstGeom>
          <a:solidFill>
            <a:srgbClr val="E8600A"/>
          </a:solidFill>
          <a:ln/>
        </p:spPr>
      </p:sp>
      <p:sp>
        <p:nvSpPr>
          <p:cNvPr id="14" name="Text 12"/>
          <p:cNvSpPr txBox="1"/>
          <p:nvPr/>
        </p:nvSpPr>
        <p:spPr>
          <a:xfrm>
            <a:off x="822960" y="215798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Porter sets the long-run profitability ceiling; PESTLE drives growth and share. Rank the forces — one or two always dominate, and those are what you monitor.</a:t>
            </a:r>
            <a:endParaRPr lang="en-US" sz="1150" dirty="0"/>
          </a:p>
        </p:txBody>
      </p:sp>
      <p:sp>
        <p:nvSpPr>
          <p:cNvPr id="15" name="Shape 13"/>
          <p:cNvSpPr/>
          <p:nvPr/>
        </p:nvSpPr>
        <p:spPr>
          <a:xfrm>
            <a:off x="4640580" y="2084832"/>
            <a:ext cx="4046220" cy="749808"/>
          </a:xfrm>
          <a:prstGeom prst="rect">
            <a:avLst/>
          </a:prstGeom>
          <a:solidFill>
            <a:srgbClr val="253A5E"/>
          </a:solidFill>
          <a:ln/>
        </p:spPr>
      </p:sp>
      <p:sp>
        <p:nvSpPr>
          <p:cNvPr id="16" name="Shape 14"/>
          <p:cNvSpPr/>
          <p:nvPr/>
        </p:nvSpPr>
        <p:spPr>
          <a:xfrm>
            <a:off x="4805172" y="2212848"/>
            <a:ext cx="128016" cy="128016"/>
          </a:xfrm>
          <a:prstGeom prst="rect">
            <a:avLst/>
          </a:prstGeom>
          <a:solidFill>
            <a:srgbClr val="E8600A"/>
          </a:solidFill>
          <a:ln/>
        </p:spPr>
      </p:sp>
      <p:sp>
        <p:nvSpPr>
          <p:cNvPr id="17" name="Text 15"/>
          <p:cNvSpPr txBox="1"/>
          <p:nvPr/>
        </p:nvSpPr>
        <p:spPr>
          <a:xfrm>
            <a:off x="5006340" y="215798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Four forecast approaches, four forecast objects. Triangulate top-down (market × share) against bottom-up (units × price): the gap is an implied share assumption.</a:t>
            </a:r>
            <a:endParaRPr lang="en-US" sz="1150" dirty="0"/>
          </a:p>
        </p:txBody>
      </p:sp>
      <p:sp>
        <p:nvSpPr>
          <p:cNvPr id="18" name="Shape 16"/>
          <p:cNvSpPr/>
          <p:nvPr/>
        </p:nvSpPr>
        <p:spPr>
          <a:xfrm>
            <a:off x="457200" y="2907792"/>
            <a:ext cx="4046220" cy="749808"/>
          </a:xfrm>
          <a:prstGeom prst="rect">
            <a:avLst/>
          </a:prstGeom>
          <a:solidFill>
            <a:srgbClr val="253A5E"/>
          </a:solidFill>
          <a:ln/>
        </p:spPr>
      </p:sp>
      <p:sp>
        <p:nvSpPr>
          <p:cNvPr id="19" name="Shape 17"/>
          <p:cNvSpPr/>
          <p:nvPr/>
        </p:nvSpPr>
        <p:spPr>
          <a:xfrm>
            <a:off x="621792" y="3035808"/>
            <a:ext cx="128016" cy="128016"/>
          </a:xfrm>
          <a:prstGeom prst="rect">
            <a:avLst/>
          </a:prstGeom>
          <a:solidFill>
            <a:srgbClr val="E8600A"/>
          </a:solidFill>
          <a:ln/>
        </p:spPr>
      </p:sp>
      <p:sp>
        <p:nvSpPr>
          <p:cNvPr id="20" name="Text 18"/>
          <p:cNvSpPr txBox="1"/>
          <p:nvPr/>
        </p:nvSpPr>
        <p:spPr>
          <a:xfrm>
            <a:off x="822960" y="298094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Bear / base / bull prices the risks Porter and PESTLE found. CFA's iPad case: USD 2.2 bn of FY12 Microsoft revenue, and USD 0.25 of EPS by FY14.</a:t>
            </a:r>
            <a:endParaRPr lang="en-US" sz="1150" dirty="0"/>
          </a:p>
        </p:txBody>
      </p:sp>
      <p:sp>
        <p:nvSpPr>
          <p:cNvPr id="21" name="Shape 19"/>
          <p:cNvSpPr/>
          <p:nvPr/>
        </p:nvSpPr>
        <p:spPr>
          <a:xfrm>
            <a:off x="4640580" y="2907792"/>
            <a:ext cx="4046220" cy="749808"/>
          </a:xfrm>
          <a:prstGeom prst="rect">
            <a:avLst/>
          </a:prstGeom>
          <a:solidFill>
            <a:srgbClr val="253A5E"/>
          </a:solidFill>
          <a:ln/>
        </p:spPr>
      </p:sp>
      <p:sp>
        <p:nvSpPr>
          <p:cNvPr id="22" name="Shape 20"/>
          <p:cNvSpPr/>
          <p:nvPr/>
        </p:nvSpPr>
        <p:spPr>
          <a:xfrm>
            <a:off x="4805172" y="3035808"/>
            <a:ext cx="128016" cy="128016"/>
          </a:xfrm>
          <a:prstGeom prst="rect">
            <a:avLst/>
          </a:prstGeom>
          <a:solidFill>
            <a:srgbClr val="E8600A"/>
          </a:solidFill>
          <a:ln/>
        </p:spPr>
      </p:sp>
      <p:sp>
        <p:nvSpPr>
          <p:cNvPr id="23" name="Text 21"/>
          <p:cNvSpPr txBox="1"/>
          <p:nvPr/>
        </p:nvSpPr>
        <p:spPr>
          <a:xfrm>
            <a:off x="5006340" y="298094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Gordon uses D₁, not D₀ — Siemens €185.70. Two-stage bolts a Gordon tail on: IBM USD 147.52, 92% of it terminal, discounted n periods and never n+1.</a:t>
            </a:r>
            <a:endParaRPr lang="en-US" sz="1150" dirty="0"/>
          </a:p>
        </p:txBody>
      </p:sp>
      <p:sp>
        <p:nvSpPr>
          <p:cNvPr id="24" name="Shape 22"/>
          <p:cNvSpPr/>
          <p:nvPr/>
        </p:nvSpPr>
        <p:spPr>
          <a:xfrm>
            <a:off x="457200" y="3730752"/>
            <a:ext cx="4046220" cy="749808"/>
          </a:xfrm>
          <a:prstGeom prst="rect">
            <a:avLst/>
          </a:prstGeom>
          <a:solidFill>
            <a:srgbClr val="253A5E"/>
          </a:solidFill>
          <a:ln/>
        </p:spPr>
      </p:sp>
      <p:sp>
        <p:nvSpPr>
          <p:cNvPr id="25" name="Shape 23"/>
          <p:cNvSpPr/>
          <p:nvPr/>
        </p:nvSpPr>
        <p:spPr>
          <a:xfrm>
            <a:off x="621792" y="3858768"/>
            <a:ext cx="128016" cy="128016"/>
          </a:xfrm>
          <a:prstGeom prst="rect">
            <a:avLst/>
          </a:prstGeom>
          <a:solidFill>
            <a:srgbClr val="E8600A"/>
          </a:solidFill>
          <a:ln/>
        </p:spPr>
      </p:sp>
      <p:sp>
        <p:nvSpPr>
          <p:cNvPr id="26" name="Text 24"/>
          <p:cNvSpPr txBox="1"/>
          <p:nvPr/>
        </p:nvSpPr>
        <p:spPr>
          <a:xfrm>
            <a:off x="822960" y="380390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FCFE is dividend-paying capacity, discounted at the cost of equity for equity value. FCFF goes at WACC to enterprise value. Never cross the two rates.</a:t>
            </a:r>
            <a:endParaRPr lang="en-US" sz="1150" dirty="0"/>
          </a:p>
        </p:txBody>
      </p:sp>
      <p:sp>
        <p:nvSpPr>
          <p:cNvPr id="27" name="Shape 25"/>
          <p:cNvSpPr/>
          <p:nvPr/>
        </p:nvSpPr>
        <p:spPr>
          <a:xfrm>
            <a:off x="4640580" y="3730752"/>
            <a:ext cx="4046220" cy="749808"/>
          </a:xfrm>
          <a:prstGeom prst="rect">
            <a:avLst/>
          </a:prstGeom>
          <a:solidFill>
            <a:srgbClr val="253A5E"/>
          </a:solidFill>
          <a:ln/>
        </p:spPr>
      </p:sp>
      <p:sp>
        <p:nvSpPr>
          <p:cNvPr id="28" name="Shape 26"/>
          <p:cNvSpPr/>
          <p:nvPr/>
        </p:nvSpPr>
        <p:spPr>
          <a:xfrm>
            <a:off x="4805172" y="3858768"/>
            <a:ext cx="128016" cy="128016"/>
          </a:xfrm>
          <a:prstGeom prst="rect">
            <a:avLst/>
          </a:prstGeom>
          <a:solidFill>
            <a:srgbClr val="E8600A"/>
          </a:solidFill>
          <a:ln/>
        </p:spPr>
      </p:sp>
      <p:sp>
        <p:nvSpPr>
          <p:cNvPr id="29" name="Text 27"/>
          <p:cNvSpPr txBox="1"/>
          <p:nvPr/>
        </p:nvSpPr>
        <p:spPr>
          <a:xfrm>
            <a:off x="5006340" y="3803904"/>
            <a:ext cx="3589020" cy="603504"/>
          </a:xfrm>
          <a:prstGeom prst="rect">
            <a:avLst/>
          </a:prstGeom>
          <a:noFill/>
          <a:ln/>
        </p:spPr>
        <p:txBody>
          <a:bodyPr wrap="square" lIns="508" tIns="508" rIns="508" bIns="508" rtlCol="0" anchor="t">
            <a:normAutofit/>
            <a:spAutoFit/>
          </a:bodyPr>
          <a:lstStyle/>
          <a:p>
            <a:pPr algn="l" indent="0" marL="0">
              <a:buNone/>
            </a:pPr>
            <a:r>
              <a:rPr lang="en-US" sz="1150" dirty="0">
                <a:solidFill>
                  <a:srgbClr val="FFFFFF"/>
                </a:solidFill>
                <a:latin typeface="Calibri" pitchFamily="34" charset="0"/>
                <a:ea typeface="Calibri" pitchFamily="34" charset="-122"/>
                <a:cs typeface="Calibri" pitchFamily="34" charset="-120"/>
              </a:rPr>
              <a:t>Justified forward P/E = payout/(r − g): Nestlé 32.4×. EV/EBITDA (Cameco 12.4×) survives leverage. Keep numerator and denominator on the same claim.</a:t>
            </a:r>
            <a:endParaRPr lang="en-US" sz="1150" dirty="0"/>
          </a:p>
        </p:txBody>
      </p:sp>
      <p:sp>
        <p:nvSpPr>
          <p:cNvPr id="30" name="Text 28"/>
          <p:cNvSpPr txBox="1"/>
          <p:nvPr/>
        </p:nvSpPr>
        <p:spPr>
          <a:xfrm>
            <a:off x="457200" y="4617720"/>
            <a:ext cx="8229600" cy="256032"/>
          </a:xfrm>
          <a:prstGeom prst="rect">
            <a:avLst/>
          </a:prstGeom>
          <a:noFill/>
          <a:ln/>
        </p:spPr>
        <p:txBody>
          <a:bodyPr wrap="square" lIns="508" tIns="508" rIns="508" bIns="508" rtlCol="0" anchor="ctr">
            <a:normAutofit/>
            <a:spAutoFit/>
          </a:bodyPr>
          <a:lstStyle/>
          <a:p>
            <a:pPr algn="l" indent="0" marL="0">
              <a:buNone/>
            </a:pPr>
            <a:r>
              <a:rPr lang="en-US" sz="800" dirty="0">
                <a:solidFill>
                  <a:srgbClr val="6B7A8D"/>
                </a:solidFill>
                <a:latin typeface="Calibri" pitchFamily="34" charset="0"/>
                <a:ea typeface="Calibri" pitchFamily="34" charset="-122"/>
                <a:cs typeface="Calibri" pitchFamily="34" charset="-120"/>
              </a:rPr>
              <a:t>STUDIO TONTON GUG  ·  Finance Fundamentals</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Studio Tonton Gug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FF v2 · Deck 12 · Equity II — Analysis &amp; Valuation</dc:title>
  <dc:subject>PptxGenJS Presentation</dc:subject>
  <dc:creator>Studio Tonton Gug</dc:creator>
  <cp:lastModifiedBy>Studio Tonton Gug</cp:lastModifiedBy>
  <cp:revision>1</cp:revision>
  <dcterms:created xsi:type="dcterms:W3CDTF">2026-09-02T13:47:14Z</dcterms:created>
  <dcterms:modified xsi:type="dcterms:W3CDTF">2026-09-02T13:47:14Z</dcterms:modified>
</cp:coreProperties>
</file>