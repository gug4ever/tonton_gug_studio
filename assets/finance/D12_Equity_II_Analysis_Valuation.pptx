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00584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12  ·  WEEK 6  ·  MORNING 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463040"/>
            <a:ext cx="8229600" cy="1920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Equity II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Analysis &amp; Valuation</a:t>
            </a:r>
            <a:endParaRPr lang="en-US" sz="4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34930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6B7A8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From business model to intrinsic value: the five valuation tools every analyst owns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069080"/>
            <a:ext cx="82296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CFA Level I · Vol 5 Learning Modules 5–8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Roadmap — Equity II — Analysis &amp; Valuation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777240"/>
            <a:ext cx="85039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sections · ~2 hours · Built bottom-up from CFA readings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0040" y="1207008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0040" y="1207008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1252728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Company analysis — past &amp; present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24128" y="1593799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Research-report anatomy · business model · revenue drivers · pricing power · operating &amp; financial leverage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103120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20040" y="2103120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24128" y="2148840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&amp; competitive analysis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24128" y="2489911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(GICS) · Porter Five Forces · PESTLE · generic strategies · industry life cycle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20040" y="2999232"/>
            <a:ext cx="8503920" cy="8595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20040" y="2999232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24128" y="3044952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Company forecasting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386023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 approaches · top-down vs bottom-up revenue · scenario analysis (bear/base/bull) · iPad-vs-PC worked case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0040" y="3895344"/>
            <a:ext cx="8503920" cy="859536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4" name="Shape 22"/>
          <p:cNvSpPr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20040" y="3895344"/>
            <a:ext cx="594360" cy="8595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04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024128" y="3941064"/>
            <a:ext cx="7726680" cy="386791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 toolkit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024128" y="4282135"/>
            <a:ext cx="7726680" cy="472745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DDM, Gordon &amp; two-stage · FCFE · P/E, P/S, P/B · EV/EBITDA · asset-based — Siemens, IBM, Nestlé, Cameco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objectives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822960"/>
            <a:ext cx="850392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deck you should be able to: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1188720"/>
            <a:ext cx="85039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structure and elements of an initial equity research report, and evaluate a company's business model, revenue drivers, and operating/financial leverage.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an industry's structure using Porter's Five Forces and identify the dominant forces to monitor, and complement the analysis with a PESTLE scan.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four forecast approaches to build a top-down or bottom-up revenue forecast and quantify key risks with bear / base / bull scenarios.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intrinsic value using the Gordon growth model, a two-stage DDM, and an FCFE model, and identify the company profile each is suited to.
</a:t>
            </a:r>
            <a:pPr indent="0" marL="0">
              <a:buNone/>
            </a:pPr>
            <a:r>
              <a:rPr lang="en-US" sz="12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and interpret P/E, P/S, P/B, EV/EBITDA and asset-based valuations — and understand why a low multiple demands a "why" before a "buy".
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Company analysis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past &amp; present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of 4  ·  Deck 12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initial equity research report sits on three analytical pillars — company, industry, and forecast — all feeding valuation and a recommendation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5, Exhibits 1–2, pp. 198–204.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reports cover all eight elements below. Subsequent reports revisit only the ones that have changed — usually financials and valuation.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097280"/>
            <a:ext cx="416052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1170432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ANALYTICAL FRAMEWORK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1508760"/>
            <a:ext cx="3886200" cy="6400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2" name="Shape 10"/>
          <p:cNvSpPr/>
          <p:nvPr/>
        </p:nvSpPr>
        <p:spPr>
          <a:xfrm>
            <a:off x="457200" y="1508760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94360" y="1554480"/>
            <a:ext cx="37033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FORECASTING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4360" y="1764792"/>
            <a:ext cx="37033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Revenue, profitability, working capital, capex, capital structure, risks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203704"/>
            <a:ext cx="3886200" cy="640080"/>
          </a:xfrm>
          <a:prstGeom prst="rect">
            <a:avLst/>
          </a:prstGeom>
          <a:solidFill>
            <a:srgbClr val="2D3752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2203704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94360" y="2249424"/>
            <a:ext cx="37033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INDUSTRY &amp; COMPETITIVE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594360" y="2459736"/>
            <a:ext cx="37033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 · size/growth/margins · Porter Five Forces · PESTLE · position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2898648"/>
            <a:ext cx="3886200" cy="640080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0" name="Shape 18"/>
          <p:cNvSpPr/>
          <p:nvPr/>
        </p:nvSpPr>
        <p:spPr>
          <a:xfrm>
            <a:off x="457200" y="2898648"/>
            <a:ext cx="73152" cy="6400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94360" y="2944368"/>
            <a:ext cx="370332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COMPANY — PAST &amp; PRESENT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3154680"/>
            <a:ext cx="3703320" cy="34747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· revenue drivers · operating margins · capital structure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1097280"/>
            <a:ext cx="416052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24" name="Shape 22"/>
          <p:cNvSpPr/>
          <p:nvPr/>
        </p:nvSpPr>
        <p:spPr>
          <a:xfrm>
            <a:off x="4663440" y="109728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800600" y="1170432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INITIAL-REPORT ELEMENTS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846320" y="1481328"/>
            <a:ext cx="3840480" cy="2697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 (buy / hold / sell) + target price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description &amp; business model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overview &amp; competitive positioning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analysis &amp; model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Valuation (present-value + multiples)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ESG considerations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 &amp; management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upside / downside risks
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company's business model answers four simple questions — nail these before touching the spreadsheet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5, §3 "Business Model", pp. 204–220.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Rigorous analysts verify answers with regulatory filings, investor events, site visits, and customer/supplier interviews — never management alone.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8412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91440" cy="84124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2920" y="1143000"/>
            <a:ext cx="3657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1179576"/>
            <a:ext cx="7863840" cy="37856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 BUYS?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1521562"/>
            <a:ext cx="7863840" cy="46268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segments, geographic footprint, concentration. Is it one large customer (Apple → TSMC), many small ones (retail shopper), or a captive government buyer (defense)?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" y="2029968"/>
            <a:ext cx="8503920" cy="84124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" y="2029968"/>
            <a:ext cx="91440" cy="84124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02920" y="2029968"/>
            <a:ext cx="3657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868680" y="2066544"/>
            <a:ext cx="7863840" cy="37856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DO WE SELL?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2408530"/>
            <a:ext cx="7863840" cy="46268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Products &amp; services, recurring vs one-off, discretionary vs staple, single-product vs multi-segment. Warehouse Club Inc. is single-segment; conglomerates are the other extreme.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20040" y="2916936"/>
            <a:ext cx="8503920" cy="84124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320040" y="2916936"/>
            <a:ext cx="91440" cy="84124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02920" y="2916936"/>
            <a:ext cx="3657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868680" y="2953512"/>
            <a:ext cx="7863840" cy="37856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DO WE MAKE MONEY?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3295498"/>
            <a:ext cx="7863840" cy="46268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economics: price × volume, margin structure, fixed vs variable cost split, working-capital cycle, required capital intensity. Drives operating leverage and returns on capital.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20040" y="3803904"/>
            <a:ext cx="8503920" cy="841248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3803904"/>
            <a:ext cx="91440" cy="841248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02920" y="3803904"/>
            <a:ext cx="365760" cy="8412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68680" y="3840480"/>
            <a:ext cx="7863840" cy="37856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THE STRATEGY?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68680" y="4182466"/>
            <a:ext cx="7863840" cy="46268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leadership, differentiation or focus. Intentional strategy with measurement and feedback beats unintentional drift — and is usually only visible in hindsight.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Revenue analysis decomposes growth into volumes, prices and mix — with pricing power the decisive lever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5, self-assessment Q4 and §3 "Revenue Analysis", pp. 200, 204–212.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power is a function of industry structure (few concentrated suppliers, differentiation, switching costs) and strategy — not wishful thinking by management.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Revenue  =  Volume × Price        ΔRev  ≈  %ΔVolume  +  %ΔPrice  +  Mix  +  FX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Mix = shift in product / geography weights; FX = currency translation for reporters in one functional currency.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SELF-ASSESSMENT Q4 — BEVERAGE PRICE × VOLUME WALK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Tea-based drink manufacturer: last year 2 m cases at USD 20 average price. This year: 3 m cases, ASP rises 5% (less discounting). Forecast net-sales growth?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sales: USD 20 × 2 m = USD 40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ASP: USD 20 × 1.05 = USD 21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sales: USD 21 × 3 m = USD 63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Growth: 63 / 40 − 1 = +57.5%, rounded to 58%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Growth = +58%. Volume effect +50%, price effect +5%, interaction +2.5% — all three matter at once.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Operating and financial leverage multiply each other — total leverage is their product, and can make or break a cyclical business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5, self-assessment Q6 &amp; Q8 and §4 "Cost &amp; Leverage", pp. 200–201, 221–245.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a firm already running high operating leverage should be cautious with financial leverage — their product is what shareholders actually experience.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23444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23444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DOL  =  %ΔEBIT / %ΔSales        DFL  =  %ΔNI / %ΔEBIT        DTL  =  DOL × DFL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92024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DOL = degree of operating leverage (from fixed costs). DFL = degree of financial leverage (from fixed interest). DTL = degree of total leverage.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377440"/>
            <a:ext cx="8503920" cy="192024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5 SELF-ASSESSMENT Q6 — COMPANY XYZ DOL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71576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20X0: EUR 9,256 m → 20X1: EUR 9,707 m. Operating income: EUR 1,527 m → EUR 1,673 m. What is DOL for 20X1?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27832"/>
            <a:ext cx="8229600" cy="55778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%ΔSales  =  9,707 / 9,256 − 1  =  +4.87%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%ΔEBIT   =  1,673 / 1,527 − 1  =  +9.56%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      =  9.56% / 4.87%     =  1.96×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DOL = 1.96× — a 1% sales move becomes a 1.96% EBIT move. Any DFL on top amplifies the swing at the equity line.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&amp;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competitive analysis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of 4  ·  Deck 12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Industry structural factors set a long-run profitability ceiling — company-specific factors create the spread beneath it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McGahan &amp; Porter (1997) found industry effects matter most for the sustainability of economic profits; company-specific effects explain more variance for laggards than for leaders.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6, §2 "Uses of Industry Analysis", pp. 249–251. McGahan &amp; Porter (1997).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Competition "pulls" company profitability to an industry base rate over time. Industry analysis estimates that base rate; company analysis estimates the gap to it.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234440"/>
            <a:ext cx="1671523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0040" y="1280160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1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472184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DEFINE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" y="1673352"/>
            <a:ext cx="1580083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boundaries, constituents, substitutes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2028139" y="1234440"/>
            <a:ext cx="1671523" cy="731520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2028139" y="1280160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2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2028139" y="1472184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SURVEY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2073859" y="1673352"/>
            <a:ext cx="1580083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Size, growth, character, profitability, market share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36238" y="1234440"/>
            <a:ext cx="1671523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3736238" y="1280160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3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736238" y="1472184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STRUCTURE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81958" y="1673352"/>
            <a:ext cx="1580083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 Five Forces — long-run profitability drivers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44338" y="1234440"/>
            <a:ext cx="1671523" cy="731520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44338" y="1280160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4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5444338" y="1472184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EXTERNAL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90058" y="1673352"/>
            <a:ext cx="1580083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PESTLE — growth &amp; share dynamics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152437" y="1234440"/>
            <a:ext cx="1671523" cy="73152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152437" y="1280160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STEP 5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7152437" y="1472184"/>
            <a:ext cx="1671523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POSITION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7198157" y="1673352"/>
            <a:ext cx="1580083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strategy vs industry forces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20040" y="2148840"/>
            <a:ext cx="4160520" cy="21488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31" name="Shape 29"/>
          <p:cNvSpPr/>
          <p:nvPr/>
        </p:nvSpPr>
        <p:spPr>
          <a:xfrm>
            <a:off x="320040" y="2148840"/>
            <a:ext cx="73152" cy="21488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57200" y="219456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WHY INDUSTRY MATTERS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2468880"/>
            <a:ext cx="393192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Firms in the same industry face similar demand, factor costs, regulation, and substitutes. Structural forces (Porter) determine long-run returns on invested capital — the ceiling.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Company-specific factors — size, execution, strategy — determine how close a firm gets to that ceiling.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663440" y="2148840"/>
            <a:ext cx="4160520" cy="214884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5" name="Shape 33"/>
          <p:cNvSpPr/>
          <p:nvPr/>
        </p:nvSpPr>
        <p:spPr>
          <a:xfrm>
            <a:off x="4663440" y="2148840"/>
            <a:ext cx="73152" cy="214884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800600" y="219456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IMPROVED FORECASTS &amp; IDEAS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800600" y="2468880"/>
            <a:ext cx="3931920" cy="1783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 analysis sharpens forecasts by modelling the competitive forces that discipline prices, costs, and share.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also surfaces investment candidates the bottom-up screen missed — the second-best in an attractive industry can beat the best in a structurally broken one.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GICS, ICB and TRBC are strict hierarchical taxonomies — useful starting points, but limited by multi-segment firms and geography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6, §3 "Industry Classification", pp. 251–258.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"demand" grouping (similar products from the customer's perspective) has largely replaced legacy "supply" groupings like SIC/NACE/ISIC.</a:t>
            </a:r>
            <a:endParaRPr lang="en-US" sz="13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2103120"/>
                <a:gridCol w="3657600"/>
                <a:gridCol w="11887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Scheme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Provider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Tiers (top → bottom)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# Sectors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MSCI + S&amp;P Dow Jones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Sector → Industry Group → Industry → Sub-Industry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 / 25 / 74 / 163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FTSE Russell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Industry → Supersector → Sector → Subsector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 / 20 / 45 / 173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TRBC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Refinitiv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Econ. Sector → Business → Industry Group → …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 / 33 / 62 / 154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SIC / NACE / ISIC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Government (US / EU / UN)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Legacy supply-based — updated infrequently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varies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54680"/>
            <a:ext cx="8503920" cy="11430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54680"/>
            <a:ext cx="73152" cy="11430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004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FOUR LIMITATIONS ANALYSTS LIVE WITH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74720"/>
            <a:ext cx="827532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Overly narrow or broad groups (Shopify grouped with Check Point in "Application Software")  ·  2. Multi-product firms force a single bucket (Amazon in Consumer Discretionary despite AWS dominance)  ·  3. Global schemes miss local industries (healthcare services, regulated utilities)  ·  4. Groupings change — affects historical comparability (creation of Real Estate sector in 2016).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Porter's Five Forces assesses long-run industry profitability — scored High / Moderate / Low on each of the five dimensions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6, §5 Case Study "US Retail (ex autos)", pp. 270–271.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Scoring is qualitative — if several forces are intense, almost no firm earns attractive returns on capital; if all are benign, the industry is a goldmine.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645920"/>
                <a:gridCol w="438912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Force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 Retail score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Driver — why this rating?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of new entrants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VERY 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&gt;40,000 new retail firm formations per month in the US; minimal licensing and patents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 of substitutes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Services (restaurants, travel) are only a partial substitute; most goods cannot be replaced by services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Bargaining power of customers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MODERATE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Fragmented consumers, but internet comparison-shopping drives price sensitivity on identical SKUs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Bargaining power of suppliers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 to MODERATE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Many manufacturers; branded goods with sole sources (luxury) exert more power than commodities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Rivalry among existing competitors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Many similarly-sized firms selling similar SKUs — price and promotion are the main weapons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246120"/>
            <a:ext cx="8503920" cy="105156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246120"/>
            <a:ext cx="73152" cy="10515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9184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VERDICT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566160"/>
            <a:ext cx="8275320" cy="6858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Retail is a high-rivalry, high-entry industry with moderate customer power — the median operator earns thin operating margins (~3–5%). Scale, scope, and brand loyalty separate leaders (Costco, Home Depot ~14%) from the pack. Amazon disrupted retail not by changing the forces but by changing the fundamental cost of serving a customer.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 analyst must rank the five forces — one or two usually dominate, and those are what must be monitored quarter to quarter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6, §5 "Industry Structure", pp. 265–271.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"What happens if company X raises prices by 10% tomorrow?" If customers switch easily or substitutes exist, buyer power and substitutes are the forces to watch.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2773680" cy="14173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16152"/>
            <a:ext cx="2545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BRANDED BEVERAGES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444752"/>
            <a:ext cx="2545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Dominant force: Supplier power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673352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Concentrated bottler-distributor networks with exclusive shelf arrangements; few substitutes for brand equity. Coke and Pepsi extract the rents.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185160" y="1143000"/>
            <a:ext cx="2773680" cy="14173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5" name="Shape 13"/>
          <p:cNvSpPr/>
          <p:nvPr/>
        </p:nvSpPr>
        <p:spPr>
          <a:xfrm>
            <a:off x="3185160" y="114300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22320" y="1216152"/>
            <a:ext cx="2545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CLOUD INFRASTRUCTURE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322320" y="1444752"/>
            <a:ext cx="2545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Dominant force: Scale barriers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322320" y="1673352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Massive fixed costs (server fleets, networks) and economies of scope with adjacent businesses deter new entrants. AWS / Azure / GCP lock in long-run margin.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50280" y="1143000"/>
            <a:ext cx="2773680" cy="14173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0" name="Shape 18"/>
          <p:cNvSpPr/>
          <p:nvPr/>
        </p:nvSpPr>
        <p:spPr>
          <a:xfrm>
            <a:off x="6050280" y="114300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6187440" y="1216152"/>
            <a:ext cx="2545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GENERIC PHARMA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6187440" y="1444752"/>
            <a:ext cx="2545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Dominant force: Rivalry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6187440" y="1673352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Chemically-equivalent products approved by regulators; pharmacies indifferent between suppliers. Price competition collapses margins to near marginal cost.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20040" y="2697480"/>
            <a:ext cx="2773680" cy="14173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25" name="Shape 23"/>
          <p:cNvSpPr/>
          <p:nvPr/>
        </p:nvSpPr>
        <p:spPr>
          <a:xfrm>
            <a:off x="320040" y="269748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7200" y="2770632"/>
            <a:ext cx="2545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RETAIL BANKS (USA)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2999232"/>
            <a:ext cx="2545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Dominant force: Entry barriers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227832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new commercial bank charters issued per year 2010–2021. Regulatory capital, deposit insurance, and licensing make de novo entry almost impossible.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185160" y="2697480"/>
            <a:ext cx="2773680" cy="14173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0" name="Shape 28"/>
          <p:cNvSpPr/>
          <p:nvPr/>
        </p:nvSpPr>
        <p:spPr>
          <a:xfrm>
            <a:off x="3185160" y="269748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322320" y="2770632"/>
            <a:ext cx="2545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COMMERCIAL AIRCRAFT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3322320" y="2999232"/>
            <a:ext cx="2545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Dominant force: Rivalry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322320" y="3227832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Duopoly (Airbus, Boeing) but fierce price / financing competition per sale. High exit barriers (specialized assets) keep weak players in.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050280" y="2697480"/>
            <a:ext cx="2773680" cy="141732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35" name="Shape 33"/>
          <p:cNvSpPr/>
          <p:nvPr/>
        </p:nvSpPr>
        <p:spPr>
          <a:xfrm>
            <a:off x="6050280" y="2697480"/>
            <a:ext cx="73152" cy="14173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187440" y="2770632"/>
            <a:ext cx="2545080" cy="2377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BUSINESS SOFTWARE (ERP)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6187440" y="2999232"/>
            <a:ext cx="25450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Dominant force: Switching costs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187440" y="3227832"/>
            <a:ext cx="2545080" cy="8229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SAP / Oracle require years to implement and integrate with mission-critical systems. Customers are effectively locked in — incumbents price accordingly.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PESTLE catches what Porter misses — the external tides that move an industry's growth rate and share dynamics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6, §5 "External Influences", pp. 271–276.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 asks "how attractive is the industry?". PESTLE asks "what outside the industry is about to change?". Use both.</a:t>
            </a:r>
            <a:endParaRPr lang="en-US" sz="13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4023360"/>
                <a:gridCol w="31089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Factor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What it covers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Beauty-industry example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— Political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Tax, regulation, geopolitical, trade, subsidies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Proposed packaging-tax on plastic containers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— Economic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GDP, income, inflation, rates, FX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Emerging-market income growth expands premium-SKU demand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 — Social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Demographics, culture, lifestyle, consumer tastes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Selfie &amp; social-media culture lifts premium-skincare demand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— Technological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Innovation (sustaining vs disruptive)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AR "try-on" filters shift customer discovery to online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 — Legal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Contract, competition, IP, labor laws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Trademark enforcement on counterfeit cosmetics in cross-border e-commerce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— Environmental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Climate, resources, waste, carbon transition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Sustainable-packaging commitments and supply-chain audits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520440"/>
            <a:ext cx="8503920" cy="7772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520440"/>
            <a:ext cx="73152" cy="7772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5661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POLITICAL, NOT COMPETITIVE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840480"/>
            <a:ext cx="827532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legislature debating a plastic-packaging tax is a PESTLE signal — political. A competitor launching AR filters is a COMPETITIVE move — Porter. Different frameworks, different responses.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generic competitive strategies — cost leadership, differentiation, focus — explain most of what companies actually do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471416"/>
            <a:ext cx="8503920" cy="1920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"Stuck in the middle" — neither a cost leader, nor differentiated, nor focused — is the worst competitive position; rare to sustain economic profits.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6, §6 "Competitive Positioning", pp. 276–285. Porter (1980).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Evaluating a strategy has three tests: (1) does it defend against the five forces?  (2) does it align with PESTLE?  (3) does the firm have the resources and capabilities to execute?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1" name="Shape 9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1280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COST LEADERSHIP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60020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unit cost in the industry.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Scale economies from fixed costs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Favorable raw-material access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Strict cost culture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Aggressive pricing for volume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Low-cost distribution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Economies of scope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Exemplars: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Costco · Walmart · Ryanair · Southwest Airlines · Vanguard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5" name="Shape 13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3337560" y="1280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DIFFERENTIATION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383280" y="160020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Uniqueness customers will pay for.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Brand and advertising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Proprietary channels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Trademarks, patents, copyright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Superior quality / features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Customer-experience culture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Premium pricing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Exemplars: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· LVMH · Ferrari · Rolex · Nike · Disney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9" name="Shape 17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217920" y="1280160"/>
            <a:ext cx="2514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FOCUS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160020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 segment served exceptionally.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Proximity to a specific customer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Deep understanding of their needs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May combine cost OR differentiation within that niche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Exemplars: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Ferrari (luxury auto) · Edward Jones (rural US brokerage) · Hermès (ultra-luxury leather) · Ducati (sport motorcycles)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Company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forecasting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of 4  ·  Deck 12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There are four forecast approaches — historical, base-rate convergence, management guidance, and analyst discretionary — each fits a different setting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7, §2 "Forecast Objects, Principles, Approaches", pp. 288–295.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practice, approaches are combined — e.g., use guidance for next year, base-rate convergence for the long run, discretionary for a disruptive inflection.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023360"/>
                <a:gridCol w="2377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Approach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Best-fit setting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Pitfall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Historical results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Mature, non-cyclical industries; non-material line items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Past conditions may not repeat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rates &amp; convergence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Young firms scaling toward industry norms; maturing markets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Industry average may be shifting too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Management guidance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Strong track record of accuracy; management controls the variable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Macro-sensitive lines — no info advantage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Analyst discretionary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Cyclicals, disruptive change, unique business, no comparables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Dependent on analyst judgment quality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154680"/>
            <a:ext cx="8503920" cy="11430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154680"/>
            <a:ext cx="73152" cy="11430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2004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FORECAST OBJECTS — 4 LEVELS OF GRANULARITY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474720"/>
            <a:ext cx="8275320" cy="777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DRIVERS of financial-statement lines (# stores × sales / store) — highest explanatory value.  ·  2. INDIVIDUAL LINES directly — efficient when drivers unclear or line is immaterial.  ·  3. SUMMARY MEASURES (FCF, EPS, total assets) — efficient but opaque.  ·  4. AD-HOC objects (one-off legal, regulatory, weather) — require judgment.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Top-down revenue forecasts pivot on market size and share; bottom-up forecasts build from volumes and prices — cross-checking both uncovers hidden assumptions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7, §3 "Forecasting Revenues", Exhibit 2, pp. 295–300.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methods applied to the same company should converge within a narrow band — if they don't, one or more assumptions is wrong and worth finding.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416052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TOP-DOWN (MARKET × SHARE)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38404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forecast market size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nominal GDP × industry / GDP ratio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adjust for life-cycle (growth, mature, decline)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forecast company share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stable, gaining, losing — and by how much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multiply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Revenue = Market size × Share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(Warehouse Club):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US retail (ex autos) grows 3.4% p.a.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Share gain: +2 bps per year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10-y cumulative top-line driver: +38%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416052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2"/>
          <p:cNvSpPr/>
          <p:nvPr/>
        </p:nvSpPr>
        <p:spPr>
          <a:xfrm>
            <a:off x="4663440" y="118872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800600" y="1280160"/>
            <a:ext cx="38862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BOTTOM-UP (VOLUME × PRICE)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846320" y="1600200"/>
            <a:ext cx="384048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forecast capacity / units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stores opened, subscribers added, planes in fleet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forecast unit economics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sales per store, ARPU, yield per seat-mile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multiply &amp; aggregate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Revenue = Σ (units × unit price) by segment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(Warehouse Club):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4–6 new stores / year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Same-store sales growth 3.8%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~450 k new members / year × annual fee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Totals: +USD 8–10 bn / year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three-scenario forecast — bear, base, bull — disciplines the analyst into quantifying the risks already identified in Porter and PESTLE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7, §6 "Scenario Analysis", pp. 318–320.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scenario should correspond to a coherent story — bear = e-commerce share loss accelerates, base = trend continues, bull = physical stores regain share post-pandemic.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13258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188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CASE — US CONSUMER-STAPLES RETAILER (FY+1)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48132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revenue USD 11,500 m. Real GDP +2.0%, inflation +2.5% → nominal GDP +4.5%. Industry tracks GDP. Company share is stable at 0.70% of US retail ex-autos. Same-store sales +3.5%, +5 new stores at USD 50m each.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1993392"/>
            <a:ext cx="8229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Top-down: 11,500 × (1 + 4.5%) = 12,018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Bottom-up: SSS +3.5% × 11,500 = +402 m; new stores 5 × 50 = 250 m; pricing +0.5% = 58 m → 12,210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 → base-case FY+1 revenue ≈ USD 12,100 m (average of the two)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11480" y="20299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0299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BASE-CASE FY+1 REVENUE  ≈  USD 12,100 m  (+5.2% YoY)</a:t>
            </a:r>
            <a:endParaRPr lang="en-US" sz="11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606040"/>
          <a:ext cx="850392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4480560"/>
                <a:gridCol w="731520"/>
                <a:gridCol w="73152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Scenario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Story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GDP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SSS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FY+1 rev USD 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Bear (25%)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Accelerating e-commerce share loss; recession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+0.5%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−1.5%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11,610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(50%)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Trend continues: mild GDP growth, share stable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+3.5%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12,100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Bull (25%)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Physical-store renaissance + margin expansion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+5.5%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+6.0%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12,990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Probability-weighted FY+1 revenue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Scenario analysis of a disruptive threat — the iPad cannibalizing PC demand — sizes potential Microsoft revenue losses with explicit assumptions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7, Example 4 "Tablet Cannibalization", pp. 319–323.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start of 2012, one year after iPad launch — the question: what fraction of PC sales will tablets replace, and what does that cost Microsoft?</a:t>
            </a:r>
            <a:endParaRPr lang="en-US" sz="13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5039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78992"/>
                <a:gridCol w="1078992"/>
                <a:gridCol w="1078992"/>
                <a:gridCol w="1078992"/>
                <a:gridCol w="1078992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Row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FY11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FY12E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FY13E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FY14E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3-y CAGR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Pre-cannib. PC shipments (k)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350,903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400,000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+4.5%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Tablet shipments (k)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38,471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90,000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175,000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+65.7%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Cannib. factor (consumer / non-consumer)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/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/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/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30% / 10%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PCs cannibalized (k)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11,205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25,560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34,750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47,250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—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MSFT revenue impact (USD m, ASP 85 cons / 155 non)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964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2,223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3,050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4,200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+63%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337560"/>
            <a:ext cx="8503920" cy="96012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337560"/>
            <a:ext cx="73152" cy="96012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38328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BASE-CASE TAKEAWAY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3657600"/>
            <a:ext cx="8275320" cy="5943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the base case (30% consumer / 10% non-consumer cannibalization), Microsoft loses ~USD 2.2 bn of PC-OS + Office revenue in FY12, growing to ~USD 4.2 bn by FY14. Bear case (40%/15%) extrapolates to USD 6 bn+; bull case (20%/5%) halves the damage. The analyst's recommendation depends on which scenario is priced in.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914400" y="1371600"/>
            <a:ext cx="7315200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200" b="1" spc="600" kern="0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SECTION 04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914400" y="1920240"/>
            <a:ext cx="2743200" cy="457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057400"/>
            <a:ext cx="731520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3200" dirty="0"/>
          </a:p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toolkit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640580"/>
            <a:ext cx="7315200" cy="2743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E8EC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of 4  ·  Deck 12 of 20  ·  Studio Tonton Gug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families of valuation models — present-value, multiplier, and asset-based — together triangulate an intrinsic-value estimate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§3 "Categories of Valuation Models", pp. 338–340.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&lt; value → undervalued; price &gt; value → overvalued; price ≈ value → fairly valued — always interpreted with an analyst confidence band.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2743200" cy="3154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4300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3444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 VALUE (DCF)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55448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value = PV of future cash flows to equity.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Gordon growth DDM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Multi-stage DDM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FCFE model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Mature, dividend-paying, predictable firms with forecastable cash flows.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to r and g; terminal value often dominates.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4300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4300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3444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MULTIPLES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55448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value inferred from comparable companies.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P/E, P/B, P/S, P/CF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EV/EBITDA, EV/Sales, EV/Op. Income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Cross-sectional comparison within industry; quick screen for over-/under-valuation.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Assumes peers correctly priced; accounting noise; cyclicality distorts denominators.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43000"/>
            <a:ext cx="2743200" cy="3154680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43000"/>
            <a:ext cx="73152" cy="3154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3444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ASSET-BASED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55448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value = Σ assets − Σ liabilities − preferred, at fair values.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Holding companies, REITs, closed-end funds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Natural-resource and financial firms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Liquidations, takeover floors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Weakness:</a:t>
            </a: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Ignores intangibles (brands, people, growth). Provides a floor, not a going-concern value.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DDM prices a share as the PV of future dividends — FCFE applies the same idea to dividend-paying capacity instead of actual dividends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§5 "DDM and FCFE Model", pp. 343–347.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dividend-payer with stable payout? DDM. Young firm, non-payer, or levered firm with large buybacks? FCFE.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V₀  =  Σ  Dₜ / (1 + r)ᵗ           FCFE  =  CFO  −  FCInv  +  Net borrowing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Dₜ = expected dividend in year t; r = required return on equity; FCInv = fixed-capital investment (capex); Net borrowing = new debt − repayments.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86000"/>
            <a:ext cx="4160520" cy="201168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3" name="Shape 11"/>
          <p:cNvSpPr/>
          <p:nvPr/>
        </p:nvSpPr>
        <p:spPr>
          <a:xfrm>
            <a:off x="320040" y="2286000"/>
            <a:ext cx="73152" cy="201168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DDM WHEN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39319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firm pays a stable, predictable dividend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Dividends track earnings at a consistent payout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Management has signaled dividend policy credibly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Examples: mature utilities, consumer staples, tobacco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Pitfalls: very low or zero dividends force assumptions; buybacks distort the "dividend" proxy.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663440" y="2286000"/>
            <a:ext cx="4160520" cy="2011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7" name="Shape 15"/>
          <p:cNvSpPr/>
          <p:nvPr/>
        </p:nvSpPr>
        <p:spPr>
          <a:xfrm>
            <a:off x="4663440" y="2286000"/>
            <a:ext cx="73152" cy="2011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00600" y="2331720"/>
            <a:ext cx="3931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USE FCFE WHEN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800600" y="2606040"/>
            <a:ext cx="3931920" cy="1645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The firm doesn't pay dividends (Amazon, Meta pre-2022)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Dividends are disconnected from capacity to pay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Heavy buybacks supplement or replace dividends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Leverage changes meaningfully affect equity CF</a:t>
            </a:r>
            <a:endParaRPr lang="en-US" sz="1200" dirty="0"/>
          </a:p>
          <a:p>
            <a:pPr algn="l" indent="0" marL="0">
              <a:buNone/>
            </a:pP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FCFE requires forecasting CFO, capex, working capital, and net borrowing — more inputs but less arbitrary.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Gordon growth model prices a stock as a growing perpetuity — elegant, but extremely sensitive to r and g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325112"/>
            <a:ext cx="8503920" cy="33832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¹ The numerator in the Gordon formula is D₁ (next-year dividend), not D₀. Using the wrong numerator is a common mistake.
</a:t>
            </a:r>
            <a:pPr indent="0" marL="0">
              <a:buNone/>
            </a:pPr>
            <a:r>
              <a:rPr lang="en-US" sz="10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² Sustainable growth check: g = b × ROE, with b = retention rate = 1 − payout. Siemens implied g ≈ 8.5% using 5-year average — higher than the dividend-growth estimate of 5.4%.
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§7 "Gordon Growth Model", Example 7, pp. 349–352.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Cross-reference Deck 01 Shipline — there we used D₀ = 2.00, r = 10%, g = 6%→3%. Here CFA uses Siemens with D₀ = 3.70, r = 7.5%, g = 5.4%.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V₀  =  D₀ × (1 + g) / (r − g)  =  D₁ / (r − g)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Assumes r &gt; g (else infinite); constant g forever; constant r forever; dividends are the right cash-flow measure.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286000"/>
            <a:ext cx="4937760" cy="201168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EXAMPLE 7 — SIEMENS AG (FY2017)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24328"/>
            <a:ext cx="46634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recent dividend D₀ = 3.70. Dividend growth 2013→2017 averaged 5.4%. Required return estimated at 7.5%.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3136392"/>
            <a:ext cx="4663440" cy="64922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D₁ = 3.70 × 1.054 = 3.90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− g = 7.5% − 5.4% = 2.1%
</a:t>
            </a:r>
            <a:pPr indent="0" marL="0">
              <a:spcAft>
                <a:spcPts val="200"/>
              </a:spcAft>
              <a:buNone/>
            </a:pPr>
            <a:r>
              <a:rPr lang="en-US" sz="11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3.90 / 0.021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11480" y="3858768"/>
            <a:ext cx="475488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3858768"/>
            <a:ext cx="46634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V₀ = €185.70 vs market €119.20 → appears undervalued</a:t>
            </a:r>
            <a:endParaRPr lang="en-US" sz="11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2286000"/>
          <a:ext cx="3474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95528"/>
                <a:gridCol w="795528"/>
                <a:gridCol w="786384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 ↓ / g →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3.5%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4.5%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5.5%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260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156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112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two-stage DDM bolts a Gordon terminal onto an explicit high-growth phase — the workhorse for firms transitioning to maturity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§8 "Multistage DDMs", Example 10, pp. 354–358.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was a transitioning firm in 2018 — 5-year dividend growth 13.5%, but forecast 4.5% through 2023. Two-stage DDM designed for exactly this profile.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V₀  =  Σ_{t=1..n}  D₀(1+g_S)ᵗ / (1+r)ᵗ   +   [D_{n+1} / (r − g_L)] / (1+r)ⁿ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288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g_S = short-term growth during stage 1 (n years); g_L = long-term sustainable growth; terminal value = Gordon perpetuity at end of stage 1.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8503920" cy="205740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EXAMPLE 10 — IBM TWO-STAGE DDM (END 2018)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D₂₀₁₈ = USD 6.21. g_S = 5% for one year (aligned with Value Line 2019 forecast). g_L = 2.33% thereafter (produces 8-y CAGR of 4.5%, matching forecast). r from CAPM: 2% + 0.95 × 5% = 6.75%.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90672"/>
            <a:ext cx="8229600" cy="69494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D₂₀₁₉ = 6.21 × 1.05 = 6.5205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D₂₀₂₀ = 6.21 × 1.05 × 1.0233 = 6.6724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V₂₀₁₉ (terminal at end of 2019) = D₂₀₂₀ / (r − g_L) = 6.6724 / (0.0675 − 0.0233) = 150.96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V₂₀₁₈ = 6.5205 / 1.0675 + 150.96 / 1.0675 = 6.108 + 141.42 = USD 147.52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11480" y="385876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85876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V₀ = USD 147.52 vs market USD 148.56 → approximately fairly valued</a:t>
            </a:r>
            <a:endParaRPr lang="en-US" sz="11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Free cash flow to equity is the capacity to pay dividends — start from net income, add non-cash, subtract net investment, add net borrowing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§5 "FCFE Model", pp. 345–347.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FCFE ≠ dividends actually paid. A firm with USD 950 FCFE paying USD 300 in dividends is retaining USD 650 — either for reinvestment or to build cash for future distributions / buybacks.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FCFE  =  NI  +  D&amp;A  −  ΔWC  −  Capex  +  Net borrowing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7452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Equivalently: FCFE = CFO − FCInv + Net borrowing. Discount at r_equity (cost of equity, usually via CAPM).</a:t>
            </a:r>
            <a:endParaRPr lang="en-US" sz="11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965960"/>
          <a:ext cx="850392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371600"/>
                <a:gridCol w="2743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Build step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USD m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Notes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1,000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After-tax earnings, bottom of P&amp;L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Depreciation &amp; amortization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+400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Non-cash expense, already in NI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Increase in working capital (A/R, inv.)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Revenue growth absorbs WC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 Capital expenditures (maintenance + growth)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−600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Fixed-capital investment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Net borrowing (new debt − repayments)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+200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New LT debt issued, net of amortization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FCFE available to common shareholders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950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1B2A4A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95% of NI — healthy conversion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0"/>
                    </a:solidFill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320040" y="3840480"/>
            <a:ext cx="8503920" cy="45720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4" name="Shape 11"/>
          <p:cNvSpPr/>
          <p:nvPr/>
        </p:nvSpPr>
        <p:spPr>
          <a:xfrm>
            <a:off x="320040" y="3840480"/>
            <a:ext cx="73152" cy="4572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57200" y="388620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VALUATION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4160520"/>
            <a:ext cx="8275320" cy="91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V₀ = Σ FCFEₜ / (1+r)ᵗ. With a terminal assumption, a Gordon-style tail applies at the end of the explicit forecast.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justified forward P/E falls out of the Gordon model as payout / (r − g) — which is why high-quality, high-growth, low-r firms print high P/Es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§9 "Multiples &amp; Fundamentals", Example 12, pp. 358–362.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trap — payout up, retention down, so g = b × ROE falls too. Changing one input means rechecking the others ("dividend displacement of earnings").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8872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P₀ / E₁  =  payout ratio  /  (r − g)        with   g  =  (1 − payout) × ROE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320040" y="2331720"/>
            <a:ext cx="4937760" cy="196596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377440"/>
            <a:ext cx="466344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EXAMPLE 12 — NESTLÉ JUSTIFIED FWD P/E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670048"/>
            <a:ext cx="466344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Payout ratio (2013-16 avg) = 68%; retention b = 32%; long-run ROE = 21.5%; required return r = 9%.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3182112"/>
            <a:ext cx="4663440" cy="603504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 = 0.32 × 0.215 = 6.9%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− g = 9.0% − 6.9% = 2.1%
</a:t>
            </a:r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P/E = 0.68 / 0.021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3858768"/>
            <a:ext cx="475488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3858768"/>
            <a:ext cx="466344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Justified forward P/E = 32.4×</a:t>
            </a:r>
            <a:endParaRPr lang="en-US" sz="11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49240" y="2331720"/>
          <a:ext cx="347472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795528"/>
                <a:gridCol w="795528"/>
                <a:gridCol w="786384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payout / 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5.0%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6.0%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7.0%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55% 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21.7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17.5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23.3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35.0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18.8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37.5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Method-of-comparables P/S ranks autos in one line — but cheap multiples demand a "why" before a "buy"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§10 "Method of Comparables", Example 13, pp. 362–364.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of one price: identical assets should sell for the same price. But firms in the same industry differ on growth, margins, leverage, cyclicality — dig into each before acting.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43000"/>
          <a:ext cx="8503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914400"/>
                <a:gridCol w="502920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Automaker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P/S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Reading</a:t>
                      </a:r>
                      <a:endParaRPr lang="en-US" sz="11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6350" cap="flat" cmpd="sng" algn="ctr">
                      <a:solidFill>
                        <a:srgbClr val="1B2A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B2A4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Peugeot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Lowest P/S — Europe turnaround story, investors wary of margin volatility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Ford Motor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Cyclically exposed US market, legacy pension obligations weigh on equity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Motors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Similar to Ford but with cleaner balance sheet post-2009 restructuring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Nissan Motor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Alliance-structure discount; multiple governance concerns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Honda Motor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Stable Japanese quality story; diversified (motorcycles + power products)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Daimler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 exposure (Mercedes-Benz) supports a higher multiple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BMW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0.57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Premium-only mix; strong brand and high customer-retention rates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Toyota Motor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0.80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Highest P/S — scale, reliability, capital discipline, global footprint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3175" cap="flat" cmpd="sng" algn="ctr">
                      <a:solidFill>
                        <a:srgbClr val="D0D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320040" y="374904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1" name="Shape 8"/>
          <p:cNvSpPr/>
          <p:nvPr/>
        </p:nvSpPr>
        <p:spPr>
          <a:xfrm>
            <a:off x="320040" y="374904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7200" y="3794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INTERPRETATION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" y="406908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P/S suggests Peugeot is "cheapest" — but the discount reflects execution risk and thin historical margins. Toyota "expensive" multiple embeds decades of consistent returns. Always compare multiples with ROE / growth / risk — not in isolation.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EV/EBITDA compares firms at the operating level, immune to capital-structure noise — the metric of choice for cross-border and LBO work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§11 "Enterprise Value", Example 16, pp. 367–370.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captures the whole capital stack the acquirer pays for — equity + debt − cash. EBITDA is pre-D&amp;A, pre-interest, pre-tax — the cash engine, before finance / accounting choices.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43000"/>
            <a:ext cx="8503920" cy="658368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11480" y="1143000"/>
            <a:ext cx="8321040" cy="6583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  =  Market cap  +  Preferred  +  Debt (market value)  −  Cash &amp; equivalents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20040" y="1828800"/>
            <a:ext cx="85039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where: Use market value of debt when available; book value is a rough fallback. Subtract excess cash because an acquirer can use it to retire debt.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0040" y="2240280"/>
            <a:ext cx="8503920" cy="1417320"/>
          </a:xfrm>
          <a:prstGeom prst="rect">
            <a:avLst/>
          </a:prstGeom>
          <a:solidFill>
            <a:srgbClr val="FEF0E7"/>
          </a:solidFill>
          <a:ln w="9525">
            <a:solidFill>
              <a:srgbClr val="E8600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28600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CFA LM 8 EXAMPLE 16 — CAMECO CORPORATION (FY2017)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2578608"/>
            <a:ext cx="8229600" cy="457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395.8 m shares at CAD 14.11 → equity 5,585. Book debt 1,905 → market debt 1,480 (discounted using risk-free + spread curve); other liabilities 1,014. Cash 592. EBITDA 606.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90672"/>
            <a:ext cx="8229600" cy="274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  <a:sp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cap = 395.8 × 14.11 = CAD 5,585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value of total debt &amp; liabilities ≈ 1,480 + 1,014 = CAD 2,494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= 5,585 + 2,494 − 592 = CAD 7,487 m
</a:t>
            </a:r>
            <a:pPr indent="0" marL="0">
              <a:spcAft>
                <a:spcPts val="200"/>
              </a:spcAft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/ EBITDA = 7,487 / 606 = 12.4×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218688"/>
            <a:ext cx="8321040" cy="36576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218688"/>
            <a:ext cx="8229600" cy="365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 / EBITDA = 12.4× — benchmark against uranium peers; negative earnings years still computable (EBITDA usually positive).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20040" y="3749040"/>
            <a:ext cx="8503920" cy="548640"/>
          </a:xfrm>
          <a:prstGeom prst="rect">
            <a:avLst/>
          </a:prstGeom>
          <a:solidFill>
            <a:srgbClr val="FEF0E7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3749040"/>
            <a:ext cx="73152" cy="54864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794760"/>
            <a:ext cx="827532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4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WHEN EV BEATS MARKET CAP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069080"/>
            <a:ext cx="827532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firms with different leverage · M&amp;A / LBO analysis · negative-earnings periods · cross-border with different tax regimes. Watch: EBITDA adds back non-cash D&amp;A — in capital-intensive industries, that overstates cash generation.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21792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621792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256032" y="0"/>
            <a:ext cx="8686800" cy="6217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Asset-based valuation sets a floor — useful for asset-heavy, intangible-light, or winding-down businesses, but weak when value sits in brands, people, or growth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E8EC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74320" y="4892040"/>
            <a:ext cx="5943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750" dirty="0"/>
          </a:p>
        </p:txBody>
      </p:sp>
      <p:sp>
        <p:nvSpPr>
          <p:cNvPr id="7" name="Text 5"/>
          <p:cNvSpPr txBox="1"/>
          <p:nvPr/>
        </p:nvSpPr>
        <p:spPr>
          <a:xfrm>
            <a:off x="320040" y="4663440"/>
            <a:ext cx="850392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CFA Institute, Curriculum Vol 5, Learning Module 8, §12 "Asset-Based Valuation", Examples 18–20, pp. 371–374.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320040" y="731520"/>
            <a:ext cx="8503920" cy="2926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= fair value of assets − fair value of liabilities − preferred. In practice, book-to-market adjustment is the hardest step.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0040" y="1188720"/>
            <a:ext cx="2743200" cy="3154680"/>
          </a:xfrm>
          <a:prstGeom prst="rect">
            <a:avLst/>
          </a:prstGeom>
          <a:solidFill>
            <a:srgbClr val="E8F5E9"/>
          </a:solidFill>
          <a:ln/>
        </p:spPr>
      </p:sp>
      <p:sp>
        <p:nvSpPr>
          <p:cNvPr id="10" name="Shape 8"/>
          <p:cNvSpPr/>
          <p:nvPr/>
        </p:nvSpPr>
        <p:spPr>
          <a:xfrm>
            <a:off x="320040" y="1188720"/>
            <a:ext cx="73152" cy="31546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128016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A6B3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WORKS — FAMILY LAUNDRY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160020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Tangible assets dominate: the building, land, washers &amp; dryers, inventory. Each has a verifiable market value (real-estate appraisal, used-equipment dealer).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Intangibles (location, marketing) are small. Asset-based approach yields a defensible number.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0" y="1188720"/>
            <a:ext cx="2743200" cy="3154680"/>
          </a:xfrm>
          <a:prstGeom prst="rect">
            <a:avLst/>
          </a:prstGeom>
          <a:solidFill>
            <a:srgbClr val="FFEBEE"/>
          </a:solidFill>
          <a:ln/>
        </p:spPr>
      </p:sp>
      <p:sp>
        <p:nvSpPr>
          <p:cNvPr id="14" name="Shape 12"/>
          <p:cNvSpPr/>
          <p:nvPr/>
        </p:nvSpPr>
        <p:spPr>
          <a:xfrm>
            <a:off x="3200400" y="1188720"/>
            <a:ext cx="73152" cy="3154680"/>
          </a:xfrm>
          <a:prstGeom prst="rect">
            <a:avLst/>
          </a:prstGeom>
          <a:solidFill>
            <a:srgbClr val="B71C1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337560" y="128016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B71C1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FLOOR — SECRET-RECIPE RESTAURANT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3383280" y="160020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Kitchen equipment + inventory − liabilities produces a baseline.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the "secret recipe" and the chef's reputation are intangibles that walk out with the owner.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Asset-based = floor; going-concern value requires multiple or DCF.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80760" y="1188720"/>
            <a:ext cx="2743200" cy="3154680"/>
          </a:xfrm>
          <a:prstGeom prst="rect">
            <a:avLst/>
          </a:prstGeom>
          <a:solidFill>
            <a:srgbClr val="F5F7FA"/>
          </a:solidFill>
          <a:ln/>
        </p:spPr>
      </p:sp>
      <p:sp>
        <p:nvSpPr>
          <p:cNvPr id="18" name="Shape 16"/>
          <p:cNvSpPr/>
          <p:nvPr/>
        </p:nvSpPr>
        <p:spPr>
          <a:xfrm>
            <a:off x="6080760" y="1188720"/>
            <a:ext cx="73152" cy="315468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217920" y="1280160"/>
            <a:ext cx="246888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REVIVES — LEGACY AIRLINE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1600200"/>
            <a:ext cx="2423160" cy="265176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going concern is losing money, so DCF produces a negative value.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landing slots at congested hubs, aircraft, gate leases, and frequent-flier program are worth a lot to a competitor.</a:t>
            </a:r>
            <a:endParaRPr lang="en-US" sz="1100" dirty="0"/>
          </a:p>
          <a:p>
            <a:pPr algn="l" indent="0" marL="0">
              <a:buNone/>
            </a:pPr>
            <a:endParaRPr lang="en-US" sz="1100" dirty="0"/>
          </a:p>
          <a:p>
            <a:pPr algn="l"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Asset-based approach is the RIGHT lens for an acquirer.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914900"/>
            <a:ext cx="9144000" cy="228600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228600"/>
            <a:ext cx="8229600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1100" b="1" spc="800" kern="0" dirty="0">
                <a:solidFill>
                  <a:srgbClr val="E8600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TAKEAWAYS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640080"/>
            <a:ext cx="8229600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1B2A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Deck 12 — Equity II — Analysis &amp; Valuation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5720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7" name="Shape 5"/>
          <p:cNvSpPr/>
          <p:nvPr/>
        </p:nvSpPr>
        <p:spPr>
          <a:xfrm>
            <a:off x="62179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2296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initial research report is built on three blocks: company (past &amp; present), industry &amp; competitive analysis, and forecasts — all feeding valuation and a recommendation.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40580" y="126187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0" name="Shape 8"/>
          <p:cNvSpPr/>
          <p:nvPr/>
        </p:nvSpPr>
        <p:spPr>
          <a:xfrm>
            <a:off x="4805172" y="138988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6340" y="133502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model = who buys × what we sell × how we make money × the competitive strategy. Decompose revenue into volume × price × mix × FX — pricing power is the decisive lever.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3" name="Shape 11"/>
          <p:cNvSpPr/>
          <p:nvPr/>
        </p:nvSpPr>
        <p:spPr>
          <a:xfrm>
            <a:off x="62179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2296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Porter's Five Forces sets the long-run industry profitability ceiling. PESTLE captures the external growth-and-share tides. Rank the forces — one or two always dominate.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40580" y="208483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5172" y="221284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006340" y="215798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forecast approaches: historical, base-rate convergence, management guidance, analyst discretionary. Triangulate top-down (market × share) with bottom-up (volume × price).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45720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19" name="Shape 17"/>
          <p:cNvSpPr/>
          <p:nvPr/>
        </p:nvSpPr>
        <p:spPr>
          <a:xfrm>
            <a:off x="62179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2296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bear / base / bull scenario triangle quantifies the risks identified in Porter and PESTLE — the iPad-vs-PC case shows a USD 2.2bn FY+1 base-case revenue hit to Microsoft.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40580" y="290779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2" name="Shape 20"/>
          <p:cNvSpPr/>
          <p:nvPr/>
        </p:nvSpPr>
        <p:spPr>
          <a:xfrm>
            <a:off x="4805172" y="303580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6340" y="298094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growth DDM (Siemens, V₀ = €185.70) and two-stage DDM (IBM, V₀ = USD 147.52) are the workhorses for dividend-paying companies. FCFE replaces dividends with dividend-paying capacity.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5720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5" name="Shape 23"/>
          <p:cNvSpPr/>
          <p:nvPr/>
        </p:nvSpPr>
        <p:spPr>
          <a:xfrm>
            <a:off x="62179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2296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Justified forward P/E = payout / (r − g). Nestlé: 0.68 / (0.09 − 0.069) = 32.4× — and very sensitive to ROE and payout inputs.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40580" y="3730752"/>
            <a:ext cx="4046220" cy="749808"/>
          </a:xfrm>
          <a:prstGeom prst="rect">
            <a:avLst/>
          </a:prstGeom>
          <a:solidFill>
            <a:srgbClr val="253A5E"/>
          </a:solidFill>
          <a:ln/>
        </p:spPr>
      </p:sp>
      <p:sp>
        <p:nvSpPr>
          <p:cNvPr id="28" name="Shape 26"/>
          <p:cNvSpPr/>
          <p:nvPr/>
        </p:nvSpPr>
        <p:spPr>
          <a:xfrm>
            <a:off x="4805172" y="3858768"/>
            <a:ext cx="128016" cy="128016"/>
          </a:xfrm>
          <a:prstGeom prst="rect">
            <a:avLst/>
          </a:prstGeom>
          <a:solidFill>
            <a:srgbClr val="E8600A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006340" y="3803904"/>
            <a:ext cx="3589020" cy="60350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  <a:sp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 / EBITDA (Cameco = 12.4×) beats P/E across capital structures and negative-earnings years. Asset-based valuation sets a floor — useful when intangibles are small or the going concern is gone.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4617720"/>
            <a:ext cx="8229600" cy="25603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  <a:spAutoFit/>
          </a:bodyPr>
          <a:lstStyle/>
          <a:p>
            <a:pPr algn="l" indent="0" marL="0">
              <a:buNone/>
            </a:pPr>
            <a:r>
              <a:rPr lang="en-US" sz="800" dirty="0">
                <a:solidFill>
                  <a:srgbClr val="6B7A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STUDIO TONTON GUG  ·  Finance Fundamentals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Studio Tonton Gug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FF v2 · Deck 12 · Equity II — Analysis &amp; Valuation</dc:title>
  <dc:subject>PptxGenJS Presentation</dc:subject>
  <dc:creator>Studio Tonton Gug</dc:creator>
  <cp:lastModifiedBy>Studio Tonton Gug</cp:lastModifiedBy>
  <cp:revision>1</cp:revision>
  <dcterms:created xsi:type="dcterms:W3CDTF">2026-04-23T14:07:23Z</dcterms:created>
  <dcterms:modified xsi:type="dcterms:W3CDTF">2026-04-23T14:07:23Z</dcterms:modified>
</cp:coreProperties>
</file>