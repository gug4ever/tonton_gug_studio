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  —  AFTERNOON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Statistics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with precision — the language of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 of Central Tendency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mean, median, mode and select the right one for the distribution and data type.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 of Dispersion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28616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variance, standard deviation, range and coefficient of variation to quantify spread.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Fundamentals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marginal, joint and conditional probabilities. Use Bayes' formula.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Distributions &amp; Normality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28616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normal distribution, 68-95-99.7 rule, z-scores, skewness and kurtosis.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Statistics Matter in Finance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is fundamentally about making decisions under uncertainty. Statistics provides the framework to quantify, describe and manage that uncertainty.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Finance Application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Tools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Describe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Summarise return distributions, benchmark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Mean, StdDev, Skew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Infer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Estimate population parameters from samples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Confidence intervals, hypothesis tests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Predict future values from historical relationships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Regression, factor models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Risk Mgmt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Quantify and stress-test portfolio losses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VaR, CVaR, correlation matrices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401568"/>
            <a:ext cx="8503920" cy="80467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474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7856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CFA topic — Fixed Income, Equity, Portfolio Management — uses statistics as its plumbing. This session gives you that plumbing.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20240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Tendency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Dispersion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 of Central Tendency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data: Annual returns (%) of a fund over 8 years: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850392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  |  8%  |  −3%  |  15%  |  8%  |  22%  |  −5%  |  10%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20240"/>
            <a:ext cx="91440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75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Mean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993392"/>
            <a:ext cx="23774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993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 / n = 67 / 8 = 8.375%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9751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estimate of a typical single-period return. Sensitive to outliers (+22%, −5%).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850392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70048"/>
            <a:ext cx="91440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Geometric Mean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7480" y="2743200"/>
            <a:ext cx="23774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743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(∏(1+rᵢ))^(1/n) − 1 = 7.85%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7249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growth rate. Always ≤ arithmetic mean. Use for multi-period performance.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1985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19856"/>
            <a:ext cx="91440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97480" y="3493008"/>
            <a:ext cx="23774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3493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 → middle two = (8+8)/2 = 8.0%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474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outliers. Best when distribution is skewed (as here: 22% pulls mean up).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69664"/>
            <a:ext cx="850392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69664"/>
            <a:ext cx="91440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97480" y="4242816"/>
            <a:ext cx="23774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2428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frequent = 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42245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value appearing twice. Mainly useful for categorical data and discrete distributions.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Geometric Mean — Why It Matters for Investors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mean is the true compound rate of return. Here's why arithmetic mean overstates performance: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13716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53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The Sequence Matters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+50%  |  Year 2: −50%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mean = (50 + (−50)) / 2 = 0% — suggests no change!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result: £1,000 × 1.50 × 0.50 = £750 — you LOST 25%!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= (1.50 × 0.50)^0.5 − 1 = 0.866 − 1 = −13.4% per 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7980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Arithmetic mean − Geometric mean ≈ σ²/2 (half the variance). The gap widens with volatility.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73552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  <a:gridCol w="11887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Returns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Arith. Mean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Geom. Mean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£1,000 after 3 years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+20%, +20%, +20%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£1,728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+40%, +0%, +20%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18.6%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£1,680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+60%, −20%, +20%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14.8%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£1,536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+100%, −50%, +20%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23.3%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17.5%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£1,200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 of Dispersion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quantifies how spread out returns are — it is the financial definition of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887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σ²  =  Σ (xᵢ − x̄)²  /  (n−1)    and    σ  =  √σ²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our 8-year fund: returns = 12, 8, −3, 15, 8, 22, −5, 10.  Mean = 8.375%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95728"/>
          <a:ext cx="5029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92024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Return (%)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Deviation (xᵢ − x̄)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Sq. Deviation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3.625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13.14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−0.375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0.14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−3.0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−11.375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129.39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6.625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43.89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−0.375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0.14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22.0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13.625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185.64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−5.0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−13.375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178.89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1.625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67.0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553.88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40680" y="2395728"/>
            <a:ext cx="3383280" cy="26060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251460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(sample) = 553.88 / 7 = 79.13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= √79.13 = 8.90%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σ/mean = 8.90/8.375 = 1.06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 &gt; 1 means high relative risk)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= 22−(−5) = 27% (quick check)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Fundamentals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is a number between 0 and 1 expressing likelihood of an event. Finance runs on probability.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Marginal (Unconditional) P(A)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A regardless of any other event.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P(market up) = 60%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Probability P(A ∩ 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and B occur.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P(A∩B) = P(A|B) × P(B)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P(mkt up AND rate hike) = 0.4 × 0.60 = 0.24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 Probability P(A|B)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A given B has occurred.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= P(A∩B) / P(B)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P(mkt up | rate hike) = 0.24/0.40 = 60%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 Rule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or B) = P(A) + P(B) − P(A∩B)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mutually exclusive events: P(A or B) = P(A) + P(B)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Conditional Probability (Credit Analysis)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50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61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analyst assesses two scenarios: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P(recession) = 30%  |  P(no recession) = 70%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P(default | recession) = 25%  |  P(default | no recession) = 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81051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to solve: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12848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1284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P(default)?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57860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P(default) = P(def|rec)×P(rec) + P(def|no rec)×P(no rec) = 0.25×0.30 + 0.05×0.70 = 0.075+0.035 = 0.110 = 11%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80944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80944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P(recession | default)? (Bayes)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3467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P(rec|def) = P(def|rec)×P(rec) / P(def) = (0.25×0.30) / 0.110 = 0.075/0.110 = 68.2%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Bayes' Theorem: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= P(B|A) × P(A) / P(B)  — updates prior probability given new evidence. Fundamental to risk models.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20240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Distributions &amp;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Normal Curve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Normal Distribution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  =  (X − μ) / σ    →    Standardises any return to number of standard deviations from mean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symmetric, bell-shaped, fully described by μ and σ. Many financial return series are approximately normal.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6858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57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μ ± 1σ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0574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~2 out of 3 observations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86207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620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μ ± 2σ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28620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95.4%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286207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almost all 'normal' variation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66674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6674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μ ± 3σ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366674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366674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'3-sigma events' — very rare in theory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z-score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956048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 has mean return 12%, σ = 8%. What is the probability of a return below −4% in any given year?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(−4 − 12) / 8 = −2.0  →  P(Z &lt; −2) = 2.3%  →  About 1 year in 44 on average.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Skewness &amp; Kurtosis — Beyond the Bell Curve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financial return distributions are rarely perfectly normal. Two statistics describe the departures: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34440"/>
            <a:ext cx="4023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Skewness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asymmetry of the distribution.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Positive (right) skew: Mean &gt; Median &gt; Mode. Long right tail. Ex: venture capital returns, commodity prices.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Negative (left) skew: Mean &lt; Median &lt; Mode. Long left tail. DANGER for investors — fat left tail means large losses occur more often than normal predicts.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Equity index returns empirically show negative skew — crash risk is real.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34440"/>
            <a:ext cx="4206240" cy="38404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Kurtosis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tail thickness. Normal distribution has kurtosis = 3.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Leptokurtosis (excess &gt; 0): Fatter tails than normal. More extreme events occur. Most financial returns are leptokurtic.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Platykurtosis (excess &lt; 0): Thinner tails. Less common in finance.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kurtosis = kurtosis − 3.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The 2008 crisis was a '25-sigma event' under naive normal assumptions — impossible under normal, common in reality.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&amp; Covariance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 (rho)  =  Cov(X,Y)  /  (σₓ × σᵧ)    →    Range: −1 to +1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quantifies the LINEAR relationship between two variables. It drives portfolio diversification.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65960"/>
          <a:ext cx="8503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256032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ρ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Portfolio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Real-World Example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+1.0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Perfect positive — move in lockstep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diversification benefit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Two shares of same stock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+0.5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Moderate positive relationship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Some diversification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vs growth assets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linear relationship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Maximum diversification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vs gold (approx)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−0.5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Moderate negative relationship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Strong hedge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vs bonds (typical)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−1.0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Perfect negative — mirror image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Perfect hedge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Long/short equity pair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4279392"/>
            <a:ext cx="8503920" cy="7772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3525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 — Correlation ≠ Causation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levels and beer sales have ρ = 0.82. Neither causes the other. Always look for confounding variables. Spurious correlations are common in financial data mining.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 — Linking Variables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quantifies the relationship between a dependent variable Y and an independent variable X: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07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 =  α  +  β × X  +  ε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8483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76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 — Intercept (Alpha)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54203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of Y when X = 0. In CAPM context: abnormal return (Jensen's alpha).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7448" y="208483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208483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176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β — Slope (Beta)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28616" y="254203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Y for a 1-unit change in X. In CAPM: systematic risk of asset vs market.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4904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840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 — Error Term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" y="420624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variation. Residuals should be random with mean zero. If not, model is wrong.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27448" y="374904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374904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3840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— Goodness of Fit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28616" y="420624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Y variation explained by X. R² = ρ². Value between 0 (useless) and 1 (perfect fit).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553712"/>
            <a:ext cx="8503920" cy="4572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26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937760"/>
            <a:ext cx="822960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fund returns (Y) vs S&amp;P 500 returns (X). Regression gives α = 2%, β = 0.80, R² = 0.65.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Fund generates 2% alpha, moves 80% as much as market, and market explains 65% of its variation.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before turning the page.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0789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returns over 5 years: 10%, −5%, 20%, 8%, 12%. Calculate arithmetic mean, geometric mean and standard deviation.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P(rain) = 40%. P(traffic jam | rain) = 70%. P(traffic jam | no rain) = 20%. What is P(traffic jam)?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257860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has mean monthly return 1.5%, σ = 4%. What is the probability of a monthly return below −5%? (Use z-score)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332841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assets: σ₁=15%, σ₂=10%, Cov(1,2)=0.009. Portfolio is 60%/40%. Calculate portfolio variance.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" y="407822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A: mean=12%, σ=8%. Fund B: mean=16%, σ=14%. Which has better risk-adjusted return? (Use CV)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Answers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PM  •  Session 2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 mean = 45/5 = 9.0%. Geom mean = (1.10×0.95×1.20×1.08×1.12)^0.2 − 1 = (1.5099)^0.2 − 1 = 8.6%. Variance = [(1+4+121+1+9)]/4 = 136/4 = 34. σ = 5.83%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581912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P(jam) = 0.70×0.40 + 0.20×0.60 = 0.28 + 0.12 = 0.40 = 40%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86584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(−5 − 1.5)/4 = −1.625. P(Z &lt; −1.625) ≈ 5.2% (about 1 month in 19)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9125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191256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σ_p² = (0.6²×0.15²) + (0.4²×0.10²) + 2×0.6×0.4×0.009 = 0.0081+0.0016+0.00432 = 0.01402. σ_p = 11.8%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995928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99592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CV(A) = 8/12 = 0.67. CV(B) = 14/16 = 0.875. Fund A has better risk-adjusted return (lower CV = less risk per % return)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 — Statistics &amp; Probability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&lt; arithmetic mean — always use geometric for compound returns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is the financial definition of risk — use sample formula (n−1)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= P(A∩B)/P(B) — conditional probability updates prior beliefs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68% within 1σ, 95% within 2σ, 99.7% within 3σ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returns are negatively skewed with fat tails — worse than normal predicts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drives diversification — ρ &lt; 1 creates risk reduction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2026-04-06T18:21:04Z</dcterms:created>
  <dcterms:modified xsi:type="dcterms:W3CDTF">2026-04-06T18:21:04Z</dcterms:modified>
</cp:coreProperties>
</file>