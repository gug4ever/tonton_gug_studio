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—  AFTERNOON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Statistics &amp;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quantitative toolkit for all investment decisions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Roadmap — 2 Hours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sections. Each builds on the previous. Statistics is the language of investment risk and return.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207008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207008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252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Frequency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 • frequency distributions • histograms • EAA Equity Index from CFA LM3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828800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828800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1874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Tendency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1305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• Fund Y geometric mean 14.9% (CFA LM1) • DCA harmonic EUR 76.48 • MWR vs TWR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450592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450592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450592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Dispersion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752344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• std dev 2.53% (CFA LM3) • target semideviation 1.5% (CFA) • CV • Sharpe ratio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072384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072384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72384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31181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374136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rules • conditional • BankCorp/defaulted bond prob trees (CFA LM4) • Bayes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694176"/>
            <a:ext cx="850392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3694176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94176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24128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Distributions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399592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• z-scores • skewness (CFA EAA Index) • kurtosis • lognormal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315968"/>
            <a:ext cx="8503920" cy="53949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4315968"/>
            <a:ext cx="594360" cy="5394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315968"/>
            <a:ext cx="5943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" y="4361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&amp; Regression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4128" y="461772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• correlation • Anscombe quartet (CFA LM3) • spurious correlation • OLS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session you will be able to: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138988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2527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and organise data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5179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nominal, ordinal, interval and ratio scales. Build frequency distributions and interpret histograms.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184708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02996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8928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all return averages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215798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arithmetic, geometric and harmonic means correctly. Apply Fund Y (14.9%) and DCA harmonic mean (EUR 76.48) from CFA LM1.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48716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" y="267004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5328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dispersion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" y="279806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variance, standard deviation (CFA: 2.53%), target semideviation (CFA: 1.5%) and coefficient of variation.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312724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31012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1729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probability rules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" y="343814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addition, multiplication and complement rules. Build probability trees. Apply CFA LM4 BankCorp and bond recovery examples.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" y="376732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" y="395020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with distributions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" y="407822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normal distribution and z-scores. Interpret skewness (CFA EAA Index: -0.426) and kurtosis (excess: 3.796).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0040" y="4407408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8912" y="4590288"/>
            <a:ext cx="182880" cy="18288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4531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correlation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" y="47183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covariance and correlation. Identify Anscombe quartet pitfalls. Apply simple linear regression (OLS).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Frequency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Distributions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 of Data — Getting the Foundation Right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applying ANY statistical method, identify your data type. The type determines which statistics are valid and which are meaningless.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2066544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206654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2984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Nominal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719072"/>
            <a:ext cx="1883664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with no order or meaning. Only counts valid.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of domicile.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sector.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currency.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Stats: Mode only.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14600" y="1298448"/>
            <a:ext cx="2066544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1298448"/>
            <a:ext cx="206654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87752" y="12984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06040" y="1719072"/>
            <a:ext cx="1883664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with a meaningful order, but unequal spacing.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 (AAA &gt; AA &gt; A).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ranking 1–5.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Stats: Median, mode. NOT mean.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298448"/>
            <a:ext cx="2066544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298448"/>
            <a:ext cx="206654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82312" y="12984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1719072"/>
            <a:ext cx="1883664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spacing but NO true zero. Ratios meaningless.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year (2020).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in Celsius.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Stats: Mean, std. Ratios invalid.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03720" y="1298448"/>
            <a:ext cx="2066544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03720" y="1298448"/>
            <a:ext cx="206654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6872" y="12984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95160" y="1719072"/>
            <a:ext cx="1883664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spacing AND true zero. Ratios fully meaningful.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(%), price, EPS, market cap.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Stats: All statistics valid. Most financial data.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4791456"/>
            <a:ext cx="8503920" cy="65836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implication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17550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calculate the average credit rating by treating AAA=1, AA=2, A=3, etc. (interval assumption) but this is technically incorrect — the spacing is not equal. A best practice is to report the median rating, not the mean.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Frequency Distributions — CFA LM3: EAA Equity Index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frequency distribution groups observations into intervals (bins). It is the first step in understanding a return series. From CFA Vol 1, LM3: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6459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Daily Return Range (%)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Frequency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Cumulative 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Below −2.5%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~0.9%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Extreme losses — fat left tail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−2.5% to −0.8%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216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~17.5%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Moderate losses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−0.8% to 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493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~54.8%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Small losses, most common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0% to +0.9%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470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~90.9%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Small gains, second most common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+0.9% to +2.5%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64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~95.8%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Moderate gains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Above +2.5%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~100%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Extreme gains — thin right tail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886200"/>
            <a:ext cx="8503920" cy="969264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959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LM3 Key Observations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270248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 Equity Index daily return sample: mean = 0.0347%, std = 0.8341%, skewness = −0.4260, excess kurtosis = 3.7962.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histogram shows: (1) asymmetry — more extreme negative days than positive (negative skew), (2) more extreme days than normal distribution predicts (fat tails, positive excess kurtosis). Both are typical of equity return series.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Population vs Sample — Why the Distinction Matters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finance we almost always work with SAMPLES (historical data) rather than the full population. This requires adjusted formulas.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353312"/>
            <a:ext cx="41879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353312"/>
            <a:ext cx="91440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4447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Population (N)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810512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possible observations. Variance: σ² = Σ(Xᵢ−μ)² / N. Standard deviation: σ = √(Σ(Xᵢ−μ)²/N).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μ (Greek).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you have the COMPLETE dataset.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353312"/>
            <a:ext cx="41879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353312"/>
            <a:ext cx="91440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4447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(n)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810512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of the population. Variance: s² = Σ(Xᵢ−X̅)² / (n−1). Standard deviation: s = √(s²).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X̅ (x-bar).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(n−1) not n: Bessel correction prevents underestimation.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337560"/>
            <a:ext cx="8503920" cy="1005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10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divide by (n−1)?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721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n gives a biased estimate that systematically UNDERESTIMATES the population variance. Bessel's correction (n−1) adjusts for the fact that the sample mean is calculated from the same data, introducing a dependency that reduces one degree of freedom. For large n, the difference is negligible.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80560"/>
            <a:ext cx="850392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544568"/>
            <a:ext cx="146304" cy="146304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4480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 statistics: 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944368" y="448056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sample you have. Mean, std dev, percentiles. No inference to a larger population.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800600"/>
            <a:ext cx="85039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864608"/>
            <a:ext cx="146304" cy="146304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4800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Inferential statistics: 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44368" y="480060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sample to make conclusions about the population. Hypothesis tests, confidence intervals.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Tendency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LM1 + LM3)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Arithmetic Mean — Properties and 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X̅  =  ΣXᵢ / n     (sum of all observations divided by count)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mean is the most common measure of central tendency, but it has important limitations that CFA emphasises.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5740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Finance Application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Sensitivity to outliers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 single extreme value pulls the mean strongly.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P/E ratio analysis: one firm with P/E = 500 distorts mean. Use median instead.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Uses ALL data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Every observation contributes equally to the mean.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Returns: each year counts once, regardless of how much was invested.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Best for one-period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Correct expected return for a SINGLE future period.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Forward-looking return estimates, portfolio construction.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Do NOT use for multi-period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+100% then −50% = arithmetic mean 25% but you have LOST money.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Use geometric mean for multi-period compounding calculations.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4315968"/>
            <a:ext cx="8503920" cy="6858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reminder: Trimmed and Winsorized Means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700016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Trimmed mean: remove top/bottom k% of observations before averaging (e.g. remove top 5% and bottom 5%). Winsorized mean: replace extremes with the value of the nearest non-extreme observation. Both reduce outlier impact without losing observations completely.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Geometric Mean — CFA LM1 Fund Y: 14.9%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Rᵍ  =  [(1+R₁)(1+R₂)…(1+Rₙ)]^(1/n)  −  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mean gives the COMPOUND growth rate over multiple periods. It is ALWAYS less than or equal to the arithmetic mean.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208483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 Y — directly from CFA Vol 1, LM1 Practice Problem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annual returns: Year 1 = +19.5%, Year 2 = −1.9%, Year 3 = +19.7%, Year 4 = +35.0%, Year 5 = +5.7%.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Convert: 1.195 × 0.981 × 1.197 × 1.350 × 1.057 = 1.9841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Fifth root: 1.9841^(1/5) = 1.1490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Subtract 1: geometric mean = 14.9% per year (CFA answer)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mean = (19.5 − 1.9 + 19.7 + 35.0 + 5.7)/5 = 15.6% per year.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= 0.7pp — not large here because volatility is moderate.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14.9% means: USD 1,000 × 1.149^5 = USD 1,984 — matches actual cumulative return.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4297680"/>
            <a:ext cx="4187952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4297680"/>
            <a:ext cx="91440" cy="11155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43891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to use geometric mean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754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actual compound growth rate of investment over multiple periods.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historical performance.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(ending value / beginning value)^(1/n) − 1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27448" y="4297680"/>
            <a:ext cx="4187952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4297680"/>
            <a:ext cx="91440" cy="11155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43891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Relationship: Arith vs Geo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4754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≥ Geometric always.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increases with return VOLATILITY.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returns → larger gap.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+50%/−50% = arith 0%, geo −13.4%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Harmonic Mean — CFA LM1 Dollar-Cost Averaging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Xᴴ  =  n / Σ(1/Xᵢ)     Best for averaging prices or ratios applied to a fixed currency amount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harmonic mean is appropriate when investing a FIXED amount of money at different prices (cost averaging). From CFA LM1 Practice Problem 4: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84832"/>
            <a:ext cx="8503920" cy="20116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LM1 PRACTICE PROBLEM 4 — EUR 5,000 invested per year at prices 62, 76, 84, 90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8229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manager invests EUR 5,000 each year for 4 years at these prices per unit.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What was the average price paid per unit?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= 4 / [(1/62) + (1/76) + (1/84) + (1/90)]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 / [0.01613 + 0.01316 + 0.01190 + 0.01111]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 / 0.05230 = EUR 76.48 (CFA answer: A is correct)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mean = (62+76+84+90)/4 = EUR 78.00 — WRONG for this context.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is lower because MORE units are bought at LOWER prices.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1: 5000/62=80.6 units. Year 4: 5000/90=55.6 units. Early purchases dominate.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2245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rule: Harmonic mean for price averaging when investing a fixed MONEY amount each period. Arithmetic mean only when buying a fixed number of UNITS each period.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Relationship: Arithmetic ≥ Geometric ≥ Harmonic (equal only when all values are identical)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Money-Weighted vs Time-Weighted Return (CFA LM1)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 can produce different return measures. The CHOICE of measure depends on whether you are evaluating the INVESTOR or the MANAGER.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Money-Weighted Return (MWR)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Time-Weighted Return (TWR)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Also called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Internal Rate of Return (IRR)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Geometric mean of sub-period returns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Captures timing?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YES — accounts for when cash invested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 — removes timing effects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Large investment before crash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MWR &lt;&lt; TWR (timing hurts)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TWR unchanged by cash flows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Large investment before rally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MWR &gt;&gt; TWR (timing helps)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TWR unchanged by cash flows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Best for evaluating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INVESTOR performance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MANAGER skill (CFA preferred)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Why TWR preferred by CFA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Manager cannot control client deposits/withdrawals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TWR isolates pure investment decisions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Practical limitation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Requires recording every cash flow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Requires portfolio values at each cash flow date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Median, Mode, Quartiles &amp; Percentiles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you NOT use the arithmetic mean? When distributions are skewed or have significant outliers — use the median instead.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value in sorted data. NOT affected by outliers.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 observations: position = (n+1)/2.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n=11: median at position 6.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n=10: median = avg of positions 5+6.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data is skewed (e.g. house prices, income, P/E ratios with outliers).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frequently observed value. Only measure valid for nominal data.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may be: unimodal (one peak), bimodal (two peaks), multimodal.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 Mode is rarely used. The mode of a return distribution tells you the most common return, but not the expected return.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566160"/>
            <a:ext cx="8503920" cy="118872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Quantiles (from CFA LM3)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95020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MSCI World Index 10yr returns (sorted): −40.33, −5.02, 9.57, 10.02, 12.34, 15.25, 16.54, 20.65, 27.37, 30.79.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(CFA Practice Q6): 4th quintile = 80th percentile. L80 = (10+1)×(80/100) = 8.8.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8th (20.65) and 9th (27.37): P80 = 20.65 + 0.8×(27.37−20.65) = 26.03%. CFA answer: B.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= Q3 − Q1 = 3rd quartile value − 1st quartile value. Robust measure of spread.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Dispersion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LM3)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Range and Mean Absolute Deviation (MAD)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variance, two simpler measures of dispersion: Range (uses only 2 values) and MAD (uses all values, avoids the squared distortion).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Range = Maximum − Minimum     MAD = Σ|Xᵢ − X̅| / 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166420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Monthly Portfolio Returns (from CFA LM3 dataset): mean = 2.25%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5, 3, −1, −4, 4, 2, 0, 4, 3, 0, 6,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6 − (−4) = 10 percentage points. Simple but uses only 2 observations.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MAD: |5−2.25| + |3−2.25| + |−1−2.25| + ... = 2.75+0.75+3.25+6.25+1.75+0.25+2.25+1.75+0.75+2.25+3.75+2.75 = 28.5/12 = 2.375%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avoids squaring, making it easier to interpret (in the same units). But squaring is needed for variance formulas.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822192"/>
            <a:ext cx="418795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822192"/>
            <a:ext cx="91440" cy="11704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Range limitation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27939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to a single extreme outlier. If one year returns +200%, the range doubles.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only for quick initial screening. Always report alongside std dev.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27448" y="3822192"/>
            <a:ext cx="418795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3822192"/>
            <a:ext cx="91440" cy="11704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MAD vs Std Dev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427939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MAD: average absolute deviation. More intuitive, less sensitive to extremes.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Dev: larger due to squaring. But std dev is needed for normal distribution properties.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Variance &amp; Standard Deviation — CFA LM3 Practice Q7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s²  =  Σ(Xᵢ − X̅)² / (n−1)     s  =  √(s²)    [divide by n−1 for sample]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from CFA Vol 1, LM3 Practice Problem 7. A 10-year return series. CFA asks for sample standard deviation.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199339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LM3 Practice Q7: 10-year fund returns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4.5%, 6.0%, 1.5%, −2.0%, 0.0%, 4.5%, 3.5%, 2.5%, 5.5%, 4.0%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30.0%/10 = 3.0% per year.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deviations squared: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4.5: (0.045−0.030)² = 0.000225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6.0: (0.060−0.030)² = 0.000900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−2.0: (−0.020−0.030)² = 0.002500  ← largest contributor (most extreme negative)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5.5: (0.055−0.030)² = 0.000625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10 squared deviations = 0.005750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variance s² = 0.005750 / (10−1) = 0.000639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std dev s = √0.000639 = 2.53% (CFA answer B: 2.5276% ≈ 2.53%)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18795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Interpretation: returns typically deviated 2.53 percentage points from the 3.0% mean. Std dev is in the SAME units as the original data.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 Downside Deviation — CFA LM3 Practice Q8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care more about DOWNSIDE risk. Target semideviation measures dispersion BELOW a minimum acceptable return (MAR) only.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sₜₐʳᵍᵉᵗ  =  √[Σ(Xᵢ − B)² / (n−1)]   for all Xᵢ ≤ B only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2148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LM3 Practice Q8 — Same 10-year fund (mean 3.0%), target B = 2%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include years where return &lt; 2%: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3: return=1.5%. Deviation from 2%: −0.005. Squared: 0.000025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4: return=−2.0%. Deviation: −0.040. Squared: 0.001600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5: return=0.0%. Deviation: −0.020. Squared: 0.000400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years (4.5%, 6.0%, 4.5%, 3.5%, 2.5%, 5.5%, 4.0%) are above target → EXCLUDED.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squared deviations below target = 0.000025 + 0.001600 + 0.000400 = 0.002025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semideviation = √(0.002025 / 9) = √0.000225 = 1.50% (CFA answer B)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when the fund misses the 2% target, it misses by 1.5pp on average.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4343400"/>
            <a:ext cx="41879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4343400"/>
            <a:ext cx="91440" cy="9144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44348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Std Dev = 2.53% vs Semidev = 1.50%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800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Semidev is lower because it only captures downside variability, not upside. Standard deviation penalises good performance equally with bad.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27448" y="4343400"/>
            <a:ext cx="41879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4343400"/>
            <a:ext cx="91440" cy="9144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44348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Sortino Ratio uses semideviation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4800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= (Return − Target) / Target semideviation. It only penalises downside risk, unlike Sharpe which uses full std dev.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Coefficient of Variation — CFA LM3 Practice Q9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deviation is not comparable across datasets with different means. CV solves this by expressing risk per unit of return.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  =  s / X̅     (standard deviation divided by mean)     Higher CV = more risk per unit of return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166420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LM3 Practice Q9 — Three Sectors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(UTIL): mean = 2.10%, std = 1.23%. CV = 1.23/2.10 = 0.59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(MATR): mean = 1.25%, std = 1.35%. CV = 1.35/1.25 = 1.08   ← RISKIEST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Industrials (INDU): mean = 3.01%, std = 1.52%. CV = 1.52/3.01 = 0.51   ← LEAST risky per unit of return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answer: B (Materials). Despite Industrials having the highest absolute std dev (1.52%), it also has the highest return (3.01%), making it the LEAST risky per unit of return.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confusing highest std dev with highest CV. Always compute the ratio.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379476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Chebyshev Inequality: for ANY distribution, at least (1 − 1/k²) of observations lie within k standard deviations of the mean. k=2: at least 75%. k=3: at least 88.9%. Works even when distribution is not normal.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 Ratio — Risk-Adjusted Return per Unit of Total Risk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 Ratio  =  (Rₚ − Rƒ) / σₚ     [excess return per unit of total volatility]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Sharpe (1966). The Sharpe ratio is the most widely used measure of portfolio performance. It rewards return above the risk-free rate, penalises total volatility.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84832"/>
            <a:ext cx="8503920" cy="162763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Three Funds Compared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8229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 = 3%. Which fund performed best on a risk-adjusted basis?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A: Return=12%, σ=10%. Sharpe = (12−3)/10 = 0.90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B: Return=16%, σ=18%. Sharpe = (16−3)/18 = 0.72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C: Return=9%, σ=5%. Sharpe = (9−3)/5 = 1.20  ← BEST risk-adjusted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 has highest raw return (16%) but highest risk (18%). Fund C earns the most return per unit of risk taken. Sharpe = 1.20 means 1.20% excess return per 1% volatility.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38404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Sharpe uses total volatility (σ), which includes upside. Sortino (which uses downside deviation only) is preferred when the return distribution is not symmetric.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" y="429768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general: Sharpe ratio &gt; 1.0 is good. &gt; 2.0 is excellent. Negative = performed below risk-free rate.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(CFA LM4)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Basic Probability Rules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provides the mathematical framework for quantifying uncertainty. Three axioms underpin all probability calculations.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618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Axiom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1371600"/>
            <a:ext cx="2286000" cy="43891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13716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≤ P(E) ≤ 1 for any event 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43400" y="126187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 are always between 0 (impossible) and 1 (certain). P(rain tomorrow) = 0.7 is valid. P(rain) = 1.5 is NOT valid.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011680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01168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Axiom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874520" y="2121408"/>
            <a:ext cx="2286000" cy="43891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2121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P(Ω) = 1 (sample space probability = 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43400" y="201168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sum of probabilities for ALL possible mutually exclusive outcomes = 1. Something MUST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76148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74520" y="2871216"/>
            <a:ext cx="2286000" cy="43891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287121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P(Eᶜ) = 1 − P(E)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43400" y="276148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event NOT happening = 1 minus probability it does. P(no default) = 1 − P(default).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511296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5112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74520" y="3621024"/>
            <a:ext cx="2286000" cy="43891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4520" y="362102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P(A∪B) = P(A)+P(B)−P(A∩B)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43400" y="351129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events are MUTUALLY EXCLUSIVE (cannot both occur): P(A∪B)=P(A)+P(B). If not, subtract the overlap.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426110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261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Multiplication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874520" y="4370832"/>
            <a:ext cx="2286000" cy="43891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74520" y="43708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P(A∩B) = P(A|B) × P(B)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43400" y="426110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events are INDEPENDENT: P(A∩B) = P(A) × P(B). For dependent events, use conditional probability.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Conditional Probability — Updating on New Information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P(A|B)  =  P(A ∩ B) / P(B)     [probability of A given B has already occurred]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probability is the foundation of Bayesian updating, which is central to investment analysis and risk management.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199339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Credit Default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= 5%. P(negative earnings | default) = 80%. P(negative earnings | no default) = 20%.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P(negative earnings) = P(neg|default)×P(default) + P(neg|no default)×P(no default)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= 0.80×0.05 + 0.20×0.95 = 0.04 + 0.19 = 0.23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Formula: If company reports negative earnings, what is probability it will default?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P(default|neg earnings) = P(neg|default)×P(default) / P(neg earnings)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(0.80 × 0.05) / 0.23 = 0.04 / 0.23 = 17.4%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seeing negative earnings: P(default) = 5%. AFTER seeing negative earnings: P(default) = 17.4%. Information UPDATES the probability.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1605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 Formula: P(A|B) = [P(B|A) × P(A)] / P(B)   —  Prior probability updated by new evidence = Posterior probability.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Value — CFA LM4: BankCorp EPS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E(X)  =  Σ P(Xᵢ) × Xᵢ     [probability-weighted average of all outcomes]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from CFA Vol 1, LM4, Example 1. Expected value is a FORECAST, not a historical average. It can never be observed directly.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226771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BANKCORP EPS — CFA LM4, Example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distribution for BankCorp EPS this fiscal year: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0.15, EPS = USD 2.60 | P = 0.45, EPS = USD 2.45 | P = 0.24, EPS = USD 2.20 | P = 0.16, EPS = USD 2.00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0.15 + 0.45 + 0.24 + 0.16 = 1.00 (probabilities sum to 1) ✓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E(EPS) = 0.15(2.60) + 0.45(2.45) + 0.24(2.20) + 0.16(2.00)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= 0.390 + 1.1025 + 0.528 + 0.320 = USD 2.34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Variance: σ² = 0.15(2.60−2.34)² + 0.45(2.45−2.34)² + 0.24(2.20−2.34)² + 0.16(2.00−2.34)²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= 0.010140 + 0.005445 + 0.004704 + 0.018496 = 0.038785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 = √0.038785 = USD 0.197 per share (CFA answer: ≈ 0.20)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Trees — CFA LM4: Defaulted Bond Recovery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trees organise conditional probabilities into a structured diagram. Directly from CFA Vol 1, LM4 Question Set: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276148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350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DEFAULTED BOND RECOVERY TREE — CFA LM4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defaulted bond has two economic scenarios for principal recovery: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1: Probability = 0.75. Recovery either USD 0.90 (prob 0.45) or USD 0.80 (prob 0.55).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2: Probability = 0.25. Recovery either USD 0.50 (prob 0.85) or USD 0.40 (prob 0.15).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probabilities: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0.90: 0.75 × 0.45 = 0.3375 | USD 0.80: 0.75 × 0.55 = 0.4125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0.50: 0.25 × 0.85 = 0.2125 | USD 0.40: 0.25 × 0.15 = 0.0375  (Sum = 1.00)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E(recovery | Scenario 1) = 0.45(0.90) + 0.55(0.80) = USD 0.845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E(recovery | Scenario 2) = 0.85(0.50) + 0.15(0.40) = USD 0.485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E(recovery) = E(rec|S1)×P(S1) + E(rec|S2)×P(S2)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= 0.845 × 0.75 + 0.485 × 0.25 = 0.634 + 0.121 = USD 0.755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413308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probability rule: E(X) = Σ E(X|Sᵢ) × P(Sᵢ) across all mutually exclusive and exhaustive scenarios.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Distributions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Normal Distribution — Foundation of Quantitative Finance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 ~ N(μ, σ²)     Bell-shaped, symmetric, fully described by mean and variance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distribution is the most important distribution in finance. Many risk models, option pricing formulas, and hypothesis tests assume normality.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29968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01168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Interval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Example: N(μ=10%, σ=15%)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Finance Application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μ ± 1σ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68.3% of observations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[−5%, +25%]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Captures most "normal" years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μ ± 2σ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95.5% of observations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[−20%, +40%]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95% confidence interval for annual return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μ ± 3σ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99.7% of observations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[−35%, +55%]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Extreme events still within model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Left tail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2.5% below μ−1.96σ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−19.4%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Value at Risk (5% VaR for one-year horizon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Standardised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Z = (X−μ)/σ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N(0,1)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Allows lookup in standard normal table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20040" y="45720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property: any linear combination of normal random variables is also normal. This makes portfolio analysis tractable.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Z-Scores — Standardising to N(0,1)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  =  (X − μ) / σ     [how many standard deviations from the mean]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z-score converts any normally distributed variable to the standard normal, allowing probability lookup in a z-table.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217627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 has normally distributed annual returns: μ = 8%, σ = 12%.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What is the z-score for a return of −10%?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(−10% − 8%) / 12% = −18/12 = −1.50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P(return &lt; −10%) = P(Z &lt; −1.50) = 6.7% (from z-table)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What is the probability of earning above 20%?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(20% − 8%) / 12% = 12/12 = +1.00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P(return &gt; 20%) = P(Z &gt; 1.00) = 1 − 0.8413 = 15.9%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What return corresponds to the 5th percentile (worst 5% of outcomes)?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table: P(Z &lt; −1.645) = 5%. Return = μ + Z×σ = 8% + (−1.645)(12%) = 8% − 19.7% = −11.7%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one-year 5% Value at Risk for this fund.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Skewness — CFA LM3: EAA Equity Index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measures the asymmetry of a return distribution. It has direct implications for risk management and investor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61872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Positive Skewness (right tail)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19072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&gt; Median &gt; Mode.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right tail: frequent small losses, occasional large gains.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Venture capital, lottery tickets.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LIKE positive skewness — large upside with limited downside.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261872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61872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 Skewness (left tail)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19072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&lt; Median &lt; Mode.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left tail: frequent small gains, occasional large losses.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Short selling, selling options, many equity indices.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DISLIKE negative skewness — risk of crash.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547872"/>
            <a:ext cx="8503920" cy="120700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210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 EQUITY INDEX — CFA LM3, Example 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returns over 5 years: mean = 0.0347%, std dev = 0.8341%, skewness = −0.4260, excess kurtosis = 3.7962.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skew (−0.4260): the index experiences more days with extreme LOSSES than extreme gains. The left tail is longer than the right. This is characteristic of most equity return series globally.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using only mean and variance to assess risk will UNDERESTIMATE the probability of large negative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Kurtosis — Fat Tails in Financial Returns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Kurtosis measures the combined weight of the TAILS relative to the rest of the distribution. Financial returns consistently have fatter tails than the normal.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 Kurtosis  =  Kurtosis − 3     Normal distribution has kurtosis = 3 and excess kurtosis = 0</a:t>
            </a:r>
            <a:endParaRPr lang="en-US" sz="1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29968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554480"/>
                <a:gridCol w="164592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Kurtosis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Excess Kurtosis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Tail Shape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Finance Implication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Leptokurtic (fat-tailed)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Above 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Positive (&gt; 0)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Fatter than normal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More extreme events than expected. Stock returns typical.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Mesokurtic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= 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= 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Normal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Normal distribution. Risk models work correctly.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Platykurtic (thin-tailed)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Below 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Negative (&lt; 0)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Thinner than normal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Fewer extreme events. Less common in finance.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3858768"/>
            <a:ext cx="8503920" cy="1005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EAA Equity Index: Excess Kurtosis = +3.7962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24281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EAA Index has excess kurtosis of 3.7962 (CFA LM3). This means extreme daily returns (beyond ±2.5 standard deviations) occur MORE frequently than the normal distribution predicts.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impact: if you use a normal-based VaR model and ignore fat tails, you will systematically UNDERESTIMATE tail risk. This was a major factor in the 2008 financial crisis when tail events were deemed 25-standard-deviation events — theoretically impossible under normality.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Lognormal Distribution — Why Prices Cannot Be Negative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PRICES cannot go below zero. Asset RETURNS can be negative. This asymmetry means prices are modelled as lognormal, not normal.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 Distribution of Returns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(%) can be negative.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Assumption: R ~ N(μ, σ²)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 return forecasting, portfolio construction, Sharpe ratio.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if you compound large normal returns, prices can theoretically go negative.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Lognormal Distribution of Prices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ln(Pₜ/Pₜ₋₁) is normally distributed, then prices Pₜ are lognormally distributed.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always ≥ 0 (bounded below at zero).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 option pricing (Black-Scholes), price simulation, Monte Carlo.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575304"/>
            <a:ext cx="8503920" cy="15544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484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 between normal and lognormal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959352"/>
            <a:ext cx="8229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~ N(μ, σ²), then e^X is lognormally distributed.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stock prices: Pₜ = P₀ × e^(r₁ + r₂ + ... + rₔ), where rᵢ are continuously compounded returns.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means: the CONTINUOUSLY COMPOUNDED return R = ln(Pₜ/P₀) is normally distributed.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DISCRETE return (Pₜ/P₀ − 1) is lognormally distributed (hence always &gt; −1, i.e. price never goes negative).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number: E(Pₜ/P₀) = exp(μ + σ²/2) for lognormal. The variance ADDS to expected price.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Regression</a:t>
            </a:r>
            <a:endParaRPr lang="en-US" sz="3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Covariance and Correlation — Measuring Co-movement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two variables move together? Covariance measures direction; correlation standardises it to [−1, +1] for comparability.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ρ  =  Cov(X,Y) / [σ(X) × σ(Y)]     Range: −1 ≤ ρ ≤ +1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29968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Correlation ρ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Finance Example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+1.0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Perfect positive. Move in lockstep.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Two stocks in same sector, same beta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+0.5 to +1.0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Strong positive. Tend to rise/fall together.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Diversified equity portfolio stocks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No linear relationship.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Uncorrelated assets: ideal for diversification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−0.5 to 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Moderate negative. Tend to move opposite.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Stock and 10yr government bond (often)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−1.0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Perfect negative. One always rises when other falls.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Long/short hedge: mirror image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4434840"/>
            <a:ext cx="8503920" cy="74980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507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Diversification principle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818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variance = w²₁σ²₁ + w²₂σ²₂ + 2w₁w₂σ₁σ₂ρ₁₂. When ρ&lt;1, portfolio std dev &lt; weighted average of individual std devs — the benefit of diversification. If ρ=−1 (perfect hedge): portfolio can achieve zero variance.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Anscombe’s Quartet — CFA LM3: Always Plot the Data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 Anscombe (1973) created four datasets with identical statistics but completely different patterns. CFA LM3 presents this as a critical lesson about correlation.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2148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LM3: THE FOUR ANSCOMBE DATASETS — All have IDENTICAL summary statistics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682496"/>
            <a:ext cx="822960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datasets have: Mean(X) = 9.0, Mean(Y) = 7.5, Var(X) = 11.0, Std dev(X) = 3.32, Std dev(Y) = 2.03, Correlation = 0.816.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visually: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I: Standard linear scatter — linear model is appropriate.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II: Clear curved (quadratic) pattern — linear model is WRONG.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III: Perfect line with one extreme outlier — outlier drives the correlation.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IV: Vertical cluster at X=8 except one point at X=19 — correlation entirely driven by ONE observation.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ALWAYS visualise the data before relying on summary statistics. Same correlation = 0.816 can hide completely different underlying relationships.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56616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rule: Correlation alone is INSUFFICIENT. Always examine scatter plots, check for outliers, and verify that the relationship is linear.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4041648"/>
            <a:ext cx="418795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4041648"/>
            <a:ext cx="91440" cy="102412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Outlier problem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" y="44988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extreme point can dominate the correlation coefficient, making it appear strong when the relationship is actually weak for most data.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27448" y="4041648"/>
            <a:ext cx="418795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27448" y="4041648"/>
            <a:ext cx="91440" cy="102412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8616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Spurious correlation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28616" y="44988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concentrations and global beer sales both rise over time: ρ = 0.824. Both are driven by a third variable (economic growth). Correlation does NOT imply causation.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Linear Regression — OLS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772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Ŷ  =  α + βX     β = Cov(X,Y) / Var(X)     α = Y̅ − βX̅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(Ordinary Least Squares) minimises the sum of squared residuals. In finance: Y = returns of stock/portfolio, X = factor (market return, earnings, etc.)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17830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Estimating Market Beta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82296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data: Market excess return X, Stock excess return Y. n=24 months.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Cov(X,Y) = 0.0180 (=1.80% in decimal terms). Var(X) = 0.0120.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Cov(X,Y) / Var(X) = 0.0180 / 0.0120 = 1.50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Y̅ − β×X̅. If Y̅ = 1.2%/month and X̅ = 0.7%/month: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1.2% − 1.5 × 0.7% = 1.2% − 1.05% = 0.15% (Jensen’s alpha)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β = 1.50 means the stock moves 1.5% for every 1% market move. If market rises 2%, stock is expected to rise 3%. α = 0.15% means risk-adjusted outperformance of 0.15%/month.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005072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it tells you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R² (R-squared)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= ρ² (or SSR/SST)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% of Y variance explained by X. R²=0.81 means X explains 81% of Y’s movement.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</a:rPr>
                        <a:t>Residual (eᵢ)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Yᵢ − Ŷᵢ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Unexplained part. Check for randomness — patterns signal model misspecification.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Sampling, Biases &amp; the Central Limit Theorem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statistical inference relies on sampling. But samples can be biased. The Central Limit Theorem (CLT) is what makes large-sample inference possible.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Sampling Biases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Survivorship bias: only including funds that survived. Overstates historical returns.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 bias: using data not available at the time of the decision.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Data-mining bias: finding patterns by repeatedly testing until one works.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Time-period bias: results depend on the specific period chosen.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298448"/>
            <a:ext cx="41879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98448"/>
            <a:ext cx="91440" cy="2148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89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Limit Theorem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55648"/>
            <a:ext cx="38404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samples of n ≥ 30 (or any n if population is normal): the sampling distribution of X̅ is approximately normal with: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μ (true population mean)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Error = σ / √n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we can make probability statements about sample means, regardless of the original distribution shape.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575304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484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Survivorship Bias Example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95935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fund database shows average annual return of 12% over 10 years. However, 40% of funds that started 10 years ago no longer exist (closed due to poor performance). If those failed funds had average return of −5%, the TRUE average return across ALL funds = 0.60×12% + 0.40×(−5%) = 5.2%. Survivorship bias overstated returns by nearly 7 percentage points.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each before checking the answers on the next slide.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87552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52144" y="1051560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15%, 22%, −8%, 31%, 5%. Calculate: (a) arithmetic mean, (b) geometric mean. Why do they differ?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83080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8308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52144" y="1847088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LM1: EUR 5,000/year invested for 4 years at prices 62, 76, 84, 90. What average price was paid? (CFA answer: EUR 76.48)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78608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52144" y="2642616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returns: 4.5%, 6%, 1.5%, −2%, 0%, 4.5%, 3.5%, 2.5%, 5.5%, 4%. Mean=3.0%. Calculate standard deviation (CFA answer: 2.53%).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374136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74136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7413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2144" y="3438144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Y (CFA LM1): returns 19.5%, −1.9%, 19.7%, 35.0%, 5.7%. Calculate geometric mean. (CFA answer: 14.9%)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169664"/>
            <a:ext cx="8321040" cy="69494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69664"/>
            <a:ext cx="594360" cy="69494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6966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52144" y="4233672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Defaulted bond (CFA LM4): Scenario 1 (prob 0.75): 45% chance recover 0.90, 55% chance recover 0.80. Scenario 2 (prob 0.25): 85% chance 0.50, 15% chance 0.40. What is expected recovery?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Worked Solutions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 mean = (15+22−8+31+5)/5 = 65/5 = 13.0%. Geo mean = [(1.15)(1.22)(0.92)(1.31)(1.05)]^(1/5) − 1. Product = 1.15×1.22×0.92×1.31×1.05 = 1.8736. Geo mean = 1.8736^0.2 − 1 = 13.4% − wait: 1.8736^0.2 = 1.1337. Geo mean = 13.37% − 1 = 11.37%. Geo &lt; Arith (13.0%) because of return volatility drag.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1618488"/>
            <a:ext cx="8503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18488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18488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618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= 4 / [(1/62)+(1/76)+(1/84)+(1/90)] = 4 / 0.05230 = EUR 76.48. Arithmetic mean (wrong here) = (62+76+84+90)/4 = EUR 78.00. Use harmonic mean when investing a fixed CURRENCY amount at varying prices. Harmonic mean is lower because more units are purchased at lower prices.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2459736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459736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459736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459736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Mean=3.0%. Sum of squared deviations: (1.5)^2+3^2+(-0.5)^2+(-5)^2+(-3)^2+(1.5)^2+(0.5)^2+(-0.5)^2+(2.5)^2+(1)^2 = 2.25+9+0.25+25+9+2.25+0.25+0.25+6.25+1 = 55.5. Wait: deviations from 3: 1.5,3,-1.5,-5,-3,1.5,0.5,-0.5,2.5,1. Squared: 2.25+9+2.25+25+9+2.25+0.25+0.25+6.25+1=57.5. s^2=57.5/9=6.39%. s=√6.39=2.528% ≈ 2.53%. CFA answer confirmed.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300984"/>
            <a:ext cx="8503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300984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300984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300984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= 1.195×0.981×1.197×1.350×1.057. Calculate step by step: 1.195×0.981=1.172, ×1.197=1.403, ×1.350=1.894, ×1.057=2.002 (approximately). 5th root: 2.002^0.2 ≈ 1.149. Geo mean = 14.9%. CFA answer confirmed.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4142232"/>
            <a:ext cx="85039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142232"/>
            <a:ext cx="594360" cy="7315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14223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4142232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E(rec|S1) = 0.45(0.90)+0.55(0.80) = 0.405+0.440 = USD 0.845. E(rec|S2) = 0.85(0.50)+0.15(0.40) = 0.425+0.060 = USD 0.485. E(rec) = 0.845×0.75 + 0.485×0.25 = 0.634+0.121 = USD 0.755 per USD 1 principal. CFA answer confirmed.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 Reference Card — Session 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•  Session 2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formulas from this session in one place.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0040" y="1115568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155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Arithmetic Mean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8036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X̅ = ΣXᵢ / n   [forward-looking expected return]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362456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3624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Geometric Mean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36245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Rᵍ = [(1+R₁)(1+R₂)…(1+Rₙ)]^(1/n) − 1   [compound growth]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609344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60934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Harmonic Mean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0360" y="1609344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Xᴴ = n / Σ(1/Xᵢ)   [cost averaging, P/E]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856232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8562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Variance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185623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s² = Σ(Xᵢ − X̅)² / (n−1)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2103120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103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 Semideviation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s_t = √[Σ(Xᵢ − B)² / (n−1)] for all Xᵢ ≤ B only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350008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3500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Coefficient of Variation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80360" y="235000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= s / X̅   [risk per unit of return]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2596896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59689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 Ratio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80360" y="259689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= (Rₚ − Rƒ) / σₚ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2843784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843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Value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80360" y="2843784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E(X) = Σ P(Xᵢ) × Xᵢ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3090672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09067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Conditional Probability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80360" y="309067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P(A|B) = P(A ∩ B) / P(B)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3337560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337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Probability Rule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80360" y="333756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E(X) = Σ E(X|Sᵢ) × P(Sᵢ)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584448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5844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 Formula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880360" y="358444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P(A|B) = [P(B|A) × P(A)] / P(B)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" y="3831336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8313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Z-score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383133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(X − μ) / σ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" y="4078224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0782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880360" y="4078224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Cov(X,Y) / [σ(X) × σ(Y)]   Range [−1, +1]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20040" y="4325112"/>
            <a:ext cx="8503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3251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Slope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880360" y="432511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Cov(X,Y) / Var(X)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20040" y="4572000"/>
            <a:ext cx="8503920" cy="219456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R-squared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2880360" y="457200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ρ² = % of variance in Y explained by X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— Statistics &amp; Probability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68249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3502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Y (CFA LM1): geo mean = 14.9% for 5-yr returns 19.5/−1.9/19.7/35.0/5.7. Geo &lt; arith (15.6%) due to volatility.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6187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68249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3502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 harmonic mean (CFA LM1): EUR 5k/yr at 62/76/84/90 → EUR 76.48 per unit (not arithmetic 78).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5292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05456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LM3 fund std dev: mean=3.0%, 10 years → s = 2.53%. Target semidev at 2% = 1.50%.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32304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5292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05456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(CFA LM3): Materials riskiest (CV=1.08) despite not having highest std dev. Always compute the ratio.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02736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233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675888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BankCorp (CFA LM4): E(EPS) = 0.15(2.60)+0.45(2.45)+0.24(2.20)+0.16(2.00) = USD 2.34.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02736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233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675888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Defaulted bond (CFA LM4): E(recovery) = 0.75(0.845)+0.25(0.485) = USD 0.755 per USD 1.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77316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" y="51937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84632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 Equity Index (CFA LM3): skewness=−0.426 (negative skew), excess kurtosis=+3.796 (fat tails). Typical of equity returns.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77316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92624" y="51937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30368" y="484632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Anscombe (CFA LM3): four datasets, identical μ/σ/ρ, completely different scatter. Always PLOT before computing correlation.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2026-04-11T20:10:28Z</dcterms:created>
  <dcterms:modified xsi:type="dcterms:W3CDTF">2026-04-11T20:10:28Z</dcterms:modified>
</cp:coreProperties>
</file>