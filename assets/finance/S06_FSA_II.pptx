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w="12700">
            <a:solidFill>
              <a:srgbClr val="E8600A"/>
            </a:solidFill>
            <a:prstDash val="solid"/>
          </a:ln>
        </p:spPr>
      </p:sp>
      <p:sp>
        <p:nvSpPr>
          <p:cNvPr id="3" name="Shape 1"/>
          <p:cNvSpPr/>
          <p:nvPr/>
        </p:nvSpPr>
        <p:spPr>
          <a:xfrm>
            <a:off x="0" y="4914900"/>
            <a:ext cx="9144000" cy="228600"/>
          </a:xfrm>
          <a:prstGeom prst="rect">
            <a:avLst/>
          </a:prstGeom>
          <a:solidFill>
            <a:srgbClr val="E8600A"/>
          </a:solidFill>
          <a:ln w="12700">
            <a:solidFill>
              <a:srgbClr val="E8600A"/>
            </a:solidFill>
            <a:prstDash val="solid"/>
          </a:ln>
        </p:spPr>
      </p:sp>
      <p:sp>
        <p:nvSpPr>
          <p:cNvPr id="4" name="Text 2"/>
          <p:cNvSpPr/>
          <p:nvPr/>
        </p:nvSpPr>
        <p:spPr>
          <a:xfrm>
            <a:off x="457200" y="1005840"/>
            <a:ext cx="8229600" cy="384048"/>
          </a:xfrm>
          <a:prstGeom prst="rect">
            <a:avLst/>
          </a:prstGeom>
          <a:noFill/>
          <a:ln/>
        </p:spPr>
        <p:txBody>
          <a:bodyPr wrap="square" lIns="0" tIns="0" rIns="0" bIns="0" rtlCol="0" anchor="ctr"/>
          <a:lstStyle/>
          <a:p>
            <a:pPr indent="0" marL="0">
              <a:buNone/>
            </a:pPr>
            <a:r>
              <a:rPr lang="en-US" sz="1100" b="1" spc="500" kern="0" dirty="0">
                <a:solidFill>
                  <a:srgbClr val="E8600A"/>
                </a:solidFill>
                <a:latin typeface="Trebuchet MS" pitchFamily="34" charset="0"/>
                <a:ea typeface="Trebuchet MS" pitchFamily="34" charset="-122"/>
                <a:cs typeface="Trebuchet MS" pitchFamily="34" charset="-120"/>
              </a:rPr>
              <a:t>SESSION 3  —  AFTERNOON</a:t>
            </a:r>
            <a:endParaRPr lang="en-US" sz="1100" dirty="0"/>
          </a:p>
        </p:txBody>
      </p:sp>
      <p:sp>
        <p:nvSpPr>
          <p:cNvPr id="5" name="Text 3"/>
          <p:cNvSpPr/>
          <p:nvPr/>
        </p:nvSpPr>
        <p:spPr>
          <a:xfrm>
            <a:off x="457200" y="1371600"/>
            <a:ext cx="8229600" cy="164592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Financial Statement</a:t>
            </a:r>
            <a:endParaRPr lang="en-US" sz="3800" dirty="0"/>
          </a:p>
          <a:p>
            <a:pPr indent="0" marL="0">
              <a:buNone/>
            </a:pPr>
            <a:r>
              <a:rPr lang="en-US" sz="3800" b="1" dirty="0">
                <a:solidFill>
                  <a:srgbClr val="FFFFFF"/>
                </a:solidFill>
                <a:latin typeface="Trebuchet MS" pitchFamily="34" charset="0"/>
                <a:ea typeface="Trebuchet MS" pitchFamily="34" charset="-122"/>
                <a:cs typeface="Trebuchet MS" pitchFamily="34" charset="-120"/>
              </a:rPr>
              <a:t>Analysis II</a:t>
            </a:r>
            <a:endParaRPr lang="en-US" sz="3800" dirty="0"/>
          </a:p>
        </p:txBody>
      </p:sp>
      <p:sp>
        <p:nvSpPr>
          <p:cNvPr id="6" name="Text 4"/>
          <p:cNvSpPr/>
          <p:nvPr/>
        </p:nvSpPr>
        <p:spPr>
          <a:xfrm>
            <a:off x="457200" y="3090672"/>
            <a:ext cx="8229600" cy="438912"/>
          </a:xfrm>
          <a:prstGeom prst="rect">
            <a:avLst/>
          </a:prstGeom>
          <a:noFill/>
          <a:ln/>
        </p:spPr>
        <p:txBody>
          <a:bodyPr wrap="square" lIns="0" tIns="0" rIns="0" bIns="0" rtlCol="0" anchor="ctr"/>
          <a:lstStyle/>
          <a:p>
            <a:pPr indent="0" marL="0">
              <a:buNone/>
            </a:pPr>
            <a:r>
              <a:rPr lang="en-US" sz="1400" i="1" dirty="0">
                <a:solidFill>
                  <a:srgbClr val="6B7A8D"/>
                </a:solidFill>
                <a:latin typeface="Calibri" pitchFamily="34" charset="0"/>
                <a:ea typeface="Calibri" pitchFamily="34" charset="-122"/>
                <a:cs typeface="Calibri" pitchFamily="34" charset="-120"/>
              </a:rPr>
              <a:t>Cash flows • Working capital • Ratio analysis • DuPont decomposition</a:t>
            </a:r>
            <a:endParaRPr lang="en-US" sz="1400" dirty="0"/>
          </a:p>
        </p:txBody>
      </p:sp>
      <p:sp>
        <p:nvSpPr>
          <p:cNvPr id="7" name="Text 5"/>
          <p:cNvSpPr/>
          <p:nvPr/>
        </p:nvSpPr>
        <p:spPr>
          <a:xfrm>
            <a:off x="457200" y="4617720"/>
            <a:ext cx="8229600" cy="256032"/>
          </a:xfrm>
          <a:prstGeom prst="rect">
            <a:avLst/>
          </a:prstGeom>
          <a:noFill/>
          <a:ln/>
        </p:spPr>
        <p:txBody>
          <a:bodyPr wrap="square" lIns="0" tIns="0" rIns="0" bIns="0" rtlCol="0" anchor="ctr"/>
          <a:lstStyle/>
          <a:p>
            <a:pPr indent="0" marL="0">
              <a:buNone/>
            </a:pPr>
            <a:r>
              <a:rPr lang="en-US" sz="800" spc="200" kern="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Session Roadmap — 2 Hours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This session completes the FSA toolkit: cash flows, the full ratio suite, and the DuPont decomposition that ties everything together.</a:t>
            </a:r>
            <a:endParaRPr lang="en-US" sz="1300" dirty="0"/>
          </a:p>
        </p:txBody>
      </p:sp>
      <p:sp>
        <p:nvSpPr>
          <p:cNvPr id="9" name="Shape 7"/>
          <p:cNvSpPr/>
          <p:nvPr/>
        </p:nvSpPr>
        <p:spPr>
          <a:xfrm>
            <a:off x="320040" y="1207008"/>
            <a:ext cx="8503920" cy="539496"/>
          </a:xfrm>
          <a:prstGeom prst="rect">
            <a:avLst/>
          </a:prstGeom>
          <a:solidFill>
            <a:srgbClr val="FFFFFF"/>
          </a:solidFill>
          <a:ln w="12700">
            <a:solidFill>
              <a:srgbClr val="E8ECF0"/>
            </a:solidFill>
            <a:prstDash val="solid"/>
          </a:ln>
        </p:spPr>
      </p:sp>
      <p:sp>
        <p:nvSpPr>
          <p:cNvPr id="10" name="Shape 8"/>
          <p:cNvSpPr/>
          <p:nvPr/>
        </p:nvSpPr>
        <p:spPr>
          <a:xfrm>
            <a:off x="320040" y="1207008"/>
            <a:ext cx="594360" cy="539496"/>
          </a:xfrm>
          <a:prstGeom prst="rect">
            <a:avLst/>
          </a:prstGeom>
          <a:solidFill>
            <a:srgbClr val="1B2A4A"/>
          </a:solidFill>
          <a:ln w="12700">
            <a:solidFill>
              <a:srgbClr val="1B2A4A"/>
            </a:solidFill>
            <a:prstDash val="solid"/>
          </a:ln>
        </p:spPr>
      </p:sp>
      <p:sp>
        <p:nvSpPr>
          <p:cNvPr id="11" name="Text 9"/>
          <p:cNvSpPr/>
          <p:nvPr/>
        </p:nvSpPr>
        <p:spPr>
          <a:xfrm>
            <a:off x="320040" y="1207008"/>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2" name="Text 10"/>
          <p:cNvSpPr/>
          <p:nvPr/>
        </p:nvSpPr>
        <p:spPr>
          <a:xfrm>
            <a:off x="1024128" y="1252728"/>
            <a:ext cx="237744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Cash Flow Statement</a:t>
            </a:r>
            <a:endParaRPr lang="en-US" sz="1200" dirty="0"/>
          </a:p>
        </p:txBody>
      </p:sp>
      <p:sp>
        <p:nvSpPr>
          <p:cNvPr id="13" name="Text 11"/>
          <p:cNvSpPr/>
          <p:nvPr/>
        </p:nvSpPr>
        <p:spPr>
          <a:xfrm>
            <a:off x="1024128" y="1508760"/>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Why CFS matters • 3 sections • direct vs indirect • free cash flow</a:t>
            </a:r>
            <a:endParaRPr lang="en-US" sz="1100" dirty="0"/>
          </a:p>
        </p:txBody>
      </p:sp>
      <p:sp>
        <p:nvSpPr>
          <p:cNvPr id="14" name="Shape 12"/>
          <p:cNvSpPr/>
          <p:nvPr/>
        </p:nvSpPr>
        <p:spPr>
          <a:xfrm>
            <a:off x="320040" y="1828800"/>
            <a:ext cx="8503920" cy="539496"/>
          </a:xfrm>
          <a:prstGeom prst="rect">
            <a:avLst/>
          </a:prstGeom>
          <a:solidFill>
            <a:srgbClr val="F5F7FA"/>
          </a:solidFill>
          <a:ln w="12700">
            <a:solidFill>
              <a:srgbClr val="E8ECF0"/>
            </a:solidFill>
            <a:prstDash val="solid"/>
          </a:ln>
        </p:spPr>
      </p:sp>
      <p:sp>
        <p:nvSpPr>
          <p:cNvPr id="15" name="Shape 13"/>
          <p:cNvSpPr/>
          <p:nvPr/>
        </p:nvSpPr>
        <p:spPr>
          <a:xfrm>
            <a:off x="320040" y="1828800"/>
            <a:ext cx="594360" cy="539496"/>
          </a:xfrm>
          <a:prstGeom prst="rect">
            <a:avLst/>
          </a:prstGeom>
          <a:solidFill>
            <a:srgbClr val="1B2A4A"/>
          </a:solidFill>
          <a:ln w="12700">
            <a:solidFill>
              <a:srgbClr val="1B2A4A"/>
            </a:solidFill>
            <a:prstDash val="solid"/>
          </a:ln>
        </p:spPr>
      </p:sp>
      <p:sp>
        <p:nvSpPr>
          <p:cNvPr id="16" name="Text 14"/>
          <p:cNvSpPr/>
          <p:nvPr/>
        </p:nvSpPr>
        <p:spPr>
          <a:xfrm>
            <a:off x="320040" y="1828800"/>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7" name="Text 15"/>
          <p:cNvSpPr/>
          <p:nvPr/>
        </p:nvSpPr>
        <p:spPr>
          <a:xfrm>
            <a:off x="1024128" y="1874520"/>
            <a:ext cx="237744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Acme Corporation (CFA LM4)</a:t>
            </a:r>
            <a:endParaRPr lang="en-US" sz="1200" dirty="0"/>
          </a:p>
        </p:txBody>
      </p:sp>
      <p:sp>
        <p:nvSpPr>
          <p:cNvPr id="18" name="Text 16"/>
          <p:cNvSpPr/>
          <p:nvPr/>
        </p:nvSpPr>
        <p:spPr>
          <a:xfrm>
            <a:off x="1024128" y="2130552"/>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Full indirect method: NI=2,210 → CFO=2,606 • CFI=(538) • CFF=(2,220)</a:t>
            </a:r>
            <a:endParaRPr lang="en-US" sz="1100" dirty="0"/>
          </a:p>
        </p:txBody>
      </p:sp>
      <p:sp>
        <p:nvSpPr>
          <p:cNvPr id="19" name="Shape 17"/>
          <p:cNvSpPr/>
          <p:nvPr/>
        </p:nvSpPr>
        <p:spPr>
          <a:xfrm>
            <a:off x="320040" y="2450592"/>
            <a:ext cx="8503920" cy="539496"/>
          </a:xfrm>
          <a:prstGeom prst="rect">
            <a:avLst/>
          </a:prstGeom>
          <a:solidFill>
            <a:srgbClr val="FFFFFF"/>
          </a:solidFill>
          <a:ln w="12700">
            <a:solidFill>
              <a:srgbClr val="E8ECF0"/>
            </a:solidFill>
            <a:prstDash val="solid"/>
          </a:ln>
        </p:spPr>
      </p:sp>
      <p:sp>
        <p:nvSpPr>
          <p:cNvPr id="20" name="Shape 18"/>
          <p:cNvSpPr/>
          <p:nvPr/>
        </p:nvSpPr>
        <p:spPr>
          <a:xfrm>
            <a:off x="320040" y="2450592"/>
            <a:ext cx="594360" cy="539496"/>
          </a:xfrm>
          <a:prstGeom prst="rect">
            <a:avLst/>
          </a:prstGeom>
          <a:solidFill>
            <a:srgbClr val="1B2A4A"/>
          </a:solidFill>
          <a:ln w="12700">
            <a:solidFill>
              <a:srgbClr val="1B2A4A"/>
            </a:solidFill>
            <a:prstDash val="solid"/>
          </a:ln>
        </p:spPr>
      </p:sp>
      <p:sp>
        <p:nvSpPr>
          <p:cNvPr id="21" name="Text 19"/>
          <p:cNvSpPr/>
          <p:nvPr/>
        </p:nvSpPr>
        <p:spPr>
          <a:xfrm>
            <a:off x="320040" y="2450592"/>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2" name="Text 20"/>
          <p:cNvSpPr/>
          <p:nvPr/>
        </p:nvSpPr>
        <p:spPr>
          <a:xfrm>
            <a:off x="1024128" y="2496312"/>
            <a:ext cx="237744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Working Capital &amp; Activity</a:t>
            </a:r>
            <a:endParaRPr lang="en-US" sz="1200" dirty="0"/>
          </a:p>
        </p:txBody>
      </p:sp>
      <p:sp>
        <p:nvSpPr>
          <p:cNvPr id="23" name="Text 21"/>
          <p:cNvSpPr/>
          <p:nvPr/>
        </p:nvSpPr>
        <p:spPr>
          <a:xfrm>
            <a:off x="1024128" y="2752344"/>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DSO, DIO, DPO • Cash Conversion Cycle • Inditex CCC=−86 days (CFA Vol 3 LM4)</a:t>
            </a:r>
            <a:endParaRPr lang="en-US" sz="1100" dirty="0"/>
          </a:p>
        </p:txBody>
      </p:sp>
      <p:sp>
        <p:nvSpPr>
          <p:cNvPr id="24" name="Shape 22"/>
          <p:cNvSpPr/>
          <p:nvPr/>
        </p:nvSpPr>
        <p:spPr>
          <a:xfrm>
            <a:off x="320040" y="3072384"/>
            <a:ext cx="8503920" cy="539496"/>
          </a:xfrm>
          <a:prstGeom prst="rect">
            <a:avLst/>
          </a:prstGeom>
          <a:solidFill>
            <a:srgbClr val="F5F7FA"/>
          </a:solidFill>
          <a:ln w="12700">
            <a:solidFill>
              <a:srgbClr val="E8ECF0"/>
            </a:solidFill>
            <a:prstDash val="solid"/>
          </a:ln>
        </p:spPr>
      </p:sp>
      <p:sp>
        <p:nvSpPr>
          <p:cNvPr id="25" name="Shape 23"/>
          <p:cNvSpPr/>
          <p:nvPr/>
        </p:nvSpPr>
        <p:spPr>
          <a:xfrm>
            <a:off x="320040" y="3072384"/>
            <a:ext cx="594360" cy="539496"/>
          </a:xfrm>
          <a:prstGeom prst="rect">
            <a:avLst/>
          </a:prstGeom>
          <a:solidFill>
            <a:srgbClr val="1B2A4A"/>
          </a:solidFill>
          <a:ln w="12700">
            <a:solidFill>
              <a:srgbClr val="1B2A4A"/>
            </a:solidFill>
            <a:prstDash val="solid"/>
          </a:ln>
        </p:spPr>
      </p:sp>
      <p:sp>
        <p:nvSpPr>
          <p:cNvPr id="26" name="Text 24"/>
          <p:cNvSpPr/>
          <p:nvPr/>
        </p:nvSpPr>
        <p:spPr>
          <a:xfrm>
            <a:off x="320040" y="3072384"/>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7" name="Text 25"/>
          <p:cNvSpPr/>
          <p:nvPr/>
        </p:nvSpPr>
        <p:spPr>
          <a:xfrm>
            <a:off x="1024128" y="3118104"/>
            <a:ext cx="237744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Liquidity, Solvency &amp; Profitability</a:t>
            </a:r>
            <a:endParaRPr lang="en-US" sz="1200" dirty="0"/>
          </a:p>
        </p:txBody>
      </p:sp>
      <p:sp>
        <p:nvSpPr>
          <p:cNvPr id="28" name="Text 26"/>
          <p:cNvSpPr/>
          <p:nvPr/>
        </p:nvSpPr>
        <p:spPr>
          <a:xfrm>
            <a:off x="1024128" y="3374136"/>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All 4 ratio categories • Apple 5yr margins (CFA LM12) • coverage ratios</a:t>
            </a:r>
            <a:endParaRPr lang="en-US" sz="1100" dirty="0"/>
          </a:p>
        </p:txBody>
      </p:sp>
      <p:sp>
        <p:nvSpPr>
          <p:cNvPr id="29" name="Shape 27"/>
          <p:cNvSpPr/>
          <p:nvPr/>
        </p:nvSpPr>
        <p:spPr>
          <a:xfrm>
            <a:off x="320040" y="3694176"/>
            <a:ext cx="8503920" cy="539496"/>
          </a:xfrm>
          <a:prstGeom prst="rect">
            <a:avLst/>
          </a:prstGeom>
          <a:solidFill>
            <a:srgbClr val="FFFFFF"/>
          </a:solidFill>
          <a:ln w="12700">
            <a:solidFill>
              <a:srgbClr val="E8ECF0"/>
            </a:solidFill>
            <a:prstDash val="solid"/>
          </a:ln>
        </p:spPr>
      </p:sp>
      <p:sp>
        <p:nvSpPr>
          <p:cNvPr id="30" name="Shape 28"/>
          <p:cNvSpPr/>
          <p:nvPr/>
        </p:nvSpPr>
        <p:spPr>
          <a:xfrm>
            <a:off x="320040" y="3694176"/>
            <a:ext cx="594360" cy="539496"/>
          </a:xfrm>
          <a:prstGeom prst="rect">
            <a:avLst/>
          </a:prstGeom>
          <a:solidFill>
            <a:srgbClr val="1B2A4A"/>
          </a:solidFill>
          <a:ln w="12700">
            <a:solidFill>
              <a:srgbClr val="1B2A4A"/>
            </a:solidFill>
            <a:prstDash val="solid"/>
          </a:ln>
        </p:spPr>
      </p:sp>
      <p:sp>
        <p:nvSpPr>
          <p:cNvPr id="31" name="Text 29"/>
          <p:cNvSpPr/>
          <p:nvPr/>
        </p:nvSpPr>
        <p:spPr>
          <a:xfrm>
            <a:off x="320040" y="3694176"/>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2" name="Text 30"/>
          <p:cNvSpPr/>
          <p:nvPr/>
        </p:nvSpPr>
        <p:spPr>
          <a:xfrm>
            <a:off x="1024128" y="3739896"/>
            <a:ext cx="237744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DuPont Analysis (CFA LM12)</a:t>
            </a:r>
            <a:endParaRPr lang="en-US" sz="1200" dirty="0"/>
          </a:p>
        </p:txBody>
      </p:sp>
      <p:sp>
        <p:nvSpPr>
          <p:cNvPr id="33" name="Text 31"/>
          <p:cNvSpPr/>
          <p:nvPr/>
        </p:nvSpPr>
        <p:spPr>
          <a:xfrm>
            <a:off x="1024128" y="3995928"/>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3-factor ROE decomposition • Anson Industries trend • 5-factor model</a:t>
            </a:r>
            <a:endParaRPr lang="en-US" sz="1100" dirty="0"/>
          </a:p>
        </p:txBody>
      </p:sp>
      <p:sp>
        <p:nvSpPr>
          <p:cNvPr id="34" name="Shape 32"/>
          <p:cNvSpPr/>
          <p:nvPr/>
        </p:nvSpPr>
        <p:spPr>
          <a:xfrm>
            <a:off x="320040" y="4315968"/>
            <a:ext cx="8503920" cy="539496"/>
          </a:xfrm>
          <a:prstGeom prst="rect">
            <a:avLst/>
          </a:prstGeom>
          <a:solidFill>
            <a:srgbClr val="F5F7FA"/>
          </a:solidFill>
          <a:ln w="12700">
            <a:solidFill>
              <a:srgbClr val="E8ECF0"/>
            </a:solidFill>
            <a:prstDash val="solid"/>
          </a:ln>
        </p:spPr>
      </p:sp>
      <p:sp>
        <p:nvSpPr>
          <p:cNvPr id="35" name="Shape 33"/>
          <p:cNvSpPr/>
          <p:nvPr/>
        </p:nvSpPr>
        <p:spPr>
          <a:xfrm>
            <a:off x="320040" y="4315968"/>
            <a:ext cx="594360" cy="539496"/>
          </a:xfrm>
          <a:prstGeom prst="rect">
            <a:avLst/>
          </a:prstGeom>
          <a:solidFill>
            <a:srgbClr val="1B2A4A"/>
          </a:solidFill>
          <a:ln w="12700">
            <a:solidFill>
              <a:srgbClr val="1B2A4A"/>
            </a:solidFill>
            <a:prstDash val="solid"/>
          </a:ln>
        </p:spPr>
      </p:sp>
      <p:sp>
        <p:nvSpPr>
          <p:cNvPr id="36" name="Text 34"/>
          <p:cNvSpPr/>
          <p:nvPr/>
        </p:nvSpPr>
        <p:spPr>
          <a:xfrm>
            <a:off x="320040" y="4315968"/>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7" name="Text 35"/>
          <p:cNvSpPr/>
          <p:nvPr/>
        </p:nvSpPr>
        <p:spPr>
          <a:xfrm>
            <a:off x="1024128" y="4361688"/>
            <a:ext cx="237744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Practice &amp; Reference</a:t>
            </a:r>
            <a:endParaRPr lang="en-US" sz="1200" dirty="0"/>
          </a:p>
        </p:txBody>
      </p:sp>
      <p:sp>
        <p:nvSpPr>
          <p:cNvPr id="38" name="Text 36"/>
          <p:cNvSpPr/>
          <p:nvPr/>
        </p:nvSpPr>
        <p:spPr>
          <a:xfrm>
            <a:off x="1024128" y="4617720"/>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5 worked problems • complete formula reference • key takeaways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1207008"/>
            <a:ext cx="8503920" cy="548640"/>
          </a:xfrm>
          <a:prstGeom prst="rect">
            <a:avLst/>
          </a:prstGeom>
          <a:solidFill>
            <a:srgbClr val="FFFFFF"/>
          </a:solidFill>
          <a:ln w="12700">
            <a:solidFill>
              <a:srgbClr val="E8ECF0"/>
            </a:solidFill>
            <a:prstDash val="solid"/>
          </a:ln>
        </p:spPr>
      </p:sp>
      <p:sp>
        <p:nvSpPr>
          <p:cNvPr id="9" name="Shape 7"/>
          <p:cNvSpPr/>
          <p:nvPr/>
        </p:nvSpPr>
        <p:spPr>
          <a:xfrm>
            <a:off x="438912" y="1389888"/>
            <a:ext cx="182880" cy="182880"/>
          </a:xfrm>
          <a:prstGeom prst="ellipse">
            <a:avLst/>
          </a:prstGeom>
          <a:solidFill>
            <a:srgbClr val="E8600A"/>
          </a:solidFill>
          <a:ln w="12700">
            <a:solidFill>
              <a:srgbClr val="E8600A"/>
            </a:solidFill>
            <a:prstDash val="solid"/>
          </a:ln>
        </p:spPr>
      </p:sp>
      <p:sp>
        <p:nvSpPr>
          <p:cNvPr id="10" name="Text 8"/>
          <p:cNvSpPr/>
          <p:nvPr/>
        </p:nvSpPr>
        <p:spPr>
          <a:xfrm>
            <a:off x="749808" y="125272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Understand the Cash Flow Statement</a:t>
            </a:r>
            <a:endParaRPr lang="en-US" sz="1200" dirty="0"/>
          </a:p>
        </p:txBody>
      </p:sp>
      <p:sp>
        <p:nvSpPr>
          <p:cNvPr id="11" name="Text 9"/>
          <p:cNvSpPr/>
          <p:nvPr/>
        </p:nvSpPr>
        <p:spPr>
          <a:xfrm>
            <a:off x="749808" y="151790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Explain the three sections of the CFS. Distinguish direct from indirect methods. Compute free cash flow.</a:t>
            </a:r>
            <a:endParaRPr lang="en-US" sz="1150" dirty="0"/>
          </a:p>
        </p:txBody>
      </p:sp>
      <p:sp>
        <p:nvSpPr>
          <p:cNvPr id="12" name="Shape 10"/>
          <p:cNvSpPr/>
          <p:nvPr/>
        </p:nvSpPr>
        <p:spPr>
          <a:xfrm>
            <a:off x="320040" y="1847088"/>
            <a:ext cx="8503920" cy="548640"/>
          </a:xfrm>
          <a:prstGeom prst="rect">
            <a:avLst/>
          </a:prstGeom>
          <a:solidFill>
            <a:srgbClr val="F5F7FA"/>
          </a:solidFill>
          <a:ln w="12700">
            <a:solidFill>
              <a:srgbClr val="E8ECF0"/>
            </a:solidFill>
            <a:prstDash val="solid"/>
          </a:ln>
        </p:spPr>
      </p:sp>
      <p:sp>
        <p:nvSpPr>
          <p:cNvPr id="13" name="Shape 11"/>
          <p:cNvSpPr/>
          <p:nvPr/>
        </p:nvSpPr>
        <p:spPr>
          <a:xfrm>
            <a:off x="438912" y="2029968"/>
            <a:ext cx="182880" cy="182880"/>
          </a:xfrm>
          <a:prstGeom prst="ellipse">
            <a:avLst/>
          </a:prstGeom>
          <a:solidFill>
            <a:srgbClr val="E8600A"/>
          </a:solidFill>
          <a:ln w="12700">
            <a:solidFill>
              <a:srgbClr val="E8600A"/>
            </a:solidFill>
            <a:prstDash val="solid"/>
          </a:ln>
        </p:spPr>
      </p:sp>
      <p:sp>
        <p:nvSpPr>
          <p:cNvPr id="14" name="Text 12"/>
          <p:cNvSpPr/>
          <p:nvPr/>
        </p:nvSpPr>
        <p:spPr>
          <a:xfrm>
            <a:off x="749808" y="189280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Build Indirect Method CFO (CFA LM4)</a:t>
            </a:r>
            <a:endParaRPr lang="en-US" sz="1200" dirty="0"/>
          </a:p>
        </p:txBody>
      </p:sp>
      <p:sp>
        <p:nvSpPr>
          <p:cNvPr id="15" name="Text 13"/>
          <p:cNvSpPr/>
          <p:nvPr/>
        </p:nvSpPr>
        <p:spPr>
          <a:xfrm>
            <a:off x="749808" y="215798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Reconstruct Acme Corporation’s CFO=2,606 from NI=2,210 through all adjustments. Interpret each line.</a:t>
            </a:r>
            <a:endParaRPr lang="en-US" sz="1150" dirty="0"/>
          </a:p>
        </p:txBody>
      </p:sp>
      <p:sp>
        <p:nvSpPr>
          <p:cNvPr id="16" name="Shape 14"/>
          <p:cNvSpPr/>
          <p:nvPr/>
        </p:nvSpPr>
        <p:spPr>
          <a:xfrm>
            <a:off x="320040" y="2487168"/>
            <a:ext cx="8503920" cy="548640"/>
          </a:xfrm>
          <a:prstGeom prst="rect">
            <a:avLst/>
          </a:prstGeom>
          <a:solidFill>
            <a:srgbClr val="FFFFFF"/>
          </a:solidFill>
          <a:ln w="12700">
            <a:solidFill>
              <a:srgbClr val="E8ECF0"/>
            </a:solidFill>
            <a:prstDash val="solid"/>
          </a:ln>
        </p:spPr>
      </p:sp>
      <p:sp>
        <p:nvSpPr>
          <p:cNvPr id="17" name="Shape 15"/>
          <p:cNvSpPr/>
          <p:nvPr/>
        </p:nvSpPr>
        <p:spPr>
          <a:xfrm>
            <a:off x="438912" y="2670048"/>
            <a:ext cx="182880" cy="182880"/>
          </a:xfrm>
          <a:prstGeom prst="ellipse">
            <a:avLst/>
          </a:prstGeom>
          <a:solidFill>
            <a:srgbClr val="E8600A"/>
          </a:solidFill>
          <a:ln w="12700">
            <a:solidFill>
              <a:srgbClr val="E8600A"/>
            </a:solidFill>
            <a:prstDash val="solid"/>
          </a:ln>
        </p:spPr>
      </p:sp>
      <p:sp>
        <p:nvSpPr>
          <p:cNvPr id="18" name="Text 16"/>
          <p:cNvSpPr/>
          <p:nvPr/>
        </p:nvSpPr>
        <p:spPr>
          <a:xfrm>
            <a:off x="749808" y="253288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Calculate Working Capital Ratios</a:t>
            </a:r>
            <a:endParaRPr lang="en-US" sz="1200" dirty="0"/>
          </a:p>
        </p:txBody>
      </p:sp>
      <p:sp>
        <p:nvSpPr>
          <p:cNvPr id="19" name="Text 17"/>
          <p:cNvSpPr/>
          <p:nvPr/>
        </p:nvSpPr>
        <p:spPr>
          <a:xfrm>
            <a:off x="749808" y="279806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Compute DSO, DIO, DPO. Calculate CCC. Interpret Inditex CCC=−86 days as a supply chain advantage.</a:t>
            </a:r>
            <a:endParaRPr lang="en-US" sz="1150" dirty="0"/>
          </a:p>
        </p:txBody>
      </p:sp>
      <p:sp>
        <p:nvSpPr>
          <p:cNvPr id="20" name="Shape 18"/>
          <p:cNvSpPr/>
          <p:nvPr/>
        </p:nvSpPr>
        <p:spPr>
          <a:xfrm>
            <a:off x="320040" y="3127248"/>
            <a:ext cx="8503920" cy="548640"/>
          </a:xfrm>
          <a:prstGeom prst="rect">
            <a:avLst/>
          </a:prstGeom>
          <a:solidFill>
            <a:srgbClr val="F5F7FA"/>
          </a:solidFill>
          <a:ln w="12700">
            <a:solidFill>
              <a:srgbClr val="E8ECF0"/>
            </a:solidFill>
            <a:prstDash val="solid"/>
          </a:ln>
        </p:spPr>
      </p:sp>
      <p:sp>
        <p:nvSpPr>
          <p:cNvPr id="21" name="Shape 19"/>
          <p:cNvSpPr/>
          <p:nvPr/>
        </p:nvSpPr>
        <p:spPr>
          <a:xfrm>
            <a:off x="438912" y="3310128"/>
            <a:ext cx="182880" cy="182880"/>
          </a:xfrm>
          <a:prstGeom prst="ellipse">
            <a:avLst/>
          </a:prstGeom>
          <a:solidFill>
            <a:srgbClr val="E8600A"/>
          </a:solidFill>
          <a:ln w="12700">
            <a:solidFill>
              <a:srgbClr val="E8600A"/>
            </a:solidFill>
            <a:prstDash val="solid"/>
          </a:ln>
        </p:spPr>
      </p:sp>
      <p:sp>
        <p:nvSpPr>
          <p:cNvPr id="22" name="Text 20"/>
          <p:cNvSpPr/>
          <p:nvPr/>
        </p:nvSpPr>
        <p:spPr>
          <a:xfrm>
            <a:off x="749808" y="317296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Apply All 4 Ratio Categories</a:t>
            </a:r>
            <a:endParaRPr lang="en-US" sz="1200" dirty="0"/>
          </a:p>
        </p:txBody>
      </p:sp>
      <p:sp>
        <p:nvSpPr>
          <p:cNvPr id="23" name="Text 21"/>
          <p:cNvSpPr/>
          <p:nvPr/>
        </p:nvSpPr>
        <p:spPr>
          <a:xfrm>
            <a:off x="749808" y="343814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Activity, liquidity, solvency and profitability ratios. Identify contradictions between ratios (CFA LM12 example).</a:t>
            </a:r>
            <a:endParaRPr lang="en-US" sz="1150" dirty="0"/>
          </a:p>
        </p:txBody>
      </p:sp>
      <p:sp>
        <p:nvSpPr>
          <p:cNvPr id="24" name="Shape 22"/>
          <p:cNvSpPr/>
          <p:nvPr/>
        </p:nvSpPr>
        <p:spPr>
          <a:xfrm>
            <a:off x="320040" y="3767328"/>
            <a:ext cx="8503920" cy="548640"/>
          </a:xfrm>
          <a:prstGeom prst="rect">
            <a:avLst/>
          </a:prstGeom>
          <a:solidFill>
            <a:srgbClr val="FFFFFF"/>
          </a:solidFill>
          <a:ln w="12700">
            <a:solidFill>
              <a:srgbClr val="E8ECF0"/>
            </a:solidFill>
            <a:prstDash val="solid"/>
          </a:ln>
        </p:spPr>
      </p:sp>
      <p:sp>
        <p:nvSpPr>
          <p:cNvPr id="25" name="Shape 23"/>
          <p:cNvSpPr/>
          <p:nvPr/>
        </p:nvSpPr>
        <p:spPr>
          <a:xfrm>
            <a:off x="438912" y="3950208"/>
            <a:ext cx="182880" cy="182880"/>
          </a:xfrm>
          <a:prstGeom prst="ellipse">
            <a:avLst/>
          </a:prstGeom>
          <a:solidFill>
            <a:srgbClr val="E8600A"/>
          </a:solidFill>
          <a:ln w="12700">
            <a:solidFill>
              <a:srgbClr val="E8600A"/>
            </a:solidFill>
            <a:prstDash val="solid"/>
          </a:ln>
        </p:spPr>
      </p:sp>
      <p:sp>
        <p:nvSpPr>
          <p:cNvPr id="26" name="Text 24"/>
          <p:cNvSpPr/>
          <p:nvPr/>
        </p:nvSpPr>
        <p:spPr>
          <a:xfrm>
            <a:off x="749808" y="381304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Decompose ROE with DuPont (CFA LM12)</a:t>
            </a:r>
            <a:endParaRPr lang="en-US" sz="1200" dirty="0"/>
          </a:p>
        </p:txBody>
      </p:sp>
      <p:sp>
        <p:nvSpPr>
          <p:cNvPr id="27" name="Text 25"/>
          <p:cNvSpPr/>
          <p:nvPr/>
        </p:nvSpPr>
        <p:spPr>
          <a:xfrm>
            <a:off x="749808" y="407822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Apply 3-factor DuPont: ROE = margin × asset turnover × leverage. Analyse Anson Industries FY2→FY5 improvement.</a:t>
            </a:r>
            <a:endParaRPr lang="en-US" sz="1150" dirty="0"/>
          </a:p>
        </p:txBody>
      </p:sp>
      <p:sp>
        <p:nvSpPr>
          <p:cNvPr id="28" name="Shape 26"/>
          <p:cNvSpPr/>
          <p:nvPr/>
        </p:nvSpPr>
        <p:spPr>
          <a:xfrm>
            <a:off x="320040" y="4407408"/>
            <a:ext cx="8503920" cy="548640"/>
          </a:xfrm>
          <a:prstGeom prst="rect">
            <a:avLst/>
          </a:prstGeom>
          <a:solidFill>
            <a:srgbClr val="F5F7FA"/>
          </a:solidFill>
          <a:ln w="12700">
            <a:solidFill>
              <a:srgbClr val="E8ECF0"/>
            </a:solidFill>
            <a:prstDash val="solid"/>
          </a:ln>
        </p:spPr>
      </p:sp>
      <p:sp>
        <p:nvSpPr>
          <p:cNvPr id="29" name="Shape 27"/>
          <p:cNvSpPr/>
          <p:nvPr/>
        </p:nvSpPr>
        <p:spPr>
          <a:xfrm>
            <a:off x="438912" y="4590288"/>
            <a:ext cx="182880" cy="182880"/>
          </a:xfrm>
          <a:prstGeom prst="ellipse">
            <a:avLst/>
          </a:prstGeom>
          <a:solidFill>
            <a:srgbClr val="E8600A"/>
          </a:solidFill>
          <a:ln w="12700">
            <a:solidFill>
              <a:srgbClr val="E8600A"/>
            </a:solidFill>
            <a:prstDash val="solid"/>
          </a:ln>
        </p:spPr>
      </p:sp>
      <p:sp>
        <p:nvSpPr>
          <p:cNvPr id="30" name="Text 28"/>
          <p:cNvSpPr/>
          <p:nvPr/>
        </p:nvSpPr>
        <p:spPr>
          <a:xfrm>
            <a:off x="749808" y="445312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Integrate Ratios for Judgement</a:t>
            </a:r>
            <a:endParaRPr lang="en-US" sz="1200" dirty="0"/>
          </a:p>
        </p:txBody>
      </p:sp>
      <p:sp>
        <p:nvSpPr>
          <p:cNvPr id="31" name="Text 29"/>
          <p:cNvSpPr/>
          <p:nvPr/>
        </p:nvSpPr>
        <p:spPr>
          <a:xfrm>
            <a:off x="749808" y="471830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Explain why no single ratio tells the full story. Use integrated analysis (CFA LM12 Example 13/14) to form conclusions.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600A"/>
        </a:solidFill>
      </p:bgPr>
    </p:bg>
    <p:spTree>
      <p:nvGrpSpPr>
        <p:cNvPr id="1" name=""/>
        <p:cNvGrpSpPr/>
        <p:nvPr/>
      </p:nvGrpSpPr>
      <p:grpSpPr>
        <a:xfrm>
          <a:off x="0" y="0"/>
          <a:ext cx="0" cy="0"/>
          <a:chOff x="0" y="0"/>
          <a:chExt cx="0" cy="0"/>
        </a:xfrm>
      </p:grpSpPr>
      <p:sp>
        <p:nvSpPr>
          <p:cNvPr id="2" name="Text 0"/>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3" name="Shape 1"/>
          <p:cNvSpPr/>
          <p:nvPr/>
        </p:nvSpPr>
        <p:spPr>
          <a:xfrm>
            <a:off x="3200400" y="1901952"/>
            <a:ext cx="2743200" cy="50292"/>
          </a:xfrm>
          <a:prstGeom prst="rect">
            <a:avLst/>
          </a:prstGeom>
          <a:solidFill>
            <a:srgbClr val="FFFFFF"/>
          </a:solidFill>
          <a:ln w="12700">
            <a:solidFill>
              <a:srgbClr val="FFFFFF"/>
            </a:solidFill>
            <a:prstDash val="solid"/>
          </a:ln>
        </p:spPr>
      </p:sp>
      <p:sp>
        <p:nvSpPr>
          <p:cNvPr id="4" name="Text 2"/>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Cash Flow Statement</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(CFA LM4)</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Why the Cash Flow Statement Matters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Net income can be manipulated through accounting choices. Cash flow is harder to fake. CFA LM4: analysts use CFS to evaluate earnings quality and sustainability.</a:t>
            </a:r>
            <a:endParaRPr lang="en-US" sz="1300" dirty="0"/>
          </a:p>
        </p:txBody>
      </p:sp>
      <p:sp>
        <p:nvSpPr>
          <p:cNvPr id="9" name="Shape 7"/>
          <p:cNvSpPr/>
          <p:nvPr/>
        </p:nvSpPr>
        <p:spPr>
          <a:xfrm>
            <a:off x="320040" y="1261872"/>
            <a:ext cx="8503920" cy="658368"/>
          </a:xfrm>
          <a:prstGeom prst="rect">
            <a:avLst/>
          </a:prstGeom>
          <a:solidFill>
            <a:srgbClr val="1B2A4A"/>
          </a:solidFill>
          <a:ln w="12700">
            <a:solidFill>
              <a:srgbClr val="1B2A4A"/>
            </a:solidFill>
            <a:prstDash val="solid"/>
          </a:ln>
        </p:spPr>
      </p:sp>
      <p:sp>
        <p:nvSpPr>
          <p:cNvPr id="10" name="Text 8"/>
          <p:cNvSpPr/>
          <p:nvPr/>
        </p:nvSpPr>
        <p:spPr>
          <a:xfrm>
            <a:off x="320040" y="1261872"/>
            <a:ext cx="85039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Cash from Operations (CFO) is the most critical number — it shows if the business generates real cash</a:t>
            </a:r>
            <a:endParaRPr lang="en-US" sz="1500" dirty="0"/>
          </a:p>
        </p:txBody>
      </p:sp>
      <p:sp>
        <p:nvSpPr>
          <p:cNvPr id="11" name="Shape 9"/>
          <p:cNvSpPr/>
          <p:nvPr/>
        </p:nvSpPr>
        <p:spPr>
          <a:xfrm>
            <a:off x="320040" y="2084832"/>
            <a:ext cx="8503920" cy="621792"/>
          </a:xfrm>
          <a:prstGeom prst="rect">
            <a:avLst/>
          </a:prstGeom>
          <a:solidFill>
            <a:srgbClr val="FFFFFF"/>
          </a:solidFill>
          <a:ln w="12700">
            <a:solidFill>
              <a:srgbClr val="E8ECF0"/>
            </a:solidFill>
            <a:prstDash val="solid"/>
          </a:ln>
        </p:spPr>
      </p:sp>
      <p:sp>
        <p:nvSpPr>
          <p:cNvPr id="12" name="Shape 10"/>
          <p:cNvSpPr/>
          <p:nvPr/>
        </p:nvSpPr>
        <p:spPr>
          <a:xfrm>
            <a:off x="320040" y="2084832"/>
            <a:ext cx="91440" cy="621792"/>
          </a:xfrm>
          <a:prstGeom prst="rect">
            <a:avLst/>
          </a:prstGeom>
          <a:solidFill>
            <a:srgbClr val="E8600A"/>
          </a:solidFill>
          <a:ln w="12700">
            <a:solidFill>
              <a:srgbClr val="E8600A"/>
            </a:solidFill>
            <a:prstDash val="solid"/>
          </a:ln>
        </p:spPr>
      </p:sp>
      <p:sp>
        <p:nvSpPr>
          <p:cNvPr id="13" name="Text 11"/>
          <p:cNvSpPr/>
          <p:nvPr/>
        </p:nvSpPr>
        <p:spPr>
          <a:xfrm>
            <a:off x="502920" y="2139696"/>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Revenue recognised ≠ Cash received</a:t>
            </a:r>
            <a:endParaRPr lang="en-US" sz="1200" dirty="0"/>
          </a:p>
        </p:txBody>
      </p:sp>
      <p:sp>
        <p:nvSpPr>
          <p:cNvPr id="14" name="Text 12"/>
          <p:cNvSpPr/>
          <p:nvPr/>
        </p:nvSpPr>
        <p:spPr>
          <a:xfrm>
            <a:off x="502920" y="2441448"/>
            <a:ext cx="7936992" cy="25603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Accrual: revenue recorded when earned, cash may arrive months later. Rising AR = gap between NI and CFO. Check: is revenue real or early recognition?</a:t>
            </a:r>
            <a:endParaRPr lang="en-US" sz="1200" dirty="0"/>
          </a:p>
        </p:txBody>
      </p:sp>
      <p:sp>
        <p:nvSpPr>
          <p:cNvPr id="15" name="Shape 13"/>
          <p:cNvSpPr/>
          <p:nvPr/>
        </p:nvSpPr>
        <p:spPr>
          <a:xfrm>
            <a:off x="320040" y="2798064"/>
            <a:ext cx="8503920" cy="621792"/>
          </a:xfrm>
          <a:prstGeom prst="rect">
            <a:avLst/>
          </a:prstGeom>
          <a:solidFill>
            <a:srgbClr val="F5F7FA"/>
          </a:solidFill>
          <a:ln w="12700">
            <a:solidFill>
              <a:srgbClr val="E8ECF0"/>
            </a:solidFill>
            <a:prstDash val="solid"/>
          </a:ln>
        </p:spPr>
      </p:sp>
      <p:sp>
        <p:nvSpPr>
          <p:cNvPr id="16" name="Shape 14"/>
          <p:cNvSpPr/>
          <p:nvPr/>
        </p:nvSpPr>
        <p:spPr>
          <a:xfrm>
            <a:off x="320040" y="2798064"/>
            <a:ext cx="91440" cy="621792"/>
          </a:xfrm>
          <a:prstGeom prst="rect">
            <a:avLst/>
          </a:prstGeom>
          <a:solidFill>
            <a:srgbClr val="E8600A"/>
          </a:solidFill>
          <a:ln w="12700">
            <a:solidFill>
              <a:srgbClr val="E8600A"/>
            </a:solidFill>
            <a:prstDash val="solid"/>
          </a:ln>
        </p:spPr>
      </p:sp>
      <p:sp>
        <p:nvSpPr>
          <p:cNvPr id="17" name="Text 15"/>
          <p:cNvSpPr/>
          <p:nvPr/>
        </p:nvSpPr>
        <p:spPr>
          <a:xfrm>
            <a:off x="502920" y="285292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Depreciation reduces NI but NOT cash</a:t>
            </a:r>
            <a:endParaRPr lang="en-US" sz="1200" dirty="0"/>
          </a:p>
        </p:txBody>
      </p:sp>
      <p:sp>
        <p:nvSpPr>
          <p:cNvPr id="18" name="Text 16"/>
          <p:cNvSpPr/>
          <p:nvPr/>
        </p:nvSpPr>
        <p:spPr>
          <a:xfrm>
            <a:off x="502920" y="3154680"/>
            <a:ext cx="7936992" cy="25603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D&amp;A is a non-cash charge subtracted from NI. Must add back in CFO. Acme: +USD 1,052 added back. Distorts NI vs cash comparison.</a:t>
            </a:r>
            <a:endParaRPr lang="en-US" sz="1200" dirty="0"/>
          </a:p>
        </p:txBody>
      </p:sp>
      <p:sp>
        <p:nvSpPr>
          <p:cNvPr id="19" name="Shape 17"/>
          <p:cNvSpPr/>
          <p:nvPr/>
        </p:nvSpPr>
        <p:spPr>
          <a:xfrm>
            <a:off x="320040" y="3511296"/>
            <a:ext cx="8503920" cy="621792"/>
          </a:xfrm>
          <a:prstGeom prst="rect">
            <a:avLst/>
          </a:prstGeom>
          <a:solidFill>
            <a:srgbClr val="FFFFFF"/>
          </a:solidFill>
          <a:ln w="12700">
            <a:solidFill>
              <a:srgbClr val="E8ECF0"/>
            </a:solidFill>
            <a:prstDash val="solid"/>
          </a:ln>
        </p:spPr>
      </p:sp>
      <p:sp>
        <p:nvSpPr>
          <p:cNvPr id="20" name="Shape 18"/>
          <p:cNvSpPr/>
          <p:nvPr/>
        </p:nvSpPr>
        <p:spPr>
          <a:xfrm>
            <a:off x="320040" y="3511296"/>
            <a:ext cx="91440" cy="621792"/>
          </a:xfrm>
          <a:prstGeom prst="rect">
            <a:avLst/>
          </a:prstGeom>
          <a:solidFill>
            <a:srgbClr val="E8600A"/>
          </a:solidFill>
          <a:ln w="12700">
            <a:solidFill>
              <a:srgbClr val="E8600A"/>
            </a:solidFill>
            <a:prstDash val="solid"/>
          </a:ln>
        </p:spPr>
      </p:sp>
      <p:sp>
        <p:nvSpPr>
          <p:cNvPr id="21" name="Text 19"/>
          <p:cNvSpPr/>
          <p:nvPr/>
        </p:nvSpPr>
        <p:spPr>
          <a:xfrm>
            <a:off x="502920" y="3566160"/>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Investing cash flows reveal true capex</a:t>
            </a:r>
            <a:endParaRPr lang="en-US" sz="1200" dirty="0"/>
          </a:p>
        </p:txBody>
      </p:sp>
      <p:sp>
        <p:nvSpPr>
          <p:cNvPr id="22" name="Text 20"/>
          <p:cNvSpPr/>
          <p:nvPr/>
        </p:nvSpPr>
        <p:spPr>
          <a:xfrm>
            <a:off x="502920" y="3867912"/>
            <a:ext cx="7936992" cy="25603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CFI shows actual spending on PP&amp;E, acquisitions. Compare to D&amp;A: if Capex &gt;&gt; D&amp;A persistently, asset base is growing. If &lt;&lt; D&amp;A, underinvestment.</a:t>
            </a:r>
            <a:endParaRPr lang="en-US" sz="1200" dirty="0"/>
          </a:p>
        </p:txBody>
      </p:sp>
      <p:sp>
        <p:nvSpPr>
          <p:cNvPr id="23" name="Shape 21"/>
          <p:cNvSpPr/>
          <p:nvPr/>
        </p:nvSpPr>
        <p:spPr>
          <a:xfrm>
            <a:off x="320040" y="4224528"/>
            <a:ext cx="8503920" cy="621792"/>
          </a:xfrm>
          <a:prstGeom prst="rect">
            <a:avLst/>
          </a:prstGeom>
          <a:solidFill>
            <a:srgbClr val="F5F7FA"/>
          </a:solidFill>
          <a:ln w="12700">
            <a:solidFill>
              <a:srgbClr val="E8ECF0"/>
            </a:solidFill>
            <a:prstDash val="solid"/>
          </a:ln>
        </p:spPr>
      </p:sp>
      <p:sp>
        <p:nvSpPr>
          <p:cNvPr id="24" name="Shape 22"/>
          <p:cNvSpPr/>
          <p:nvPr/>
        </p:nvSpPr>
        <p:spPr>
          <a:xfrm>
            <a:off x="320040" y="4224528"/>
            <a:ext cx="91440" cy="621792"/>
          </a:xfrm>
          <a:prstGeom prst="rect">
            <a:avLst/>
          </a:prstGeom>
          <a:solidFill>
            <a:srgbClr val="E8600A"/>
          </a:solidFill>
          <a:ln w="12700">
            <a:solidFill>
              <a:srgbClr val="E8600A"/>
            </a:solidFill>
            <a:prstDash val="solid"/>
          </a:ln>
        </p:spPr>
      </p:sp>
      <p:sp>
        <p:nvSpPr>
          <p:cNvPr id="25" name="Text 23"/>
          <p:cNvSpPr/>
          <p:nvPr/>
        </p:nvSpPr>
        <p:spPr>
          <a:xfrm>
            <a:off x="502920" y="4279392"/>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Financing flows show capital allocation</a:t>
            </a:r>
            <a:endParaRPr lang="en-US" sz="1200" dirty="0"/>
          </a:p>
        </p:txBody>
      </p:sp>
      <p:sp>
        <p:nvSpPr>
          <p:cNvPr id="26" name="Text 24"/>
          <p:cNvSpPr/>
          <p:nvPr/>
        </p:nvSpPr>
        <p:spPr>
          <a:xfrm>
            <a:off x="502920" y="4581144"/>
            <a:ext cx="7936992" cy="25603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Dividends paid, debt repaid, buybacks. CFF reveals how management returns capital to shareholders and manages balance sheet.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Three Sections of the Cash Flow Statement</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Every cash flow belongs to one of three sections. Classification rules differ slightly between IFRS and US GAAP for interest and dividends.</a:t>
            </a:r>
            <a:endParaRPr lang="en-US" sz="1300" dirty="0"/>
          </a:p>
        </p:txBody>
      </p:sp>
      <p:sp>
        <p:nvSpPr>
          <p:cNvPr id="9" name="Shape 7"/>
          <p:cNvSpPr/>
          <p:nvPr/>
        </p:nvSpPr>
        <p:spPr>
          <a:xfrm>
            <a:off x="320040" y="1298448"/>
            <a:ext cx="8503920" cy="1051560"/>
          </a:xfrm>
          <a:prstGeom prst="rect">
            <a:avLst/>
          </a:prstGeom>
          <a:solidFill>
            <a:srgbClr val="E8F5E9"/>
          </a:solidFill>
          <a:ln w="12700">
            <a:solidFill>
              <a:srgbClr val="E8ECF0"/>
            </a:solidFill>
            <a:prstDash val="solid"/>
          </a:ln>
        </p:spPr>
      </p:sp>
      <p:sp>
        <p:nvSpPr>
          <p:cNvPr id="10" name="Shape 8"/>
          <p:cNvSpPr/>
          <p:nvPr/>
        </p:nvSpPr>
        <p:spPr>
          <a:xfrm>
            <a:off x="320040" y="1298448"/>
            <a:ext cx="91440" cy="1051560"/>
          </a:xfrm>
          <a:prstGeom prst="rect">
            <a:avLst/>
          </a:prstGeom>
          <a:solidFill>
            <a:srgbClr val="1A6B3C"/>
          </a:solidFill>
          <a:ln w="12700">
            <a:solidFill>
              <a:srgbClr val="1A6B3C"/>
            </a:solidFill>
            <a:prstDash val="solid"/>
          </a:ln>
        </p:spPr>
      </p:sp>
      <p:sp>
        <p:nvSpPr>
          <p:cNvPr id="11" name="Text 9"/>
          <p:cNvSpPr/>
          <p:nvPr/>
        </p:nvSpPr>
        <p:spPr>
          <a:xfrm>
            <a:off x="502920" y="1335024"/>
            <a:ext cx="3657600" cy="274320"/>
          </a:xfrm>
          <a:prstGeom prst="rect">
            <a:avLst/>
          </a:prstGeom>
          <a:noFill/>
          <a:ln/>
        </p:spPr>
        <p:txBody>
          <a:bodyPr wrap="square" lIns="0" tIns="0" rIns="0" bIns="0" rtlCol="0" anchor="ctr"/>
          <a:lstStyle/>
          <a:p>
            <a:pPr indent="0" marL="0">
              <a:buNone/>
            </a:pPr>
            <a:r>
              <a:rPr lang="en-US" sz="1250" b="1" dirty="0">
                <a:solidFill>
                  <a:srgbClr val="1A6B3C"/>
                </a:solidFill>
                <a:latin typeface="Trebuchet MS" pitchFamily="34" charset="0"/>
                <a:ea typeface="Trebuchet MS" pitchFamily="34" charset="-122"/>
                <a:cs typeface="Trebuchet MS" pitchFamily="34" charset="-120"/>
              </a:rPr>
              <a:t>Operating Activities (CFO)</a:t>
            </a:r>
            <a:endParaRPr lang="en-US" sz="1250" dirty="0"/>
          </a:p>
        </p:txBody>
      </p:sp>
      <p:sp>
        <p:nvSpPr>
          <p:cNvPr id="12" name="Text 10"/>
          <p:cNvSpPr/>
          <p:nvPr/>
        </p:nvSpPr>
        <p:spPr>
          <a:xfrm>
            <a:off x="502920" y="1645920"/>
            <a:ext cx="7936992" cy="65836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Cash generated from or used by the core business. Includes: cash from customers, payments to suppliers, salaries, taxes.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TWO methods: Direct (gross receipts/payments) or Indirect (NI → adjust). Both arrive at same CFO.</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US GAAP: interest paid/received and dividends received = CFO. IFRS: more flexibility (interest paid can be CFF).</a:t>
            </a:r>
            <a:endParaRPr lang="en-US" sz="1200" dirty="0"/>
          </a:p>
        </p:txBody>
      </p:sp>
      <p:sp>
        <p:nvSpPr>
          <p:cNvPr id="13" name="Shape 11"/>
          <p:cNvSpPr/>
          <p:nvPr/>
        </p:nvSpPr>
        <p:spPr>
          <a:xfrm>
            <a:off x="320040" y="2468880"/>
            <a:ext cx="8503920" cy="1051560"/>
          </a:xfrm>
          <a:prstGeom prst="rect">
            <a:avLst/>
          </a:prstGeom>
          <a:solidFill>
            <a:srgbClr val="F5F7FA"/>
          </a:solidFill>
          <a:ln w="12700">
            <a:solidFill>
              <a:srgbClr val="E8ECF0"/>
            </a:solidFill>
            <a:prstDash val="solid"/>
          </a:ln>
        </p:spPr>
      </p:sp>
      <p:sp>
        <p:nvSpPr>
          <p:cNvPr id="14" name="Shape 12"/>
          <p:cNvSpPr/>
          <p:nvPr/>
        </p:nvSpPr>
        <p:spPr>
          <a:xfrm>
            <a:off x="320040" y="2468880"/>
            <a:ext cx="91440" cy="1051560"/>
          </a:xfrm>
          <a:prstGeom prst="rect">
            <a:avLst/>
          </a:prstGeom>
          <a:solidFill>
            <a:srgbClr val="1B2A4A"/>
          </a:solidFill>
          <a:ln w="12700">
            <a:solidFill>
              <a:srgbClr val="1B2A4A"/>
            </a:solidFill>
            <a:prstDash val="solid"/>
          </a:ln>
        </p:spPr>
      </p:sp>
      <p:sp>
        <p:nvSpPr>
          <p:cNvPr id="15" name="Text 13"/>
          <p:cNvSpPr/>
          <p:nvPr/>
        </p:nvSpPr>
        <p:spPr>
          <a:xfrm>
            <a:off x="502920" y="2505456"/>
            <a:ext cx="3657600" cy="274320"/>
          </a:xfrm>
          <a:prstGeom prst="rect">
            <a:avLst/>
          </a:prstGeom>
          <a:noFill/>
          <a:ln/>
        </p:spPr>
        <p:txBody>
          <a:bodyPr wrap="square" lIns="0" tIns="0" rIns="0" bIns="0" rtlCol="0" anchor="ctr"/>
          <a:lstStyle/>
          <a:p>
            <a:pPr indent="0" marL="0">
              <a:buNone/>
            </a:pPr>
            <a:r>
              <a:rPr lang="en-US" sz="1250" b="1" dirty="0">
                <a:solidFill>
                  <a:srgbClr val="1B2A4A"/>
                </a:solidFill>
                <a:latin typeface="Trebuchet MS" pitchFamily="34" charset="0"/>
                <a:ea typeface="Trebuchet MS" pitchFamily="34" charset="-122"/>
                <a:cs typeface="Trebuchet MS" pitchFamily="34" charset="-120"/>
              </a:rPr>
              <a:t>Investing Activities (CFI)</a:t>
            </a:r>
            <a:endParaRPr lang="en-US" sz="1250" dirty="0"/>
          </a:p>
        </p:txBody>
      </p:sp>
      <p:sp>
        <p:nvSpPr>
          <p:cNvPr id="16" name="Text 14"/>
          <p:cNvSpPr/>
          <p:nvPr/>
        </p:nvSpPr>
        <p:spPr>
          <a:xfrm>
            <a:off x="502920" y="2816352"/>
            <a:ext cx="7936992" cy="65836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Cash flows from LONG-TERM investments. Includes: purchase/sale of PP&amp;E, acquisitions, purchase/sale of investment securities.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Always negative for growing companies (spending on capex). Acme: bought equipment USD(1,300) + sold equipment USD762 = CFI USD(538).</a:t>
            </a:r>
            <a:endParaRPr lang="en-US" sz="1200" dirty="0"/>
          </a:p>
        </p:txBody>
      </p:sp>
      <p:sp>
        <p:nvSpPr>
          <p:cNvPr id="17" name="Shape 15"/>
          <p:cNvSpPr/>
          <p:nvPr/>
        </p:nvSpPr>
        <p:spPr>
          <a:xfrm>
            <a:off x="320040" y="3639312"/>
            <a:ext cx="8503920" cy="1051560"/>
          </a:xfrm>
          <a:prstGeom prst="rect">
            <a:avLst/>
          </a:prstGeom>
          <a:solidFill>
            <a:srgbClr val="FEF0E7"/>
          </a:solidFill>
          <a:ln w="12700">
            <a:solidFill>
              <a:srgbClr val="E8ECF0"/>
            </a:solidFill>
            <a:prstDash val="solid"/>
          </a:ln>
        </p:spPr>
      </p:sp>
      <p:sp>
        <p:nvSpPr>
          <p:cNvPr id="18" name="Shape 16"/>
          <p:cNvSpPr/>
          <p:nvPr/>
        </p:nvSpPr>
        <p:spPr>
          <a:xfrm>
            <a:off x="320040" y="3639312"/>
            <a:ext cx="91440" cy="1051560"/>
          </a:xfrm>
          <a:prstGeom prst="rect">
            <a:avLst/>
          </a:prstGeom>
          <a:solidFill>
            <a:srgbClr val="E8600A"/>
          </a:solidFill>
          <a:ln w="12700">
            <a:solidFill>
              <a:srgbClr val="E8600A"/>
            </a:solidFill>
            <a:prstDash val="solid"/>
          </a:ln>
        </p:spPr>
      </p:sp>
      <p:sp>
        <p:nvSpPr>
          <p:cNvPr id="19" name="Text 17"/>
          <p:cNvSpPr/>
          <p:nvPr/>
        </p:nvSpPr>
        <p:spPr>
          <a:xfrm>
            <a:off x="502920" y="3675888"/>
            <a:ext cx="3657600" cy="274320"/>
          </a:xfrm>
          <a:prstGeom prst="rect">
            <a:avLst/>
          </a:prstGeom>
          <a:noFill/>
          <a:ln/>
        </p:spPr>
        <p:txBody>
          <a:bodyPr wrap="square" lIns="0" tIns="0" rIns="0" bIns="0" rtlCol="0" anchor="ctr"/>
          <a:lstStyle/>
          <a:p>
            <a:pPr indent="0" marL="0">
              <a:buNone/>
            </a:pPr>
            <a:r>
              <a:rPr lang="en-US" sz="1250" b="1" dirty="0">
                <a:solidFill>
                  <a:srgbClr val="E8600A"/>
                </a:solidFill>
                <a:latin typeface="Trebuchet MS" pitchFamily="34" charset="0"/>
                <a:ea typeface="Trebuchet MS" pitchFamily="34" charset="-122"/>
                <a:cs typeface="Trebuchet MS" pitchFamily="34" charset="-120"/>
              </a:rPr>
              <a:t>Financing Activities (CFF)</a:t>
            </a:r>
            <a:endParaRPr lang="en-US" sz="1250" dirty="0"/>
          </a:p>
        </p:txBody>
      </p:sp>
      <p:sp>
        <p:nvSpPr>
          <p:cNvPr id="20" name="Text 18"/>
          <p:cNvSpPr/>
          <p:nvPr/>
        </p:nvSpPr>
        <p:spPr>
          <a:xfrm>
            <a:off x="502920" y="3986784"/>
            <a:ext cx="7936992" cy="65836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Cash flows related to DEBT and EQUITY capital. Includes: proceeds from borrowing, repayment of debt, dividends paid, share buybacks, share issuances.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US GAAP: dividends paid = CFF. IFRS: dividends paid can be CFO or CFF. Acme: debt repayment (500) + buyback (600) + dividends (1,120) = CFF USD(2,220).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Direct vs Indirect Method — Same CFO, Different Presentation</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Both methods produce IDENTICAL total CFO. The difference is purely in PRESENTATION. Most companies use indirect; analysts often prefer direct.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011680"/>
                <a:gridCol w="3291840"/>
                <a:gridCol w="3200400"/>
              </a:tblGrid>
              <a:tr h="0">
                <a:tc>
                  <a:txBody>
                    <a:bodyPr/>
                    <a:lstStyle/>
                    <a:p>
                      <a:pPr indent="0" marL="0">
                        <a:buNone/>
                      </a:pPr>
                      <a:r>
                        <a:rPr lang="en-US" sz="1100" b="1" dirty="0">
                          <a:solidFill>
                            <a:srgbClr val="FFFFFF"/>
                          </a:solidFill>
                        </a:rPr>
                        <a:t>Feature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Direct Method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Indirect Method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Starting point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Gross cash receipts from customers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Net income (bottom of income statement)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Approach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Show each major cash receipt/payment category separately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Adjust NI for non-cash items + working capital changes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Presentation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Cash received from customers, paid to suppliers, paid to employees, etc.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NI + D&amp;A − gains + AR change + AP change...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Transparency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shows actual operating cash flows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Lower: operating cash flows hidden in adjustments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Prevalence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Rare in practice (primarily IFRS companies in some regions)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Almost universal for listed companies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Required by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IFRS allows both; US GAAP also allows both but indirect more common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Both IFRS and US GAAP allow</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Reconciliation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Must also provide reconciliation of NI to CFO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Reconciliation IS the statement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
        <p:nvSpPr>
          <p:cNvPr id="10" name="Text 7"/>
          <p:cNvSpPr/>
          <p:nvPr/>
        </p:nvSpPr>
        <p:spPr>
          <a:xfrm>
            <a:off x="320040" y="4572000"/>
            <a:ext cx="8503920" cy="320040"/>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CFA LM4 note: ‘Companies often disclose only indirect operating cash flow information but understanding how cash flow information is put together enables analysts to approximate a direct statement.’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914900"/>
            <a:ext cx="9144000" cy="228600"/>
          </a:xfrm>
          <a:prstGeom prst="rect">
            <a:avLst/>
          </a:prstGeom>
          <a:solidFill>
            <a:srgbClr val="E8600A"/>
          </a:solidFill>
          <a:ln w="12700">
            <a:solidFill>
              <a:srgbClr val="E8600A"/>
            </a:solidFill>
            <a:prstDash val="solid"/>
          </a:ln>
        </p:spPr>
      </p:sp>
      <p:sp>
        <p:nvSpPr>
          <p:cNvPr id="3" name="Text 1"/>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E8600A"/>
                </a:solidFill>
                <a:latin typeface="Trebuchet MS" pitchFamily="34" charset="0"/>
                <a:ea typeface="Trebuchet MS" pitchFamily="34" charset="-122"/>
                <a:cs typeface="Trebuchet MS" pitchFamily="34" charset="-120"/>
              </a:rPr>
              <a:t>SECTION 02</a:t>
            </a:r>
            <a:endParaRPr lang="en-US" sz="1200" dirty="0"/>
          </a:p>
        </p:txBody>
      </p:sp>
      <p:sp>
        <p:nvSpPr>
          <p:cNvPr id="4" name="Shape 2"/>
          <p:cNvSpPr/>
          <p:nvPr/>
        </p:nvSpPr>
        <p:spPr>
          <a:xfrm>
            <a:off x="3200400" y="1901952"/>
            <a:ext cx="2743200" cy="50292"/>
          </a:xfrm>
          <a:prstGeom prst="rect">
            <a:avLst/>
          </a:prstGeom>
          <a:solidFill>
            <a:srgbClr val="E8600A"/>
          </a:solidFill>
          <a:ln w="12700">
            <a:solidFill>
              <a:srgbClr val="E8600A"/>
            </a:solidFill>
            <a:prstDash val="solid"/>
          </a:ln>
        </p:spPr>
      </p:sp>
      <p:sp>
        <p:nvSpPr>
          <p:cNvPr id="5" name="Text 3"/>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Acme Corporation</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(CFA LM4)</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Acme Corporation — CFA LM4: Source Data</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CFA Vol 4, LM4 uses Acme Corporation (a fictitious retailer) throughout. These exhibits are the foundation for all indirect method calculations.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926080"/>
                <a:gridCol w="1645920"/>
                <a:gridCol w="2560320"/>
                <a:gridCol w="1371600"/>
              </a:tblGrid>
              <a:tr h="0">
                <a:tc>
                  <a:txBody>
                    <a:bodyPr/>
                    <a:lstStyle/>
                    <a:p>
                      <a:pPr indent="0" marL="0">
                        <a:buNone/>
                      </a:pPr>
                      <a:r>
                        <a:rPr lang="en-US" sz="1100" b="1" dirty="0">
                          <a:solidFill>
                            <a:srgbClr val="FFFFFF"/>
                          </a:solidFill>
                        </a:rPr>
                        <a:t>Income Statement Item (2018)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Amount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Balance Sheet Change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Amount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Revenue (net)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USD 23,598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Accounts receivable increase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USD 55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Cost of goods sold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11,456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Inventory increase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USD 707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Gross profit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12,142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Prepaid expenses decrease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USD 23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D&amp;A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1,052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Accounts payable increase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USD 263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Other operating expenses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3,577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Salary payable increase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USD 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EBIT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3,390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Interest payable decrease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USD 12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Gain on sale of equipment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+ 205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Income tax payable increase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USD 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Interest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− 246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Other accrued liabilities increase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USD 22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Net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USD 2,210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Long-term debt repaid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USD 500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D&amp;A (non-cash)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+ 1,052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Common stock repurchased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USD 600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Dividends 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USD 1,120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Acme CFA LM4 — Indirect Method: Net Income to CFO = 2,606</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47472"/>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Directly from CFA Vol 4, LM4, Exhibit 25. Every adjustment has a logical explanation rooted in accrual vs cash differences.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261872"/>
          <a:ext cx="8503920" cy="914400"/>
        </p:xfrm>
        <a:graphic>
          <a:graphicData uri="http://schemas.openxmlformats.org/drawingml/2006/table">
            <a:tbl>
              <a:tblPr/>
              <a:tblGrid>
                <a:gridCol w="2926080"/>
                <a:gridCol w="1188720"/>
                <a:gridCol w="4389120"/>
              </a:tblGrid>
              <a:tr h="0">
                <a:tc>
                  <a:txBody>
                    <a:bodyPr/>
                    <a:lstStyle/>
                    <a:p>
                      <a:pPr indent="0" marL="0">
                        <a:buNone/>
                      </a:pPr>
                      <a:r>
                        <a:rPr lang="en-US" sz="1100" b="1" dirty="0">
                          <a:solidFill>
                            <a:srgbClr val="FFFFFF"/>
                          </a:solidFill>
                        </a:rPr>
                        <a:t>Indirect Method Line Item</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Amount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Reason for Adjustment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Net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+ 2,210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Starting point — accrual basis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 Depreciation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+ 1,052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Non-cash charge deducted from NI. Add back.</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 Gain on sale of equipment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− 205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Non-operating gain included in NI. Remove (classified in CFI).</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 Increase in accounts receivable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− 55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Accrual revenue &gt; cash collected. A/R rose.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 Increase in inventory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− 707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Cash paid for inventory not yet expensed in COGS.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 Decrease in prepaid expenses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+ 23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Previously paid; now expensed. Cash effect already occurred.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 Increase in accounts payable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+ 263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Bought inventory on credit — cash not yet paid out.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 Increase in wages payable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Wage expense accrued but not yet 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 Decrease in interest payable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− 12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Paid more interest than accrued on P&amp;L.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 Increase in income tax payable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Tax accrued but not yet 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 Increase in other accrued liab.</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+ 22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Other expenses accrued but not yet 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 Net cash from operations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2,606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CFO: Acme generates solid operating cash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Acme CFA LM4 — Investing &amp; Financing Sections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CFI and CFF are identical under both direct and indirect methods. They reveal how Acme deploys capital and returns it to stakeholders.</a:t>
            </a:r>
            <a:endParaRPr lang="en-US" sz="1300" dirty="0"/>
          </a:p>
        </p:txBody>
      </p:sp>
      <p:sp>
        <p:nvSpPr>
          <p:cNvPr id="9" name="Shape 7"/>
          <p:cNvSpPr/>
          <p:nvPr/>
        </p:nvSpPr>
        <p:spPr>
          <a:xfrm>
            <a:off x="320040" y="1298448"/>
            <a:ext cx="4187952" cy="2395728"/>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0" name="Shape 8"/>
          <p:cNvSpPr/>
          <p:nvPr/>
        </p:nvSpPr>
        <p:spPr>
          <a:xfrm>
            <a:off x="320040" y="1298448"/>
            <a:ext cx="91440" cy="2395728"/>
          </a:xfrm>
          <a:prstGeom prst="rect">
            <a:avLst/>
          </a:prstGeom>
          <a:solidFill>
            <a:srgbClr val="E8600A"/>
          </a:solidFill>
          <a:ln w="12700">
            <a:solidFill>
              <a:srgbClr val="E8600A"/>
            </a:solidFill>
            <a:prstDash val="solid"/>
          </a:ln>
        </p:spPr>
      </p:sp>
      <p:sp>
        <p:nvSpPr>
          <p:cNvPr id="11" name="Text 9"/>
          <p:cNvSpPr/>
          <p:nvPr/>
        </p:nvSpPr>
        <p:spPr>
          <a:xfrm>
            <a:off x="521208" y="138988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Cash Flow from Investing (CFI)</a:t>
            </a:r>
            <a:endParaRPr lang="en-US" sz="1200" dirty="0"/>
          </a:p>
        </p:txBody>
      </p:sp>
      <p:sp>
        <p:nvSpPr>
          <p:cNvPr id="12" name="Text 10"/>
          <p:cNvSpPr/>
          <p:nvPr/>
        </p:nvSpPr>
        <p:spPr>
          <a:xfrm>
            <a:off x="521208" y="1755648"/>
            <a:ext cx="3840480" cy="18288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Cash received from sale of equipment: + USD 762 (book value was 762 minus accumulated depr.)</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Cash paid for new equipment: − USD 1,300</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Net CFI = USD (538)</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Note: the gain on sale (USD205) was stripped from CFO. The total cash proceeds from the sale (USD762 = gain + net book value) appear in CFI.</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Capex USD1,300 &gt; D&amp;A USD1,052: asset base growing.</a:t>
            </a:r>
            <a:endParaRPr lang="en-US" sz="1150" dirty="0"/>
          </a:p>
        </p:txBody>
      </p:sp>
      <p:sp>
        <p:nvSpPr>
          <p:cNvPr id="13" name="Shape 11"/>
          <p:cNvSpPr/>
          <p:nvPr/>
        </p:nvSpPr>
        <p:spPr>
          <a:xfrm>
            <a:off x="4727448" y="1298448"/>
            <a:ext cx="4187952" cy="2395728"/>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4" name="Shape 12"/>
          <p:cNvSpPr/>
          <p:nvPr/>
        </p:nvSpPr>
        <p:spPr>
          <a:xfrm>
            <a:off x="4727448" y="1298448"/>
            <a:ext cx="91440" cy="2395728"/>
          </a:xfrm>
          <a:prstGeom prst="rect">
            <a:avLst/>
          </a:prstGeom>
          <a:solidFill>
            <a:srgbClr val="E8600A"/>
          </a:solidFill>
          <a:ln w="12700">
            <a:solidFill>
              <a:srgbClr val="E8600A"/>
            </a:solidFill>
            <a:prstDash val="solid"/>
          </a:ln>
        </p:spPr>
      </p:sp>
      <p:sp>
        <p:nvSpPr>
          <p:cNvPr id="15" name="Text 13"/>
          <p:cNvSpPr/>
          <p:nvPr/>
        </p:nvSpPr>
        <p:spPr>
          <a:xfrm>
            <a:off x="4928616" y="138988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Cash Flow from Financing (CFF)</a:t>
            </a:r>
            <a:endParaRPr lang="en-US" sz="1200" dirty="0"/>
          </a:p>
        </p:txBody>
      </p:sp>
      <p:sp>
        <p:nvSpPr>
          <p:cNvPr id="16" name="Text 14"/>
          <p:cNvSpPr/>
          <p:nvPr/>
        </p:nvSpPr>
        <p:spPr>
          <a:xfrm>
            <a:off x="4928616" y="1755648"/>
            <a:ext cx="3840480" cy="18288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Repaid long-term debt: − USD 500</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Repurchased common stock: − USD 600</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Paid dividends: − USD 1,120</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Net CFF = USD (2,220)</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Net change in cash = CFO + CFI + CFF</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 2,606 − 538 − 2,220 = USD (152)</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Beginning cash: 1,163. Ending cash: 1,011 ✓</a:t>
            </a:r>
            <a:endParaRPr lang="en-US" sz="1150" dirty="0"/>
          </a:p>
        </p:txBody>
      </p:sp>
      <p:sp>
        <p:nvSpPr>
          <p:cNvPr id="17" name="Shape 15"/>
          <p:cNvSpPr/>
          <p:nvPr/>
        </p:nvSpPr>
        <p:spPr>
          <a:xfrm>
            <a:off x="320040" y="3858768"/>
            <a:ext cx="8503920" cy="932688"/>
          </a:xfrm>
          <a:prstGeom prst="rect">
            <a:avLst/>
          </a:prstGeom>
          <a:solidFill>
            <a:srgbClr val="FEF0E7"/>
          </a:solidFill>
          <a:ln w="12700">
            <a:solidFill>
              <a:srgbClr val="E8600A"/>
            </a:solidFill>
            <a:prstDash val="solid"/>
          </a:ln>
        </p:spPr>
      </p:sp>
      <p:sp>
        <p:nvSpPr>
          <p:cNvPr id="18" name="Text 16"/>
          <p:cNvSpPr/>
          <p:nvPr/>
        </p:nvSpPr>
        <p:spPr>
          <a:xfrm>
            <a:off x="457200" y="393192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Free Cash Flow = CFO − Capital Expenditures</a:t>
            </a:r>
            <a:endParaRPr lang="en-US" sz="1100" dirty="0"/>
          </a:p>
        </p:txBody>
      </p:sp>
      <p:sp>
        <p:nvSpPr>
          <p:cNvPr id="19" name="Text 17"/>
          <p:cNvSpPr/>
          <p:nvPr/>
        </p:nvSpPr>
        <p:spPr>
          <a:xfrm>
            <a:off x="457200" y="4242816"/>
            <a:ext cx="82296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FCF = 2,606 − 1,300 = USD 1,306 for Acme.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FCF is the cash available AFTER maintaining/growing asset base. Used for: debt repayment, dividends, buybacks, acquisitions, retained cash.</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Analysts prefer FCF to NI for valuation because it reflects actual cash available to equity holders.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Interpreting CFO vs Net Income — Earnings Quality Signals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CFO / Net Income ratio: &gt; 1.0x = high quality earnings.   &lt;&lt; 1.0x = aggressive accruals or working capital deterioration.</a:t>
            </a:r>
            <a:endParaRPr lang="en-US" sz="14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For Acme: CFO/NI = 2,606/2,210 = 1.18x. This is good — CFO exceeds NI, primarily due to non-cash D&amp;A exceeding working capital buildups.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2029968"/>
          <a:ext cx="8503920" cy="914400"/>
        </p:xfrm>
        <a:graphic>
          <a:graphicData uri="http://schemas.openxmlformats.org/drawingml/2006/table">
            <a:tbl>
              <a:tblPr/>
              <a:tblGrid>
                <a:gridCol w="2286000"/>
                <a:gridCol w="2011680"/>
                <a:gridCol w="4206240"/>
              </a:tblGrid>
              <a:tr h="0">
                <a:tc>
                  <a:txBody>
                    <a:bodyPr/>
                    <a:lstStyle/>
                    <a:p>
                      <a:pPr indent="0" marL="0">
                        <a:buNone/>
                      </a:pPr>
                      <a:r>
                        <a:rPr lang="en-US" sz="1100" b="1" dirty="0">
                          <a:solidFill>
                            <a:srgbClr val="FFFFFF"/>
                          </a:solidFill>
                        </a:rPr>
                        <a:t>Pattern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Signal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Example Cause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CFO &gt;&gt; NI consistently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 quality earnings. Cash conversion excellent.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Strong billing and collections. Conservative accounting.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CFO ≈ NI</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Normal. NI tracks cash reasonably well.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Balanced business with moderate working capital.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CFO &lt; NI (accruals positive)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Caution. Revenue or earnings may be overstated.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Rising DSO, channel stuffing, aggressive rev rec.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CFO &lt; 0 while NI &gt; 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Significant red flag. Business consuming cash despite profits.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Working capital trap. Growth depleting cash. Unsustainable.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CFI &gt; 0 repeatedly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Selling assets to fund operations. Value destruction.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Distressed company liquidating the asset base.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CFF &gt;&gt; 0 repeatedly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Heavy reliance on external financing. Cash burn funded by debt/equity.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Pre-revenue startup or over-leveraged growth company.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CFA LM4 Example 5 — Computing Cash Received from Customers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CFA Vol 4, LM4, Example 5. The direct method requires converting accrual line items to cash amounts. A systematic technique used widely by analysts.</a:t>
            </a:r>
            <a:endParaRPr lang="en-US" sz="1250" dirty="0"/>
          </a:p>
        </p:txBody>
      </p:sp>
      <p:sp>
        <p:nvSpPr>
          <p:cNvPr id="9" name="Shape 7"/>
          <p:cNvSpPr/>
          <p:nvPr/>
        </p:nvSpPr>
        <p:spPr>
          <a:xfrm>
            <a:off x="320040" y="1261872"/>
            <a:ext cx="8503920" cy="658368"/>
          </a:xfrm>
          <a:prstGeom prst="rect">
            <a:avLst/>
          </a:prstGeom>
          <a:solidFill>
            <a:srgbClr val="1B2A4A"/>
          </a:solidFill>
          <a:ln w="12700">
            <a:solidFill>
              <a:srgbClr val="1B2A4A"/>
            </a:solidFill>
            <a:prstDash val="solid"/>
          </a:ln>
        </p:spPr>
      </p:sp>
      <p:sp>
        <p:nvSpPr>
          <p:cNvPr id="10" name="Text 8"/>
          <p:cNvSpPr/>
          <p:nvPr/>
        </p:nvSpPr>
        <p:spPr>
          <a:xfrm>
            <a:off x="320040" y="1261872"/>
            <a:ext cx="850392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Cash received from customers = Revenue ± Change in AR (+ deferred revenue adjustments)</a:t>
            </a:r>
            <a:endParaRPr lang="en-US" sz="1400" dirty="0"/>
          </a:p>
        </p:txBody>
      </p:sp>
      <p:sp>
        <p:nvSpPr>
          <p:cNvPr id="11" name="Shape 9"/>
          <p:cNvSpPr/>
          <p:nvPr/>
        </p:nvSpPr>
        <p:spPr>
          <a:xfrm>
            <a:off x="320040" y="2029968"/>
            <a:ext cx="8503920" cy="1993392"/>
          </a:xfrm>
          <a:prstGeom prst="rect">
            <a:avLst/>
          </a:prstGeom>
          <a:solidFill>
            <a:srgbClr val="FEF0E7"/>
          </a:solidFill>
          <a:ln w="12700">
            <a:solidFill>
              <a:srgbClr val="E8600A"/>
            </a:solidFill>
            <a:prstDash val="solid"/>
          </a:ln>
        </p:spPr>
      </p:sp>
      <p:sp>
        <p:nvSpPr>
          <p:cNvPr id="12" name="Text 10"/>
          <p:cNvSpPr/>
          <p:nvPr/>
        </p:nvSpPr>
        <p:spPr>
          <a:xfrm>
            <a:off x="457200" y="210312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LM4 EXAMPLE 5 — Blue Bayou Advertising Company</a:t>
            </a:r>
            <a:endParaRPr lang="en-US" sz="1100" dirty="0"/>
          </a:p>
        </p:txBody>
      </p:sp>
      <p:sp>
        <p:nvSpPr>
          <p:cNvPr id="13" name="Text 11"/>
          <p:cNvSpPr/>
          <p:nvPr/>
        </p:nvSpPr>
        <p:spPr>
          <a:xfrm>
            <a:off x="457200" y="2414016"/>
            <a:ext cx="8229600" cy="1517904"/>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Blue Bayou reports: Revenue = USD 50 million. Total expenses = USD 35 million. Net income = USD 15 million. Accounts receivable DECREASED by USD 12 million.</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Cash received from customers = Revenue + Decrease in AR (positive because collected more than billed)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USD 50m + USD 12m = USD 62m (CFA answer C)</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Interpretation: AR fell by USD12m — old receivables collected in cash. Cash exceeded revenue by USD12m.</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General rule: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AR decrease  → collected more cash than revenue recognised</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AR increase  → less cash received than revenue (Acme: USD 23,598 − USD 55 = USD 23,543 collected)</a:t>
            </a:r>
            <a:endParaRPr lang="en-US" sz="1200" dirty="0"/>
          </a:p>
        </p:txBody>
      </p:sp>
      <p:sp>
        <p:nvSpPr>
          <p:cNvPr id="14" name="Text 12"/>
          <p:cNvSpPr/>
          <p:nvPr/>
        </p:nvSpPr>
        <p:spPr>
          <a:xfrm>
            <a:off x="320040" y="4133088"/>
            <a:ext cx="8503920" cy="384048"/>
          </a:xfrm>
          <a:prstGeom prst="rect">
            <a:avLst/>
          </a:prstGeom>
          <a:noFill/>
          <a:ln/>
        </p:spPr>
        <p:txBody>
          <a:bodyPr wrap="square" lIns="0" tIns="0" rIns="0" bIns="0" rtlCol="0" anchor="ctr"/>
          <a:lstStyle/>
          <a:p>
            <a:pPr indent="0" marL="0">
              <a:buNone/>
            </a:pPr>
            <a:r>
              <a:rPr lang="en-US" sz="1250" b="1" dirty="0">
                <a:solidFill>
                  <a:srgbClr val="E8600A"/>
                </a:solidFill>
                <a:latin typeface="Trebuchet MS" pitchFamily="34" charset="0"/>
                <a:ea typeface="Trebuchet MS" pitchFamily="34" charset="-122"/>
                <a:cs typeface="Trebuchet MS" pitchFamily="34" charset="-120"/>
              </a:rPr>
              <a:t>CFA also tests: cash paid to suppliers = COGS + inventory increase − AP increase. Cash paid for taxes = tax expense − tax payable increase.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Free Cash Flow Variants — FCFF vs FCFE</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FCFF = CFO + Interest×(1−t) − Capex     FCFE = CFO − Capex + Net Borrowings</a:t>
            </a:r>
            <a:endParaRPr lang="en-US" sz="14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Different stakeholders care about different free cash flow measures. FCFF is pre-debt; FCFE is the residual for equity holders specifically.</a:t>
            </a:r>
            <a:endParaRPr lang="en-US" sz="1300" dirty="0"/>
          </a:p>
        </p:txBody>
      </p:sp>
      <p:sp>
        <p:nvSpPr>
          <p:cNvPr id="11" name="Shape 9"/>
          <p:cNvSpPr/>
          <p:nvPr/>
        </p:nvSpPr>
        <p:spPr>
          <a:xfrm>
            <a:off x="320040" y="2029968"/>
            <a:ext cx="4187952" cy="2542032"/>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2" name="Shape 10"/>
          <p:cNvSpPr/>
          <p:nvPr/>
        </p:nvSpPr>
        <p:spPr>
          <a:xfrm>
            <a:off x="320040" y="2029968"/>
            <a:ext cx="91440" cy="2542032"/>
          </a:xfrm>
          <a:prstGeom prst="rect">
            <a:avLst/>
          </a:prstGeom>
          <a:solidFill>
            <a:srgbClr val="E8600A"/>
          </a:solidFill>
          <a:ln w="12700">
            <a:solidFill>
              <a:srgbClr val="E8600A"/>
            </a:solidFill>
            <a:prstDash val="solid"/>
          </a:ln>
        </p:spPr>
      </p:sp>
      <p:sp>
        <p:nvSpPr>
          <p:cNvPr id="13" name="Text 11"/>
          <p:cNvSpPr/>
          <p:nvPr/>
        </p:nvSpPr>
        <p:spPr>
          <a:xfrm>
            <a:off x="521208" y="212140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FCFF (Free Cash Flow to the Firm)</a:t>
            </a:r>
            <a:endParaRPr lang="en-US" sz="1200" dirty="0"/>
          </a:p>
        </p:txBody>
      </p:sp>
      <p:sp>
        <p:nvSpPr>
          <p:cNvPr id="14" name="Text 12"/>
          <p:cNvSpPr/>
          <p:nvPr/>
        </p:nvSpPr>
        <p:spPr>
          <a:xfrm>
            <a:off x="521208" y="2487168"/>
            <a:ext cx="3840480" cy="1975104"/>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Available to ALL capital providers — debt AND equity.</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Starting point: CFO. Add back after-tax interest (remove financing effect).</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Subtract capex.</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Use: DCF valuation of the whole enterprise (EV).</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Discount at WACC.</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Acme FCFF = CFO + Interest×(1−t) − Capex = 2,606 + 246×0.7 − 1,300 = USD 1,478</a:t>
            </a:r>
            <a:endParaRPr lang="en-US" sz="1150" dirty="0"/>
          </a:p>
        </p:txBody>
      </p:sp>
      <p:sp>
        <p:nvSpPr>
          <p:cNvPr id="15" name="Shape 13"/>
          <p:cNvSpPr/>
          <p:nvPr/>
        </p:nvSpPr>
        <p:spPr>
          <a:xfrm>
            <a:off x="4727448" y="2029968"/>
            <a:ext cx="4187952" cy="2542032"/>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6" name="Shape 14"/>
          <p:cNvSpPr/>
          <p:nvPr/>
        </p:nvSpPr>
        <p:spPr>
          <a:xfrm>
            <a:off x="4727448" y="2029968"/>
            <a:ext cx="91440" cy="2542032"/>
          </a:xfrm>
          <a:prstGeom prst="rect">
            <a:avLst/>
          </a:prstGeom>
          <a:solidFill>
            <a:srgbClr val="E8600A"/>
          </a:solidFill>
          <a:ln w="12700">
            <a:solidFill>
              <a:srgbClr val="E8600A"/>
            </a:solidFill>
            <a:prstDash val="solid"/>
          </a:ln>
        </p:spPr>
      </p:sp>
      <p:sp>
        <p:nvSpPr>
          <p:cNvPr id="17" name="Text 15"/>
          <p:cNvSpPr/>
          <p:nvPr/>
        </p:nvSpPr>
        <p:spPr>
          <a:xfrm>
            <a:off x="4928616" y="212140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FCFE (Free Cash Flow to Equity)</a:t>
            </a:r>
            <a:endParaRPr lang="en-US" sz="1200" dirty="0"/>
          </a:p>
        </p:txBody>
      </p:sp>
      <p:sp>
        <p:nvSpPr>
          <p:cNvPr id="18" name="Text 16"/>
          <p:cNvSpPr/>
          <p:nvPr/>
        </p:nvSpPr>
        <p:spPr>
          <a:xfrm>
            <a:off x="4928616" y="2487168"/>
            <a:ext cx="3840480" cy="1975104"/>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Available only to EQUITY holders after debt obligations.</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Starting point: CFO. Subtract capex. Add net new borrowings (or subtract net repayments).</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Use: equity valuation (Gordon Growth / DDM).</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Discount at cost of equity (Ke).</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Acme FCFE = CFO − Capex + (LT debt change) = 2,606 − 1,300 − 500 = USD 806</a:t>
            </a:r>
            <a:endParaRPr lang="en-US" sz="1150" dirty="0"/>
          </a:p>
        </p:txBody>
      </p:sp>
      <p:sp>
        <p:nvSpPr>
          <p:cNvPr id="19" name="Text 17"/>
          <p:cNvSpPr/>
          <p:nvPr/>
        </p:nvSpPr>
        <p:spPr>
          <a:xfrm>
            <a:off x="320040" y="4663440"/>
            <a:ext cx="8503920" cy="256032"/>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WACC discounts FCFF to get enterprise value. Subtract net debt to get equity value. Cost of equity discounts FCFE to get equity value directly.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600A"/>
        </a:solidFill>
      </p:bgPr>
    </p:bg>
    <p:spTree>
      <p:nvGrpSpPr>
        <p:cNvPr id="1" name=""/>
        <p:cNvGrpSpPr/>
        <p:nvPr/>
      </p:nvGrpSpPr>
      <p:grpSpPr>
        <a:xfrm>
          <a:off x="0" y="0"/>
          <a:ext cx="0" cy="0"/>
          <a:chOff x="0" y="0"/>
          <a:chExt cx="0" cy="0"/>
        </a:xfrm>
      </p:grpSpPr>
      <p:sp>
        <p:nvSpPr>
          <p:cNvPr id="2" name="Text 0"/>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3" name="Shape 1"/>
          <p:cNvSpPr/>
          <p:nvPr/>
        </p:nvSpPr>
        <p:spPr>
          <a:xfrm>
            <a:off x="3200400" y="1901952"/>
            <a:ext cx="2743200" cy="50292"/>
          </a:xfrm>
          <a:prstGeom prst="rect">
            <a:avLst/>
          </a:prstGeom>
          <a:solidFill>
            <a:srgbClr val="FFFFFF"/>
          </a:solidFill>
          <a:ln w="12700">
            <a:solidFill>
              <a:srgbClr val="FFFFFF"/>
            </a:solidFill>
            <a:prstDash val="solid"/>
          </a:ln>
        </p:spPr>
      </p:sp>
      <p:sp>
        <p:nvSpPr>
          <p:cNvPr id="4" name="Text 2"/>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Working Capital &amp;</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Activity Ratios</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Activity Ratios — Measuring Operational Efficiency</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Activity ratios measure how efficiently a company converts assets into revenue and cash. Lower DSO, lower DIO = better. Higher DPO = better.</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194560"/>
                <a:gridCol w="2560320"/>
                <a:gridCol w="1645920"/>
                <a:gridCol w="3017520"/>
              </a:tblGrid>
              <a:tr h="0">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Formula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Measures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Interpretation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Days Sales Outstanding (DSO)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Avg AR / (Revenue/365)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Collection speed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Lower = faster cash collection. High DSO = credit risk or aggressive revenue recognition.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Days Inventory on Hand (DIO)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Avg Inventory / (COGS/365)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Inventory holding period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Lower = faster inventory turns. High DIO = slow-moving stock or demand weakness.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Days Payable Outstanding (DPO)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Avg AP / (COGS/365)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Payment terms with suppliers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Higher = better. Longer payment time = free financing. But too long = supplier relationship risk.</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Total Asset Turnover (TAT)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Revenue / Avg Total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Asset efficiency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 more revenue per unit of assets. Lean model preferred. Retailers &gt; 2x; utilities &lt; 0.5x.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Receivables Turnover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Revenue / Avg 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AR cycles per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Higher = faster. Inverse: 365/Receivables turnover = DSO.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Inventory Turnover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COGS / Avg Inventory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Inventory cycles per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 faster. Inverse: 365/Inventory turnover = DIO.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Cash Conversion Cycle (CCC) — The Working Capital Clock</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CCC  =  DSO  +  DIO  −  DPO     Number of days cash is tied up in the operating cycle</a:t>
            </a:r>
            <a:endParaRPr lang="en-US" sz="16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CCC measures how long from paying suppliers to collecting from customers. NEGATIVE CCC = suppliers are financing your operations (ideal).</a:t>
            </a:r>
            <a:endParaRPr lang="en-US" sz="1300" dirty="0"/>
          </a:p>
        </p:txBody>
      </p:sp>
      <p:sp>
        <p:nvSpPr>
          <p:cNvPr id="11" name="Shape 9"/>
          <p:cNvSpPr/>
          <p:nvPr/>
        </p:nvSpPr>
        <p:spPr>
          <a:xfrm>
            <a:off x="320040" y="2029968"/>
            <a:ext cx="8503920" cy="411480"/>
          </a:xfrm>
          <a:prstGeom prst="rect">
            <a:avLst/>
          </a:prstGeom>
          <a:solidFill>
            <a:srgbClr val="FFFFFF"/>
          </a:solidFill>
          <a:ln w="12700">
            <a:solidFill>
              <a:srgbClr val="E8ECF0"/>
            </a:solidFill>
            <a:prstDash val="solid"/>
          </a:ln>
        </p:spPr>
      </p:sp>
      <p:sp>
        <p:nvSpPr>
          <p:cNvPr id="12" name="Shape 10"/>
          <p:cNvSpPr/>
          <p:nvPr/>
        </p:nvSpPr>
        <p:spPr>
          <a:xfrm>
            <a:off x="320040" y="2029968"/>
            <a:ext cx="91440" cy="411480"/>
          </a:xfrm>
          <a:prstGeom prst="rect">
            <a:avLst/>
          </a:prstGeom>
          <a:solidFill>
            <a:srgbClr val="1B2A4A"/>
          </a:solidFill>
          <a:ln w="12700">
            <a:solidFill>
              <a:srgbClr val="1B2A4A"/>
            </a:solidFill>
            <a:prstDash val="solid"/>
          </a:ln>
        </p:spPr>
      </p:sp>
      <p:sp>
        <p:nvSpPr>
          <p:cNvPr id="13" name="Text 11"/>
          <p:cNvSpPr/>
          <p:nvPr/>
        </p:nvSpPr>
        <p:spPr>
          <a:xfrm>
            <a:off x="502920" y="2029968"/>
            <a:ext cx="1463040" cy="411480"/>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Day 0</a:t>
            </a:r>
            <a:endParaRPr lang="en-US" sz="1200" dirty="0"/>
          </a:p>
        </p:txBody>
      </p:sp>
      <p:sp>
        <p:nvSpPr>
          <p:cNvPr id="14" name="Text 12"/>
          <p:cNvSpPr/>
          <p:nvPr/>
        </p:nvSpPr>
        <p:spPr>
          <a:xfrm>
            <a:off x="2148840" y="2029968"/>
            <a:ext cx="6601968" cy="4114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Pay supplier for raw materials</a:t>
            </a:r>
            <a:endParaRPr lang="en-US" sz="1200" dirty="0"/>
          </a:p>
        </p:txBody>
      </p:sp>
      <p:sp>
        <p:nvSpPr>
          <p:cNvPr id="15" name="Shape 13"/>
          <p:cNvSpPr/>
          <p:nvPr/>
        </p:nvSpPr>
        <p:spPr>
          <a:xfrm>
            <a:off x="320040" y="2505456"/>
            <a:ext cx="8503920" cy="411480"/>
          </a:xfrm>
          <a:prstGeom prst="rect">
            <a:avLst/>
          </a:prstGeom>
          <a:solidFill>
            <a:srgbClr val="F5F7FA"/>
          </a:solidFill>
          <a:ln w="12700">
            <a:solidFill>
              <a:srgbClr val="E8ECF0"/>
            </a:solidFill>
            <a:prstDash val="solid"/>
          </a:ln>
        </p:spPr>
      </p:sp>
      <p:sp>
        <p:nvSpPr>
          <p:cNvPr id="16" name="Shape 14"/>
          <p:cNvSpPr/>
          <p:nvPr/>
        </p:nvSpPr>
        <p:spPr>
          <a:xfrm>
            <a:off x="320040" y="2505456"/>
            <a:ext cx="91440" cy="411480"/>
          </a:xfrm>
          <a:prstGeom prst="rect">
            <a:avLst/>
          </a:prstGeom>
          <a:solidFill>
            <a:srgbClr val="E8600A"/>
          </a:solidFill>
          <a:ln w="12700">
            <a:solidFill>
              <a:srgbClr val="E8600A"/>
            </a:solidFill>
            <a:prstDash val="solid"/>
          </a:ln>
        </p:spPr>
      </p:sp>
      <p:sp>
        <p:nvSpPr>
          <p:cNvPr id="17" name="Text 15"/>
          <p:cNvSpPr/>
          <p:nvPr/>
        </p:nvSpPr>
        <p:spPr>
          <a:xfrm>
            <a:off x="502920" y="2505456"/>
            <a:ext cx="1463040" cy="411480"/>
          </a:xfrm>
          <a:prstGeom prst="rect">
            <a:avLst/>
          </a:prstGeom>
          <a:noFill/>
          <a:ln/>
        </p:spPr>
        <p:txBody>
          <a:bodyPr wrap="square" lIns="0" tIns="0" rIns="0" bIns="0" rtlCol="0" anchor="ctr"/>
          <a:lstStyle/>
          <a:p>
            <a:pPr indent="0" marL="0">
              <a:buNone/>
            </a:pPr>
            <a:r>
              <a:rPr lang="en-US" sz="1200" b="1" dirty="0">
                <a:solidFill>
                  <a:srgbClr val="E8600A"/>
                </a:solidFill>
                <a:latin typeface="Trebuchet MS" pitchFamily="34" charset="0"/>
                <a:ea typeface="Trebuchet MS" pitchFamily="34" charset="-122"/>
                <a:cs typeface="Trebuchet MS" pitchFamily="34" charset="-120"/>
              </a:rPr>
              <a:t>+ DIO days</a:t>
            </a:r>
            <a:endParaRPr lang="en-US" sz="1200" dirty="0"/>
          </a:p>
        </p:txBody>
      </p:sp>
      <p:sp>
        <p:nvSpPr>
          <p:cNvPr id="18" name="Text 16"/>
          <p:cNvSpPr/>
          <p:nvPr/>
        </p:nvSpPr>
        <p:spPr>
          <a:xfrm>
            <a:off x="2148840" y="2505456"/>
            <a:ext cx="6601968" cy="4114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Hold inventory — cash tied up</a:t>
            </a:r>
            <a:endParaRPr lang="en-US" sz="1200" dirty="0"/>
          </a:p>
        </p:txBody>
      </p:sp>
      <p:sp>
        <p:nvSpPr>
          <p:cNvPr id="19" name="Shape 17"/>
          <p:cNvSpPr/>
          <p:nvPr/>
        </p:nvSpPr>
        <p:spPr>
          <a:xfrm>
            <a:off x="320040" y="2980944"/>
            <a:ext cx="8503920" cy="411480"/>
          </a:xfrm>
          <a:prstGeom prst="rect">
            <a:avLst/>
          </a:prstGeom>
          <a:solidFill>
            <a:srgbClr val="FFFFFF"/>
          </a:solidFill>
          <a:ln w="12700">
            <a:solidFill>
              <a:srgbClr val="E8ECF0"/>
            </a:solidFill>
            <a:prstDash val="solid"/>
          </a:ln>
        </p:spPr>
      </p:sp>
      <p:sp>
        <p:nvSpPr>
          <p:cNvPr id="20" name="Shape 18"/>
          <p:cNvSpPr/>
          <p:nvPr/>
        </p:nvSpPr>
        <p:spPr>
          <a:xfrm>
            <a:off x="320040" y="2980944"/>
            <a:ext cx="91440" cy="411480"/>
          </a:xfrm>
          <a:prstGeom prst="rect">
            <a:avLst/>
          </a:prstGeom>
          <a:solidFill>
            <a:srgbClr val="E8600A"/>
          </a:solidFill>
          <a:ln w="12700">
            <a:solidFill>
              <a:srgbClr val="E8600A"/>
            </a:solidFill>
            <a:prstDash val="solid"/>
          </a:ln>
        </p:spPr>
      </p:sp>
      <p:sp>
        <p:nvSpPr>
          <p:cNvPr id="21" name="Text 19"/>
          <p:cNvSpPr/>
          <p:nvPr/>
        </p:nvSpPr>
        <p:spPr>
          <a:xfrm>
            <a:off x="502920" y="2980944"/>
            <a:ext cx="1463040" cy="411480"/>
          </a:xfrm>
          <a:prstGeom prst="rect">
            <a:avLst/>
          </a:prstGeom>
          <a:noFill/>
          <a:ln/>
        </p:spPr>
        <p:txBody>
          <a:bodyPr wrap="square" lIns="0" tIns="0" rIns="0" bIns="0" rtlCol="0" anchor="ctr"/>
          <a:lstStyle/>
          <a:p>
            <a:pPr indent="0" marL="0">
              <a:buNone/>
            </a:pPr>
            <a:r>
              <a:rPr lang="en-US" sz="1200" b="1" dirty="0">
                <a:solidFill>
                  <a:srgbClr val="E8600A"/>
                </a:solidFill>
                <a:latin typeface="Trebuchet MS" pitchFamily="34" charset="0"/>
                <a:ea typeface="Trebuchet MS" pitchFamily="34" charset="-122"/>
                <a:cs typeface="Trebuchet MS" pitchFamily="34" charset="-120"/>
              </a:rPr>
              <a:t>+ DSO days</a:t>
            </a:r>
            <a:endParaRPr lang="en-US" sz="1200" dirty="0"/>
          </a:p>
        </p:txBody>
      </p:sp>
      <p:sp>
        <p:nvSpPr>
          <p:cNvPr id="22" name="Text 20"/>
          <p:cNvSpPr/>
          <p:nvPr/>
        </p:nvSpPr>
        <p:spPr>
          <a:xfrm>
            <a:off x="2148840" y="2980944"/>
            <a:ext cx="6601968" cy="4114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Sell goods on credit, wait to collect</a:t>
            </a:r>
            <a:endParaRPr lang="en-US" sz="1200" dirty="0"/>
          </a:p>
        </p:txBody>
      </p:sp>
      <p:sp>
        <p:nvSpPr>
          <p:cNvPr id="23" name="Shape 21"/>
          <p:cNvSpPr/>
          <p:nvPr/>
        </p:nvSpPr>
        <p:spPr>
          <a:xfrm>
            <a:off x="320040" y="3456432"/>
            <a:ext cx="8503920" cy="411480"/>
          </a:xfrm>
          <a:prstGeom prst="rect">
            <a:avLst/>
          </a:prstGeom>
          <a:solidFill>
            <a:srgbClr val="F5F7FA"/>
          </a:solidFill>
          <a:ln w="12700">
            <a:solidFill>
              <a:srgbClr val="E8ECF0"/>
            </a:solidFill>
            <a:prstDash val="solid"/>
          </a:ln>
        </p:spPr>
      </p:sp>
      <p:sp>
        <p:nvSpPr>
          <p:cNvPr id="24" name="Shape 22"/>
          <p:cNvSpPr/>
          <p:nvPr/>
        </p:nvSpPr>
        <p:spPr>
          <a:xfrm>
            <a:off x="320040" y="3456432"/>
            <a:ext cx="91440" cy="411480"/>
          </a:xfrm>
          <a:prstGeom prst="rect">
            <a:avLst/>
          </a:prstGeom>
          <a:solidFill>
            <a:srgbClr val="1A6B3C"/>
          </a:solidFill>
          <a:ln w="12700">
            <a:solidFill>
              <a:srgbClr val="1A6B3C"/>
            </a:solidFill>
            <a:prstDash val="solid"/>
          </a:ln>
        </p:spPr>
      </p:sp>
      <p:sp>
        <p:nvSpPr>
          <p:cNvPr id="25" name="Text 23"/>
          <p:cNvSpPr/>
          <p:nvPr/>
        </p:nvSpPr>
        <p:spPr>
          <a:xfrm>
            <a:off x="502920" y="3456432"/>
            <a:ext cx="1463040" cy="411480"/>
          </a:xfrm>
          <a:prstGeom prst="rect">
            <a:avLst/>
          </a:prstGeom>
          <a:noFill/>
          <a:ln/>
        </p:spPr>
        <p:txBody>
          <a:bodyPr wrap="square" lIns="0" tIns="0" rIns="0" bIns="0" rtlCol="0" anchor="ctr"/>
          <a:lstStyle/>
          <a:p>
            <a:pPr indent="0" marL="0">
              <a:buNone/>
            </a:pPr>
            <a:r>
              <a:rPr lang="en-US" sz="1200" b="1" dirty="0">
                <a:solidFill>
                  <a:srgbClr val="1A6B3C"/>
                </a:solidFill>
                <a:latin typeface="Trebuchet MS" pitchFamily="34" charset="0"/>
                <a:ea typeface="Trebuchet MS" pitchFamily="34" charset="-122"/>
                <a:cs typeface="Trebuchet MS" pitchFamily="34" charset="-120"/>
              </a:rPr>
              <a:t>− DPO days</a:t>
            </a:r>
            <a:endParaRPr lang="en-US" sz="1200" dirty="0"/>
          </a:p>
        </p:txBody>
      </p:sp>
      <p:sp>
        <p:nvSpPr>
          <p:cNvPr id="26" name="Text 24"/>
          <p:cNvSpPr/>
          <p:nvPr/>
        </p:nvSpPr>
        <p:spPr>
          <a:xfrm>
            <a:off x="2148840" y="3456432"/>
            <a:ext cx="6601968" cy="4114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Delay paying supplier (free credit period)</a:t>
            </a:r>
            <a:endParaRPr lang="en-US" sz="1200" dirty="0"/>
          </a:p>
        </p:txBody>
      </p:sp>
      <p:sp>
        <p:nvSpPr>
          <p:cNvPr id="27" name="Shape 25"/>
          <p:cNvSpPr/>
          <p:nvPr/>
        </p:nvSpPr>
        <p:spPr>
          <a:xfrm>
            <a:off x="320040" y="3931920"/>
            <a:ext cx="8503920" cy="411480"/>
          </a:xfrm>
          <a:prstGeom prst="rect">
            <a:avLst/>
          </a:prstGeom>
          <a:solidFill>
            <a:srgbClr val="FFFFFF"/>
          </a:solidFill>
          <a:ln w="12700">
            <a:solidFill>
              <a:srgbClr val="E8ECF0"/>
            </a:solidFill>
            <a:prstDash val="solid"/>
          </a:ln>
        </p:spPr>
      </p:sp>
      <p:sp>
        <p:nvSpPr>
          <p:cNvPr id="28" name="Shape 26"/>
          <p:cNvSpPr/>
          <p:nvPr/>
        </p:nvSpPr>
        <p:spPr>
          <a:xfrm>
            <a:off x="320040" y="3931920"/>
            <a:ext cx="91440" cy="411480"/>
          </a:xfrm>
          <a:prstGeom prst="rect">
            <a:avLst/>
          </a:prstGeom>
          <a:solidFill>
            <a:srgbClr val="334155"/>
          </a:solidFill>
          <a:ln w="12700">
            <a:solidFill>
              <a:srgbClr val="334155"/>
            </a:solidFill>
            <a:prstDash val="solid"/>
          </a:ln>
        </p:spPr>
      </p:sp>
      <p:sp>
        <p:nvSpPr>
          <p:cNvPr id="29" name="Text 27"/>
          <p:cNvSpPr/>
          <p:nvPr/>
        </p:nvSpPr>
        <p:spPr>
          <a:xfrm>
            <a:off x="502920" y="3931920"/>
            <a:ext cx="1463040" cy="411480"/>
          </a:xfrm>
          <a:prstGeom prst="rect">
            <a:avLst/>
          </a:prstGeom>
          <a:noFill/>
          <a:ln/>
        </p:spPr>
        <p:txBody>
          <a:bodyPr wrap="square" lIns="0" tIns="0" rIns="0" bIns="0" rtlCol="0" anchor="ctr"/>
          <a:lstStyle/>
          <a:p>
            <a:pPr indent="0" marL="0">
              <a:buNone/>
            </a:pPr>
            <a:r>
              <a:rPr lang="en-US" sz="1200" b="1" dirty="0">
                <a:solidFill>
                  <a:srgbClr val="334155"/>
                </a:solidFill>
                <a:latin typeface="Trebuchet MS" pitchFamily="34" charset="0"/>
                <a:ea typeface="Trebuchet MS" pitchFamily="34" charset="-122"/>
                <a:cs typeface="Trebuchet MS" pitchFamily="34" charset="-120"/>
              </a:rPr>
              <a:t>= CCC days</a:t>
            </a:r>
            <a:endParaRPr lang="en-US" sz="1200" dirty="0"/>
          </a:p>
        </p:txBody>
      </p:sp>
      <p:sp>
        <p:nvSpPr>
          <p:cNvPr id="30" name="Text 28"/>
          <p:cNvSpPr/>
          <p:nvPr/>
        </p:nvSpPr>
        <p:spPr>
          <a:xfrm>
            <a:off x="2148840" y="3931920"/>
            <a:ext cx="6601968" cy="4114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Net days cash is tied up. Target: as low or negative as possible.</a:t>
            </a:r>
            <a:endParaRPr lang="en-US" sz="1200" dirty="0"/>
          </a:p>
        </p:txBody>
      </p:sp>
      <p:sp>
        <p:nvSpPr>
          <p:cNvPr id="31" name="Text 29"/>
          <p:cNvSpPr/>
          <p:nvPr/>
        </p:nvSpPr>
        <p:spPr>
          <a:xfrm>
            <a:off x="320040" y="4526280"/>
            <a:ext cx="8503920" cy="320040"/>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Target: minimise CCC. Every day reduction in CCC = cash freed = reduced working capital financing needs.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Inditex CCC = −86 Days — CFA Vol 3 LM4</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Directly from CFA Vol 3, LM4. Inditex (Zara parent) achieves a NEGATIVE cash conversion cycle — one of the most cited supply chain advantages in the CFA curriculum.</a:t>
            </a:r>
            <a:endParaRPr lang="en-US" sz="1250" dirty="0"/>
          </a:p>
        </p:txBody>
      </p:sp>
      <p:sp>
        <p:nvSpPr>
          <p:cNvPr id="9" name="Shape 7"/>
          <p:cNvSpPr/>
          <p:nvPr/>
        </p:nvSpPr>
        <p:spPr>
          <a:xfrm>
            <a:off x="320040" y="1298448"/>
            <a:ext cx="8503920" cy="2304288"/>
          </a:xfrm>
          <a:prstGeom prst="rect">
            <a:avLst/>
          </a:prstGeom>
          <a:solidFill>
            <a:srgbClr val="FEF0E7"/>
          </a:solidFill>
          <a:ln w="12700">
            <a:solidFill>
              <a:srgbClr val="E8600A"/>
            </a:solidFill>
            <a:prstDash val="solid"/>
          </a:ln>
        </p:spPr>
      </p:sp>
      <p:sp>
        <p:nvSpPr>
          <p:cNvPr id="10" name="Text 8"/>
          <p:cNvSpPr/>
          <p:nvPr/>
        </p:nvSpPr>
        <p:spPr>
          <a:xfrm>
            <a:off x="457200" y="137160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INDITEX GROUP (ZARA) — CFA Vol 3, LM4</a:t>
            </a:r>
            <a:endParaRPr lang="en-US" sz="1100" dirty="0"/>
          </a:p>
        </p:txBody>
      </p:sp>
      <p:sp>
        <p:nvSpPr>
          <p:cNvPr id="11" name="Text 9"/>
          <p:cNvSpPr/>
          <p:nvPr/>
        </p:nvSpPr>
        <p:spPr>
          <a:xfrm>
            <a:off x="457200" y="1682496"/>
            <a:ext cx="8229600" cy="18288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DSO (Days Sales Outstanding) = 11 days — Inditex collects from customers very quickly (mostly retail, card payments).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DIO (Days Inventory on Hand) = 93 days — Inventory turns every 93 days (fast fashion, frequent new collections).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DPO (Days Payable Outstanding) = 190 days — Inditex pays its suppliers extremely slowly (190 days!).</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CCC = DSO + DIO − DPO = 11 + 93 − 190 = −86 days</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Meaning: Inditex collects cash from customers 86 days BEFORE it pays its suppliers. The suppliers are financing Inditex’s operations. This negative CCC is a significant competitive advantage.</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Comparison: typical retailer CCC = +30 to +60 days. Amazon CCC is also negative (around −30 to −50 days) for similar reasons.</a:t>
            </a:r>
            <a:endParaRPr lang="en-US" sz="1200" dirty="0"/>
          </a:p>
        </p:txBody>
      </p:sp>
      <p:sp>
        <p:nvSpPr>
          <p:cNvPr id="12" name="Shape 10"/>
          <p:cNvSpPr/>
          <p:nvPr/>
        </p:nvSpPr>
        <p:spPr>
          <a:xfrm>
            <a:off x="320040" y="3749040"/>
            <a:ext cx="4187952" cy="1024128"/>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3" name="Shape 11"/>
          <p:cNvSpPr/>
          <p:nvPr/>
        </p:nvSpPr>
        <p:spPr>
          <a:xfrm>
            <a:off x="320040" y="3749040"/>
            <a:ext cx="91440" cy="1024128"/>
          </a:xfrm>
          <a:prstGeom prst="rect">
            <a:avLst/>
          </a:prstGeom>
          <a:solidFill>
            <a:srgbClr val="E8600A"/>
          </a:solidFill>
          <a:ln w="12700">
            <a:solidFill>
              <a:srgbClr val="E8600A"/>
            </a:solidFill>
            <a:prstDash val="solid"/>
          </a:ln>
        </p:spPr>
      </p:sp>
      <p:sp>
        <p:nvSpPr>
          <p:cNvPr id="14" name="Text 12"/>
          <p:cNvSpPr/>
          <p:nvPr/>
        </p:nvSpPr>
        <p:spPr>
          <a:xfrm>
            <a:off x="521208" y="3840480"/>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Why Inditex achieves negative CCC</a:t>
            </a:r>
            <a:endParaRPr lang="en-US" sz="1200" dirty="0"/>
          </a:p>
        </p:txBody>
      </p:sp>
      <p:sp>
        <p:nvSpPr>
          <p:cNvPr id="15" name="Text 13"/>
          <p:cNvSpPr/>
          <p:nvPr/>
        </p:nvSpPr>
        <p:spPr>
          <a:xfrm>
            <a:off x="521208" y="4206240"/>
            <a:ext cx="384048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Enormous buying power allows delayed payment terms. Owns manufacturing in Spain/Portugal (but outsources strategically). Rapid inventory rotation via fast fashion model.</a:t>
            </a:r>
            <a:endParaRPr lang="en-US" sz="1150" dirty="0"/>
          </a:p>
        </p:txBody>
      </p:sp>
      <p:sp>
        <p:nvSpPr>
          <p:cNvPr id="16" name="Shape 14"/>
          <p:cNvSpPr/>
          <p:nvPr/>
        </p:nvSpPr>
        <p:spPr>
          <a:xfrm>
            <a:off x="4727448" y="3749040"/>
            <a:ext cx="4187952" cy="1024128"/>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7" name="Shape 15"/>
          <p:cNvSpPr/>
          <p:nvPr/>
        </p:nvSpPr>
        <p:spPr>
          <a:xfrm>
            <a:off x="4727448" y="3749040"/>
            <a:ext cx="91440" cy="1024128"/>
          </a:xfrm>
          <a:prstGeom prst="rect">
            <a:avLst/>
          </a:prstGeom>
          <a:solidFill>
            <a:srgbClr val="E8600A"/>
          </a:solidFill>
          <a:ln w="12700">
            <a:solidFill>
              <a:srgbClr val="E8600A"/>
            </a:solidFill>
            <a:prstDash val="solid"/>
          </a:ln>
        </p:spPr>
      </p:sp>
      <p:sp>
        <p:nvSpPr>
          <p:cNvPr id="18" name="Text 16"/>
          <p:cNvSpPr/>
          <p:nvPr/>
        </p:nvSpPr>
        <p:spPr>
          <a:xfrm>
            <a:off x="4928616" y="3840480"/>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Investor implication</a:t>
            </a:r>
            <a:endParaRPr lang="en-US" sz="1200" dirty="0"/>
          </a:p>
        </p:txBody>
      </p:sp>
      <p:sp>
        <p:nvSpPr>
          <p:cNvPr id="19" name="Text 17"/>
          <p:cNvSpPr/>
          <p:nvPr/>
        </p:nvSpPr>
        <p:spPr>
          <a:xfrm>
            <a:off x="4928616" y="4206240"/>
            <a:ext cx="384048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Negative CCC companies can GROW without increasing working capital. Each incremental sale generates cash immediately. Superior business model quality signal.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Integrated Ratio Analysis — CFA LM12 Example 13: Contradiction</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CFA LM12, Example 13. A Canadian manufacturer shows RISING current ratio but FALLING quick ratio. A contradiction that reveals an inventory problem.</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377440"/>
                <a:gridCol w="1371600"/>
                <a:gridCol w="1371600"/>
                <a:gridCol w="1371600"/>
                <a:gridCol w="2011680"/>
              </a:tblGrid>
              <a:tr h="0">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Year 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Year 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Year 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Trend Signal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Current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Looks like IMPROVING liquidity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Quick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Shows DETERIORATING liquidity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Days Inventory on Hand (DOH)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Inventory building up significantly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Days Sales Outstanding (DSO)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AR being collected faster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337560"/>
            <a:ext cx="8503920" cy="1572768"/>
          </a:xfrm>
          <a:prstGeom prst="rect">
            <a:avLst/>
          </a:prstGeom>
          <a:solidFill>
            <a:srgbClr val="FEF0E7"/>
          </a:solidFill>
          <a:ln w="12700">
            <a:solidFill>
              <a:srgbClr val="E8600A"/>
            </a:solidFill>
            <a:prstDash val="solid"/>
          </a:ln>
        </p:spPr>
      </p:sp>
      <p:sp>
        <p:nvSpPr>
          <p:cNvPr id="11" name="Text 8"/>
          <p:cNvSpPr/>
          <p:nvPr/>
        </p:nvSpPr>
        <p:spPr>
          <a:xfrm>
            <a:off x="457200" y="3410712"/>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LM12 Resolution</a:t>
            </a:r>
            <a:endParaRPr lang="en-US" sz="1100" dirty="0"/>
          </a:p>
        </p:txBody>
      </p:sp>
      <p:sp>
        <p:nvSpPr>
          <p:cNvPr id="12" name="Text 9"/>
          <p:cNvSpPr/>
          <p:nvPr/>
        </p:nvSpPr>
        <p:spPr>
          <a:xfrm>
            <a:off x="457200" y="3721608"/>
            <a:ext cx="8229600" cy="10972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Since current ratio and quick ratio share the same denominator (current liabilities), the divergence must be driven by assets included in current but NOT in quick — i.e., INVENTORY and prepaid expenses.</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DOH rising from 30 to 55 days: the company is building up inventory faster than it can sell it. Inventory is rising, pushing up the current ratio.</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Meanwhile, DSO fell (collecting AR faster). Cash from collections was apparently USED TO BUY MORE INVENTORY (not reduce CL).</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Conclusion: liquidity is DETERIORATING despite the better-looking current ratio. The company may have an inventory management problem or demand is weakening.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CCC Across Industries — Business Model Determines Working Capital</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cash conversion cycle varies enormously by industry. Understanding the CFA benchmark ranges is essential for cross-sectional analysis.</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1645920"/>
                <a:gridCol w="1280160"/>
                <a:gridCol w="1280160"/>
                <a:gridCol w="1280160"/>
                <a:gridCol w="1645920"/>
                <a:gridCol w="1371600"/>
              </a:tblGrid>
              <a:tr h="0">
                <a:tc>
                  <a:txBody>
                    <a:bodyPr/>
                    <a:lstStyle/>
                    <a:p>
                      <a:pPr indent="0" marL="0">
                        <a:buNone/>
                      </a:pPr>
                      <a:r>
                        <a:rPr lang="en-US" sz="1100" b="1" dirty="0">
                          <a:solidFill>
                            <a:srgbClr val="FFFFFF"/>
                          </a:solidFill>
                        </a:rPr>
                        <a:t>Industry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Typical DSO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Typical DIO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Typical DPO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Typical CCC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Interpretation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Grocery retail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5–10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15–25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30–45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 to +5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Near zero. Quick turnover, paying suppliers faster.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Fashion retail (Inditex)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10–15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90–100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180–200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−90 to −70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Negative. Suppliers finance operations substantially.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Technology / SaaS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30–60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10–30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30–60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 to +30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Low inventory. Subscription model tightens cycle.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Heavy manufacturing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45–90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60–120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30–60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60 to +150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Long production cycles, large WC needs.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Aerospace / Defence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60–120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90–180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30–60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120 to +240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Custom products, long programmes. Very cash-hungry.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Banking / Financial svcs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CCC not applicable. Assets ARE loans; different metrics.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Text 7"/>
          <p:cNvSpPr/>
          <p:nvPr/>
        </p:nvSpPr>
        <p:spPr>
          <a:xfrm>
            <a:off x="320040" y="4553712"/>
            <a:ext cx="8503920" cy="338328"/>
          </a:xfrm>
          <a:prstGeom prst="rect">
            <a:avLst/>
          </a:prstGeom>
          <a:noFill/>
          <a:ln/>
        </p:spPr>
        <p:txBody>
          <a:bodyPr wrap="square" lIns="0" tIns="0" rIns="0" bIns="0" rtlCol="0" anchor="ctr"/>
          <a:lstStyle/>
          <a:p>
            <a:pPr indent="0" marL="0">
              <a:buNone/>
            </a:pPr>
            <a:r>
              <a:rPr lang="en-US" sz="1250" b="1" dirty="0">
                <a:solidFill>
                  <a:srgbClr val="E8600A"/>
                </a:solidFill>
                <a:latin typeface="Trebuchet MS" pitchFamily="34" charset="0"/>
                <a:ea typeface="Trebuchet MS" pitchFamily="34" charset="-122"/>
                <a:cs typeface="Trebuchet MS" pitchFamily="34" charset="-120"/>
              </a:rPr>
              <a:t>Analyst rule: always compare CCC to industry peers, not absolute benchmarks. A CCC of +60 days is excellent in aerospace but dangerous in grocery.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914900"/>
            <a:ext cx="9144000" cy="228600"/>
          </a:xfrm>
          <a:prstGeom prst="rect">
            <a:avLst/>
          </a:prstGeom>
          <a:solidFill>
            <a:srgbClr val="E8600A"/>
          </a:solidFill>
          <a:ln w="12700">
            <a:solidFill>
              <a:srgbClr val="E8600A"/>
            </a:solidFill>
            <a:prstDash val="solid"/>
          </a:ln>
        </p:spPr>
      </p:sp>
      <p:sp>
        <p:nvSpPr>
          <p:cNvPr id="3" name="Text 1"/>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E8600A"/>
                </a:solidFill>
                <a:latin typeface="Trebuchet MS" pitchFamily="34" charset="0"/>
                <a:ea typeface="Trebuchet MS" pitchFamily="34" charset="-122"/>
                <a:cs typeface="Trebuchet MS" pitchFamily="34" charset="-120"/>
              </a:rPr>
              <a:t>SECTION 04</a:t>
            </a:r>
            <a:endParaRPr lang="en-US" sz="1200" dirty="0"/>
          </a:p>
        </p:txBody>
      </p:sp>
      <p:sp>
        <p:nvSpPr>
          <p:cNvPr id="4" name="Shape 2"/>
          <p:cNvSpPr/>
          <p:nvPr/>
        </p:nvSpPr>
        <p:spPr>
          <a:xfrm>
            <a:off x="3200400" y="1901952"/>
            <a:ext cx="2743200" cy="50292"/>
          </a:xfrm>
          <a:prstGeom prst="rect">
            <a:avLst/>
          </a:prstGeom>
          <a:solidFill>
            <a:srgbClr val="E8600A"/>
          </a:solidFill>
          <a:ln w="12700">
            <a:solidFill>
              <a:srgbClr val="E8600A"/>
            </a:solidFill>
            <a:prstDash val="solid"/>
          </a:ln>
        </p:spPr>
      </p:sp>
      <p:sp>
        <p:nvSpPr>
          <p:cNvPr id="5" name="Text 3"/>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Liquidity, Solvency</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&amp; Profitability Ratios</a:t>
            </a:r>
            <a:endParaRPr 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Liquidity Ratios — Can the Business Pay Its Near-Term Bills?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Liquidity = ability to meet short-term obligations as they come due</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1536192"/>
          <a:ext cx="8503920" cy="914400"/>
        </p:xfrm>
        <a:graphic>
          <a:graphicData uri="http://schemas.openxmlformats.org/drawingml/2006/table">
            <a:tbl>
              <a:tblPr/>
              <a:tblGrid>
                <a:gridCol w="2011680"/>
                <a:gridCol w="2743200"/>
                <a:gridCol w="1645920"/>
                <a:gridCol w="3017520"/>
              </a:tblGrid>
              <a:tr h="0">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Formula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"Good" Level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Limitation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Current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Current Assets / Current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 to 3.0x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Includes slow-to-liquidate inventory and prepaid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Quick Ratio (Acid Test)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(Cash + Mkt Sec + AR) / CL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0.8 to 1.5x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Excludes inventory. Preferred for manufacturing/retail.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Cash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(Cash + Mkt Securities) / CL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0.2 to 1.0x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Most conservative. Ignores AR. Often too harsh.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Defensive Interval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(Cash + Mkt Sec + AR) / Daily Op Expenses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30 to 60+ days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Days of operating expenses the company can fund from current liquid assets without new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4005072"/>
            <a:ext cx="8503920" cy="1078992"/>
          </a:xfrm>
          <a:prstGeom prst="rect">
            <a:avLst/>
          </a:prstGeom>
          <a:solidFill>
            <a:srgbClr val="FEF0E7"/>
          </a:solidFill>
          <a:ln w="12700">
            <a:solidFill>
              <a:srgbClr val="E8600A"/>
            </a:solidFill>
            <a:prstDash val="solid"/>
          </a:ln>
        </p:spPr>
      </p:sp>
      <p:sp>
        <p:nvSpPr>
          <p:cNvPr id="12" name="Text 9"/>
          <p:cNvSpPr/>
          <p:nvPr/>
        </p:nvSpPr>
        <p:spPr>
          <a:xfrm>
            <a:off x="457200" y="4078224"/>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Interpreting liquidity in context</a:t>
            </a:r>
            <a:endParaRPr lang="en-US" sz="1100" dirty="0"/>
          </a:p>
        </p:txBody>
      </p:sp>
      <p:sp>
        <p:nvSpPr>
          <p:cNvPr id="13" name="Text 10"/>
          <p:cNvSpPr/>
          <p:nvPr/>
        </p:nvSpPr>
        <p:spPr>
          <a:xfrm>
            <a:off x="457200" y="4389120"/>
            <a:ext cx="8229600" cy="603504"/>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 current ratio of 3.0x is NOT always better. It may signal IDLE CASH or EXCESS INVENTORY. Tech companies often run low current ratios because their business model generates cash quickly (negative CCC).</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Amazon current ratio 2023 ≈ 1.0x. Apple ≈ 1.0x. Both are highly creditworthy. Context matters: sector norms, cash generation quality, debt maturity profile.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Solvency Ratios — Long-Term Debt-Servicing Ability</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Solvency = ability to meet long-term financial obligations. Analysts also use COVERAGE ratios to assess ability to service interest and fixed charges.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377440"/>
                <a:gridCol w="2560320"/>
                <a:gridCol w="4480560"/>
              </a:tblGrid>
              <a:tr h="0">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Formula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Measures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Debt-to-Equity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Total Debt / Total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Financial leverage. How much of equity is covered by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Debt-to-Assets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Total Debt / Total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What % of assets funded by creditors (not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Financial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Total Assets / Total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Equity multiplier. If = 2.0x: half funded by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Interest Coverage (EBIT/Interest)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EBIT / Interest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How many times interest is covered. &lt; 1.5x = concern.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Fixed Charge Coverage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(EBIT + Lease pmts) / (Interest + Lease pmts)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Broader coverage including lease obligations.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CFO to Total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CFO / Total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Cash-based solvency. Preferred to earnings-based in distress.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4224528"/>
            <a:ext cx="8503920" cy="749808"/>
          </a:xfrm>
          <a:prstGeom prst="rect">
            <a:avLst/>
          </a:prstGeom>
          <a:solidFill>
            <a:srgbClr val="FEF0E7"/>
          </a:solidFill>
          <a:ln w="12700">
            <a:solidFill>
              <a:srgbClr val="E8600A"/>
            </a:solidFill>
            <a:prstDash val="solid"/>
          </a:ln>
        </p:spPr>
      </p:sp>
      <p:sp>
        <p:nvSpPr>
          <p:cNvPr id="11" name="Text 8"/>
          <p:cNvSpPr/>
          <p:nvPr/>
        </p:nvSpPr>
        <p:spPr>
          <a:xfrm>
            <a:off x="457200" y="429768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SAP solvency recap (CFA LM3)</a:t>
            </a:r>
            <a:endParaRPr lang="en-US" sz="1100" dirty="0"/>
          </a:p>
        </p:txBody>
      </p:sp>
      <p:sp>
        <p:nvSpPr>
          <p:cNvPr id="12" name="Text 9"/>
          <p:cNvSpPr/>
          <p:nvPr/>
        </p:nvSpPr>
        <p:spPr>
          <a:xfrm>
            <a:off x="457200" y="4608576"/>
            <a:ext cx="8229600" cy="2743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Long-term debt to equity 2017: 5,034/25,540 = 19.7% (down from 24.6% in 2016 — deleveraging).</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Debt-to-equity: (1,561+5,034)/25,540 = 25.8% (down from 31.4% — all three solvency ratios improved in 2017).</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Profitability Ratios — How Efficiently is the Business Converting Revenue to Returns?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Profitability ratios measure margins (income statement) and returns on capital deployed (linking IS to BS). All are higher = better.</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377440"/>
                <a:gridCol w="2560320"/>
                <a:gridCol w="4480560"/>
              </a:tblGrid>
              <a:tr h="0">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Formula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What It Measures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Gross Profit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Gross Profit /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Production and pricing efficiency. Before overhead.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Operating Profit Margin (EBIT)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EBIT /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Core business profitability. Before financing costs.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Net Profit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Net Income /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Bottom line after all costs, interest and tax.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Return on Assets (ROA)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Net Income / Avg Total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Profit generated per unit of total assets deployed.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Return on Equity (ROE)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Net Income / Avg Shareholders’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Return to equity holders. DuPont: margin×TAT×leverage.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Return on Invested Capital (ROIC)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EBIT(1−t) / (Equity + LT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Return on the total capital invested in the business.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EBITDA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EBITDA /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Pre-D&amp;A operating profitability. Used in LBO/credit analysis.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Apple 5-Year Profitability — CFA LM12 Example 12</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Directly from CFA Vol 4, LM12, Example 12. Apple’s full five-year trend of profitability ratios. Common-size IS approach applied longitudinally.</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1214846"/>
                <a:gridCol w="1214846"/>
                <a:gridCol w="1214846"/>
                <a:gridCol w="1214846"/>
                <a:gridCol w="1214846"/>
                <a:gridCol w="1214846"/>
                <a:gridCol w="1214846"/>
              </a:tblGrid>
              <a:tr h="0">
                <a:tc>
                  <a:txBody>
                    <a:bodyPr/>
                    <a:lstStyle/>
                    <a:p>
                      <a:pPr indent="0" marL="0">
                        <a:buNone/>
                      </a:pPr>
                      <a:r>
                        <a:rPr lang="en-US" sz="1100" b="1" dirty="0">
                          <a:solidFill>
                            <a:srgbClr val="FFFFFF"/>
                          </a:solidFill>
                        </a:rPr>
                        <a:t>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CFA Trend Observation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Gross Profit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37.62%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38.59%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40.06%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39.08%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38.47%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Rose to 2015 peak, then eased. Input cost and mix effects.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Operating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28.67%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28.72%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30.48%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27.84%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26.76%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Steady to 2015 then declining. Cost growth outpaced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Pre-Tax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29.35%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29.26%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31.03%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28.46%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27.96%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Closely tracks operating margin. Minimal other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Net Profit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21.67%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21.61%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22.85%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21.19%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21.09%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Remarkably stable ‘floor’ at 21–22%. Tax efficiency maintained.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4133088"/>
            <a:ext cx="8503920" cy="932688"/>
          </a:xfrm>
          <a:prstGeom prst="rect">
            <a:avLst/>
          </a:prstGeom>
          <a:solidFill>
            <a:srgbClr val="FEF0E7"/>
          </a:solidFill>
          <a:ln w="12700">
            <a:solidFill>
              <a:srgbClr val="E8600A"/>
            </a:solidFill>
            <a:prstDash val="solid"/>
          </a:ln>
        </p:spPr>
      </p:sp>
      <p:sp>
        <p:nvSpPr>
          <p:cNvPr id="11" name="Text 8"/>
          <p:cNvSpPr/>
          <p:nvPr/>
        </p:nvSpPr>
        <p:spPr>
          <a:xfrm>
            <a:off x="457200" y="420624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LM12 Analysis</a:t>
            </a:r>
            <a:endParaRPr lang="en-US" sz="1100" dirty="0"/>
          </a:p>
        </p:txBody>
      </p:sp>
      <p:sp>
        <p:nvSpPr>
          <p:cNvPr id="12" name="Text 9"/>
          <p:cNvSpPr/>
          <p:nvPr/>
        </p:nvSpPr>
        <p:spPr>
          <a:xfrm>
            <a:off x="457200" y="4517136"/>
            <a:ext cx="822960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Sales declined in 2016 (iPhone cycle weakness + foreign currency headwinds) and recovered modestly in 2017. Despite the recovery, ALL margins declined in 2017, indicating costs rose faster than sales.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Bottom line: net profit margin was REMARKABLY STABLE around 21–22% across the full five-year period — a testament to Apple’s pricing power and cost discipline.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CFA conclusion: the five-year trend shows the margin variability and its causes — a key analyst skill.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EBITDA — The Credit Analyst’s Core Metric</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EBITDA  =  EBIT  +  D&amp;A  =  Operating income before depreciation</a:t>
            </a:r>
            <a:endParaRPr lang="en-US" sz="17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EBITDA is widely used in leveraged finance, LBO analysis and credit work as a proxy for operating cash generation. It removes capital structure and accounting choices.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2029968"/>
          <a:ext cx="8503920" cy="914400"/>
        </p:xfrm>
        <a:graphic>
          <a:graphicData uri="http://schemas.openxmlformats.org/drawingml/2006/table">
            <a:tbl>
              <a:tblPr/>
              <a:tblGrid>
                <a:gridCol w="1645920"/>
                <a:gridCol w="1554480"/>
                <a:gridCol w="1828800"/>
                <a:gridCol w="3474720"/>
              </a:tblGrid>
              <a:tr h="0">
                <a:tc>
                  <a:txBody>
                    <a:bodyPr/>
                    <a:lstStyle/>
                    <a:p>
                      <a:pPr indent="0" marL="0">
                        <a:buNone/>
                      </a:pPr>
                      <a:r>
                        <a:rPr lang="en-US" sz="1100" b="1" dirty="0">
                          <a:solidFill>
                            <a:srgbClr val="FFFFFF"/>
                          </a:solidFill>
                        </a:rPr>
                        <a:t>Metric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Formula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Used For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Limitation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EBITDA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EBIT + Depreciation + Amortisation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Credit analysis, LBO, EV multiples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Ignores capex. High D&amp;A industries: EBITDA overstates cash.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EBITDA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EBITDA /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Comparing operating efficiency across capital structures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Same problem: capex excluded. High D&amp;A firms look better.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Net Debt / EBITDA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(LT Debt + ST Debt − Cash) / EBITDA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Leverage: years of EBITDA to repay debt. &lt; 2x = low; &gt; 5x = high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EBITDA ≠ cash. Cycle-top EBITDA overestimates capacity.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EBITDA / Interest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EBITDA / Interest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Interest coverage using pre-D&amp;A earnings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than EBIT coverage. Banks use for covenant headroom.</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2" name="Shape 9"/>
          <p:cNvSpPr/>
          <p:nvPr/>
        </p:nvSpPr>
        <p:spPr>
          <a:xfrm>
            <a:off x="320040" y="4005072"/>
            <a:ext cx="8503920" cy="1024128"/>
          </a:xfrm>
          <a:prstGeom prst="rect">
            <a:avLst/>
          </a:prstGeom>
          <a:solidFill>
            <a:srgbClr val="FEF0E7"/>
          </a:solidFill>
          <a:ln w="12700">
            <a:solidFill>
              <a:srgbClr val="E8600A"/>
            </a:solidFill>
            <a:prstDash val="solid"/>
          </a:ln>
        </p:spPr>
      </p:sp>
      <p:sp>
        <p:nvSpPr>
          <p:cNvPr id="13" name="Text 10"/>
          <p:cNvSpPr/>
          <p:nvPr/>
        </p:nvSpPr>
        <p:spPr>
          <a:xfrm>
            <a:off x="457200" y="4078224"/>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EBITDA in Leveraged Finance</a:t>
            </a:r>
            <a:endParaRPr lang="en-US" sz="1100" dirty="0"/>
          </a:p>
        </p:txBody>
      </p:sp>
      <p:sp>
        <p:nvSpPr>
          <p:cNvPr id="14" name="Text 11"/>
          <p:cNvSpPr/>
          <p:nvPr/>
        </p:nvSpPr>
        <p:spPr>
          <a:xfrm>
            <a:off x="457200" y="4389120"/>
            <a:ext cx="8229600" cy="5486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 company with EBITDA of GBP100m and net debt of GBP400m has leverage of 4.0x. Most LBO financings target 4–6x EBITDA leverage at close.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Bond covenants often require Net Debt/EBITDA &lt; 5.5x or EBITDA/Interest &gt; 2.0x. Breach triggers default or restructuring.</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CFA note: Warren Buffett has called EBITDA ‘earnings before bad stuff’ — capex IS a real cost in capital-intensive businesses.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8600A"/>
        </a:solidFill>
      </p:bgPr>
    </p:bg>
    <p:spTree>
      <p:nvGrpSpPr>
        <p:cNvPr id="1" name=""/>
        <p:cNvGrpSpPr/>
        <p:nvPr/>
      </p:nvGrpSpPr>
      <p:grpSpPr>
        <a:xfrm>
          <a:off x="0" y="0"/>
          <a:ext cx="0" cy="0"/>
          <a:chOff x="0" y="0"/>
          <a:chExt cx="0" cy="0"/>
        </a:xfrm>
      </p:grpSpPr>
      <p:sp>
        <p:nvSpPr>
          <p:cNvPr id="2" name="Text 0"/>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3" name="Shape 1"/>
          <p:cNvSpPr/>
          <p:nvPr/>
        </p:nvSpPr>
        <p:spPr>
          <a:xfrm>
            <a:off x="3200400" y="1901952"/>
            <a:ext cx="2743200" cy="50292"/>
          </a:xfrm>
          <a:prstGeom prst="rect">
            <a:avLst/>
          </a:prstGeom>
          <a:solidFill>
            <a:srgbClr val="FFFFFF"/>
          </a:solidFill>
          <a:ln w="12700">
            <a:solidFill>
              <a:srgbClr val="FFFFFF"/>
            </a:solidFill>
            <a:prstDash val="solid"/>
          </a:ln>
        </p:spPr>
      </p:sp>
      <p:sp>
        <p:nvSpPr>
          <p:cNvPr id="4" name="Text 2"/>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DuPont Analysis</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(CFA LM12)</a:t>
            </a:r>
            <a:endParaRPr 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DuPont Analysis — Decomposing ROE into 3 Drivers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ROE  =  Net Profit Margin  ×  Total Asset Turnover  ×  Financial Leverage</a:t>
            </a:r>
            <a:endParaRPr lang="en-US" sz="16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Developed at DuPont in the 1920s. Now the standard tool for understanding WHY a company’s ROE is what it is — and how to improve it.</a:t>
            </a:r>
            <a:endParaRPr lang="en-US" sz="1300" dirty="0"/>
          </a:p>
        </p:txBody>
      </p:sp>
      <p:sp>
        <p:nvSpPr>
          <p:cNvPr id="11" name="Shape 9"/>
          <p:cNvSpPr/>
          <p:nvPr/>
        </p:nvSpPr>
        <p:spPr>
          <a:xfrm>
            <a:off x="320040" y="2057400"/>
            <a:ext cx="8503920" cy="777240"/>
          </a:xfrm>
          <a:prstGeom prst="rect">
            <a:avLst/>
          </a:prstGeom>
          <a:solidFill>
            <a:srgbClr val="FFFFFF"/>
          </a:solidFill>
          <a:ln w="12700">
            <a:solidFill>
              <a:srgbClr val="E8ECF0"/>
            </a:solidFill>
            <a:prstDash val="solid"/>
          </a:ln>
        </p:spPr>
      </p:sp>
      <p:sp>
        <p:nvSpPr>
          <p:cNvPr id="12" name="Shape 10"/>
          <p:cNvSpPr/>
          <p:nvPr/>
        </p:nvSpPr>
        <p:spPr>
          <a:xfrm>
            <a:off x="320040" y="2057400"/>
            <a:ext cx="91440" cy="777240"/>
          </a:xfrm>
          <a:prstGeom prst="rect">
            <a:avLst/>
          </a:prstGeom>
          <a:solidFill>
            <a:srgbClr val="E8600A"/>
          </a:solidFill>
          <a:ln w="12700">
            <a:solidFill>
              <a:srgbClr val="E8600A"/>
            </a:solidFill>
            <a:prstDash val="solid"/>
          </a:ln>
        </p:spPr>
      </p:sp>
      <p:sp>
        <p:nvSpPr>
          <p:cNvPr id="13" name="Text 11"/>
          <p:cNvSpPr/>
          <p:nvPr/>
        </p:nvSpPr>
        <p:spPr>
          <a:xfrm>
            <a:off x="502920" y="2093976"/>
            <a:ext cx="4114800" cy="274320"/>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Net Profit Margin  =  NI / Revenue</a:t>
            </a:r>
            <a:endParaRPr lang="en-US" sz="1200" dirty="0"/>
          </a:p>
        </p:txBody>
      </p:sp>
      <p:sp>
        <p:nvSpPr>
          <p:cNvPr id="14" name="Shape 12"/>
          <p:cNvSpPr/>
          <p:nvPr/>
        </p:nvSpPr>
        <p:spPr>
          <a:xfrm>
            <a:off x="4754880" y="2093976"/>
            <a:ext cx="1463040" cy="274320"/>
          </a:xfrm>
          <a:prstGeom prst="rect">
            <a:avLst/>
          </a:prstGeom>
          <a:solidFill>
            <a:srgbClr val="1B2A4A"/>
          </a:solidFill>
          <a:ln w="12700">
            <a:solidFill>
              <a:srgbClr val="1B2A4A"/>
            </a:solidFill>
            <a:prstDash val="solid"/>
          </a:ln>
        </p:spPr>
      </p:sp>
      <p:sp>
        <p:nvSpPr>
          <p:cNvPr id="15" name="Text 13"/>
          <p:cNvSpPr/>
          <p:nvPr/>
        </p:nvSpPr>
        <p:spPr>
          <a:xfrm>
            <a:off x="4754880" y="2093976"/>
            <a:ext cx="1463040" cy="274320"/>
          </a:xfrm>
          <a:prstGeom prst="rect">
            <a:avLst/>
          </a:prstGeom>
          <a:noFill/>
          <a:ln/>
        </p:spPr>
        <p:txBody>
          <a:bodyPr wrap="square" lIns="0" tIns="0" rIns="0" bIns="0" rtlCol="0" anchor="ctr"/>
          <a:lstStyle/>
          <a:p>
            <a:pPr algn="ctr" indent="0" marL="0">
              <a:buNone/>
            </a:pPr>
            <a:r>
              <a:rPr lang="en-US" sz="1100" b="1" dirty="0">
                <a:solidFill>
                  <a:srgbClr val="E8600A"/>
                </a:solidFill>
                <a:latin typeface="Trebuchet MS" pitchFamily="34" charset="0"/>
                <a:ea typeface="Trebuchet MS" pitchFamily="34" charset="-122"/>
                <a:cs typeface="Trebuchet MS" pitchFamily="34" charset="-120"/>
              </a:rPr>
              <a:t>Controls</a:t>
            </a:r>
            <a:endParaRPr lang="en-US" sz="1100" dirty="0"/>
          </a:p>
        </p:txBody>
      </p:sp>
      <p:sp>
        <p:nvSpPr>
          <p:cNvPr id="16" name="Text 14"/>
          <p:cNvSpPr/>
          <p:nvPr/>
        </p:nvSpPr>
        <p:spPr>
          <a:xfrm>
            <a:off x="502920" y="2441448"/>
            <a:ext cx="7936992"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Profitability: how much profit from each dollar of revenue. Driven by pricing power, cost efficiency, tax management.</a:t>
            </a:r>
            <a:endParaRPr lang="en-US" sz="1200" dirty="0"/>
          </a:p>
        </p:txBody>
      </p:sp>
      <p:sp>
        <p:nvSpPr>
          <p:cNvPr id="17" name="Shape 15"/>
          <p:cNvSpPr/>
          <p:nvPr/>
        </p:nvSpPr>
        <p:spPr>
          <a:xfrm>
            <a:off x="320040" y="2953512"/>
            <a:ext cx="8503920" cy="777240"/>
          </a:xfrm>
          <a:prstGeom prst="rect">
            <a:avLst/>
          </a:prstGeom>
          <a:solidFill>
            <a:srgbClr val="F5F7FA"/>
          </a:solidFill>
          <a:ln w="12700">
            <a:solidFill>
              <a:srgbClr val="E8ECF0"/>
            </a:solidFill>
            <a:prstDash val="solid"/>
          </a:ln>
        </p:spPr>
      </p:sp>
      <p:sp>
        <p:nvSpPr>
          <p:cNvPr id="18" name="Shape 16"/>
          <p:cNvSpPr/>
          <p:nvPr/>
        </p:nvSpPr>
        <p:spPr>
          <a:xfrm>
            <a:off x="320040" y="2953512"/>
            <a:ext cx="91440" cy="777240"/>
          </a:xfrm>
          <a:prstGeom prst="rect">
            <a:avLst/>
          </a:prstGeom>
          <a:solidFill>
            <a:srgbClr val="E8600A"/>
          </a:solidFill>
          <a:ln w="12700">
            <a:solidFill>
              <a:srgbClr val="E8600A"/>
            </a:solidFill>
            <a:prstDash val="solid"/>
          </a:ln>
        </p:spPr>
      </p:sp>
      <p:sp>
        <p:nvSpPr>
          <p:cNvPr id="19" name="Text 17"/>
          <p:cNvSpPr/>
          <p:nvPr/>
        </p:nvSpPr>
        <p:spPr>
          <a:xfrm>
            <a:off x="502920" y="2990088"/>
            <a:ext cx="4114800" cy="274320"/>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Total Asset Turnover  =  Revenue / Avg Assets</a:t>
            </a:r>
            <a:endParaRPr lang="en-US" sz="1200" dirty="0"/>
          </a:p>
        </p:txBody>
      </p:sp>
      <p:sp>
        <p:nvSpPr>
          <p:cNvPr id="20" name="Shape 18"/>
          <p:cNvSpPr/>
          <p:nvPr/>
        </p:nvSpPr>
        <p:spPr>
          <a:xfrm>
            <a:off x="4754880" y="2990088"/>
            <a:ext cx="1463040" cy="274320"/>
          </a:xfrm>
          <a:prstGeom prst="rect">
            <a:avLst/>
          </a:prstGeom>
          <a:solidFill>
            <a:srgbClr val="1B2A4A"/>
          </a:solidFill>
          <a:ln w="12700">
            <a:solidFill>
              <a:srgbClr val="1B2A4A"/>
            </a:solidFill>
            <a:prstDash val="solid"/>
          </a:ln>
        </p:spPr>
      </p:sp>
      <p:sp>
        <p:nvSpPr>
          <p:cNvPr id="21" name="Text 19"/>
          <p:cNvSpPr/>
          <p:nvPr/>
        </p:nvSpPr>
        <p:spPr>
          <a:xfrm>
            <a:off x="4754880" y="2990088"/>
            <a:ext cx="1463040" cy="274320"/>
          </a:xfrm>
          <a:prstGeom prst="rect">
            <a:avLst/>
          </a:prstGeom>
          <a:noFill/>
          <a:ln/>
        </p:spPr>
        <p:txBody>
          <a:bodyPr wrap="square" lIns="0" tIns="0" rIns="0" bIns="0" rtlCol="0" anchor="ctr"/>
          <a:lstStyle/>
          <a:p>
            <a:pPr algn="ctr" indent="0" marL="0">
              <a:buNone/>
            </a:pPr>
            <a:r>
              <a:rPr lang="en-US" sz="1100" b="1" dirty="0">
                <a:solidFill>
                  <a:srgbClr val="E8600A"/>
                </a:solidFill>
                <a:latin typeface="Trebuchet MS" pitchFamily="34" charset="0"/>
                <a:ea typeface="Trebuchet MS" pitchFamily="34" charset="-122"/>
                <a:cs typeface="Trebuchet MS" pitchFamily="34" charset="-120"/>
              </a:rPr>
              <a:t>Efficiency</a:t>
            </a:r>
            <a:endParaRPr lang="en-US" sz="1100" dirty="0"/>
          </a:p>
        </p:txBody>
      </p:sp>
      <p:sp>
        <p:nvSpPr>
          <p:cNvPr id="22" name="Text 20"/>
          <p:cNvSpPr/>
          <p:nvPr/>
        </p:nvSpPr>
        <p:spPr>
          <a:xfrm>
            <a:off x="502920" y="3337560"/>
            <a:ext cx="7936992"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Asset efficiency: how much revenue per dollar of assets. High in retail/distribution, low in capital-intensive industries.</a:t>
            </a:r>
            <a:endParaRPr lang="en-US" sz="1200" dirty="0"/>
          </a:p>
        </p:txBody>
      </p:sp>
      <p:sp>
        <p:nvSpPr>
          <p:cNvPr id="23" name="Shape 21"/>
          <p:cNvSpPr/>
          <p:nvPr/>
        </p:nvSpPr>
        <p:spPr>
          <a:xfrm>
            <a:off x="320040" y="3849624"/>
            <a:ext cx="8503920" cy="777240"/>
          </a:xfrm>
          <a:prstGeom prst="rect">
            <a:avLst/>
          </a:prstGeom>
          <a:solidFill>
            <a:srgbClr val="FFFFFF"/>
          </a:solidFill>
          <a:ln w="12700">
            <a:solidFill>
              <a:srgbClr val="E8ECF0"/>
            </a:solidFill>
            <a:prstDash val="solid"/>
          </a:ln>
        </p:spPr>
      </p:sp>
      <p:sp>
        <p:nvSpPr>
          <p:cNvPr id="24" name="Shape 22"/>
          <p:cNvSpPr/>
          <p:nvPr/>
        </p:nvSpPr>
        <p:spPr>
          <a:xfrm>
            <a:off x="320040" y="3849624"/>
            <a:ext cx="91440" cy="777240"/>
          </a:xfrm>
          <a:prstGeom prst="rect">
            <a:avLst/>
          </a:prstGeom>
          <a:solidFill>
            <a:srgbClr val="E8600A"/>
          </a:solidFill>
          <a:ln w="12700">
            <a:solidFill>
              <a:srgbClr val="E8600A"/>
            </a:solidFill>
            <a:prstDash val="solid"/>
          </a:ln>
        </p:spPr>
      </p:sp>
      <p:sp>
        <p:nvSpPr>
          <p:cNvPr id="25" name="Text 23"/>
          <p:cNvSpPr/>
          <p:nvPr/>
        </p:nvSpPr>
        <p:spPr>
          <a:xfrm>
            <a:off x="502920" y="3886200"/>
            <a:ext cx="4114800" cy="274320"/>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Financial Leverage  =  Avg Assets / Avg Equity</a:t>
            </a:r>
            <a:endParaRPr lang="en-US" sz="1200" dirty="0"/>
          </a:p>
        </p:txBody>
      </p:sp>
      <p:sp>
        <p:nvSpPr>
          <p:cNvPr id="26" name="Shape 24"/>
          <p:cNvSpPr/>
          <p:nvPr/>
        </p:nvSpPr>
        <p:spPr>
          <a:xfrm>
            <a:off x="4754880" y="3886200"/>
            <a:ext cx="1463040" cy="274320"/>
          </a:xfrm>
          <a:prstGeom prst="rect">
            <a:avLst/>
          </a:prstGeom>
          <a:solidFill>
            <a:srgbClr val="1B2A4A"/>
          </a:solidFill>
          <a:ln w="12700">
            <a:solidFill>
              <a:srgbClr val="1B2A4A"/>
            </a:solidFill>
            <a:prstDash val="solid"/>
          </a:ln>
        </p:spPr>
      </p:sp>
      <p:sp>
        <p:nvSpPr>
          <p:cNvPr id="27" name="Text 25"/>
          <p:cNvSpPr/>
          <p:nvPr/>
        </p:nvSpPr>
        <p:spPr>
          <a:xfrm>
            <a:off x="4754880" y="3886200"/>
            <a:ext cx="1463040" cy="274320"/>
          </a:xfrm>
          <a:prstGeom prst="rect">
            <a:avLst/>
          </a:prstGeom>
          <a:noFill/>
          <a:ln/>
        </p:spPr>
        <p:txBody>
          <a:bodyPr wrap="square" lIns="0" tIns="0" rIns="0" bIns="0" rtlCol="0" anchor="ctr"/>
          <a:lstStyle/>
          <a:p>
            <a:pPr algn="ctr" indent="0" marL="0">
              <a:buNone/>
            </a:pPr>
            <a:r>
              <a:rPr lang="en-US" sz="1100" b="1" dirty="0">
                <a:solidFill>
                  <a:srgbClr val="E8600A"/>
                </a:solidFill>
                <a:latin typeface="Trebuchet MS" pitchFamily="34" charset="0"/>
                <a:ea typeface="Trebuchet MS" pitchFamily="34" charset="-122"/>
                <a:cs typeface="Trebuchet MS" pitchFamily="34" charset="-120"/>
              </a:rPr>
              <a:t>Leverage</a:t>
            </a:r>
            <a:endParaRPr lang="en-US" sz="1100" dirty="0"/>
          </a:p>
        </p:txBody>
      </p:sp>
      <p:sp>
        <p:nvSpPr>
          <p:cNvPr id="28" name="Text 26"/>
          <p:cNvSpPr/>
          <p:nvPr/>
        </p:nvSpPr>
        <p:spPr>
          <a:xfrm>
            <a:off x="502920" y="4233672"/>
            <a:ext cx="7936992" cy="3657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Capital structure: how much assets are funded by equity vs debt. Amplifies ROE but also amplifies risk.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Anson Industries DuPont Trend — CFA LM12, Exhibit 32</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Directly from CFA Vol 4, LM12. Anson improved ROE from −0.62% (FY2) to +5.92% (FY5). DuPont reveals the DRIVER of that recovery.</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1188720"/>
                <a:gridCol w="1188720"/>
                <a:gridCol w="1097280"/>
                <a:gridCol w="1463040"/>
                <a:gridCol w="1463040"/>
                <a:gridCol w="1188720"/>
                <a:gridCol w="914400"/>
              </a:tblGrid>
              <a:tr h="0">
                <a:tc>
                  <a:txBody>
                    <a:bodyPr/>
                    <a:lstStyle/>
                    <a:p>
                      <a:pPr indent="0" marL="0">
                        <a:buNone/>
                      </a:pPr>
                      <a:r>
                        <a:rPr lang="en-US" sz="1100" b="1" dirty="0">
                          <a:solidFill>
                            <a:srgbClr val="FFFFFF"/>
                          </a:solidFill>
                        </a:rPr>
                        <a:t>Fiscal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ROE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 ROA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x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Net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x Asset Turnover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x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FY5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+5.92%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3.70%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1.60x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3.33%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1.11x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1.60x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FY4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+1.66%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1.05%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1.58x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1.11%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0.95x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1.58x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FY3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+1.62%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1.54x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1.13%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0.93x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1.54x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FY2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−0.62%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−0.39%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1.60x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−0.47%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0.84x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1.60x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547872"/>
            <a:ext cx="8503920" cy="1444752"/>
          </a:xfrm>
          <a:prstGeom prst="rect">
            <a:avLst/>
          </a:prstGeom>
          <a:solidFill>
            <a:srgbClr val="FEF0E7"/>
          </a:solidFill>
          <a:ln w="12700">
            <a:solidFill>
              <a:srgbClr val="E8600A"/>
            </a:solidFill>
            <a:prstDash val="solid"/>
          </a:ln>
        </p:spPr>
      </p:sp>
      <p:sp>
        <p:nvSpPr>
          <p:cNvPr id="11" name="Text 8"/>
          <p:cNvSpPr/>
          <p:nvPr/>
        </p:nvSpPr>
        <p:spPr>
          <a:xfrm>
            <a:off x="457200" y="3621024"/>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LM12 Insight</a:t>
            </a:r>
            <a:endParaRPr lang="en-US" sz="1100" dirty="0"/>
          </a:p>
        </p:txBody>
      </p:sp>
      <p:sp>
        <p:nvSpPr>
          <p:cNvPr id="12" name="Text 9"/>
          <p:cNvSpPr/>
          <p:nvPr/>
        </p:nvSpPr>
        <p:spPr>
          <a:xfrm>
            <a:off x="457200" y="3931920"/>
            <a:ext cx="8229600" cy="969264"/>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Leverage was STABLE throughout (around 1.56–1.60x). Therefore, the improvement in ROE from −0.62% to +5.92% was driven ENTIRELY by improvement in ROA.</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ROA improved because: Net Profit Margin recovered from −0.47% to 3.33% AND Total Asset Turnover improved from 0.84x to 1.11x.</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Both profitability (margin) and efficiency (asset use) improved simultaneously. Leverage was NOT used to inflate ROE.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CFA conclusion: this is a HIGH QUALITY ROE recovery — driven by fundamental business improvement, not financial engineering.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5-Factor DuPont — Full Decomposition</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ROE  =  (NI/EBT)  ×  (EBT/EBIT)  ×  (EBIT/Revenue)  ×  (Revenue/Assets)  ×  (Assets/Equity)</a:t>
            </a:r>
            <a:endParaRPr lang="en-US" sz="12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5-factor model adds tax efficiency and interest burden to the 3-factor. Separates operating profitability from financing and tax effects.</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2029968"/>
          <a:ext cx="8503920" cy="914400"/>
        </p:xfrm>
        <a:graphic>
          <a:graphicData uri="http://schemas.openxmlformats.org/drawingml/2006/table">
            <a:tbl>
              <a:tblPr/>
              <a:tblGrid>
                <a:gridCol w="1737360"/>
                <a:gridCol w="1645920"/>
                <a:gridCol w="2560320"/>
                <a:gridCol w="2560320"/>
              </a:tblGrid>
              <a:tr h="0">
                <a:tc>
                  <a:txBody>
                    <a:bodyPr/>
                    <a:lstStyle/>
                    <a:p>
                      <a:pPr indent="0" marL="0">
                        <a:buNone/>
                      </a:pPr>
                      <a:r>
                        <a:rPr lang="en-US" sz="1100" b="1" dirty="0">
                          <a:solidFill>
                            <a:srgbClr val="FFFFFF"/>
                          </a:solidFill>
                        </a:rPr>
                        <a:t>Factor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Measures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Typical Range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Tax burden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NI / 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(1 − effective tax rate). Higher = tax efficient.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0.60 to 0.80 (lower tax = higher factor)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Interest burden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EBT / EBIT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Fraction of EBIT left after interest. 1.0 = no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0.70 to 0.99 (lower = more interest 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EBIT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EBIT /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Operating profitability. Same as operating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Varies widely: 5–35% typical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Asset turnover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Revenue / Avg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Revenue efficiency. Same as 3-factor TAT.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0.3x (utilities) to 3x+ (retail)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Financial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Avg Assets / Avg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Debt amplification. Same as 3-factor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1.2x (conservative) to 5x+ (banks)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
        <p:nvSpPr>
          <p:cNvPr id="12" name="Shape 9"/>
          <p:cNvSpPr/>
          <p:nvPr/>
        </p:nvSpPr>
        <p:spPr>
          <a:xfrm>
            <a:off x="320040" y="4434840"/>
            <a:ext cx="8503920" cy="640080"/>
          </a:xfrm>
          <a:prstGeom prst="rect">
            <a:avLst/>
          </a:prstGeom>
          <a:solidFill>
            <a:srgbClr val="FEF0E7"/>
          </a:solidFill>
          <a:ln w="12700">
            <a:solidFill>
              <a:srgbClr val="E8600A"/>
            </a:solidFill>
            <a:prstDash val="solid"/>
          </a:ln>
        </p:spPr>
      </p:sp>
      <p:sp>
        <p:nvSpPr>
          <p:cNvPr id="13" name="Text 10"/>
          <p:cNvSpPr/>
          <p:nvPr/>
        </p:nvSpPr>
        <p:spPr>
          <a:xfrm>
            <a:off x="457200" y="4507992"/>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3-factor vs 5-factor</a:t>
            </a:r>
            <a:endParaRPr lang="en-US" sz="1100" dirty="0"/>
          </a:p>
        </p:txBody>
      </p:sp>
      <p:sp>
        <p:nvSpPr>
          <p:cNvPr id="14" name="Text 11"/>
          <p:cNvSpPr/>
          <p:nvPr/>
        </p:nvSpPr>
        <p:spPr>
          <a:xfrm>
            <a:off x="457200" y="4818888"/>
            <a:ext cx="8229600" cy="16459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3-factor groups tax and interest into net margin. 5-factor separates them.</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Use 5-factor when: comparing companies with very different tax regimes or capital structures, or investigating WHY margins changed.</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ROE vs ROA — The Role of Financial Leverage</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Two companies with identical ROA can have very different ROE. Leverage amplifies both returns AND risks. Understanding this is central to banking and credit analysis.</a:t>
            </a:r>
            <a:endParaRPr lang="en-US" sz="1300" dirty="0"/>
          </a:p>
        </p:txBody>
      </p:sp>
      <p:sp>
        <p:nvSpPr>
          <p:cNvPr id="9" name="Shape 7"/>
          <p:cNvSpPr/>
          <p:nvPr/>
        </p:nvSpPr>
        <p:spPr>
          <a:xfrm>
            <a:off x="320040" y="1261872"/>
            <a:ext cx="8503920" cy="658368"/>
          </a:xfrm>
          <a:prstGeom prst="rect">
            <a:avLst/>
          </a:prstGeom>
          <a:solidFill>
            <a:srgbClr val="1B2A4A"/>
          </a:solidFill>
          <a:ln w="12700">
            <a:solidFill>
              <a:srgbClr val="1B2A4A"/>
            </a:solidFill>
            <a:prstDash val="solid"/>
          </a:ln>
        </p:spPr>
      </p:sp>
      <p:sp>
        <p:nvSpPr>
          <p:cNvPr id="10" name="Text 8"/>
          <p:cNvSpPr/>
          <p:nvPr/>
        </p:nvSpPr>
        <p:spPr>
          <a:xfrm>
            <a:off x="320040" y="1261872"/>
            <a:ext cx="85039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ROE  =  ROA  ×  (Assets / Equity)     If ROA &gt; cost of debt, leverage INCREASES ROE</a:t>
            </a:r>
            <a:endParaRPr 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20040" y="2029968"/>
          <a:ext cx="8503920" cy="914400"/>
        </p:xfrm>
        <a:graphic>
          <a:graphicData uri="http://schemas.openxmlformats.org/drawingml/2006/table">
            <a:tbl>
              <a:tblPr/>
              <a:tblGrid>
                <a:gridCol w="1828800"/>
                <a:gridCol w="1188720"/>
                <a:gridCol w="1371600"/>
                <a:gridCol w="1371600"/>
                <a:gridCol w="2743200"/>
              </a:tblGrid>
              <a:tr h="0">
                <a:tc>
                  <a:txBody>
                    <a:bodyPr/>
                    <a:lstStyle/>
                    <a:p>
                      <a:pPr indent="0" marL="0">
                        <a:buNone/>
                      </a:pPr>
                      <a:r>
                        <a:rPr lang="en-US" sz="1100" b="1" dirty="0">
                          <a:solidFill>
                            <a:srgbClr val="FFFFFF"/>
                          </a:solidFill>
                        </a:rPr>
                        <a:t>Scenario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ROA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ROE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Risk Assessment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Conservative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Low financial risk. Buffer against downturns.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Moderate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Moderate. ROE boosted but requires consistent ROA.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High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 risk. Any ROA decline rapidly erodes equity value.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Leverage hurts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5.0x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If ROA falls to 4%: ROE = 20% on paper but interest coverage may be &lt; 1x.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Leverage destroys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Negative ROA amplified to larger negative ROE. Insolvency risk.</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
        <p:nvSpPr>
          <p:cNvPr id="12" name="Text 9"/>
          <p:cNvSpPr/>
          <p:nvPr/>
        </p:nvSpPr>
        <p:spPr>
          <a:xfrm>
            <a:off x="320040" y="4572000"/>
            <a:ext cx="8503920" cy="320040"/>
          </a:xfrm>
          <a:prstGeom prst="rect">
            <a:avLst/>
          </a:prstGeom>
          <a:noFill/>
          <a:ln/>
        </p:spPr>
        <p:txBody>
          <a:bodyPr wrap="square" lIns="0" tIns="0" rIns="0" bIns="0" rtlCol="0" anchor="ctr"/>
          <a:lstStyle/>
          <a:p>
            <a:pPr indent="0" marL="0">
              <a:buNone/>
            </a:pPr>
            <a:r>
              <a:rPr lang="en-US" sz="1250" i="1" dirty="0">
                <a:solidFill>
                  <a:srgbClr val="6B7A8D"/>
                </a:solidFill>
                <a:latin typeface="Calibri" pitchFamily="34" charset="0"/>
                <a:ea typeface="Calibri" pitchFamily="34" charset="-122"/>
                <a:cs typeface="Calibri" pitchFamily="34" charset="-120"/>
              </a:rPr>
              <a:t>Banks routinely operate at leverage ratios of 10–12x (ROA ≈ 1–2%, ROE ≈ 10–20%). One reason banks need strict regulation and capital requirements.</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Comparing Companies with DuPont — Strategic Archetypes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Different business models achieve the same ROE through completely different combinations of margin, turnover and leverage. DuPont reveals the strategic model.</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1828800"/>
                <a:gridCol w="1645920"/>
                <a:gridCol w="1645920"/>
                <a:gridCol w="1371600"/>
                <a:gridCol w="1097280"/>
                <a:gridCol w="1828800"/>
              </a:tblGrid>
              <a:tr h="0">
                <a:tc>
                  <a:txBody>
                    <a:bodyPr/>
                    <a:lstStyle/>
                    <a:p>
                      <a:pPr indent="0" marL="0">
                        <a:buNone/>
                      </a:pPr>
                      <a:r>
                        <a:rPr lang="en-US" sz="1100" b="1" dirty="0">
                          <a:solidFill>
                            <a:srgbClr val="FFFFFF"/>
                          </a:solidFill>
                        </a:rPr>
                        <a:t>Business Type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Net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Asset Turnover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ROE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Example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Luxury brand / Pharma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25–40%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0.5–1.0x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1.5–2.0x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19–80%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LVMH, Roche. High margin, low volume.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Grocery / Mass retail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2.5–4.0x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2.5–3.5x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7–42%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Walmart, Tesco. Thin margins, massive volume.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SaaS / Technology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20–35%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0.7–1.2x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1.2–1.8x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17–75%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Microsoft, Salesforce. Margins expand as scale grows.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Utility / Infrastructure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8–15%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0.3–0.5x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3.0–5.0x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7–38%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National Grid. Regulated assets, high leverage permitted.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Investment bank</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5–10%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0.03–0.05x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10–15x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5–75%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JPMorgan. Ultra-thin margin on huge asset base. High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4279392"/>
            <a:ext cx="8503920" cy="795528"/>
          </a:xfrm>
          <a:prstGeom prst="rect">
            <a:avLst/>
          </a:prstGeom>
          <a:solidFill>
            <a:srgbClr val="FEF0E7"/>
          </a:solidFill>
          <a:ln w="12700">
            <a:solidFill>
              <a:srgbClr val="E8600A"/>
            </a:solidFill>
            <a:prstDash val="solid"/>
          </a:ln>
        </p:spPr>
      </p:sp>
      <p:sp>
        <p:nvSpPr>
          <p:cNvPr id="11" name="Text 8"/>
          <p:cNvSpPr/>
          <p:nvPr/>
        </p:nvSpPr>
        <p:spPr>
          <a:xfrm>
            <a:off x="457200" y="4352544"/>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Key insight for analysts</a:t>
            </a:r>
            <a:endParaRPr lang="en-US" sz="1100" dirty="0"/>
          </a:p>
        </p:txBody>
      </p:sp>
      <p:sp>
        <p:nvSpPr>
          <p:cNvPr id="12" name="Text 9"/>
          <p:cNvSpPr/>
          <p:nvPr/>
        </p:nvSpPr>
        <p:spPr>
          <a:xfrm>
            <a:off x="457200" y="4663440"/>
            <a:ext cx="8229600" cy="3200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When comparing two companies’ ROE, always decompose. A retailer’s ROE may come from extraordinary asset turns; a pharma’s from extraordinary margins. Both may be 15% ROE but for very different structural reasons. DuPont tells you WHICH driver to stress-test.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53A5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w="12700">
            <a:solidFill>
              <a:srgbClr val="E8600A"/>
            </a:solidFill>
            <a:prstDash val="solid"/>
          </a:ln>
        </p:spPr>
      </p:sp>
      <p:sp>
        <p:nvSpPr>
          <p:cNvPr id="3" name="Shape 1"/>
          <p:cNvSpPr/>
          <p:nvPr/>
        </p:nvSpPr>
        <p:spPr>
          <a:xfrm>
            <a:off x="0" y="4914900"/>
            <a:ext cx="9144000" cy="228600"/>
          </a:xfrm>
          <a:prstGeom prst="rect">
            <a:avLst/>
          </a:prstGeom>
          <a:solidFill>
            <a:srgbClr val="E8600A"/>
          </a:solidFill>
          <a:ln w="12700">
            <a:solidFill>
              <a:srgbClr val="E8600A"/>
            </a:solidFill>
            <a:prstDash val="solid"/>
          </a:ln>
        </p:spPr>
      </p:sp>
      <p:sp>
        <p:nvSpPr>
          <p:cNvPr id="4" name="Text 2"/>
          <p:cNvSpPr/>
          <p:nvPr/>
        </p:nvSpPr>
        <p:spPr>
          <a:xfrm>
            <a:off x="457200" y="228600"/>
            <a:ext cx="8229600" cy="384048"/>
          </a:xfrm>
          <a:prstGeom prst="rect">
            <a:avLst/>
          </a:prstGeom>
          <a:noFill/>
          <a:ln/>
        </p:spPr>
        <p:txBody>
          <a:bodyPr wrap="square" lIns="0" tIns="0" rIns="0" bIns="0" rtlCol="0" anchor="ctr"/>
          <a:lstStyle/>
          <a:p>
            <a:pPr indent="0" marL="0">
              <a:buNone/>
            </a:pPr>
            <a:r>
              <a:rPr lang="en-US" sz="1200" b="1" spc="400" kern="0" dirty="0">
                <a:solidFill>
                  <a:srgbClr val="E8600A"/>
                </a:solidFill>
                <a:latin typeface="Trebuchet MS" pitchFamily="34" charset="0"/>
                <a:ea typeface="Trebuchet MS" pitchFamily="34" charset="-122"/>
                <a:cs typeface="Trebuchet MS" pitchFamily="34" charset="-120"/>
              </a:rPr>
              <a:t>PRACTICE PROBLEMS</a:t>
            </a:r>
            <a:endParaRPr lang="en-US" sz="1200" dirty="0"/>
          </a:p>
        </p:txBody>
      </p:sp>
      <p:sp>
        <p:nvSpPr>
          <p:cNvPr id="5" name="Text 3"/>
          <p:cNvSpPr/>
          <p:nvPr/>
        </p:nvSpPr>
        <p:spPr>
          <a:xfrm>
            <a:off x="457200" y="621792"/>
            <a:ext cx="8229600" cy="292608"/>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Work through each before checking answers.</a:t>
            </a:r>
            <a:endParaRPr lang="en-US" sz="1200" dirty="0"/>
          </a:p>
        </p:txBody>
      </p:sp>
      <p:sp>
        <p:nvSpPr>
          <p:cNvPr id="6" name="Shape 4"/>
          <p:cNvSpPr/>
          <p:nvPr/>
        </p:nvSpPr>
        <p:spPr>
          <a:xfrm>
            <a:off x="457200" y="987552"/>
            <a:ext cx="8321040" cy="694944"/>
          </a:xfrm>
          <a:prstGeom prst="rect">
            <a:avLst/>
          </a:prstGeom>
          <a:solidFill>
            <a:srgbClr val="1B2A4A"/>
          </a:solidFill>
          <a:ln w="12700">
            <a:solidFill>
              <a:srgbClr val="1B2A4A"/>
            </a:solidFill>
            <a:prstDash val="solid"/>
          </a:ln>
        </p:spPr>
      </p:sp>
      <p:sp>
        <p:nvSpPr>
          <p:cNvPr id="7" name="Shape 5"/>
          <p:cNvSpPr/>
          <p:nvPr/>
        </p:nvSpPr>
        <p:spPr>
          <a:xfrm>
            <a:off x="457200" y="987552"/>
            <a:ext cx="594360" cy="694944"/>
          </a:xfrm>
          <a:prstGeom prst="rect">
            <a:avLst/>
          </a:prstGeom>
          <a:solidFill>
            <a:srgbClr val="E8600A"/>
          </a:solidFill>
          <a:ln w="12700">
            <a:solidFill>
              <a:srgbClr val="E8600A"/>
            </a:solidFill>
            <a:prstDash val="solid"/>
          </a:ln>
        </p:spPr>
      </p:sp>
      <p:sp>
        <p:nvSpPr>
          <p:cNvPr id="8" name="Text 6"/>
          <p:cNvSpPr/>
          <p:nvPr/>
        </p:nvSpPr>
        <p:spPr>
          <a:xfrm>
            <a:off x="457200" y="987552"/>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Q1</a:t>
            </a:r>
            <a:endParaRPr lang="en-US" sz="1400" dirty="0"/>
          </a:p>
        </p:txBody>
      </p:sp>
      <p:sp>
        <p:nvSpPr>
          <p:cNvPr id="9" name="Text 7"/>
          <p:cNvSpPr/>
          <p:nvPr/>
        </p:nvSpPr>
        <p:spPr>
          <a:xfrm>
            <a:off x="1152144" y="1051560"/>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Acme Corporation (CFA LM4): Net income=2,210. D&amp;A=+1,052. Gain on equip=205. AR increase=55. Inventory increase=707. Prepaid decrease=23. AP increase=263. Wages payable increase=10. Interest payable decrease=12. Tax payable increase=5. Other accruals=22. Calculate CFO.</a:t>
            </a:r>
            <a:endParaRPr lang="en-US" sz="1150" dirty="0"/>
          </a:p>
        </p:txBody>
      </p:sp>
      <p:sp>
        <p:nvSpPr>
          <p:cNvPr id="10" name="Shape 8"/>
          <p:cNvSpPr/>
          <p:nvPr/>
        </p:nvSpPr>
        <p:spPr>
          <a:xfrm>
            <a:off x="457200" y="1783080"/>
            <a:ext cx="8321040" cy="694944"/>
          </a:xfrm>
          <a:prstGeom prst="rect">
            <a:avLst/>
          </a:prstGeom>
          <a:solidFill>
            <a:srgbClr val="1B2A4A"/>
          </a:solidFill>
          <a:ln w="12700">
            <a:solidFill>
              <a:srgbClr val="1B2A4A"/>
            </a:solidFill>
            <a:prstDash val="solid"/>
          </a:ln>
        </p:spPr>
      </p:sp>
      <p:sp>
        <p:nvSpPr>
          <p:cNvPr id="11" name="Shape 9"/>
          <p:cNvSpPr/>
          <p:nvPr/>
        </p:nvSpPr>
        <p:spPr>
          <a:xfrm>
            <a:off x="457200" y="1783080"/>
            <a:ext cx="594360" cy="694944"/>
          </a:xfrm>
          <a:prstGeom prst="rect">
            <a:avLst/>
          </a:prstGeom>
          <a:solidFill>
            <a:srgbClr val="E8600A"/>
          </a:solidFill>
          <a:ln w="12700">
            <a:solidFill>
              <a:srgbClr val="E8600A"/>
            </a:solidFill>
            <a:prstDash val="solid"/>
          </a:ln>
        </p:spPr>
      </p:sp>
      <p:sp>
        <p:nvSpPr>
          <p:cNvPr id="12" name="Text 10"/>
          <p:cNvSpPr/>
          <p:nvPr/>
        </p:nvSpPr>
        <p:spPr>
          <a:xfrm>
            <a:off x="457200" y="1783080"/>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Q2</a:t>
            </a:r>
            <a:endParaRPr lang="en-US" sz="1400" dirty="0"/>
          </a:p>
        </p:txBody>
      </p:sp>
      <p:sp>
        <p:nvSpPr>
          <p:cNvPr id="13" name="Text 11"/>
          <p:cNvSpPr/>
          <p:nvPr/>
        </p:nvSpPr>
        <p:spPr>
          <a:xfrm>
            <a:off x="1152144" y="1847088"/>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CFA LM4 Example 5 (Blue Bayou): Revenue=USD50m. AR decreased by USD12m. How much cash was received from customers? Explain the logic.</a:t>
            </a:r>
            <a:endParaRPr lang="en-US" sz="1150" dirty="0"/>
          </a:p>
        </p:txBody>
      </p:sp>
      <p:sp>
        <p:nvSpPr>
          <p:cNvPr id="14" name="Shape 12"/>
          <p:cNvSpPr/>
          <p:nvPr/>
        </p:nvSpPr>
        <p:spPr>
          <a:xfrm>
            <a:off x="457200" y="2578608"/>
            <a:ext cx="8321040" cy="694944"/>
          </a:xfrm>
          <a:prstGeom prst="rect">
            <a:avLst/>
          </a:prstGeom>
          <a:solidFill>
            <a:srgbClr val="1B2A4A"/>
          </a:solidFill>
          <a:ln w="12700">
            <a:solidFill>
              <a:srgbClr val="1B2A4A"/>
            </a:solidFill>
            <a:prstDash val="solid"/>
          </a:ln>
        </p:spPr>
      </p:sp>
      <p:sp>
        <p:nvSpPr>
          <p:cNvPr id="15" name="Shape 13"/>
          <p:cNvSpPr/>
          <p:nvPr/>
        </p:nvSpPr>
        <p:spPr>
          <a:xfrm>
            <a:off x="457200" y="2578608"/>
            <a:ext cx="594360" cy="694944"/>
          </a:xfrm>
          <a:prstGeom prst="rect">
            <a:avLst/>
          </a:prstGeom>
          <a:solidFill>
            <a:srgbClr val="E8600A"/>
          </a:solidFill>
          <a:ln w="12700">
            <a:solidFill>
              <a:srgbClr val="E8600A"/>
            </a:solidFill>
            <a:prstDash val="solid"/>
          </a:ln>
        </p:spPr>
      </p:sp>
      <p:sp>
        <p:nvSpPr>
          <p:cNvPr id="16" name="Text 14"/>
          <p:cNvSpPr/>
          <p:nvPr/>
        </p:nvSpPr>
        <p:spPr>
          <a:xfrm>
            <a:off x="457200" y="2578608"/>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Q3</a:t>
            </a:r>
            <a:endParaRPr lang="en-US" sz="1400" dirty="0"/>
          </a:p>
        </p:txBody>
      </p:sp>
      <p:sp>
        <p:nvSpPr>
          <p:cNvPr id="17" name="Text 15"/>
          <p:cNvSpPr/>
          <p:nvPr/>
        </p:nvSpPr>
        <p:spPr>
          <a:xfrm>
            <a:off x="1152144" y="2642616"/>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Inditex (CFA Vol 3 LM4): DSO=11 days, DIO=93 days, DPO=190 days. Calculate the CCC. What does the result mean for Inditex’s financing needs?</a:t>
            </a:r>
            <a:endParaRPr lang="en-US" sz="1150" dirty="0"/>
          </a:p>
        </p:txBody>
      </p:sp>
      <p:sp>
        <p:nvSpPr>
          <p:cNvPr id="18" name="Shape 16"/>
          <p:cNvSpPr/>
          <p:nvPr/>
        </p:nvSpPr>
        <p:spPr>
          <a:xfrm>
            <a:off x="457200" y="3374136"/>
            <a:ext cx="8321040" cy="694944"/>
          </a:xfrm>
          <a:prstGeom prst="rect">
            <a:avLst/>
          </a:prstGeom>
          <a:solidFill>
            <a:srgbClr val="1B2A4A"/>
          </a:solidFill>
          <a:ln w="12700">
            <a:solidFill>
              <a:srgbClr val="1B2A4A"/>
            </a:solidFill>
            <a:prstDash val="solid"/>
          </a:ln>
        </p:spPr>
      </p:sp>
      <p:sp>
        <p:nvSpPr>
          <p:cNvPr id="19" name="Shape 17"/>
          <p:cNvSpPr/>
          <p:nvPr/>
        </p:nvSpPr>
        <p:spPr>
          <a:xfrm>
            <a:off x="457200" y="3374136"/>
            <a:ext cx="594360" cy="694944"/>
          </a:xfrm>
          <a:prstGeom prst="rect">
            <a:avLst/>
          </a:prstGeom>
          <a:solidFill>
            <a:srgbClr val="E8600A"/>
          </a:solidFill>
          <a:ln w="12700">
            <a:solidFill>
              <a:srgbClr val="E8600A"/>
            </a:solidFill>
            <a:prstDash val="solid"/>
          </a:ln>
        </p:spPr>
      </p:sp>
      <p:sp>
        <p:nvSpPr>
          <p:cNvPr id="20" name="Text 18"/>
          <p:cNvSpPr/>
          <p:nvPr/>
        </p:nvSpPr>
        <p:spPr>
          <a:xfrm>
            <a:off x="457200" y="3374136"/>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Q4</a:t>
            </a:r>
            <a:endParaRPr lang="en-US" sz="1400" dirty="0"/>
          </a:p>
        </p:txBody>
      </p:sp>
      <p:sp>
        <p:nvSpPr>
          <p:cNvPr id="21" name="Text 19"/>
          <p:cNvSpPr/>
          <p:nvPr/>
        </p:nvSpPr>
        <p:spPr>
          <a:xfrm>
            <a:off x="1152144" y="3438144"/>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Anson Industries DuPont (CFA LM12): FY5 net margin=3.33%, asset turnover=1.11x, leverage=1.60x. (a) Calculate ROA. (b) Calculate ROE. (c) What drove the improvement from FY2 (ROE=−0.62%)?</a:t>
            </a:r>
            <a:endParaRPr lang="en-US" sz="1150" dirty="0"/>
          </a:p>
        </p:txBody>
      </p:sp>
      <p:sp>
        <p:nvSpPr>
          <p:cNvPr id="22" name="Shape 20"/>
          <p:cNvSpPr/>
          <p:nvPr/>
        </p:nvSpPr>
        <p:spPr>
          <a:xfrm>
            <a:off x="457200" y="4169664"/>
            <a:ext cx="8321040" cy="694944"/>
          </a:xfrm>
          <a:prstGeom prst="rect">
            <a:avLst/>
          </a:prstGeom>
          <a:solidFill>
            <a:srgbClr val="1B2A4A"/>
          </a:solidFill>
          <a:ln w="12700">
            <a:solidFill>
              <a:srgbClr val="1B2A4A"/>
            </a:solidFill>
            <a:prstDash val="solid"/>
          </a:ln>
        </p:spPr>
      </p:sp>
      <p:sp>
        <p:nvSpPr>
          <p:cNvPr id="23" name="Shape 21"/>
          <p:cNvSpPr/>
          <p:nvPr/>
        </p:nvSpPr>
        <p:spPr>
          <a:xfrm>
            <a:off x="457200" y="4169664"/>
            <a:ext cx="594360" cy="694944"/>
          </a:xfrm>
          <a:prstGeom prst="rect">
            <a:avLst/>
          </a:prstGeom>
          <a:solidFill>
            <a:srgbClr val="E8600A"/>
          </a:solidFill>
          <a:ln w="12700">
            <a:solidFill>
              <a:srgbClr val="E8600A"/>
            </a:solidFill>
            <a:prstDash val="solid"/>
          </a:ln>
        </p:spPr>
      </p:sp>
      <p:sp>
        <p:nvSpPr>
          <p:cNvPr id="24" name="Text 22"/>
          <p:cNvSpPr/>
          <p:nvPr/>
        </p:nvSpPr>
        <p:spPr>
          <a:xfrm>
            <a:off x="457200" y="4169664"/>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Q5</a:t>
            </a:r>
            <a:endParaRPr lang="en-US" sz="1400" dirty="0"/>
          </a:p>
        </p:txBody>
      </p:sp>
      <p:sp>
        <p:nvSpPr>
          <p:cNvPr id="25" name="Text 23"/>
          <p:cNvSpPr/>
          <p:nvPr/>
        </p:nvSpPr>
        <p:spPr>
          <a:xfrm>
            <a:off x="1152144" y="4233672"/>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company has: Net income=USD800k, Revenue=USD10m, Total Assets=USD8m (avg), Total Equity=USD3.2m (avg). Calculate the 3-factor DuPont and verify ROE.</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Practice — Worked Solutions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731520"/>
          </a:xfrm>
          <a:prstGeom prst="rect">
            <a:avLst/>
          </a:prstGeom>
          <a:solidFill>
            <a:srgbClr val="E8F5E9"/>
          </a:solidFill>
          <a:ln w="12700">
            <a:solidFill>
              <a:srgbClr val="E8ECF0"/>
            </a:solidFill>
            <a:prstDash val="solid"/>
          </a:ln>
        </p:spPr>
      </p:sp>
      <p:sp>
        <p:nvSpPr>
          <p:cNvPr id="9" name="Shape 7"/>
          <p:cNvSpPr/>
          <p:nvPr/>
        </p:nvSpPr>
        <p:spPr>
          <a:xfrm>
            <a:off x="320040" y="777240"/>
            <a:ext cx="594360" cy="731520"/>
          </a:xfrm>
          <a:prstGeom prst="rect">
            <a:avLst/>
          </a:prstGeom>
          <a:solidFill>
            <a:srgbClr val="1A6B3C"/>
          </a:solidFill>
          <a:ln w="12700">
            <a:solidFill>
              <a:srgbClr val="1A6B3C"/>
            </a:solidFill>
            <a:prstDash val="solid"/>
          </a:ln>
        </p:spPr>
      </p:sp>
      <p:sp>
        <p:nvSpPr>
          <p:cNvPr id="10" name="Text 8"/>
          <p:cNvSpPr/>
          <p:nvPr/>
        </p:nvSpPr>
        <p:spPr>
          <a:xfrm>
            <a:off x="320040" y="777240"/>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A1</a:t>
            </a:r>
            <a:endParaRPr lang="en-US" sz="1400" dirty="0"/>
          </a:p>
        </p:txBody>
      </p:sp>
      <p:sp>
        <p:nvSpPr>
          <p:cNvPr id="11" name="Text 9"/>
          <p:cNvSpPr/>
          <p:nvPr/>
        </p:nvSpPr>
        <p:spPr>
          <a:xfrm>
            <a:off x="1005840" y="777240"/>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CFO = 2,210 + 1,052 − 205 − 55 − 707 + 23 + 263 + 10 − 12 + 5 + 22 = 2,210+1,052=3,262 −205=3,057 −55=3,002 −707=2,295 +23=2,318 +263=2,581 +10=2,591 −12=2,579 +5=2,584 +22=2,606. CFO = USD 2,606. CFA answer confirmed.</a:t>
            </a:r>
            <a:endParaRPr lang="en-US" sz="1150" dirty="0"/>
          </a:p>
        </p:txBody>
      </p:sp>
      <p:sp>
        <p:nvSpPr>
          <p:cNvPr id="12" name="Shape 10"/>
          <p:cNvSpPr/>
          <p:nvPr/>
        </p:nvSpPr>
        <p:spPr>
          <a:xfrm>
            <a:off x="320040" y="1618488"/>
            <a:ext cx="8503920" cy="731520"/>
          </a:xfrm>
          <a:prstGeom prst="rect">
            <a:avLst/>
          </a:prstGeom>
          <a:solidFill>
            <a:srgbClr val="FFFFFF"/>
          </a:solidFill>
          <a:ln w="12700">
            <a:solidFill>
              <a:srgbClr val="E8ECF0"/>
            </a:solidFill>
            <a:prstDash val="solid"/>
          </a:ln>
        </p:spPr>
      </p:sp>
      <p:sp>
        <p:nvSpPr>
          <p:cNvPr id="13" name="Shape 11"/>
          <p:cNvSpPr/>
          <p:nvPr/>
        </p:nvSpPr>
        <p:spPr>
          <a:xfrm>
            <a:off x="320040" y="1618488"/>
            <a:ext cx="594360" cy="731520"/>
          </a:xfrm>
          <a:prstGeom prst="rect">
            <a:avLst/>
          </a:prstGeom>
          <a:solidFill>
            <a:srgbClr val="1A6B3C"/>
          </a:solidFill>
          <a:ln w="12700">
            <a:solidFill>
              <a:srgbClr val="1A6B3C"/>
            </a:solidFill>
            <a:prstDash val="solid"/>
          </a:ln>
        </p:spPr>
      </p:sp>
      <p:sp>
        <p:nvSpPr>
          <p:cNvPr id="14" name="Text 12"/>
          <p:cNvSpPr/>
          <p:nvPr/>
        </p:nvSpPr>
        <p:spPr>
          <a:xfrm>
            <a:off x="320040" y="1618488"/>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A2</a:t>
            </a:r>
            <a:endParaRPr lang="en-US" sz="1400" dirty="0"/>
          </a:p>
        </p:txBody>
      </p:sp>
      <p:sp>
        <p:nvSpPr>
          <p:cNvPr id="15" name="Text 13"/>
          <p:cNvSpPr/>
          <p:nvPr/>
        </p:nvSpPr>
        <p:spPr>
          <a:xfrm>
            <a:off x="1005840" y="1618488"/>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Cash received from customers = Revenue + Decrease in AR = 50 + 12 = USD 62m (CFA answer C). Logic: AR fell by 12m because old credit sales were collected in cash. The company collected MORE cash than it recognised as revenue. General rule: decrease in AR is a positive adjustment to revenue to get cash.</a:t>
            </a:r>
            <a:endParaRPr lang="en-US" sz="1150" dirty="0"/>
          </a:p>
        </p:txBody>
      </p:sp>
      <p:sp>
        <p:nvSpPr>
          <p:cNvPr id="16" name="Shape 14"/>
          <p:cNvSpPr/>
          <p:nvPr/>
        </p:nvSpPr>
        <p:spPr>
          <a:xfrm>
            <a:off x="320040" y="2459736"/>
            <a:ext cx="8503920" cy="731520"/>
          </a:xfrm>
          <a:prstGeom prst="rect">
            <a:avLst/>
          </a:prstGeom>
          <a:solidFill>
            <a:srgbClr val="E8F5E9"/>
          </a:solidFill>
          <a:ln w="12700">
            <a:solidFill>
              <a:srgbClr val="E8ECF0"/>
            </a:solidFill>
            <a:prstDash val="solid"/>
          </a:ln>
        </p:spPr>
      </p:sp>
      <p:sp>
        <p:nvSpPr>
          <p:cNvPr id="17" name="Shape 15"/>
          <p:cNvSpPr/>
          <p:nvPr/>
        </p:nvSpPr>
        <p:spPr>
          <a:xfrm>
            <a:off x="320040" y="2459736"/>
            <a:ext cx="594360" cy="731520"/>
          </a:xfrm>
          <a:prstGeom prst="rect">
            <a:avLst/>
          </a:prstGeom>
          <a:solidFill>
            <a:srgbClr val="1A6B3C"/>
          </a:solidFill>
          <a:ln w="12700">
            <a:solidFill>
              <a:srgbClr val="1A6B3C"/>
            </a:solidFill>
            <a:prstDash val="solid"/>
          </a:ln>
        </p:spPr>
      </p:sp>
      <p:sp>
        <p:nvSpPr>
          <p:cNvPr id="18" name="Text 16"/>
          <p:cNvSpPr/>
          <p:nvPr/>
        </p:nvSpPr>
        <p:spPr>
          <a:xfrm>
            <a:off x="320040" y="2459736"/>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A3</a:t>
            </a:r>
            <a:endParaRPr lang="en-US" sz="1400" dirty="0"/>
          </a:p>
        </p:txBody>
      </p:sp>
      <p:sp>
        <p:nvSpPr>
          <p:cNvPr id="19" name="Text 17"/>
          <p:cNvSpPr/>
          <p:nvPr/>
        </p:nvSpPr>
        <p:spPr>
          <a:xfrm>
            <a:off x="1005840" y="2459736"/>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CCC = DSO + DIO − DPO = 11 + 93 − 190 = −86 days. Meaning: Inditex collects cash from customers 86 days BEFORE it pays its suppliers. The suppliers finance operations. Each incremental USD of revenue generates cash without requiring additional working capital financing. This is a powerful competitive advantage — allows growth to be self-funding.</a:t>
            </a:r>
            <a:endParaRPr lang="en-US" sz="1150" dirty="0"/>
          </a:p>
        </p:txBody>
      </p:sp>
      <p:sp>
        <p:nvSpPr>
          <p:cNvPr id="20" name="Shape 18"/>
          <p:cNvSpPr/>
          <p:nvPr/>
        </p:nvSpPr>
        <p:spPr>
          <a:xfrm>
            <a:off x="320040" y="3300984"/>
            <a:ext cx="8503920" cy="731520"/>
          </a:xfrm>
          <a:prstGeom prst="rect">
            <a:avLst/>
          </a:prstGeom>
          <a:solidFill>
            <a:srgbClr val="FFFFFF"/>
          </a:solidFill>
          <a:ln w="12700">
            <a:solidFill>
              <a:srgbClr val="E8ECF0"/>
            </a:solidFill>
            <a:prstDash val="solid"/>
          </a:ln>
        </p:spPr>
      </p:sp>
      <p:sp>
        <p:nvSpPr>
          <p:cNvPr id="21" name="Shape 19"/>
          <p:cNvSpPr/>
          <p:nvPr/>
        </p:nvSpPr>
        <p:spPr>
          <a:xfrm>
            <a:off x="320040" y="3300984"/>
            <a:ext cx="594360" cy="731520"/>
          </a:xfrm>
          <a:prstGeom prst="rect">
            <a:avLst/>
          </a:prstGeom>
          <a:solidFill>
            <a:srgbClr val="1A6B3C"/>
          </a:solidFill>
          <a:ln w="12700">
            <a:solidFill>
              <a:srgbClr val="1A6B3C"/>
            </a:solidFill>
            <a:prstDash val="solid"/>
          </a:ln>
        </p:spPr>
      </p:sp>
      <p:sp>
        <p:nvSpPr>
          <p:cNvPr id="22" name="Text 20"/>
          <p:cNvSpPr/>
          <p:nvPr/>
        </p:nvSpPr>
        <p:spPr>
          <a:xfrm>
            <a:off x="320040" y="3300984"/>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A4</a:t>
            </a:r>
            <a:endParaRPr lang="en-US" sz="1400" dirty="0"/>
          </a:p>
        </p:txBody>
      </p:sp>
      <p:sp>
        <p:nvSpPr>
          <p:cNvPr id="23" name="Text 21"/>
          <p:cNvSpPr/>
          <p:nvPr/>
        </p:nvSpPr>
        <p:spPr>
          <a:xfrm>
            <a:off x="1005840" y="3300984"/>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 ROA = Net margin × Asset turnover = 3.33% × 1.11 = 3.70% (CFA Exhibit 32 confirmed). (b) ROE = ROA × Leverage = 3.70% × 1.60 = 5.92% (CFA confirmed). (c) Leverage was stable at ~1.60x throughout. Improvement driven by: margin recovery from −0.47% to 3.33% AND efficiency improvement from 0.84x to 1.11x asset turnover. High quality recovery.</a:t>
            </a:r>
            <a:endParaRPr lang="en-US" sz="1150" dirty="0"/>
          </a:p>
        </p:txBody>
      </p:sp>
      <p:sp>
        <p:nvSpPr>
          <p:cNvPr id="24" name="Shape 22"/>
          <p:cNvSpPr/>
          <p:nvPr/>
        </p:nvSpPr>
        <p:spPr>
          <a:xfrm>
            <a:off x="320040" y="4142232"/>
            <a:ext cx="8503920" cy="731520"/>
          </a:xfrm>
          <a:prstGeom prst="rect">
            <a:avLst/>
          </a:prstGeom>
          <a:solidFill>
            <a:srgbClr val="E8F5E9"/>
          </a:solidFill>
          <a:ln w="12700">
            <a:solidFill>
              <a:srgbClr val="E8ECF0"/>
            </a:solidFill>
            <a:prstDash val="solid"/>
          </a:ln>
        </p:spPr>
      </p:sp>
      <p:sp>
        <p:nvSpPr>
          <p:cNvPr id="25" name="Shape 23"/>
          <p:cNvSpPr/>
          <p:nvPr/>
        </p:nvSpPr>
        <p:spPr>
          <a:xfrm>
            <a:off x="320040" y="4142232"/>
            <a:ext cx="594360" cy="731520"/>
          </a:xfrm>
          <a:prstGeom prst="rect">
            <a:avLst/>
          </a:prstGeom>
          <a:solidFill>
            <a:srgbClr val="1A6B3C"/>
          </a:solidFill>
          <a:ln w="12700">
            <a:solidFill>
              <a:srgbClr val="1A6B3C"/>
            </a:solidFill>
            <a:prstDash val="solid"/>
          </a:ln>
        </p:spPr>
      </p:sp>
      <p:sp>
        <p:nvSpPr>
          <p:cNvPr id="26" name="Text 24"/>
          <p:cNvSpPr/>
          <p:nvPr/>
        </p:nvSpPr>
        <p:spPr>
          <a:xfrm>
            <a:off x="320040" y="4142232"/>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A5</a:t>
            </a:r>
            <a:endParaRPr lang="en-US" sz="1400" dirty="0"/>
          </a:p>
        </p:txBody>
      </p:sp>
      <p:sp>
        <p:nvSpPr>
          <p:cNvPr id="27" name="Text 25"/>
          <p:cNvSpPr/>
          <p:nvPr/>
        </p:nvSpPr>
        <p:spPr>
          <a:xfrm>
            <a:off x="1005840" y="4142232"/>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Net margin = 800k/10m = 8.0%. Asset turnover = 10m/8m = 1.25x. Leverage = 8m/3.2m = 2.5x. ROE = 8.0% × 1.25 × 2.5 = 25.0%. Verify: NI/Equity = 800k/3.2m = 25.0%. ✓ Also: ROA = NI/Assets = 800k/8m = 10.0%. ROE = ROA × Leverage = 10% × 2.5 = 25.0%.</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Formula Reference Card — Session 6</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PM  •  Session 6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292608"/>
          </a:xfrm>
          <a:prstGeom prst="rect">
            <a:avLst/>
          </a:prstGeom>
          <a:noFill/>
          <a:ln/>
        </p:spPr>
        <p:txBody>
          <a:bodyPr wrap="square" lIns="0" tIns="0" rIns="0" bIns="0" rtlCol="0" anchor="ctr"/>
          <a:lstStyle/>
          <a:p>
            <a:pPr indent="0" marL="0">
              <a:buNone/>
            </a:pPr>
            <a:r>
              <a:rPr lang="en-US" sz="1250" i="1" dirty="0">
                <a:solidFill>
                  <a:srgbClr val="6B7A8D"/>
                </a:solidFill>
                <a:latin typeface="Calibri" pitchFamily="34" charset="0"/>
                <a:ea typeface="Calibri" pitchFamily="34" charset="-122"/>
                <a:cs typeface="Calibri" pitchFamily="34" charset="-120"/>
              </a:rPr>
              <a:t>Complete ratio and cash flow formulas from both FSA sessions.</a:t>
            </a:r>
            <a:endParaRPr lang="en-US" sz="1250" dirty="0"/>
          </a:p>
        </p:txBody>
      </p:sp>
      <p:sp>
        <p:nvSpPr>
          <p:cNvPr id="9" name="Shape 7"/>
          <p:cNvSpPr/>
          <p:nvPr/>
        </p:nvSpPr>
        <p:spPr>
          <a:xfrm>
            <a:off x="320040" y="1115568"/>
            <a:ext cx="8503920" cy="210312"/>
          </a:xfrm>
          <a:prstGeom prst="rect">
            <a:avLst/>
          </a:prstGeom>
          <a:solidFill>
            <a:srgbClr val="F5F7FA"/>
          </a:solidFill>
          <a:ln w="12700">
            <a:solidFill>
              <a:srgbClr val="E8ECF0"/>
            </a:solidFill>
            <a:prstDash val="solid"/>
          </a:ln>
        </p:spPr>
      </p:sp>
      <p:sp>
        <p:nvSpPr>
          <p:cNvPr id="10" name="Text 8"/>
          <p:cNvSpPr/>
          <p:nvPr/>
        </p:nvSpPr>
        <p:spPr>
          <a:xfrm>
            <a:off x="457200" y="1115568"/>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Free Cash Flow</a:t>
            </a:r>
            <a:endParaRPr lang="en-US" sz="1000" dirty="0"/>
          </a:p>
        </p:txBody>
      </p:sp>
      <p:sp>
        <p:nvSpPr>
          <p:cNvPr id="11" name="Text 9"/>
          <p:cNvSpPr/>
          <p:nvPr/>
        </p:nvSpPr>
        <p:spPr>
          <a:xfrm>
            <a:off x="2880360" y="1115568"/>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FCF = CFO − Capital Expenditures</a:t>
            </a:r>
            <a:endParaRPr lang="en-US" sz="1000" dirty="0"/>
          </a:p>
        </p:txBody>
      </p:sp>
      <p:sp>
        <p:nvSpPr>
          <p:cNvPr id="12" name="Shape 10"/>
          <p:cNvSpPr/>
          <p:nvPr/>
        </p:nvSpPr>
        <p:spPr>
          <a:xfrm>
            <a:off x="320040" y="1353312"/>
            <a:ext cx="8503920" cy="210312"/>
          </a:xfrm>
          <a:prstGeom prst="rect">
            <a:avLst/>
          </a:prstGeom>
          <a:solidFill>
            <a:srgbClr val="FFFFFF"/>
          </a:solidFill>
          <a:ln w="12700">
            <a:solidFill>
              <a:srgbClr val="E8ECF0"/>
            </a:solidFill>
            <a:prstDash val="solid"/>
          </a:ln>
        </p:spPr>
      </p:sp>
      <p:sp>
        <p:nvSpPr>
          <p:cNvPr id="13" name="Text 11"/>
          <p:cNvSpPr/>
          <p:nvPr/>
        </p:nvSpPr>
        <p:spPr>
          <a:xfrm>
            <a:off x="457200" y="1353312"/>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Cash received from customers</a:t>
            </a:r>
            <a:endParaRPr lang="en-US" sz="1000" dirty="0"/>
          </a:p>
        </p:txBody>
      </p:sp>
      <p:sp>
        <p:nvSpPr>
          <p:cNvPr id="14" name="Text 12"/>
          <p:cNvSpPr/>
          <p:nvPr/>
        </p:nvSpPr>
        <p:spPr>
          <a:xfrm>
            <a:off x="2880360" y="1353312"/>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Revenue + Decrease in AR (or minus AR increase)</a:t>
            </a:r>
            <a:endParaRPr lang="en-US" sz="1000" dirty="0"/>
          </a:p>
        </p:txBody>
      </p:sp>
      <p:sp>
        <p:nvSpPr>
          <p:cNvPr id="15" name="Shape 13"/>
          <p:cNvSpPr/>
          <p:nvPr/>
        </p:nvSpPr>
        <p:spPr>
          <a:xfrm>
            <a:off x="320040" y="1591056"/>
            <a:ext cx="8503920" cy="210312"/>
          </a:xfrm>
          <a:prstGeom prst="rect">
            <a:avLst/>
          </a:prstGeom>
          <a:solidFill>
            <a:srgbClr val="F5F7FA"/>
          </a:solidFill>
          <a:ln w="12700">
            <a:solidFill>
              <a:srgbClr val="E8ECF0"/>
            </a:solidFill>
            <a:prstDash val="solid"/>
          </a:ln>
        </p:spPr>
      </p:sp>
      <p:sp>
        <p:nvSpPr>
          <p:cNvPr id="16" name="Text 14"/>
          <p:cNvSpPr/>
          <p:nvPr/>
        </p:nvSpPr>
        <p:spPr>
          <a:xfrm>
            <a:off x="457200" y="1591056"/>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Cash paid to suppliers</a:t>
            </a:r>
            <a:endParaRPr lang="en-US" sz="1000" dirty="0"/>
          </a:p>
        </p:txBody>
      </p:sp>
      <p:sp>
        <p:nvSpPr>
          <p:cNvPr id="17" name="Text 15"/>
          <p:cNvSpPr/>
          <p:nvPr/>
        </p:nvSpPr>
        <p:spPr>
          <a:xfrm>
            <a:off x="2880360" y="1591056"/>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COGS + Inventory increase − AP increase</a:t>
            </a:r>
            <a:endParaRPr lang="en-US" sz="1000" dirty="0"/>
          </a:p>
        </p:txBody>
      </p:sp>
      <p:sp>
        <p:nvSpPr>
          <p:cNvPr id="18" name="Shape 16"/>
          <p:cNvSpPr/>
          <p:nvPr/>
        </p:nvSpPr>
        <p:spPr>
          <a:xfrm>
            <a:off x="320040" y="1828800"/>
            <a:ext cx="8503920" cy="210312"/>
          </a:xfrm>
          <a:prstGeom prst="rect">
            <a:avLst/>
          </a:prstGeom>
          <a:solidFill>
            <a:srgbClr val="FFFFFF"/>
          </a:solidFill>
          <a:ln w="12700">
            <a:solidFill>
              <a:srgbClr val="E8ECF0"/>
            </a:solidFill>
            <a:prstDash val="solid"/>
          </a:ln>
        </p:spPr>
      </p:sp>
      <p:sp>
        <p:nvSpPr>
          <p:cNvPr id="19" name="Text 17"/>
          <p:cNvSpPr/>
          <p:nvPr/>
        </p:nvSpPr>
        <p:spPr>
          <a:xfrm>
            <a:off x="457200" y="1828800"/>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Days Sales Outstanding (DSO)</a:t>
            </a:r>
            <a:endParaRPr lang="en-US" sz="1000" dirty="0"/>
          </a:p>
        </p:txBody>
      </p:sp>
      <p:sp>
        <p:nvSpPr>
          <p:cNvPr id="20" name="Text 18"/>
          <p:cNvSpPr/>
          <p:nvPr/>
        </p:nvSpPr>
        <p:spPr>
          <a:xfrm>
            <a:off x="2880360" y="1828800"/>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Average AR / (Revenue / 365)</a:t>
            </a:r>
            <a:endParaRPr lang="en-US" sz="1000" dirty="0"/>
          </a:p>
        </p:txBody>
      </p:sp>
      <p:sp>
        <p:nvSpPr>
          <p:cNvPr id="21" name="Shape 19"/>
          <p:cNvSpPr/>
          <p:nvPr/>
        </p:nvSpPr>
        <p:spPr>
          <a:xfrm>
            <a:off x="320040" y="2066544"/>
            <a:ext cx="8503920" cy="210312"/>
          </a:xfrm>
          <a:prstGeom prst="rect">
            <a:avLst/>
          </a:prstGeom>
          <a:solidFill>
            <a:srgbClr val="F5F7FA"/>
          </a:solidFill>
          <a:ln w="12700">
            <a:solidFill>
              <a:srgbClr val="E8ECF0"/>
            </a:solidFill>
            <a:prstDash val="solid"/>
          </a:ln>
        </p:spPr>
      </p:sp>
      <p:sp>
        <p:nvSpPr>
          <p:cNvPr id="22" name="Text 20"/>
          <p:cNvSpPr/>
          <p:nvPr/>
        </p:nvSpPr>
        <p:spPr>
          <a:xfrm>
            <a:off x="457200" y="2066544"/>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Days Inventory on Hand (DIO)</a:t>
            </a:r>
            <a:endParaRPr lang="en-US" sz="1000" dirty="0"/>
          </a:p>
        </p:txBody>
      </p:sp>
      <p:sp>
        <p:nvSpPr>
          <p:cNvPr id="23" name="Text 21"/>
          <p:cNvSpPr/>
          <p:nvPr/>
        </p:nvSpPr>
        <p:spPr>
          <a:xfrm>
            <a:off x="2880360" y="2066544"/>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Average Inventory / (COGS / 365)</a:t>
            </a:r>
            <a:endParaRPr lang="en-US" sz="1000" dirty="0"/>
          </a:p>
        </p:txBody>
      </p:sp>
      <p:sp>
        <p:nvSpPr>
          <p:cNvPr id="24" name="Shape 22"/>
          <p:cNvSpPr/>
          <p:nvPr/>
        </p:nvSpPr>
        <p:spPr>
          <a:xfrm>
            <a:off x="320040" y="2304288"/>
            <a:ext cx="8503920" cy="210312"/>
          </a:xfrm>
          <a:prstGeom prst="rect">
            <a:avLst/>
          </a:prstGeom>
          <a:solidFill>
            <a:srgbClr val="FFFFFF"/>
          </a:solidFill>
          <a:ln w="12700">
            <a:solidFill>
              <a:srgbClr val="E8ECF0"/>
            </a:solidFill>
            <a:prstDash val="solid"/>
          </a:ln>
        </p:spPr>
      </p:sp>
      <p:sp>
        <p:nvSpPr>
          <p:cNvPr id="25" name="Text 23"/>
          <p:cNvSpPr/>
          <p:nvPr/>
        </p:nvSpPr>
        <p:spPr>
          <a:xfrm>
            <a:off x="457200" y="2304288"/>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Days Payable Outstanding (DPO)</a:t>
            </a:r>
            <a:endParaRPr lang="en-US" sz="1000" dirty="0"/>
          </a:p>
        </p:txBody>
      </p:sp>
      <p:sp>
        <p:nvSpPr>
          <p:cNvPr id="26" name="Text 24"/>
          <p:cNvSpPr/>
          <p:nvPr/>
        </p:nvSpPr>
        <p:spPr>
          <a:xfrm>
            <a:off x="2880360" y="2304288"/>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Average AP / (COGS / 365)</a:t>
            </a:r>
            <a:endParaRPr lang="en-US" sz="1000" dirty="0"/>
          </a:p>
        </p:txBody>
      </p:sp>
      <p:sp>
        <p:nvSpPr>
          <p:cNvPr id="27" name="Shape 25"/>
          <p:cNvSpPr/>
          <p:nvPr/>
        </p:nvSpPr>
        <p:spPr>
          <a:xfrm>
            <a:off x="320040" y="2542032"/>
            <a:ext cx="8503920" cy="210312"/>
          </a:xfrm>
          <a:prstGeom prst="rect">
            <a:avLst/>
          </a:prstGeom>
          <a:solidFill>
            <a:srgbClr val="F5F7FA"/>
          </a:solidFill>
          <a:ln w="12700">
            <a:solidFill>
              <a:srgbClr val="E8ECF0"/>
            </a:solidFill>
            <a:prstDash val="solid"/>
          </a:ln>
        </p:spPr>
      </p:sp>
      <p:sp>
        <p:nvSpPr>
          <p:cNvPr id="28" name="Text 26"/>
          <p:cNvSpPr/>
          <p:nvPr/>
        </p:nvSpPr>
        <p:spPr>
          <a:xfrm>
            <a:off x="457200" y="2542032"/>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Cash Conversion Cycle</a:t>
            </a:r>
            <a:endParaRPr lang="en-US" sz="1000" dirty="0"/>
          </a:p>
        </p:txBody>
      </p:sp>
      <p:sp>
        <p:nvSpPr>
          <p:cNvPr id="29" name="Text 27"/>
          <p:cNvSpPr/>
          <p:nvPr/>
        </p:nvSpPr>
        <p:spPr>
          <a:xfrm>
            <a:off x="2880360" y="2542032"/>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CCC = DSO + DIO − DPO</a:t>
            </a:r>
            <a:endParaRPr lang="en-US" sz="1000" dirty="0"/>
          </a:p>
        </p:txBody>
      </p:sp>
      <p:sp>
        <p:nvSpPr>
          <p:cNvPr id="30" name="Shape 28"/>
          <p:cNvSpPr/>
          <p:nvPr/>
        </p:nvSpPr>
        <p:spPr>
          <a:xfrm>
            <a:off x="320040" y="2779776"/>
            <a:ext cx="8503920" cy="210312"/>
          </a:xfrm>
          <a:prstGeom prst="rect">
            <a:avLst/>
          </a:prstGeom>
          <a:solidFill>
            <a:srgbClr val="FFFFFF"/>
          </a:solidFill>
          <a:ln w="12700">
            <a:solidFill>
              <a:srgbClr val="E8ECF0"/>
            </a:solidFill>
            <a:prstDash val="solid"/>
          </a:ln>
        </p:spPr>
      </p:sp>
      <p:sp>
        <p:nvSpPr>
          <p:cNvPr id="31" name="Text 29"/>
          <p:cNvSpPr/>
          <p:nvPr/>
        </p:nvSpPr>
        <p:spPr>
          <a:xfrm>
            <a:off x="457200" y="2779776"/>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Current Ratio</a:t>
            </a:r>
            <a:endParaRPr lang="en-US" sz="1000" dirty="0"/>
          </a:p>
        </p:txBody>
      </p:sp>
      <p:sp>
        <p:nvSpPr>
          <p:cNvPr id="32" name="Text 30"/>
          <p:cNvSpPr/>
          <p:nvPr/>
        </p:nvSpPr>
        <p:spPr>
          <a:xfrm>
            <a:off x="2880360" y="2779776"/>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Current Assets / Current Liabilities</a:t>
            </a:r>
            <a:endParaRPr lang="en-US" sz="1000" dirty="0"/>
          </a:p>
        </p:txBody>
      </p:sp>
      <p:sp>
        <p:nvSpPr>
          <p:cNvPr id="33" name="Shape 31"/>
          <p:cNvSpPr/>
          <p:nvPr/>
        </p:nvSpPr>
        <p:spPr>
          <a:xfrm>
            <a:off x="320040" y="3017520"/>
            <a:ext cx="8503920" cy="210312"/>
          </a:xfrm>
          <a:prstGeom prst="rect">
            <a:avLst/>
          </a:prstGeom>
          <a:solidFill>
            <a:srgbClr val="F5F7FA"/>
          </a:solidFill>
          <a:ln w="12700">
            <a:solidFill>
              <a:srgbClr val="E8ECF0"/>
            </a:solidFill>
            <a:prstDash val="solid"/>
          </a:ln>
        </p:spPr>
      </p:sp>
      <p:sp>
        <p:nvSpPr>
          <p:cNvPr id="34" name="Text 32"/>
          <p:cNvSpPr/>
          <p:nvPr/>
        </p:nvSpPr>
        <p:spPr>
          <a:xfrm>
            <a:off x="457200" y="3017520"/>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Quick Ratio</a:t>
            </a:r>
            <a:endParaRPr lang="en-US" sz="1000" dirty="0"/>
          </a:p>
        </p:txBody>
      </p:sp>
      <p:sp>
        <p:nvSpPr>
          <p:cNvPr id="35" name="Text 33"/>
          <p:cNvSpPr/>
          <p:nvPr/>
        </p:nvSpPr>
        <p:spPr>
          <a:xfrm>
            <a:off x="2880360" y="3017520"/>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(Cash + Marketable Securities + AR) / CL</a:t>
            </a:r>
            <a:endParaRPr lang="en-US" sz="1000" dirty="0"/>
          </a:p>
        </p:txBody>
      </p:sp>
      <p:sp>
        <p:nvSpPr>
          <p:cNvPr id="36" name="Shape 34"/>
          <p:cNvSpPr/>
          <p:nvPr/>
        </p:nvSpPr>
        <p:spPr>
          <a:xfrm>
            <a:off x="320040" y="3255264"/>
            <a:ext cx="8503920" cy="210312"/>
          </a:xfrm>
          <a:prstGeom prst="rect">
            <a:avLst/>
          </a:prstGeom>
          <a:solidFill>
            <a:srgbClr val="FFFFFF"/>
          </a:solidFill>
          <a:ln w="12700">
            <a:solidFill>
              <a:srgbClr val="E8ECF0"/>
            </a:solidFill>
            <a:prstDash val="solid"/>
          </a:ln>
        </p:spPr>
      </p:sp>
      <p:sp>
        <p:nvSpPr>
          <p:cNvPr id="37" name="Text 35"/>
          <p:cNvSpPr/>
          <p:nvPr/>
        </p:nvSpPr>
        <p:spPr>
          <a:xfrm>
            <a:off x="457200" y="3255264"/>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Interest Coverage</a:t>
            </a:r>
            <a:endParaRPr lang="en-US" sz="1000" dirty="0"/>
          </a:p>
        </p:txBody>
      </p:sp>
      <p:sp>
        <p:nvSpPr>
          <p:cNvPr id="38" name="Text 36"/>
          <p:cNvSpPr/>
          <p:nvPr/>
        </p:nvSpPr>
        <p:spPr>
          <a:xfrm>
            <a:off x="2880360" y="3255264"/>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EBIT / Interest Expense</a:t>
            </a:r>
            <a:endParaRPr lang="en-US" sz="1000" dirty="0"/>
          </a:p>
        </p:txBody>
      </p:sp>
      <p:sp>
        <p:nvSpPr>
          <p:cNvPr id="39" name="Shape 37"/>
          <p:cNvSpPr/>
          <p:nvPr/>
        </p:nvSpPr>
        <p:spPr>
          <a:xfrm>
            <a:off x="320040" y="3493008"/>
            <a:ext cx="8503920" cy="210312"/>
          </a:xfrm>
          <a:prstGeom prst="rect">
            <a:avLst/>
          </a:prstGeom>
          <a:solidFill>
            <a:srgbClr val="F5F7FA"/>
          </a:solidFill>
          <a:ln w="12700">
            <a:solidFill>
              <a:srgbClr val="E8ECF0"/>
            </a:solidFill>
            <a:prstDash val="solid"/>
          </a:ln>
        </p:spPr>
      </p:sp>
      <p:sp>
        <p:nvSpPr>
          <p:cNvPr id="40" name="Text 38"/>
          <p:cNvSpPr/>
          <p:nvPr/>
        </p:nvSpPr>
        <p:spPr>
          <a:xfrm>
            <a:off x="457200" y="3493008"/>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Debt-to-Equity</a:t>
            </a:r>
            <a:endParaRPr lang="en-US" sz="1000" dirty="0"/>
          </a:p>
        </p:txBody>
      </p:sp>
      <p:sp>
        <p:nvSpPr>
          <p:cNvPr id="41" name="Text 39"/>
          <p:cNvSpPr/>
          <p:nvPr/>
        </p:nvSpPr>
        <p:spPr>
          <a:xfrm>
            <a:off x="2880360" y="3493008"/>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Total Debt / Total Equity</a:t>
            </a:r>
            <a:endParaRPr lang="en-US" sz="1000" dirty="0"/>
          </a:p>
        </p:txBody>
      </p:sp>
      <p:sp>
        <p:nvSpPr>
          <p:cNvPr id="42" name="Shape 40"/>
          <p:cNvSpPr/>
          <p:nvPr/>
        </p:nvSpPr>
        <p:spPr>
          <a:xfrm>
            <a:off x="320040" y="3730752"/>
            <a:ext cx="8503920" cy="210312"/>
          </a:xfrm>
          <a:prstGeom prst="rect">
            <a:avLst/>
          </a:prstGeom>
          <a:solidFill>
            <a:srgbClr val="FFFFFF"/>
          </a:solidFill>
          <a:ln w="12700">
            <a:solidFill>
              <a:srgbClr val="E8ECF0"/>
            </a:solidFill>
            <a:prstDash val="solid"/>
          </a:ln>
        </p:spPr>
      </p:sp>
      <p:sp>
        <p:nvSpPr>
          <p:cNvPr id="43" name="Text 41"/>
          <p:cNvSpPr/>
          <p:nvPr/>
        </p:nvSpPr>
        <p:spPr>
          <a:xfrm>
            <a:off x="457200" y="3730752"/>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ROA</a:t>
            </a:r>
            <a:endParaRPr lang="en-US" sz="1000" dirty="0"/>
          </a:p>
        </p:txBody>
      </p:sp>
      <p:sp>
        <p:nvSpPr>
          <p:cNvPr id="44" name="Text 42"/>
          <p:cNvSpPr/>
          <p:nvPr/>
        </p:nvSpPr>
        <p:spPr>
          <a:xfrm>
            <a:off x="2880360" y="3730752"/>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Net Income / Average Total Assets</a:t>
            </a:r>
            <a:endParaRPr lang="en-US" sz="1000" dirty="0"/>
          </a:p>
        </p:txBody>
      </p:sp>
      <p:sp>
        <p:nvSpPr>
          <p:cNvPr id="45" name="Shape 43"/>
          <p:cNvSpPr/>
          <p:nvPr/>
        </p:nvSpPr>
        <p:spPr>
          <a:xfrm>
            <a:off x="320040" y="3968496"/>
            <a:ext cx="8503920" cy="210312"/>
          </a:xfrm>
          <a:prstGeom prst="rect">
            <a:avLst/>
          </a:prstGeom>
          <a:solidFill>
            <a:srgbClr val="F5F7FA"/>
          </a:solidFill>
          <a:ln w="12700">
            <a:solidFill>
              <a:srgbClr val="E8ECF0"/>
            </a:solidFill>
            <a:prstDash val="solid"/>
          </a:ln>
        </p:spPr>
      </p:sp>
      <p:sp>
        <p:nvSpPr>
          <p:cNvPr id="46" name="Text 44"/>
          <p:cNvSpPr/>
          <p:nvPr/>
        </p:nvSpPr>
        <p:spPr>
          <a:xfrm>
            <a:off x="457200" y="3968496"/>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ROE</a:t>
            </a:r>
            <a:endParaRPr lang="en-US" sz="1000" dirty="0"/>
          </a:p>
        </p:txBody>
      </p:sp>
      <p:sp>
        <p:nvSpPr>
          <p:cNvPr id="47" name="Text 45"/>
          <p:cNvSpPr/>
          <p:nvPr/>
        </p:nvSpPr>
        <p:spPr>
          <a:xfrm>
            <a:off x="2880360" y="3968496"/>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Net Income / Average Shareholders’ Equity</a:t>
            </a:r>
            <a:endParaRPr lang="en-US" sz="1000" dirty="0"/>
          </a:p>
        </p:txBody>
      </p:sp>
      <p:sp>
        <p:nvSpPr>
          <p:cNvPr id="48" name="Shape 46"/>
          <p:cNvSpPr/>
          <p:nvPr/>
        </p:nvSpPr>
        <p:spPr>
          <a:xfrm>
            <a:off x="320040" y="4206240"/>
            <a:ext cx="8503920" cy="210312"/>
          </a:xfrm>
          <a:prstGeom prst="rect">
            <a:avLst/>
          </a:prstGeom>
          <a:solidFill>
            <a:srgbClr val="FFFFFF"/>
          </a:solidFill>
          <a:ln w="12700">
            <a:solidFill>
              <a:srgbClr val="E8ECF0"/>
            </a:solidFill>
            <a:prstDash val="solid"/>
          </a:ln>
        </p:spPr>
      </p:sp>
      <p:sp>
        <p:nvSpPr>
          <p:cNvPr id="49" name="Text 47"/>
          <p:cNvSpPr/>
          <p:nvPr/>
        </p:nvSpPr>
        <p:spPr>
          <a:xfrm>
            <a:off x="457200" y="4206240"/>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DuPont (3-factor)</a:t>
            </a:r>
            <a:endParaRPr lang="en-US" sz="1000" dirty="0"/>
          </a:p>
        </p:txBody>
      </p:sp>
      <p:sp>
        <p:nvSpPr>
          <p:cNvPr id="50" name="Text 48"/>
          <p:cNvSpPr/>
          <p:nvPr/>
        </p:nvSpPr>
        <p:spPr>
          <a:xfrm>
            <a:off x="2880360" y="4206240"/>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ROE = Net Margin × Asset Turnover × Financial Leverage</a:t>
            </a:r>
            <a:endParaRPr lang="en-US" sz="1000" dirty="0"/>
          </a:p>
        </p:txBody>
      </p:sp>
      <p:sp>
        <p:nvSpPr>
          <p:cNvPr id="51" name="Shape 49"/>
          <p:cNvSpPr/>
          <p:nvPr/>
        </p:nvSpPr>
        <p:spPr>
          <a:xfrm>
            <a:off x="320040" y="4443984"/>
            <a:ext cx="8503920" cy="210312"/>
          </a:xfrm>
          <a:prstGeom prst="rect">
            <a:avLst/>
          </a:prstGeom>
          <a:solidFill>
            <a:srgbClr val="F5F7FA"/>
          </a:solidFill>
          <a:ln w="12700">
            <a:solidFill>
              <a:srgbClr val="E8ECF0"/>
            </a:solidFill>
            <a:prstDash val="solid"/>
          </a:ln>
        </p:spPr>
      </p:sp>
      <p:sp>
        <p:nvSpPr>
          <p:cNvPr id="52" name="Text 50"/>
          <p:cNvSpPr/>
          <p:nvPr/>
        </p:nvSpPr>
        <p:spPr>
          <a:xfrm>
            <a:off x="457200" y="4443984"/>
            <a:ext cx="2286000" cy="210312"/>
          </a:xfrm>
          <a:prstGeom prst="rect">
            <a:avLst/>
          </a:prstGeom>
          <a:noFill/>
          <a:ln/>
        </p:spPr>
        <p:txBody>
          <a:bodyPr wrap="square" lIns="0" tIns="0" rIns="0" bIns="0" rtlCol="0" anchor="ctr"/>
          <a:lstStyle/>
          <a:p>
            <a:pPr indent="0" marL="0">
              <a:buNone/>
            </a:pPr>
            <a:r>
              <a:rPr lang="en-US" sz="1000" b="1" dirty="0">
                <a:solidFill>
                  <a:srgbClr val="1B2A4A"/>
                </a:solidFill>
                <a:latin typeface="Trebuchet MS" pitchFamily="34" charset="0"/>
                <a:ea typeface="Trebuchet MS" pitchFamily="34" charset="-122"/>
                <a:cs typeface="Trebuchet MS" pitchFamily="34" charset="-120"/>
              </a:rPr>
              <a:t>DuPont (5-factor)</a:t>
            </a:r>
            <a:endParaRPr lang="en-US" sz="1000" dirty="0"/>
          </a:p>
        </p:txBody>
      </p:sp>
      <p:sp>
        <p:nvSpPr>
          <p:cNvPr id="53" name="Text 51"/>
          <p:cNvSpPr/>
          <p:nvPr/>
        </p:nvSpPr>
        <p:spPr>
          <a:xfrm>
            <a:off x="2880360" y="4443984"/>
            <a:ext cx="5852160" cy="21031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ROE = Tax burden × Interest burden × EBIT margin × TAT × Leverage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w="12700">
            <a:solidFill>
              <a:srgbClr val="E8600A"/>
            </a:solidFill>
            <a:prstDash val="solid"/>
          </a:ln>
        </p:spPr>
      </p:sp>
      <p:sp>
        <p:nvSpPr>
          <p:cNvPr id="3" name="Shape 1"/>
          <p:cNvSpPr/>
          <p:nvPr/>
        </p:nvSpPr>
        <p:spPr>
          <a:xfrm>
            <a:off x="0" y="4914900"/>
            <a:ext cx="9144000" cy="228600"/>
          </a:xfrm>
          <a:prstGeom prst="rect">
            <a:avLst/>
          </a:prstGeom>
          <a:solidFill>
            <a:srgbClr val="E8600A"/>
          </a:solidFill>
          <a:ln w="12700">
            <a:solidFill>
              <a:srgbClr val="E8600A"/>
            </a:solidFill>
            <a:prstDash val="solid"/>
          </a:ln>
        </p:spPr>
      </p:sp>
      <p:sp>
        <p:nvSpPr>
          <p:cNvPr id="4" name="Text 2"/>
          <p:cNvSpPr/>
          <p:nvPr/>
        </p:nvSpPr>
        <p:spPr>
          <a:xfrm>
            <a:off x="457200" y="228600"/>
            <a:ext cx="8229600" cy="384048"/>
          </a:xfrm>
          <a:prstGeom prst="rect">
            <a:avLst/>
          </a:prstGeom>
          <a:noFill/>
          <a:ln/>
        </p:spPr>
        <p:txBody>
          <a:bodyPr wrap="square" lIns="0" tIns="0" rIns="0" bIns="0" rtlCol="0" anchor="ctr"/>
          <a:lstStyle/>
          <a:p>
            <a:pPr indent="0" marL="0">
              <a:buNone/>
            </a:pPr>
            <a:r>
              <a:rPr lang="en-US" sz="1100" b="1" spc="4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p:nvPr/>
        </p:nvSpPr>
        <p:spPr>
          <a:xfrm>
            <a:off x="457200" y="640080"/>
            <a:ext cx="8229600" cy="475488"/>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Session 6 — Financial Statement Analysis II</a:t>
            </a:r>
            <a:endParaRPr lang="en-US" sz="1700" dirty="0"/>
          </a:p>
        </p:txBody>
      </p:sp>
      <p:sp>
        <p:nvSpPr>
          <p:cNvPr id="6" name="Shape 4"/>
          <p:cNvSpPr/>
          <p:nvPr/>
        </p:nvSpPr>
        <p:spPr>
          <a:xfrm>
            <a:off x="457200" y="1261872"/>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7" name="Shape 5"/>
          <p:cNvSpPr/>
          <p:nvPr/>
        </p:nvSpPr>
        <p:spPr>
          <a:xfrm>
            <a:off x="603504" y="1682496"/>
            <a:ext cx="128016" cy="128016"/>
          </a:xfrm>
          <a:prstGeom prst="ellipse">
            <a:avLst/>
          </a:prstGeom>
          <a:solidFill>
            <a:srgbClr val="E8600A"/>
          </a:solidFill>
          <a:ln w="12700">
            <a:solidFill>
              <a:srgbClr val="E8600A"/>
            </a:solidFill>
            <a:prstDash val="solid"/>
          </a:ln>
        </p:spPr>
      </p:sp>
      <p:sp>
        <p:nvSpPr>
          <p:cNvPr id="8" name="Text 6"/>
          <p:cNvSpPr/>
          <p:nvPr/>
        </p:nvSpPr>
        <p:spPr>
          <a:xfrm>
            <a:off x="841248" y="1335024"/>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Acme Corporation (CFA LM4): NI=2,210 → CFO=2,606. Add D&amp;A+1,052, strip gain−205, subtract ΔWC assets, add ΔWC liabilities.</a:t>
            </a:r>
            <a:endParaRPr lang="en-US" sz="1150" dirty="0"/>
          </a:p>
        </p:txBody>
      </p:sp>
      <p:sp>
        <p:nvSpPr>
          <p:cNvPr id="9" name="Shape 7"/>
          <p:cNvSpPr/>
          <p:nvPr/>
        </p:nvSpPr>
        <p:spPr>
          <a:xfrm>
            <a:off x="4846320" y="1261872"/>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0" name="Shape 8"/>
          <p:cNvSpPr/>
          <p:nvPr/>
        </p:nvSpPr>
        <p:spPr>
          <a:xfrm>
            <a:off x="4992624" y="1682496"/>
            <a:ext cx="128016" cy="128016"/>
          </a:xfrm>
          <a:prstGeom prst="ellipse">
            <a:avLst/>
          </a:prstGeom>
          <a:solidFill>
            <a:srgbClr val="E8600A"/>
          </a:solidFill>
          <a:ln w="12700">
            <a:solidFill>
              <a:srgbClr val="E8600A"/>
            </a:solidFill>
            <a:prstDash val="solid"/>
          </a:ln>
        </p:spPr>
      </p:sp>
      <p:sp>
        <p:nvSpPr>
          <p:cNvPr id="11" name="Text 9"/>
          <p:cNvSpPr/>
          <p:nvPr/>
        </p:nvSpPr>
        <p:spPr>
          <a:xfrm>
            <a:off x="5230368" y="1335024"/>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Acme CFI=(538): sold equip+762, bought equip(1,300). CFF=(2,220): debt(500)+buyback(600)+dividends(1,120). Net cash change=(152).</a:t>
            </a:r>
            <a:endParaRPr lang="en-US" sz="1150" dirty="0"/>
          </a:p>
        </p:txBody>
      </p:sp>
      <p:sp>
        <p:nvSpPr>
          <p:cNvPr id="12" name="Shape 10"/>
          <p:cNvSpPr/>
          <p:nvPr/>
        </p:nvSpPr>
        <p:spPr>
          <a:xfrm>
            <a:off x="457200" y="2432304"/>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3" name="Shape 11"/>
          <p:cNvSpPr/>
          <p:nvPr/>
        </p:nvSpPr>
        <p:spPr>
          <a:xfrm>
            <a:off x="603504" y="2852928"/>
            <a:ext cx="128016" cy="128016"/>
          </a:xfrm>
          <a:prstGeom prst="ellipse">
            <a:avLst/>
          </a:prstGeom>
          <a:solidFill>
            <a:srgbClr val="E8600A"/>
          </a:solidFill>
          <a:ln w="12700">
            <a:solidFill>
              <a:srgbClr val="E8600A"/>
            </a:solidFill>
            <a:prstDash val="solid"/>
          </a:ln>
        </p:spPr>
      </p:sp>
      <p:sp>
        <p:nvSpPr>
          <p:cNvPr id="14" name="Text 12"/>
          <p:cNvSpPr/>
          <p:nvPr/>
        </p:nvSpPr>
        <p:spPr>
          <a:xfrm>
            <a:off x="841248" y="2505456"/>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Blue Bayou (CFA LM4): Cash from customers = Revenue + ΔAR = 50+12 = USD62m. AR decrease = more cash collected than billed.</a:t>
            </a:r>
            <a:endParaRPr lang="en-US" sz="1150" dirty="0"/>
          </a:p>
        </p:txBody>
      </p:sp>
      <p:sp>
        <p:nvSpPr>
          <p:cNvPr id="15" name="Shape 13"/>
          <p:cNvSpPr/>
          <p:nvPr/>
        </p:nvSpPr>
        <p:spPr>
          <a:xfrm>
            <a:off x="4846320" y="2432304"/>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6" name="Shape 14"/>
          <p:cNvSpPr/>
          <p:nvPr/>
        </p:nvSpPr>
        <p:spPr>
          <a:xfrm>
            <a:off x="4992624" y="2852928"/>
            <a:ext cx="128016" cy="128016"/>
          </a:xfrm>
          <a:prstGeom prst="ellipse">
            <a:avLst/>
          </a:prstGeom>
          <a:solidFill>
            <a:srgbClr val="E8600A"/>
          </a:solidFill>
          <a:ln w="12700">
            <a:solidFill>
              <a:srgbClr val="E8600A"/>
            </a:solidFill>
            <a:prstDash val="solid"/>
          </a:ln>
        </p:spPr>
      </p:sp>
      <p:sp>
        <p:nvSpPr>
          <p:cNvPr id="17" name="Text 15"/>
          <p:cNvSpPr/>
          <p:nvPr/>
        </p:nvSpPr>
        <p:spPr>
          <a:xfrm>
            <a:off x="5230368" y="2505456"/>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Inditex (CFA Vol 3 LM4): CCC = 11+93−190 = −86 days. Suppliers finance operations. Negative CCC = self-funding growth.</a:t>
            </a:r>
            <a:endParaRPr lang="en-US" sz="1150" dirty="0"/>
          </a:p>
        </p:txBody>
      </p:sp>
      <p:sp>
        <p:nvSpPr>
          <p:cNvPr id="18" name="Shape 16"/>
          <p:cNvSpPr/>
          <p:nvPr/>
        </p:nvSpPr>
        <p:spPr>
          <a:xfrm>
            <a:off x="457200" y="3602736"/>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9" name="Shape 17"/>
          <p:cNvSpPr/>
          <p:nvPr/>
        </p:nvSpPr>
        <p:spPr>
          <a:xfrm>
            <a:off x="603504" y="4023360"/>
            <a:ext cx="128016" cy="128016"/>
          </a:xfrm>
          <a:prstGeom prst="ellipse">
            <a:avLst/>
          </a:prstGeom>
          <a:solidFill>
            <a:srgbClr val="E8600A"/>
          </a:solidFill>
          <a:ln w="12700">
            <a:solidFill>
              <a:srgbClr val="E8600A"/>
            </a:solidFill>
            <a:prstDash val="solid"/>
          </a:ln>
        </p:spPr>
      </p:sp>
      <p:sp>
        <p:nvSpPr>
          <p:cNvPr id="20" name="Text 18"/>
          <p:cNvSpPr/>
          <p:nvPr/>
        </p:nvSpPr>
        <p:spPr>
          <a:xfrm>
            <a:off x="841248" y="3675888"/>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Anson (CFA LM12): ROE = 3.33% × 1.11 × 1.60 = 5.92%. Leverage stable. Improvement from both margin recovery and asset efficiency.</a:t>
            </a:r>
            <a:endParaRPr lang="en-US" sz="1150" dirty="0"/>
          </a:p>
        </p:txBody>
      </p:sp>
      <p:sp>
        <p:nvSpPr>
          <p:cNvPr id="21" name="Shape 19"/>
          <p:cNvSpPr/>
          <p:nvPr/>
        </p:nvSpPr>
        <p:spPr>
          <a:xfrm>
            <a:off x="4846320" y="3602736"/>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22" name="Shape 20"/>
          <p:cNvSpPr/>
          <p:nvPr/>
        </p:nvSpPr>
        <p:spPr>
          <a:xfrm>
            <a:off x="4992624" y="4023360"/>
            <a:ext cx="128016" cy="128016"/>
          </a:xfrm>
          <a:prstGeom prst="ellipse">
            <a:avLst/>
          </a:prstGeom>
          <a:solidFill>
            <a:srgbClr val="E8600A"/>
          </a:solidFill>
          <a:ln w="12700">
            <a:solidFill>
              <a:srgbClr val="E8600A"/>
            </a:solidFill>
            <a:prstDash val="solid"/>
          </a:ln>
        </p:spPr>
      </p:sp>
      <p:sp>
        <p:nvSpPr>
          <p:cNvPr id="23" name="Text 21"/>
          <p:cNvSpPr/>
          <p:nvPr/>
        </p:nvSpPr>
        <p:spPr>
          <a:xfrm>
            <a:off x="5230368" y="3675888"/>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Apple 5yr (CFA LM12): net margin stable 21–22%. 2015 margins peak; 2016–2017 decline despite revenue recovery.</a:t>
            </a:r>
            <a:endParaRPr lang="en-US" sz="1150" dirty="0"/>
          </a:p>
        </p:txBody>
      </p:sp>
      <p:sp>
        <p:nvSpPr>
          <p:cNvPr id="24" name="Shape 22"/>
          <p:cNvSpPr/>
          <p:nvPr/>
        </p:nvSpPr>
        <p:spPr>
          <a:xfrm>
            <a:off x="457200" y="4773168"/>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25" name="Shape 23"/>
          <p:cNvSpPr/>
          <p:nvPr/>
        </p:nvSpPr>
        <p:spPr>
          <a:xfrm>
            <a:off x="603504" y="5193792"/>
            <a:ext cx="128016" cy="128016"/>
          </a:xfrm>
          <a:prstGeom prst="ellipse">
            <a:avLst/>
          </a:prstGeom>
          <a:solidFill>
            <a:srgbClr val="E8600A"/>
          </a:solidFill>
          <a:ln w="12700">
            <a:solidFill>
              <a:srgbClr val="E8600A"/>
            </a:solidFill>
            <a:prstDash val="solid"/>
          </a:ln>
        </p:spPr>
      </p:sp>
      <p:sp>
        <p:nvSpPr>
          <p:cNvPr id="26" name="Text 24"/>
          <p:cNvSpPr/>
          <p:nvPr/>
        </p:nvSpPr>
        <p:spPr>
          <a:xfrm>
            <a:off x="841248" y="4846320"/>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DuPont separates 3 ROE drivers: margin (profitability), asset turnover (efficiency), leverage (capital structure). Different models same ROE.</a:t>
            </a:r>
            <a:endParaRPr lang="en-US" sz="1150" dirty="0"/>
          </a:p>
        </p:txBody>
      </p:sp>
      <p:sp>
        <p:nvSpPr>
          <p:cNvPr id="27" name="Shape 25"/>
          <p:cNvSpPr/>
          <p:nvPr/>
        </p:nvSpPr>
        <p:spPr>
          <a:xfrm>
            <a:off x="4846320" y="4773168"/>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28" name="Shape 26"/>
          <p:cNvSpPr/>
          <p:nvPr/>
        </p:nvSpPr>
        <p:spPr>
          <a:xfrm>
            <a:off x="4992624" y="5193792"/>
            <a:ext cx="128016" cy="128016"/>
          </a:xfrm>
          <a:prstGeom prst="ellipse">
            <a:avLst/>
          </a:prstGeom>
          <a:solidFill>
            <a:srgbClr val="E8600A"/>
          </a:solidFill>
          <a:ln w="12700">
            <a:solidFill>
              <a:srgbClr val="E8600A"/>
            </a:solidFill>
            <a:prstDash val="solid"/>
          </a:ln>
        </p:spPr>
      </p:sp>
      <p:sp>
        <p:nvSpPr>
          <p:cNvPr id="29" name="Text 27"/>
          <p:cNvSpPr/>
          <p:nvPr/>
        </p:nvSpPr>
        <p:spPr>
          <a:xfrm>
            <a:off x="5230368" y="4846320"/>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DOH rising + quick ratio falling = inventory problem (CFA LM12 Ex13). Always integrate ratios — never rely on one in isolation.</a:t>
            </a:r>
            <a:endParaRPr lang="en-US" sz="1150" dirty="0"/>
          </a:p>
        </p:txBody>
      </p:sp>
      <p:sp>
        <p:nvSpPr>
          <p:cNvPr id="30" name="Text 28"/>
          <p:cNvSpPr/>
          <p:nvPr/>
        </p:nvSpPr>
        <p:spPr>
          <a:xfrm>
            <a:off x="457200" y="4617720"/>
            <a:ext cx="8229600" cy="256032"/>
          </a:xfrm>
          <a:prstGeom prst="rect">
            <a:avLst/>
          </a:prstGeom>
          <a:noFill/>
          <a:ln/>
        </p:spPr>
        <p:txBody>
          <a:bodyPr wrap="square" lIns="0" tIns="0" rIns="0" bIns="0" rtlCol="0" anchor="ctr"/>
          <a:lstStyle/>
          <a:p>
            <a:pPr indent="0" marL="0">
              <a:buNone/>
            </a:pPr>
            <a:r>
              <a:rPr lang="en-US" sz="800" spc="200" kern="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2026-04-11T21:05:42Z</dcterms:created>
  <dcterms:modified xsi:type="dcterms:W3CDTF">2026-04-11T21:05:42Z</dcterms:modified>
</cp:coreProperties>
</file>