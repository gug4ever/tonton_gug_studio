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modules, one spine: the cash cycle you live in this month, the capital you commit for a decade, and the business model that dictates both.
•  Two hours. Roughly 40 min per section, hard stop on §1 or §2 eats §3.
•  Say up front: every number in this deck is from the 2025 curriculum — they can check it.
•  Flag that §1 and §2 are computational, §3 is descriptive. Exam weight sits in §1 and §2.
NEXT — Straight into the agenda — do not linger on the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Set the shape of the session so nobody is surprised when the maths stops and the taxonomy starts.
•  §1 — short-term cycle. Computational. CCC, trade credit, liquidity ratios.
•  §2 — long-term commitment. Computational. NPV, IRR, ROIC, real options.
•  §3 — the business model underneath. Descriptive, but it explains why §1 and §2 differ by firm.
•  Break after §2. Say it now so they pace themselves.
NEXT — Objectives — read them fast, they are the exam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These five are the testable contract. Everything else in the deck is scaffolding for them.
•  Objective 1 and 4 are the ones they will actually be asked to compute. Say so.
•  Objective 3: the pitfalls are memorisation — three cognitive, four behavioral. Not four and four.
•  Objective 5: CAC/LTV is practitioner material built on the curriculum's "unit economics" line. Labelled as such throughout.
•  Do not read all five aloud. Point at 1 and 4, move on.
NEXT — Section one. Start with the operating cycle picture before any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Signal the switch: this is the part of the balance sheet that turns over inside a year, and it is where firms actually die.
•  Seven slides, about 40 minutes.
•  One line only: "profitable firms go bust for liquidity reasons, not profitability reasons."
•  Do not preview the content — let slide 5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Before any formula, make them see the timeline: cash goes out to suppliers, cash comes back from customers, and the CCC is the hole in between.
•  Draw it in the air: buy inventory → sell → collect. DPO covers the front of that; CCC is what is left.
•  Land the sign convention hard: DPO ENTERS WITH A MINUS. Longer DPO = shorter cycle. This is where students invert.
•  Longer cycle = more days of payroll and bills to finance before the customer pays.
•  Walk the table top to bottom: pharma 180 days vs airlines lowest — same formula, opposite business.
•  Pharma and semis are inventory stories; retail and airlines are payment-timing stories.
FROM THE DESK — In a rating or financing review the CCC level is almost irrelevant — the DIRECTION is the signal. A cycle lengthening two quarters running usually means one of three things: customers paying slower, inventory not selling, or suppliers pulling terms. Each has a different fix and a different severity.
ASK THE ROOM — A firm negotiates 30 extra days from its suppliers. What happens to its cash conversion cycle — and is that unambiguously good news?
NEXT — Take it to an extreme. Inditex runs the whole cycle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curriculum table is the proof that a negative CCC is a business-model outcome, not an accounting trick.
•  Point at the ratio-base column first. This is the single most-missed detail: DSO on REVENUE, DOH and DPO on COGS.
•  Show why: inventory and payables are carried at cost, receivables at selling price. Match the numerator to the base.
•  Check one live: 3,042 / 11,902 × 365 = 93 days. Do it on the board.
•  CCC = 93 + 11 − 190 = −86. Zara sells the dress roughly 100 days before it pays for the cloth.
•  Then the callout: negative CCC ⇒ negative working capital ⇒ growth is self-funding.
•  Contrast with a firm at +86 days: the same growth would be eating cash every month.
FROM THE DESK — A negative cycle is a wonderful asset and a brutal liability. It funds expansion for free while revenue grows — and it unwinds violently in reverse. When sales fall, payables keep coming due on last quarter's purchases while no new cash arrives. Model the downside of a negative-CCC retailer and you find the working-capital swing is often larger than the EBITDA swing.
NEXT — That is one firm. Now the curriculum's five-way comparison, where the spread comes from just two levers.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industry, same formula, same customers paying instantly — so any difference in CCC must come from inventory and supplier power. That is the whole lesson.
•  Cover the CCC column and make them compute Target and TJX before you reveal.
•  DSO column first: 2 to 7 days everywhere. Card settlement. Rule it out as an explanation.
•  Costco: 54% food. Perishables cannot sit. Lowest DOH of the five at 29 days.
•  Target vs TJX is the money comparison — nearly identical DOH (68 vs 63), 28 days apart on CCC. The difference is DPO: 75 vs 47.
•  Correct the intuition: TJX is not the worst because it holds the most stock. Target holds more. TJX is worst because nobody funds it.
FROM THE DESK — Supplier leverage is a scale story, and it is one of the quiet reasons big-box retail consolidates. A buyer that is 15% of a supplier's order book dictates terms; one that is 0.5% takes what it is given. When you see a DPO gap this wide inside one industry, you are usually looking at relative bargaining power, not treasury skill.
NEXT — Stretching payables is not free, though. The supplier charges for it — in the discount you give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Trade credit looks free because no one sends an invoice for it. Put a rate on it and it is usually the most expensive money on the balance sheet.
•  Frame it as a loan: principal = 98, interest = 2, term = 20 days. That reframing is the whole trick.
•  Common error: they compute 2/100 instead of 2/98. The base is what you actually pay, not the list price.
•  20 days is the term, not 30 — you only borrow for the period beyond the discount date.
•  18.25 compounding periods is what turns 2% into 44.6%. Show the exponent doing the work.
•  Walk the table: the ranking is not by discount size. 3/15 net 60 (28.0%) is cheaper than 2/10 net 30 (44.6%).
•  Ask why 1/10 net 50 is cheapest: small discount, 40 extra days. Cheap money per day.
FROM THE DESK — This is exactly the arbitrage that supply-chain finance programmes monetise. A bank pays the supplier early at the buyer's credit spread and collects from the buyer at the net date. Everyone gains — but watch what it does to the buyer's reported DPO. It stretches, working capital looks brilliant, and the obligation is still there, now sitting in payables rather than debt. Rating agencies increasingly reclassify it as debt when the programme is large or the terms extend well beyond industry norm.
ASK THE ROOM — Terms are 2/10 net 30 and your bank charges 20% EAR. Borrow or forgo?
NEXT — Liquidity is not only about terms. Three ratios rank how much can pay the bills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trap slide. One ratio says better, two say worse, and the reason is sitting in the fourth row.
•  Build the three ratios from Exhibit 9 first: same denominator, numerator shrinks left to right.
•  Now the numbers. Cash 0.60 → 0.50. Quick 1.00 → 0.89. Both down.
•  Current ratio 1.36 → 1.52. Up. Ask the room which one to believe before you answer.
•  Reveal: inventory went 66 → 130. That doubling is the entire "improvement".
•  Net working capital 16 → 65 — the firm tied up 49m more, which is a cash outflow, not a strength.
•  Curriculum's own verdict: judge on the most conservative measure. Licht became LESS liquid.
FROM THE DESK — When a covenant is written on the current ratio, this is precisely the gap that gets exploited — and the reason lenders moved to net-leverage and fixed-charge tests instead. Inventory build and current ratio move the same way; inventory build and survival do not.
ASK THE ROOM — A firm buys short-term marketable securities with cash. What happens to each of the three ratios?
NEXT — Ratios are a snapshot. Drags and pulls are the forces moving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mechanisms, one effect — but the real point is the second half: which source a firm reaches for tells you where it is in the cycle.
•  Drag = cash arrives later than planned. Pull = cash leaves earlier than planned.
•  Trip wire: paying suppliers EARLY with no discount is a pull, not prudence. Students always miss this one.
•  Another trip wire: an INCREASE in your credit limit is not a pull. It is liquidity.
•  Primary = cash on hand, borrowings, cash flow from the business. Ordinary course, no signal.
•  Secondary = cut dividends or capex, issue equity, renegotiate contracts, sell assets, file. Costly, and visible.
•  Curriculum's own COVID trio: Lufthansa convertible, Singapore Airlines rights issue, Delta capex deferral. Three firms, three rungs down the ladder.
FROM THE DESK — Working capital is the first thing squeezed in any liquidity crisis because it is the only lever that does not need a signature from a lender, a regulator or a shareholder. Stop paying suppliers, stop buying inventory, chase receivables — you can move real money inside two weeks. It also announces itself immediately: suppliers talk, and a stretched payables line is often the earliest external read on distress, well ahead of a rating action.
NEXT — So how much working capital should a firm carry, and how should it fund it? That is a policy choice on a spectrum.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There is no right answer on this spectrum — but there is a wrong pairing, and it is short-term funding against permanent assets.
•  Two independent choices: how MUCH current assets to carry, and how to FUND them. The exhibit blends both.
•  Conservative: more inventory and receivables, funded long. Safe, expensive, slow to arrange.
•  Aggressive: lean assets, funded short. Cheap, flexible, fragile when the market closes.
•  Moderate = match funding. Permanent current assets funded long, seasonal peaks funded short.
•  The rate-view row is the curriculum's own logic: expect rising rates → lock in long; expect falling → stay short.
•  Early-growth firms sit conservative largely because short-term debt is not available to them, not because they chose it.
FROM THE DESK — Every treasurer knows the theory and most drift aggressive anyway, because the cost saving shows up every quarter and the risk shows up once a decade. The discipline that actually holds is a committed revolver sized to the seasonal peak and left undrawn — you pay a commitment fee for years to avoid one forced equity raise. It is cheap insurance that is very hard to defend in a good year.
NEXT — That closes the short-term cycle. Now the money committed for a decade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From decisions measured in days to decisions measured in decades — and the tools change with the horizon.
•  Nine slides, about 45 minutes. The densest section.
•  One framing line: "this is where a management team either compounds capital or quietly destroys it."
•  Warn them the pitfalls slide is pure memorisation — three and four, not four and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category determines the question. For three of the four it is "is this worth doing"; for compliance it is "what is the cheapest way to comply".
•  Exhibit 2 is a 2×2: maintain vs grow on one axis, discretionary vs imposed on the other.
•  Land the exam point: a regulatory project can and should proceed at negative NPV. The alternative is fines or shutdown.
•  Danske is the cautionary case — CEO resigned, Estonian branch closed, billions in fines. Compliance capex is cheap by comparison.
•  Sony/Bungie = expansion within the core. Kirin/Fancl = a brewer buying cosmetics, a genuinely new line. Risk rises with distance from the core.
•  The maintenance proxy is worth memorising: maintenance ≈ D&amp;A, expansion ≈ total capex − D&amp;A.
FROM THE DESK — Compliance spend is not purely a cost. Incumbents often welcome tighter standards because they raise the barrier to entry, and firms with balance-sheet room adopt early to get a competitive edge and to kill the uncertainty. When a management team frames a large regulatory programme purely as a burden, ask whether they have thought about who else in the sector cannot afford it.
NEXT — Whatever the category, the decision runs through the same four-step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Students assume the maths is the process. It is one box out of four, and the other three are where firms actually differentiate.
•  Step 1: note where ideas come from — inside the business. Plant the inertia seed now, harvest it on the pitfalls slide.
•  Step 2: this is the ONLY step where NPV and IRR live. Exam question tests exactly this.
•  Step 2 rule: r reflects PROJECT risk, not financing source. Retained cash does not earn a discount.
•  Step 3: a project can be positive-NPV and still be rejected — competing projects, financing limits, strategic fit.
•  Step 3 second half: when the good projects are exhausted, HAND THE MONEY BACK. Most students never hear this said out loud.
•  Step 4 is the one firms skip and analysts value most. No post-audit means optimism never gets corrected.
FROM THE DESK — Capital-allocation discipline is what separates two issuers with identical assets, identical margins and identical leverage. The tell is not the strategy deck — it is whether they have ever publicly walked away from a segment, and whether returned capital moves with the opportunity set rather than with the share price. A firm that buys back stock in the good years and cuts capex in the bad ones has the cycle exactly backwards.
ASK THE ROOM — Which step does a share buyback belong to — and what does it tell you about steps 1 and 3?
NEXT — Into step two. NPV first, because it is the criterion everything else is judged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Make them feel the exchange: hand over 50 today, receive a claim worth 63.136 today. The 13.136 is the wealth created at the moment of signing.
•  Do the year-1 and year-5 discount factors on the board. Let them do year 2 and 3.
•  Stress what r IS: the return investors could get elsewhere at the same risk. It is an opportunity cost, not a borrowing rate.
•  Note the year-5 flow is 20, not 16 — the terminal bump. Students miss it and get 12.1 instead of 13.136.
•  Answer in EUROS. That is the property IRR does not have and the reason NPV wins ties.
•  Footnote 1 is the Excel trap: NPV() starts at t = 1, so subtract the outlay outside the function.
•  Footnote 2 matters: positive NPV does not mean funded. Step 3 still has to say yes.
FROM THE DESK — In a live process nobody argues about the cash flows for long — they argue about r. Two banks pitching the same asset 20% apart is almost always a WACC disagreement, not a modelling one. Whoever sets the discount rate has already decided the answer, which is why the rate is the first thing to interrogate in someone else's model.
NEXT — One thing that quietly corrupts r and the cash flows at the same time: inflation.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point is not that one convention is better. It is that the two produce identical answers when matched — so any difference you see is an error you introduced.
•  Derive r_real live: 1.10 / 1.05 − 1 = 4.76%. Not 10% − 5% = 5%. That subtraction is the common shortcut and it is wrong.
•  Row 2: inflate the real flows by 1.05^t. Row 3 and 4: discount each at its matching rate.
•  Point at the two identical rows of PVs — 38.18, 36.45, 34.79. Same numbers, two routes.
•  Now name the error: nominal flows at a real rate overstates NPV; real flows at a nominal rate understates it.
•  Footnote is the exam nuance — matching does NOT hedge you. If actual inflation misses the forecast, cash flows still move.
•  Add the asymmetry: inflation does not hit all inputs and outputs equally. Oil up helps the producer, hurts its own refining arm.
FROM THE DESK — Long-dated infrastructure and utility models live and die on this. Revenue is often contractually indexed while a large slice of cost is not, or vice versa — so the project has a real inflation exposure that no amount of convention-matching removes. Model the mismatch explicitly rather than assuming one π applies to the whole P&amp;L.
NEXT — Now the rate that students prefer and practitioners quietly distrust: IRR.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IRR is not wrong — it is incomplete. It answers "how fast" and never "how much", and every failure on this slide traces back to that.
•  Start honest: for a single conventional project, IRR ≥ r and NPV ≥ 0 always agree. No conflict.
•  Failure 1 — write −1,000 / +5,000 / −6,000 on the board and note BOTH 100% and 200% solve it. Excel shows one.
•  Failure 2 is the one they get wrong in exams. Make them pick between A and B before you reveal NPV.
•  Say it plainly: you cannot spend a percentage. B creates five times the wealth on a lower IRR.
•  Failure 3 — the reinvestment assumption is buried, not stated. A 30% IRR presumes a 30% redeployment opportunity.
•  Close on the rule: when NPV and IRR disagree on mutually exclusive projects, NPV wins. Every time.
FROM THE DESK — Private equity reports IRR precisely because it is flattering and manipulable — a subscription line that delays the capital call shortens the clock and lifts IRR without adding a euro of value. That is why MOIC or DPI sits next to it in every LP report. Whenever someone leads with IRR alone, ask what the multiple is.
ASK THE ROOM — Project A: IRR 45%, NPV +2m. Project B: IRR 18%, NPV +40m. You can do one. Which, and why?
NEXT — NPV and IRR both need project data. Outside the firm you get neither — you get ROIC.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bridge from project maths to company analysis — and the moment they can finally test a real issuer from published accounts.
•  Say why ROIC exists here: you will never see a company's project NPVs. You will always see its balance sheet.
•  Denominator is LONG-TERM liabilities plus equity — working capital is deliberately excluded. Average the two year-ends.
•  Do the arithmetic slowly: 112,257 + 15,688 + 148,442 = 276,387. They should be able to rebuild it from the exhibit.
•  Be precise on the verdict: profitable, but below the required return. The curriculum says look elsewhere — it does not call it destruction on one year.
•  The decomposition is the real teaching value. LVMH and Costco can print the same ROIC by opposite routes.
•  Footnote: accounting-based, backward-looking, denominator contested. Use trends and peers.
FROM THE DESK — ROIC versus cost of capital, tracked over a full cycle, is the single most useful screen I know for management quality — far more than any strategy narrative. And check the denominator definitions before you compare two firms: strip intangibles or excess cash and the same company can move several hundred basis points. Consistency across the peer set matters more than which definition you pick.
NEXT — The tools are sound. What goes wrong is the humans using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Count them out loud — three and four, not four and four. And lead with the principles, because two of the three errors are just principle violations.
•  Principle 2 is the exam favourite. Sunk cost OUT, cannibalisation IN. Both, in the same question.
•  The curriculum's own case: market research already completed is sunk; lost revenue on existing products is incremental. Include the second, not the first.
•  Cognitive 2 is the one practitioners get wrong daily: retained cash feels free. It is equity withheld from shareholders and carries their required return.
•  Cognitive 3 links straight back to the inflation slide.
•  Inertia — 0.92 correlation. Say the number. It means last year's budget predicts this year's almost perfectly.
•  Pet projects are a governance tell: concentrated ownership, weak board, misaligned pay. Look there, not at the accounts.
FROM THE DESK — The detection method in the footnote is the practical one. Pull segment capex and segment ROIC for five years and plot them. Capital flowing into a segment whose returns are falling, year after year, is inertia — and it is visible from outside the company without a single management meeting. It is also the most common reason an activist shows up.
ASK THE ROOM — You spent 2m on market research last year and the new product would cost your existing line 5m of revenue. Which number belongs in the NPV?
NEXT — One more thing the base case misses entirely: the value of being able to change your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base-case NPV assumes management makes one decision at t = 0 and then goes to sleep. Real options price the fact that they do not.
•  Definition first: the RIGHT, not the obligation. Exercise only if it adds value. Same logic as a financial option, real asset underneath.
•  Timing — you forgo cash flow to buy information. That forgone cash flow is the price of the option.
•  Sizing splits two ways: abandonment (exit when disappointing) and growth/expansion (scale when strong).
•  Flexibility is the curriculum's narrowest one: price-setting and production flexibility. Not commodity switching.
•  Fundamental — the whole project is contingent on an external price. Oil wells, gold mines, most R&amp;D.
•  Work the bottom box on the board. Rearranging Equation 4 is the only computation the curriculum asks for here.
•  Exam trap: real options do NOT hedge commodity prices. That is a financial option.
FROM THE DESK — Real options get talked about constantly and priced almost never. The honest reason is that a decision tree needs probabilities and timings nobody can observe, and the curriculum says so outright — complexity does not buy accuracy. What actually happens in practice is that flexibility is used to justify a project the base case rejected. The discipline is to name the option, name what it costs, and state the decision rule for exercising it before you commit.
NEXT — The curriculum does work one all the way through, and it flips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project, same cash flows, opposite decision — and the whole 99.17 difference comes from two branches that the base case simply set to zero.
•  Do the base case first and let them see −90.91. A clean reject.
•  Conditional probability is the mechanical point: 40% failure × 30% alternative use = 12% joint. Not 30%.
•  Check the three failure branches sum to 40%: 12 + 12 + 16. If they do not, the tree is wrong.
•  Second-period flows discount at 1.10², not 1.10. Easy mark lost.
•  (0.12 × 600) + (0.12 × 400) = 120, over 1.21 = 99.17. That single number flips the sign.
•  Now the honest bit: the abandon branch is 16% probability and contributes exactly zero. The value is in the ALTERNATIVE USES.
•  So the real question for management is not "can we walk away" — it is "what else is this asset good for".
FROM THE DESK — Notice how thin the margin is: +8.26 on a 500m outlay, entirely dependent on two subjective probabilities and two subjective recovery values. Move the alternative-use probability from 30% to 20% and it is negative again. That fragility is exactly why real-option valuations belong in the discussion and rarely in the decision — treat the tree as a way of making assumptions visible, not as a number to defend.
ASK THE ROOM — If the alternative product launch dropped from 30% to 15%, would the project still clear?
NEXT — Both sections so far assumed the business model was given. Section three asks where it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Shift gear: no more computation until the last slide. This section is a vocabulary and a set of lenses.
•  Eight slides, about 35 minutes. Faster pace, more discussion.
•  One framing line: "everything in sections one and two differs by firm because the business model differs."
•  Warn them the last two slides go beyond the curriculum into practitioner metrics — clearly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a diagnostic checklist, not a taxonomy. Run a company through it and the gap is what you write up.
•  Tesla is the curriculum's own worked case — read the annual report extract and it answers WHAT and WHERE explicitly.
•  What it does NOT state is the WHO. The curriculum infers it: aspirational middle and upper class, drifting mass-market.
•  HOW MUCH for Tesla is the interesting one — premium price justified on total cost of ownership after subsidy and cheaper charging.
•  HOW is the value chain: Tesla vertically integrates batteries and software, unusual and capital-hungry for a young company.
•  Netflix HOW is the counter-example: it runs on AWS, whose owner also competes with it. The curriculum quotes the risk factor.
•  Value chain ≠ supply chain. Value chain is inside one firm; supply chain spans all of them. That distinction is examinable.
FROM THE DESK — The missing answer is nearly always where the risk sits. A deck that describes product, technology and market size in detail and never defines the customer is describing a capability, not a business. In diligence that gap correlates almost perfectly with an inflated addressable-market number.
ASK THE ROOM — A CEO describes premium titanium wheel bolts, wholesale distribution and parity pricing. What has he not told you?
NEXT — Most firms are not novel at all. Eight archetypes cover the great majority.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useful message is deflationary: most businesses are conventional, and for them the analysis is about execution, scale and brand — not about the model.
•  Read the pricing column down the table. It is the most diagnostic one — it tells you where the margin comes from.
•  Distributor vs retailer catches people: distributor sells to retailers and earns a spread; retailer sells to end-users and earns a mark-up.
•  Broker sells neither side anything — it sells the connection, and charges commission or listing fees.
•  Bank is the odd one out: the product is a loan and the pricing is the spread over its own funding cost.
•  The four variations are all hybrids. Apple is a manufacturer that does not manufacture.
•  Say the curriculum's line plainly: success here hinges on execution, skill, technology, brand, scale — not on a new model.
FROM THE DESK — Classifying correctly matters for the comparables you pick and for the working-capital profile you should expect. A distributor and a retailer selling the same physical goods have completely different inventory days, payable terms and margin structures — put them in the same comp set and every ratio you compute is noise.
NEXT — One column of that table deserves a slide of its own: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Twelve boxes is too many to teach one by one. Teach the organising idea — willingness to pay differs, and each model is a device for capturing that difference.
•  Open with the principle: same product, different buyers, different willingness to pay. Every box below is a way to exploit that.
•  Group them out loud: by WHO (tiered, value-based), by WHEN (dynamic, auction), by WHAT ELSE (bundling, razor/blade, add-on).
•  Then the digital cluster: penetration, freemium, hidden revenue — all about buying a user base first.
•  Hidden revenue is the one they will not have heard named: free to the user, paid by an advertiser or by the seller side.
•  Note that net price ≠ list price. Firms discount and promote rather than move the published number.
•  Last box — leasing, licensing and franchising are subscription-like but transfer property or access, not a product.
FROM THE DESK — Pricing model drives the shape of the cash flows, which drags you straight back to section one. Subscription and freemium bill in advance and can run a negative cash conversion cycle; razor-and-blade front-loads inventory and recovers it over years. Two firms with the same revenue and margin can have completely different working-capital needs purely because of how they price.
NEXT — One more structural feature that changes everything: when the users themselves are the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distinction to land is one-sided versus multi-sided, because the growth problem is completely different in each.
•  One-sided: all users are the same kind. Add a user, everyone else gets more value. Telephones, Venmo.
•  Multi-sided: two or more distinct types, and the value flows ACROSS sides. Cardholders need merchants, not other cardholders.
•  Draw the food-delivery triangle from Exhibit 7 — consumers, restaurants, drivers. Three sides, three interdependent effects.
•  Say why multi-sided is harder to start: the chicken-and-egg problem. You must subsidise one side first, which is why penetration and freemium pricing show up here.
•  Crowdsourcing sits alongside: users build the product, the firm sets the rules and moderates. Wikipedia, TripAdvisor, Reddit.
•  Curriculum's conclusion: network effects are a strong barrier to entry and a form of competitive advantage.
FROM THE DESK — The financial signature is a business that looks unprofitable and is not — heavy customer-acquisition spend expensed today against a user base that pays for years. That is exactly what the unit-economics slides at the end of this section are for. Judge it on cohort payback, not on this year's operating margin.
ASK THE ROOM — Why did the curriculum say there are far fewer OTA companies than hotel companies?
NEXT — Two industries show these forces playing out in waves over decades.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contrasting responses to the same forces: Netflix cannibalised itself three times; hotels were disintermediated layer by layer and had to buy the customer back.
•  Netflix: the "what" changed twice while the "who" barely moved. That is the cleanest illustration of the framework in motion.
•  Note the 2% DVD-ownership figure — Netflix bet on a technology most households did not yet own.
•  Blockbuster is the counterfactual. It could see the model and still took years to copy it. Bankrupt 2010, gone 2014.
•  Hotels: each layer strips out a function — own the bricks, then franchise the brand, then separate the REIT, then lose the booking.
•  The OTA layer is the two-sided network from the previous slide, applied to travel. Price aggregation plus commission.
•  Home sharing added crowdsourced supply — inventory the incumbents could never build.
•  Incumbent response is the exam-relevant bit: direct booking, loyalty programmes, soft brands, condo-hotels.
FROM THE DESK — Watch what each wave does to the capital intensity. Hotels went from owning real estate to franchising a brand — enormous capex to almost none, with the returns and the risk moving to whoever kept the bricks. Whenever a business model is disrupted, ask who ends up holding the assets. That is usually where the value transfer shows up first.
NEXT — Before the numbers, one structural split that changes every line of the model: who you sell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Be honest about provenance here — the curriculum anchors the top two rows, the rest is how the split actually behaves in practice.
•  Start with the curriculum's line: business buyers are sophisticated and motivated to earn a profit. Consumer needs are diverse and often unquantifiable.
•  Direct sales is the curriculum's B2B channel point — few potential customers, easily reached, so a sales force pays for itself.
•  Everything downstream follows from customer COUNT. Few large buyers ⇒ long cycle, high touch, negotiated price.
•  Many small buyers ⇒ short cycle, self-serve, list price, and marketing spend instead of a sales force.
•  Tie back to §1: B2B sells on credit, so DSO is real. B2C takes cards at the till, so DSO is 2 days. That is why retail CCCs looked the way they did.
•  Flag the hybrid case — same product, two motions, and blended metrics that mean nothing.
FROM THE DESK — The blended-metric trap is the one to watch. A firm reporting a single customer-acquisition cost across an enterprise sales force and a self-serve funnel is reporting an average of two unrelated businesses. Ask for the split; if they cannot produce it, they are not managing to it either.
NEXT — Which brings us to the numbers underneath a subscription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Flag the provenance honestly: the curriculum introduces "unit economics" as a concept; CAC, LTV and payback are the practitioner instruments built on it.
•  Say it once: this is not examinable in the CFA sense. It is how the concept is actually used.
•  CAC first — sales and marketing spend divided by new paid customers. Simple, and easy to flatter.
•  Insist on the blended vs paid distinction. Blended CAC includes customers who arrived free and understates the marginal cost.
•  LTV: the simple formula is a perpetuity in disguise — constant gross profit, constant churn rate, no discounting.
•  Gross margin, not revenue. Serving the customer costs something. Students routinely use ARPU alone.
•  Payback is the liquidity metric of the three — it links straight back to section one's cash conversion cycle.
FROM THE DESK — The metric most easily gamed here is churn, because the denominator is a choice. Logo churn, revenue churn and net revenue churn can differ by a factor of three in the same company. Ask which one, ask over what cohort, and prefer a cohort payback curve to any single blended ratio.
NEXT — Put numbers on it and one variable turns out not to matter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sensitivity table is the real lesson: the payback column never moves. Everything churn does, it does to LTV.
•  Build the USD 28 first. Gross profit per customer per month. Every other number comes off it.
•  1 / churn = average life. Ask them why: a constant 3% monthly hazard gives an expected life of 33.3 months.
•  Two routes to the same LTV — 28 × 33.3, or ARPU × GM ÷ churn. Show both, they are the same identity.
•  Now cover the payback column and ask what happens to it as churn rises from 1% to 8%. Most will say it gets worse.
•  Reveal: 10.7 months in every row. Payback is CAC over monthly gross profit — churn is not in it.
•  Churn is entirely an LTV story: 9.3× down to 1.2×. At 8% the business burns cash on every customer it wins.
•  Land the 3× rule as a rule of thumb, not a law — and note 3.1× is uncomfortably close to the line.
FROM THE DESK — The reason payback gets watched more closely than LTV/CAC is that it needs no forecast. LTV embeds an assumption about a customer life you have not observed yet; payback is arithmetic on money already spent and gross profit already earned. When capital is expensive, payback is the number that decides whether you can afford to grow at all.
ASK THE ROOM — Churn doubles from 3% to 6%. What happens to LTV, to payback, and to the decision?
NEXT — That closes section three. Eight things to take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re-teach. Name each one, pause, move on — and finish on the single idea that connects all three sections.
•  Two minutes maximum. They have the deck.
•  If time is short, read only bullets 1, 3, 5 and 6 — those are the highest-yield exam points.
•  The sign of DPO in the CCC and the sunk-cost/cannibalisation pair are the two most reliable exam traps in this deck.
•  Close on the connection: working capital is the cash cycle, capital allocation is the investment cycle, and the business model decides the shape of both.
•  Point them at the business-model slides as the framework for reading any annual report, not just for the exam.
ASK THE ROOM — Pick any company you follow — what is its cash conversion cycle likely to look like, and what in its business model tells you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10  ·  CORPORATE ISSUERS</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Working Capital,</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Capital Allocation</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&amp; Business Models</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Short-term cycle, long-term investment, and the business model underneath both</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3 Learning Modules 4, 5, 7</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Working Capital, Capital Allocation &amp; Business Models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3 sections · ~2 hours · Built bottom-up from CFA readings</a:t>
            </a:r>
            <a:endParaRPr lang="en-US" sz="1300" dirty="0"/>
          </a:p>
        </p:txBody>
      </p:sp>
      <p:sp>
        <p:nvSpPr>
          <p:cNvPr id="8" name="Shape 6"/>
          <p:cNvSpPr/>
          <p:nvPr/>
        </p:nvSpPr>
        <p:spPr>
          <a:xfrm>
            <a:off x="320040" y="1207008"/>
            <a:ext cx="8503920" cy="1158240"/>
          </a:xfrm>
          <a:prstGeom prst="rect">
            <a:avLst/>
          </a:prstGeom>
          <a:solidFill>
            <a:srgbClr val="FFFFFF"/>
          </a:solidFill>
          <a:ln/>
        </p:spPr>
      </p:sp>
      <p:sp>
        <p:nvSpPr>
          <p:cNvPr id="9" name="Shape 7"/>
          <p:cNvSpPr/>
          <p:nvPr/>
        </p:nvSpPr>
        <p:spPr>
          <a:xfrm>
            <a:off x="320040" y="1207008"/>
            <a:ext cx="594360" cy="1158240"/>
          </a:xfrm>
          <a:prstGeom prst="rect">
            <a:avLst/>
          </a:prstGeom>
          <a:solidFill>
            <a:srgbClr val="1B2A4A"/>
          </a:solidFill>
          <a:ln/>
        </p:spPr>
      </p:sp>
      <p:sp>
        <p:nvSpPr>
          <p:cNvPr id="10" name="Text 8"/>
          <p:cNvSpPr txBox="1"/>
          <p:nvPr/>
        </p:nvSpPr>
        <p:spPr>
          <a:xfrm>
            <a:off x="320040" y="1207008"/>
            <a:ext cx="594360" cy="1158240"/>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52120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Working capital &amp; liquidity</a:t>
            </a:r>
            <a:endParaRPr lang="en-US" sz="1200" dirty="0"/>
          </a:p>
        </p:txBody>
      </p:sp>
      <p:sp>
        <p:nvSpPr>
          <p:cNvPr id="12" name="Text 10"/>
          <p:cNvSpPr txBox="1"/>
          <p:nvPr/>
        </p:nvSpPr>
        <p:spPr>
          <a:xfrm>
            <a:off x="1024128" y="1728216"/>
            <a:ext cx="7726680" cy="63703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CCC mechanics · Inditex &amp; discount retailers · supplier financing · liquidity ratios · drags &amp; pulls · conservative vs aggressive</a:t>
            </a:r>
            <a:endParaRPr lang="en-US" sz="1100" dirty="0"/>
          </a:p>
        </p:txBody>
      </p:sp>
      <p:sp>
        <p:nvSpPr>
          <p:cNvPr id="13" name="Shape 11"/>
          <p:cNvSpPr/>
          <p:nvPr/>
        </p:nvSpPr>
        <p:spPr>
          <a:xfrm>
            <a:off x="320040" y="2401824"/>
            <a:ext cx="8503920" cy="1158240"/>
          </a:xfrm>
          <a:prstGeom prst="rect">
            <a:avLst/>
          </a:prstGeom>
          <a:solidFill>
            <a:srgbClr val="F5F7FA"/>
          </a:solidFill>
          <a:ln/>
        </p:spPr>
      </p:sp>
      <p:sp>
        <p:nvSpPr>
          <p:cNvPr id="14" name="Shape 12"/>
          <p:cNvSpPr/>
          <p:nvPr/>
        </p:nvSpPr>
        <p:spPr>
          <a:xfrm>
            <a:off x="320040" y="2401824"/>
            <a:ext cx="594360" cy="1158240"/>
          </a:xfrm>
          <a:prstGeom prst="rect">
            <a:avLst/>
          </a:prstGeom>
          <a:solidFill>
            <a:srgbClr val="1B2A4A"/>
          </a:solidFill>
          <a:ln/>
        </p:spPr>
      </p:sp>
      <p:sp>
        <p:nvSpPr>
          <p:cNvPr id="15" name="Text 13"/>
          <p:cNvSpPr txBox="1"/>
          <p:nvPr/>
        </p:nvSpPr>
        <p:spPr>
          <a:xfrm>
            <a:off x="320040" y="2401824"/>
            <a:ext cx="594360" cy="1158240"/>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2447544"/>
            <a:ext cx="7726680" cy="52120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Capital investments &amp; allocation</a:t>
            </a:r>
            <a:endParaRPr lang="en-US" sz="1200" dirty="0"/>
          </a:p>
        </p:txBody>
      </p:sp>
      <p:sp>
        <p:nvSpPr>
          <p:cNvPr id="17" name="Text 15"/>
          <p:cNvSpPr txBox="1"/>
          <p:nvPr/>
        </p:nvSpPr>
        <p:spPr>
          <a:xfrm>
            <a:off x="1024128" y="2923032"/>
            <a:ext cx="7726680" cy="63703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project types · 4-step process · NPV / IRR / ROIC · inflation · cognitive &amp; behavioral pitfalls · real options with decision tree</a:t>
            </a:r>
            <a:endParaRPr lang="en-US" sz="1100" dirty="0"/>
          </a:p>
        </p:txBody>
      </p:sp>
      <p:sp>
        <p:nvSpPr>
          <p:cNvPr id="18" name="Shape 16"/>
          <p:cNvSpPr/>
          <p:nvPr/>
        </p:nvSpPr>
        <p:spPr>
          <a:xfrm>
            <a:off x="320040" y="3596640"/>
            <a:ext cx="8503920" cy="1158240"/>
          </a:xfrm>
          <a:prstGeom prst="rect">
            <a:avLst/>
          </a:prstGeom>
          <a:solidFill>
            <a:srgbClr val="FFFFFF"/>
          </a:solidFill>
          <a:ln/>
        </p:spPr>
      </p:sp>
      <p:sp>
        <p:nvSpPr>
          <p:cNvPr id="19" name="Shape 17"/>
          <p:cNvSpPr/>
          <p:nvPr/>
        </p:nvSpPr>
        <p:spPr>
          <a:xfrm>
            <a:off x="320040" y="3596640"/>
            <a:ext cx="594360" cy="1158240"/>
          </a:xfrm>
          <a:prstGeom prst="rect">
            <a:avLst/>
          </a:prstGeom>
          <a:solidFill>
            <a:srgbClr val="1B2A4A"/>
          </a:solidFill>
          <a:ln/>
        </p:spPr>
      </p:sp>
      <p:sp>
        <p:nvSpPr>
          <p:cNvPr id="20" name="Text 18"/>
          <p:cNvSpPr txBox="1"/>
          <p:nvPr/>
        </p:nvSpPr>
        <p:spPr>
          <a:xfrm>
            <a:off x="320040" y="3596640"/>
            <a:ext cx="594360" cy="1158240"/>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3642360"/>
            <a:ext cx="7726680" cy="52120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Business models</a:t>
            </a:r>
            <a:endParaRPr lang="en-US" sz="1200" dirty="0"/>
          </a:p>
        </p:txBody>
      </p:sp>
      <p:sp>
        <p:nvSpPr>
          <p:cNvPr id="22" name="Text 20"/>
          <p:cNvSpPr txBox="1"/>
          <p:nvPr/>
        </p:nvSpPr>
        <p:spPr>
          <a:xfrm>
            <a:off x="1024128" y="4117848"/>
            <a:ext cx="7726680" cy="63703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the five questions · eight conventional archetypes · twelve pricing models · platforms &amp; network effects · B2B vs B2C · unit economics (CAC/LTV)</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Compute a cash conversion cycle from activity ratios, interpret negative CCCs, and price supplier trade credit against a bank loan.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Evaluate firm liquidity using current / quick / cash ratios and distinguish primary from secondary liquidity sources, including drags and pulls.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Apply NPV, IRR and ROIC to capital-investment decisions, apply the three allocation principles, and name the three cognitive errors and four behavioral biases the curriculum identifies.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Identify the four types of real option (timing, sizing, flexibility, fundamental) and compute a project NPV that embeds a decision tree.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Decompose a business model into its core questions, classify it into one of eight conventional archetypes, and compute the unit economics of a subscription business (CAC, LTV, payback).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Working capital</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liquidity</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3  ·  Deck 10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operating cycle turns materials into cash; the cash conversion cycle is the gap the firm has to finance after suppliers have funded what they will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4, §2 "Cash Conversion Cycle" and Exhibits 1, 4 and 5, pp. 101–103.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Inventory and receivables lengthen the cycle; payables shorten it. A negative CCC funds the firm.</a:t>
            </a:r>
            <a:endParaRPr lang="en-US" sz="1300" dirty="0"/>
          </a:p>
        </p:txBody>
      </p:sp>
      <p:sp>
        <p:nvSpPr>
          <p:cNvPr id="9" name="Shape 7"/>
          <p:cNvSpPr/>
          <p:nvPr/>
        </p:nvSpPr>
        <p:spPr>
          <a:xfrm>
            <a:off x="320040" y="1078992"/>
            <a:ext cx="8503920" cy="566928"/>
          </a:xfrm>
          <a:prstGeom prst="rect">
            <a:avLst/>
          </a:prstGeom>
          <a:solidFill>
            <a:srgbClr val="1B2A4A"/>
          </a:solidFill>
          <a:ln/>
        </p:spPr>
      </p:sp>
      <p:sp>
        <p:nvSpPr>
          <p:cNvPr id="10" name="Text 8"/>
          <p:cNvSpPr txBox="1"/>
          <p:nvPr/>
        </p:nvSpPr>
        <p:spPr>
          <a:xfrm>
            <a:off x="411480" y="1078992"/>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CCC  =  DOH  +  DSO  −  DPO</a:t>
            </a:r>
            <a:endParaRPr lang="en-US" sz="1800" dirty="0"/>
          </a:p>
        </p:txBody>
      </p:sp>
      <p:sp>
        <p:nvSpPr>
          <p:cNvPr id="11" name="Text 9"/>
          <p:cNvSpPr txBox="1"/>
          <p:nvPr/>
        </p:nvSpPr>
        <p:spPr>
          <a:xfrm>
            <a:off x="320040" y="167335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DOH = days inventory on hand · DSO = days sales outstanding · DPO = days payable outstanding.</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2011680"/>
          <a:ext cx="8503920" cy="914400"/>
        </p:xfrm>
        <a:graphic>
          <a:graphicData uri="http://schemas.openxmlformats.org/drawingml/2006/table">
            <a:tbl>
              <a:tblPr/>
              <a:tblGrid>
                <a:gridCol w="3291840"/>
                <a:gridCol w="1463040"/>
                <a:gridCol w="37490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Industry (2020 S&amp;P 1500 average)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CCC (days)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drives it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Pharmaceuticals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Regulatory stockpiles, long DOH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Apparel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Seasonal inventory build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Semiconductors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Long multi-stage production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All S&amp;P 1500 companies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2020 benchmark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Auto &amp; auto parts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Just-in-time parts inventory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Retail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Card sales at the till, tiny DSO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Software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Subscriptions billed in advance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Airlines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Prepaid tickets, no goods inventory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Inditex runs a structurally negative cash conversion cycle — its customers pay 86 days before its suppliers do</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4, Inditex case study, pp. 104 and 108.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Fast fashion, payment at the till, a vast supplier base. Watch the ratio bases in the right-hand column.</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051560"/>
          <a:ext cx="8503920" cy="914400"/>
        </p:xfrm>
        <a:graphic>
          <a:graphicData uri="http://schemas.openxmlformats.org/drawingml/2006/table">
            <a:tbl>
              <a:tblPr/>
              <a:tblGrid>
                <a:gridCol w="3840480"/>
                <a:gridCol w="1280160"/>
                <a:gridCol w="1280160"/>
                <a:gridCol w="21031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Inditex (EUR millions, or days)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2021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2020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Ratio base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Accounts receivable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Inventories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2,321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Accounts payable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6,199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4,659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Sales (revenue)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27,716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20,402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Cost of goods sold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11,902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9,013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Days sales outstanding (DSO)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11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13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AR / Sales × 365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Days of inventory on hand (DOH)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93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94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Inv / COGS × 365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Days payable outstanding (DPO)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190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189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AP / COGS × 365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CCC = DOH + DSO − DPO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−86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−82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0" name="Shape 7"/>
          <p:cNvSpPr/>
          <p:nvPr/>
        </p:nvSpPr>
        <p:spPr>
          <a:xfrm>
            <a:off x="320040" y="3858768"/>
            <a:ext cx="8503920" cy="731520"/>
          </a:xfrm>
          <a:prstGeom prst="rect">
            <a:avLst/>
          </a:prstGeom>
          <a:solidFill>
            <a:srgbClr val="FEF0E7"/>
          </a:solidFill>
          <a:ln/>
        </p:spPr>
      </p:sp>
      <p:sp>
        <p:nvSpPr>
          <p:cNvPr id="11" name="Shape 8"/>
          <p:cNvSpPr/>
          <p:nvPr/>
        </p:nvSpPr>
        <p:spPr>
          <a:xfrm>
            <a:off x="320040" y="3858768"/>
            <a:ext cx="73152" cy="731520"/>
          </a:xfrm>
          <a:prstGeom prst="rect">
            <a:avLst/>
          </a:prstGeom>
          <a:solidFill>
            <a:srgbClr val="E8600A"/>
          </a:solidFill>
          <a:ln/>
        </p:spPr>
      </p:sp>
      <p:sp>
        <p:nvSpPr>
          <p:cNvPr id="12" name="Text 9"/>
          <p:cNvSpPr txBox="1"/>
          <p:nvPr/>
        </p:nvSpPr>
        <p:spPr>
          <a:xfrm>
            <a:off x="457200" y="390448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AND THE WORKING CAPITAL SIGN FOLLOWS THE CYCLE</a:t>
            </a:r>
            <a:endParaRPr lang="en-US" sz="1100" dirty="0"/>
          </a:p>
        </p:txBody>
      </p:sp>
      <p:sp>
        <p:nvSpPr>
          <p:cNvPr id="13" name="Text 10"/>
          <p:cNvSpPr txBox="1"/>
          <p:nvPr/>
        </p:nvSpPr>
        <p:spPr>
          <a:xfrm>
            <a:off x="457200" y="4178808"/>
            <a:ext cx="8275320" cy="365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Net working capital 2021 = 842 + 3,042 − 6,199 = −EUR 2,315m, or −8.4% of sales (2020: −8.0%). Operating accounts only — cash, securities and short-term debt are excluded. A short cycle means low working capital to sales; here it is negative, so growth releases cash instead of consuming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Five US discount retailers, one formula, a 28-day spread — and DSO explains none of it</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4, Example 2 "Cash Conversion for US Discount Retailers", pp. 106–107.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All five take cash or card at the register, so DSO is 2–7 days for everyone. Inventory and payables do the work.</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2468880"/>
                <a:gridCol w="1051560"/>
                <a:gridCol w="1051560"/>
                <a:gridCol w="1051560"/>
                <a:gridCol w="28803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Retailer (2021)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DOH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DSO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DPO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CCC = DOH + DSO − DPO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Walmart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48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47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48 + 5 − 47 =  +6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68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75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68 + 2 − 75 =  −5 d (shortest)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Costco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29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34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29 + 3 − 34 =  −2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TJX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63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7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47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63 + 7 − 47 = +23 d (longest)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Ross Stores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61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63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61 + 2 − 63 =   0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246120"/>
            <a:ext cx="8503920" cy="1097280"/>
          </a:xfrm>
          <a:prstGeom prst="rect">
            <a:avLst/>
          </a:prstGeom>
          <a:solidFill>
            <a:srgbClr val="FEF0E7"/>
          </a:solidFill>
          <a:ln/>
        </p:spPr>
      </p:sp>
      <p:sp>
        <p:nvSpPr>
          <p:cNvPr id="11" name="Shape 8"/>
          <p:cNvSpPr/>
          <p:nvPr/>
        </p:nvSpPr>
        <p:spPr>
          <a:xfrm>
            <a:off x="320040" y="3246120"/>
            <a:ext cx="73152" cy="1097280"/>
          </a:xfrm>
          <a:prstGeom prst="rect">
            <a:avLst/>
          </a:prstGeom>
          <a:solidFill>
            <a:srgbClr val="E8600A"/>
          </a:solidFill>
          <a:ln/>
        </p:spPr>
      </p:sp>
      <p:sp>
        <p:nvSpPr>
          <p:cNvPr id="12" name="Text 9"/>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WHERE THE SPREAD ACTUALLY COMES FROM</a:t>
            </a:r>
            <a:endParaRPr lang="en-US" sz="1100" dirty="0"/>
          </a:p>
        </p:txBody>
      </p:sp>
      <p:sp>
        <p:nvSpPr>
          <p:cNvPr id="13" name="Text 10"/>
          <p:cNvSpPr txBox="1"/>
          <p:nvPr/>
        </p:nvSpPr>
        <p:spPr>
          <a:xfrm>
            <a:off x="457200" y="3566160"/>
            <a:ext cx="827532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Costco sells roughly 54% food and food-related items: perishables must move before they spoil, so DOH is only 29 days. Target carries the deepest inventory of the five at 68 days, but also extracts the most supplier financing at 75 days payable — and that is what flips it negative. TJX is Target's mirror image: 63 days of inventory funded by only 47 days of payables, so it pays for the stock long before it sells it.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Forgoing a 2/10 net 30 discount is borrowing from your supplier at 44.6% — a bank at anything below that is strictly cheaper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Cost rises with the discount given up and falls with the extra days bought: 1/10 net 50 buys 40 extra days for 1% — the cheapest of the five.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4, Example 1 "Keown Corporation" and Question Set Q4–Q5, pp. 105 and 110–111.</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You pay the discount to use the supplier's money for (net days − discount days). Annualise it before you compare.</a:t>
            </a:r>
            <a:endParaRPr lang="en-US" sz="1300" dirty="0"/>
          </a:p>
        </p:txBody>
      </p:sp>
      <p:sp>
        <p:nvSpPr>
          <p:cNvPr id="10" name="Shape 8"/>
          <p:cNvSpPr/>
          <p:nvPr/>
        </p:nvSpPr>
        <p:spPr>
          <a:xfrm>
            <a:off x="320040" y="1188720"/>
            <a:ext cx="8503920" cy="694944"/>
          </a:xfrm>
          <a:prstGeom prst="rect">
            <a:avLst/>
          </a:prstGeom>
          <a:solidFill>
            <a:srgbClr val="1B2A4A"/>
          </a:solidFill>
          <a:ln/>
        </p:spPr>
      </p:sp>
      <p:sp>
        <p:nvSpPr>
          <p:cNvPr id="11" name="Text 9"/>
          <p:cNvSpPr txBox="1"/>
          <p:nvPr/>
        </p:nvSpPr>
        <p:spPr>
          <a:xfrm>
            <a:off x="411480" y="1188720"/>
            <a:ext cx="8321040" cy="694944"/>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EAR  =  [ 1 + Disc% / (100% − Disc%) ]^(365 / (net days − disc days))  −  1</a:t>
            </a:r>
            <a:endParaRPr lang="en-US" sz="1800" dirty="0"/>
          </a:p>
        </p:txBody>
      </p:sp>
      <p:sp>
        <p:nvSpPr>
          <p:cNvPr id="12" name="Text 10"/>
          <p:cNvSpPr txBox="1"/>
          <p:nvPr/>
        </p:nvSpPr>
        <p:spPr>
          <a:xfrm>
            <a:off x="320040" y="1911096"/>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Disc% = prompt-payment discount · net days = full payment period · disc days = discount period.</a:t>
            </a:r>
            <a:endParaRPr lang="en-US" sz="1100" dirty="0"/>
          </a:p>
        </p:txBody>
      </p:sp>
      <p:sp>
        <p:nvSpPr>
          <p:cNvPr id="13" name="Shape 11"/>
          <p:cNvSpPr/>
          <p:nvPr/>
        </p:nvSpPr>
        <p:spPr>
          <a:xfrm>
            <a:off x="320040" y="2304288"/>
            <a:ext cx="4160520" cy="1920240"/>
          </a:xfrm>
          <a:prstGeom prst="rect">
            <a:avLst/>
          </a:prstGeom>
          <a:solidFill>
            <a:srgbClr val="FEF0E7"/>
          </a:solidFill>
          <a:ln w="9525">
            <a:solidFill>
              <a:srgbClr val="E8600A"/>
            </a:solidFill>
            <a:prstDash val="solid"/>
          </a:ln>
        </p:spPr>
      </p:sp>
      <p:sp>
        <p:nvSpPr>
          <p:cNvPr id="14" name="Text 12"/>
          <p:cNvSpPr txBox="1"/>
          <p:nvPr/>
        </p:nvSpPr>
        <p:spPr>
          <a:xfrm>
            <a:off x="457200" y="2350008"/>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KEOWN CORP — 2/10 NET 30 vs BANK</a:t>
            </a:r>
            <a:endParaRPr lang="en-US" sz="1100" dirty="0"/>
          </a:p>
        </p:txBody>
      </p:sp>
      <p:sp>
        <p:nvSpPr>
          <p:cNvPr id="15" name="Text 13"/>
          <p:cNvSpPr txBox="1"/>
          <p:nvPr/>
        </p:nvSpPr>
        <p:spPr>
          <a:xfrm>
            <a:off x="457200" y="2642616"/>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Supplier: 2% off if paid within 10 days, otherwise the full amount at day 30. Keown lacks the cash to pay on day 10.</a:t>
            </a:r>
            <a:endParaRPr lang="en-US" sz="1200" dirty="0"/>
          </a:p>
        </p:txBody>
      </p:sp>
      <p:sp>
        <p:nvSpPr>
          <p:cNvPr id="16" name="Text 14"/>
          <p:cNvSpPr txBox="1"/>
          <p:nvPr/>
        </p:nvSpPr>
        <p:spPr>
          <a:xfrm>
            <a:off x="457200" y="3154680"/>
            <a:ext cx="3886200" cy="55778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Interest cost = 2% / (100% − 2%) = 0.02041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Periods per year = 365 / (30 − 10) = 18.25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EAR = (1.02041)^18.25 − 1 = 44.6%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Borrow at 7.7%, pay day 10, take the discount.</a:t>
            </a:r>
            <a:endParaRPr lang="en-US" sz="1050" dirty="0"/>
          </a:p>
        </p:txBody>
      </p:sp>
      <p:sp>
        <p:nvSpPr>
          <p:cNvPr id="17" name="Shape 15"/>
          <p:cNvSpPr/>
          <p:nvPr/>
        </p:nvSpPr>
        <p:spPr>
          <a:xfrm>
            <a:off x="411480" y="3785616"/>
            <a:ext cx="3977640" cy="365760"/>
          </a:xfrm>
          <a:prstGeom prst="rect">
            <a:avLst/>
          </a:prstGeom>
          <a:solidFill>
            <a:srgbClr val="E8600A"/>
          </a:solidFill>
          <a:ln/>
        </p:spPr>
      </p:sp>
      <p:sp>
        <p:nvSpPr>
          <p:cNvPr id="18" name="Text 16"/>
          <p:cNvSpPr txBox="1"/>
          <p:nvPr/>
        </p:nvSpPr>
        <p:spPr>
          <a:xfrm>
            <a:off x="457200" y="3785616"/>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SUPPLIER 44.6%  vs  BANK 7.7%  →  USE THE BANK</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663440" y="2304288"/>
          <a:ext cx="4160520" cy="914400"/>
        </p:xfrm>
        <a:graphic>
          <a:graphicData uri="http://schemas.openxmlformats.org/drawingml/2006/table">
            <a:tbl>
              <a:tblPr/>
              <a:tblGrid>
                <a:gridCol w="2606040"/>
                <a:gridCol w="15544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Trade credit terms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Implied EAR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1/10, net 50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1/14, net 30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3/15, net 60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2/15, net 40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34.3%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2/10, net 30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44.6%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Licht Vernieuwend's current ratio improved and its liquidity got worse — because the improvement was inventory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4, §3 "Liquidity", Exhibit 9 and Knowledge Check, pp. 117–120.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One denominator, three numerators. The order is always Current ≥ Quick ≥ Cash — only the tightness changes.</a:t>
            </a:r>
            <a:endParaRPr lang="en-US" sz="1300" dirty="0"/>
          </a:p>
        </p:txBody>
      </p:sp>
      <p:sp>
        <p:nvSpPr>
          <p:cNvPr id="9" name="Shape 7"/>
          <p:cNvSpPr/>
          <p:nvPr/>
        </p:nvSpPr>
        <p:spPr>
          <a:xfrm>
            <a:off x="320040" y="1115568"/>
            <a:ext cx="2743200" cy="1572768"/>
          </a:xfrm>
          <a:prstGeom prst="rect">
            <a:avLst/>
          </a:prstGeom>
          <a:solidFill>
            <a:srgbClr val="F5F7FA"/>
          </a:solidFill>
          <a:ln/>
        </p:spPr>
      </p:sp>
      <p:sp>
        <p:nvSpPr>
          <p:cNvPr id="10" name="Shape 8"/>
          <p:cNvSpPr/>
          <p:nvPr/>
        </p:nvSpPr>
        <p:spPr>
          <a:xfrm>
            <a:off x="320040" y="1115568"/>
            <a:ext cx="73152" cy="1572768"/>
          </a:xfrm>
          <a:prstGeom prst="rect">
            <a:avLst/>
          </a:prstGeom>
          <a:solidFill>
            <a:srgbClr val="1B2A4A"/>
          </a:solidFill>
          <a:ln/>
        </p:spPr>
      </p:sp>
      <p:sp>
        <p:nvSpPr>
          <p:cNvPr id="11" name="Text 9"/>
          <p:cNvSpPr txBox="1"/>
          <p:nvPr/>
        </p:nvSpPr>
        <p:spPr>
          <a:xfrm>
            <a:off x="457200" y="1161288"/>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CURRENT RATIO</a:t>
            </a:r>
            <a:endParaRPr lang="en-US" sz="1100" dirty="0"/>
          </a:p>
        </p:txBody>
      </p:sp>
      <p:sp>
        <p:nvSpPr>
          <p:cNvPr id="12" name="Text 10"/>
          <p:cNvSpPr txBox="1"/>
          <p:nvPr/>
        </p:nvSpPr>
        <p:spPr>
          <a:xfrm>
            <a:off x="457200" y="1435608"/>
            <a:ext cx="2514600" cy="120700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Current assets / current liabilities.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Broadest. Above 1 means positive total working capital — nothing more.</a:t>
            </a:r>
            <a:endParaRPr lang="en-US" sz="1200" dirty="0"/>
          </a:p>
        </p:txBody>
      </p:sp>
      <p:sp>
        <p:nvSpPr>
          <p:cNvPr id="13" name="Shape 11"/>
          <p:cNvSpPr/>
          <p:nvPr/>
        </p:nvSpPr>
        <p:spPr>
          <a:xfrm>
            <a:off x="3200400" y="1115568"/>
            <a:ext cx="2743200" cy="1572768"/>
          </a:xfrm>
          <a:prstGeom prst="rect">
            <a:avLst/>
          </a:prstGeom>
          <a:solidFill>
            <a:srgbClr val="FEF0E7"/>
          </a:solidFill>
          <a:ln/>
        </p:spPr>
      </p:sp>
      <p:sp>
        <p:nvSpPr>
          <p:cNvPr id="14" name="Shape 12"/>
          <p:cNvSpPr/>
          <p:nvPr/>
        </p:nvSpPr>
        <p:spPr>
          <a:xfrm>
            <a:off x="3200400" y="1115568"/>
            <a:ext cx="73152" cy="1572768"/>
          </a:xfrm>
          <a:prstGeom prst="rect">
            <a:avLst/>
          </a:prstGeom>
          <a:solidFill>
            <a:srgbClr val="E8600A"/>
          </a:solidFill>
          <a:ln/>
        </p:spPr>
      </p:sp>
      <p:sp>
        <p:nvSpPr>
          <p:cNvPr id="15" name="Text 13"/>
          <p:cNvSpPr txBox="1"/>
          <p:nvPr/>
        </p:nvSpPr>
        <p:spPr>
          <a:xfrm>
            <a:off x="3337560" y="1161288"/>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QUICK RATIO</a:t>
            </a:r>
            <a:endParaRPr lang="en-US" sz="1100" dirty="0"/>
          </a:p>
        </p:txBody>
      </p:sp>
      <p:sp>
        <p:nvSpPr>
          <p:cNvPr id="16" name="Text 14"/>
          <p:cNvSpPr txBox="1"/>
          <p:nvPr/>
        </p:nvSpPr>
        <p:spPr>
          <a:xfrm>
            <a:off x="3337560" y="1435608"/>
            <a:ext cx="2514600" cy="120700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(Cash + ST securities + receivables) / current liabilities.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Drops inventory. Above 1 = can pay without selling stock, if every receivable collects.</a:t>
            </a:r>
            <a:endParaRPr lang="en-US" sz="1200" dirty="0"/>
          </a:p>
        </p:txBody>
      </p:sp>
      <p:sp>
        <p:nvSpPr>
          <p:cNvPr id="17" name="Shape 15"/>
          <p:cNvSpPr/>
          <p:nvPr/>
        </p:nvSpPr>
        <p:spPr>
          <a:xfrm>
            <a:off x="6080760" y="1115568"/>
            <a:ext cx="2743200" cy="1572768"/>
          </a:xfrm>
          <a:prstGeom prst="rect">
            <a:avLst/>
          </a:prstGeom>
          <a:solidFill>
            <a:srgbClr val="F5F7FA"/>
          </a:solidFill>
          <a:ln/>
        </p:spPr>
      </p:sp>
      <p:sp>
        <p:nvSpPr>
          <p:cNvPr id="18" name="Shape 16"/>
          <p:cNvSpPr/>
          <p:nvPr/>
        </p:nvSpPr>
        <p:spPr>
          <a:xfrm>
            <a:off x="6080760" y="1115568"/>
            <a:ext cx="73152" cy="1572768"/>
          </a:xfrm>
          <a:prstGeom prst="rect">
            <a:avLst/>
          </a:prstGeom>
          <a:solidFill>
            <a:srgbClr val="1B2A4A"/>
          </a:solidFill>
          <a:ln/>
        </p:spPr>
      </p:sp>
      <p:sp>
        <p:nvSpPr>
          <p:cNvPr id="19" name="Text 17"/>
          <p:cNvSpPr txBox="1"/>
          <p:nvPr/>
        </p:nvSpPr>
        <p:spPr>
          <a:xfrm>
            <a:off x="6217920" y="1161288"/>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CASH RATIO</a:t>
            </a:r>
            <a:endParaRPr lang="en-US" sz="1100" dirty="0"/>
          </a:p>
        </p:txBody>
      </p:sp>
      <p:sp>
        <p:nvSpPr>
          <p:cNvPr id="20" name="Text 18"/>
          <p:cNvSpPr txBox="1"/>
          <p:nvPr/>
        </p:nvSpPr>
        <p:spPr>
          <a:xfrm>
            <a:off x="6217920" y="1435608"/>
            <a:ext cx="2514600" cy="120700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(Cash + ST securities) / current liabilities.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Most conservative. At or above 1 = settle everything today, collecting nothing and selling nothing.</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2788920"/>
          <a:ext cx="8503920" cy="914400"/>
        </p:xfrm>
        <a:graphic>
          <a:graphicData uri="http://schemas.openxmlformats.org/drawingml/2006/table">
            <a:tbl>
              <a:tblPr/>
              <a:tblGrid>
                <a:gridCol w="4572000"/>
                <a:gridCol w="1371600"/>
                <a:gridCol w="1371600"/>
                <a:gridCol w="11887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Licht Vernieuwend N.V.</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20X1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20X2</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Change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Cash ratio = (Cash + Sec) / CL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−0.10 worse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Quick ratio = (Cash + Sec + AR) / CL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−0.11 worse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Current ratio = CA / CL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+0.16 better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Net working capital (EUR 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+49 tied up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Current ratio rose only because inventory doubled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66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Less liquid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Drags slow the cash coming in, pulls speed up the cash going out — and reaching for a secondary source is itself the signal</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4, §3 primary and secondary liquidity sources, drags and pulls, pp. 113–117.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Primary sources are the ordinary course. Secondary sources raise cash at a cost — using them is news in itself.</a:t>
            </a:r>
            <a:endParaRPr lang="en-US" sz="1300" dirty="0"/>
          </a:p>
        </p:txBody>
      </p:sp>
      <p:sp>
        <p:nvSpPr>
          <p:cNvPr id="9" name="Shape 7"/>
          <p:cNvSpPr/>
          <p:nvPr/>
        </p:nvSpPr>
        <p:spPr>
          <a:xfrm>
            <a:off x="320040" y="1078992"/>
            <a:ext cx="4160520" cy="1481328"/>
          </a:xfrm>
          <a:prstGeom prst="rect">
            <a:avLst/>
          </a:prstGeom>
          <a:solidFill>
            <a:srgbClr val="FEF0E7"/>
          </a:solidFill>
          <a:ln/>
        </p:spPr>
      </p:sp>
      <p:sp>
        <p:nvSpPr>
          <p:cNvPr id="10" name="Shape 8"/>
          <p:cNvSpPr/>
          <p:nvPr/>
        </p:nvSpPr>
        <p:spPr>
          <a:xfrm>
            <a:off x="320040" y="1078992"/>
            <a:ext cx="73152" cy="1481328"/>
          </a:xfrm>
          <a:prstGeom prst="rect">
            <a:avLst/>
          </a:prstGeom>
          <a:solidFill>
            <a:srgbClr val="E8600A"/>
          </a:solidFill>
          <a:ln/>
        </p:spPr>
      </p:sp>
      <p:sp>
        <p:nvSpPr>
          <p:cNvPr id="11" name="Text 9"/>
          <p:cNvSpPr txBox="1"/>
          <p:nvPr/>
        </p:nvSpPr>
        <p:spPr>
          <a:xfrm>
            <a:off x="457200" y="112471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DRAGS  —  INFLOWS LAG</a:t>
            </a:r>
            <a:endParaRPr lang="en-US" sz="1100" dirty="0"/>
          </a:p>
        </p:txBody>
      </p:sp>
      <p:sp>
        <p:nvSpPr>
          <p:cNvPr id="12" name="Text 10"/>
          <p:cNvSpPr txBox="1"/>
          <p:nvPr/>
        </p:nvSpPr>
        <p:spPr>
          <a:xfrm>
            <a:off x="457200" y="1399032"/>
            <a:ext cx="3931920" cy="111556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Uncollected receivables — the longer they age, the lower the odds of collection</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Obsolete inventory — held too long, then sells only at a discount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Borrowing constraints — credit tightens, short-term debt gets dearer or vanishes</a:t>
            </a:r>
            <a:endParaRPr lang="en-US" sz="1200" dirty="0"/>
          </a:p>
        </p:txBody>
      </p:sp>
      <p:sp>
        <p:nvSpPr>
          <p:cNvPr id="13" name="Shape 11"/>
          <p:cNvSpPr/>
          <p:nvPr/>
        </p:nvSpPr>
        <p:spPr>
          <a:xfrm>
            <a:off x="4663440" y="1078992"/>
            <a:ext cx="4160520" cy="1481328"/>
          </a:xfrm>
          <a:prstGeom prst="rect">
            <a:avLst/>
          </a:prstGeom>
          <a:solidFill>
            <a:srgbClr val="F5F7FA"/>
          </a:solidFill>
          <a:ln/>
        </p:spPr>
      </p:sp>
      <p:sp>
        <p:nvSpPr>
          <p:cNvPr id="14" name="Shape 12"/>
          <p:cNvSpPr/>
          <p:nvPr/>
        </p:nvSpPr>
        <p:spPr>
          <a:xfrm>
            <a:off x="4663440" y="1078992"/>
            <a:ext cx="73152" cy="1481328"/>
          </a:xfrm>
          <a:prstGeom prst="rect">
            <a:avLst/>
          </a:prstGeom>
          <a:solidFill>
            <a:srgbClr val="1B2A4A"/>
          </a:solidFill>
          <a:ln/>
        </p:spPr>
      </p:sp>
      <p:sp>
        <p:nvSpPr>
          <p:cNvPr id="15" name="Text 13"/>
          <p:cNvSpPr txBox="1"/>
          <p:nvPr/>
        </p:nvSpPr>
        <p:spPr>
          <a:xfrm>
            <a:off x="4800600" y="112471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PULLS  —  OUTFLOWS ACCELERATE</a:t>
            </a:r>
            <a:endParaRPr lang="en-US" sz="1100" dirty="0"/>
          </a:p>
        </p:txBody>
      </p:sp>
      <p:sp>
        <p:nvSpPr>
          <p:cNvPr id="16" name="Text 14"/>
          <p:cNvSpPr txBox="1"/>
          <p:nvPr/>
        </p:nvSpPr>
        <p:spPr>
          <a:xfrm>
            <a:off x="4800600" y="1399032"/>
            <a:ext cx="3931920" cy="111556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Paying early when no discount is on offer</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Suppliers cutting your credit limit after late payments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Banks capping short-term lines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A chronically thin liquidity position, made worse by aggressive policy</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2651760"/>
          <a:ext cx="8503920" cy="914400"/>
        </p:xfrm>
        <a:graphic>
          <a:graphicData uri="http://schemas.openxmlformats.org/drawingml/2006/table">
            <a:tbl>
              <a:tblPr/>
              <a:tblGrid>
                <a:gridCol w="2926080"/>
                <a:gridCol w="4480560"/>
                <a:gridCol w="10972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Liquidity source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Curriculum examples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Signal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Primary — cash &amp; securities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Bank balances, T-bills, commercial paper held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Normal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Primary — borrowings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Bank lines, bond or CP issuance, supplier credit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Normal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Primary — cash flow from business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long-run engine; read the cash flow statement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Normal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Secondary — cut dividend or capex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Delta deferred USD 500m of capex, 2020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Stress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Secondary — equity or renegotiate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Singapore Airlines SGD 8.8bn rights issue, 2020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Stress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Secondary — sell assets, file Ch.11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Disposals at a discount; insolvency reorganisation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Distress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Working-capital policy is a spectrum, and the choice is really a single trade: financing cost against rollover risk</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4, §4 Exhibits 10–13 and the stated rationales, pp. 123–127.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Conservative buys safety with cost. Aggressive buys cost with risk. Moderate matches the funding to the asset.</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8503920" cy="914400"/>
        </p:xfrm>
        <a:graphic>
          <a:graphicData uri="http://schemas.openxmlformats.org/drawingml/2006/table">
            <a:tbl>
              <a:tblPr/>
              <a:tblGrid>
                <a:gridCol w="2194560"/>
                <a:gridCol w="2103120"/>
                <a:gridCol w="2103120"/>
                <a:gridCol w="21031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Dimension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Conservative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Moderate ("matched")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Aggressive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Current assets vs sales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Larger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Moderate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Smaller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Funding mix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More long-term + equity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Match asset to funding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More short-term debt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Financing cost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Middle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Rollover risk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Minimal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Variable share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 bites in a crisis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Flexibility under stress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Medium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Rate view that suits it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Flat to rising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Mixed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Stable to falling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Typical user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Early-growth firms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Mature, diversified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Low-margin, predictable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429000"/>
            <a:ext cx="8503920" cy="914400"/>
          </a:xfrm>
          <a:prstGeom prst="rect">
            <a:avLst/>
          </a:prstGeom>
          <a:solidFill>
            <a:srgbClr val="FEF0E7"/>
          </a:solidFill>
          <a:ln/>
        </p:spPr>
      </p:sp>
      <p:sp>
        <p:nvSpPr>
          <p:cNvPr id="11" name="Shape 8"/>
          <p:cNvSpPr/>
          <p:nvPr/>
        </p:nvSpPr>
        <p:spPr>
          <a:xfrm>
            <a:off x="320040" y="3429000"/>
            <a:ext cx="73152" cy="914400"/>
          </a:xfrm>
          <a:prstGeom prst="rect">
            <a:avLst/>
          </a:prstGeom>
          <a:solidFill>
            <a:srgbClr val="E8600A"/>
          </a:solidFill>
          <a:ln/>
        </p:spPr>
      </p:sp>
      <p:sp>
        <p:nvSpPr>
          <p:cNvPr id="12" name="Text 9"/>
          <p:cNvSpPr txBox="1"/>
          <p:nvPr/>
        </p:nvSpPr>
        <p:spPr>
          <a:xfrm>
            <a:off x="457200" y="34747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WHEN AGGRESSIVE BITES</a:t>
            </a:r>
            <a:endParaRPr lang="en-US" sz="1100" dirty="0"/>
          </a:p>
        </p:txBody>
      </p:sp>
      <p:sp>
        <p:nvSpPr>
          <p:cNvPr id="13" name="Text 10"/>
          <p:cNvSpPr txBox="1"/>
          <p:nvPr/>
        </p:nvSpPr>
        <p:spPr>
          <a:xfrm>
            <a:off x="457200" y="374904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Rollover risk is the whole story. In 2008–09 and again in the first phase of COVID in 2020, firms that had funded permanent current assets with short-term paper found the market shut and raised equity at distressed prices instead. Match-funding is the defensive default for any business with a cyclical revenue line.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Capital investments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allocation</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3  ·  Deck 10 of 20  ·  Studio Tonton Gug</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Four categories of capital investment — and only one of them can rationally proceed with a negative NPV</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5, §2 Exhibit 2 and Examples 1–3 (Danske, Sony, Kirin), pp. 139–145.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Two maintain the business, two grow it. Regulatory projects are the only non-discretionary ones.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8503920" cy="914400"/>
        </p:xfrm>
        <a:graphic>
          <a:graphicData uri="http://schemas.openxmlformats.org/drawingml/2006/table">
            <a:tbl>
              <a:tblPr/>
              <a:tblGrid>
                <a:gridCol w="2377440"/>
                <a:gridCol w="2926080"/>
                <a:gridCol w="731520"/>
                <a:gridCol w="24688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Category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Purpose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Risk</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Curriculum example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Going concern (maintenance)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Replace ageing assets; cut cost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Data-centre cooling upgrade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Regulatory / compliance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Meet rules, standards; avoid fines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Danske Bank AML remediation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Expansion of existing business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Scale up or widen scope; core R&amp;D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Low–med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Sony buys Bungie, USD 3.6bn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New lines of business &amp; other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Enter an unrelated industry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Kirin buys into Fancl, ¥129bn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606040"/>
            <a:ext cx="4160520" cy="1737360"/>
          </a:xfrm>
          <a:prstGeom prst="rect">
            <a:avLst/>
          </a:prstGeom>
          <a:solidFill>
            <a:srgbClr val="FEF0E7"/>
          </a:solidFill>
          <a:ln/>
        </p:spPr>
      </p:sp>
      <p:sp>
        <p:nvSpPr>
          <p:cNvPr id="11" name="Shape 8"/>
          <p:cNvSpPr/>
          <p:nvPr/>
        </p:nvSpPr>
        <p:spPr>
          <a:xfrm>
            <a:off x="320040" y="2606040"/>
            <a:ext cx="73152" cy="1737360"/>
          </a:xfrm>
          <a:prstGeom prst="rect">
            <a:avLst/>
          </a:prstGeom>
          <a:solidFill>
            <a:srgbClr val="E8600A"/>
          </a:solidFill>
          <a:ln/>
        </p:spPr>
      </p:sp>
      <p:sp>
        <p:nvSpPr>
          <p:cNvPr id="12" name="Text 9"/>
          <p:cNvSpPr txBox="1"/>
          <p:nvPr/>
        </p:nvSpPr>
        <p:spPr>
          <a:xfrm>
            <a:off x="457200" y="265176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HOW ANALYSTS SPLIT THE CAPEX LINE</a:t>
            </a:r>
            <a:endParaRPr lang="en-US" sz="1100" dirty="0"/>
          </a:p>
        </p:txBody>
      </p:sp>
      <p:sp>
        <p:nvSpPr>
          <p:cNvPr id="13" name="Text 10"/>
          <p:cNvSpPr txBox="1"/>
          <p:nvPr/>
        </p:nvSpPr>
        <p:spPr>
          <a:xfrm>
            <a:off x="457200" y="2926080"/>
            <a:ext cx="3931920" cy="13716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Issuers do not disclose the split. Analysts proxy maintenance capex with D&amp;A expense — most accurate for short-lived assets, where historical cost is close to replacement cost.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Expansion capex  ≈  Total capex  −  D&amp;A.</a:t>
            </a:r>
            <a:endParaRPr lang="en-US" sz="1200" dirty="0"/>
          </a:p>
        </p:txBody>
      </p:sp>
      <p:sp>
        <p:nvSpPr>
          <p:cNvPr id="14" name="Shape 11"/>
          <p:cNvSpPr/>
          <p:nvPr/>
        </p:nvSpPr>
        <p:spPr>
          <a:xfrm>
            <a:off x="4663440" y="2606040"/>
            <a:ext cx="4160520" cy="1737360"/>
          </a:xfrm>
          <a:prstGeom prst="rect">
            <a:avLst/>
          </a:prstGeom>
          <a:solidFill>
            <a:srgbClr val="F5F7FA"/>
          </a:solidFill>
          <a:ln/>
        </p:spPr>
      </p:sp>
      <p:sp>
        <p:nvSpPr>
          <p:cNvPr id="15" name="Shape 12"/>
          <p:cNvSpPr/>
          <p:nvPr/>
        </p:nvSpPr>
        <p:spPr>
          <a:xfrm>
            <a:off x="4663440" y="2606040"/>
            <a:ext cx="73152" cy="1737360"/>
          </a:xfrm>
          <a:prstGeom prst="rect">
            <a:avLst/>
          </a:prstGeom>
          <a:solidFill>
            <a:srgbClr val="1B2A4A"/>
          </a:solidFill>
          <a:ln/>
        </p:spPr>
      </p:sp>
      <p:sp>
        <p:nvSpPr>
          <p:cNvPr id="16" name="Text 13"/>
          <p:cNvSpPr txBox="1"/>
          <p:nvPr/>
        </p:nvSpPr>
        <p:spPr>
          <a:xfrm>
            <a:off x="4800600" y="265176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MATCH FUNDING</a:t>
            </a:r>
            <a:endParaRPr lang="en-US" sz="1100" dirty="0"/>
          </a:p>
        </p:txBody>
      </p:sp>
      <p:sp>
        <p:nvSpPr>
          <p:cNvPr id="17" name="Text 14"/>
          <p:cNvSpPr txBox="1"/>
          <p:nvPr/>
        </p:nvSpPr>
        <p:spPr>
          <a:xfrm>
            <a:off x="4800600" y="2926080"/>
            <a:ext cx="3931920" cy="13716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Match the debt tenor to the asset life. A utility replacing 30-year turbines issues a 30-year bond.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Borrow shorter than the asset and you carry rollover risk; borrow longer than you need and you pay a higher rate or buy the debt back.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Capital allocation is a four-step loop, and NPV and IRR only appear in step two — the value is created in steps three and four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5, §3 Exhibit 3 "Steps in the Capital Allocation Process", pp. 146–147.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positive NPV is necessary, not sufficient. Step 3 decides what actually gets funded, step 4 decides what you learn.</a:t>
            </a:r>
            <a:endParaRPr lang="en-US" sz="1300" dirty="0"/>
          </a:p>
        </p:txBody>
      </p:sp>
      <p:sp>
        <p:nvSpPr>
          <p:cNvPr id="9" name="Shape 7"/>
          <p:cNvSpPr/>
          <p:nvPr/>
        </p:nvSpPr>
        <p:spPr>
          <a:xfrm>
            <a:off x="320040" y="1143000"/>
            <a:ext cx="8503920" cy="749808"/>
          </a:xfrm>
          <a:prstGeom prst="rect">
            <a:avLst/>
          </a:prstGeom>
          <a:solidFill>
            <a:srgbClr val="FFFFFF"/>
          </a:solidFill>
          <a:ln/>
        </p:spPr>
      </p:sp>
      <p:sp>
        <p:nvSpPr>
          <p:cNvPr id="10" name="Shape 8"/>
          <p:cNvSpPr/>
          <p:nvPr/>
        </p:nvSpPr>
        <p:spPr>
          <a:xfrm>
            <a:off x="320040" y="1143000"/>
            <a:ext cx="91440" cy="749808"/>
          </a:xfrm>
          <a:prstGeom prst="rect">
            <a:avLst/>
          </a:prstGeom>
          <a:solidFill>
            <a:srgbClr val="E8600A"/>
          </a:solidFill>
          <a:ln/>
        </p:spPr>
      </p:sp>
      <p:sp>
        <p:nvSpPr>
          <p:cNvPr id="11" name="Text 9"/>
          <p:cNvSpPr txBox="1"/>
          <p:nvPr/>
        </p:nvSpPr>
        <p:spPr>
          <a:xfrm>
            <a:off x="502920" y="1143000"/>
            <a:ext cx="365760" cy="74980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2" name="Text 10"/>
          <p:cNvSpPr txBox="1"/>
          <p:nvPr/>
        </p:nvSpPr>
        <p:spPr>
          <a:xfrm>
            <a:off x="868680" y="1179576"/>
            <a:ext cx="7863840" cy="33741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1. Idea generation</a:t>
            </a:r>
            <a:endParaRPr lang="en-US" sz="1200" dirty="0"/>
          </a:p>
        </p:txBody>
      </p:sp>
      <p:sp>
        <p:nvSpPr>
          <p:cNvPr id="13" name="Text 11"/>
          <p:cNvSpPr txBox="1"/>
          <p:nvPr/>
        </p:nvSpPr>
        <p:spPr>
          <a:xfrm>
            <a:off x="868680" y="1480414"/>
            <a:ext cx="7863840" cy="4123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Managers, business-unit heads and external consultants propose projects. Most ideas come from inside existing operations — which is exactly where the inertia bias enters.</a:t>
            </a:r>
            <a:endParaRPr lang="en-US" sz="1200" dirty="0"/>
          </a:p>
        </p:txBody>
      </p:sp>
      <p:sp>
        <p:nvSpPr>
          <p:cNvPr id="14" name="Shape 12"/>
          <p:cNvSpPr/>
          <p:nvPr/>
        </p:nvSpPr>
        <p:spPr>
          <a:xfrm>
            <a:off x="320040" y="1947672"/>
            <a:ext cx="8503920" cy="749808"/>
          </a:xfrm>
          <a:prstGeom prst="rect">
            <a:avLst/>
          </a:prstGeom>
          <a:solidFill>
            <a:srgbClr val="F5F7FA"/>
          </a:solidFill>
          <a:ln/>
        </p:spPr>
      </p:sp>
      <p:sp>
        <p:nvSpPr>
          <p:cNvPr id="15" name="Shape 13"/>
          <p:cNvSpPr/>
          <p:nvPr/>
        </p:nvSpPr>
        <p:spPr>
          <a:xfrm>
            <a:off x="320040" y="1947672"/>
            <a:ext cx="91440" cy="749808"/>
          </a:xfrm>
          <a:prstGeom prst="rect">
            <a:avLst/>
          </a:prstGeom>
          <a:solidFill>
            <a:srgbClr val="E8600A"/>
          </a:solidFill>
          <a:ln/>
        </p:spPr>
      </p:sp>
      <p:sp>
        <p:nvSpPr>
          <p:cNvPr id="16" name="Text 14"/>
          <p:cNvSpPr txBox="1"/>
          <p:nvPr/>
        </p:nvSpPr>
        <p:spPr>
          <a:xfrm>
            <a:off x="502920" y="1947672"/>
            <a:ext cx="365760" cy="74980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7" name="Text 15"/>
          <p:cNvSpPr txBox="1"/>
          <p:nvPr/>
        </p:nvSpPr>
        <p:spPr>
          <a:xfrm>
            <a:off x="868680" y="1984248"/>
            <a:ext cx="7863840" cy="33741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2. Investment analysis</a:t>
            </a:r>
            <a:endParaRPr lang="en-US" sz="1200" dirty="0"/>
          </a:p>
        </p:txBody>
      </p:sp>
      <p:sp>
        <p:nvSpPr>
          <p:cNvPr id="18" name="Text 16"/>
          <p:cNvSpPr txBox="1"/>
          <p:nvPr/>
        </p:nvSpPr>
        <p:spPr>
          <a:xfrm>
            <a:off x="868680" y="2285086"/>
            <a:ext cx="7863840" cy="4123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Forecast the amount, timing, duration and volatility of after-tax cash flows. Compute NPV and IRR. Use a required return set by the project's risk — never by how it is financed.</a:t>
            </a:r>
            <a:endParaRPr lang="en-US" sz="1200" dirty="0"/>
          </a:p>
        </p:txBody>
      </p:sp>
      <p:sp>
        <p:nvSpPr>
          <p:cNvPr id="19" name="Shape 17"/>
          <p:cNvSpPr/>
          <p:nvPr/>
        </p:nvSpPr>
        <p:spPr>
          <a:xfrm>
            <a:off x="320040" y="2752344"/>
            <a:ext cx="8503920" cy="749808"/>
          </a:xfrm>
          <a:prstGeom prst="rect">
            <a:avLst/>
          </a:prstGeom>
          <a:solidFill>
            <a:srgbClr val="FFFFFF"/>
          </a:solidFill>
          <a:ln/>
        </p:spPr>
      </p:sp>
      <p:sp>
        <p:nvSpPr>
          <p:cNvPr id="20" name="Shape 18"/>
          <p:cNvSpPr/>
          <p:nvPr/>
        </p:nvSpPr>
        <p:spPr>
          <a:xfrm>
            <a:off x="320040" y="2752344"/>
            <a:ext cx="91440" cy="749808"/>
          </a:xfrm>
          <a:prstGeom prst="rect">
            <a:avLst/>
          </a:prstGeom>
          <a:solidFill>
            <a:srgbClr val="E8600A"/>
          </a:solidFill>
          <a:ln/>
        </p:spPr>
      </p:sp>
      <p:sp>
        <p:nvSpPr>
          <p:cNvPr id="21" name="Text 19"/>
          <p:cNvSpPr txBox="1"/>
          <p:nvPr/>
        </p:nvSpPr>
        <p:spPr>
          <a:xfrm>
            <a:off x="502920" y="2752344"/>
            <a:ext cx="365760" cy="74980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2" name="Text 20"/>
          <p:cNvSpPr txBox="1"/>
          <p:nvPr/>
        </p:nvSpPr>
        <p:spPr>
          <a:xfrm>
            <a:off x="868680" y="2788920"/>
            <a:ext cx="7863840" cy="33741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3. Planning &amp; prioritisation</a:t>
            </a:r>
            <a:endParaRPr lang="en-US" sz="1200" dirty="0"/>
          </a:p>
        </p:txBody>
      </p:sp>
      <p:sp>
        <p:nvSpPr>
          <p:cNvPr id="23" name="Text 21"/>
          <p:cNvSpPr txBox="1"/>
          <p:nvPr/>
        </p:nvSpPr>
        <p:spPr>
          <a:xfrm>
            <a:off x="868680" y="3089758"/>
            <a:ext cx="7863840" cy="4123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Rank on risk-adjusted value across the whole portfolio, under financing, strategic and ESG constraints. When value-creating projects run out, return the capital to shareholders.</a:t>
            </a:r>
            <a:endParaRPr lang="en-US" sz="1200" dirty="0"/>
          </a:p>
        </p:txBody>
      </p:sp>
      <p:sp>
        <p:nvSpPr>
          <p:cNvPr id="24" name="Shape 22"/>
          <p:cNvSpPr/>
          <p:nvPr/>
        </p:nvSpPr>
        <p:spPr>
          <a:xfrm>
            <a:off x="320040" y="3557016"/>
            <a:ext cx="8503920" cy="749808"/>
          </a:xfrm>
          <a:prstGeom prst="rect">
            <a:avLst/>
          </a:prstGeom>
          <a:solidFill>
            <a:srgbClr val="F5F7FA"/>
          </a:solidFill>
          <a:ln/>
        </p:spPr>
      </p:sp>
      <p:sp>
        <p:nvSpPr>
          <p:cNvPr id="25" name="Shape 23"/>
          <p:cNvSpPr/>
          <p:nvPr/>
        </p:nvSpPr>
        <p:spPr>
          <a:xfrm>
            <a:off x="320040" y="3557016"/>
            <a:ext cx="91440" cy="749808"/>
          </a:xfrm>
          <a:prstGeom prst="rect">
            <a:avLst/>
          </a:prstGeom>
          <a:solidFill>
            <a:srgbClr val="E8600A"/>
          </a:solidFill>
          <a:ln/>
        </p:spPr>
      </p:sp>
      <p:sp>
        <p:nvSpPr>
          <p:cNvPr id="26" name="Text 24"/>
          <p:cNvSpPr txBox="1"/>
          <p:nvPr/>
        </p:nvSpPr>
        <p:spPr>
          <a:xfrm>
            <a:off x="502920" y="3557016"/>
            <a:ext cx="365760" cy="74980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7" name="Text 25"/>
          <p:cNvSpPr txBox="1"/>
          <p:nvPr/>
        </p:nvSpPr>
        <p:spPr>
          <a:xfrm>
            <a:off x="868680" y="3593592"/>
            <a:ext cx="7863840" cy="33741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4. Monitoring &amp; post-audit</a:t>
            </a:r>
            <a:endParaRPr lang="en-US" sz="1200" dirty="0"/>
          </a:p>
        </p:txBody>
      </p:sp>
      <p:sp>
        <p:nvSpPr>
          <p:cNvPr id="28" name="Text 26"/>
          <p:cNvSpPr txBox="1"/>
          <p:nvPr/>
        </p:nvSpPr>
        <p:spPr>
          <a:xfrm>
            <a:off x="868680" y="3894430"/>
            <a:ext cx="7863840" cy="4123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Compare actuals with projections to expose systematic optimism, enforce operating discipline, and generate the next round of ideas. Exercise real options as information arrives.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NPV converts a project into one number in currency — the amount shareholder wealth rises today if the forecast holds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Excel: the NPV function starts at t = 1, so the outlay sits outside it — =NPV(0.10,16,16,16,16,20) − 50 = 13.136.
</a:t>
            </a:r>
            <a:pPr indent="0" marL="0">
              <a:buNone/>
            </a:pPr>
            <a:r>
              <a:rPr lang="en-US" sz="1000" dirty="0">
                <a:solidFill>
                  <a:srgbClr val="6B7A8D"/>
                </a:solidFill>
                <a:latin typeface="Calibri" pitchFamily="34" charset="0"/>
                <a:ea typeface="Calibri" pitchFamily="34" charset="-122"/>
                <a:cs typeface="Calibri" pitchFamily="34" charset="-120"/>
              </a:rPr>
              <a:t>² NPV ≥ 0 is necessary but not sufficient: competing projects, financing limits and strategic fit still bind in step 3.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5, §3 Equation 1 and Example 4 "Gerhardt Corporation NPV", pp. 147–149.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NPV is in euros, so it can be added up and compared. IRR is a rate, which is why it cannot rank projects.</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NPV  =  CF₀  +  Σ  CFₜ / (1 + r)ᵗ          Invest if NPV ≥ 0</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CF₀ = initial outlay (negative); CFₜ = after-tax cash flow at t; r = return investors could earn on a similarly risky investment.</a:t>
            </a:r>
            <a:endParaRPr lang="en-US" sz="1100" dirty="0"/>
          </a:p>
        </p:txBody>
      </p:sp>
      <p:sp>
        <p:nvSpPr>
          <p:cNvPr id="13" name="Shape 11"/>
          <p:cNvSpPr/>
          <p:nvPr/>
        </p:nvSpPr>
        <p:spPr>
          <a:xfrm>
            <a:off x="320040" y="2331720"/>
            <a:ext cx="8503920" cy="1874520"/>
          </a:xfrm>
          <a:prstGeom prst="rect">
            <a:avLst/>
          </a:prstGeom>
          <a:solidFill>
            <a:srgbClr val="FEF0E7"/>
          </a:solidFill>
          <a:ln w="9525">
            <a:solidFill>
              <a:srgbClr val="E8600A"/>
            </a:solidFill>
            <a:prstDash val="solid"/>
          </a:ln>
        </p:spPr>
      </p:sp>
      <p:sp>
        <p:nvSpPr>
          <p:cNvPr id="14" name="Text 12"/>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GERHARDT CORPORATION — EUR 50M TODAY, r = 10%</a:t>
            </a:r>
            <a:endParaRPr lang="en-US" sz="1100" dirty="0"/>
          </a:p>
        </p:txBody>
      </p:sp>
      <p:sp>
        <p:nvSpPr>
          <p:cNvPr id="15" name="Text 13"/>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After-tax cash flows of EUR 16m a year for four years, then EUR 20m in year 5. All amounts in EUR millions.</a:t>
            </a:r>
            <a:endParaRPr lang="en-US" sz="1200" dirty="0"/>
          </a:p>
        </p:txBody>
      </p:sp>
      <p:sp>
        <p:nvSpPr>
          <p:cNvPr id="16" name="Text 14"/>
          <p:cNvSpPr txBox="1"/>
          <p:nvPr/>
        </p:nvSpPr>
        <p:spPr>
          <a:xfrm>
            <a:off x="457200" y="3182112"/>
            <a:ext cx="8229600" cy="51206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PV(y1) = 16 / 1.10  = 14.545        PV(y2) = 16 / 1.10²  = 13.223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PV(y3) = 16 / 1.10³ = 12.021        PV(y4) = 16 / 1.10⁴  = 10.928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PV(y5) = 20 / 1.10⁵ = 12.418        Sum of inflows       = 63.136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NPV = −50 + 63.136 = +13.136  ⇒  pay 50 today for something worth 63.136</a:t>
            </a:r>
            <a:endParaRPr lang="en-US" sz="1050" dirty="0"/>
          </a:p>
        </p:txBody>
      </p:sp>
      <p:sp>
        <p:nvSpPr>
          <p:cNvPr id="17" name="Shape 15"/>
          <p:cNvSpPr/>
          <p:nvPr/>
        </p:nvSpPr>
        <p:spPr>
          <a:xfrm>
            <a:off x="411480" y="3767328"/>
            <a:ext cx="8321040" cy="365760"/>
          </a:xfrm>
          <a:prstGeom prst="rect">
            <a:avLst/>
          </a:prstGeom>
          <a:solidFill>
            <a:srgbClr val="E8600A"/>
          </a:solidFill>
          <a:ln/>
        </p:spPr>
      </p:sp>
      <p:sp>
        <p:nvSpPr>
          <p:cNvPr id="18" name="Text 16"/>
          <p:cNvSpPr txBox="1"/>
          <p:nvPr/>
        </p:nvSpPr>
        <p:spPr>
          <a:xfrm>
            <a:off x="457200" y="37673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NPV = +EUR 13.136M  →  INVEST  (+26% on the outlay, in present value)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Inflation is a matching problem: nominal cash flows at a nominal rate, real cash flows at a real rate — matched, they give the same answer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Consistency is not immunity: Tolonen matched real flows to a real rate, lithium then rose 10% against a 5% forecast, and the project still moved.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5, §4 cognitive error "Inconsistent treatment of inflation" and the Tolonen question, pp. 160–162. Figures below are illustrative.</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Either convention is fine. Mixing them is the cognitive error — and it silently inflates or deflates the NPV.</a:t>
            </a:r>
            <a:endParaRPr lang="en-US" sz="1300" dirty="0"/>
          </a:p>
        </p:txBody>
      </p:sp>
      <p:sp>
        <p:nvSpPr>
          <p:cNvPr id="10" name="Shape 8"/>
          <p:cNvSpPr/>
          <p:nvPr/>
        </p:nvSpPr>
        <p:spPr>
          <a:xfrm>
            <a:off x="320040" y="1188720"/>
            <a:ext cx="8503920" cy="694944"/>
          </a:xfrm>
          <a:prstGeom prst="rect">
            <a:avLst/>
          </a:prstGeom>
          <a:solidFill>
            <a:srgbClr val="1B2A4A"/>
          </a:solidFill>
          <a:ln/>
        </p:spPr>
      </p:sp>
      <p:sp>
        <p:nvSpPr>
          <p:cNvPr id="11" name="Text 9"/>
          <p:cNvSpPr txBox="1"/>
          <p:nvPr/>
        </p:nvSpPr>
        <p:spPr>
          <a:xfrm>
            <a:off x="411480" y="1188720"/>
            <a:ext cx="8321040" cy="694944"/>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(1 + r_nominal)  =  (1 + r_real) × (1 + π)      ⇒      r_real  =  (1 + r_nominal) / (1 + π)  −  1</a:t>
            </a:r>
            <a:endParaRPr lang="en-US" sz="1800" dirty="0"/>
          </a:p>
        </p:txBody>
      </p:sp>
      <p:sp>
        <p:nvSpPr>
          <p:cNvPr id="12" name="Text 10"/>
          <p:cNvSpPr txBox="1"/>
          <p:nvPr/>
        </p:nvSpPr>
        <p:spPr>
          <a:xfrm>
            <a:off x="320040" y="1911096"/>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π = expected inflation. Mixing conventions — nominal CFs at a real rate, or the reverse — is meaningless.</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2240280"/>
          <a:ext cx="8503920" cy="914400"/>
        </p:xfrm>
        <a:graphic>
          <a:graphicData uri="http://schemas.openxmlformats.org/drawingml/2006/table">
            <a:tbl>
              <a:tblPr/>
              <a:tblGrid>
                <a:gridCol w="3017520"/>
                <a:gridCol w="1097280"/>
                <a:gridCol w="1097280"/>
                <a:gridCol w="1097280"/>
                <a:gridCol w="1097280"/>
                <a:gridCol w="10972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Illustrative project, π = 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 = 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 = 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 = 2</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 = 3</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NPV</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Real cash flow (today's prices)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Nominal CF = real CF × 1.05^t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44.1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Nominal CF discounted at 10.00%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38.18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36.45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34.79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Real CF discounted at 4.76%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38.18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36.45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34.79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Matched conventions → same answer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+9.42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IRR is the rate that zeros NPV — a fine accept/reject test for one project, and the wrong tool the moment you have to choose between two</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Reinvestment: IRR assumes interim cash flows earn the IRR; NPV assumes they earn r, which the curriculum calls the more economically realistic assumption.
</a:t>
            </a:r>
            <a:pPr indent="0" marL="0">
              <a:buNone/>
            </a:pPr>
            <a:r>
              <a:rPr lang="en-US" sz="1000" dirty="0">
                <a:solidFill>
                  <a:srgbClr val="6B7A8D"/>
                </a:solidFill>
                <a:latin typeface="Calibri" pitchFamily="34" charset="0"/>
                <a:ea typeface="Calibri" pitchFamily="34" charset="-122"/>
                <a:cs typeface="Calibri" pitchFamily="34" charset="-120"/>
              </a:rPr>
              <a:t>² For mutually exclusive projects, the higher NPV always wins — the curriculum is explicit that NPV is the theoretically sound criterion.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5, §3 Equation 2, Example 6, the multiple-IRR case and "Which to use: NPV or IRR?", pp. 150–153.</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Same Gerhardt cash flows: IRR = 19.52% against a 10% hurdle, so invest. Now three ways the rule falls over.</a:t>
            </a:r>
            <a:endParaRPr lang="en-US" sz="1300" dirty="0"/>
          </a:p>
        </p:txBody>
      </p:sp>
      <p:sp>
        <p:nvSpPr>
          <p:cNvPr id="10" name="Shape 8"/>
          <p:cNvSpPr/>
          <p:nvPr/>
        </p:nvSpPr>
        <p:spPr>
          <a:xfrm>
            <a:off x="320040" y="1188720"/>
            <a:ext cx="8503920" cy="621792"/>
          </a:xfrm>
          <a:prstGeom prst="rect">
            <a:avLst/>
          </a:prstGeom>
          <a:solidFill>
            <a:srgbClr val="1B2A4A"/>
          </a:solidFill>
          <a:ln/>
        </p:spPr>
      </p:sp>
      <p:sp>
        <p:nvSpPr>
          <p:cNvPr id="11" name="Text 9"/>
          <p:cNvSpPr txBox="1"/>
          <p:nvPr/>
        </p:nvSpPr>
        <p:spPr>
          <a:xfrm>
            <a:off x="411480" y="1188720"/>
            <a:ext cx="8321040" cy="62179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IRR  =  the rate r* for which   Σₜ  CFₜ / (1 + r*)ᵗ  =  0          Invest if IRR ≥ r</a:t>
            </a:r>
            <a:endParaRPr lang="en-US" sz="1800" dirty="0"/>
          </a:p>
        </p:txBody>
      </p:sp>
      <p:sp>
        <p:nvSpPr>
          <p:cNvPr id="12" name="Shape 10"/>
          <p:cNvSpPr/>
          <p:nvPr/>
        </p:nvSpPr>
        <p:spPr>
          <a:xfrm>
            <a:off x="320040" y="1956816"/>
            <a:ext cx="2743200" cy="2231136"/>
          </a:xfrm>
          <a:prstGeom prst="rect">
            <a:avLst/>
          </a:prstGeom>
          <a:solidFill>
            <a:srgbClr val="F5F7FA"/>
          </a:solidFill>
          <a:ln/>
        </p:spPr>
      </p:sp>
      <p:sp>
        <p:nvSpPr>
          <p:cNvPr id="13" name="Shape 11"/>
          <p:cNvSpPr/>
          <p:nvPr/>
        </p:nvSpPr>
        <p:spPr>
          <a:xfrm>
            <a:off x="320040" y="1956816"/>
            <a:ext cx="73152" cy="2231136"/>
          </a:xfrm>
          <a:prstGeom prst="rect">
            <a:avLst/>
          </a:prstGeom>
          <a:solidFill>
            <a:srgbClr val="B71C1C"/>
          </a:solidFill>
          <a:ln/>
        </p:spPr>
      </p:sp>
      <p:sp>
        <p:nvSpPr>
          <p:cNvPr id="14" name="Text 12"/>
          <p:cNvSpPr txBox="1"/>
          <p:nvPr/>
        </p:nvSpPr>
        <p:spPr>
          <a:xfrm>
            <a:off x="457200" y="2048256"/>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FAILURE 1  ·  ROOTS</a:t>
            </a:r>
            <a:endParaRPr lang="en-US" sz="1100" dirty="0"/>
          </a:p>
        </p:txBody>
      </p:sp>
      <p:sp>
        <p:nvSpPr>
          <p:cNvPr id="15" name="Text 13"/>
          <p:cNvSpPr txBox="1"/>
          <p:nvPr/>
        </p:nvSpPr>
        <p:spPr>
          <a:xfrm>
            <a:off x="457200" y="2414016"/>
            <a:ext cx="2468880" cy="1682496"/>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Signs flip more than once. Cash flows of −1,000 / +5,000 / −6,000 set NPV = 0 at BOTH 100% and 200%.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Excel and calculators return the lowest root and say nothing about the other.</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When signs change twice, use NPV.</a:t>
            </a:r>
            <a:endParaRPr lang="en-US" sz="1100" dirty="0"/>
          </a:p>
        </p:txBody>
      </p:sp>
      <p:sp>
        <p:nvSpPr>
          <p:cNvPr id="16" name="Shape 14"/>
          <p:cNvSpPr/>
          <p:nvPr/>
        </p:nvSpPr>
        <p:spPr>
          <a:xfrm>
            <a:off x="3200400" y="1956816"/>
            <a:ext cx="2743200" cy="2231136"/>
          </a:xfrm>
          <a:prstGeom prst="rect">
            <a:avLst/>
          </a:prstGeom>
          <a:solidFill>
            <a:srgbClr val="F5F7FA"/>
          </a:solidFill>
          <a:ln/>
        </p:spPr>
      </p:sp>
      <p:sp>
        <p:nvSpPr>
          <p:cNvPr id="17" name="Shape 15"/>
          <p:cNvSpPr/>
          <p:nvPr/>
        </p:nvSpPr>
        <p:spPr>
          <a:xfrm>
            <a:off x="3200400" y="1956816"/>
            <a:ext cx="73152" cy="2231136"/>
          </a:xfrm>
          <a:prstGeom prst="rect">
            <a:avLst/>
          </a:prstGeom>
          <a:solidFill>
            <a:srgbClr val="B71C1C"/>
          </a:solidFill>
          <a:ln/>
        </p:spPr>
      </p:sp>
      <p:sp>
        <p:nvSpPr>
          <p:cNvPr id="18" name="Text 16"/>
          <p:cNvSpPr txBox="1"/>
          <p:nvPr/>
        </p:nvSpPr>
        <p:spPr>
          <a:xfrm>
            <a:off x="3337560" y="2048256"/>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FAILURE 2  ·  SCALE</a:t>
            </a:r>
            <a:endParaRPr lang="en-US" sz="1100" dirty="0"/>
          </a:p>
        </p:txBody>
      </p:sp>
      <p:sp>
        <p:nvSpPr>
          <p:cNvPr id="19" name="Text 17"/>
          <p:cNvSpPr txBox="1"/>
          <p:nvPr/>
        </p:nvSpPr>
        <p:spPr>
          <a:xfrm>
            <a:off x="3337560" y="2414016"/>
            <a:ext cx="2468880" cy="1682496"/>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At r = 10%, one year:</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A — invest 100, receive 150.</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IRR 50%, NPV +36.</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B — invest 1,000, receive 1,300.</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IRR 30%, NPV +182.</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Mutually exclusive? Take B. IRR ranks rates; only NPV ranks money.</a:t>
            </a:r>
            <a:endParaRPr lang="en-US" sz="1100" dirty="0"/>
          </a:p>
        </p:txBody>
      </p:sp>
      <p:sp>
        <p:nvSpPr>
          <p:cNvPr id="20" name="Shape 18"/>
          <p:cNvSpPr/>
          <p:nvPr/>
        </p:nvSpPr>
        <p:spPr>
          <a:xfrm>
            <a:off x="6080760" y="1956816"/>
            <a:ext cx="2743200" cy="2231136"/>
          </a:xfrm>
          <a:prstGeom prst="rect">
            <a:avLst/>
          </a:prstGeom>
          <a:solidFill>
            <a:srgbClr val="F5F7FA"/>
          </a:solidFill>
          <a:ln/>
        </p:spPr>
      </p:sp>
      <p:sp>
        <p:nvSpPr>
          <p:cNvPr id="21" name="Shape 19"/>
          <p:cNvSpPr/>
          <p:nvPr/>
        </p:nvSpPr>
        <p:spPr>
          <a:xfrm>
            <a:off x="6080760" y="1956816"/>
            <a:ext cx="73152" cy="2231136"/>
          </a:xfrm>
          <a:prstGeom prst="rect">
            <a:avLst/>
          </a:prstGeom>
          <a:solidFill>
            <a:srgbClr val="B71C1C"/>
          </a:solidFill>
          <a:ln/>
        </p:spPr>
      </p:sp>
      <p:sp>
        <p:nvSpPr>
          <p:cNvPr id="22" name="Text 20"/>
          <p:cNvSpPr txBox="1"/>
          <p:nvPr/>
        </p:nvSpPr>
        <p:spPr>
          <a:xfrm>
            <a:off x="6217920" y="2048256"/>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FAILURE 3  ·  REINVEST</a:t>
            </a:r>
            <a:endParaRPr lang="en-US" sz="1100" dirty="0"/>
          </a:p>
        </p:txBody>
      </p:sp>
      <p:sp>
        <p:nvSpPr>
          <p:cNvPr id="23" name="Text 21"/>
          <p:cNvSpPr txBox="1"/>
          <p:nvPr/>
        </p:nvSpPr>
        <p:spPr>
          <a:xfrm>
            <a:off x="6217920" y="2414016"/>
            <a:ext cx="2468880" cy="1682496"/>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IRR only equals your realised return if every interim cash flow is reinvested at the IRR itself.</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A 30% IRR quietly assumes you can redeploy at 30%. Reinvest below it and you earn less than the IRR.</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NPV assumes reinvestment at 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ROIC is the capital-efficiency test an outsider can actually compute — and it splits cleanly into margin times turnover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ROIC is an accounting measure, backward-looking, and there is no consensus on the denominator — read the trend and the peer set, not one year.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5, §3 Equation 3, Example 8 and the ROIC decomposition, pp. 153–156.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NPV and IRR need project data you will never see. ROIC comes off the published statements — and compares directly with the required return.</a:t>
            </a:r>
            <a:endParaRPr lang="en-US" sz="1300" dirty="0"/>
          </a:p>
        </p:txBody>
      </p:sp>
      <p:sp>
        <p:nvSpPr>
          <p:cNvPr id="10" name="Shape 8"/>
          <p:cNvSpPr/>
          <p:nvPr/>
        </p:nvSpPr>
        <p:spPr>
          <a:xfrm>
            <a:off x="320040" y="1188720"/>
            <a:ext cx="8503920" cy="694944"/>
          </a:xfrm>
          <a:prstGeom prst="rect">
            <a:avLst/>
          </a:prstGeom>
          <a:solidFill>
            <a:srgbClr val="1B2A4A"/>
          </a:solidFill>
          <a:ln/>
        </p:spPr>
      </p:sp>
      <p:sp>
        <p:nvSpPr>
          <p:cNvPr id="11" name="Text 9"/>
          <p:cNvSpPr txBox="1"/>
          <p:nvPr/>
        </p:nvSpPr>
        <p:spPr>
          <a:xfrm>
            <a:off x="411480" y="1188720"/>
            <a:ext cx="8321040" cy="694944"/>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ROIC  =  After-tax operating profit / Average invested capital  =  Margin  ×  Turnover</a:t>
            </a:r>
            <a:endParaRPr lang="en-US" sz="1800" dirty="0"/>
          </a:p>
        </p:txBody>
      </p:sp>
      <p:sp>
        <p:nvSpPr>
          <p:cNvPr id="12" name="Text 10"/>
          <p:cNvSpPr txBox="1"/>
          <p:nvPr/>
        </p:nvSpPr>
        <p:spPr>
          <a:xfrm>
            <a:off x="320040" y="1911096"/>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Invested capital = average of beginning and ending long-term liabilities plus equity. Working capital is excluded.</a:t>
            </a:r>
            <a:endParaRPr lang="en-US" sz="1100" dirty="0"/>
          </a:p>
        </p:txBody>
      </p:sp>
      <p:sp>
        <p:nvSpPr>
          <p:cNvPr id="13" name="Shape 11"/>
          <p:cNvSpPr/>
          <p:nvPr/>
        </p:nvSpPr>
        <p:spPr>
          <a:xfrm>
            <a:off x="320040" y="2286000"/>
            <a:ext cx="4160520" cy="2011680"/>
          </a:xfrm>
          <a:prstGeom prst="rect">
            <a:avLst/>
          </a:prstGeom>
          <a:solidFill>
            <a:srgbClr val="FEF0E7"/>
          </a:solidFill>
          <a:ln w="9525">
            <a:solidFill>
              <a:srgbClr val="E8600A"/>
            </a:solidFill>
            <a:prstDash val="solid"/>
          </a:ln>
        </p:spPr>
      </p:sp>
      <p:sp>
        <p:nvSpPr>
          <p:cNvPr id="14" name="Text 12"/>
          <p:cNvSpPr txBox="1"/>
          <p:nvPr/>
        </p:nvSpPr>
        <p:spPr>
          <a:xfrm>
            <a:off x="457200" y="233172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CURRICULUM EXAMPLE 8  —  ROIC IN YEAR 2</a:t>
            </a:r>
            <a:endParaRPr lang="en-US" sz="1100" dirty="0"/>
          </a:p>
        </p:txBody>
      </p:sp>
      <p:sp>
        <p:nvSpPr>
          <p:cNvPr id="15" name="Text 13"/>
          <p:cNvSpPr txBox="1"/>
          <p:nvPr/>
        </p:nvSpPr>
        <p:spPr>
          <a:xfrm>
            <a:off x="457200" y="262432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After-tax operating profit 24,395. Long-term debt + share capital + retained earnings: Y1 276,387; Y2 282,280.</a:t>
            </a:r>
            <a:endParaRPr lang="en-US" sz="1200" dirty="0"/>
          </a:p>
        </p:txBody>
      </p:sp>
      <p:sp>
        <p:nvSpPr>
          <p:cNvPr id="16" name="Text 14"/>
          <p:cNvSpPr txBox="1"/>
          <p:nvPr/>
        </p:nvSpPr>
        <p:spPr>
          <a:xfrm>
            <a:off x="457200" y="3136392"/>
            <a:ext cx="3886200" cy="64922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Average invested capital = (276,387 + 282,280) / 2 = 279,333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ROIC = 24,395 / 279,333 = 8.73%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Investors' required return = 10%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8.73% &lt; 10% — profitable, but not earning its cost of capital</a:t>
            </a:r>
            <a:endParaRPr lang="en-US" sz="1050" dirty="0"/>
          </a:p>
        </p:txBody>
      </p:sp>
      <p:sp>
        <p:nvSpPr>
          <p:cNvPr id="17" name="Shape 15"/>
          <p:cNvSpPr/>
          <p:nvPr/>
        </p:nvSpPr>
        <p:spPr>
          <a:xfrm>
            <a:off x="411480" y="3858768"/>
            <a:ext cx="3977640" cy="365760"/>
          </a:xfrm>
          <a:prstGeom prst="rect">
            <a:avLst/>
          </a:prstGeom>
          <a:solidFill>
            <a:srgbClr val="E8600A"/>
          </a:solidFill>
          <a:ln/>
        </p:spPr>
      </p:sp>
      <p:sp>
        <p:nvSpPr>
          <p:cNvPr id="18" name="Text 16"/>
          <p:cNvSpPr txBox="1"/>
          <p:nvPr/>
        </p:nvSpPr>
        <p:spPr>
          <a:xfrm>
            <a:off x="457200" y="385876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ROIC 8.73%  &lt;  10% REQUIRED  →  LOOK ELSEWHERE</a:t>
            </a:r>
            <a:endParaRPr lang="en-US" sz="1150" dirty="0"/>
          </a:p>
        </p:txBody>
      </p:sp>
      <p:sp>
        <p:nvSpPr>
          <p:cNvPr id="19" name="Shape 17"/>
          <p:cNvSpPr/>
          <p:nvPr/>
        </p:nvSpPr>
        <p:spPr>
          <a:xfrm>
            <a:off x="4663440" y="2286000"/>
            <a:ext cx="4160520" cy="2011680"/>
          </a:xfrm>
          <a:prstGeom prst="rect">
            <a:avLst/>
          </a:prstGeom>
          <a:solidFill>
            <a:srgbClr val="FEF0E7"/>
          </a:solidFill>
          <a:ln/>
        </p:spPr>
      </p:sp>
      <p:sp>
        <p:nvSpPr>
          <p:cNvPr id="20" name="Shape 18"/>
          <p:cNvSpPr/>
          <p:nvPr/>
        </p:nvSpPr>
        <p:spPr>
          <a:xfrm>
            <a:off x="4663440" y="2286000"/>
            <a:ext cx="73152" cy="2011680"/>
          </a:xfrm>
          <a:prstGeom prst="rect">
            <a:avLst/>
          </a:prstGeom>
          <a:solidFill>
            <a:srgbClr val="E8600A"/>
          </a:solidFill>
          <a:ln/>
        </p:spPr>
      </p:sp>
      <p:sp>
        <p:nvSpPr>
          <p:cNvPr id="21" name="Text 19"/>
          <p:cNvSpPr txBox="1"/>
          <p:nvPr/>
        </p:nvSpPr>
        <p:spPr>
          <a:xfrm>
            <a:off x="4800600" y="2331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TWO ROUTES TO THE SAME ROIC</a:t>
            </a:r>
            <a:endParaRPr lang="en-US" sz="1100" dirty="0"/>
          </a:p>
        </p:txBody>
      </p:sp>
      <p:sp>
        <p:nvSpPr>
          <p:cNvPr id="22" name="Text 20"/>
          <p:cNvSpPr txBox="1"/>
          <p:nvPr/>
        </p:nvSpPr>
        <p:spPr>
          <a:xfrm>
            <a:off x="4800600" y="2606040"/>
            <a:ext cx="3931920" cy="1645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ROIC  =  (After-tax profit / Sales)  ×  (Sales / Invested capital)</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Premium route — fat margin, slow turnover. Luxury goods, patented pharma.</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Volume route — thin margin, fast turnover. Discount retail, distribution.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 high-margin firm can still earn a poor ROIC if turnover is low, and a low-margin firm can earn an excellent one if turnover is high.</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Three principles prevent most of it; what remains is three cognitive errors you fix with process and four behavioral biases you fix with governance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Inertia evidence: Hall, Lovallo &amp; Musters, "How to Put Your Money Where Your Strategy Is", McKinsey Quarterly, March 2012.
</a:t>
            </a:r>
            <a:pPr indent="0" marL="0">
              <a:buNone/>
            </a:pPr>
            <a:r>
              <a:rPr lang="en-US" sz="1000" dirty="0">
                <a:solidFill>
                  <a:srgbClr val="6B7A8D"/>
                </a:solidFill>
                <a:latin typeface="Calibri" pitchFamily="34" charset="0"/>
                <a:ea typeface="Calibri" pitchFamily="34" charset="-122"/>
                <a:cs typeface="Calibri" pitchFamily="34" charset="-120"/>
              </a:rPr>
              <a:t>² Detection: plot segment capex against segment ROIC. Rising capex into falling ROIC is the inertia signature.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5, §4 "Capital Allocation Principles and Pitfalls", pp. 159–162.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Cognitive errors are calculation and process failures. Behavioral biases are judgement failures — those need the board.</a:t>
            </a:r>
            <a:endParaRPr lang="en-US" sz="1300" dirty="0"/>
          </a:p>
        </p:txBody>
      </p:sp>
      <p:sp>
        <p:nvSpPr>
          <p:cNvPr id="10" name="Shape 8"/>
          <p:cNvSpPr/>
          <p:nvPr/>
        </p:nvSpPr>
        <p:spPr>
          <a:xfrm>
            <a:off x="320040" y="1078992"/>
            <a:ext cx="8503920" cy="804672"/>
          </a:xfrm>
          <a:prstGeom prst="rect">
            <a:avLst/>
          </a:prstGeom>
          <a:solidFill>
            <a:srgbClr val="FEF0E7"/>
          </a:solidFill>
          <a:ln/>
        </p:spPr>
      </p:sp>
      <p:sp>
        <p:nvSpPr>
          <p:cNvPr id="11" name="Shape 9"/>
          <p:cNvSpPr/>
          <p:nvPr/>
        </p:nvSpPr>
        <p:spPr>
          <a:xfrm>
            <a:off x="320040" y="1078992"/>
            <a:ext cx="73152" cy="804672"/>
          </a:xfrm>
          <a:prstGeom prst="rect">
            <a:avLst/>
          </a:prstGeom>
          <a:solidFill>
            <a:srgbClr val="E8600A"/>
          </a:solidFill>
          <a:ln/>
        </p:spPr>
      </p:sp>
      <p:sp>
        <p:nvSpPr>
          <p:cNvPr id="12" name="Text 10"/>
          <p:cNvSpPr txBox="1"/>
          <p:nvPr/>
        </p:nvSpPr>
        <p:spPr>
          <a:xfrm>
            <a:off x="457200" y="112471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THREE PRINCIPLES  —  APPLY THESE AND MOST PITFALLS NEVER ARISE</a:t>
            </a:r>
            <a:endParaRPr lang="en-US" sz="1100" dirty="0"/>
          </a:p>
        </p:txBody>
      </p:sp>
      <p:sp>
        <p:nvSpPr>
          <p:cNvPr id="13" name="Text 11"/>
          <p:cNvSpPr txBox="1"/>
          <p:nvPr/>
        </p:nvSpPr>
        <p:spPr>
          <a:xfrm>
            <a:off x="457200" y="1399032"/>
            <a:ext cx="8275320" cy="43891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 Decide on after-tax cash flows, not accounting profit.   2 — Count only incremental cash flows: ignore sunk costs, but include cannibalisation of existing products and cost savings elsewhere in the firm.   3 — Get the timing right: shifting cash flows between periods changes both NPV and IRR.</a:t>
            </a:r>
            <a:endParaRPr lang="en-US" sz="1200" dirty="0"/>
          </a:p>
        </p:txBody>
      </p:sp>
      <p:sp>
        <p:nvSpPr>
          <p:cNvPr id="14" name="Shape 12"/>
          <p:cNvSpPr/>
          <p:nvPr/>
        </p:nvSpPr>
        <p:spPr>
          <a:xfrm>
            <a:off x="320040" y="1975104"/>
            <a:ext cx="4160520" cy="2240280"/>
          </a:xfrm>
          <a:prstGeom prst="rect">
            <a:avLst/>
          </a:prstGeom>
          <a:solidFill>
            <a:srgbClr val="F5F7FA"/>
          </a:solidFill>
          <a:ln/>
        </p:spPr>
      </p:sp>
      <p:sp>
        <p:nvSpPr>
          <p:cNvPr id="15" name="Shape 13"/>
          <p:cNvSpPr/>
          <p:nvPr/>
        </p:nvSpPr>
        <p:spPr>
          <a:xfrm>
            <a:off x="320040" y="1975104"/>
            <a:ext cx="73152" cy="2240280"/>
          </a:xfrm>
          <a:prstGeom prst="rect">
            <a:avLst/>
          </a:prstGeom>
          <a:solidFill>
            <a:srgbClr val="1B2A4A"/>
          </a:solidFill>
          <a:ln/>
        </p:spPr>
      </p:sp>
      <p:sp>
        <p:nvSpPr>
          <p:cNvPr id="16" name="Text 14"/>
          <p:cNvSpPr txBox="1"/>
          <p:nvPr/>
        </p:nvSpPr>
        <p:spPr>
          <a:xfrm>
            <a:off x="457200" y="2066544"/>
            <a:ext cx="3886200" cy="292608"/>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COGNITIVE ERRORS  ·  PROCESS</a:t>
            </a:r>
            <a:endParaRPr lang="en-US" sz="1100" dirty="0"/>
          </a:p>
        </p:txBody>
      </p:sp>
      <p:sp>
        <p:nvSpPr>
          <p:cNvPr id="17" name="Text 15"/>
          <p:cNvSpPr txBox="1"/>
          <p:nvPr/>
        </p:nvSpPr>
        <p:spPr>
          <a:xfrm>
            <a:off x="457200" y="2432304"/>
            <a:ext cx="3886200" cy="16916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1 · Internal forecasting errors — overhead understated, competitor response ignored, wrong cost or return inputs.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2 · Ignoring the cost of internal financing — retained cash is equity withheld from shareholders, so it carries their opportunity cost. Same r whatever the source.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3 · Inconsistent treatment of inflation — nominal cash flows at a real rate, or the reverse.</a:t>
            </a:r>
            <a:endParaRPr lang="en-US" sz="1100" dirty="0"/>
          </a:p>
        </p:txBody>
      </p:sp>
      <p:sp>
        <p:nvSpPr>
          <p:cNvPr id="18" name="Shape 16"/>
          <p:cNvSpPr/>
          <p:nvPr/>
        </p:nvSpPr>
        <p:spPr>
          <a:xfrm>
            <a:off x="4663440" y="1975104"/>
            <a:ext cx="4160520" cy="2240280"/>
          </a:xfrm>
          <a:prstGeom prst="rect">
            <a:avLst/>
          </a:prstGeom>
          <a:solidFill>
            <a:srgbClr val="FEF0E7"/>
          </a:solidFill>
          <a:ln/>
        </p:spPr>
      </p:sp>
      <p:sp>
        <p:nvSpPr>
          <p:cNvPr id="19" name="Shape 17"/>
          <p:cNvSpPr/>
          <p:nvPr/>
        </p:nvSpPr>
        <p:spPr>
          <a:xfrm>
            <a:off x="4663440" y="1975104"/>
            <a:ext cx="73152" cy="2240280"/>
          </a:xfrm>
          <a:prstGeom prst="rect">
            <a:avLst/>
          </a:prstGeom>
          <a:solidFill>
            <a:srgbClr val="E8600A"/>
          </a:solidFill>
          <a:ln/>
        </p:spPr>
      </p:sp>
      <p:sp>
        <p:nvSpPr>
          <p:cNvPr id="20" name="Text 18"/>
          <p:cNvSpPr txBox="1"/>
          <p:nvPr/>
        </p:nvSpPr>
        <p:spPr>
          <a:xfrm>
            <a:off x="4800600" y="2066544"/>
            <a:ext cx="3886200" cy="292608"/>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BEHAVIORAL BIASES  ·  GOVERNANCE</a:t>
            </a:r>
            <a:endParaRPr lang="en-US" sz="1100" dirty="0"/>
          </a:p>
        </p:txBody>
      </p:sp>
      <p:sp>
        <p:nvSpPr>
          <p:cNvPr id="21" name="Text 19"/>
          <p:cNvSpPr txBox="1"/>
          <p:nvPr/>
        </p:nvSpPr>
        <p:spPr>
          <a:xfrm>
            <a:off x="4800600" y="2432304"/>
            <a:ext cx="3886200" cy="16916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4 · Inertia — capex anchored to last year. McKinsey found 0.92 year-on-year correlation across 1,600+ US listed firms.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5 · Deciding on EPS or RoE — a high-NPV project can dent near-term earnings while buybacks flatter them.</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6 · Pet projects — waved through without analysis, or run on flattering assumptions.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7 · No alternatives, no scenarios — no break-even, no simulation, often no history of ever having failed.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Real options are the right, not the obligation, to change course later — timing, sizing, flexibility and fundamental</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5, §5 "Real Options", Equation 4 and Question Set Q3, pp. 163–165 and 168–169.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Option cost is what you pay upfront to keep the choice open. Option value is what the choice turns out to be worth.</a:t>
            </a:r>
            <a:endParaRPr lang="en-US" sz="1300" dirty="0"/>
          </a:p>
        </p:txBody>
      </p:sp>
      <p:sp>
        <p:nvSpPr>
          <p:cNvPr id="9" name="Shape 7"/>
          <p:cNvSpPr/>
          <p:nvPr/>
        </p:nvSpPr>
        <p:spPr>
          <a:xfrm>
            <a:off x="320040" y="1078992"/>
            <a:ext cx="8503920" cy="566928"/>
          </a:xfrm>
          <a:prstGeom prst="rect">
            <a:avLst/>
          </a:prstGeom>
          <a:solidFill>
            <a:srgbClr val="1B2A4A"/>
          </a:solidFill>
          <a:ln/>
        </p:spPr>
      </p:sp>
      <p:sp>
        <p:nvSpPr>
          <p:cNvPr id="10" name="Text 8"/>
          <p:cNvSpPr txBox="1"/>
          <p:nvPr/>
        </p:nvSpPr>
        <p:spPr>
          <a:xfrm>
            <a:off x="411480" y="1078992"/>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Project NPV = NPV(without options) − Option cost + Option value</a:t>
            </a:r>
            <a:endParaRPr lang="en-US" sz="1800" dirty="0"/>
          </a:p>
        </p:txBody>
      </p:sp>
      <p:sp>
        <p:nvSpPr>
          <p:cNvPr id="11" name="Text 9"/>
          <p:cNvSpPr txBox="1"/>
          <p:nvPr/>
        </p:nvSpPr>
        <p:spPr>
          <a:xfrm>
            <a:off x="320040" y="167335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Option value above option cost means the flexibility pays. Price it with a decision tree or an option-pricing model.</a:t>
            </a:r>
            <a:endParaRPr lang="en-US" sz="1100" dirty="0"/>
          </a:p>
        </p:txBody>
      </p:sp>
      <p:sp>
        <p:nvSpPr>
          <p:cNvPr id="12" name="Shape 10"/>
          <p:cNvSpPr/>
          <p:nvPr/>
        </p:nvSpPr>
        <p:spPr>
          <a:xfrm>
            <a:off x="320040" y="1993392"/>
            <a:ext cx="4169664" cy="841248"/>
          </a:xfrm>
          <a:prstGeom prst="rect">
            <a:avLst/>
          </a:prstGeom>
          <a:solidFill>
            <a:srgbClr val="FEF0E7"/>
          </a:solidFill>
          <a:ln/>
        </p:spPr>
      </p:sp>
      <p:sp>
        <p:nvSpPr>
          <p:cNvPr id="13" name="Shape 11"/>
          <p:cNvSpPr/>
          <p:nvPr/>
        </p:nvSpPr>
        <p:spPr>
          <a:xfrm>
            <a:off x="320040" y="1993392"/>
            <a:ext cx="73152" cy="841248"/>
          </a:xfrm>
          <a:prstGeom prst="rect">
            <a:avLst/>
          </a:prstGeom>
          <a:solidFill>
            <a:srgbClr val="E8600A"/>
          </a:solidFill>
          <a:ln/>
        </p:spPr>
      </p:sp>
      <p:sp>
        <p:nvSpPr>
          <p:cNvPr id="14" name="Text 12"/>
          <p:cNvSpPr txBox="1"/>
          <p:nvPr/>
        </p:nvSpPr>
        <p:spPr>
          <a:xfrm>
            <a:off x="457200" y="2039112"/>
            <a:ext cx="394106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TIMING OPTION</a:t>
            </a:r>
            <a:endParaRPr lang="en-US" sz="1100" dirty="0"/>
          </a:p>
        </p:txBody>
      </p:sp>
      <p:sp>
        <p:nvSpPr>
          <p:cNvPr id="15" name="Text 13"/>
          <p:cNvSpPr txBox="1"/>
          <p:nvPr/>
        </p:nvSpPr>
        <p:spPr>
          <a:xfrm>
            <a:off x="457200" y="2313432"/>
            <a:ext cx="3941064" cy="47548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Invest later rather than now. Give up near-term cash flow to buy information — wait for the subsidy law before building the solar farm.</a:t>
            </a:r>
            <a:endParaRPr lang="en-US" sz="1200" dirty="0"/>
          </a:p>
        </p:txBody>
      </p:sp>
      <p:sp>
        <p:nvSpPr>
          <p:cNvPr id="16" name="Shape 14"/>
          <p:cNvSpPr/>
          <p:nvPr/>
        </p:nvSpPr>
        <p:spPr>
          <a:xfrm>
            <a:off x="4654296" y="1993392"/>
            <a:ext cx="4169664" cy="841248"/>
          </a:xfrm>
          <a:prstGeom prst="rect">
            <a:avLst/>
          </a:prstGeom>
          <a:solidFill>
            <a:srgbClr val="F5F7FA"/>
          </a:solidFill>
          <a:ln/>
        </p:spPr>
      </p:sp>
      <p:sp>
        <p:nvSpPr>
          <p:cNvPr id="17" name="Shape 15"/>
          <p:cNvSpPr/>
          <p:nvPr/>
        </p:nvSpPr>
        <p:spPr>
          <a:xfrm>
            <a:off x="4654296" y="1993392"/>
            <a:ext cx="73152" cy="841248"/>
          </a:xfrm>
          <a:prstGeom prst="rect">
            <a:avLst/>
          </a:prstGeom>
          <a:solidFill>
            <a:srgbClr val="1B2A4A"/>
          </a:solidFill>
          <a:ln/>
        </p:spPr>
      </p:sp>
      <p:sp>
        <p:nvSpPr>
          <p:cNvPr id="18" name="Text 16"/>
          <p:cNvSpPr txBox="1"/>
          <p:nvPr/>
        </p:nvSpPr>
        <p:spPr>
          <a:xfrm>
            <a:off x="4791456" y="2039112"/>
            <a:ext cx="394106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SIZING OPTION</a:t>
            </a:r>
            <a:endParaRPr lang="en-US" sz="1100" dirty="0"/>
          </a:p>
        </p:txBody>
      </p:sp>
      <p:sp>
        <p:nvSpPr>
          <p:cNvPr id="19" name="Text 17"/>
          <p:cNvSpPr txBox="1"/>
          <p:nvPr/>
        </p:nvSpPr>
        <p:spPr>
          <a:xfrm>
            <a:off x="4791456" y="2313432"/>
            <a:ext cx="3941064" cy="47548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Abandon if results disappoint, expand if they are strong. This is the option embedded in any staged capital programme.</a:t>
            </a:r>
            <a:endParaRPr lang="en-US" sz="1200" dirty="0"/>
          </a:p>
        </p:txBody>
      </p:sp>
      <p:sp>
        <p:nvSpPr>
          <p:cNvPr id="20" name="Shape 18"/>
          <p:cNvSpPr/>
          <p:nvPr/>
        </p:nvSpPr>
        <p:spPr>
          <a:xfrm>
            <a:off x="320040" y="2926080"/>
            <a:ext cx="4169664" cy="841248"/>
          </a:xfrm>
          <a:prstGeom prst="rect">
            <a:avLst/>
          </a:prstGeom>
          <a:solidFill>
            <a:srgbClr val="FEF0E7"/>
          </a:solidFill>
          <a:ln/>
        </p:spPr>
      </p:sp>
      <p:sp>
        <p:nvSpPr>
          <p:cNvPr id="21" name="Shape 19"/>
          <p:cNvSpPr/>
          <p:nvPr/>
        </p:nvSpPr>
        <p:spPr>
          <a:xfrm>
            <a:off x="320040" y="2926080"/>
            <a:ext cx="73152" cy="841248"/>
          </a:xfrm>
          <a:prstGeom prst="rect">
            <a:avLst/>
          </a:prstGeom>
          <a:solidFill>
            <a:srgbClr val="E8600A"/>
          </a:solidFill>
          <a:ln/>
        </p:spPr>
      </p:sp>
      <p:sp>
        <p:nvSpPr>
          <p:cNvPr id="22" name="Text 20"/>
          <p:cNvSpPr txBox="1"/>
          <p:nvPr/>
        </p:nvSpPr>
        <p:spPr>
          <a:xfrm>
            <a:off x="457200" y="2971800"/>
            <a:ext cx="394106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FLEXIBILITY OPTION</a:t>
            </a:r>
            <a:endParaRPr lang="en-US" sz="1100" dirty="0"/>
          </a:p>
        </p:txBody>
      </p:sp>
      <p:sp>
        <p:nvSpPr>
          <p:cNvPr id="23" name="Text 21"/>
          <p:cNvSpPr txBox="1"/>
          <p:nvPr/>
        </p:nvSpPr>
        <p:spPr>
          <a:xfrm>
            <a:off x="457200" y="3246120"/>
            <a:ext cx="3941064" cy="47548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Price-setting when demand outruns capacity; production flexibility — overtime, extra shifts — when demand misses the forecast.</a:t>
            </a:r>
            <a:endParaRPr lang="en-US" sz="1200" dirty="0"/>
          </a:p>
        </p:txBody>
      </p:sp>
      <p:sp>
        <p:nvSpPr>
          <p:cNvPr id="24" name="Shape 22"/>
          <p:cNvSpPr/>
          <p:nvPr/>
        </p:nvSpPr>
        <p:spPr>
          <a:xfrm>
            <a:off x="4654296" y="2926080"/>
            <a:ext cx="4169664" cy="841248"/>
          </a:xfrm>
          <a:prstGeom prst="rect">
            <a:avLst/>
          </a:prstGeom>
          <a:solidFill>
            <a:srgbClr val="F5F7FA"/>
          </a:solidFill>
          <a:ln/>
        </p:spPr>
      </p:sp>
      <p:sp>
        <p:nvSpPr>
          <p:cNvPr id="25" name="Shape 23"/>
          <p:cNvSpPr/>
          <p:nvPr/>
        </p:nvSpPr>
        <p:spPr>
          <a:xfrm>
            <a:off x="4654296" y="2926080"/>
            <a:ext cx="73152" cy="841248"/>
          </a:xfrm>
          <a:prstGeom prst="rect">
            <a:avLst/>
          </a:prstGeom>
          <a:solidFill>
            <a:srgbClr val="1B2A4A"/>
          </a:solidFill>
          <a:ln/>
        </p:spPr>
      </p:sp>
      <p:sp>
        <p:nvSpPr>
          <p:cNvPr id="26" name="Text 24"/>
          <p:cNvSpPr txBox="1"/>
          <p:nvPr/>
        </p:nvSpPr>
        <p:spPr>
          <a:xfrm>
            <a:off x="4791456" y="2971800"/>
            <a:ext cx="394106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FUNDAMENTAL OPTION</a:t>
            </a:r>
            <a:endParaRPr lang="en-US" sz="1100" dirty="0"/>
          </a:p>
        </p:txBody>
      </p:sp>
      <p:sp>
        <p:nvSpPr>
          <p:cNvPr id="27" name="Text 25"/>
          <p:cNvSpPr txBox="1"/>
          <p:nvPr/>
        </p:nvSpPr>
        <p:spPr>
          <a:xfrm>
            <a:off x="4791456" y="3246120"/>
            <a:ext cx="3941064" cy="47548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whole project hangs on an outside price. Drill the well only if oil is high enough; continue the R&amp;D only if Phase II reads out.</a:t>
            </a:r>
            <a:endParaRPr lang="en-US" sz="1200" dirty="0"/>
          </a:p>
        </p:txBody>
      </p:sp>
      <p:sp>
        <p:nvSpPr>
          <p:cNvPr id="28" name="Shape 26"/>
          <p:cNvSpPr/>
          <p:nvPr/>
        </p:nvSpPr>
        <p:spPr>
          <a:xfrm>
            <a:off x="320040" y="3858768"/>
            <a:ext cx="8503920" cy="731520"/>
          </a:xfrm>
          <a:prstGeom prst="rect">
            <a:avLst/>
          </a:prstGeom>
          <a:solidFill>
            <a:srgbClr val="FEF0E7"/>
          </a:solidFill>
          <a:ln/>
        </p:spPr>
      </p:sp>
      <p:sp>
        <p:nvSpPr>
          <p:cNvPr id="29" name="Shape 27"/>
          <p:cNvSpPr/>
          <p:nvPr/>
        </p:nvSpPr>
        <p:spPr>
          <a:xfrm>
            <a:off x="320040" y="3858768"/>
            <a:ext cx="73152" cy="731520"/>
          </a:xfrm>
          <a:prstGeom prst="rect">
            <a:avLst/>
          </a:prstGeom>
          <a:solidFill>
            <a:srgbClr val="E8600A"/>
          </a:solidFill>
          <a:ln/>
        </p:spPr>
      </p:sp>
      <p:sp>
        <p:nvSpPr>
          <p:cNvPr id="30" name="Text 28"/>
          <p:cNvSpPr txBox="1"/>
          <p:nvPr/>
        </p:nvSpPr>
        <p:spPr>
          <a:xfrm>
            <a:off x="457200" y="390448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BACKING OUT THE OPTION VALUE  —  CURRICULUM QUESTION SET</a:t>
            </a:r>
            <a:endParaRPr lang="en-US" sz="1100" dirty="0"/>
          </a:p>
        </p:txBody>
      </p:sp>
      <p:sp>
        <p:nvSpPr>
          <p:cNvPr id="31" name="Text 29"/>
          <p:cNvSpPr txBox="1"/>
          <p:nvPr/>
        </p:nvSpPr>
        <p:spPr>
          <a:xfrm>
            <a:off x="457200" y="4178808"/>
            <a:ext cx="8275320" cy="365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distribution-centre upgrade is worth USD 8.9m today, or USD 9.7m if the firm waits for a renewable-energy subsidy law. Waiting costs USD 1.8m. Then 9.7 = 8.9 − 1.8 + option value, so the option value is USD 2.6m — comfortably more than the 1.8m it cost to keep the choice open.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decision tree flips Gerhardt from reject to accept once the facility's alternative uses are priced in — the abandon branch itself is worth nothing</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5, Example 9 "Capital Allocation Using a Decision Tree", pp. 165–166.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EUR 500m outlay. A 60% chance of 750 at t = 1. On failure, three branches at t = 2. Required return 10%.</a:t>
            </a:r>
            <a:endParaRPr lang="en-US" sz="1300" dirty="0"/>
          </a:p>
        </p:txBody>
      </p:sp>
      <p:sp>
        <p:nvSpPr>
          <p:cNvPr id="9" name="Shape 7"/>
          <p:cNvSpPr/>
          <p:nvPr/>
        </p:nvSpPr>
        <p:spPr>
          <a:xfrm>
            <a:off x="320040" y="1078992"/>
            <a:ext cx="4160520" cy="1417320"/>
          </a:xfrm>
          <a:prstGeom prst="rect">
            <a:avLst/>
          </a:prstGeom>
          <a:solidFill>
            <a:srgbClr val="FFEBEE"/>
          </a:solidFill>
          <a:ln/>
        </p:spPr>
      </p:sp>
      <p:sp>
        <p:nvSpPr>
          <p:cNvPr id="10" name="Shape 8"/>
          <p:cNvSpPr/>
          <p:nvPr/>
        </p:nvSpPr>
        <p:spPr>
          <a:xfrm>
            <a:off x="320040" y="1078992"/>
            <a:ext cx="73152" cy="1417320"/>
          </a:xfrm>
          <a:prstGeom prst="rect">
            <a:avLst/>
          </a:prstGeom>
          <a:solidFill>
            <a:srgbClr val="B71C1C"/>
          </a:solidFill>
          <a:ln/>
        </p:spPr>
      </p:sp>
      <p:sp>
        <p:nvSpPr>
          <p:cNvPr id="11" name="Text 9"/>
          <p:cNvSpPr txBox="1"/>
          <p:nvPr/>
        </p:nvSpPr>
        <p:spPr>
          <a:xfrm>
            <a:off x="457200" y="1170432"/>
            <a:ext cx="388620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NPV WITHOUT OPTIONS</a:t>
            </a:r>
            <a:endParaRPr lang="en-US" sz="1100" dirty="0"/>
          </a:p>
        </p:txBody>
      </p:sp>
      <p:sp>
        <p:nvSpPr>
          <p:cNvPr id="12" name="Text 10"/>
          <p:cNvSpPr txBox="1"/>
          <p:nvPr/>
        </p:nvSpPr>
        <p:spPr>
          <a:xfrm>
            <a:off x="457200" y="1490472"/>
            <a:ext cx="3886200" cy="91440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Failure recovers nothing.</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NPV = −500 + (0.6 × 750) / 1.10</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 −500 + 409.09  =  −90.91</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REJECT</a:t>
            </a:r>
            <a:endParaRPr lang="en-US" sz="1150" dirty="0"/>
          </a:p>
        </p:txBody>
      </p:sp>
      <p:sp>
        <p:nvSpPr>
          <p:cNvPr id="13" name="Shape 11"/>
          <p:cNvSpPr/>
          <p:nvPr/>
        </p:nvSpPr>
        <p:spPr>
          <a:xfrm>
            <a:off x="4663440" y="1078992"/>
            <a:ext cx="4160520" cy="1417320"/>
          </a:xfrm>
          <a:prstGeom prst="rect">
            <a:avLst/>
          </a:prstGeom>
          <a:solidFill>
            <a:srgbClr val="E8F5E9"/>
          </a:solidFill>
          <a:ln/>
        </p:spPr>
      </p:sp>
      <p:sp>
        <p:nvSpPr>
          <p:cNvPr id="14" name="Shape 12"/>
          <p:cNvSpPr/>
          <p:nvPr/>
        </p:nvSpPr>
        <p:spPr>
          <a:xfrm>
            <a:off x="4663440" y="1078992"/>
            <a:ext cx="73152" cy="1417320"/>
          </a:xfrm>
          <a:prstGeom prst="rect">
            <a:avLst/>
          </a:prstGeom>
          <a:solidFill>
            <a:srgbClr val="1A6B3C"/>
          </a:solidFill>
          <a:ln/>
        </p:spPr>
      </p:sp>
      <p:sp>
        <p:nvSpPr>
          <p:cNvPr id="15" name="Text 13"/>
          <p:cNvSpPr txBox="1"/>
          <p:nvPr/>
        </p:nvSpPr>
        <p:spPr>
          <a:xfrm>
            <a:off x="4800600" y="1170432"/>
            <a:ext cx="388620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A6B3C"/>
                </a:solidFill>
                <a:latin typeface="Trebuchet MS" pitchFamily="34" charset="0"/>
                <a:ea typeface="Trebuchet MS" pitchFamily="34" charset="-122"/>
                <a:cs typeface="Trebuchet MS" pitchFamily="34" charset="-120"/>
              </a:rPr>
              <a:t>NPV WITH REAL OPTIONS</a:t>
            </a:r>
            <a:endParaRPr lang="en-US" sz="1100" dirty="0"/>
          </a:p>
        </p:txBody>
      </p:sp>
      <p:sp>
        <p:nvSpPr>
          <p:cNvPr id="16" name="Text 14"/>
          <p:cNvSpPr txBox="1"/>
          <p:nvPr/>
        </p:nvSpPr>
        <p:spPr>
          <a:xfrm>
            <a:off x="4800600" y="1490472"/>
            <a:ext cx="3886200" cy="91440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On failure, act again at t = 2.</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NPV = −90.91 + (72 + 48) / 1.10²</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 −90.91 + 99.17  =  +8.26</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ACCEPT</a:t>
            </a: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2587752"/>
          <a:ext cx="8503920" cy="914400"/>
        </p:xfrm>
        <a:graphic>
          <a:graphicData uri="http://schemas.openxmlformats.org/drawingml/2006/table">
            <a:tbl>
              <a:tblPr/>
              <a:tblGrid>
                <a:gridCol w="2834640"/>
                <a:gridCol w="1737360"/>
                <a:gridCol w="1645920"/>
                <a:gridCol w="91440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Branch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Joint probability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Cash flow (EUR 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Timing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PV contribution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Upfront outlay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Product launch succeeds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+750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+409.09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Failure → alternative product launch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0.4 × 0.3 = 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+59.50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Failure → sell facility to another firm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0.4 × 0.3 = 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+39.67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Failure → abandon the facility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0.4 × 0.4 = 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NPV with real options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+8.26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Business models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3  ·  Deck 10 of 20  ·  Studio Tonton Gug</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business model answers who, what, where, how much and how — and the question management leaves out is usually the finding</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module overview names four parts — who, what, where, how much. The lesson adds the "how": key assets, partners, suppliers and value chain.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7, §2 "Defining the Business Model", Examples 1, 2 and 6, pp. 216–226.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Analysts should never rely on management's own description alone — test it against what the firm actually does.</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1078992"/>
          <a:ext cx="8503920" cy="914400"/>
        </p:xfrm>
        <a:graphic>
          <a:graphicData uri="http://schemas.openxmlformats.org/drawingml/2006/table">
            <a:tbl>
              <a:tblPr/>
              <a:tblGrid>
                <a:gridCol w="1371600"/>
                <a:gridCol w="2377440"/>
                <a:gridCol w="2468880"/>
                <a:gridCol w="22860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Question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asks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Tesla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Netflix</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WHO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Target customers and segments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Aspirational middle/upper class, moving mass-market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Global mass-market households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WHAT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Product, service, value proposition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Premium EVs, storage, self-driving software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On-demand video plus originals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WHERE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Channels: how it reaches customers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Direct sales, own website, Supercharger network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Apps on every connected device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HOW MUCH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 vs competitors, and why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Premium, justified on total cost of ownership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Tiered subscription plus an ad tier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HOW</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Assets, partners, value chain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Vertical integration: batteries and software in-house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Licensed content plus originals; runs on AWS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3639312"/>
            <a:ext cx="8503920" cy="731520"/>
          </a:xfrm>
          <a:prstGeom prst="rect">
            <a:avLst/>
          </a:prstGeom>
          <a:solidFill>
            <a:srgbClr val="FEF0E7"/>
          </a:solidFill>
          <a:ln/>
        </p:spPr>
      </p:sp>
      <p:sp>
        <p:nvSpPr>
          <p:cNvPr id="12" name="Shape 9"/>
          <p:cNvSpPr/>
          <p:nvPr/>
        </p:nvSpPr>
        <p:spPr>
          <a:xfrm>
            <a:off x="320040" y="3639312"/>
            <a:ext cx="73152" cy="731520"/>
          </a:xfrm>
          <a:prstGeom prst="rect">
            <a:avLst/>
          </a:prstGeom>
          <a:solidFill>
            <a:srgbClr val="E8600A"/>
          </a:solidFill>
          <a:ln/>
        </p:spPr>
      </p:sp>
      <p:sp>
        <p:nvSpPr>
          <p:cNvPr id="13" name="Text 10"/>
          <p:cNvSpPr txBox="1"/>
          <p:nvPr/>
        </p:nvSpPr>
        <p:spPr>
          <a:xfrm>
            <a:off x="457200" y="368503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THE "WHO" GETS TESTED FIRST</a:t>
            </a:r>
            <a:endParaRPr lang="en-US" sz="1100" dirty="0"/>
          </a:p>
        </p:txBody>
      </p:sp>
      <p:sp>
        <p:nvSpPr>
          <p:cNvPr id="14" name="Text 11"/>
          <p:cNvSpPr txBox="1"/>
          <p:nvPr/>
        </p:nvSpPr>
        <p:spPr>
          <a:xfrm>
            <a:off x="457200" y="3959352"/>
            <a:ext cx="8275320" cy="365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Segment by geography, demographics, life-cycle stage, behaviour or wealth — the segment sets the addressable market and every forecast downstream of it. In the curriculum's Luggo case the CEO never names a customer. That is the finding.</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Eight conventional archetypes cover most of the market — for these firms success comes from execution, not model innovation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7, §3 Exhibit 5 "Conventional Business Models" and Business Model Variations, pp. 230–232.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Before calling any firm disruptive, work out which combination of these eight it is actually running.</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20040" y="1078992"/>
          <a:ext cx="8503920" cy="914400"/>
        </p:xfrm>
        <a:graphic>
          <a:graphicData uri="http://schemas.openxmlformats.org/drawingml/2006/table">
            <a:tbl>
              <a:tblPr/>
              <a:tblGrid>
                <a:gridCol w="2103120"/>
                <a:gridCol w="1554480"/>
                <a:gridCol w="1828800"/>
                <a:gridCol w="1737360"/>
                <a:gridCol w="1280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Archetype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Customer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Product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Pricing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Example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Natural-resource producer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Refiners, traders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Usable raw material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Spot / forward price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Total Energies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Manufacturer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Distributors, OEM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Finished goods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 per unit sold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L'Oréal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Distributor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Retailers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Transport, storage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Spread + service fee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McKesson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Retailer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End-users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Goods + experience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Mark-up + member fee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JD.com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Broker / marketplace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Buyers + sellers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connection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Commission, listing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Pinduoduo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Bank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Borrowers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Loans and leases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Net interest spread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HSBC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Service producer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Businesses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Services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Service fees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Infosys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Software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Businesses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Software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Subscription fee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Shopify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794760"/>
            <a:ext cx="8503920" cy="713232"/>
          </a:xfrm>
          <a:prstGeom prst="rect">
            <a:avLst/>
          </a:prstGeom>
          <a:solidFill>
            <a:srgbClr val="FEF0E7"/>
          </a:solidFill>
          <a:ln/>
        </p:spPr>
      </p:sp>
      <p:sp>
        <p:nvSpPr>
          <p:cNvPr id="11" name="Shape 8"/>
          <p:cNvSpPr/>
          <p:nvPr/>
        </p:nvSpPr>
        <p:spPr>
          <a:xfrm>
            <a:off x="320040" y="3794760"/>
            <a:ext cx="73152" cy="713232"/>
          </a:xfrm>
          <a:prstGeom prst="rect">
            <a:avLst/>
          </a:prstGeom>
          <a:solidFill>
            <a:srgbClr val="E8600A"/>
          </a:solidFill>
          <a:ln/>
        </p:spPr>
      </p:sp>
      <p:sp>
        <p:nvSpPr>
          <p:cNvPr id="12" name="Text 9"/>
          <p:cNvSpPr txBox="1"/>
          <p:nvPr/>
        </p:nvSpPr>
        <p:spPr>
          <a:xfrm>
            <a:off x="457200" y="38404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FOUR VARIATIONS THE CURRICULUM NAMES</a:t>
            </a:r>
            <a:endParaRPr lang="en-US" sz="1100" dirty="0"/>
          </a:p>
        </p:txBody>
      </p:sp>
      <p:sp>
        <p:nvSpPr>
          <p:cNvPr id="13" name="Text 10"/>
          <p:cNvSpPr txBox="1"/>
          <p:nvPr/>
        </p:nvSpPr>
        <p:spPr>
          <a:xfrm>
            <a:off x="457200" y="4114800"/>
            <a:ext cx="8275320" cy="34747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Private-label and contract manufacturers (Apple and NVIDIA design and market; partners build) · value-added resellers · licensing for a royalty · franchising. All recombinations of the eight.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curriculum names twelve pricing models — each is a different theory of who is willing to pay what, and why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7, §2 "Pricing and Revenue Models", digital pricing and recurring-revenue models, pp. 222–224.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Price discrimination captures more of the demand curve. The only question is which axis you segment on.</a:t>
            </a:r>
            <a:endParaRPr lang="en-US" sz="1300" dirty="0"/>
          </a:p>
        </p:txBody>
      </p:sp>
      <p:sp>
        <p:nvSpPr>
          <p:cNvPr id="9" name="Shape 7"/>
          <p:cNvSpPr/>
          <p:nvPr/>
        </p:nvSpPr>
        <p:spPr>
          <a:xfrm>
            <a:off x="320040" y="1115568"/>
            <a:ext cx="2057400" cy="1024128"/>
          </a:xfrm>
          <a:prstGeom prst="rect">
            <a:avLst/>
          </a:prstGeom>
          <a:solidFill>
            <a:srgbClr val="FEF0E7"/>
          </a:solidFill>
          <a:ln/>
        </p:spPr>
      </p:sp>
      <p:sp>
        <p:nvSpPr>
          <p:cNvPr id="10" name="Shape 8"/>
          <p:cNvSpPr/>
          <p:nvPr/>
        </p:nvSpPr>
        <p:spPr>
          <a:xfrm>
            <a:off x="320040" y="1115568"/>
            <a:ext cx="54864" cy="1024128"/>
          </a:xfrm>
          <a:prstGeom prst="rect">
            <a:avLst/>
          </a:prstGeom>
          <a:solidFill>
            <a:srgbClr val="E8600A"/>
          </a:solidFill>
          <a:ln/>
        </p:spPr>
      </p:sp>
      <p:sp>
        <p:nvSpPr>
          <p:cNvPr id="11" name="Text 9"/>
          <p:cNvSpPr txBox="1"/>
          <p:nvPr/>
        </p:nvSpPr>
        <p:spPr>
          <a:xfrm>
            <a:off x="429768" y="117043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E8600A"/>
                </a:solidFill>
                <a:latin typeface="Trebuchet MS" pitchFamily="34" charset="0"/>
                <a:ea typeface="Trebuchet MS" pitchFamily="34" charset="-122"/>
                <a:cs typeface="Trebuchet MS" pitchFamily="34" charset="-120"/>
              </a:rPr>
              <a:t>TIERED</a:t>
            </a:r>
            <a:endParaRPr lang="en-US" sz="1100" dirty="0"/>
          </a:p>
        </p:txBody>
      </p:sp>
      <p:sp>
        <p:nvSpPr>
          <p:cNvPr id="12" name="Text 10"/>
          <p:cNvSpPr txBox="1"/>
          <p:nvPr/>
        </p:nvSpPr>
        <p:spPr>
          <a:xfrm>
            <a:off x="429768" y="140817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Different prices by volume or by feature tier — base vs premium vehicle trims.</a:t>
            </a:r>
            <a:endParaRPr lang="en-US" sz="1050" dirty="0"/>
          </a:p>
        </p:txBody>
      </p:sp>
      <p:sp>
        <p:nvSpPr>
          <p:cNvPr id="13" name="Shape 11"/>
          <p:cNvSpPr/>
          <p:nvPr/>
        </p:nvSpPr>
        <p:spPr>
          <a:xfrm>
            <a:off x="2468880" y="1115568"/>
            <a:ext cx="2057400" cy="1024128"/>
          </a:xfrm>
          <a:prstGeom prst="rect">
            <a:avLst/>
          </a:prstGeom>
          <a:solidFill>
            <a:srgbClr val="F5F7FA"/>
          </a:solidFill>
          <a:ln/>
        </p:spPr>
      </p:sp>
      <p:sp>
        <p:nvSpPr>
          <p:cNvPr id="14" name="Shape 12"/>
          <p:cNvSpPr/>
          <p:nvPr/>
        </p:nvSpPr>
        <p:spPr>
          <a:xfrm>
            <a:off x="2468880" y="1115568"/>
            <a:ext cx="54864" cy="1024128"/>
          </a:xfrm>
          <a:prstGeom prst="rect">
            <a:avLst/>
          </a:prstGeom>
          <a:solidFill>
            <a:srgbClr val="1B2A4A"/>
          </a:solidFill>
          <a:ln/>
        </p:spPr>
      </p:sp>
      <p:sp>
        <p:nvSpPr>
          <p:cNvPr id="15" name="Text 13"/>
          <p:cNvSpPr txBox="1"/>
          <p:nvPr/>
        </p:nvSpPr>
        <p:spPr>
          <a:xfrm>
            <a:off x="2578608" y="117043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1B2A4A"/>
                </a:solidFill>
                <a:latin typeface="Trebuchet MS" pitchFamily="34" charset="0"/>
                <a:ea typeface="Trebuchet MS" pitchFamily="34" charset="-122"/>
                <a:cs typeface="Trebuchet MS" pitchFamily="34" charset="-120"/>
              </a:rPr>
              <a:t>DYNAMIC</a:t>
            </a:r>
            <a:endParaRPr lang="en-US" sz="1100" dirty="0"/>
          </a:p>
        </p:txBody>
      </p:sp>
      <p:sp>
        <p:nvSpPr>
          <p:cNvPr id="16" name="Text 14"/>
          <p:cNvSpPr txBox="1"/>
          <p:nvPr/>
        </p:nvSpPr>
        <p:spPr>
          <a:xfrm>
            <a:off x="2578608" y="140817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Price moves with supply, demand and time. Hotel seasonality; Uber and Lyft surge.</a:t>
            </a:r>
            <a:endParaRPr lang="en-US" sz="1050" dirty="0"/>
          </a:p>
        </p:txBody>
      </p:sp>
      <p:sp>
        <p:nvSpPr>
          <p:cNvPr id="17" name="Shape 15"/>
          <p:cNvSpPr/>
          <p:nvPr/>
        </p:nvSpPr>
        <p:spPr>
          <a:xfrm>
            <a:off x="4617720" y="1115568"/>
            <a:ext cx="2057400" cy="1024128"/>
          </a:xfrm>
          <a:prstGeom prst="rect">
            <a:avLst/>
          </a:prstGeom>
          <a:solidFill>
            <a:srgbClr val="FEF0E7"/>
          </a:solidFill>
          <a:ln/>
        </p:spPr>
      </p:sp>
      <p:sp>
        <p:nvSpPr>
          <p:cNvPr id="18" name="Shape 16"/>
          <p:cNvSpPr/>
          <p:nvPr/>
        </p:nvSpPr>
        <p:spPr>
          <a:xfrm>
            <a:off x="4617720" y="1115568"/>
            <a:ext cx="54864" cy="1024128"/>
          </a:xfrm>
          <a:prstGeom prst="rect">
            <a:avLst/>
          </a:prstGeom>
          <a:solidFill>
            <a:srgbClr val="E8600A"/>
          </a:solidFill>
          <a:ln/>
        </p:spPr>
      </p:sp>
      <p:sp>
        <p:nvSpPr>
          <p:cNvPr id="19" name="Text 17"/>
          <p:cNvSpPr txBox="1"/>
          <p:nvPr/>
        </p:nvSpPr>
        <p:spPr>
          <a:xfrm>
            <a:off x="4727448" y="117043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E8600A"/>
                </a:solidFill>
                <a:latin typeface="Trebuchet MS" pitchFamily="34" charset="0"/>
                <a:ea typeface="Trebuchet MS" pitchFamily="34" charset="-122"/>
                <a:cs typeface="Trebuchet MS" pitchFamily="34" charset="-120"/>
              </a:rPr>
              <a:t>VALUE-BASED</a:t>
            </a:r>
            <a:endParaRPr lang="en-US" sz="1100" dirty="0"/>
          </a:p>
        </p:txBody>
      </p:sp>
      <p:sp>
        <p:nvSpPr>
          <p:cNvPr id="20" name="Text 18"/>
          <p:cNvSpPr txBox="1"/>
          <p:nvPr/>
        </p:nvSpPr>
        <p:spPr>
          <a:xfrm>
            <a:off x="4727448" y="140817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Price set on value delivered. A stroke drug priced off the hospitalisation it avoids.</a:t>
            </a:r>
            <a:endParaRPr lang="en-US" sz="1050" dirty="0"/>
          </a:p>
        </p:txBody>
      </p:sp>
      <p:sp>
        <p:nvSpPr>
          <p:cNvPr id="21" name="Shape 19"/>
          <p:cNvSpPr/>
          <p:nvPr/>
        </p:nvSpPr>
        <p:spPr>
          <a:xfrm>
            <a:off x="6766560" y="1115568"/>
            <a:ext cx="2057400" cy="1024128"/>
          </a:xfrm>
          <a:prstGeom prst="rect">
            <a:avLst/>
          </a:prstGeom>
          <a:solidFill>
            <a:srgbClr val="F5F7FA"/>
          </a:solidFill>
          <a:ln/>
        </p:spPr>
      </p:sp>
      <p:sp>
        <p:nvSpPr>
          <p:cNvPr id="22" name="Shape 20"/>
          <p:cNvSpPr/>
          <p:nvPr/>
        </p:nvSpPr>
        <p:spPr>
          <a:xfrm>
            <a:off x="6766560" y="1115568"/>
            <a:ext cx="54864" cy="1024128"/>
          </a:xfrm>
          <a:prstGeom prst="rect">
            <a:avLst/>
          </a:prstGeom>
          <a:solidFill>
            <a:srgbClr val="1B2A4A"/>
          </a:solidFill>
          <a:ln/>
        </p:spPr>
      </p:sp>
      <p:sp>
        <p:nvSpPr>
          <p:cNvPr id="23" name="Text 21"/>
          <p:cNvSpPr txBox="1"/>
          <p:nvPr/>
        </p:nvSpPr>
        <p:spPr>
          <a:xfrm>
            <a:off x="6876288" y="117043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1B2A4A"/>
                </a:solidFill>
                <a:latin typeface="Trebuchet MS" pitchFamily="34" charset="0"/>
                <a:ea typeface="Trebuchet MS" pitchFamily="34" charset="-122"/>
                <a:cs typeface="Trebuchet MS" pitchFamily="34" charset="-120"/>
              </a:rPr>
              <a:t>AUCTION</a:t>
            </a:r>
            <a:endParaRPr lang="en-US" sz="1100" dirty="0"/>
          </a:p>
        </p:txBody>
      </p:sp>
      <p:sp>
        <p:nvSpPr>
          <p:cNvPr id="24" name="Text 22"/>
          <p:cNvSpPr txBox="1"/>
          <p:nvPr/>
        </p:nvSpPr>
        <p:spPr>
          <a:xfrm>
            <a:off x="6876288" y="140817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Bidding discovers the price. Google and Baidu search ads; eBay merchandise.</a:t>
            </a:r>
            <a:endParaRPr lang="en-US" sz="1050" dirty="0"/>
          </a:p>
        </p:txBody>
      </p:sp>
      <p:sp>
        <p:nvSpPr>
          <p:cNvPr id="25" name="Shape 23"/>
          <p:cNvSpPr/>
          <p:nvPr/>
        </p:nvSpPr>
        <p:spPr>
          <a:xfrm>
            <a:off x="320040" y="2212848"/>
            <a:ext cx="2057400" cy="1024128"/>
          </a:xfrm>
          <a:prstGeom prst="rect">
            <a:avLst/>
          </a:prstGeom>
          <a:solidFill>
            <a:srgbClr val="F5F7FA"/>
          </a:solidFill>
          <a:ln/>
        </p:spPr>
      </p:sp>
      <p:sp>
        <p:nvSpPr>
          <p:cNvPr id="26" name="Shape 24"/>
          <p:cNvSpPr/>
          <p:nvPr/>
        </p:nvSpPr>
        <p:spPr>
          <a:xfrm>
            <a:off x="320040" y="2212848"/>
            <a:ext cx="54864" cy="1024128"/>
          </a:xfrm>
          <a:prstGeom prst="rect">
            <a:avLst/>
          </a:prstGeom>
          <a:solidFill>
            <a:srgbClr val="1B2A4A"/>
          </a:solidFill>
          <a:ln/>
        </p:spPr>
      </p:sp>
      <p:sp>
        <p:nvSpPr>
          <p:cNvPr id="27" name="Text 25"/>
          <p:cNvSpPr txBox="1"/>
          <p:nvPr/>
        </p:nvSpPr>
        <p:spPr>
          <a:xfrm>
            <a:off x="429768" y="226771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1B2A4A"/>
                </a:solidFill>
                <a:latin typeface="Trebuchet MS" pitchFamily="34" charset="0"/>
                <a:ea typeface="Trebuchet MS" pitchFamily="34" charset="-122"/>
                <a:cs typeface="Trebuchet MS" pitchFamily="34" charset="-120"/>
              </a:rPr>
              <a:t>BUNDLING</a:t>
            </a:r>
            <a:endParaRPr lang="en-US" sz="1100" dirty="0"/>
          </a:p>
        </p:txBody>
      </p:sp>
      <p:sp>
        <p:nvSpPr>
          <p:cNvPr id="28" name="Text 26"/>
          <p:cNvSpPr txBox="1"/>
          <p:nvPr/>
        </p:nvSpPr>
        <p:spPr>
          <a:xfrm>
            <a:off x="429768" y="250545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Complements sold together. Phone + cable + internet; software plus cloud storage.</a:t>
            </a:r>
            <a:endParaRPr lang="en-US" sz="1050" dirty="0"/>
          </a:p>
        </p:txBody>
      </p:sp>
      <p:sp>
        <p:nvSpPr>
          <p:cNvPr id="29" name="Shape 27"/>
          <p:cNvSpPr/>
          <p:nvPr/>
        </p:nvSpPr>
        <p:spPr>
          <a:xfrm>
            <a:off x="2468880" y="2212848"/>
            <a:ext cx="2057400" cy="1024128"/>
          </a:xfrm>
          <a:prstGeom prst="rect">
            <a:avLst/>
          </a:prstGeom>
          <a:solidFill>
            <a:srgbClr val="FEF0E7"/>
          </a:solidFill>
          <a:ln/>
        </p:spPr>
      </p:sp>
      <p:sp>
        <p:nvSpPr>
          <p:cNvPr id="30" name="Shape 28"/>
          <p:cNvSpPr/>
          <p:nvPr/>
        </p:nvSpPr>
        <p:spPr>
          <a:xfrm>
            <a:off x="2468880" y="2212848"/>
            <a:ext cx="54864" cy="1024128"/>
          </a:xfrm>
          <a:prstGeom prst="rect">
            <a:avLst/>
          </a:prstGeom>
          <a:solidFill>
            <a:srgbClr val="E8600A"/>
          </a:solidFill>
          <a:ln/>
        </p:spPr>
      </p:sp>
      <p:sp>
        <p:nvSpPr>
          <p:cNvPr id="31" name="Text 29"/>
          <p:cNvSpPr txBox="1"/>
          <p:nvPr/>
        </p:nvSpPr>
        <p:spPr>
          <a:xfrm>
            <a:off x="2578608" y="226771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E8600A"/>
                </a:solidFill>
                <a:latin typeface="Trebuchet MS" pitchFamily="34" charset="0"/>
                <a:ea typeface="Trebuchet MS" pitchFamily="34" charset="-122"/>
                <a:cs typeface="Trebuchet MS" pitchFamily="34" charset="-120"/>
              </a:rPr>
              <a:t>RAZOR/BLADE</a:t>
            </a:r>
            <a:endParaRPr lang="en-US" sz="1100" dirty="0"/>
          </a:p>
        </p:txBody>
      </p:sp>
      <p:sp>
        <p:nvSpPr>
          <p:cNvPr id="32" name="Text 30"/>
          <p:cNvSpPr txBox="1"/>
          <p:nvPr/>
        </p:nvSpPr>
        <p:spPr>
          <a:xfrm>
            <a:off x="2578608" y="250545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Cheap device, rich consumable. Razors, printer ink, consoles, lab reagents.</a:t>
            </a:r>
            <a:endParaRPr lang="en-US" sz="1050" dirty="0"/>
          </a:p>
        </p:txBody>
      </p:sp>
      <p:sp>
        <p:nvSpPr>
          <p:cNvPr id="33" name="Shape 31"/>
          <p:cNvSpPr/>
          <p:nvPr/>
        </p:nvSpPr>
        <p:spPr>
          <a:xfrm>
            <a:off x="4617720" y="2212848"/>
            <a:ext cx="2057400" cy="1024128"/>
          </a:xfrm>
          <a:prstGeom prst="rect">
            <a:avLst/>
          </a:prstGeom>
          <a:solidFill>
            <a:srgbClr val="F5F7FA"/>
          </a:solidFill>
          <a:ln/>
        </p:spPr>
      </p:sp>
      <p:sp>
        <p:nvSpPr>
          <p:cNvPr id="34" name="Shape 32"/>
          <p:cNvSpPr/>
          <p:nvPr/>
        </p:nvSpPr>
        <p:spPr>
          <a:xfrm>
            <a:off x="4617720" y="2212848"/>
            <a:ext cx="54864" cy="1024128"/>
          </a:xfrm>
          <a:prstGeom prst="rect">
            <a:avLst/>
          </a:prstGeom>
          <a:solidFill>
            <a:srgbClr val="1B2A4A"/>
          </a:solidFill>
          <a:ln/>
        </p:spPr>
      </p:sp>
      <p:sp>
        <p:nvSpPr>
          <p:cNvPr id="35" name="Text 33"/>
          <p:cNvSpPr txBox="1"/>
          <p:nvPr/>
        </p:nvSpPr>
        <p:spPr>
          <a:xfrm>
            <a:off x="4727448" y="226771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1B2A4A"/>
                </a:solidFill>
                <a:latin typeface="Trebuchet MS" pitchFamily="34" charset="0"/>
                <a:ea typeface="Trebuchet MS" pitchFamily="34" charset="-122"/>
                <a:cs typeface="Trebuchet MS" pitchFamily="34" charset="-120"/>
              </a:rPr>
              <a:t>ADD-ON</a:t>
            </a:r>
            <a:endParaRPr lang="en-US" sz="1100" dirty="0"/>
          </a:p>
        </p:txBody>
      </p:sp>
      <p:sp>
        <p:nvSpPr>
          <p:cNvPr id="36" name="Text 34"/>
          <p:cNvSpPr txBox="1"/>
          <p:nvPr/>
        </p:nvSpPr>
        <p:spPr>
          <a:xfrm>
            <a:off x="4727448" y="250545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Optional extras sold to a captive buyer after the main decision — in-app content.</a:t>
            </a:r>
            <a:endParaRPr lang="en-US" sz="1050" dirty="0"/>
          </a:p>
        </p:txBody>
      </p:sp>
      <p:sp>
        <p:nvSpPr>
          <p:cNvPr id="37" name="Shape 35"/>
          <p:cNvSpPr/>
          <p:nvPr/>
        </p:nvSpPr>
        <p:spPr>
          <a:xfrm>
            <a:off x="6766560" y="2212848"/>
            <a:ext cx="2057400" cy="1024128"/>
          </a:xfrm>
          <a:prstGeom prst="rect">
            <a:avLst/>
          </a:prstGeom>
          <a:solidFill>
            <a:srgbClr val="FEF0E7"/>
          </a:solidFill>
          <a:ln/>
        </p:spPr>
      </p:sp>
      <p:sp>
        <p:nvSpPr>
          <p:cNvPr id="38" name="Shape 36"/>
          <p:cNvSpPr/>
          <p:nvPr/>
        </p:nvSpPr>
        <p:spPr>
          <a:xfrm>
            <a:off x="6766560" y="2212848"/>
            <a:ext cx="54864" cy="1024128"/>
          </a:xfrm>
          <a:prstGeom prst="rect">
            <a:avLst/>
          </a:prstGeom>
          <a:solidFill>
            <a:srgbClr val="E8600A"/>
          </a:solidFill>
          <a:ln/>
        </p:spPr>
      </p:sp>
      <p:sp>
        <p:nvSpPr>
          <p:cNvPr id="39" name="Text 37"/>
          <p:cNvSpPr txBox="1"/>
          <p:nvPr/>
        </p:nvSpPr>
        <p:spPr>
          <a:xfrm>
            <a:off x="6876288" y="226771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E8600A"/>
                </a:solidFill>
                <a:latin typeface="Trebuchet MS" pitchFamily="34" charset="0"/>
                <a:ea typeface="Trebuchet MS" pitchFamily="34" charset="-122"/>
                <a:cs typeface="Trebuchet MS" pitchFamily="34" charset="-120"/>
              </a:rPr>
              <a:t>PENETRATION</a:t>
            </a:r>
            <a:endParaRPr lang="en-US" sz="1100" dirty="0"/>
          </a:p>
        </p:txBody>
      </p:sp>
      <p:sp>
        <p:nvSpPr>
          <p:cNvPr id="40" name="Text 38"/>
          <p:cNvSpPr txBox="1"/>
          <p:nvPr/>
        </p:nvSpPr>
        <p:spPr>
          <a:xfrm>
            <a:off x="6876288" y="250545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Discount hard to buy scale. Subsidised handsets; Amazon Echo. Regulators may object.</a:t>
            </a:r>
            <a:endParaRPr lang="en-US" sz="1050" dirty="0"/>
          </a:p>
        </p:txBody>
      </p:sp>
      <p:sp>
        <p:nvSpPr>
          <p:cNvPr id="41" name="Shape 39"/>
          <p:cNvSpPr/>
          <p:nvPr/>
        </p:nvSpPr>
        <p:spPr>
          <a:xfrm>
            <a:off x="320040" y="3310128"/>
            <a:ext cx="2057400" cy="1024128"/>
          </a:xfrm>
          <a:prstGeom prst="rect">
            <a:avLst/>
          </a:prstGeom>
          <a:solidFill>
            <a:srgbClr val="FEF0E7"/>
          </a:solidFill>
          <a:ln/>
        </p:spPr>
      </p:sp>
      <p:sp>
        <p:nvSpPr>
          <p:cNvPr id="42" name="Shape 40"/>
          <p:cNvSpPr/>
          <p:nvPr/>
        </p:nvSpPr>
        <p:spPr>
          <a:xfrm>
            <a:off x="320040" y="3310128"/>
            <a:ext cx="54864" cy="1024128"/>
          </a:xfrm>
          <a:prstGeom prst="rect">
            <a:avLst/>
          </a:prstGeom>
          <a:solidFill>
            <a:srgbClr val="E8600A"/>
          </a:solidFill>
          <a:ln/>
        </p:spPr>
      </p:sp>
      <p:sp>
        <p:nvSpPr>
          <p:cNvPr id="43" name="Text 41"/>
          <p:cNvSpPr txBox="1"/>
          <p:nvPr/>
        </p:nvSpPr>
        <p:spPr>
          <a:xfrm>
            <a:off x="429768" y="336499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E8600A"/>
                </a:solidFill>
                <a:latin typeface="Trebuchet MS" pitchFamily="34" charset="0"/>
                <a:ea typeface="Trebuchet MS" pitchFamily="34" charset="-122"/>
                <a:cs typeface="Trebuchet MS" pitchFamily="34" charset="-120"/>
              </a:rPr>
              <a:t>FREEMIUM</a:t>
            </a:r>
            <a:endParaRPr lang="en-US" sz="1100" dirty="0"/>
          </a:p>
        </p:txBody>
      </p:sp>
      <p:sp>
        <p:nvSpPr>
          <p:cNvPr id="44" name="Text 42"/>
          <p:cNvSpPr txBox="1"/>
          <p:nvPr/>
        </p:nvSpPr>
        <p:spPr>
          <a:xfrm>
            <a:off x="429768" y="360273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Free tier, paid upgrade. Used where network effects reward a large user base.</a:t>
            </a:r>
            <a:endParaRPr lang="en-US" sz="1050" dirty="0"/>
          </a:p>
        </p:txBody>
      </p:sp>
      <p:sp>
        <p:nvSpPr>
          <p:cNvPr id="45" name="Shape 43"/>
          <p:cNvSpPr/>
          <p:nvPr/>
        </p:nvSpPr>
        <p:spPr>
          <a:xfrm>
            <a:off x="2468880" y="3310128"/>
            <a:ext cx="2057400" cy="1024128"/>
          </a:xfrm>
          <a:prstGeom prst="rect">
            <a:avLst/>
          </a:prstGeom>
          <a:solidFill>
            <a:srgbClr val="F5F7FA"/>
          </a:solidFill>
          <a:ln/>
        </p:spPr>
      </p:sp>
      <p:sp>
        <p:nvSpPr>
          <p:cNvPr id="46" name="Shape 44"/>
          <p:cNvSpPr/>
          <p:nvPr/>
        </p:nvSpPr>
        <p:spPr>
          <a:xfrm>
            <a:off x="2468880" y="3310128"/>
            <a:ext cx="54864" cy="1024128"/>
          </a:xfrm>
          <a:prstGeom prst="rect">
            <a:avLst/>
          </a:prstGeom>
          <a:solidFill>
            <a:srgbClr val="1B2A4A"/>
          </a:solidFill>
          <a:ln/>
        </p:spPr>
      </p:sp>
      <p:sp>
        <p:nvSpPr>
          <p:cNvPr id="47" name="Text 45"/>
          <p:cNvSpPr txBox="1"/>
          <p:nvPr/>
        </p:nvSpPr>
        <p:spPr>
          <a:xfrm>
            <a:off x="2578608" y="336499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1B2A4A"/>
                </a:solidFill>
                <a:latin typeface="Trebuchet MS" pitchFamily="34" charset="0"/>
                <a:ea typeface="Trebuchet MS" pitchFamily="34" charset="-122"/>
                <a:cs typeface="Trebuchet MS" pitchFamily="34" charset="-120"/>
              </a:rPr>
              <a:t>HIDDEN REVENUE</a:t>
            </a:r>
            <a:endParaRPr lang="en-US" sz="1100" dirty="0"/>
          </a:p>
        </p:txBody>
      </p:sp>
      <p:sp>
        <p:nvSpPr>
          <p:cNvPr id="48" name="Text 46"/>
          <p:cNvSpPr txBox="1"/>
          <p:nvPr/>
        </p:nvSpPr>
        <p:spPr>
          <a:xfrm>
            <a:off x="2578608" y="360273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Free to the user, paid by someone else — ad-funded media; sellers pay, buyers do not.</a:t>
            </a:r>
            <a:endParaRPr lang="en-US" sz="1050" dirty="0"/>
          </a:p>
        </p:txBody>
      </p:sp>
      <p:sp>
        <p:nvSpPr>
          <p:cNvPr id="49" name="Shape 47"/>
          <p:cNvSpPr/>
          <p:nvPr/>
        </p:nvSpPr>
        <p:spPr>
          <a:xfrm>
            <a:off x="4617720" y="3310128"/>
            <a:ext cx="2057400" cy="1024128"/>
          </a:xfrm>
          <a:prstGeom prst="rect">
            <a:avLst/>
          </a:prstGeom>
          <a:solidFill>
            <a:srgbClr val="FEF0E7"/>
          </a:solidFill>
          <a:ln/>
        </p:spPr>
      </p:sp>
      <p:sp>
        <p:nvSpPr>
          <p:cNvPr id="50" name="Shape 48"/>
          <p:cNvSpPr/>
          <p:nvPr/>
        </p:nvSpPr>
        <p:spPr>
          <a:xfrm>
            <a:off x="4617720" y="3310128"/>
            <a:ext cx="54864" cy="1024128"/>
          </a:xfrm>
          <a:prstGeom prst="rect">
            <a:avLst/>
          </a:prstGeom>
          <a:solidFill>
            <a:srgbClr val="E8600A"/>
          </a:solidFill>
          <a:ln/>
        </p:spPr>
      </p:sp>
      <p:sp>
        <p:nvSpPr>
          <p:cNvPr id="51" name="Text 49"/>
          <p:cNvSpPr txBox="1"/>
          <p:nvPr/>
        </p:nvSpPr>
        <p:spPr>
          <a:xfrm>
            <a:off x="4727448" y="336499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E8600A"/>
                </a:solidFill>
                <a:latin typeface="Trebuchet MS" pitchFamily="34" charset="0"/>
                <a:ea typeface="Trebuchet MS" pitchFamily="34" charset="-122"/>
                <a:cs typeface="Trebuchet MS" pitchFamily="34" charset="-120"/>
              </a:rPr>
              <a:t>SUBSCRIPTION</a:t>
            </a:r>
            <a:endParaRPr lang="en-US" sz="1100" dirty="0"/>
          </a:p>
        </p:txBody>
      </p:sp>
      <p:sp>
        <p:nvSpPr>
          <p:cNvPr id="52" name="Text 50"/>
          <p:cNvSpPr txBox="1"/>
          <p:nvPr/>
        </p:nvSpPr>
        <p:spPr>
          <a:xfrm>
            <a:off x="4727448" y="360273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Recurring fee for access. Fixed, tiered, or metered on usage — SaaS and cloud.</a:t>
            </a:r>
            <a:endParaRPr lang="en-US" sz="1050" dirty="0"/>
          </a:p>
        </p:txBody>
      </p:sp>
      <p:sp>
        <p:nvSpPr>
          <p:cNvPr id="53" name="Shape 51"/>
          <p:cNvSpPr/>
          <p:nvPr/>
        </p:nvSpPr>
        <p:spPr>
          <a:xfrm>
            <a:off x="6766560" y="3310128"/>
            <a:ext cx="2057400" cy="1024128"/>
          </a:xfrm>
          <a:prstGeom prst="rect">
            <a:avLst/>
          </a:prstGeom>
          <a:solidFill>
            <a:srgbClr val="F5F7FA"/>
          </a:solidFill>
          <a:ln/>
        </p:spPr>
      </p:sp>
      <p:sp>
        <p:nvSpPr>
          <p:cNvPr id="54" name="Shape 52"/>
          <p:cNvSpPr/>
          <p:nvPr/>
        </p:nvSpPr>
        <p:spPr>
          <a:xfrm>
            <a:off x="6766560" y="3310128"/>
            <a:ext cx="54864" cy="1024128"/>
          </a:xfrm>
          <a:prstGeom prst="rect">
            <a:avLst/>
          </a:prstGeom>
          <a:solidFill>
            <a:srgbClr val="1B2A4A"/>
          </a:solidFill>
          <a:ln/>
        </p:spPr>
      </p:sp>
      <p:sp>
        <p:nvSpPr>
          <p:cNvPr id="55" name="Text 53"/>
          <p:cNvSpPr txBox="1"/>
          <p:nvPr/>
        </p:nvSpPr>
        <p:spPr>
          <a:xfrm>
            <a:off x="6876288" y="3364992"/>
            <a:ext cx="1874520" cy="219456"/>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1B2A4A"/>
                </a:solidFill>
                <a:latin typeface="Trebuchet MS" pitchFamily="34" charset="0"/>
                <a:ea typeface="Trebuchet MS" pitchFamily="34" charset="-122"/>
                <a:cs typeface="Trebuchet MS" pitchFamily="34" charset="-120"/>
              </a:rPr>
              <a:t>LICENCE/LEASE</a:t>
            </a:r>
            <a:endParaRPr lang="en-US" sz="1100" dirty="0"/>
          </a:p>
        </p:txBody>
      </p:sp>
      <p:sp>
        <p:nvSpPr>
          <p:cNvPr id="56" name="Text 54"/>
          <p:cNvSpPr txBox="1"/>
          <p:nvPr/>
        </p:nvSpPr>
        <p:spPr>
          <a:xfrm>
            <a:off x="6876288" y="3602736"/>
            <a:ext cx="1874520" cy="676656"/>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Access instead of ownership: leasing assets, licensing IP, franchising a whole model.</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Network effects make the user base the asset — and past critical mass they become the barrier to entry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7, §3 "Network Effects and Platform Business Models", Exhibit 7, pp. 233–234.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metric that matters here is the number of users and the rate they are joining — not this quarter's margin.</a:t>
            </a:r>
            <a:endParaRPr lang="en-US" sz="1300" dirty="0"/>
          </a:p>
        </p:txBody>
      </p:sp>
      <p:sp>
        <p:nvSpPr>
          <p:cNvPr id="9" name="Shape 7"/>
          <p:cNvSpPr/>
          <p:nvPr/>
        </p:nvSpPr>
        <p:spPr>
          <a:xfrm>
            <a:off x="320040" y="1078992"/>
            <a:ext cx="4160520" cy="1572768"/>
          </a:xfrm>
          <a:prstGeom prst="rect">
            <a:avLst/>
          </a:prstGeom>
          <a:solidFill>
            <a:srgbClr val="F5F7FA"/>
          </a:solidFill>
          <a:ln/>
        </p:spPr>
      </p:sp>
      <p:sp>
        <p:nvSpPr>
          <p:cNvPr id="10" name="Shape 8"/>
          <p:cNvSpPr/>
          <p:nvPr/>
        </p:nvSpPr>
        <p:spPr>
          <a:xfrm>
            <a:off x="320040" y="1078992"/>
            <a:ext cx="73152" cy="1572768"/>
          </a:xfrm>
          <a:prstGeom prst="rect">
            <a:avLst/>
          </a:prstGeom>
          <a:solidFill>
            <a:srgbClr val="1B2A4A"/>
          </a:solidFill>
          <a:ln/>
        </p:spPr>
      </p:sp>
      <p:sp>
        <p:nvSpPr>
          <p:cNvPr id="11" name="Text 9"/>
          <p:cNvSpPr txBox="1"/>
          <p:nvPr/>
        </p:nvSpPr>
        <p:spPr>
          <a:xfrm>
            <a:off x="457200" y="112471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ONE-SIDED NETWORK</a:t>
            </a:r>
            <a:endParaRPr lang="en-US" sz="1100" dirty="0"/>
          </a:p>
        </p:txBody>
      </p:sp>
      <p:sp>
        <p:nvSpPr>
          <p:cNvPr id="12" name="Text 10"/>
          <p:cNvSpPr txBox="1"/>
          <p:nvPr/>
        </p:nvSpPr>
        <p:spPr>
          <a:xfrm>
            <a:off x="457200" y="1399032"/>
            <a:ext cx="3931920" cy="120700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One type of user, and every extra user is valuable to all the others.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Telephone service; Venmo peer-to-peer payments; messaging.</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Once the network is large enough, the marginal cost of one more user sits below the revenue that user brings.</a:t>
            </a:r>
            <a:endParaRPr lang="en-US" sz="1200" dirty="0"/>
          </a:p>
        </p:txBody>
      </p:sp>
      <p:sp>
        <p:nvSpPr>
          <p:cNvPr id="13" name="Shape 11"/>
          <p:cNvSpPr/>
          <p:nvPr/>
        </p:nvSpPr>
        <p:spPr>
          <a:xfrm>
            <a:off x="4663440" y="1078992"/>
            <a:ext cx="4160520" cy="1572768"/>
          </a:xfrm>
          <a:prstGeom prst="rect">
            <a:avLst/>
          </a:prstGeom>
          <a:solidFill>
            <a:srgbClr val="FEF0E7"/>
          </a:solidFill>
          <a:ln/>
        </p:spPr>
      </p:sp>
      <p:sp>
        <p:nvSpPr>
          <p:cNvPr id="14" name="Shape 12"/>
          <p:cNvSpPr/>
          <p:nvPr/>
        </p:nvSpPr>
        <p:spPr>
          <a:xfrm>
            <a:off x="4663440" y="1078992"/>
            <a:ext cx="73152" cy="1572768"/>
          </a:xfrm>
          <a:prstGeom prst="rect">
            <a:avLst/>
          </a:prstGeom>
          <a:solidFill>
            <a:srgbClr val="E8600A"/>
          </a:solidFill>
          <a:ln/>
        </p:spPr>
      </p:sp>
      <p:sp>
        <p:nvSpPr>
          <p:cNvPr id="15" name="Text 13"/>
          <p:cNvSpPr txBox="1"/>
          <p:nvPr/>
        </p:nvSpPr>
        <p:spPr>
          <a:xfrm>
            <a:off x="4800600" y="112471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MULTI-SIDED NETWORK</a:t>
            </a:r>
            <a:endParaRPr lang="en-US" sz="1100" dirty="0"/>
          </a:p>
        </p:txBody>
      </p:sp>
      <p:sp>
        <p:nvSpPr>
          <p:cNvPr id="16" name="Text 14"/>
          <p:cNvSpPr txBox="1"/>
          <p:nvPr/>
        </p:nvSpPr>
        <p:spPr>
          <a:xfrm>
            <a:off x="4800600" y="1399032"/>
            <a:ext cx="3931920" cy="120700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Two or more distinct user types, with cross-side effects.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Visa and UnionPay = cardholders × merchants. Airbnb = guests × hosts. Food delivery = consumers × restaurants × drivers.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More users pull in more merchants, which pull in more users — and it compounds.</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2743200"/>
          <a:ext cx="8503920" cy="914400"/>
        </p:xfrm>
        <a:graphic>
          <a:graphicData uri="http://schemas.openxmlformats.org/drawingml/2006/table">
            <a:tbl>
              <a:tblPr/>
              <a:tblGrid>
                <a:gridCol w="2377440"/>
                <a:gridCol w="3291840"/>
                <a:gridCol w="28346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Platform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User types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Where the barrier comes from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WeChat (Tencent)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Messengers × merchants × developers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Super-app lock-in; switching cost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Uber / Lyft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Riders × drivers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Local density and ETA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Airbnb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Guests × hosts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Listing breadth, review history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Visa / Mastercard / UnionPay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Cardholders × merchants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Universal acceptance, issuers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TripAdvisor / Yelp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Reviewers × merchants × readers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Crowdsourced review corpus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Netflix rebuilt its own model three times; the hotel industry was rebuilt around its incumbents six times — same forces, different outcome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7, Example 3 "Business Model Evolution: Netflix" and Example 7 "Hotel and Travel Industry", pp. 219 and 235–236.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recurring pattern: a new channel, then network effects, then crowdsourced supply or content.</a:t>
            </a:r>
            <a:endParaRPr lang="en-US" sz="1300" dirty="0"/>
          </a:p>
        </p:txBody>
      </p:sp>
      <p:sp>
        <p:nvSpPr>
          <p:cNvPr id="9" name="Shape 7"/>
          <p:cNvSpPr/>
          <p:nvPr/>
        </p:nvSpPr>
        <p:spPr>
          <a:xfrm>
            <a:off x="320040" y="1115568"/>
            <a:ext cx="4160520" cy="3200400"/>
          </a:xfrm>
          <a:prstGeom prst="rect">
            <a:avLst/>
          </a:prstGeom>
          <a:solidFill>
            <a:srgbClr val="F5F7FA"/>
          </a:solidFill>
          <a:ln/>
        </p:spPr>
      </p:sp>
      <p:sp>
        <p:nvSpPr>
          <p:cNvPr id="10" name="Shape 8"/>
          <p:cNvSpPr/>
          <p:nvPr/>
        </p:nvSpPr>
        <p:spPr>
          <a:xfrm>
            <a:off x="320040" y="1115568"/>
            <a:ext cx="73152" cy="3200400"/>
          </a:xfrm>
          <a:prstGeom prst="rect">
            <a:avLst/>
          </a:prstGeom>
          <a:solidFill>
            <a:srgbClr val="1B2A4A"/>
          </a:solidFill>
          <a:ln/>
        </p:spPr>
      </p:sp>
      <p:sp>
        <p:nvSpPr>
          <p:cNvPr id="11" name="Text 9"/>
          <p:cNvSpPr txBox="1"/>
          <p:nvPr/>
        </p:nvSpPr>
        <p:spPr>
          <a:xfrm>
            <a:off x="457200" y="1207008"/>
            <a:ext cx="3886200" cy="292608"/>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1B2A4A"/>
                </a:solidFill>
                <a:latin typeface="Trebuchet MS" pitchFamily="34" charset="0"/>
                <a:ea typeface="Trebuchet MS" pitchFamily="34" charset="-122"/>
                <a:cs typeface="Trebuchet MS" pitchFamily="34" charset="-120"/>
              </a:rPr>
              <a:t>NETFLIX  ·  THREE MODELS, ONE COMPANY</a:t>
            </a:r>
            <a:endParaRPr lang="en-US" sz="1100" dirty="0"/>
          </a:p>
        </p:txBody>
      </p:sp>
      <p:sp>
        <p:nvSpPr>
          <p:cNvPr id="12" name="Text 10"/>
          <p:cNvSpPr txBox="1"/>
          <p:nvPr/>
        </p:nvSpPr>
        <p:spPr>
          <a:xfrm>
            <a:off x="502920" y="1618488"/>
            <a:ext cx="3840480" cy="256032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DVD rental by mail, from 1998</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A website plus the postal service, when only</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2% of US households owned a DVD player</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Then a flat monthly fee for several at once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Streaming subscription</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Same subscription logic, near-zero marginal</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cost per extra title; DVDs de-emphasised</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Original content producer</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Exclusive titles differentiate a catalogue that</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licensing alone had commoditised</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Blockbuster took years to copy the first model.</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It filed for bankruptcy in 2010 and closed in 2014.</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Each wave demanded a different capex profile.</a:t>
            </a:r>
            <a:endParaRPr lang="en-US" sz="1100" dirty="0"/>
          </a:p>
        </p:txBody>
      </p:sp>
      <p:sp>
        <p:nvSpPr>
          <p:cNvPr id="13" name="Shape 11"/>
          <p:cNvSpPr/>
          <p:nvPr/>
        </p:nvSpPr>
        <p:spPr>
          <a:xfrm>
            <a:off x="4663440" y="1115568"/>
            <a:ext cx="4160520" cy="3200400"/>
          </a:xfrm>
          <a:prstGeom prst="rect">
            <a:avLst/>
          </a:prstGeom>
          <a:solidFill>
            <a:srgbClr val="FEF0E7"/>
          </a:solidFill>
          <a:ln/>
        </p:spPr>
      </p:sp>
      <p:sp>
        <p:nvSpPr>
          <p:cNvPr id="14" name="Shape 12"/>
          <p:cNvSpPr/>
          <p:nvPr/>
        </p:nvSpPr>
        <p:spPr>
          <a:xfrm>
            <a:off x="4663440" y="1115568"/>
            <a:ext cx="73152" cy="3200400"/>
          </a:xfrm>
          <a:prstGeom prst="rect">
            <a:avLst/>
          </a:prstGeom>
          <a:solidFill>
            <a:srgbClr val="E8600A"/>
          </a:solidFill>
          <a:ln/>
        </p:spPr>
      </p:sp>
      <p:sp>
        <p:nvSpPr>
          <p:cNvPr id="15" name="Text 13"/>
          <p:cNvSpPr txBox="1"/>
          <p:nvPr/>
        </p:nvSpPr>
        <p:spPr>
          <a:xfrm>
            <a:off x="4800600" y="1207008"/>
            <a:ext cx="3886200" cy="292608"/>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E8600A"/>
                </a:solidFill>
                <a:latin typeface="Trebuchet MS" pitchFamily="34" charset="0"/>
                <a:ea typeface="Trebuchet MS" pitchFamily="34" charset="-122"/>
                <a:cs typeface="Trebuchet MS" pitchFamily="34" charset="-120"/>
              </a:rPr>
              <a:t>HOTEL &amp; TRAVEL  ·  SIX LAYERS OF CHANGE</a:t>
            </a:r>
            <a:endParaRPr lang="en-US" sz="1100" dirty="0"/>
          </a:p>
        </p:txBody>
      </p:sp>
      <p:sp>
        <p:nvSpPr>
          <p:cNvPr id="16" name="Text 14"/>
          <p:cNvSpPr txBox="1"/>
          <p:nvPr/>
        </p:nvSpPr>
        <p:spPr>
          <a:xfrm>
            <a:off x="4846320" y="1618488"/>
            <a:ext cx="3840480" cy="256032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Scale — global chains and brands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IHG: 15+ brands, roughly 6,000 locations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Franchising — Hilton largely franchises rather</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than owns; franchisees pay the fees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Functional separation — brand split from bricks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Host Hotels, the largest hotel REIT, is the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biggest third-party owner of Marriott and Hyatt</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Fractional ownership — Wyndham time-shares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OTAs — Booking, Expedia, Ctrip aggregate price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and disintermediate the travel agent</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Home sharing — Airbnb and Vrbo supply unique,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crowdsourced accommodation</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Response: direct booking, loyalty (Holiday Inn and</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Marriott launched theirs in 1983), soft brands.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B2B and B2C are not just different buyers — the buyer type propagates through channel, cycle and service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7, §2 on customer type and channel strategy, pp. 217–221; the remaining rows are practitioner framing.</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curriculum's anchor: business buyers have straightforward needs and want a return. Consumer needs can be impossible to quantify.</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8503920" cy="914400"/>
        </p:xfrm>
        <a:graphic>
          <a:graphicData uri="http://schemas.openxmlformats.org/drawingml/2006/table">
            <a:tbl>
              <a:tblPr/>
              <a:tblGrid>
                <a:gridCol w="2377440"/>
                <a:gridCol w="3108960"/>
                <a:gridCol w="30175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Dimension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B2B</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B2C</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Who is buying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Few, sophisticated, profit-driven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Many, diverse, part emotional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What they need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Straightforward — ship it, run 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Hard to quantify; brand and style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Sales cycle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Months: RFP, pilot, committee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Minutes to days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Main channel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Direct sales force, resellers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Retail, e-commerce, omnichannel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Ticket size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Large; few customers to reach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Small; reach is the whole game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After the sale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High-touch, SLA, integration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Self-serve, FAQ, chat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Illustrative firms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Infosys, Siemens, Salesforce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L'Oréal, Nike, IKEA, Netflix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429000"/>
            <a:ext cx="8503920" cy="914400"/>
          </a:xfrm>
          <a:prstGeom prst="rect">
            <a:avLst/>
          </a:prstGeom>
          <a:solidFill>
            <a:srgbClr val="FEF0E7"/>
          </a:solidFill>
          <a:ln/>
        </p:spPr>
      </p:sp>
      <p:sp>
        <p:nvSpPr>
          <p:cNvPr id="11" name="Shape 8"/>
          <p:cNvSpPr/>
          <p:nvPr/>
        </p:nvSpPr>
        <p:spPr>
          <a:xfrm>
            <a:off x="320040" y="3429000"/>
            <a:ext cx="73152" cy="914400"/>
          </a:xfrm>
          <a:prstGeom prst="rect">
            <a:avLst/>
          </a:prstGeom>
          <a:solidFill>
            <a:srgbClr val="E8600A"/>
          </a:solidFill>
          <a:ln/>
        </p:spPr>
      </p:sp>
      <p:sp>
        <p:nvSpPr>
          <p:cNvPr id="12" name="Text 9"/>
          <p:cNvSpPr txBox="1"/>
          <p:nvPr/>
        </p:nvSpPr>
        <p:spPr>
          <a:xfrm>
            <a:off x="457200" y="34747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HYBRIDS, AND WHY THEY NEED SPLITTING</a:t>
            </a:r>
            <a:endParaRPr lang="en-US" sz="1100" dirty="0"/>
          </a:p>
        </p:txBody>
      </p:sp>
      <p:sp>
        <p:nvSpPr>
          <p:cNvPr id="13" name="Text 10"/>
          <p:cNvSpPr txBox="1"/>
          <p:nvPr/>
        </p:nvSpPr>
        <p:spPr>
          <a:xfrm>
            <a:off x="457200" y="374904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Plenty of firms run both motions at once — an enterprise contract and a self-serve individual plan on the same product. Split the unit economics before comparing them with anything. The curriculum's DiaSera case is the warning: premium service promised at near-parity pricing only works if the volume actually arrives, and if it does not, management has to raise prices or abandon the promise.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Subscription economics reduce to three numbers: CAC, LTV, and payback — and the ratio LTV/CAC tells you if the business is viable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Practitioner rule of thumb: LTV/CAC ≥ 3× for venture-scale SaaS; payback ≤ 12 months for top-quartile public SaaS (Bessemer "Good, Better, Best").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7, §2 "unit economics" framing (p. 227) + industry-standard SaaS practice.</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CAC is cash out to win a customer. LTV is the gross profit they return. Payback is how long you wait for it.</a:t>
            </a:r>
            <a:endParaRPr lang="en-US" sz="1300" dirty="0"/>
          </a:p>
        </p:txBody>
      </p:sp>
      <p:sp>
        <p:nvSpPr>
          <p:cNvPr id="10" name="Shape 8"/>
          <p:cNvSpPr/>
          <p:nvPr/>
        </p:nvSpPr>
        <p:spPr>
          <a:xfrm>
            <a:off x="320040" y="1170432"/>
            <a:ext cx="8503920" cy="658368"/>
          </a:xfrm>
          <a:prstGeom prst="rect">
            <a:avLst/>
          </a:prstGeom>
          <a:solidFill>
            <a:srgbClr val="1B2A4A"/>
          </a:solidFill>
          <a:ln/>
        </p:spPr>
      </p:sp>
      <p:sp>
        <p:nvSpPr>
          <p:cNvPr id="11" name="Text 9"/>
          <p:cNvSpPr txBox="1"/>
          <p:nvPr/>
        </p:nvSpPr>
        <p:spPr>
          <a:xfrm>
            <a:off x="411480" y="1170432"/>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LTV  =  ARPU × Gross margin / Churn          Payback  =  CAC / (ARPU × Gross margin)</a:t>
            </a:r>
            <a:endParaRPr lang="en-US" sz="1800" dirty="0"/>
          </a:p>
        </p:txBody>
      </p:sp>
      <p:sp>
        <p:nvSpPr>
          <p:cNvPr id="12" name="Text 10"/>
          <p:cNvSpPr txBox="1"/>
          <p:nvPr/>
        </p:nvSpPr>
        <p:spPr>
          <a:xfrm>
            <a:off x="320040" y="185623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ARPU = average revenue per user per period · churn = share of customers lost per period.</a:t>
            </a:r>
            <a:endParaRPr lang="en-US" sz="1100" dirty="0"/>
          </a:p>
        </p:txBody>
      </p:sp>
      <p:sp>
        <p:nvSpPr>
          <p:cNvPr id="13" name="Shape 11"/>
          <p:cNvSpPr/>
          <p:nvPr/>
        </p:nvSpPr>
        <p:spPr>
          <a:xfrm>
            <a:off x="320040" y="2212848"/>
            <a:ext cx="2743200" cy="2103120"/>
          </a:xfrm>
          <a:prstGeom prst="rect">
            <a:avLst/>
          </a:prstGeom>
          <a:solidFill>
            <a:srgbClr val="FEF0E7"/>
          </a:solidFill>
          <a:ln/>
        </p:spPr>
      </p:sp>
      <p:sp>
        <p:nvSpPr>
          <p:cNvPr id="14" name="Shape 12"/>
          <p:cNvSpPr/>
          <p:nvPr/>
        </p:nvSpPr>
        <p:spPr>
          <a:xfrm>
            <a:off x="320040" y="2212848"/>
            <a:ext cx="73152" cy="2103120"/>
          </a:xfrm>
          <a:prstGeom prst="rect">
            <a:avLst/>
          </a:prstGeom>
          <a:solidFill>
            <a:srgbClr val="E8600A"/>
          </a:solidFill>
          <a:ln/>
        </p:spPr>
      </p:sp>
      <p:sp>
        <p:nvSpPr>
          <p:cNvPr id="15" name="Text 13"/>
          <p:cNvSpPr txBox="1"/>
          <p:nvPr/>
        </p:nvSpPr>
        <p:spPr>
          <a:xfrm>
            <a:off x="457200" y="2258568"/>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CAC  ·  ACQUISITION</a:t>
            </a:r>
            <a:endParaRPr lang="en-US" sz="1100" dirty="0"/>
          </a:p>
        </p:txBody>
      </p:sp>
      <p:sp>
        <p:nvSpPr>
          <p:cNvPr id="16" name="Text 14"/>
          <p:cNvSpPr txBox="1"/>
          <p:nvPr/>
        </p:nvSpPr>
        <p:spPr>
          <a:xfrm>
            <a:off x="457200" y="2532888"/>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Sales and marketing spend in the period, divided by new paid customers added.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Blended CAC mixes organic with paid. Paid CAC is the marginal number that decides whether to spend the next euro.</a:t>
            </a:r>
            <a:endParaRPr lang="en-US" sz="1200" dirty="0"/>
          </a:p>
        </p:txBody>
      </p:sp>
      <p:sp>
        <p:nvSpPr>
          <p:cNvPr id="17" name="Shape 15"/>
          <p:cNvSpPr/>
          <p:nvPr/>
        </p:nvSpPr>
        <p:spPr>
          <a:xfrm>
            <a:off x="3200400" y="2212848"/>
            <a:ext cx="2743200" cy="2103120"/>
          </a:xfrm>
          <a:prstGeom prst="rect">
            <a:avLst/>
          </a:prstGeom>
          <a:solidFill>
            <a:srgbClr val="F5F7FA"/>
          </a:solidFill>
          <a:ln/>
        </p:spPr>
      </p:sp>
      <p:sp>
        <p:nvSpPr>
          <p:cNvPr id="18" name="Shape 16"/>
          <p:cNvSpPr/>
          <p:nvPr/>
        </p:nvSpPr>
        <p:spPr>
          <a:xfrm>
            <a:off x="3200400" y="2212848"/>
            <a:ext cx="73152" cy="2103120"/>
          </a:xfrm>
          <a:prstGeom prst="rect">
            <a:avLst/>
          </a:prstGeom>
          <a:solidFill>
            <a:srgbClr val="1B2A4A"/>
          </a:solidFill>
          <a:ln/>
        </p:spPr>
      </p:sp>
      <p:sp>
        <p:nvSpPr>
          <p:cNvPr id="19" name="Text 17"/>
          <p:cNvSpPr txBox="1"/>
          <p:nvPr/>
        </p:nvSpPr>
        <p:spPr>
          <a:xfrm>
            <a:off x="3337560" y="2258568"/>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LTV  ·  LIFETIME VALUE</a:t>
            </a:r>
            <a:endParaRPr lang="en-US" sz="1100" dirty="0"/>
          </a:p>
        </p:txBody>
      </p:sp>
      <p:sp>
        <p:nvSpPr>
          <p:cNvPr id="20" name="Text 18"/>
          <p:cNvSpPr txBox="1"/>
          <p:nvPr/>
        </p:nvSpPr>
        <p:spPr>
          <a:xfrm>
            <a:off x="3337560" y="2532888"/>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Gross profit expected over a customer's life.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Simple form: ARPU × gross margin ÷ churn.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Better form discounts it at the cost of capital and allows for expansion revenue as accounts grow.</a:t>
            </a:r>
            <a:endParaRPr lang="en-US" sz="1200" dirty="0"/>
          </a:p>
        </p:txBody>
      </p:sp>
      <p:sp>
        <p:nvSpPr>
          <p:cNvPr id="21" name="Shape 19"/>
          <p:cNvSpPr/>
          <p:nvPr/>
        </p:nvSpPr>
        <p:spPr>
          <a:xfrm>
            <a:off x="6080760" y="2212848"/>
            <a:ext cx="2743200" cy="2103120"/>
          </a:xfrm>
          <a:prstGeom prst="rect">
            <a:avLst/>
          </a:prstGeom>
          <a:solidFill>
            <a:srgbClr val="FEF0E7"/>
          </a:solidFill>
          <a:ln/>
        </p:spPr>
      </p:sp>
      <p:sp>
        <p:nvSpPr>
          <p:cNvPr id="22" name="Shape 20"/>
          <p:cNvSpPr/>
          <p:nvPr/>
        </p:nvSpPr>
        <p:spPr>
          <a:xfrm>
            <a:off x="6080760" y="2212848"/>
            <a:ext cx="73152" cy="2103120"/>
          </a:xfrm>
          <a:prstGeom prst="rect">
            <a:avLst/>
          </a:prstGeom>
          <a:solidFill>
            <a:srgbClr val="E8600A"/>
          </a:solidFill>
          <a:ln/>
        </p:spPr>
      </p:sp>
      <p:sp>
        <p:nvSpPr>
          <p:cNvPr id="23" name="Text 21"/>
          <p:cNvSpPr txBox="1"/>
          <p:nvPr/>
        </p:nvSpPr>
        <p:spPr>
          <a:xfrm>
            <a:off x="6217920" y="2258568"/>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PAYBACK PERIOD</a:t>
            </a:r>
            <a:endParaRPr lang="en-US" sz="1100" dirty="0"/>
          </a:p>
        </p:txBody>
      </p:sp>
      <p:sp>
        <p:nvSpPr>
          <p:cNvPr id="24" name="Text 22"/>
          <p:cNvSpPr txBox="1"/>
          <p:nvPr/>
        </p:nvSpPr>
        <p:spPr>
          <a:xfrm>
            <a:off x="6217920" y="2532888"/>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Months to earn the CAC back at the gross-profit run rate.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Under 12 months — strong</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12 to 24 months — normal</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Over 24 months — fragile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Short payback means less capital tied up and faster compounding.</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USD 300 CAC against USD 40 ARPU at 70% margin gives a 10.7-month payback and 3.1× LTV/CAC — and churn moves only one of those two</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Illustrative unit-economics example built on the "unit economics" concept in CFA Vol 3 LM 7 §2 (p. 227); the metrics themselves are industry practitioner standards, not curriculum.</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Churn never touches payback — CAC and gross profit set that. Churn only sets how long they keep paying.</a:t>
            </a:r>
            <a:endParaRPr lang="en-US" sz="1300" dirty="0"/>
          </a:p>
        </p:txBody>
      </p:sp>
      <p:sp>
        <p:nvSpPr>
          <p:cNvPr id="9" name="Shape 7"/>
          <p:cNvSpPr/>
          <p:nvPr/>
        </p:nvSpPr>
        <p:spPr>
          <a:xfrm>
            <a:off x="320040" y="1143000"/>
            <a:ext cx="8503920" cy="1920240"/>
          </a:xfrm>
          <a:prstGeom prst="rect">
            <a:avLst/>
          </a:prstGeom>
          <a:solidFill>
            <a:srgbClr val="FEF0E7"/>
          </a:solidFill>
          <a:ln w="9525">
            <a:solidFill>
              <a:srgbClr val="E8600A"/>
            </a:solidFill>
            <a:prstDash val="solid"/>
          </a:ln>
        </p:spPr>
      </p:sp>
      <p:sp>
        <p:nvSpPr>
          <p:cNvPr id="10" name="Text 8"/>
          <p:cNvSpPr txBox="1"/>
          <p:nvPr/>
        </p:nvSpPr>
        <p:spPr>
          <a:xfrm>
            <a:off x="457200" y="1188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MONTHLYSTREAMER INC.  —  STEP BY STEP</a:t>
            </a:r>
            <a:endParaRPr lang="en-US" sz="1100" dirty="0"/>
          </a:p>
        </p:txBody>
      </p:sp>
      <p:sp>
        <p:nvSpPr>
          <p:cNvPr id="11" name="Text 9"/>
          <p:cNvSpPr txBox="1"/>
          <p:nvPr/>
        </p:nvSpPr>
        <p:spPr>
          <a:xfrm>
            <a:off x="457200" y="1481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10,000 subscribers, USD 40 ARPU a month, 70% gross margin, 3% monthly churn, USD 300 blended CAC.</a:t>
            </a:r>
            <a:endParaRPr lang="en-US" sz="1200" dirty="0"/>
          </a:p>
        </p:txBody>
      </p:sp>
      <p:sp>
        <p:nvSpPr>
          <p:cNvPr id="12" name="Text 10"/>
          <p:cNvSpPr txBox="1"/>
          <p:nvPr/>
        </p:nvSpPr>
        <p:spPr>
          <a:xfrm>
            <a:off x="457200" y="1993392"/>
            <a:ext cx="8229600" cy="55778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Monthly gross profit per customer = 40 × 0.70 = USD 28  (so the book earns 10,000 × 28 = USD 280k a month)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Average customer life = 1 / churn = 1 / 0.03 = 33.3 months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LTV = 28 × 33.3 = ARPU × GM / churn = 40 × 0.70 / 0.03 = USD 933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Payback = CAC / monthly gross profit = 300 / 28 = 10.7 months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LTV / CAC = 933 / 300 = 3.1× — clears the 3× bar, but only just</a:t>
            </a:r>
            <a:endParaRPr lang="en-US" sz="1050" dirty="0"/>
          </a:p>
        </p:txBody>
      </p:sp>
      <p:sp>
        <p:nvSpPr>
          <p:cNvPr id="13" name="Shape 11"/>
          <p:cNvSpPr/>
          <p:nvPr/>
        </p:nvSpPr>
        <p:spPr>
          <a:xfrm>
            <a:off x="411480" y="2624328"/>
            <a:ext cx="8321040" cy="365760"/>
          </a:xfrm>
          <a:prstGeom prst="rect">
            <a:avLst/>
          </a:prstGeom>
          <a:solidFill>
            <a:srgbClr val="E8600A"/>
          </a:solidFill>
          <a:ln/>
        </p:spPr>
      </p:sp>
      <p:sp>
        <p:nvSpPr>
          <p:cNvPr id="14" name="Text 12"/>
          <p:cNvSpPr txBox="1"/>
          <p:nvPr/>
        </p:nvSpPr>
        <p:spPr>
          <a:xfrm>
            <a:off x="457200" y="26243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LTV USD 933  ·  PAYBACK 10.7 MO  ·  LTV/CAC 3.1×  →  VIABLE</a:t>
            </a:r>
            <a:endParaRPr lang="en-US" sz="11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3200400"/>
          <a:ext cx="8503920" cy="914400"/>
        </p:xfrm>
        <a:graphic>
          <a:graphicData uri="http://schemas.openxmlformats.org/drawingml/2006/table">
            <a:tbl>
              <a:tblPr/>
              <a:tblGrid>
                <a:gridCol w="1463040"/>
                <a:gridCol w="1645920"/>
                <a:gridCol w="1463040"/>
                <a:gridCol w="1645920"/>
                <a:gridCol w="1188720"/>
                <a:gridCol w="10972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Monthly churn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Average life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LTV (USD)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Payback (mo)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LTV/CAC</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Verdict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best-in-class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 mo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2,800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Excellent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 illustrative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33.3 mo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Viable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 weak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20.0 mo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Marginal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8% severe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12.5 mo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Burns cash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10 — Working Capital, Capital Allocation &amp; Business Models</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CCC = DOH + DSO − DPO, and DPO carries the minus sign: a longer payable period SHORTENS the cycle. Inditex −86 days, Target −5, TJX +23.</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Get the ratio bases right or everything downstream is wrong: DSO runs on revenue, DOH and DPO both run on COGS.</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Forgoing 2/10 net 30 is borrowing at a 44.6% EAR. Interest is the discount, the term is only the extra 20 days, and the base is 98, not 100.</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Rank liquidity current ≥ quick ≥ cash — and read them together. Licht's current ratio rose while it became less liquid, because the rise was inventory.</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NPV wins every disagreement. IRR is fine for a single conventional project and breaks on multiple roots, scale mismatch and its own reinvestment assumption.</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Three principles: after-tax cash flows, incremental only (sunk costs out, cannibalisation in), and correct timing. Then three cognitive errors and four behavioral biases.</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ROIC is the capital-efficiency test an outsider can compute — margin × turnover, compared against the required return, read as a trend not a single year.</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Real options are the right, not the obligation, to change course: Gerhardt goes from −90.91 to +8.26 once the facility's alternative uses are priced in.</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10 · Working Capital, Capital Allocation &amp; Business Models</dc:title>
  <dc:subject>PptxGenJS Presentation</dc:subject>
  <dc:creator>Studio Tonton Gug</dc:creator>
  <cp:lastModifiedBy>Studio Tonton Gug</cp:lastModifiedBy>
  <cp:revision>1</cp:revision>
  <dcterms:created xsi:type="dcterms:W3CDTF">2026-09-02T08:43:07Z</dcterms:created>
  <dcterms:modified xsi:type="dcterms:W3CDTF">2026-09-02T08:43:07Z</dcterms:modified>
</cp:coreProperties>
</file>