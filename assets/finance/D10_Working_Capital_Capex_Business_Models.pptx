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10  ·  CORPORATE ISSUERS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Capital,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Allocation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Business Models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Short-term cycle, long-term investment, and the business model underneath both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3 Learning Modules 4, 5, 7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Working Capital, Capital Allocation &amp; Business Models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1158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1158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1158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capital &amp; liquidity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728216"/>
            <a:ext cx="7726680" cy="637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CCC mechanics · Inditex &amp; discount retailers · supplier financing · liquidity ratios · drags &amp; pulls · conservative vs aggressive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401824"/>
            <a:ext cx="8503920" cy="1158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401824"/>
            <a:ext cx="594360" cy="1158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401824"/>
            <a:ext cx="594360" cy="1158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447544"/>
            <a:ext cx="772668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investments &amp; allocation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923032"/>
            <a:ext cx="7726680" cy="637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types · 4-step process · NPV / IRR / ROIC · inflation · cognitive &amp; behavioral pitfalls · real options with decision tree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3596640"/>
            <a:ext cx="8503920" cy="1158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3596640"/>
            <a:ext cx="594360" cy="1158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3596640"/>
            <a:ext cx="594360" cy="1158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642360"/>
            <a:ext cx="772668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117848"/>
            <a:ext cx="7726680" cy="637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Ws framework · eight archetypes · pricing taxonomy · platforms &amp; network effects · B2B vs B2C · subscription unit economics (CAC/LTV)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 cash conversion cycle from activity ratios, interpret negative CCCs, and price supplier trade credit against a bank loan.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firm liquidity using current / quick / cash ratios and distinguish primary from secondary liquidity sources, including drags and pulls.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NPV, IRR and ROIC to capital-investment decisions and recognise the cognitive and behavioral biases that distort real-world capital allocation.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four types of real option (timing, sizing, flexibility, fundamental) and compute a project NPV that embeds a decision tree.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a business model into its five core questions, classify it into one of eight conventional archetypes, and compute the unit economics of a subscription business (CAC, LTV, payback).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capital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liquidity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3  ·  Deck 10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operating cycle converts raw materials into cash, and the cash conversion cycle is the gap left over after supplier financing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4, §2 "Cash Conversion Cycle", pp. 101–104.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DOH lengthens the cycle, DSO lengthens the cycle, DPO shortens it. Negative CCC means the firm collects before it pays.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CCC  =  DOH  +  DSO  −  DPO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DOH = days of inventory on hand · DSO = days sales outstanding · DPO = days payable outstanding. Units: days.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3383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Industry (2020 S&amp;P 1500 avg)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CCC (days)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Driver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Pharmaceuticals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Large regulatory inventory stockpile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Apparel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Seasonal inventory, long DOH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Semiconductors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Complex multi-stage inventory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S&amp;P 1500 companies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78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Benchmark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&amp; auto parts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66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Shorter DOH via JIT manufacturing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Card sales, short DSO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 &amp; Gas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22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Prepaid subscriptions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Subscription &amp; ad revenue upfront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–2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Customers pay in advance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Inditex runs a structurally negative cash conversion cycle — customers pay before suppliers are paid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4, Inditex case study, pp. 103–108.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Fast-fashion turnover + point-of-sale cash/card payments + huge supplier base → ZARA's vertically integrated model funds growth from suppliers.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600200"/>
                <a:gridCol w="1600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 (EUR millions unless days)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2021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2020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receivable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3,042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2,321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payable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6,199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4,659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27,716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20,402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sales outstanding (DSO)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of inventory on hand (DOH)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93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94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payable outstanding (DPO)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190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189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conversion cycle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−86 days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−82 days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91840"/>
            <a:ext cx="8503920" cy="10972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3375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CCC &amp; NET WORKING CAPITAL COMPUTATION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301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working capital 2021 = 842 + 3,042 − 6,199 = −EUR 2,315M. As % of sales: −2,315 / 27,716 = −8.4%.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95020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CCC = 11 + 93 − 190 = −86 days  ·  Inditex is financed by its supply chain, not the reverse.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large US discount retailers split neatly into negative-, zero- and positive-CCC camps depending on payment terms and perishability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4, Example 2, pp. 105–106.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accept card payment at the register, so DSO is tiny. The spread is driven by DOH (perishables vs apparel) and supplier leverage.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51560"/>
                <a:gridCol w="1051560"/>
                <a:gridCol w="1051560"/>
                <a:gridCol w="2880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Retailer (2021)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DSO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DOH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DPO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CCC = DOH + DSO − DPO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48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47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 + 48 − 47 =  +6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68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+ 68 − 75 =  −5 d  (shortest)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+ 29 − 34 =  −2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TJX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63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47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 + 63 − 47 = +23 d  (longest)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Ross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63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+ 61 − 63 =   0 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972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972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SPREAD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Costco sells ~54% food/perishable goods — inventory must be sold before it spoils, driving DOH down to 29 days. TJX (off-price apparel) carries the most inventory across narrower supplier relationships. Target leans hardest on supplier financing — 75 days payable is the highest DPO of the five.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Forgoing a 2/10 net 30 supplier discount is an implicit 44.6% annual loan — almost always cheaper to borrow from a bank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4, Example 1 Keown Corp, pp. 104–105.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is effectively paying the discount to use the supplier's money for (payment period − discount period) days. Annualize to compare.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  =  [ 1 + Disc% / (100% − Disc%) ]^(365 / (net days − disc days))  −  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9339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Disc% = prompt-payment discount · net days = total payment period · disc days = discount period.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41605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KEOWN CORP — 2/10 NET 30 vs 7.7% BANK LOAN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3886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offers 2% discount if paid in 10 days, otherwise net in 30. Bank loan EAR = 7.7%.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38862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ratio: 2% / (100% − 2%) = 0.02041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Periods / year: 365 / (30 − 10) = 18.25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 = (1.02041)^18.25 − 1 = 44.6%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44.6% supplier cost ≫ 7.7% bank loan  →  borrow from bank, take the discount.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39776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38862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 financing EAR = 44.6%  →  USE THE BANK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2377440"/>
          <a:ext cx="416052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5544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Trade credit terms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Implied 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1/10, net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9.6%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1/14, net 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25.8%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3/15, net 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28.0%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2/15, net 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34.3%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2/10, net 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44.6%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Current, quick, and cash ratios rank firms by progressively more conservative definitions of "what can pay my bills right now"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4, §3 "Liquidity", pp. 117–122.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ratios share a denominator. The numerator shrinks as the definition of "liquid" tightens. Order is always: Current ≥ Quick ≥ Cash.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2743200" cy="1554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1554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RATIO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6304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assets / Current liabilities.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Broadest. Includes inventory and receivables. Good for going-concern liquidity.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43000"/>
            <a:ext cx="2743200" cy="1554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43000"/>
            <a:ext cx="73152" cy="1554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188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RATIO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46304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(Cash + ST marketable + AR) / Current liabilities.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inventory (slow to liquidate). "Acid test" for stress scenarios.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43000"/>
            <a:ext cx="2743200" cy="1554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43000"/>
            <a:ext cx="73152" cy="1554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 RATIO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46304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(Cash + ST marketable) / Current liabilities.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conservative. Assumes AR cannot be collected in crisis. Crisis-liquidity metric.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834640"/>
          <a:ext cx="85039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371600"/>
                <a:gridCol w="137160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Licht Vernieuwend N.V. (EUR 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20X1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20X2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Δ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ratio = (Cash+Sec) / CL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−0.10  worse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ratio = (Cash+Sec+AR) / CL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−0.11  worse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 = CA / CL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+0.16  better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Verdict based on most conservative measure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ratio down → less liquid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Drags on liquidity slow cash in; pulls on liquidity accelerate cash out — both shorten the runway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4, pp. 116–117 (drags/pulls) + pp. 113–115 (liquidity sources).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liquidity sources (cash, CFO, revolver) are cheap. Secondary sources (asset sales, equity raise, bankruptcy) signal distress.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16459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16459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DRAGS ON LIQUIDITY  (inflows slow)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63040"/>
            <a:ext cx="39319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Uncollected receivables (delinquencies)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Obsolete inventory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Tighter borrowing constraints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Customer credit-quality deterioration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1645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1645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188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PULLS ON LIQUIDITY  (outflows accelerate)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463040"/>
            <a:ext cx="39319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Early payments with no discount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Reduced supplier credit limits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Shrinking short-term credit lines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Chronically low liquidity positions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97180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93776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Liquidity source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Signal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— cash &amp; securities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Bank balances, T-bills, commercial paper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Healthy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— borrowings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Bank revolver, trade credit, CP issuance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Healthy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— cash flow from 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The long-run engine; tracked via statement of cash flows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Healthy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— cut CAPEX / dividend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Delta deferred USD 500M CAPEX in 2020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Stress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— issue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Singapore Airlines SGD 8.8B rights issue, 2020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Stress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— sell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Convertible bond, asset sale, spin-off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Distress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— bankruptcy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Chapter 11 / insolvency reorganisation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Distress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Working-capital policy sits on a spectrum from conservative to aggressive — each lever has a cost and a risk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4, §4 Exhibits 10–13, pp. 123–127.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= safer but costlier. Aggressive = cheaper but exposed to rollover risk. Moderate = match-funding — the IB default.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48840"/>
                <a:gridCol w="214884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Conservative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Moderate ("matched")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Aggressive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Current-asset level vs sales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Larger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Smaller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Funding mix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More long-term debt +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Match permanent→LT; variable→ST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More short-term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Financing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Medium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Rollover / refinancing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Minimal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Limited to variable share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— hit hardest in crises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Flexibility in market stress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Medium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Early-growth, regulated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Mature diversified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Mature low-margin, stable demand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66160"/>
            <a:ext cx="8503920" cy="822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66160"/>
            <a:ext cx="73152" cy="822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118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AGGRESSIVE BITES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86200"/>
            <a:ext cx="82753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2008–09 crisis and early 2020 COVID shock repeatedly broke aggressive WC firms: inability to roll CP or bank lines forced equity raises at distressed prices. Match-funding is the defensive default for any firm with cyclical revenues.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investments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allocation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3  ·  Deck 10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investments fall into four categories that differ in risk, return, and discretion — not all are elective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§2 "Capital Investments", pp. 139–145.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projects can proceed with negative NPV (the alternative is a bigger fine). The other three are all discretionary.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474720"/>
                <a:gridCol w="82296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Purpose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Risk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 concern (maintenance)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Replace aging assets; keep lights 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Data-center cooling upgrade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Regulatory / compliance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Comply with rules; avoid fines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Danske AML remediation programme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 of existing business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Scale up or extend scope; adjacent products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Med.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Sony Interactive acquires Bungie (USD 3.6B, 2022)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lines of business / 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Enter new industry or novel R&amp;D bet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Kirin (brewer) buys ¥129B stake in Fancl cosmetics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017520"/>
            <a:ext cx="4160520" cy="13716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017520"/>
            <a:ext cx="73152" cy="1371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0632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MAINTENANCE PROXY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37560"/>
            <a:ext cx="39319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commonly estimate annual maintenance CAPEX = D&amp;A expense, best accurate for short-lived assets.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CAPEX  ≈  Total CAPEX  −  D&amp;A.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3017520"/>
            <a:ext cx="4160520" cy="13716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3017520"/>
            <a:ext cx="73152" cy="13716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30632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FINANCING RULE OF THUMB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3337560"/>
            <a:ext cx="39319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debt tenor with the asset life. Utility replacing 30-year turbines issues 30-year bonds.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Rollover risk = shorter debt than asset life. Negative carry = longer debt than needed.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capital allocation process is a four-step loop from idea generation to post-investment review — most pitfalls live between steps 2 and 3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§3 Exhibit 3, pp. 146–147.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and IRR are tools used only in step 2. Step 4 — post-audit — is the step firms most often skip and the step analysts most often value.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91440" cy="7498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43000"/>
            <a:ext cx="36576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179576"/>
            <a:ext cx="7863840" cy="3374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Idea generation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480414"/>
            <a:ext cx="7863840" cy="4123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Managers, business-unit heads, consultants, M&amp;A bankers propose projects. Ideas usually come from within existing operations (inertia risk — see later).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947672"/>
            <a:ext cx="8503920" cy="74980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947672"/>
            <a:ext cx="91440" cy="7498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947672"/>
            <a:ext cx="36576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984248"/>
            <a:ext cx="7863840" cy="3374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Investment analysis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285086"/>
            <a:ext cx="7863840" cy="4123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after-tax cash flows with realistic assumptions. Compute NPV and IRR. Apply the required rate of return appropriate to project risk — NOT to financing source.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752344"/>
            <a:ext cx="850392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752344"/>
            <a:ext cx="91440" cy="7498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752344"/>
            <a:ext cx="36576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788920"/>
            <a:ext cx="7863840" cy="3374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Planning &amp; prioritisation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3089758"/>
            <a:ext cx="7863840" cy="4123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projects; impose portfolio constraints (financing, strategic fit, ESG). Return surplus capital to shareholders when value-creative projects are exhausted.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557016"/>
            <a:ext cx="8503920" cy="74980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557016"/>
            <a:ext cx="91440" cy="7498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3557016"/>
            <a:ext cx="36576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3593592"/>
            <a:ext cx="7863840" cy="3374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Monitoring &amp; post-audit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3894430"/>
            <a:ext cx="7863840" cy="41239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actuals vs projections. Identify systematic optimism. Feed lessons back into step 1. Exercise real options (expand, abandon) as information arrives.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discounts every after-tax cash flow at the hurdle rate; accept iff NPV ≥ 0, and it beats IRR whenever they disagree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Example 4 Gerhardt Corp NPV, pp. 147–149.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is in currency units — interpretable as the dollar increase in shareholder wealth. IRR is in rate units — useful for ranking but not for choosing.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NPV  =  CF₀  +  Σ  CFₜ / (1 + r)ᵗ          Accept iff NPV ≥ 0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CF₀ = initial outlay (typically negative); r = required return on similarly risky investment; CFₜ = after-tax cash flow at 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GERHARDT CORP — EUR 50M FACILITY, r = 10%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CF₀ = −50; CF₁…CF₄ = +16 each; CF₅ = +20. All amounts in EUR millions.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PV(y1) = 16 / 1.10     = 14.545        PV(y2) = 16 / 1.10²  = 13.223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PV(y3) = 16 / 1.10³   = 12.021        PV(y4) = 16 / 1.10⁴  = 10.928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PV(y5) = 20 / 1.10⁵   = 12.418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= −50 + 14.545 + 13.223 + 12.021 + 10.928 + 12.418 = +13.136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NPV = +EUR 13.136M  →  ACCEPT. Project adds ≈ 26% to the outlay in present value.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Inflation-adjustment is a matching problem: discount nominal cash flows at a nominal rate, real cash flows at a real rate — never mix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Inflation principle + ScolarCorp Q&amp;A, pp. 160–161.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approaches produce the same NPV when done correctly. The error is silently mixing conventions, which inflates (or deflates) NPV spuriously.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 + r_nominal)  =  (1 + r_real) × (1 + π)        ⇒    r_real  =  (1 + r_nominal) / (1 + π)  −  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9339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π = expected inflation. Mix conventions (nominal CF at real r) and the result is meaningless.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1097280"/>
                <a:gridCol w="1097280"/>
                <a:gridCol w="10972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Project 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t=0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t=1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t=2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t=3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NPV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CF (today's prices, π = 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−100.0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Nominal CF = Real × (1.05)ᵗ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−100.0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46.3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at nominal r = 10%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38.18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36.45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34.79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+9.43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real CF at real r = 4.76%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38.18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36.45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34.79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+9.43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Both approaches → identical NPV when matched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+EUR 9.43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 is the rate that zeros NPV — intuitive, but it reinvests cash flows at itself and breaks down when signs alternate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IRR reinvestment assumption: interim CFs earn the IRR. NPV implicitly reinvests at r — usually more realistic above WACC.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For mutually exclusive projects of different scale, the higher NPV always wins — not the higher IRR.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pp. 150–153 (IRR and limitations).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Gerhardt IRR = 19.52% on the same cash flows as the previous slide. Accept iff IRR ≥ hurdle. But the rule is fragile.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IRR  =  rate r* such that   Σₜ  CFₜ / (1 + r*)ᵗ  =  0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20040" y="2011680"/>
            <a:ext cx="2743200" cy="22860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11680"/>
            <a:ext cx="73152" cy="22860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FAILURE 1  ·  MULTIPLE IRRs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468880"/>
            <a:ext cx="246888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flip more than once (−, +, −). CFs −1,000 / +5,000 / −6,000 solve NPV = 0 at BOTH r = 100% and r = 200%.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reports the lowest root only.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2011680"/>
            <a:ext cx="2743200" cy="22860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011680"/>
            <a:ext cx="73152" cy="22860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FAILURE 2  ·  SCALE MISMATCH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468880"/>
            <a:ext cx="246888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A: invest 100, earn 150 (IRR 50%).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B: invest 1,000, earn 1,300 (IRR 30%).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has higher IRR but B adds more NPV. If mutually exclusive, pick B.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2011680"/>
            <a:ext cx="2743200" cy="22860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011680"/>
            <a:ext cx="73152" cy="22860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10312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FAILURE 3  ·  REINVESTMENT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468880"/>
            <a:ext cx="246888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assumes interim cash flows earn IRR forever. A 30% IRR project assumes reinvestment at 30% — rarely true.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uses the cost of capital instead. Theoretically superior.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ROIC is the only external-analyst tool for gauging whether a firm earns its cost of capital — decompose it into margin × turnover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§3 "Return on Invested Capital", pp. 153–157.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NPV and IRR (which need project-level data), ROIC can be computed from public financial statements. Compare ROIC vs WACC = value test.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ROIC  =  (1 − t) × Operating profit  /  Avg. invested capital  =  After-tax margin × Capital turnover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Invested capital = LT liabilities + equity (average of beginning and ending). Working capital excluded.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ROIC COMPUTATION  —  HYPOTHETICAL ISSUER, YEAR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3886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After-tax operating profit = 24,395. LT debt + Share capital + RE: Y1 = 276,387; Y2 = 282,280.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388620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invested capital = (276,387 + 282,280) / 2 = 279,333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ROIC = 24,395 / 279,333 = 8.73%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return (hurdle) = 10%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8.73% &lt; 10% → firm destroys value — unless reversed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904488"/>
            <a:ext cx="39776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904488"/>
            <a:ext cx="38862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ROIC 8.73% &lt; hurdle 10% → VALUE DESTRUCTION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63440" y="2331720"/>
            <a:ext cx="4160520" cy="2011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9" name="Shape 17"/>
          <p:cNvSpPr/>
          <p:nvPr/>
        </p:nvSpPr>
        <p:spPr>
          <a:xfrm>
            <a:off x="4663440" y="2331720"/>
            <a:ext cx="73152" cy="2011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DUPONT DECOMPOSITION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2651760"/>
            <a:ext cx="393192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ROIC  =  (After-tax profit / Sales)  ×  (Sales / Invested capital)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=  Margin × Turnover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to a high ROIC: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Premium strategy — high margin, low turnover (luxury, pharma)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Volume strategy — low margin, high turnover (discount retail, commodity)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can earn the same ROIC.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Eight common pitfalls in capital allocation split cleanly into cognitive errors and behavioral biases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McKinsey (Hall, Lovallo, Musters 2012): year-over-year capex correlation of 0.92 across 1,600 US listed firms — evidence of pervasive inertia.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§4 Principles &amp; Pitfalls, pp. 158–163.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errors are fixable with better process. Behavioral biases are the harder, governance-level problem — they need board oversight.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4300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4300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34440"/>
            <a:ext cx="3886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COGNITIVE ERRORS  (process problems)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600200"/>
            <a:ext cx="388620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Forecasting errors (overhead, competitor response ignored)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Treating internal cash as "free" vs external capital as "expensive"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Mixing inflation: nominal CFs at real r (or vice versa)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Not updating required return for project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5" name="Shape 13"/>
          <p:cNvSpPr/>
          <p:nvPr/>
        </p:nvSpPr>
        <p:spPr>
          <a:xfrm>
            <a:off x="4663440" y="114300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0600" y="1234440"/>
            <a:ext cx="3886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BEHAVIORAL BIASES  (governance problems)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600200"/>
            <a:ext cx="388620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Inertia (capex anchored to prior year; 0.92 correlation per McKinsey)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Optimising short-run EPS / RoE over long-run NPV (buybacks in, capex out)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Pet projects (preferential treatment from founder or controlling shareholder)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Failure to consider alternatives, scenario, or break-even analysis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434340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389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66344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segment-level capex vs ROIC trend over time: rising capex into declining-ROIC segments is the signature of inertia + pet-project bias.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options add flexibility value — timing, sizing, switching, and fundamental — which is worth paying for upfront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§5 Real Options, pp. 163–165.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cost = what you pay upfront (market research, pilot plant). Option value = incremental NPV when flexibility is exercised.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NPV  =  NPV (without options)  −  Option cost  +  Option value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If Option value &gt; Option cost, the flexibility is NPV-positive. Evaluate with decision trees or option-pricing models.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057400"/>
            <a:ext cx="4169664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57400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103120"/>
            <a:ext cx="3941064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TIMING OPTION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377440"/>
            <a:ext cx="39410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the investment to gather information. E.g. wait on subsidy law before building solar farm — forgo near-term CF for reduced uncertainty.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54296" y="2057400"/>
            <a:ext cx="4169664" cy="868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54296" y="2057400"/>
            <a:ext cx="73152" cy="868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91456" y="2103120"/>
            <a:ext cx="3941064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SIZING OPTION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91456" y="2377440"/>
            <a:ext cx="39410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option (scale up if demand strong) or abandon option (exit if disappointing). Common in staged capex.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035808"/>
            <a:ext cx="4169664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1" name="Shape 19"/>
          <p:cNvSpPr/>
          <p:nvPr/>
        </p:nvSpPr>
        <p:spPr>
          <a:xfrm>
            <a:off x="320040" y="3035808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3081528"/>
            <a:ext cx="3941064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FLEXIBILITY OPTION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355848"/>
            <a:ext cx="39410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prices, change output mix, add shifts. Dual-fuel power plants switch between gas and oil depending on price.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54296" y="3035808"/>
            <a:ext cx="4169664" cy="868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4654296" y="3035808"/>
            <a:ext cx="73152" cy="868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91456" y="3081528"/>
            <a:ext cx="3941064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FUNDAMENTAL OPTION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791456" y="3355848"/>
            <a:ext cx="39410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project contingent on external price. Oil well — drill only if oil price justifies. R&amp;D — continue only if Phase II trial passes.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real-option decision tree turns a negative-NPV project into a positive-NPV one when abandonment and alternative uses are priced 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5, Example 9 Gerhardt decision tree, pp. 165–166.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Outlay EUR 500M. Product launch (60%) returns 750 at t=1. Failure (40%) branches into alt-use (30%), facility sale (30%), abandonment (40%) at t=2. r = 10%.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13716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13716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WITHOUT OPTIONS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54480"/>
            <a:ext cx="3886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failure → 0 cash flow, no recovery.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= −500 + (0.6 × 750) / 1.10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−500 + 409.09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−90.91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REJECT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137160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137160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WITH REAL OPTIONS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54480"/>
            <a:ext cx="388620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failure, exercise option at t=2.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= −500 + (0.6 × 750)/1.10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+ (0.4 × 0.3 × 600 + 0.4 × 0.3 × 400)/1.10²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−500 + 409.09 + 99.17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+8.26  →  ACCEPT</a:t>
            </a:r>
            <a:endParaRPr lang="en-US" sz="11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697480"/>
          <a:ext cx="85039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1737360"/>
                <a:gridCol w="82296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Branch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Joint probability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Cash flow (EUR 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Period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Discounted contribution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launch succeeds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+409.09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→ alt. product launch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40% × 30% = 12%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+600 (conditional: 600)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+59.50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→ sell facility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40% × 30% = 12%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+400 (conditional: 400)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+39.67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→ abandon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40% × 40% = 16%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 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outlay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−500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−500.00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NPV with real options (sum)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+8.26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3  ·  Deck 10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business model answers five questions — who, what, where, how much, and how — and a gap in any one is a risk signal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7, §2 "Defining the Business Model", pp. 215–218.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management's annual report answers four of the five, the missing one is usually where the risk is hiding.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10312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Question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asks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Tesla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Netflix (2024)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Target customers / market segments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Aspirational middle-upper class; mass-market EV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streamers; 250M subs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Product / service / value proposition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 EVs, energy storage, FSD software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On-demand video, originals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Channels — sales &amp; distribution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sales, website, Supercharger network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Apps on every connected device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Pricing strategy relative to competitors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 with TCO-based justification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Tiered subscription + ad tier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Organisation — assets, partners, value chain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Vertical integration (batteries, FSD in-house)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Content licensing + originals; AWS infra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57600"/>
            <a:ext cx="8503920" cy="777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57600"/>
            <a:ext cx="73152" cy="777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033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"WHO" MATTERS MOST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77640"/>
            <a:ext cx="8275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Segmenting by geography, demographics, life-cycle, behavior determines the addressable market and therefore every downstream forecast. Vague "who" = inflated TAM claim.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Conventional business models cluster into eight archetypes; most "innovative" models are variations or combinations of these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7, §3 Exhibit 5, pp. 230–232.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classifying any firm as "disruptive", identify which combination of these eight archetypes it actually runs.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2011680"/>
                <a:gridCol w="173736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Archetype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Customer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Product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Pricing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Natural-resource producer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Refiners, dist.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Raw materials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Spot / forward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 Energies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Manufacturer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Distributors, OEM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Finished goods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per unit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L'Oréal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Retailers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Goods in transit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Delivery / service fee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McKesson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End-users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Customer experience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Mark-up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JD.com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Broker / marketplace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Buyers + sellers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Connection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Commission / listing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Pinduoduo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Borrowers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Loans, leases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spread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HSBC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producer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Businesses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 fees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Infosys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Businesses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Software, SaaS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Subscription / licence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Shopify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931920"/>
            <a:ext cx="8503920" cy="548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931920"/>
            <a:ext cx="73152" cy="548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9776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VARIATIONS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51960"/>
            <a:ext cx="8275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Private-label manufacturer · value-added reseller · licensing · franchising. All are hybrids of the eight archetypes above.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models range from single-price to freemium — each one encodes a different theory of customer willingness to pay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7, §2 "Pricing and Revenue Models", pp. 222–224.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discrimination seeks to capture more of the area under the demand curve. The question is which segmentation axis (volume, time, feature, channel).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2773680" cy="987552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54864" cy="9875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768" y="1197864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TIERED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" y="1435608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prices by volume or product tier. Base vs Premium trims of vehicles; enterprise vs individual SaaS seats.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85160" y="1143000"/>
            <a:ext cx="2773680" cy="9875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5160" y="1143000"/>
            <a:ext cx="54864" cy="9875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94888" y="1197864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4888" y="1435608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changes with supply / demand / time. Hotel ADR seasonality; Uber surge; airline yield management.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50280" y="1143000"/>
            <a:ext cx="2773680" cy="987552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50280" y="1143000"/>
            <a:ext cx="54864" cy="9875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60008" y="1197864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VALUE-BASED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60008" y="1435608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customer savings / ROI. Pharma — price = averted hospitalisation cost; enterprise IT per-seat.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2203704"/>
            <a:ext cx="2773680" cy="9875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203704"/>
            <a:ext cx="54864" cy="9875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9768" y="2258568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AUCTION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29768" y="2496312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discovers price. Google / Baidu paid search; eBay; commodity futures; automated display ad exchanges.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185160" y="2203704"/>
            <a:ext cx="2773680" cy="987552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6" name="Shape 24"/>
          <p:cNvSpPr/>
          <p:nvPr/>
        </p:nvSpPr>
        <p:spPr>
          <a:xfrm>
            <a:off x="3185160" y="2203704"/>
            <a:ext cx="54864" cy="9875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294888" y="2258568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BUNDLING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294888" y="2496312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for buying complements together. Phone + cable + internet; Office 365; theme-park multi-attraction passes.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50280" y="2203704"/>
            <a:ext cx="2773680" cy="9875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Shape 28"/>
          <p:cNvSpPr/>
          <p:nvPr/>
        </p:nvSpPr>
        <p:spPr>
          <a:xfrm>
            <a:off x="6050280" y="2203704"/>
            <a:ext cx="54864" cy="9875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60008" y="2258568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RAZOR-RAZORBLADE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160008" y="2496312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upfront, high margin on consumables. Gillette; Nespresso; printer + ink; diagnostic instrument + reagents.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3264408"/>
            <a:ext cx="2773680" cy="987552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264408"/>
            <a:ext cx="54864" cy="9875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29768" y="3319272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PENETRATION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29768" y="3557016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heavily to build scale. Amazon Echo; mobile handset subsidies. Controversial if sustained — regulator risk.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185160" y="3264408"/>
            <a:ext cx="2773680" cy="98755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8" name="Shape 36"/>
          <p:cNvSpPr/>
          <p:nvPr/>
        </p:nvSpPr>
        <p:spPr>
          <a:xfrm>
            <a:off x="3185160" y="3264408"/>
            <a:ext cx="54864" cy="9875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94888" y="3319272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FREEMIUM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294888" y="3557016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+ paid upgrade. Spotify Free → Premium; Dropbox 2GB → paid; Linkedin basic → Recruiter.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050280" y="3264408"/>
            <a:ext cx="2773680" cy="987552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42" name="Shape 40"/>
          <p:cNvSpPr/>
          <p:nvPr/>
        </p:nvSpPr>
        <p:spPr>
          <a:xfrm>
            <a:off x="6050280" y="3264408"/>
            <a:ext cx="54864" cy="98755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60008" y="3319272"/>
            <a:ext cx="2590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160008" y="3557016"/>
            <a:ext cx="2590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fee for access. Netflix, Adobe, AWS reserved capacity; fits cloud-native SaaS cost structure.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businesses capture one-sided or multi-sided network effects, and a tipping point turns these effects into a moat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7, §3 "Network Effects and Platforms", pp. 233–236.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One-sided: each user adds value for every other user (WhatsApp, Venmo). Multi-sided: adding one type of user attracts another (Uber, Airbnb, Visa).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16916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1691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ONE-SIDED NETWORK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63040"/>
            <a:ext cx="39319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users interchangeable. Value grows with N (Metcalfe-like).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telephony, Venmo peer-to-peer, WhatsApp, public WiFi.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 of new user ≪ revenue they bring once critical mass is crossed.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1691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1691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188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MULTI-SIDED NETWORK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463040"/>
            <a:ext cx="39319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distinct user types. Cross-side network effects.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= cardholders × merchants. Uber = riders × drivers. Food-delivery app = consumers × restaurants × drivers.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merchants → more users → more merchants (flywheel).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0175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38328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Platform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User types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Moat source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WeChat (Tencent)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Messengers × merchants × devs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Super-app integration, switching cost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Uber / Lyft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Riders × drivers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Local density, ETA SLA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Guests × hosts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Listings diversity, reviews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Visa / MasterCard / UnionPay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Cardholders × merchants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acceptance, issuing banks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TripAdvisor / Yelp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Reviewers × merchants × readers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Crowdsourced review corpus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Netflix and the hotel industry illustrate how business-model innovation disintermediates incumbents in waves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7, Example 3 Netflix + Example 7 Hotel &amp; travel, pp. 219 + 235–236.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wave pattern: new channel (often digital) + network effects + crowdsourced content → incumbents lose share before they adapt.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4160520" cy="3291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2918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886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NETFLIX  ·  THREE BUSINESS MODELS IN 25 YEARS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645920"/>
            <a:ext cx="384048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1998 — DVD by mail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Website + postal distribution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Disrupts Blockbuster's stores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2007 — Streaming subscription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Same sub price, zero marginal CoS per title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De-emphasises DVDs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2013+ — Original content producer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Differentiates against the commoditised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streaming catalog ("House of Cards")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wave requires a new capex profile.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143000"/>
            <a:ext cx="4160520" cy="32918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43000"/>
            <a:ext cx="73152" cy="32918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8862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HOTEL &amp; TRAVEL  ·  LAYERS OF DISINTERMEDIATION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45920"/>
            <a:ext cx="384048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1950–80s  Franchising + loyalty (Holiday Inn)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Scale via franchisees; marketing royalties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  Functional separation (Host Hotels REIT)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Hilton / Marriott separate brand from bricks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2000s  OTA disintermediation (Booking, Expedia)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Price aggregation; two-sided network; commissions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2008+  Home sharing (Airbnb, Vrbo)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Crowdsourced supply; unique inventory;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disrupts mid-market hotels most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response: direct booking, loyalty moats.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B2B and B2C differ across every dimension of the business model, not just the buyer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7, §2 "Channels" + "Product or Service", pp. 217–221.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buyers optimise ROI and behave rationally. B2C buyers carry intangible preferences (brand, aesthetics). The economics follow.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01752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B2B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B2C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profile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Small number, sophisticated, rational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Large number, diverse, emotional + rational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(months); RFP, POC, committee sign-off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 (minutes to days)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channel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sales force, reseller, tender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Retail, e-commerce, omnichannel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point per transaction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(USD 10k – 100M)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(USD 10 – 10,000)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Post-sale 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High-touch, SLA-driven, custom integration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Low-touch, self-serve, FAQ / chatbot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 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Variable — drops at volume; capacity utilised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Typically higher gross margin, lower AOV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Infosys, Salesforce (enterprise), Siemens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L'Oréal, Netflix, Nike, IKEA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03320"/>
            <a:ext cx="8503920" cy="6858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03320"/>
            <a:ext cx="73152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490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23360"/>
            <a:ext cx="8275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modern SaaS firms are simultaneously B2B (enterprise seats) and B2C (individual prosumer plans) — same product, two price tiers, two sales motions. Analyst must split unit economics accordingly.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 economics reduce to three numbers: CAC, LTV, and payback — and the ratio LTV/CAC tells you if the business is viable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Practitioner rule of thumb: LTV/CAC ≥ 3× for venture-scale SaaS; payback ≤ 12 months for top-quartile public SaaS (Bessemer "Good, Better, Best").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7, §2 "unit economics" framing (p. 227) + industry-standard SaaS practice.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= cash out to acquire a customer. LTV = PV of gross profit they generate. Payback = months to recoup CAC. All three matter.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777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LTV  =  ARPU × Gross margin / Churn         Payback  =  CAC / (ARPU × Gross margin)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99339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ARPU = avg revenue per user per period · Churn = % customers lost per period · LTV/CAC ≥ 3× = viable (industry rule of thumb).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148840"/>
            <a:ext cx="2743200" cy="2194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148840"/>
            <a:ext cx="73152" cy="2194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1945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CAC  ·  ACQUISITION COST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6888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sales &amp; marketing spend in period / new paid customers added.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CAC mixes organic + paid; paid CAC is the marginal number that matters.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 capitalised sales commissions.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2148840"/>
            <a:ext cx="2743200" cy="21945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0" y="2148840"/>
            <a:ext cx="73152" cy="2194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337560" y="21945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LTV  ·  LIFETIME VALUE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246888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gross profit over the customer lifetime.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model: ARPU × GM / monthly churn.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model discounts future cash flows at WACC and allows for expansion revenue (NRR &gt; 100%).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80760" y="2148840"/>
            <a:ext cx="2743200" cy="2194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6080760" y="2148840"/>
            <a:ext cx="73152" cy="2194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0" y="21945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PAYBACK PERIOD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46888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to recover CAC at gross-profit run rate.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12 months — excellent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months — typical SaaS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24 months — fragile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payback = less capital tied up, faster compounding.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worked subscription platform shows how CAC of USD 300 and ARPU of USD 40 produce a 10.7-month payback and a 5.3× LTV/CAC at 3% monthly churn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Unit-economics illustrative example, consistent with CFA Vol 3 LM 7 §2 "unit economics" (p. 227) and industry-standard SaaS practitioner metrics.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MonthlyStreamer Inc. — 10,000 customers, USD 40 ARPU / mo, 70% gross margin, 3% monthly churn, USD 300 blended CAC.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STEP-BY-STEP UNIT ECONOMICS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ARPU = USD 40; gross margin = 70% ⇒ monthly gross profit / customer = 40 × 0.70 = USD 28.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customer lifetime = 1 / churn = 1 / 0.03 = 33.3 months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= ARPU × GM / churn = 40 × 0.70 / 0.03 = USD 933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 = CAC / monthly gross profit = 300 / 28 = 10.7 months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 = 933 / 300 = 3.11× — passes the 3× viability threshold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62432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62432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LTV = USD 933   ·   Payback = 10.7 mo   ·   LTV/CAC = 3.11×  →  VIABLE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200400"/>
          <a:ext cx="8503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1463040"/>
                <a:gridCol w="1645920"/>
                <a:gridCol w="118872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Monthly churn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Avg lifetime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LTV (USD)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Payback (mo)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LTV/CAC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Verdict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(best-in-class)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 mo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2,800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9.33×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Top-quartile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(illustrative)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33.3 mo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933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3.11×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(weak)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20.0 mo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560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1.87×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Marginal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 (unprofitable)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12.5 mo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 350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1.17×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Burn cash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10 — Working Capital, Capital Allocation &amp; Business Models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conversion cycle = DOH + DSO − DPO. Negative CCC (Inditex −86d, Target −5d) means the supply chain funds the firm, not the reverse.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Forgoing a 2/10 net 30 supplier discount is a 44.6% EAR loan — a bank loan at anything below that rate is strictly cheaper.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ranked by conservatism: current ≥ quick ≥ cash ratio. The cash ratio is the crisis-stress test and the most informative signal.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dominates IRR for decisions: currency-denominated, risk-adjusted, unambiguous. IRR breaks with sign changes, scale mismatch, and unrealistic reinvestment.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ROIC is the only external-analyst capital-efficiency metric. Decompose as margin × turnover — two paths (premium vs volume) can produce the same ROIC.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Capital-allocation pitfalls split into cognitive errors (fixable via process) and behavioral biases (governance-level): inertia, EPS-optimisation, pet projects.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options add flexibility value. Gerhardt flips from NPV = −90.91 to +8.26 when abandonment and alternative uses are priced into the decision tree.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unit economics: LTV = ARPU × GM / churn, payback = CAC / monthly gross profit. LTV/CAC ≥ 3× and payback ≤ 24 months → viable.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10 · Working Capital, Capital Allocation &amp; Business Models</dc:title>
  <dc:subject>PptxGenJS Presentation</dc:subject>
  <dc:creator>Studio Tonton Gug</dc:creator>
  <cp:lastModifiedBy>Studio Tonton Gug</cp:lastModifiedBy>
  <cp:revision>1</cp:revision>
  <dcterms:created xsi:type="dcterms:W3CDTF">2026-04-23T09:32:54Z</dcterms:created>
  <dcterms:modified xsi:type="dcterms:W3CDTF">2026-04-23T09:32:54Z</dcterms:modified>
</cp:coreProperties>
</file>