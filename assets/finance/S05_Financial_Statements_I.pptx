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3  —  MORNING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Statement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statement, balance sheet &amp; the accounting equation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Reporting Framework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IFRS vs US GAAP, the role of auditors, regulatory filings and the analysis framework.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Statement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revenue through net income. Calculate gross profit, EBITDA, EBIT. Apply revenue recognition rules.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Sheet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accounting equation. Classify assets and liabilities. Understand equity components.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Common-Size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 financials as % to enable cross-company and cross-period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Financial Reporting Framework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statements are the primary information source for investors, lenders and analysts. Understanding their framework is essential.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IFRS — International Standards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140+ countries (UK, EU, Australia, Asia). Set by IASB. Principles-based — more judgement required.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GAAP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United States. Set by FASB. More rules-based — more specific guidance. Key differences in inventory, revenue, leases.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Auditor's Report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auditor opines on whether statements are 'true and fair' (IFRS) or 'fairly presented' (GAAP). Unqualified = clean opinion.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Filings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(US annual), 10-Q (US quarterly), 20-F (foreign private issuers). Annual report + notes + management discussion = full picture.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4572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18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Analysis Framework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822960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the purpose → 2. Collect data → 3. Process data → 4. Analyse/interpret → 5. Report conclusions → 6. Follow 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industry context and business model before diving into numbers.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Three Financial Statements — How They Connect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company must publish three statements. They tell a complete financial story — and they are interconnected.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71600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71600"/>
            <a:ext cx="91440" cy="9875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35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Statement (P&amp;L)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43560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the company make a profit this period?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847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costs, margins, interest, tax, net income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18470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 income → Retained Earnings on Balance Sheet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87168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87168"/>
            <a:ext cx="91440" cy="98755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51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Sheet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55117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company own and owe at this date?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9626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liabilities, equity at a point in time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296265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Cash balance must equal ending cash on CF Statement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602736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02736"/>
            <a:ext cx="91440" cy="987552"/>
          </a:xfrm>
          <a:prstGeom prst="rect">
            <a:avLst/>
          </a:prstGeom>
          <a:solidFill>
            <a:srgbClr val="444477"/>
          </a:solidFill>
          <a:ln w="12700">
            <a:solidFill>
              <a:srgbClr val="4444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66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Statement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666744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actual cash come in and go out?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0782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Operating, investing, financing cash flows over period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0" y="40782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Starts with Net Income from P&amp;L (indirect method)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6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Statement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Statement — Structure &amp; Key Lines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top to bottom. Each subtraction reveals a different level of profitability.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(Turnover)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289304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2893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£250,000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12618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line. All sales in the period. Recognised when earned, not when cash received.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591056"/>
            <a:ext cx="85039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91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 of Goods Sold (COGS)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54680" y="1618488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6184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(£110,000)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43400" y="159105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production costs tied directly to revenue generated.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920240"/>
            <a:ext cx="8503920" cy="2743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Gross Profit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1947672"/>
            <a:ext cx="100584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£140,000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43400" y="1920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= 140/250 = 56%. Key profitability metric — measures pricing power vs input costs.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249424"/>
            <a:ext cx="85039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2494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Operating Expenses (OpEx)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2276856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276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(£60,000)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43400" y="224942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SG&amp;A, R&amp;D, marketing. Indirect costs not tied to specific units produced.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578608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EBITDA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2606040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54680" y="26060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£95,000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43400" y="25786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D&amp;A. Widely used in valuation (EV/EBITDA). Proxy for operating cash generation.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907792"/>
            <a:ext cx="85039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Depreciation &amp; Amortisation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154680" y="2935224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2935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(£15,000)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343400" y="29077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Non-cash. Spreads cost of assets over their useful life. Added back in cash flow statement.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236976"/>
            <a:ext cx="8503920" cy="2743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236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EBIT (Operating Profit)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54680" y="3264408"/>
            <a:ext cx="100584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32644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£80,000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43400" y="32369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before interest and tax. Capital structure neutral — ignores how firm is financed.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566160"/>
            <a:ext cx="85039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566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Interest Expense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154680" y="3593592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54680" y="35935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(£8,000)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343400" y="3566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debt load. Higher leverage → higher interest charge → lower EBT.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895344"/>
            <a:ext cx="85039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895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EBT (Pre-Tax Income)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154680" y="3922776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54680" y="3922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£72,000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43400" y="389534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before tax. Taxed at the statutory rate.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224528"/>
            <a:ext cx="850392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Income Tax (25%)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154680" y="4251960"/>
            <a:ext cx="1005840" cy="219456"/>
          </a:xfrm>
          <a:prstGeom prst="rect">
            <a:avLst/>
          </a:prstGeom>
          <a:solidFill>
            <a:srgbClr val="E8EC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54680" y="42519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(£18,000)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343400" y="42245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varies by jurisdiction, available deductions, and timing differences (deferred tax).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0040" y="4553712"/>
            <a:ext cx="850392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553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Net Income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154680" y="4581144"/>
            <a:ext cx="1005840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154680" y="45811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£54,000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343400" y="45537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Available to equity holders. Net margin = 54/250 = 21.6%.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Recognition — IFRS 15 / ASC 606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recognised when PERFORMANCE OBLIGATIONS are satisfied — not when cash is received.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566928" cy="5669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26187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contract(s) with a customer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920240"/>
            <a:ext cx="566928" cy="5669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1920240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distinct performance obligations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578608"/>
            <a:ext cx="566928" cy="5669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578608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transaction price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236976"/>
            <a:ext cx="8503920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236976"/>
            <a:ext cx="566928" cy="5669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36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236976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price to each performance obligation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95344"/>
            <a:ext cx="566928" cy="56692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89534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revenue when each obligation is satisfied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Flag — Early Revenue Recognition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956048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rapid rise in accounts receivable relative to revenue (billing before delivery), declining deferred revenue (recognising future obligations now), frequent restatements. These signal aggressive revenue recognition.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Sheet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Balance Sheet — Accounting Equation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Assets  =  Liabilities  +  Equity    (must ALWAYS balance)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2743200" cy="324612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956816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(&lt; 1 year)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Cash &amp; equivalents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 receivables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Prepaid expenses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NON-CURRENT ASSETS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PP&amp;E (net)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Intangibles &amp; goodwill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Right-of-use assets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investments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Deferred tax asset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5087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508760"/>
            <a:ext cx="27432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508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LIABILITIES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956816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LIABILITIES (&lt; 1 year)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 payables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Short-term debt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Accrued expenses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Deferred revenue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NON-CURRENT LIABILITIES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Long-term debt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Lease liabilities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Pension obligations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Deferred tax liability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508760"/>
            <a:ext cx="2651760" cy="3246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508760"/>
            <a:ext cx="2651760" cy="38404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508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956816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capital (par)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premium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Retained earnings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(accumulated profits)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Other reserves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(e.g. FX translation)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Treasury shares (−)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 per share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Equity / Shares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Common-Size Analysis — Making Numbers Comparable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every income statement line by Revenue (or every balance sheet line by Total Assets). Now any two companies are comparable.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011680"/>
                <a:gridCol w="1463040"/>
                <a:gridCol w="20116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Apple FY23 ($bn)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Apple 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Microsoft FY23 ($bn)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Microsoft CS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383.3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211.9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Gross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169.1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44.1%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141.0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66.5%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Operating Income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114.3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29.8%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88.5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41.8%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Net Income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97.0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25.3%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72.4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34.2%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246120"/>
            <a:ext cx="8503920" cy="9144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101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Microsoft has dramatically higher gross (67% vs 44%) and net margins (34% vs 25%) — reflecting its more software/cloud-heavy revenue mix vs Apple's hardware revenue. Common-size reveals this instantly despite Microsoft being half Apple's revenue.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20040" y="4251960"/>
            <a:ext cx="8503920" cy="74980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25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Balance Sheet — Divide by Total Assets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capital structure, asset efficiency and leverage at a glance. Ex: if Net Debt/Total Assets = 40%, the company is significantly leveraged.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comparison: tech companies typically have very low PPE/Assets (asset-light); manufacturers have very high.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before turning the page.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0789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£500k, COGS £300k, SG&amp;A £80k, D&amp;A £25k, Interest £15k, Tax rate 20%. Build the full P&amp;L and calculate gross, EBITDA and net margins.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has: Cash £50k, Receivables £120k, Inventory £80k, PP&amp;E £300k, Payables £90k, ST debt £40k, LT debt £200k, Share capital £100k. Find Equity (using accounting equation).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15% but receivables grew 40%. What does this signal? What would you check in the notes?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32841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common-size P&amp;L: Firm A gross margin = 35%, Firm B = 58%. Both are in retail. What might explain the difference?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407822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recognises £2m revenue for a 2-year software licence at signing. Under IFRS 15, is this appropriate? If not, what should happen?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Answers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AM  •  Session 5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Profit=200k (40%). EBITDA=120k (24%). EBIT=95k. EBT=80k. Tax=16k. Net Income=64k (12.8% net margin).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= 50+120+80+300 = £550k. Total Liabilities = 90+40+200 = £330k. Equity = 550−330 = £220k. Check: Share capital £100k + Retained earnings £120k = £220k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growing faster than revenue = collecting cash more slowly. Warning signs: fictitious sales, extended payment terms to boost revenue, distributor channel stuffing. Check aging of receivables in notes.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9125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explanations: Firm B sells private-label/own-brand products (higher margin). Firm B may operate a different business model (premium/luxury). Firm A may have higher COGS from branded goods procurement. Need to check vertical integration and pricing strategy.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not appropriate. A 2-year licence has two performance obligations (Year 1 and Year 2). Under IFRS 15, revenue should be recognised equally — £1m in Year 1 and £1m in Year 2. Front-loading creates misleading financial picture.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5 — Financial Statements I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statements: P&amp;L (performance), BS (position), CF (cash) — interconnected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= Revenue − COGS. Gross margin reveals pricing vs input cost dynamics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= Liabilities + Equity — always. Equity = residual claim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recognition: earned when obligation satisfied, not when cash received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≈ operating cash proxy. EBIT = capital structure neutral profitability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Common-size: divide by Revenue (P&amp;L) or Total Assets (BS) to compare firms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2026-04-06T18:21:04Z</dcterms:created>
  <dcterms:modified xsi:type="dcterms:W3CDTF">2026-04-06T18:21:04Z</dcterms:modified>
</cp:coreProperties>
</file>