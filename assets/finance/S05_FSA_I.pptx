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1005840"/>
            <a:ext cx="8229600" cy="384048"/>
          </a:xfrm>
          <a:prstGeom prst="rect">
            <a:avLst/>
          </a:prstGeom>
          <a:noFill/>
          <a:ln/>
        </p:spPr>
        <p:txBody>
          <a:bodyPr wrap="square" lIns="0" tIns="0" rIns="0" bIns="0" rtlCol="0" anchor="ctr"/>
          <a:lstStyle/>
          <a:p>
            <a:pPr indent="0" marL="0">
              <a:buNone/>
            </a:pPr>
            <a:r>
              <a:rPr lang="en-US" sz="1100" b="1" spc="500" kern="0" dirty="0">
                <a:solidFill>
                  <a:srgbClr val="E8600A"/>
                </a:solidFill>
                <a:latin typeface="Trebuchet MS" pitchFamily="34" charset="0"/>
                <a:ea typeface="Trebuchet MS" pitchFamily="34" charset="-122"/>
                <a:cs typeface="Trebuchet MS" pitchFamily="34" charset="-120"/>
              </a:rPr>
              <a:t>SESSION 3  —  MORNING</a:t>
            </a:r>
            <a:endParaRPr lang="en-US" sz="1100" dirty="0"/>
          </a:p>
        </p:txBody>
      </p:sp>
      <p:sp>
        <p:nvSpPr>
          <p:cNvPr id="5" name="Text 3"/>
          <p:cNvSpPr/>
          <p:nvPr/>
        </p:nvSpPr>
        <p:spPr>
          <a:xfrm>
            <a:off x="457200" y="1371600"/>
            <a:ext cx="8229600" cy="164592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Financial Statement</a:t>
            </a:r>
            <a:endParaRPr lang="en-US" sz="3800" dirty="0"/>
          </a:p>
          <a:p>
            <a:pPr indent="0" marL="0">
              <a:buNone/>
            </a:pPr>
            <a:r>
              <a:rPr lang="en-US" sz="3800" b="1" dirty="0">
                <a:solidFill>
                  <a:srgbClr val="FFFFFF"/>
                </a:solidFill>
                <a:latin typeface="Trebuchet MS" pitchFamily="34" charset="0"/>
                <a:ea typeface="Trebuchet MS" pitchFamily="34" charset="-122"/>
                <a:cs typeface="Trebuchet MS" pitchFamily="34" charset="-120"/>
              </a:rPr>
              <a:t>Analysis I</a:t>
            </a:r>
            <a:endParaRPr lang="en-US" sz="3800" dirty="0"/>
          </a:p>
        </p:txBody>
      </p:sp>
      <p:sp>
        <p:nvSpPr>
          <p:cNvPr id="6" name="Text 4"/>
          <p:cNvSpPr/>
          <p:nvPr/>
        </p:nvSpPr>
        <p:spPr>
          <a:xfrm>
            <a:off x="457200" y="3090672"/>
            <a:ext cx="8229600" cy="438912"/>
          </a:xfrm>
          <a:prstGeom prst="rect">
            <a:avLst/>
          </a:prstGeom>
          <a:noFill/>
          <a:ln/>
        </p:spPr>
        <p:txBody>
          <a:bodyPr wrap="square" lIns="0" tIns="0" rIns="0" bIns="0" rtlCol="0" anchor="ctr"/>
          <a:lstStyle/>
          <a:p>
            <a:pPr indent="0" marL="0">
              <a:buNone/>
            </a:pPr>
            <a:r>
              <a:rPr lang="en-US" sz="1400" i="1" dirty="0">
                <a:solidFill>
                  <a:srgbClr val="6B7A8D"/>
                </a:solidFill>
                <a:latin typeface="Calibri" pitchFamily="34" charset="0"/>
                <a:ea typeface="Calibri" pitchFamily="34" charset="-122"/>
                <a:cs typeface="Calibri" pitchFamily="34" charset="-120"/>
              </a:rPr>
              <a:t>Income statement • Earnings per share • Balance sheet analysis</a:t>
            </a:r>
            <a:endParaRPr lang="en-US" sz="1400" dirty="0"/>
          </a:p>
        </p:txBody>
      </p:sp>
      <p:sp>
        <p:nvSpPr>
          <p:cNvPr id="7" name="Text 5"/>
          <p:cNvSpPr/>
          <p:nvPr/>
        </p:nvSpPr>
        <p:spPr>
          <a:xfrm>
            <a:off x="457200" y="4617720"/>
            <a:ext cx="8229600" cy="256032"/>
          </a:xfrm>
          <a:prstGeom prst="rect">
            <a:avLst/>
          </a:prstGeom>
          <a:noFill/>
          <a:ln/>
        </p:spPr>
        <p:txBody>
          <a:bodyPr wrap="square" lIns="0" tIns="0" rIns="0" bIns="0" rtlCol="0" anchor="ctr"/>
          <a:lstStyle/>
          <a:p>
            <a:pPr indent="0" marL="0">
              <a:buNone/>
            </a:pPr>
            <a:r>
              <a:rPr lang="en-US" sz="800" spc="200" kern="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Session Roadmap — 2 Hours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Understanding financial statements is the foundation of every equity, credit and M&amp;A analysis. This session covers how they are built.</a:t>
            </a:r>
            <a:endParaRPr lang="en-US" sz="1300" dirty="0"/>
          </a:p>
        </p:txBody>
      </p:sp>
      <p:sp>
        <p:nvSpPr>
          <p:cNvPr id="9" name="Shape 7"/>
          <p:cNvSpPr/>
          <p:nvPr/>
        </p:nvSpPr>
        <p:spPr>
          <a:xfrm>
            <a:off x="320040" y="1207008"/>
            <a:ext cx="8503920" cy="539496"/>
          </a:xfrm>
          <a:prstGeom prst="rect">
            <a:avLst/>
          </a:prstGeom>
          <a:solidFill>
            <a:srgbClr val="FFFFFF"/>
          </a:solidFill>
          <a:ln w="12700">
            <a:solidFill>
              <a:srgbClr val="E8ECF0"/>
            </a:solidFill>
            <a:prstDash val="solid"/>
          </a:ln>
        </p:spPr>
      </p:sp>
      <p:sp>
        <p:nvSpPr>
          <p:cNvPr id="10" name="Shape 8"/>
          <p:cNvSpPr/>
          <p:nvPr/>
        </p:nvSpPr>
        <p:spPr>
          <a:xfrm>
            <a:off x="320040" y="1207008"/>
            <a:ext cx="594360" cy="539496"/>
          </a:xfrm>
          <a:prstGeom prst="rect">
            <a:avLst/>
          </a:prstGeom>
          <a:solidFill>
            <a:srgbClr val="1B2A4A"/>
          </a:solidFill>
          <a:ln w="12700">
            <a:solidFill>
              <a:srgbClr val="1B2A4A"/>
            </a:solidFill>
            <a:prstDash val="solid"/>
          </a:ln>
        </p:spPr>
      </p:sp>
      <p:sp>
        <p:nvSpPr>
          <p:cNvPr id="11" name="Text 9"/>
          <p:cNvSpPr/>
          <p:nvPr/>
        </p:nvSpPr>
        <p:spPr>
          <a:xfrm>
            <a:off x="320040" y="1207008"/>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2" name="Text 10"/>
          <p:cNvSpPr/>
          <p:nvPr/>
        </p:nvSpPr>
        <p:spPr>
          <a:xfrm>
            <a:off x="1024128" y="1252728"/>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FSA Framework &amp; 3 Statements</a:t>
            </a:r>
            <a:endParaRPr lang="en-US" sz="1200" dirty="0"/>
          </a:p>
        </p:txBody>
      </p:sp>
      <p:sp>
        <p:nvSpPr>
          <p:cNvPr id="13" name="Text 11"/>
          <p:cNvSpPr/>
          <p:nvPr/>
        </p:nvSpPr>
        <p:spPr>
          <a:xfrm>
            <a:off x="1024128" y="1508760"/>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Why FSA • IFRS vs US GAAP • linkages between statements • what analysts seek</a:t>
            </a:r>
            <a:endParaRPr lang="en-US" sz="1100" dirty="0"/>
          </a:p>
        </p:txBody>
      </p:sp>
      <p:sp>
        <p:nvSpPr>
          <p:cNvPr id="14" name="Shape 12"/>
          <p:cNvSpPr/>
          <p:nvPr/>
        </p:nvSpPr>
        <p:spPr>
          <a:xfrm>
            <a:off x="320040" y="1828800"/>
            <a:ext cx="8503920" cy="539496"/>
          </a:xfrm>
          <a:prstGeom prst="rect">
            <a:avLst/>
          </a:prstGeom>
          <a:solidFill>
            <a:srgbClr val="F5F7FA"/>
          </a:solidFill>
          <a:ln w="12700">
            <a:solidFill>
              <a:srgbClr val="E8ECF0"/>
            </a:solidFill>
            <a:prstDash val="solid"/>
          </a:ln>
        </p:spPr>
      </p:sp>
      <p:sp>
        <p:nvSpPr>
          <p:cNvPr id="15" name="Shape 13"/>
          <p:cNvSpPr/>
          <p:nvPr/>
        </p:nvSpPr>
        <p:spPr>
          <a:xfrm>
            <a:off x="320040" y="1828800"/>
            <a:ext cx="594360" cy="539496"/>
          </a:xfrm>
          <a:prstGeom prst="rect">
            <a:avLst/>
          </a:prstGeom>
          <a:solidFill>
            <a:srgbClr val="1B2A4A"/>
          </a:solidFill>
          <a:ln w="12700">
            <a:solidFill>
              <a:srgbClr val="1B2A4A"/>
            </a:solidFill>
            <a:prstDash val="solid"/>
          </a:ln>
        </p:spPr>
      </p:sp>
      <p:sp>
        <p:nvSpPr>
          <p:cNvPr id="16" name="Text 14"/>
          <p:cNvSpPr/>
          <p:nvPr/>
        </p:nvSpPr>
        <p:spPr>
          <a:xfrm>
            <a:off x="320040" y="1828800"/>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7" name="Text 15"/>
          <p:cNvSpPr/>
          <p:nvPr/>
        </p:nvSpPr>
        <p:spPr>
          <a:xfrm>
            <a:off x="1024128" y="1874520"/>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Income Statement Deep Dive</a:t>
            </a:r>
            <a:endParaRPr lang="en-US" sz="1200" dirty="0"/>
          </a:p>
        </p:txBody>
      </p:sp>
      <p:sp>
        <p:nvSpPr>
          <p:cNvPr id="18" name="Text 16"/>
          <p:cNvSpPr/>
          <p:nvPr/>
        </p:nvSpPr>
        <p:spPr>
          <a:xfrm>
            <a:off x="1024128" y="2130552"/>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Revenue recognition (5 steps) • AVI long-term contract (CFA LM2) • capitalise vs expense</a:t>
            </a:r>
            <a:endParaRPr lang="en-US" sz="1100" dirty="0"/>
          </a:p>
        </p:txBody>
      </p:sp>
      <p:sp>
        <p:nvSpPr>
          <p:cNvPr id="19" name="Shape 17"/>
          <p:cNvSpPr/>
          <p:nvPr/>
        </p:nvSpPr>
        <p:spPr>
          <a:xfrm>
            <a:off x="320040" y="2450592"/>
            <a:ext cx="8503920" cy="539496"/>
          </a:xfrm>
          <a:prstGeom prst="rect">
            <a:avLst/>
          </a:prstGeom>
          <a:solidFill>
            <a:srgbClr val="FFFFFF"/>
          </a:solidFill>
          <a:ln w="12700">
            <a:solidFill>
              <a:srgbClr val="E8ECF0"/>
            </a:solidFill>
            <a:prstDash val="solid"/>
          </a:ln>
        </p:spPr>
      </p:sp>
      <p:sp>
        <p:nvSpPr>
          <p:cNvPr id="20" name="Shape 18"/>
          <p:cNvSpPr/>
          <p:nvPr/>
        </p:nvSpPr>
        <p:spPr>
          <a:xfrm>
            <a:off x="320040" y="2450592"/>
            <a:ext cx="594360" cy="539496"/>
          </a:xfrm>
          <a:prstGeom prst="rect">
            <a:avLst/>
          </a:prstGeom>
          <a:solidFill>
            <a:srgbClr val="1B2A4A"/>
          </a:solidFill>
          <a:ln w="12700">
            <a:solidFill>
              <a:srgbClr val="1B2A4A"/>
            </a:solidFill>
            <a:prstDash val="solid"/>
          </a:ln>
        </p:spPr>
      </p:sp>
      <p:sp>
        <p:nvSpPr>
          <p:cNvPr id="21" name="Text 19"/>
          <p:cNvSpPr/>
          <p:nvPr/>
        </p:nvSpPr>
        <p:spPr>
          <a:xfrm>
            <a:off x="320040" y="2450592"/>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2" name="Text 20"/>
          <p:cNvSpPr/>
          <p:nvPr/>
        </p:nvSpPr>
        <p:spPr>
          <a:xfrm>
            <a:off x="1024128" y="2496312"/>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Non-Recurring Items &amp; EPS</a:t>
            </a:r>
            <a:endParaRPr lang="en-US" sz="1200" dirty="0"/>
          </a:p>
        </p:txBody>
      </p:sp>
      <p:sp>
        <p:nvSpPr>
          <p:cNvPr id="23" name="Text 21"/>
          <p:cNvSpPr/>
          <p:nvPr/>
        </p:nvSpPr>
        <p:spPr>
          <a:xfrm>
            <a:off x="1024128" y="2752344"/>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Discontinued operations • basic EPS • diluted EPS • AB InBev (CFA LM2) • CWC treasury stock</a:t>
            </a:r>
            <a:endParaRPr lang="en-US" sz="1100" dirty="0"/>
          </a:p>
        </p:txBody>
      </p:sp>
      <p:sp>
        <p:nvSpPr>
          <p:cNvPr id="24" name="Shape 22"/>
          <p:cNvSpPr/>
          <p:nvPr/>
        </p:nvSpPr>
        <p:spPr>
          <a:xfrm>
            <a:off x="320040" y="3072384"/>
            <a:ext cx="8503920" cy="539496"/>
          </a:xfrm>
          <a:prstGeom prst="rect">
            <a:avLst/>
          </a:prstGeom>
          <a:solidFill>
            <a:srgbClr val="F5F7FA"/>
          </a:solidFill>
          <a:ln w="12700">
            <a:solidFill>
              <a:srgbClr val="E8ECF0"/>
            </a:solidFill>
            <a:prstDash val="solid"/>
          </a:ln>
        </p:spPr>
      </p:sp>
      <p:sp>
        <p:nvSpPr>
          <p:cNvPr id="25" name="Shape 23"/>
          <p:cNvSpPr/>
          <p:nvPr/>
        </p:nvSpPr>
        <p:spPr>
          <a:xfrm>
            <a:off x="320040" y="3072384"/>
            <a:ext cx="594360" cy="539496"/>
          </a:xfrm>
          <a:prstGeom prst="rect">
            <a:avLst/>
          </a:prstGeom>
          <a:solidFill>
            <a:srgbClr val="1B2A4A"/>
          </a:solidFill>
          <a:ln w="12700">
            <a:solidFill>
              <a:srgbClr val="1B2A4A"/>
            </a:solidFill>
            <a:prstDash val="solid"/>
          </a:ln>
        </p:spPr>
      </p:sp>
      <p:sp>
        <p:nvSpPr>
          <p:cNvPr id="26" name="Text 24"/>
          <p:cNvSpPr/>
          <p:nvPr/>
        </p:nvSpPr>
        <p:spPr>
          <a:xfrm>
            <a:off x="320040" y="3072384"/>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7" name="Text 25"/>
          <p:cNvSpPr/>
          <p:nvPr/>
        </p:nvSpPr>
        <p:spPr>
          <a:xfrm>
            <a:off x="1024128" y="3118104"/>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Balance Sheet Structure</a:t>
            </a:r>
            <a:endParaRPr lang="en-US" sz="1200" dirty="0"/>
          </a:p>
        </p:txBody>
      </p:sp>
      <p:sp>
        <p:nvSpPr>
          <p:cNvPr id="28" name="Text 26"/>
          <p:cNvSpPr/>
          <p:nvPr/>
        </p:nvSpPr>
        <p:spPr>
          <a:xfrm>
            <a:off x="1024128" y="3374136"/>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Assets, liabilities, equity • intangibles • goodwill • financial instruments • deferred tax</a:t>
            </a:r>
            <a:endParaRPr lang="en-US" sz="1100" dirty="0"/>
          </a:p>
        </p:txBody>
      </p:sp>
      <p:sp>
        <p:nvSpPr>
          <p:cNvPr id="29" name="Shape 27"/>
          <p:cNvSpPr/>
          <p:nvPr/>
        </p:nvSpPr>
        <p:spPr>
          <a:xfrm>
            <a:off x="320040" y="3694176"/>
            <a:ext cx="8503920" cy="539496"/>
          </a:xfrm>
          <a:prstGeom prst="rect">
            <a:avLst/>
          </a:prstGeom>
          <a:solidFill>
            <a:srgbClr val="FFFFFF"/>
          </a:solidFill>
          <a:ln w="12700">
            <a:solidFill>
              <a:srgbClr val="E8ECF0"/>
            </a:solidFill>
            <a:prstDash val="solid"/>
          </a:ln>
        </p:spPr>
      </p:sp>
      <p:sp>
        <p:nvSpPr>
          <p:cNvPr id="30" name="Shape 28"/>
          <p:cNvSpPr/>
          <p:nvPr/>
        </p:nvSpPr>
        <p:spPr>
          <a:xfrm>
            <a:off x="320040" y="3694176"/>
            <a:ext cx="594360" cy="539496"/>
          </a:xfrm>
          <a:prstGeom prst="rect">
            <a:avLst/>
          </a:prstGeom>
          <a:solidFill>
            <a:srgbClr val="1B2A4A"/>
          </a:solidFill>
          <a:ln w="12700">
            <a:solidFill>
              <a:srgbClr val="1B2A4A"/>
            </a:solidFill>
            <a:prstDash val="solid"/>
          </a:ln>
        </p:spPr>
      </p:sp>
      <p:sp>
        <p:nvSpPr>
          <p:cNvPr id="31" name="Text 29"/>
          <p:cNvSpPr/>
          <p:nvPr/>
        </p:nvSpPr>
        <p:spPr>
          <a:xfrm>
            <a:off x="320040" y="3694176"/>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2" name="Text 30"/>
          <p:cNvSpPr/>
          <p:nvPr/>
        </p:nvSpPr>
        <p:spPr>
          <a:xfrm>
            <a:off x="1024128" y="3739896"/>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Common-Size &amp; BS Ratios</a:t>
            </a:r>
            <a:endParaRPr lang="en-US" sz="1200" dirty="0"/>
          </a:p>
        </p:txBody>
      </p:sp>
      <p:sp>
        <p:nvSpPr>
          <p:cNvPr id="33" name="Text 31"/>
          <p:cNvSpPr/>
          <p:nvPr/>
        </p:nvSpPr>
        <p:spPr>
          <a:xfrm>
            <a:off x="1024128" y="3995928"/>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Apple vs Microsoft (CFA LM3) • Company A/B/Industry: quick=0.43, leverage=2.22</a:t>
            </a:r>
            <a:endParaRPr lang="en-US" sz="1100" dirty="0"/>
          </a:p>
        </p:txBody>
      </p:sp>
      <p:sp>
        <p:nvSpPr>
          <p:cNvPr id="34" name="Shape 32"/>
          <p:cNvSpPr/>
          <p:nvPr/>
        </p:nvSpPr>
        <p:spPr>
          <a:xfrm>
            <a:off x="320040" y="4315968"/>
            <a:ext cx="8503920" cy="539496"/>
          </a:xfrm>
          <a:prstGeom prst="rect">
            <a:avLst/>
          </a:prstGeom>
          <a:solidFill>
            <a:srgbClr val="F5F7FA"/>
          </a:solidFill>
          <a:ln w="12700">
            <a:solidFill>
              <a:srgbClr val="E8ECF0"/>
            </a:solidFill>
            <a:prstDash val="solid"/>
          </a:ln>
        </p:spPr>
      </p:sp>
      <p:sp>
        <p:nvSpPr>
          <p:cNvPr id="35" name="Shape 33"/>
          <p:cNvSpPr/>
          <p:nvPr/>
        </p:nvSpPr>
        <p:spPr>
          <a:xfrm>
            <a:off x="320040" y="4315968"/>
            <a:ext cx="594360" cy="539496"/>
          </a:xfrm>
          <a:prstGeom prst="rect">
            <a:avLst/>
          </a:prstGeom>
          <a:solidFill>
            <a:srgbClr val="1B2A4A"/>
          </a:solidFill>
          <a:ln w="12700">
            <a:solidFill>
              <a:srgbClr val="1B2A4A"/>
            </a:solidFill>
            <a:prstDash val="solid"/>
          </a:ln>
        </p:spPr>
      </p:sp>
      <p:sp>
        <p:nvSpPr>
          <p:cNvPr id="36" name="Text 34"/>
          <p:cNvSpPr/>
          <p:nvPr/>
        </p:nvSpPr>
        <p:spPr>
          <a:xfrm>
            <a:off x="320040" y="4315968"/>
            <a:ext cx="594360" cy="539496"/>
          </a:xfrm>
          <a:prstGeom prst="rect">
            <a:avLst/>
          </a:prstGeom>
          <a:noFill/>
          <a:ln/>
        </p:spPr>
        <p:txBody>
          <a:bodyPr wrap="square" lIns="0" tIns="0" rIns="0" bIns="0" rtlCol="0" anchor="ct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7" name="Text 35"/>
          <p:cNvSpPr/>
          <p:nvPr/>
        </p:nvSpPr>
        <p:spPr>
          <a:xfrm>
            <a:off x="1024128" y="4361688"/>
            <a:ext cx="256032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Practice &amp; Takeaways</a:t>
            </a:r>
            <a:endParaRPr lang="en-US" sz="1200" dirty="0"/>
          </a:p>
        </p:txBody>
      </p:sp>
      <p:sp>
        <p:nvSpPr>
          <p:cNvPr id="38" name="Text 36"/>
          <p:cNvSpPr/>
          <p:nvPr/>
        </p:nvSpPr>
        <p:spPr>
          <a:xfrm>
            <a:off x="1024128" y="4617720"/>
            <a:ext cx="7680960" cy="219456"/>
          </a:xfrm>
          <a:prstGeom prst="rect">
            <a:avLst/>
          </a:prstGeom>
          <a:noFill/>
          <a:ln/>
        </p:spPr>
        <p:txBody>
          <a:bodyPr wrap="square" lIns="0" tIns="0" rIns="0" bIns="0" rtlCol="0" anchor="ctr"/>
          <a:lstStyle/>
          <a:p>
            <a:pPr indent="0" marL="0">
              <a:buNone/>
            </a:pPr>
            <a:r>
              <a:rPr lang="en-US" sz="1100" dirty="0">
                <a:solidFill>
                  <a:srgbClr val="6B7A8D"/>
                </a:solidFill>
                <a:latin typeface="Calibri" pitchFamily="34" charset="0"/>
                <a:ea typeface="Calibri" pitchFamily="34" charset="-122"/>
                <a:cs typeface="Calibri" pitchFamily="34" charset="-120"/>
              </a:rPr>
              <a:t>5 worked problems • formula reference card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1207008"/>
            <a:ext cx="8503920" cy="548640"/>
          </a:xfrm>
          <a:prstGeom prst="rect">
            <a:avLst/>
          </a:prstGeom>
          <a:solidFill>
            <a:srgbClr val="FFFFFF"/>
          </a:solidFill>
          <a:ln w="12700">
            <a:solidFill>
              <a:srgbClr val="E8ECF0"/>
            </a:solidFill>
            <a:prstDash val="solid"/>
          </a:ln>
        </p:spPr>
      </p:sp>
      <p:sp>
        <p:nvSpPr>
          <p:cNvPr id="9" name="Shape 7"/>
          <p:cNvSpPr/>
          <p:nvPr/>
        </p:nvSpPr>
        <p:spPr>
          <a:xfrm>
            <a:off x="438912" y="1389888"/>
            <a:ext cx="182880" cy="182880"/>
          </a:xfrm>
          <a:prstGeom prst="ellipse">
            <a:avLst/>
          </a:prstGeom>
          <a:solidFill>
            <a:srgbClr val="E8600A"/>
          </a:solidFill>
          <a:ln w="12700">
            <a:solidFill>
              <a:srgbClr val="E8600A"/>
            </a:solidFill>
            <a:prstDash val="solid"/>
          </a:ln>
        </p:spPr>
      </p:sp>
      <p:sp>
        <p:nvSpPr>
          <p:cNvPr id="10" name="Text 8"/>
          <p:cNvSpPr/>
          <p:nvPr/>
        </p:nvSpPr>
        <p:spPr>
          <a:xfrm>
            <a:off x="749808" y="125272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Apply the FSA Framework</a:t>
            </a:r>
            <a:endParaRPr lang="en-US" sz="1200" dirty="0"/>
          </a:p>
        </p:txBody>
      </p:sp>
      <p:sp>
        <p:nvSpPr>
          <p:cNvPr id="11" name="Text 9"/>
          <p:cNvSpPr/>
          <p:nvPr/>
        </p:nvSpPr>
        <p:spPr>
          <a:xfrm>
            <a:off x="749808" y="151790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Describe the six-step FSA framework. Explain the purpose, sources and limitations of financial statement analysis.</a:t>
            </a:r>
            <a:endParaRPr lang="en-US" sz="1150" dirty="0"/>
          </a:p>
        </p:txBody>
      </p:sp>
      <p:sp>
        <p:nvSpPr>
          <p:cNvPr id="12" name="Shape 10"/>
          <p:cNvSpPr/>
          <p:nvPr/>
        </p:nvSpPr>
        <p:spPr>
          <a:xfrm>
            <a:off x="320040" y="1847088"/>
            <a:ext cx="8503920" cy="548640"/>
          </a:xfrm>
          <a:prstGeom prst="rect">
            <a:avLst/>
          </a:prstGeom>
          <a:solidFill>
            <a:srgbClr val="F5F7FA"/>
          </a:solidFill>
          <a:ln w="12700">
            <a:solidFill>
              <a:srgbClr val="E8ECF0"/>
            </a:solidFill>
            <a:prstDash val="solid"/>
          </a:ln>
        </p:spPr>
      </p:sp>
      <p:sp>
        <p:nvSpPr>
          <p:cNvPr id="13" name="Shape 11"/>
          <p:cNvSpPr/>
          <p:nvPr/>
        </p:nvSpPr>
        <p:spPr>
          <a:xfrm>
            <a:off x="438912" y="2029968"/>
            <a:ext cx="182880" cy="182880"/>
          </a:xfrm>
          <a:prstGeom prst="ellipse">
            <a:avLst/>
          </a:prstGeom>
          <a:solidFill>
            <a:srgbClr val="E8600A"/>
          </a:solidFill>
          <a:ln w="12700">
            <a:solidFill>
              <a:srgbClr val="E8600A"/>
            </a:solidFill>
            <a:prstDash val="solid"/>
          </a:ln>
        </p:spPr>
      </p:sp>
      <p:sp>
        <p:nvSpPr>
          <p:cNvPr id="14" name="Text 12"/>
          <p:cNvSpPr/>
          <p:nvPr/>
        </p:nvSpPr>
        <p:spPr>
          <a:xfrm>
            <a:off x="749808" y="189280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Analyse the Income Statement</a:t>
            </a:r>
            <a:endParaRPr lang="en-US" sz="1200" dirty="0"/>
          </a:p>
        </p:txBody>
      </p:sp>
      <p:sp>
        <p:nvSpPr>
          <p:cNvPr id="15" name="Text 13"/>
          <p:cNvSpPr/>
          <p:nvPr/>
        </p:nvSpPr>
        <p:spPr>
          <a:xfrm>
            <a:off x="749808" y="215798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Apply the 5-step revenue recognition model. Explain capitalisation vs expensing. Compute gross, operating and net margins.</a:t>
            </a:r>
            <a:endParaRPr lang="en-US" sz="1150" dirty="0"/>
          </a:p>
        </p:txBody>
      </p:sp>
      <p:sp>
        <p:nvSpPr>
          <p:cNvPr id="16" name="Shape 14"/>
          <p:cNvSpPr/>
          <p:nvPr/>
        </p:nvSpPr>
        <p:spPr>
          <a:xfrm>
            <a:off x="320040" y="2487168"/>
            <a:ext cx="8503920" cy="548640"/>
          </a:xfrm>
          <a:prstGeom prst="rect">
            <a:avLst/>
          </a:prstGeom>
          <a:solidFill>
            <a:srgbClr val="FFFFFF"/>
          </a:solidFill>
          <a:ln w="12700">
            <a:solidFill>
              <a:srgbClr val="E8ECF0"/>
            </a:solidFill>
            <a:prstDash val="solid"/>
          </a:ln>
        </p:spPr>
      </p:sp>
      <p:sp>
        <p:nvSpPr>
          <p:cNvPr id="17" name="Shape 15"/>
          <p:cNvSpPr/>
          <p:nvPr/>
        </p:nvSpPr>
        <p:spPr>
          <a:xfrm>
            <a:off x="438912" y="2670048"/>
            <a:ext cx="182880" cy="182880"/>
          </a:xfrm>
          <a:prstGeom prst="ellipse">
            <a:avLst/>
          </a:prstGeom>
          <a:solidFill>
            <a:srgbClr val="E8600A"/>
          </a:solidFill>
          <a:ln w="12700">
            <a:solidFill>
              <a:srgbClr val="E8600A"/>
            </a:solidFill>
            <a:prstDash val="solid"/>
          </a:ln>
        </p:spPr>
      </p:sp>
      <p:sp>
        <p:nvSpPr>
          <p:cNvPr id="18" name="Text 16"/>
          <p:cNvSpPr/>
          <p:nvPr/>
        </p:nvSpPr>
        <p:spPr>
          <a:xfrm>
            <a:off x="749808" y="253288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Compute Basic and Diluted EPS</a:t>
            </a:r>
            <a:endParaRPr lang="en-US" sz="1200" dirty="0"/>
          </a:p>
        </p:txBody>
      </p:sp>
      <p:sp>
        <p:nvSpPr>
          <p:cNvPr id="19" name="Text 17"/>
          <p:cNvSpPr/>
          <p:nvPr/>
        </p:nvSpPr>
        <p:spPr>
          <a:xfrm>
            <a:off x="749808" y="279806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Calculate basic EPS using weighted average shares. Apply if-converted and treasury stock methods for diluted EPS (CFA LM2 examples).</a:t>
            </a:r>
            <a:endParaRPr lang="en-US" sz="1150" dirty="0"/>
          </a:p>
        </p:txBody>
      </p:sp>
      <p:sp>
        <p:nvSpPr>
          <p:cNvPr id="20" name="Shape 18"/>
          <p:cNvSpPr/>
          <p:nvPr/>
        </p:nvSpPr>
        <p:spPr>
          <a:xfrm>
            <a:off x="320040" y="3127248"/>
            <a:ext cx="8503920" cy="548640"/>
          </a:xfrm>
          <a:prstGeom prst="rect">
            <a:avLst/>
          </a:prstGeom>
          <a:solidFill>
            <a:srgbClr val="F5F7FA"/>
          </a:solidFill>
          <a:ln w="12700">
            <a:solidFill>
              <a:srgbClr val="E8ECF0"/>
            </a:solidFill>
            <a:prstDash val="solid"/>
          </a:ln>
        </p:spPr>
      </p:sp>
      <p:sp>
        <p:nvSpPr>
          <p:cNvPr id="21" name="Shape 19"/>
          <p:cNvSpPr/>
          <p:nvPr/>
        </p:nvSpPr>
        <p:spPr>
          <a:xfrm>
            <a:off x="438912" y="3310128"/>
            <a:ext cx="182880" cy="182880"/>
          </a:xfrm>
          <a:prstGeom prst="ellipse">
            <a:avLst/>
          </a:prstGeom>
          <a:solidFill>
            <a:srgbClr val="E8600A"/>
          </a:solidFill>
          <a:ln w="12700">
            <a:solidFill>
              <a:srgbClr val="E8600A"/>
            </a:solidFill>
            <a:prstDash val="solid"/>
          </a:ln>
        </p:spPr>
      </p:sp>
      <p:sp>
        <p:nvSpPr>
          <p:cNvPr id="22" name="Text 20"/>
          <p:cNvSpPr/>
          <p:nvPr/>
        </p:nvSpPr>
        <p:spPr>
          <a:xfrm>
            <a:off x="749808" y="317296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Read the Balance Sheet</a:t>
            </a:r>
            <a:endParaRPr lang="en-US" sz="1200" dirty="0"/>
          </a:p>
        </p:txBody>
      </p:sp>
      <p:sp>
        <p:nvSpPr>
          <p:cNvPr id="23" name="Text 21"/>
          <p:cNvSpPr/>
          <p:nvPr/>
        </p:nvSpPr>
        <p:spPr>
          <a:xfrm>
            <a:off x="749808" y="343814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Classify assets, liabilities and equity. Explain goodwill, intangibles, financial instruments and deferred tax liabilities.</a:t>
            </a:r>
            <a:endParaRPr lang="en-US" sz="1150" dirty="0"/>
          </a:p>
        </p:txBody>
      </p:sp>
      <p:sp>
        <p:nvSpPr>
          <p:cNvPr id="24" name="Shape 22"/>
          <p:cNvSpPr/>
          <p:nvPr/>
        </p:nvSpPr>
        <p:spPr>
          <a:xfrm>
            <a:off x="320040" y="3767328"/>
            <a:ext cx="8503920" cy="548640"/>
          </a:xfrm>
          <a:prstGeom prst="rect">
            <a:avLst/>
          </a:prstGeom>
          <a:solidFill>
            <a:srgbClr val="FFFFFF"/>
          </a:solidFill>
          <a:ln w="12700">
            <a:solidFill>
              <a:srgbClr val="E8ECF0"/>
            </a:solidFill>
            <a:prstDash val="solid"/>
          </a:ln>
        </p:spPr>
      </p:sp>
      <p:sp>
        <p:nvSpPr>
          <p:cNvPr id="25" name="Shape 23"/>
          <p:cNvSpPr/>
          <p:nvPr/>
        </p:nvSpPr>
        <p:spPr>
          <a:xfrm>
            <a:off x="438912" y="3950208"/>
            <a:ext cx="182880" cy="182880"/>
          </a:xfrm>
          <a:prstGeom prst="ellipse">
            <a:avLst/>
          </a:prstGeom>
          <a:solidFill>
            <a:srgbClr val="E8600A"/>
          </a:solidFill>
          <a:ln w="12700">
            <a:solidFill>
              <a:srgbClr val="E8600A"/>
            </a:solidFill>
            <a:prstDash val="solid"/>
          </a:ln>
        </p:spPr>
      </p:sp>
      <p:sp>
        <p:nvSpPr>
          <p:cNvPr id="26" name="Text 24"/>
          <p:cNvSpPr/>
          <p:nvPr/>
        </p:nvSpPr>
        <p:spPr>
          <a:xfrm>
            <a:off x="749808" y="381304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Interpret Common-Size Statements</a:t>
            </a:r>
            <a:endParaRPr lang="en-US" sz="1200" dirty="0"/>
          </a:p>
        </p:txBody>
      </p:sp>
      <p:sp>
        <p:nvSpPr>
          <p:cNvPr id="27" name="Text 25"/>
          <p:cNvSpPr/>
          <p:nvPr/>
        </p:nvSpPr>
        <p:spPr>
          <a:xfrm>
            <a:off x="749808" y="407822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Perform vertical common-size analysis. Compare Apple vs Microsoft (CFA LM3 Example 1). Know CFA sector balance sheet patterns.</a:t>
            </a:r>
            <a:endParaRPr lang="en-US" sz="1150" dirty="0"/>
          </a:p>
        </p:txBody>
      </p:sp>
      <p:sp>
        <p:nvSpPr>
          <p:cNvPr id="28" name="Shape 26"/>
          <p:cNvSpPr/>
          <p:nvPr/>
        </p:nvSpPr>
        <p:spPr>
          <a:xfrm>
            <a:off x="320040" y="4407408"/>
            <a:ext cx="8503920" cy="548640"/>
          </a:xfrm>
          <a:prstGeom prst="rect">
            <a:avLst/>
          </a:prstGeom>
          <a:solidFill>
            <a:srgbClr val="F5F7FA"/>
          </a:solidFill>
          <a:ln w="12700">
            <a:solidFill>
              <a:srgbClr val="E8ECF0"/>
            </a:solidFill>
            <a:prstDash val="solid"/>
          </a:ln>
        </p:spPr>
      </p:sp>
      <p:sp>
        <p:nvSpPr>
          <p:cNvPr id="29" name="Shape 27"/>
          <p:cNvSpPr/>
          <p:nvPr/>
        </p:nvSpPr>
        <p:spPr>
          <a:xfrm>
            <a:off x="438912" y="4590288"/>
            <a:ext cx="182880" cy="182880"/>
          </a:xfrm>
          <a:prstGeom prst="ellipse">
            <a:avLst/>
          </a:prstGeom>
          <a:solidFill>
            <a:srgbClr val="E8600A"/>
          </a:solidFill>
          <a:ln w="12700">
            <a:solidFill>
              <a:srgbClr val="E8600A"/>
            </a:solidFill>
            <a:prstDash val="solid"/>
          </a:ln>
        </p:spPr>
      </p:sp>
      <p:sp>
        <p:nvSpPr>
          <p:cNvPr id="30" name="Text 28"/>
          <p:cNvSpPr/>
          <p:nvPr/>
        </p:nvSpPr>
        <p:spPr>
          <a:xfrm>
            <a:off x="749808" y="4453128"/>
            <a:ext cx="274320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Calculate Balance Sheet Ratios</a:t>
            </a:r>
            <a:endParaRPr lang="en-US" sz="1200" dirty="0"/>
          </a:p>
        </p:txBody>
      </p:sp>
      <p:sp>
        <p:nvSpPr>
          <p:cNvPr id="31" name="Text 29"/>
          <p:cNvSpPr/>
          <p:nvPr/>
        </p:nvSpPr>
        <p:spPr>
          <a:xfrm>
            <a:off x="749808" y="4718304"/>
            <a:ext cx="7863840" cy="2286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Compute liquidity ratios (quick=0.43 for Company A, CFA LM3) and solvency ratios (leverage=2.22 for Company B, CFA LM3).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FSA Framework</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&amp; The 3 Statements</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The FSA Framework — 6 Steps (CFA LM1)</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CFA LM1 presents a structured 6-step process for conducting financial statement analysis. Every analysis should follow this sequence.</a:t>
            </a:r>
            <a:endParaRPr lang="en-US" sz="1300" dirty="0"/>
          </a:p>
        </p:txBody>
      </p:sp>
      <p:sp>
        <p:nvSpPr>
          <p:cNvPr id="9" name="Shape 7"/>
          <p:cNvSpPr/>
          <p:nvPr/>
        </p:nvSpPr>
        <p:spPr>
          <a:xfrm>
            <a:off x="320040" y="1261872"/>
            <a:ext cx="8503920" cy="548640"/>
          </a:xfrm>
          <a:prstGeom prst="rect">
            <a:avLst/>
          </a:prstGeom>
          <a:solidFill>
            <a:srgbClr val="FFFFFF"/>
          </a:solidFill>
          <a:ln w="12700">
            <a:solidFill>
              <a:srgbClr val="E8ECF0"/>
            </a:solidFill>
            <a:prstDash val="solid"/>
          </a:ln>
        </p:spPr>
      </p:sp>
      <p:sp>
        <p:nvSpPr>
          <p:cNvPr id="10" name="Shape 8"/>
          <p:cNvSpPr/>
          <p:nvPr/>
        </p:nvSpPr>
        <p:spPr>
          <a:xfrm>
            <a:off x="320040" y="1261872"/>
            <a:ext cx="548640" cy="548640"/>
          </a:xfrm>
          <a:prstGeom prst="rect">
            <a:avLst/>
          </a:prstGeom>
          <a:solidFill>
            <a:srgbClr val="1B2A4A"/>
          </a:solidFill>
          <a:ln w="12700">
            <a:solidFill>
              <a:srgbClr val="1B2A4A"/>
            </a:solidFill>
            <a:prstDash val="solid"/>
          </a:ln>
        </p:spPr>
      </p:sp>
      <p:sp>
        <p:nvSpPr>
          <p:cNvPr id="11" name="Text 9"/>
          <p:cNvSpPr/>
          <p:nvPr/>
        </p:nvSpPr>
        <p:spPr>
          <a:xfrm>
            <a:off x="320040" y="1261872"/>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1</a:t>
            </a:r>
            <a:endParaRPr lang="en-US" sz="1500" dirty="0"/>
          </a:p>
        </p:txBody>
      </p:sp>
      <p:sp>
        <p:nvSpPr>
          <p:cNvPr id="12" name="Text 10"/>
          <p:cNvSpPr/>
          <p:nvPr/>
        </p:nvSpPr>
        <p:spPr>
          <a:xfrm>
            <a:off x="987552" y="1298448"/>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Articulate Purpose &amp; Context</a:t>
            </a:r>
            <a:endParaRPr lang="en-US" sz="1200" dirty="0"/>
          </a:p>
        </p:txBody>
      </p:sp>
      <p:sp>
        <p:nvSpPr>
          <p:cNvPr id="13" name="Text 11"/>
          <p:cNvSpPr/>
          <p:nvPr/>
        </p:nvSpPr>
        <p:spPr>
          <a:xfrm>
            <a:off x="987552" y="1581912"/>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Why is the analysis being done? (Equity valuation? Credit risk? M&amp;A screening?) This determines what data to collect and what ratios matter.</a:t>
            </a:r>
            <a:endParaRPr lang="en-US" sz="1150" dirty="0"/>
          </a:p>
        </p:txBody>
      </p:sp>
      <p:sp>
        <p:nvSpPr>
          <p:cNvPr id="14" name="Shape 12"/>
          <p:cNvSpPr/>
          <p:nvPr/>
        </p:nvSpPr>
        <p:spPr>
          <a:xfrm>
            <a:off x="320040" y="1883664"/>
            <a:ext cx="8503920" cy="548640"/>
          </a:xfrm>
          <a:prstGeom prst="rect">
            <a:avLst/>
          </a:prstGeom>
          <a:solidFill>
            <a:srgbClr val="F5F7FA"/>
          </a:solidFill>
          <a:ln w="12700">
            <a:solidFill>
              <a:srgbClr val="E8ECF0"/>
            </a:solidFill>
            <a:prstDash val="solid"/>
          </a:ln>
        </p:spPr>
      </p:sp>
      <p:sp>
        <p:nvSpPr>
          <p:cNvPr id="15" name="Shape 13"/>
          <p:cNvSpPr/>
          <p:nvPr/>
        </p:nvSpPr>
        <p:spPr>
          <a:xfrm>
            <a:off x="320040" y="1883664"/>
            <a:ext cx="548640" cy="548640"/>
          </a:xfrm>
          <a:prstGeom prst="rect">
            <a:avLst/>
          </a:prstGeom>
          <a:solidFill>
            <a:srgbClr val="1B2A4A"/>
          </a:solidFill>
          <a:ln w="12700">
            <a:solidFill>
              <a:srgbClr val="1B2A4A"/>
            </a:solidFill>
            <a:prstDash val="solid"/>
          </a:ln>
        </p:spPr>
      </p:sp>
      <p:sp>
        <p:nvSpPr>
          <p:cNvPr id="16" name="Text 14"/>
          <p:cNvSpPr/>
          <p:nvPr/>
        </p:nvSpPr>
        <p:spPr>
          <a:xfrm>
            <a:off x="320040" y="1883664"/>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2</a:t>
            </a:r>
            <a:endParaRPr lang="en-US" sz="1500" dirty="0"/>
          </a:p>
        </p:txBody>
      </p:sp>
      <p:sp>
        <p:nvSpPr>
          <p:cNvPr id="17" name="Text 15"/>
          <p:cNvSpPr/>
          <p:nvPr/>
        </p:nvSpPr>
        <p:spPr>
          <a:xfrm>
            <a:off x="987552" y="1920240"/>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Collect Data</a:t>
            </a:r>
            <a:endParaRPr lang="en-US" sz="1200" dirty="0"/>
          </a:p>
        </p:txBody>
      </p:sp>
      <p:sp>
        <p:nvSpPr>
          <p:cNvPr id="18" name="Text 16"/>
          <p:cNvSpPr/>
          <p:nvPr/>
        </p:nvSpPr>
        <p:spPr>
          <a:xfrm>
            <a:off x="987552" y="2203704"/>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Annual reports, 10-K filings, earnings releases, MD&amp;A, auditor reports. Also external: industry data, macro data, competitor financials.</a:t>
            </a:r>
            <a:endParaRPr lang="en-US" sz="1150" dirty="0"/>
          </a:p>
        </p:txBody>
      </p:sp>
      <p:sp>
        <p:nvSpPr>
          <p:cNvPr id="19" name="Shape 17"/>
          <p:cNvSpPr/>
          <p:nvPr/>
        </p:nvSpPr>
        <p:spPr>
          <a:xfrm>
            <a:off x="320040" y="2505456"/>
            <a:ext cx="8503920" cy="548640"/>
          </a:xfrm>
          <a:prstGeom prst="rect">
            <a:avLst/>
          </a:prstGeom>
          <a:solidFill>
            <a:srgbClr val="FFFFFF"/>
          </a:solidFill>
          <a:ln w="12700">
            <a:solidFill>
              <a:srgbClr val="E8ECF0"/>
            </a:solidFill>
            <a:prstDash val="solid"/>
          </a:ln>
        </p:spPr>
      </p:sp>
      <p:sp>
        <p:nvSpPr>
          <p:cNvPr id="20" name="Shape 18"/>
          <p:cNvSpPr/>
          <p:nvPr/>
        </p:nvSpPr>
        <p:spPr>
          <a:xfrm>
            <a:off x="320040" y="2505456"/>
            <a:ext cx="548640" cy="548640"/>
          </a:xfrm>
          <a:prstGeom prst="rect">
            <a:avLst/>
          </a:prstGeom>
          <a:solidFill>
            <a:srgbClr val="1B2A4A"/>
          </a:solidFill>
          <a:ln w="12700">
            <a:solidFill>
              <a:srgbClr val="1B2A4A"/>
            </a:solidFill>
            <a:prstDash val="solid"/>
          </a:ln>
        </p:spPr>
      </p:sp>
      <p:sp>
        <p:nvSpPr>
          <p:cNvPr id="21" name="Text 19"/>
          <p:cNvSpPr/>
          <p:nvPr/>
        </p:nvSpPr>
        <p:spPr>
          <a:xfrm>
            <a:off x="320040" y="2505456"/>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3</a:t>
            </a:r>
            <a:endParaRPr lang="en-US" sz="1500" dirty="0"/>
          </a:p>
        </p:txBody>
      </p:sp>
      <p:sp>
        <p:nvSpPr>
          <p:cNvPr id="22" name="Text 20"/>
          <p:cNvSpPr/>
          <p:nvPr/>
        </p:nvSpPr>
        <p:spPr>
          <a:xfrm>
            <a:off x="987552" y="2542032"/>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Process Data</a:t>
            </a:r>
            <a:endParaRPr lang="en-US" sz="1200" dirty="0"/>
          </a:p>
        </p:txBody>
      </p:sp>
      <p:sp>
        <p:nvSpPr>
          <p:cNvPr id="23" name="Text 21"/>
          <p:cNvSpPr/>
          <p:nvPr/>
        </p:nvSpPr>
        <p:spPr>
          <a:xfrm>
            <a:off x="987552" y="2825496"/>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Calculate ratios, produce common-size statements, adjust for one-off items, normalise earnings. Ratios are OUTPUT of this step.</a:t>
            </a:r>
            <a:endParaRPr lang="en-US" sz="1150" dirty="0"/>
          </a:p>
        </p:txBody>
      </p:sp>
      <p:sp>
        <p:nvSpPr>
          <p:cNvPr id="24" name="Shape 22"/>
          <p:cNvSpPr/>
          <p:nvPr/>
        </p:nvSpPr>
        <p:spPr>
          <a:xfrm>
            <a:off x="320040" y="3127248"/>
            <a:ext cx="8503920" cy="548640"/>
          </a:xfrm>
          <a:prstGeom prst="rect">
            <a:avLst/>
          </a:prstGeom>
          <a:solidFill>
            <a:srgbClr val="F5F7FA"/>
          </a:solidFill>
          <a:ln w="12700">
            <a:solidFill>
              <a:srgbClr val="E8ECF0"/>
            </a:solidFill>
            <a:prstDash val="solid"/>
          </a:ln>
        </p:spPr>
      </p:sp>
      <p:sp>
        <p:nvSpPr>
          <p:cNvPr id="25" name="Shape 23"/>
          <p:cNvSpPr/>
          <p:nvPr/>
        </p:nvSpPr>
        <p:spPr>
          <a:xfrm>
            <a:off x="320040" y="3127248"/>
            <a:ext cx="548640" cy="548640"/>
          </a:xfrm>
          <a:prstGeom prst="rect">
            <a:avLst/>
          </a:prstGeom>
          <a:solidFill>
            <a:srgbClr val="1B2A4A"/>
          </a:solidFill>
          <a:ln w="12700">
            <a:solidFill>
              <a:srgbClr val="1B2A4A"/>
            </a:solidFill>
            <a:prstDash val="solid"/>
          </a:ln>
        </p:spPr>
      </p:sp>
      <p:sp>
        <p:nvSpPr>
          <p:cNvPr id="26" name="Text 24"/>
          <p:cNvSpPr/>
          <p:nvPr/>
        </p:nvSpPr>
        <p:spPr>
          <a:xfrm>
            <a:off x="320040" y="3127248"/>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4</a:t>
            </a:r>
            <a:endParaRPr lang="en-US" sz="1500" dirty="0"/>
          </a:p>
        </p:txBody>
      </p:sp>
      <p:sp>
        <p:nvSpPr>
          <p:cNvPr id="27" name="Text 25"/>
          <p:cNvSpPr/>
          <p:nvPr/>
        </p:nvSpPr>
        <p:spPr>
          <a:xfrm>
            <a:off x="987552" y="3163824"/>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Analyse/Interpret Data</a:t>
            </a:r>
            <a:endParaRPr lang="en-US" sz="1200" dirty="0"/>
          </a:p>
        </p:txBody>
      </p:sp>
      <p:sp>
        <p:nvSpPr>
          <p:cNvPr id="28" name="Text 26"/>
          <p:cNvSpPr/>
          <p:nvPr/>
        </p:nvSpPr>
        <p:spPr>
          <a:xfrm>
            <a:off x="987552" y="3447288"/>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Ratios are INPUT here. Compare over time (trend), across peers (cross-sectional). Identify drivers and risks. CFA Practice Q1: ratios are an output of Step 3, input of Step 4.</a:t>
            </a:r>
            <a:endParaRPr lang="en-US" sz="1150" dirty="0"/>
          </a:p>
        </p:txBody>
      </p:sp>
      <p:sp>
        <p:nvSpPr>
          <p:cNvPr id="29" name="Shape 27"/>
          <p:cNvSpPr/>
          <p:nvPr/>
        </p:nvSpPr>
        <p:spPr>
          <a:xfrm>
            <a:off x="320040" y="3749040"/>
            <a:ext cx="8503920" cy="548640"/>
          </a:xfrm>
          <a:prstGeom prst="rect">
            <a:avLst/>
          </a:prstGeom>
          <a:solidFill>
            <a:srgbClr val="FFFFFF"/>
          </a:solidFill>
          <a:ln w="12700">
            <a:solidFill>
              <a:srgbClr val="E8ECF0"/>
            </a:solidFill>
            <a:prstDash val="solid"/>
          </a:ln>
        </p:spPr>
      </p:sp>
      <p:sp>
        <p:nvSpPr>
          <p:cNvPr id="30" name="Shape 28"/>
          <p:cNvSpPr/>
          <p:nvPr/>
        </p:nvSpPr>
        <p:spPr>
          <a:xfrm>
            <a:off x="320040" y="3749040"/>
            <a:ext cx="548640" cy="548640"/>
          </a:xfrm>
          <a:prstGeom prst="rect">
            <a:avLst/>
          </a:prstGeom>
          <a:solidFill>
            <a:srgbClr val="1B2A4A"/>
          </a:solidFill>
          <a:ln w="12700">
            <a:solidFill>
              <a:srgbClr val="1B2A4A"/>
            </a:solidFill>
            <a:prstDash val="solid"/>
          </a:ln>
        </p:spPr>
      </p:sp>
      <p:sp>
        <p:nvSpPr>
          <p:cNvPr id="31" name="Text 29"/>
          <p:cNvSpPr/>
          <p:nvPr/>
        </p:nvSpPr>
        <p:spPr>
          <a:xfrm>
            <a:off x="320040" y="3749040"/>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5</a:t>
            </a:r>
            <a:endParaRPr lang="en-US" sz="1500" dirty="0"/>
          </a:p>
        </p:txBody>
      </p:sp>
      <p:sp>
        <p:nvSpPr>
          <p:cNvPr id="32" name="Text 30"/>
          <p:cNvSpPr/>
          <p:nvPr/>
        </p:nvSpPr>
        <p:spPr>
          <a:xfrm>
            <a:off x="987552" y="3785616"/>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Develop Conclusions</a:t>
            </a:r>
            <a:endParaRPr lang="en-US" sz="1200" dirty="0"/>
          </a:p>
        </p:txBody>
      </p:sp>
      <p:sp>
        <p:nvSpPr>
          <p:cNvPr id="33" name="Text 31"/>
          <p:cNvSpPr/>
          <p:nvPr/>
        </p:nvSpPr>
        <p:spPr>
          <a:xfrm>
            <a:off x="987552" y="4069080"/>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Write up investment thesis, credit recommendation or due diligence memo. Communicate limitations and assumptions clearly.</a:t>
            </a:r>
            <a:endParaRPr lang="en-US" sz="1150" dirty="0"/>
          </a:p>
        </p:txBody>
      </p:sp>
      <p:sp>
        <p:nvSpPr>
          <p:cNvPr id="34" name="Shape 32"/>
          <p:cNvSpPr/>
          <p:nvPr/>
        </p:nvSpPr>
        <p:spPr>
          <a:xfrm>
            <a:off x="320040" y="4370832"/>
            <a:ext cx="8503920" cy="548640"/>
          </a:xfrm>
          <a:prstGeom prst="rect">
            <a:avLst/>
          </a:prstGeom>
          <a:solidFill>
            <a:srgbClr val="F5F7FA"/>
          </a:solidFill>
          <a:ln w="12700">
            <a:solidFill>
              <a:srgbClr val="E8ECF0"/>
            </a:solidFill>
            <a:prstDash val="solid"/>
          </a:ln>
        </p:spPr>
      </p:sp>
      <p:sp>
        <p:nvSpPr>
          <p:cNvPr id="35" name="Shape 33"/>
          <p:cNvSpPr/>
          <p:nvPr/>
        </p:nvSpPr>
        <p:spPr>
          <a:xfrm>
            <a:off x="320040" y="4370832"/>
            <a:ext cx="548640" cy="548640"/>
          </a:xfrm>
          <a:prstGeom prst="rect">
            <a:avLst/>
          </a:prstGeom>
          <a:solidFill>
            <a:srgbClr val="1B2A4A"/>
          </a:solidFill>
          <a:ln w="12700">
            <a:solidFill>
              <a:srgbClr val="1B2A4A"/>
            </a:solidFill>
            <a:prstDash val="solid"/>
          </a:ln>
        </p:spPr>
      </p:sp>
      <p:sp>
        <p:nvSpPr>
          <p:cNvPr id="36" name="Text 34"/>
          <p:cNvSpPr/>
          <p:nvPr/>
        </p:nvSpPr>
        <p:spPr>
          <a:xfrm>
            <a:off x="320040" y="4370832"/>
            <a:ext cx="548640" cy="548640"/>
          </a:xfrm>
          <a:prstGeom prst="rect">
            <a:avLst/>
          </a:prstGeom>
          <a:noFill/>
          <a:ln/>
        </p:spPr>
        <p:txBody>
          <a:bodyPr wrap="square" lIns="0" tIns="0" rIns="0" bIns="0" rtlCol="0" anchor="ctr"/>
          <a:lstStyle/>
          <a:p>
            <a:pPr algn="ctr" indent="0" marL="0">
              <a:buNone/>
            </a:pPr>
            <a:r>
              <a:rPr lang="en-US" sz="1500" b="1" dirty="0">
                <a:solidFill>
                  <a:srgbClr val="E8600A"/>
                </a:solidFill>
                <a:latin typeface="Trebuchet MS" pitchFamily="34" charset="0"/>
                <a:ea typeface="Trebuchet MS" pitchFamily="34" charset="-122"/>
                <a:cs typeface="Trebuchet MS" pitchFamily="34" charset="-120"/>
              </a:rPr>
              <a:t>6</a:t>
            </a:r>
            <a:endParaRPr lang="en-US" sz="1500" dirty="0"/>
          </a:p>
        </p:txBody>
      </p:sp>
      <p:sp>
        <p:nvSpPr>
          <p:cNvPr id="37" name="Text 35"/>
          <p:cNvSpPr/>
          <p:nvPr/>
        </p:nvSpPr>
        <p:spPr>
          <a:xfrm>
            <a:off x="987552" y="4407408"/>
            <a:ext cx="2194560" cy="256032"/>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Follow-Up</a:t>
            </a:r>
            <a:endParaRPr lang="en-US" sz="1200" dirty="0"/>
          </a:p>
        </p:txBody>
      </p:sp>
      <p:sp>
        <p:nvSpPr>
          <p:cNvPr id="38" name="Text 36"/>
          <p:cNvSpPr/>
          <p:nvPr/>
        </p:nvSpPr>
        <p:spPr>
          <a:xfrm>
            <a:off x="987552" y="4690872"/>
            <a:ext cx="7790688" cy="21945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CFA LM1: follow-up involves gathering new information and repeating the analysis to determine if updates are needed.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The Three Primary Financial Statements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Three interlocking statements together describe a company’s full financial picture. No single statement tells the complete story.</a:t>
            </a:r>
            <a:endParaRPr lang="en-US" sz="1300" dirty="0"/>
          </a:p>
        </p:txBody>
      </p:sp>
      <p:sp>
        <p:nvSpPr>
          <p:cNvPr id="9" name="Shape 7"/>
          <p:cNvSpPr/>
          <p:nvPr/>
        </p:nvSpPr>
        <p:spPr>
          <a:xfrm>
            <a:off x="320040" y="1298448"/>
            <a:ext cx="8503920" cy="1051560"/>
          </a:xfrm>
          <a:prstGeom prst="rect">
            <a:avLst/>
          </a:prstGeom>
          <a:solidFill>
            <a:srgbClr val="E8F5E9"/>
          </a:solidFill>
          <a:ln w="12700">
            <a:solidFill>
              <a:srgbClr val="E8ECF0"/>
            </a:solidFill>
            <a:prstDash val="solid"/>
          </a:ln>
        </p:spPr>
      </p:sp>
      <p:sp>
        <p:nvSpPr>
          <p:cNvPr id="10" name="Shape 8"/>
          <p:cNvSpPr/>
          <p:nvPr/>
        </p:nvSpPr>
        <p:spPr>
          <a:xfrm>
            <a:off x="320040" y="1298448"/>
            <a:ext cx="91440" cy="1051560"/>
          </a:xfrm>
          <a:prstGeom prst="rect">
            <a:avLst/>
          </a:prstGeom>
          <a:solidFill>
            <a:srgbClr val="1A6B3C"/>
          </a:solidFill>
          <a:ln w="12700">
            <a:solidFill>
              <a:srgbClr val="1A6B3C"/>
            </a:solidFill>
            <a:prstDash val="solid"/>
          </a:ln>
        </p:spPr>
      </p:sp>
      <p:sp>
        <p:nvSpPr>
          <p:cNvPr id="11" name="Text 9"/>
          <p:cNvSpPr/>
          <p:nvPr/>
        </p:nvSpPr>
        <p:spPr>
          <a:xfrm>
            <a:off x="502920" y="1335024"/>
            <a:ext cx="4114800" cy="274320"/>
          </a:xfrm>
          <a:prstGeom prst="rect">
            <a:avLst/>
          </a:prstGeom>
          <a:noFill/>
          <a:ln/>
        </p:spPr>
        <p:txBody>
          <a:bodyPr wrap="square" lIns="0" tIns="0" rIns="0" bIns="0" rtlCol="0" anchor="ctr"/>
          <a:lstStyle/>
          <a:p>
            <a:pPr indent="0" marL="0">
              <a:buNone/>
            </a:pPr>
            <a:r>
              <a:rPr lang="en-US" sz="1250" b="1" dirty="0">
                <a:solidFill>
                  <a:srgbClr val="1A6B3C"/>
                </a:solidFill>
                <a:latin typeface="Trebuchet MS" pitchFamily="34" charset="0"/>
                <a:ea typeface="Trebuchet MS" pitchFamily="34" charset="-122"/>
                <a:cs typeface="Trebuchet MS" pitchFamily="34" charset="-120"/>
              </a:rPr>
              <a:t>Income Statement (P&amp;L)</a:t>
            </a:r>
            <a:endParaRPr lang="en-US" sz="1250" dirty="0"/>
          </a:p>
        </p:txBody>
      </p:sp>
      <p:sp>
        <p:nvSpPr>
          <p:cNvPr id="12" name="Text 10"/>
          <p:cNvSpPr/>
          <p:nvPr/>
        </p:nvSpPr>
        <p:spPr>
          <a:xfrm>
            <a:off x="502920" y="1645920"/>
            <a:ext cx="8183880"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Covers a PERIOD of time.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Revenue − Expenses = Net Income.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Shows: profitability, growth, margins.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Key metrics: EPS, EBITDA, operating margin.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Limitation: accrual basis — revenue ≠ cash received.</a:t>
            </a:r>
            <a:endParaRPr lang="en-US" sz="1200" dirty="0"/>
          </a:p>
        </p:txBody>
      </p:sp>
      <p:sp>
        <p:nvSpPr>
          <p:cNvPr id="13" name="Shape 11"/>
          <p:cNvSpPr/>
          <p:nvPr/>
        </p:nvSpPr>
        <p:spPr>
          <a:xfrm>
            <a:off x="320040" y="2468880"/>
            <a:ext cx="8503920" cy="1051560"/>
          </a:xfrm>
          <a:prstGeom prst="rect">
            <a:avLst/>
          </a:prstGeom>
          <a:solidFill>
            <a:srgbClr val="F5F7FA"/>
          </a:solidFill>
          <a:ln w="12700">
            <a:solidFill>
              <a:srgbClr val="E8ECF0"/>
            </a:solidFill>
            <a:prstDash val="solid"/>
          </a:ln>
        </p:spPr>
      </p:sp>
      <p:sp>
        <p:nvSpPr>
          <p:cNvPr id="14" name="Shape 12"/>
          <p:cNvSpPr/>
          <p:nvPr/>
        </p:nvSpPr>
        <p:spPr>
          <a:xfrm>
            <a:off x="320040" y="2468880"/>
            <a:ext cx="91440" cy="1051560"/>
          </a:xfrm>
          <a:prstGeom prst="rect">
            <a:avLst/>
          </a:prstGeom>
          <a:solidFill>
            <a:srgbClr val="1B2A4A"/>
          </a:solidFill>
          <a:ln w="12700">
            <a:solidFill>
              <a:srgbClr val="1B2A4A"/>
            </a:solidFill>
            <a:prstDash val="solid"/>
          </a:ln>
        </p:spPr>
      </p:sp>
      <p:sp>
        <p:nvSpPr>
          <p:cNvPr id="15" name="Text 13"/>
          <p:cNvSpPr/>
          <p:nvPr/>
        </p:nvSpPr>
        <p:spPr>
          <a:xfrm>
            <a:off x="502920" y="2505456"/>
            <a:ext cx="4114800" cy="274320"/>
          </a:xfrm>
          <a:prstGeom prst="rect">
            <a:avLst/>
          </a:prstGeom>
          <a:noFill/>
          <a:ln/>
        </p:spPr>
        <p:txBody>
          <a:bodyPr wrap="square" lIns="0" tIns="0" rIns="0" bIns="0" rtlCol="0" anchor="ctr"/>
          <a:lstStyle/>
          <a:p>
            <a:pPr indent="0" marL="0">
              <a:buNone/>
            </a:pPr>
            <a:r>
              <a:rPr lang="en-US" sz="1250" b="1" dirty="0">
                <a:solidFill>
                  <a:srgbClr val="1B2A4A"/>
                </a:solidFill>
                <a:latin typeface="Trebuchet MS" pitchFamily="34" charset="0"/>
                <a:ea typeface="Trebuchet MS" pitchFamily="34" charset="-122"/>
                <a:cs typeface="Trebuchet MS" pitchFamily="34" charset="-120"/>
              </a:rPr>
              <a:t>Balance Sheet (Statement of Financial Position)</a:t>
            </a:r>
            <a:endParaRPr lang="en-US" sz="1250" dirty="0"/>
          </a:p>
        </p:txBody>
      </p:sp>
      <p:sp>
        <p:nvSpPr>
          <p:cNvPr id="16" name="Text 14"/>
          <p:cNvSpPr/>
          <p:nvPr/>
        </p:nvSpPr>
        <p:spPr>
          <a:xfrm>
            <a:off x="502920" y="2816352"/>
            <a:ext cx="8183880"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Shows POINT IN TIME snapshot.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Assets = Liabilities + Equity.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Shows: liquidity, solvency, capital structure.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Key metrics: quick ratio, D/E, net debt.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Limitation: historical cost — some assets not at fair value.</a:t>
            </a:r>
            <a:endParaRPr lang="en-US" sz="1200" dirty="0"/>
          </a:p>
        </p:txBody>
      </p:sp>
      <p:sp>
        <p:nvSpPr>
          <p:cNvPr id="17" name="Shape 15"/>
          <p:cNvSpPr/>
          <p:nvPr/>
        </p:nvSpPr>
        <p:spPr>
          <a:xfrm>
            <a:off x="320040" y="3639312"/>
            <a:ext cx="8503920" cy="1051560"/>
          </a:xfrm>
          <a:prstGeom prst="rect">
            <a:avLst/>
          </a:prstGeom>
          <a:solidFill>
            <a:srgbClr val="FEF0E7"/>
          </a:solidFill>
          <a:ln w="12700">
            <a:solidFill>
              <a:srgbClr val="E8ECF0"/>
            </a:solidFill>
            <a:prstDash val="solid"/>
          </a:ln>
        </p:spPr>
      </p:sp>
      <p:sp>
        <p:nvSpPr>
          <p:cNvPr id="18" name="Shape 16"/>
          <p:cNvSpPr/>
          <p:nvPr/>
        </p:nvSpPr>
        <p:spPr>
          <a:xfrm>
            <a:off x="320040" y="3639312"/>
            <a:ext cx="91440" cy="1051560"/>
          </a:xfrm>
          <a:prstGeom prst="rect">
            <a:avLst/>
          </a:prstGeom>
          <a:solidFill>
            <a:srgbClr val="E8600A"/>
          </a:solidFill>
          <a:ln w="12700">
            <a:solidFill>
              <a:srgbClr val="E8600A"/>
            </a:solidFill>
            <a:prstDash val="solid"/>
          </a:ln>
        </p:spPr>
      </p:sp>
      <p:sp>
        <p:nvSpPr>
          <p:cNvPr id="19" name="Text 17"/>
          <p:cNvSpPr/>
          <p:nvPr/>
        </p:nvSpPr>
        <p:spPr>
          <a:xfrm>
            <a:off x="502920" y="3675888"/>
            <a:ext cx="4114800" cy="274320"/>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Cash Flow Statement</a:t>
            </a:r>
            <a:endParaRPr lang="en-US" sz="1250" dirty="0"/>
          </a:p>
        </p:txBody>
      </p:sp>
      <p:sp>
        <p:nvSpPr>
          <p:cNvPr id="20" name="Text 18"/>
          <p:cNvSpPr/>
          <p:nvPr/>
        </p:nvSpPr>
        <p:spPr>
          <a:xfrm>
            <a:off x="502920" y="3986784"/>
            <a:ext cx="8183880" cy="65836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Covers a PERIOD of time.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Operating + Investing + Financing = Net cash change.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Shows: actual cash generation, quality of earnings.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Key metrics: FCF = CFO − Capex.</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Limitation: indirect method obscures operating details.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IFRS vs US GAAP — Key Differences for Analysts (CFA LM1)</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CFA LM1: IFRS is issued by the IASB; US GAAP by the FASB. Revenue recognition standards converged in 2018. Other areas still differ.</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645920"/>
                <a:gridCol w="2011680"/>
                <a:gridCol w="2011680"/>
                <a:gridCol w="2834640"/>
              </a:tblGrid>
              <a:tr h="0">
                <a:tc>
                  <a:txBody>
                    <a:bodyPr/>
                    <a:lstStyle/>
                    <a:p>
                      <a:pPr indent="0" marL="0">
                        <a:buNone/>
                      </a:pPr>
                      <a:r>
                        <a:rPr lang="en-US" sz="1100" b="1" dirty="0">
                          <a:solidFill>
                            <a:srgbClr val="FFFFFF"/>
                          </a:solidFill>
                        </a:rPr>
                        <a:t>Topic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IFRS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US GAAP</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Analyst Impact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Revenue recognition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IFRS 15 (converged with ASC 606 from 2018)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ASC 606 (same 5-step model)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CONVERGED — same treatment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Inventory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FIFO or weighted average (LIFO prohibited)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FIFO, LIFO or weighted average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LIFO reserve adjustment needed to compare US firms using LIFO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Development costs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Capitalise if criteria met (IAS 38)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Expense as incurred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IFRS firms show higher assets; better earnings smoothing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Investment property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Fair value model permitted (gains in P&amp;L)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Historical cost only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IFRS firms may show more volatility from fair value changes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Goodwill impairment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Annual impairment test (no amortisation)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Annual impairment test (2-step prior; simplified)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Both impair but testing methodology differs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Financial statement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IS, BS, CFS, changes in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IS, BS, CFS, changes in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Same primary statements; notes differ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Auditor’s Report — The Seal of Approval</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4114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CFA LM1: the independent auditor provides REASONABLE assurance (not absolute certainty) that financial statements are fairly presented. Analysts must read the opinion type.</a:t>
            </a:r>
            <a:endParaRPr lang="en-US" sz="1300" dirty="0"/>
          </a:p>
        </p:txBody>
      </p:sp>
      <p:sp>
        <p:nvSpPr>
          <p:cNvPr id="9" name="Shape 7"/>
          <p:cNvSpPr/>
          <p:nvPr/>
        </p:nvSpPr>
        <p:spPr>
          <a:xfrm>
            <a:off x="320040" y="1298448"/>
            <a:ext cx="8503920" cy="768096"/>
          </a:xfrm>
          <a:prstGeom prst="rect">
            <a:avLst/>
          </a:prstGeom>
          <a:solidFill>
            <a:srgbClr val="E8F5E9"/>
          </a:solidFill>
          <a:ln w="12700">
            <a:solidFill>
              <a:srgbClr val="E8ECF0"/>
            </a:solidFill>
            <a:prstDash val="solid"/>
          </a:ln>
        </p:spPr>
      </p:sp>
      <p:sp>
        <p:nvSpPr>
          <p:cNvPr id="10" name="Shape 8"/>
          <p:cNvSpPr/>
          <p:nvPr/>
        </p:nvSpPr>
        <p:spPr>
          <a:xfrm>
            <a:off x="320040" y="1298448"/>
            <a:ext cx="109728" cy="768096"/>
          </a:xfrm>
          <a:prstGeom prst="rect">
            <a:avLst/>
          </a:prstGeom>
          <a:solidFill>
            <a:srgbClr val="1A6B3C"/>
          </a:solidFill>
          <a:ln w="12700">
            <a:solidFill>
              <a:srgbClr val="1A6B3C"/>
            </a:solidFill>
            <a:prstDash val="solid"/>
          </a:ln>
        </p:spPr>
      </p:sp>
      <p:sp>
        <p:nvSpPr>
          <p:cNvPr id="11" name="Text 9"/>
          <p:cNvSpPr/>
          <p:nvPr/>
        </p:nvSpPr>
        <p:spPr>
          <a:xfrm>
            <a:off x="521208" y="1344168"/>
            <a:ext cx="2286000" cy="274320"/>
          </a:xfrm>
          <a:prstGeom prst="rect">
            <a:avLst/>
          </a:prstGeom>
          <a:noFill/>
          <a:ln/>
        </p:spPr>
        <p:txBody>
          <a:bodyPr wrap="square" lIns="0" tIns="0" rIns="0" bIns="0" rtlCol="0" anchor="ctr"/>
          <a:lstStyle/>
          <a:p>
            <a:pPr indent="0" marL="0">
              <a:buNone/>
            </a:pPr>
            <a:r>
              <a:rPr lang="en-US" sz="1200" b="1" dirty="0">
                <a:solidFill>
                  <a:srgbClr val="1A6B3C"/>
                </a:solidFill>
                <a:latin typeface="Trebuchet MS" pitchFamily="34" charset="0"/>
                <a:ea typeface="Trebuchet MS" pitchFamily="34" charset="-122"/>
                <a:cs typeface="Trebuchet MS" pitchFamily="34" charset="-120"/>
              </a:rPr>
              <a:t>Unqualified (Clean) Opinion</a:t>
            </a:r>
            <a:endParaRPr lang="en-US" sz="1200" dirty="0"/>
          </a:p>
        </p:txBody>
      </p:sp>
      <p:sp>
        <p:nvSpPr>
          <p:cNvPr id="12" name="Text 10"/>
          <p:cNvSpPr/>
          <p:nvPr/>
        </p:nvSpPr>
        <p:spPr>
          <a:xfrm>
            <a:off x="521208" y="1700784"/>
            <a:ext cx="7909560" cy="34747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Financial statements present the company fairly in ALL MATERIAL RESPECTS in accordance with applicable accounting standards. CFA LM1: this is the only acceptable opinion for most lenders and most investors. The most common opinion for listed companies.</a:t>
            </a:r>
            <a:endParaRPr lang="en-US" sz="1200" dirty="0"/>
          </a:p>
        </p:txBody>
      </p:sp>
      <p:sp>
        <p:nvSpPr>
          <p:cNvPr id="13" name="Shape 11"/>
          <p:cNvSpPr/>
          <p:nvPr/>
        </p:nvSpPr>
        <p:spPr>
          <a:xfrm>
            <a:off x="320040" y="2185416"/>
            <a:ext cx="8503920" cy="768096"/>
          </a:xfrm>
          <a:prstGeom prst="rect">
            <a:avLst/>
          </a:prstGeom>
          <a:solidFill>
            <a:srgbClr val="FEF0E7"/>
          </a:solidFill>
          <a:ln w="12700">
            <a:solidFill>
              <a:srgbClr val="E8ECF0"/>
            </a:solidFill>
            <a:prstDash val="solid"/>
          </a:ln>
        </p:spPr>
      </p:sp>
      <p:sp>
        <p:nvSpPr>
          <p:cNvPr id="14" name="Shape 12"/>
          <p:cNvSpPr/>
          <p:nvPr/>
        </p:nvSpPr>
        <p:spPr>
          <a:xfrm>
            <a:off x="320040" y="2185416"/>
            <a:ext cx="109728" cy="768096"/>
          </a:xfrm>
          <a:prstGeom prst="rect">
            <a:avLst/>
          </a:prstGeom>
          <a:solidFill>
            <a:srgbClr val="E8600A"/>
          </a:solidFill>
          <a:ln w="12700">
            <a:solidFill>
              <a:srgbClr val="E8600A"/>
            </a:solidFill>
            <a:prstDash val="solid"/>
          </a:ln>
        </p:spPr>
      </p:sp>
      <p:sp>
        <p:nvSpPr>
          <p:cNvPr id="15" name="Text 13"/>
          <p:cNvSpPr/>
          <p:nvPr/>
        </p:nvSpPr>
        <p:spPr>
          <a:xfrm>
            <a:off x="521208" y="2231136"/>
            <a:ext cx="2286000" cy="274320"/>
          </a:xfrm>
          <a:prstGeom prst="rect">
            <a:avLst/>
          </a:prstGeom>
          <a:noFill/>
          <a:ln/>
        </p:spPr>
        <p:txBody>
          <a:bodyPr wrap="square" lIns="0" tIns="0" rIns="0" bIns="0" rtlCol="0" anchor="ctr"/>
          <a:lstStyle/>
          <a:p>
            <a:pPr indent="0" marL="0">
              <a:buNone/>
            </a:pPr>
            <a:r>
              <a:rPr lang="en-US" sz="1200" b="1" dirty="0">
                <a:solidFill>
                  <a:srgbClr val="E8600A"/>
                </a:solidFill>
                <a:latin typeface="Trebuchet MS" pitchFamily="34" charset="0"/>
                <a:ea typeface="Trebuchet MS" pitchFamily="34" charset="-122"/>
                <a:cs typeface="Trebuchet MS" pitchFamily="34" charset="-120"/>
              </a:rPr>
              <a:t>Qualified Opinion</a:t>
            </a:r>
            <a:endParaRPr lang="en-US" sz="1200" dirty="0"/>
          </a:p>
        </p:txBody>
      </p:sp>
      <p:sp>
        <p:nvSpPr>
          <p:cNvPr id="16" name="Text 14"/>
          <p:cNvSpPr/>
          <p:nvPr/>
        </p:nvSpPr>
        <p:spPr>
          <a:xfrm>
            <a:off x="521208" y="2587752"/>
            <a:ext cx="7909560" cy="34747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Except for specific described issues, statements are fairly presented. Signals that the scope of audit was limited or there are specific EXCEPTIONS to accounting standards. Analyst must evaluate the significance of the exceptions carefully.</a:t>
            </a:r>
            <a:endParaRPr lang="en-US" sz="1200" dirty="0"/>
          </a:p>
        </p:txBody>
      </p:sp>
      <p:sp>
        <p:nvSpPr>
          <p:cNvPr id="17" name="Shape 15"/>
          <p:cNvSpPr/>
          <p:nvPr/>
        </p:nvSpPr>
        <p:spPr>
          <a:xfrm>
            <a:off x="320040" y="3072384"/>
            <a:ext cx="8503920" cy="768096"/>
          </a:xfrm>
          <a:prstGeom prst="rect">
            <a:avLst/>
          </a:prstGeom>
          <a:solidFill>
            <a:srgbClr val="FFEBEE"/>
          </a:solidFill>
          <a:ln w="12700">
            <a:solidFill>
              <a:srgbClr val="E8ECF0"/>
            </a:solidFill>
            <a:prstDash val="solid"/>
          </a:ln>
        </p:spPr>
      </p:sp>
      <p:sp>
        <p:nvSpPr>
          <p:cNvPr id="18" name="Shape 16"/>
          <p:cNvSpPr/>
          <p:nvPr/>
        </p:nvSpPr>
        <p:spPr>
          <a:xfrm>
            <a:off x="320040" y="3072384"/>
            <a:ext cx="109728" cy="768096"/>
          </a:xfrm>
          <a:prstGeom prst="rect">
            <a:avLst/>
          </a:prstGeom>
          <a:solidFill>
            <a:srgbClr val="B71C1C"/>
          </a:solidFill>
          <a:ln w="12700">
            <a:solidFill>
              <a:srgbClr val="B71C1C"/>
            </a:solidFill>
            <a:prstDash val="solid"/>
          </a:ln>
        </p:spPr>
      </p:sp>
      <p:sp>
        <p:nvSpPr>
          <p:cNvPr id="19" name="Text 17"/>
          <p:cNvSpPr/>
          <p:nvPr/>
        </p:nvSpPr>
        <p:spPr>
          <a:xfrm>
            <a:off x="521208" y="3118104"/>
            <a:ext cx="2286000" cy="274320"/>
          </a:xfrm>
          <a:prstGeom prst="rect">
            <a:avLst/>
          </a:prstGeom>
          <a:noFill/>
          <a:ln/>
        </p:spPr>
        <p:txBody>
          <a:bodyPr wrap="square" lIns="0" tIns="0" rIns="0" bIns="0" rtlCol="0" anchor="ctr"/>
          <a:lstStyle/>
          <a:p>
            <a:pPr indent="0" marL="0">
              <a:buNone/>
            </a:pPr>
            <a:r>
              <a:rPr lang="en-US" sz="1200" b="1" dirty="0">
                <a:solidFill>
                  <a:srgbClr val="B71C1C"/>
                </a:solidFill>
                <a:latin typeface="Trebuchet MS" pitchFamily="34" charset="0"/>
                <a:ea typeface="Trebuchet MS" pitchFamily="34" charset="-122"/>
                <a:cs typeface="Trebuchet MS" pitchFamily="34" charset="-120"/>
              </a:rPr>
              <a:t>Adverse Opinion</a:t>
            </a:r>
            <a:endParaRPr lang="en-US" sz="1200" dirty="0"/>
          </a:p>
        </p:txBody>
      </p:sp>
      <p:sp>
        <p:nvSpPr>
          <p:cNvPr id="20" name="Text 18"/>
          <p:cNvSpPr/>
          <p:nvPr/>
        </p:nvSpPr>
        <p:spPr>
          <a:xfrm>
            <a:off x="521208" y="3474720"/>
            <a:ext cx="7909560" cy="34747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Financial statements do NOT present the company fairly. Material departures from accounting standards. EXTREMELY RARE for listed companies. Immediate red flag.</a:t>
            </a:r>
            <a:endParaRPr lang="en-US" sz="1200" dirty="0"/>
          </a:p>
        </p:txBody>
      </p:sp>
      <p:sp>
        <p:nvSpPr>
          <p:cNvPr id="21" name="Shape 19"/>
          <p:cNvSpPr/>
          <p:nvPr/>
        </p:nvSpPr>
        <p:spPr>
          <a:xfrm>
            <a:off x="320040" y="3959352"/>
            <a:ext cx="8503920" cy="768096"/>
          </a:xfrm>
          <a:prstGeom prst="rect">
            <a:avLst/>
          </a:prstGeom>
          <a:solidFill>
            <a:srgbClr val="F5F7FA"/>
          </a:solidFill>
          <a:ln w="12700">
            <a:solidFill>
              <a:srgbClr val="E8ECF0"/>
            </a:solidFill>
            <a:prstDash val="solid"/>
          </a:ln>
        </p:spPr>
      </p:sp>
      <p:sp>
        <p:nvSpPr>
          <p:cNvPr id="22" name="Shape 20"/>
          <p:cNvSpPr/>
          <p:nvPr/>
        </p:nvSpPr>
        <p:spPr>
          <a:xfrm>
            <a:off x="320040" y="3959352"/>
            <a:ext cx="109728" cy="768096"/>
          </a:xfrm>
          <a:prstGeom prst="rect">
            <a:avLst/>
          </a:prstGeom>
          <a:solidFill>
            <a:srgbClr val="6B7A8D"/>
          </a:solidFill>
          <a:ln w="12700">
            <a:solidFill>
              <a:srgbClr val="6B7A8D"/>
            </a:solidFill>
            <a:prstDash val="solid"/>
          </a:ln>
        </p:spPr>
      </p:sp>
      <p:sp>
        <p:nvSpPr>
          <p:cNvPr id="23" name="Text 21"/>
          <p:cNvSpPr/>
          <p:nvPr/>
        </p:nvSpPr>
        <p:spPr>
          <a:xfrm>
            <a:off x="521208" y="4005072"/>
            <a:ext cx="2286000" cy="274320"/>
          </a:xfrm>
          <a:prstGeom prst="rect">
            <a:avLst/>
          </a:prstGeom>
          <a:noFill/>
          <a:ln/>
        </p:spPr>
        <p:txBody>
          <a:bodyPr wrap="square" lIns="0" tIns="0" rIns="0" bIns="0" rtlCol="0" anchor="ctr"/>
          <a:lstStyle/>
          <a:p>
            <a:pPr indent="0" marL="0">
              <a:buNone/>
            </a:pPr>
            <a:r>
              <a:rPr lang="en-US" sz="1200" b="1" dirty="0">
                <a:solidFill>
                  <a:srgbClr val="6B7A8D"/>
                </a:solidFill>
                <a:latin typeface="Trebuchet MS" pitchFamily="34" charset="0"/>
                <a:ea typeface="Trebuchet MS" pitchFamily="34" charset="-122"/>
                <a:cs typeface="Trebuchet MS" pitchFamily="34" charset="-120"/>
              </a:rPr>
              <a:t>Disclaimer of Opinion</a:t>
            </a:r>
            <a:endParaRPr lang="en-US" sz="1200" dirty="0"/>
          </a:p>
        </p:txBody>
      </p:sp>
      <p:sp>
        <p:nvSpPr>
          <p:cNvPr id="24" name="Text 22"/>
          <p:cNvSpPr/>
          <p:nvPr/>
        </p:nvSpPr>
        <p:spPr>
          <a:xfrm>
            <a:off x="521208" y="4361688"/>
            <a:ext cx="7909560" cy="34747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Auditor unable to form opinion (e.g., scope limitation, insufficient evidence). Also a serious red flag. Analyst should treat as a major information risk.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914900"/>
            <a:ext cx="9144000" cy="228600"/>
          </a:xfrm>
          <a:prstGeom prst="rect">
            <a:avLst/>
          </a:prstGeom>
          <a:solidFill>
            <a:srgbClr val="E8600A"/>
          </a:solidFill>
          <a:ln w="12700">
            <a:solidFill>
              <a:srgbClr val="E8600A"/>
            </a:solidFill>
            <a:prstDash val="solid"/>
          </a:ln>
        </p:spPr>
      </p:sp>
      <p:sp>
        <p:nvSpPr>
          <p:cNvPr id="3" name="Text 1"/>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E8600A"/>
                </a:solidFill>
                <a:latin typeface="Trebuchet MS" pitchFamily="34" charset="0"/>
                <a:ea typeface="Trebuchet MS" pitchFamily="34" charset="-122"/>
                <a:cs typeface="Trebuchet MS" pitchFamily="34" charset="-120"/>
              </a:rPr>
              <a:t>SECTION 02</a:t>
            </a:r>
            <a:endParaRPr lang="en-US" sz="1200" dirty="0"/>
          </a:p>
        </p:txBody>
      </p:sp>
      <p:sp>
        <p:nvSpPr>
          <p:cNvPr id="4" name="Shape 2"/>
          <p:cNvSpPr/>
          <p:nvPr/>
        </p:nvSpPr>
        <p:spPr>
          <a:xfrm>
            <a:off x="3200400" y="1901952"/>
            <a:ext cx="2743200" cy="50292"/>
          </a:xfrm>
          <a:prstGeom prst="rect">
            <a:avLst/>
          </a:prstGeom>
          <a:solidFill>
            <a:srgbClr val="E8600A"/>
          </a:solidFill>
          <a:ln w="12700">
            <a:solidFill>
              <a:srgbClr val="E8600A"/>
            </a:solidFill>
            <a:prstDash val="solid"/>
          </a:ln>
        </p:spPr>
      </p:sp>
      <p:sp>
        <p:nvSpPr>
          <p:cNvPr id="5" name="Text 3"/>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Income Statement</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LM2)</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Income Statement Structure — From Revenue to EPS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income statement moves from top-line revenue to bottom-line net income through a series of deductions. Each line reveals a different profitability measure.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926080"/>
                <a:gridCol w="3291840"/>
                <a:gridCol w="2286000"/>
              </a:tblGrid>
              <a:tr h="0">
                <a:tc>
                  <a:txBody>
                    <a:bodyPr/>
                    <a:lstStyle/>
                    <a:p>
                      <a:pPr indent="0" marL="0">
                        <a:buNone/>
                      </a:pPr>
                      <a:r>
                        <a:rPr lang="en-US" sz="1100" b="1" dirty="0">
                          <a:solidFill>
                            <a:srgbClr val="FFFFFF"/>
                          </a:solidFill>
                        </a:rPr>
                        <a:t>Line Item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Meaning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Key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Revenue (Net Sales)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All goods/services sold, net of returns and discounts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Revenue growth rate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Cost of Goods Sold (COGS)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Direct production costs (materials, direct labour, manufacturing overhead)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Gross margin = Gross profit /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Gross Profit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Revenue − COGS. Measures production profitability.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Gross margin %</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Operating Expenses (SG&amp;A, R&amp;D, D&amp;A)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Overhead, selling, admin, depreciation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Operating income / Revenue = EBIT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EBIT (Operating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Earnings Before Interest and Tax. Core recurring business profit.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 margin %</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Interest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Cost of debt. Reduces pre-tax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Interest coverage = EBIT / Interest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EBT (Pre-Tax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EBIT minus interest. Subject to tax.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Pre-tax margin %</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Income Tax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Effective tax rate × EBT. Note: deferred vs current tax.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Effective tax rate %</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Net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Bottom line. Available to shareholders after all deductions.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Net margin % • ROE • EPS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Revenue Recognition — IFRS 15 / ASC 606 (CFA LM2)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Core principle: revenue should be recognised to depict the transfer of promised goods or services to customers</a:t>
            </a:r>
            <a:endParaRPr lang="en-US" sz="13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As of 2018, IFRS 15 and ASC 606 converged to a unified 5-step model (CFA LM2). This replaced many industry-specific rules.</a:t>
            </a:r>
            <a:endParaRPr lang="en-US" sz="1250" dirty="0"/>
          </a:p>
        </p:txBody>
      </p:sp>
      <p:sp>
        <p:nvSpPr>
          <p:cNvPr id="11" name="Shape 9"/>
          <p:cNvSpPr/>
          <p:nvPr/>
        </p:nvSpPr>
        <p:spPr>
          <a:xfrm>
            <a:off x="320040" y="2084832"/>
            <a:ext cx="8503920" cy="493776"/>
          </a:xfrm>
          <a:prstGeom prst="rect">
            <a:avLst/>
          </a:prstGeom>
          <a:solidFill>
            <a:srgbClr val="FFFFFF"/>
          </a:solidFill>
          <a:ln w="12700">
            <a:solidFill>
              <a:srgbClr val="E8ECF0"/>
            </a:solidFill>
            <a:prstDash val="solid"/>
          </a:ln>
        </p:spPr>
      </p:sp>
      <p:sp>
        <p:nvSpPr>
          <p:cNvPr id="12" name="Shape 10"/>
          <p:cNvSpPr/>
          <p:nvPr/>
        </p:nvSpPr>
        <p:spPr>
          <a:xfrm>
            <a:off x="320040" y="2084832"/>
            <a:ext cx="512064" cy="493776"/>
          </a:xfrm>
          <a:prstGeom prst="rect">
            <a:avLst/>
          </a:prstGeom>
          <a:solidFill>
            <a:srgbClr val="E8600A"/>
          </a:solidFill>
          <a:ln w="12700">
            <a:solidFill>
              <a:srgbClr val="E8600A"/>
            </a:solidFill>
            <a:prstDash val="solid"/>
          </a:ln>
        </p:spPr>
      </p:sp>
      <p:sp>
        <p:nvSpPr>
          <p:cNvPr id="13" name="Text 11"/>
          <p:cNvSpPr/>
          <p:nvPr/>
        </p:nvSpPr>
        <p:spPr>
          <a:xfrm>
            <a:off x="320040" y="2084832"/>
            <a:ext cx="512064"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 1</a:t>
            </a:r>
            <a:endParaRPr lang="en-US" sz="1100" dirty="0"/>
          </a:p>
        </p:txBody>
      </p:sp>
      <p:sp>
        <p:nvSpPr>
          <p:cNvPr id="14" name="Text 12"/>
          <p:cNvSpPr/>
          <p:nvPr/>
        </p:nvSpPr>
        <p:spPr>
          <a:xfrm>
            <a:off x="950976" y="2121408"/>
            <a:ext cx="2011680" cy="219456"/>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Identify the contract</a:t>
            </a:r>
            <a:endParaRPr lang="en-US" sz="1200" dirty="0"/>
          </a:p>
        </p:txBody>
      </p:sp>
      <p:sp>
        <p:nvSpPr>
          <p:cNvPr id="15" name="Text 13"/>
          <p:cNvSpPr/>
          <p:nvPr/>
        </p:nvSpPr>
        <p:spPr>
          <a:xfrm>
            <a:off x="950976" y="2359152"/>
            <a:ext cx="7790688" cy="20116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Written or verbal. Must have commercial substance, approval by both parties, and collection is probable.</a:t>
            </a:r>
            <a:endParaRPr lang="en-US" sz="1150" dirty="0"/>
          </a:p>
        </p:txBody>
      </p:sp>
      <p:sp>
        <p:nvSpPr>
          <p:cNvPr id="16" name="Shape 14"/>
          <p:cNvSpPr/>
          <p:nvPr/>
        </p:nvSpPr>
        <p:spPr>
          <a:xfrm>
            <a:off x="320040" y="2651760"/>
            <a:ext cx="8503920" cy="493776"/>
          </a:xfrm>
          <a:prstGeom prst="rect">
            <a:avLst/>
          </a:prstGeom>
          <a:solidFill>
            <a:srgbClr val="F5F7FA"/>
          </a:solidFill>
          <a:ln w="12700">
            <a:solidFill>
              <a:srgbClr val="E8ECF0"/>
            </a:solidFill>
            <a:prstDash val="solid"/>
          </a:ln>
        </p:spPr>
      </p:sp>
      <p:sp>
        <p:nvSpPr>
          <p:cNvPr id="17" name="Shape 15"/>
          <p:cNvSpPr/>
          <p:nvPr/>
        </p:nvSpPr>
        <p:spPr>
          <a:xfrm>
            <a:off x="320040" y="2651760"/>
            <a:ext cx="512064" cy="493776"/>
          </a:xfrm>
          <a:prstGeom prst="rect">
            <a:avLst/>
          </a:prstGeom>
          <a:solidFill>
            <a:srgbClr val="E8600A"/>
          </a:solidFill>
          <a:ln w="12700">
            <a:solidFill>
              <a:srgbClr val="E8600A"/>
            </a:solidFill>
            <a:prstDash val="solid"/>
          </a:ln>
        </p:spPr>
      </p:sp>
      <p:sp>
        <p:nvSpPr>
          <p:cNvPr id="18" name="Text 16"/>
          <p:cNvSpPr/>
          <p:nvPr/>
        </p:nvSpPr>
        <p:spPr>
          <a:xfrm>
            <a:off x="320040" y="2651760"/>
            <a:ext cx="512064"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 2</a:t>
            </a:r>
            <a:endParaRPr lang="en-US" sz="1100" dirty="0"/>
          </a:p>
        </p:txBody>
      </p:sp>
      <p:sp>
        <p:nvSpPr>
          <p:cNvPr id="19" name="Text 17"/>
          <p:cNvSpPr/>
          <p:nvPr/>
        </p:nvSpPr>
        <p:spPr>
          <a:xfrm>
            <a:off x="950976" y="2688336"/>
            <a:ext cx="2011680" cy="219456"/>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Identify performance obligations</a:t>
            </a:r>
            <a:endParaRPr lang="en-US" sz="1200" dirty="0"/>
          </a:p>
        </p:txBody>
      </p:sp>
      <p:sp>
        <p:nvSpPr>
          <p:cNvPr id="20" name="Text 18"/>
          <p:cNvSpPr/>
          <p:nvPr/>
        </p:nvSpPr>
        <p:spPr>
          <a:xfrm>
            <a:off x="950976" y="2926080"/>
            <a:ext cx="7790688" cy="20116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Distinct promises to transfer goods or services to the customer. A bundle may need to be broken into separate obligations.</a:t>
            </a:r>
            <a:endParaRPr lang="en-US" sz="1150" dirty="0"/>
          </a:p>
        </p:txBody>
      </p:sp>
      <p:sp>
        <p:nvSpPr>
          <p:cNvPr id="21" name="Shape 19"/>
          <p:cNvSpPr/>
          <p:nvPr/>
        </p:nvSpPr>
        <p:spPr>
          <a:xfrm>
            <a:off x="320040" y="3218688"/>
            <a:ext cx="8503920" cy="493776"/>
          </a:xfrm>
          <a:prstGeom prst="rect">
            <a:avLst/>
          </a:prstGeom>
          <a:solidFill>
            <a:srgbClr val="FFFFFF"/>
          </a:solidFill>
          <a:ln w="12700">
            <a:solidFill>
              <a:srgbClr val="E8ECF0"/>
            </a:solidFill>
            <a:prstDash val="solid"/>
          </a:ln>
        </p:spPr>
      </p:sp>
      <p:sp>
        <p:nvSpPr>
          <p:cNvPr id="22" name="Shape 20"/>
          <p:cNvSpPr/>
          <p:nvPr/>
        </p:nvSpPr>
        <p:spPr>
          <a:xfrm>
            <a:off x="320040" y="3218688"/>
            <a:ext cx="512064" cy="493776"/>
          </a:xfrm>
          <a:prstGeom prst="rect">
            <a:avLst/>
          </a:prstGeom>
          <a:solidFill>
            <a:srgbClr val="E8600A"/>
          </a:solidFill>
          <a:ln w="12700">
            <a:solidFill>
              <a:srgbClr val="E8600A"/>
            </a:solidFill>
            <a:prstDash val="solid"/>
          </a:ln>
        </p:spPr>
      </p:sp>
      <p:sp>
        <p:nvSpPr>
          <p:cNvPr id="23" name="Text 21"/>
          <p:cNvSpPr/>
          <p:nvPr/>
        </p:nvSpPr>
        <p:spPr>
          <a:xfrm>
            <a:off x="320040" y="3218688"/>
            <a:ext cx="512064"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 3</a:t>
            </a:r>
            <a:endParaRPr lang="en-US" sz="1100" dirty="0"/>
          </a:p>
        </p:txBody>
      </p:sp>
      <p:sp>
        <p:nvSpPr>
          <p:cNvPr id="24" name="Text 22"/>
          <p:cNvSpPr/>
          <p:nvPr/>
        </p:nvSpPr>
        <p:spPr>
          <a:xfrm>
            <a:off x="950976" y="3255264"/>
            <a:ext cx="2011680" cy="219456"/>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Determine transaction price</a:t>
            </a:r>
            <a:endParaRPr lang="en-US" sz="1200" dirty="0"/>
          </a:p>
        </p:txBody>
      </p:sp>
      <p:sp>
        <p:nvSpPr>
          <p:cNvPr id="25" name="Text 23"/>
          <p:cNvSpPr/>
          <p:nvPr/>
        </p:nvSpPr>
        <p:spPr>
          <a:xfrm>
            <a:off x="950976" y="3493008"/>
            <a:ext cx="7790688" cy="20116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Total consideration expected. Variable consideration (rebates, refunds) estimated at expected value or most likely amount.</a:t>
            </a:r>
            <a:endParaRPr lang="en-US" sz="1150" dirty="0"/>
          </a:p>
        </p:txBody>
      </p:sp>
      <p:sp>
        <p:nvSpPr>
          <p:cNvPr id="26" name="Shape 24"/>
          <p:cNvSpPr/>
          <p:nvPr/>
        </p:nvSpPr>
        <p:spPr>
          <a:xfrm>
            <a:off x="320040" y="3785616"/>
            <a:ext cx="8503920" cy="493776"/>
          </a:xfrm>
          <a:prstGeom prst="rect">
            <a:avLst/>
          </a:prstGeom>
          <a:solidFill>
            <a:srgbClr val="F5F7FA"/>
          </a:solidFill>
          <a:ln w="12700">
            <a:solidFill>
              <a:srgbClr val="E8ECF0"/>
            </a:solidFill>
            <a:prstDash val="solid"/>
          </a:ln>
        </p:spPr>
      </p:sp>
      <p:sp>
        <p:nvSpPr>
          <p:cNvPr id="27" name="Shape 25"/>
          <p:cNvSpPr/>
          <p:nvPr/>
        </p:nvSpPr>
        <p:spPr>
          <a:xfrm>
            <a:off x="320040" y="3785616"/>
            <a:ext cx="512064" cy="493776"/>
          </a:xfrm>
          <a:prstGeom prst="rect">
            <a:avLst/>
          </a:prstGeom>
          <a:solidFill>
            <a:srgbClr val="E8600A"/>
          </a:solidFill>
          <a:ln w="12700">
            <a:solidFill>
              <a:srgbClr val="E8600A"/>
            </a:solidFill>
            <a:prstDash val="solid"/>
          </a:ln>
        </p:spPr>
      </p:sp>
      <p:sp>
        <p:nvSpPr>
          <p:cNvPr id="28" name="Text 26"/>
          <p:cNvSpPr/>
          <p:nvPr/>
        </p:nvSpPr>
        <p:spPr>
          <a:xfrm>
            <a:off x="320040" y="3785616"/>
            <a:ext cx="512064"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 4</a:t>
            </a:r>
            <a:endParaRPr lang="en-US" sz="1100" dirty="0"/>
          </a:p>
        </p:txBody>
      </p:sp>
      <p:sp>
        <p:nvSpPr>
          <p:cNvPr id="29" name="Text 27"/>
          <p:cNvSpPr/>
          <p:nvPr/>
        </p:nvSpPr>
        <p:spPr>
          <a:xfrm>
            <a:off x="950976" y="3822192"/>
            <a:ext cx="2011680" cy="219456"/>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Allocate transaction price</a:t>
            </a:r>
            <a:endParaRPr lang="en-US" sz="1200" dirty="0"/>
          </a:p>
        </p:txBody>
      </p:sp>
      <p:sp>
        <p:nvSpPr>
          <p:cNvPr id="30" name="Text 28"/>
          <p:cNvSpPr/>
          <p:nvPr/>
        </p:nvSpPr>
        <p:spPr>
          <a:xfrm>
            <a:off x="950976" y="4059936"/>
            <a:ext cx="7790688" cy="20116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Allocate to each performance obligation based on relative STANDALONE selling prices. Not necessarily the contract price ratio.</a:t>
            </a:r>
            <a:endParaRPr lang="en-US" sz="1150" dirty="0"/>
          </a:p>
        </p:txBody>
      </p:sp>
      <p:sp>
        <p:nvSpPr>
          <p:cNvPr id="31" name="Shape 29"/>
          <p:cNvSpPr/>
          <p:nvPr/>
        </p:nvSpPr>
        <p:spPr>
          <a:xfrm>
            <a:off x="320040" y="4352544"/>
            <a:ext cx="8503920" cy="493776"/>
          </a:xfrm>
          <a:prstGeom prst="rect">
            <a:avLst/>
          </a:prstGeom>
          <a:solidFill>
            <a:srgbClr val="FFFFFF"/>
          </a:solidFill>
          <a:ln w="12700">
            <a:solidFill>
              <a:srgbClr val="E8ECF0"/>
            </a:solidFill>
            <a:prstDash val="solid"/>
          </a:ln>
        </p:spPr>
      </p:sp>
      <p:sp>
        <p:nvSpPr>
          <p:cNvPr id="32" name="Shape 30"/>
          <p:cNvSpPr/>
          <p:nvPr/>
        </p:nvSpPr>
        <p:spPr>
          <a:xfrm>
            <a:off x="320040" y="4352544"/>
            <a:ext cx="512064" cy="493776"/>
          </a:xfrm>
          <a:prstGeom prst="rect">
            <a:avLst/>
          </a:prstGeom>
          <a:solidFill>
            <a:srgbClr val="E8600A"/>
          </a:solidFill>
          <a:ln w="12700">
            <a:solidFill>
              <a:srgbClr val="E8600A"/>
            </a:solidFill>
            <a:prstDash val="solid"/>
          </a:ln>
        </p:spPr>
      </p:sp>
      <p:sp>
        <p:nvSpPr>
          <p:cNvPr id="33" name="Text 31"/>
          <p:cNvSpPr/>
          <p:nvPr/>
        </p:nvSpPr>
        <p:spPr>
          <a:xfrm>
            <a:off x="320040" y="4352544"/>
            <a:ext cx="512064"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 5</a:t>
            </a:r>
            <a:endParaRPr lang="en-US" sz="1100" dirty="0"/>
          </a:p>
        </p:txBody>
      </p:sp>
      <p:sp>
        <p:nvSpPr>
          <p:cNvPr id="34" name="Text 32"/>
          <p:cNvSpPr/>
          <p:nvPr/>
        </p:nvSpPr>
        <p:spPr>
          <a:xfrm>
            <a:off x="950976" y="4389120"/>
            <a:ext cx="2011680" cy="219456"/>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Recognise revenue</a:t>
            </a:r>
            <a:endParaRPr lang="en-US" sz="1200" dirty="0"/>
          </a:p>
        </p:txBody>
      </p:sp>
      <p:sp>
        <p:nvSpPr>
          <p:cNvPr id="35" name="Text 33"/>
          <p:cNvSpPr/>
          <p:nvPr/>
        </p:nvSpPr>
        <p:spPr>
          <a:xfrm>
            <a:off x="950976" y="4626864"/>
            <a:ext cx="7790688" cy="20116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When (or as) each performance obligation is SATISFIED — i.e., control transfers to the customer. Can be point-in-time or over time.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Revenue Recognition: Long-Term Contracts — CFA LM2 (AVI)</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Armored Vehicles Inc. (AVI) builds weapons systems on multi-year government contracts. Revenue is recognised over time as performance obligations are satisfied.</a:t>
            </a:r>
            <a:endParaRPr lang="en-US" sz="1250" dirty="0"/>
          </a:p>
        </p:txBody>
      </p:sp>
      <p:sp>
        <p:nvSpPr>
          <p:cNvPr id="9" name="Shape 7"/>
          <p:cNvSpPr/>
          <p:nvPr/>
        </p:nvSpPr>
        <p:spPr>
          <a:xfrm>
            <a:off x="320040" y="1261872"/>
            <a:ext cx="8503920" cy="2487168"/>
          </a:xfrm>
          <a:prstGeom prst="rect">
            <a:avLst/>
          </a:prstGeom>
          <a:solidFill>
            <a:srgbClr val="FEF0E7"/>
          </a:solidFill>
          <a:ln w="12700">
            <a:solidFill>
              <a:srgbClr val="E8600A"/>
            </a:solidFill>
            <a:prstDash val="solid"/>
          </a:ln>
        </p:spPr>
      </p:sp>
      <p:sp>
        <p:nvSpPr>
          <p:cNvPr id="10" name="Text 8"/>
          <p:cNvSpPr/>
          <p:nvPr/>
        </p:nvSpPr>
        <p:spPr>
          <a:xfrm>
            <a:off x="457200" y="1335024"/>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LM2 — ARMORED VEHICLES INC. (AVI) LONG-TERM CONTRACT</a:t>
            </a:r>
            <a:endParaRPr lang="en-US" sz="1100" dirty="0"/>
          </a:p>
        </p:txBody>
      </p:sp>
      <p:sp>
        <p:nvSpPr>
          <p:cNvPr id="11" name="Text 9"/>
          <p:cNvSpPr/>
          <p:nvPr/>
        </p:nvSpPr>
        <p:spPr>
          <a:xfrm>
            <a:off x="457200" y="1645920"/>
            <a:ext cx="8229600" cy="20116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Contract: USD 10 million total price. Expected total cost: USD 7 million. Expected profit: USD 3 million. Duration: 2 years.</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Year 1 actual: AVI incurs USD 4.2 million of costs = 60% of total estimated costs.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Revenue recognised Year 1 = 60% × USD 10m = USD 6 million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Profit recognised Year 1 = 60% × USD 3m = USD 1.8 million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Costs recognised Year 1 = USD 4.2 million</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Year 2: system completed. Actual total cumulative costs = USD 7.5 million (over budget by 0.5m).</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Revenue Year 2 = USD 10m − USD 6m = USD 4 million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Costs Year 2 = USD 7.5m − USD 4.2m = USD 3.3 million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Profit Year 2 = USD 4m − USD 3.3m = USD 0.7 million (cumulative profit = USD 2.5m, not 3m)</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Analyst lesson: for percentage-of-completion contracts, cost overruns REDUCE profit. Track progress and estimate-at-completion carefully.</a:t>
            </a:r>
            <a:endParaRPr lang="en-US" sz="1200" dirty="0"/>
          </a:p>
        </p:txBody>
      </p:sp>
      <p:sp>
        <p:nvSpPr>
          <p:cNvPr id="12" name="Text 10"/>
          <p:cNvSpPr/>
          <p:nvPr/>
        </p:nvSpPr>
        <p:spPr>
          <a:xfrm>
            <a:off x="320040" y="3858768"/>
            <a:ext cx="8503920" cy="384048"/>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CFA requires: performance obligation satisfied over time if customer simultaneously receives and consumes benefits, or if entity has right to payment for work completed to date.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Capitalisation vs Expensing — Impact on Financial Statements (CFA LM2)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Capitalise = put on balance sheet as asset, then amortise over time     Expense = charge immediately to income statement</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536192"/>
          <a:ext cx="8503920" cy="914400"/>
        </p:xfrm>
        <a:graphic>
          <a:graphicData uri="http://schemas.openxmlformats.org/drawingml/2006/table">
            <a:tbl>
              <a:tblPr/>
              <a:tblGrid>
                <a:gridCol w="1645920"/>
                <a:gridCol w="2011680"/>
                <a:gridCol w="2011680"/>
                <a:gridCol w="2834640"/>
              </a:tblGrid>
              <a:tr h="0">
                <a:tc>
                  <a:txBody>
                    <a:bodyPr/>
                    <a:lstStyle/>
                    <a:p>
                      <a:pPr indent="0" marL="0">
                        <a:buNone/>
                      </a:pPr>
                      <a:r>
                        <a:rPr lang="en-US" sz="1100" b="1" dirty="0">
                          <a:solidFill>
                            <a:srgbClr val="FFFFFF"/>
                          </a:solidFill>
                        </a:rPr>
                        <a:t>Impact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Capitalise in Year 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Expense in Year 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Long-Run Effect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Income statement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 NI (lower expense in year 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Lower NI (full expense year 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Cumulative NI same; timing differs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Balance sheet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assets, higher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 assets, lower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No permanent difference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CFO vs CFF</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Capitalised costs as CFI outflow (not CFO)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Expensed costs reduce CFO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CFO appears higher under capitalise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Earnings quality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 quality: delays expense recognition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quality: more conservative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Expense → more conservative accounting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840480"/>
            <a:ext cx="4187952" cy="138988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2" name="Shape 9"/>
          <p:cNvSpPr/>
          <p:nvPr/>
        </p:nvSpPr>
        <p:spPr>
          <a:xfrm>
            <a:off x="320040" y="3840480"/>
            <a:ext cx="91440" cy="1389888"/>
          </a:xfrm>
          <a:prstGeom prst="rect">
            <a:avLst/>
          </a:prstGeom>
          <a:solidFill>
            <a:srgbClr val="E8600A"/>
          </a:solidFill>
          <a:ln w="12700">
            <a:solidFill>
              <a:srgbClr val="E8600A"/>
            </a:solidFill>
            <a:prstDash val="solid"/>
          </a:ln>
        </p:spPr>
      </p:sp>
      <p:sp>
        <p:nvSpPr>
          <p:cNvPr id="13" name="Text 10"/>
          <p:cNvSpPr/>
          <p:nvPr/>
        </p:nvSpPr>
        <p:spPr>
          <a:xfrm>
            <a:off x="521208" y="393192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IFRS: Development Costs</a:t>
            </a:r>
            <a:endParaRPr lang="en-US" sz="1200" dirty="0"/>
          </a:p>
        </p:txBody>
      </p:sp>
      <p:sp>
        <p:nvSpPr>
          <p:cNvPr id="14" name="Text 11"/>
          <p:cNvSpPr/>
          <p:nvPr/>
        </p:nvSpPr>
        <p:spPr>
          <a:xfrm>
            <a:off x="521208" y="4297680"/>
            <a:ext cx="3840480" cy="8229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Under IFRS (IAS 38): capitalise if technical feasibility, intention to complete, ability to use/sell, and future economic benefits are all demonstrable.</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Research costs: always expense.</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US GAAP: expense all R&amp;D (except certain software development costs).</a:t>
            </a:r>
            <a:endParaRPr lang="en-US" sz="1150" dirty="0"/>
          </a:p>
        </p:txBody>
      </p:sp>
      <p:sp>
        <p:nvSpPr>
          <p:cNvPr id="15" name="Shape 12"/>
          <p:cNvSpPr/>
          <p:nvPr/>
        </p:nvSpPr>
        <p:spPr>
          <a:xfrm>
            <a:off x="4727448" y="3840480"/>
            <a:ext cx="4187952" cy="1389888"/>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6" name="Shape 13"/>
          <p:cNvSpPr/>
          <p:nvPr/>
        </p:nvSpPr>
        <p:spPr>
          <a:xfrm>
            <a:off x="4727448" y="3840480"/>
            <a:ext cx="91440" cy="1389888"/>
          </a:xfrm>
          <a:prstGeom prst="rect">
            <a:avLst/>
          </a:prstGeom>
          <a:solidFill>
            <a:srgbClr val="E8600A"/>
          </a:solidFill>
          <a:ln w="12700">
            <a:solidFill>
              <a:srgbClr val="E8600A"/>
            </a:solidFill>
            <a:prstDash val="solid"/>
          </a:ln>
        </p:spPr>
      </p:sp>
      <p:sp>
        <p:nvSpPr>
          <p:cNvPr id="17" name="Text 14"/>
          <p:cNvSpPr/>
          <p:nvPr/>
        </p:nvSpPr>
        <p:spPr>
          <a:xfrm>
            <a:off x="4928616" y="393192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Interest Capitalisation</a:t>
            </a:r>
            <a:endParaRPr lang="en-US" sz="1200" dirty="0"/>
          </a:p>
        </p:txBody>
      </p:sp>
      <p:sp>
        <p:nvSpPr>
          <p:cNvPr id="18" name="Text 15"/>
          <p:cNvSpPr/>
          <p:nvPr/>
        </p:nvSpPr>
        <p:spPr>
          <a:xfrm>
            <a:off x="4928616" y="4297680"/>
            <a:ext cx="3840480" cy="82296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Both IFRS and US GAAP allow (require under US GAAP) capitalisation of interest costs incurred while constructing long-lived assets.</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Capitalised interest increases asset cost and reduces interest expense on IS. Add back to get true interest burden.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Depreciation Methods — Impact on Reported Earnings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Depreciation method affects the TIMING of expense recognition but NOT the total amount. Total depreciation over the asset’s life is always the same.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011680"/>
                <a:gridCol w="2377440"/>
                <a:gridCol w="2926080"/>
                <a:gridCol w="1188720"/>
              </a:tblGrid>
              <a:tr h="0">
                <a:tc>
                  <a:txBody>
                    <a:bodyPr/>
                    <a:lstStyle/>
                    <a:p>
                      <a:pPr indent="0" marL="0">
                        <a:buNone/>
                      </a:pPr>
                      <a:r>
                        <a:rPr lang="en-US" sz="1100" b="1" dirty="0">
                          <a:solidFill>
                            <a:srgbClr val="FFFFFF"/>
                          </a:solidFill>
                        </a:rPr>
                        <a:t>Method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Description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Year 1 Expense (USD200k asset, 5yr, USD0 salvage)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Relative Pattern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Straight-line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Equal charge each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USD 40,000 per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Constant: 40k each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Double-declining balance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2/life × Book value (accelerated)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 × 200k = USD 80,000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early, lower later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Units of production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Expense per unit produced, varying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Depends on output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Follows production volume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Sum of years digits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Fractional: (n remaining)/(sum)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Year 1: 5/15 × 200k = USD 66,667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Accelerated, smoother than DDB</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584448"/>
            <a:ext cx="8503920" cy="1078992"/>
          </a:xfrm>
          <a:prstGeom prst="rect">
            <a:avLst/>
          </a:prstGeom>
          <a:solidFill>
            <a:srgbClr val="FEF0E7"/>
          </a:solidFill>
          <a:ln w="12700">
            <a:solidFill>
              <a:srgbClr val="E8600A"/>
            </a:solidFill>
            <a:prstDash val="solid"/>
          </a:ln>
        </p:spPr>
      </p:sp>
      <p:sp>
        <p:nvSpPr>
          <p:cNvPr id="11" name="Text 8"/>
          <p:cNvSpPr/>
          <p:nvPr/>
        </p:nvSpPr>
        <p:spPr>
          <a:xfrm>
            <a:off x="457200" y="365760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Analyst implications of depreciation policy</a:t>
            </a:r>
            <a:endParaRPr lang="en-US" sz="1100" dirty="0"/>
          </a:p>
        </p:txBody>
      </p:sp>
      <p:sp>
        <p:nvSpPr>
          <p:cNvPr id="12" name="Text 9"/>
          <p:cNvSpPr/>
          <p:nvPr/>
        </p:nvSpPr>
        <p:spPr>
          <a:xfrm>
            <a:off x="457200" y="3968496"/>
            <a:ext cx="8229600" cy="60350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Accelerated depreciation: lower reported NI early, lower taxes paid early (tax benefit from accelerated write-off). Creates deferred tax liability on balance sheet.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Analysts adjusting across companies: recalculate using consistent method. EBITDA strips out D&amp;A entirely to improve comparability.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Asset age analysis: accumulated depreciation / gross PP&amp;E = proportion of life used. High ratio = ageing asset base needing capex reinvestment.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Non-Recurring Items — Separating Sustainable from One-Off Earnings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41148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Analysts must distinguish RECURRING earnings (basis for valuation multiples) from ONE-OFF items (cannot be capitalised in DCF or P/E). CFA LM2 covers three types.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828800"/>
                <a:gridCol w="2286000"/>
                <a:gridCol w="2194560"/>
                <a:gridCol w="2194560"/>
              </a:tblGrid>
              <a:tr h="0">
                <a:tc>
                  <a:txBody>
                    <a:bodyPr/>
                    <a:lstStyle/>
                    <a:p>
                      <a:pPr indent="0" marL="0">
                        <a:buNone/>
                      </a:pPr>
                      <a:r>
                        <a:rPr lang="en-US" sz="1100" b="1" dirty="0">
                          <a:solidFill>
                            <a:srgbClr val="FFFFFF"/>
                          </a:solidFill>
                        </a:rPr>
                        <a:t>Item Type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Definition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Treatment on IS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Analyst Action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Unusual/infrequent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Items that are unusual in nature OR infrequent in occurrence. BUT still from continuing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Reported within continuing operations (above operating line or below). CFA: fire damage is unusual but still continuing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Add back to find normalised EBIT. Include in DCF as non-recurring.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Discontinued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 decision to dispose of or shut down an entire operating division.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Reported BELOW the line from continuing operations: ‘Income from discontinuedoperations, net of tax’.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Exclude from valuation of continuing business. Value separately.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Accounting policy changes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Change in method (e.g. FIFO to weighted average). Changes in estimate (e.g. useful life).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Retrospective application: restate ALL prior periods presented. Note disclosures.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Restate historical series. Verify rationale is reasonable.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Accounting error corrections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Prior period misstatements corrected in current period.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Restatement of prior period financials. Retained earnings adjusted.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Serious red flag for internal controls. Investigate cause.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Common-Size Income Statement — Margins &amp; Benchmarking</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 common-size IS expresses every line as a % of REVENUE. This removes the effect of size and enables direct comparison across companies and time periods.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1645920"/>
                <a:gridCol w="1371600"/>
                <a:gridCol w="1371600"/>
                <a:gridCol w="1645920"/>
                <a:gridCol w="3383280"/>
              </a:tblGrid>
              <a:tr h="0">
                <a:tc>
                  <a:txBody>
                    <a:bodyPr/>
                    <a:lstStyle/>
                    <a:p>
                      <a:pPr indent="0" marL="0">
                        <a:buNone/>
                      </a:pPr>
                      <a:r>
                        <a:rPr lang="en-US" sz="1100" b="1" dirty="0">
                          <a:solidFill>
                            <a:srgbClr val="FFFFFF"/>
                          </a:solidFill>
                        </a:rPr>
                        <a:t>Line Item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Company 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Company B</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Industry Avg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Interpretation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Anchor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COGS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72%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65%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 more efficient production. B’s GM only 28% vs 42% for 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Gross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 has pricing power or lower input costs. Investigate which.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SG&amp;A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B controls overhead better. A spends more on marketing/admin.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D&amp;A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 more capital-intensive. Check asset age and capex intensity.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Operating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 significantly more profitable at operating level.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Interest Expense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 more levered. Higher debt service eats into NI.</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Net Margin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A’s leverage advantage + operating margin = far better NI.</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Inventory Valuation Methods — FIFO, LIFO &amp; Weighted Average (CFA LM2)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choice of inventory cost method affects COGS, gross margin, net income, inventory on balance sheet and tax paid. CFA LM3 notes: LIFO prohibited under IFRS.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194560"/>
                <a:gridCol w="1828800"/>
                <a:gridCol w="1828800"/>
                <a:gridCol w="1280160"/>
                <a:gridCol w="1188720"/>
                <a:gridCol w="1097280"/>
              </a:tblGrid>
              <a:tr h="0">
                <a:tc>
                  <a:txBody>
                    <a:bodyPr/>
                    <a:lstStyle/>
                    <a:p>
                      <a:pPr indent="0" marL="0">
                        <a:buNone/>
                      </a:pPr>
                      <a:r>
                        <a:rPr lang="en-US" sz="1100" b="1" dirty="0">
                          <a:solidFill>
                            <a:srgbClr val="FFFFFF"/>
                          </a:solidFill>
                        </a:rPr>
                        <a:t>Method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COGS (Rising Prices)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Ending Inventory (BS)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Net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Tax 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Allowed Under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FIFO (First In, First Out)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Lower (older, cheaper units)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 (newer, costlier units)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Higher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IFRS and US GAAP</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LIFO (Last In, First Out)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Higher (newer, costlier units)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 (older, cheaper units)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Lower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US GAAP only — PROHIBITED under IFRS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Weighted Average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Between FIFO and LIFO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Between FIFO and LIFO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Between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Between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Both IFRS and US GAAP</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93008"/>
            <a:ext cx="8503920" cy="1481328"/>
          </a:xfrm>
          <a:prstGeom prst="rect">
            <a:avLst/>
          </a:prstGeom>
          <a:solidFill>
            <a:srgbClr val="FEF0E7"/>
          </a:solidFill>
          <a:ln w="12700">
            <a:solidFill>
              <a:srgbClr val="E8600A"/>
            </a:solidFill>
            <a:prstDash val="solid"/>
          </a:ln>
        </p:spPr>
      </p:sp>
      <p:sp>
        <p:nvSpPr>
          <p:cNvPr id="11" name="Text 8"/>
          <p:cNvSpPr/>
          <p:nvPr/>
        </p:nvSpPr>
        <p:spPr>
          <a:xfrm>
            <a:off x="457200" y="356616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LIFO Reserve — Adjusting US GAAP LIFO Companies to FIFO Comparability</a:t>
            </a:r>
            <a:endParaRPr lang="en-US" sz="1100" dirty="0"/>
          </a:p>
        </p:txBody>
      </p:sp>
      <p:sp>
        <p:nvSpPr>
          <p:cNvPr id="12" name="Text 9"/>
          <p:cNvSpPr/>
          <p:nvPr/>
        </p:nvSpPr>
        <p:spPr>
          <a:xfrm>
            <a:off x="457200" y="3877056"/>
            <a:ext cx="8229600" cy="100584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US companies using LIFO must disclose the LIFO Reserve: the difference between FIFO inventory value and LIFO inventory value.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To compare a LIFO firm to FIFO peers: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FIFO Inventory = LIFO Inventory + LIFO Reserve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FIFO COGS = LIFO COGS − Change in LIFO Reserve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FIFO Net Income = LIFO Net Income + Change in LIFO Reserve × (1 − tax rate)</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analyst note: in periods of RISING prices, LIFO understates inventory (balance sheet) and overstates COGS → lower NI → lower taxes. Adds a cash tax benefit but creates a balance sheet asset distortion.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Earnings Quality — Accruals and Red Flags for Analysts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High quality earnings are: (1) sustainable, (2) derived primarily from cash-generating operations, (3) not distorted by aggressive accounting choices.</a:t>
            </a:r>
            <a:endParaRPr lang="en-US" sz="130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Accruals = Net Income − CFO     High accruals relative to assets = lower earnings quality (Sloan accruals ratio)</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2029968"/>
          <a:ext cx="8503920" cy="914400"/>
        </p:xfrm>
        <a:graphic>
          <a:graphicData uri="http://schemas.openxmlformats.org/drawingml/2006/table">
            <a:tbl>
              <a:tblPr/>
              <a:tblGrid>
                <a:gridCol w="1828800"/>
                <a:gridCol w="2377440"/>
                <a:gridCol w="4297680"/>
              </a:tblGrid>
              <a:tr h="0">
                <a:tc>
                  <a:txBody>
                    <a:bodyPr/>
                    <a:lstStyle/>
                    <a:p>
                      <a:pPr indent="0" marL="0">
                        <a:buNone/>
                      </a:pPr>
                      <a:r>
                        <a:rPr lang="en-US" sz="1100" b="1" dirty="0">
                          <a:solidFill>
                            <a:srgbClr val="FFFFFF"/>
                          </a:solidFill>
                        </a:rPr>
                        <a:t>Red Flag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What It Suggests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How to Detect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Revenue growing faster than cash collections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Revenue recognition may be too aggressive. Building up fictitious or uncollectible 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AR / Revenue rising YoY. AR days (DSO) rising.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Gross margin expanding while revenue flat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Channel stuffing, bill-and-hold, or aggressive rev rec. Competitors not showing same trend.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Compare to peers; check channel inventory levels.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Frequent changes in accounting estimates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Stretching useful lives of PP&amp;E, lowering warranty provisions, reducing bad debt allowances.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Changes in notes; compare to industry norms.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Large deferred revenue declining rapidly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SaaS companies: customer churn rising, or pulling forward subscription revenue.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Track deferred revenue balance YoY.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Net income consistently exceeds CFO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If accruals are large and positive over multiple years, future write-downs likely.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Sloan ratio = (NI − CFO) / Avg Total Assets &gt; 5% = elevated risk.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Earnings Per Share</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LM2)</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Basic Earnings Per Share — Weighted Average Shares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Basic EPS  =  (Net Income − Preferred Dividends) / Weighted Average Shares Outstanding</a:t>
            </a:r>
            <a:endParaRPr lang="en-US" sz="15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Preferred dividends are deducted because they represent a prior claim on earnings before common shareholders. WASO weights shares by time outstanding.</a:t>
            </a:r>
            <a:endParaRPr lang="en-US" sz="1300" dirty="0"/>
          </a:p>
        </p:txBody>
      </p:sp>
      <p:sp>
        <p:nvSpPr>
          <p:cNvPr id="11" name="Shape 9"/>
          <p:cNvSpPr/>
          <p:nvPr/>
        </p:nvSpPr>
        <p:spPr>
          <a:xfrm>
            <a:off x="320040" y="2029968"/>
            <a:ext cx="8503920" cy="1920240"/>
          </a:xfrm>
          <a:prstGeom prst="rect">
            <a:avLst/>
          </a:prstGeom>
          <a:solidFill>
            <a:srgbClr val="FEF0E7"/>
          </a:solidFill>
          <a:ln w="12700">
            <a:solidFill>
              <a:srgbClr val="E8600A"/>
            </a:solidFill>
            <a:prstDash val="solid"/>
          </a:ln>
        </p:spPr>
      </p:sp>
      <p:sp>
        <p:nvSpPr>
          <p:cNvPr id="12" name="Text 10"/>
          <p:cNvSpPr/>
          <p:nvPr/>
        </p:nvSpPr>
        <p:spPr>
          <a:xfrm>
            <a:off x="457200" y="21031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EXAMPLE — Weighted Average Shares Calculation</a:t>
            </a:r>
            <a:endParaRPr lang="en-US" sz="1100" dirty="0"/>
          </a:p>
        </p:txBody>
      </p:sp>
      <p:sp>
        <p:nvSpPr>
          <p:cNvPr id="13" name="Text 11"/>
          <p:cNvSpPr/>
          <p:nvPr/>
        </p:nvSpPr>
        <p:spPr>
          <a:xfrm>
            <a:off x="457200" y="2414016"/>
            <a:ext cx="8229600" cy="144475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Company has 1,000,000 shares at 1 January. Issues 300,000 new shares on 1 April (outstanding for 9/12 of year). Repurchases 200,000 shares on 1 October (outstanding for 3/12).</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WASO = 1,000,000 × 12/12 + 300,000 × 9/12 − 200,000 × 3/12</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 1,000,000 + 225,000 − 50,000 = 1,175,000</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Net income = USD 5,875,000. No preferred dividends.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Basic EPS = 5,875,000 / 1,175,000 = USD 5.00 per share</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Stock dividends and stock splits: treated as if they occurred at the BEGINNING of the period. Retroactively adjust ALL prior periods shown. This preserves comparability.</a:t>
            </a:r>
            <a:endParaRPr lang="en-US" sz="1200" dirty="0"/>
          </a:p>
        </p:txBody>
      </p:sp>
      <p:sp>
        <p:nvSpPr>
          <p:cNvPr id="14" name="Shape 12"/>
          <p:cNvSpPr/>
          <p:nvPr/>
        </p:nvSpPr>
        <p:spPr>
          <a:xfrm>
            <a:off x="320040" y="4069080"/>
            <a:ext cx="4187952" cy="960120"/>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5" name="Shape 13"/>
          <p:cNvSpPr/>
          <p:nvPr/>
        </p:nvSpPr>
        <p:spPr>
          <a:xfrm>
            <a:off x="320040" y="4069080"/>
            <a:ext cx="91440" cy="960120"/>
          </a:xfrm>
          <a:prstGeom prst="rect">
            <a:avLst/>
          </a:prstGeom>
          <a:solidFill>
            <a:srgbClr val="E8600A"/>
          </a:solidFill>
          <a:ln w="12700">
            <a:solidFill>
              <a:srgbClr val="E8600A"/>
            </a:solidFill>
            <a:prstDash val="solid"/>
          </a:ln>
        </p:spPr>
      </p:sp>
      <p:sp>
        <p:nvSpPr>
          <p:cNvPr id="16" name="Text 14"/>
          <p:cNvSpPr/>
          <p:nvPr/>
        </p:nvSpPr>
        <p:spPr>
          <a:xfrm>
            <a:off x="521208" y="416052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CFA Practice Q7 (LM2)</a:t>
            </a:r>
            <a:endParaRPr lang="en-US" sz="1200" dirty="0"/>
          </a:p>
        </p:txBody>
      </p:sp>
      <p:sp>
        <p:nvSpPr>
          <p:cNvPr id="17" name="Text 15"/>
          <p:cNvSpPr/>
          <p:nvPr/>
        </p:nvSpPr>
        <p:spPr>
          <a:xfrm>
            <a:off x="521208" y="4526280"/>
            <a:ext cx="3840480" cy="393192"/>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Company has USD 1,000,000 net income. 1,050,000 WASO (adjusted for stock dividends). Basic EPS = 1,000,000 / 1,050,000 = USD 0.95. CFA answer: A.</a:t>
            </a:r>
            <a:endParaRPr lang="en-US" sz="1150" dirty="0"/>
          </a:p>
        </p:txBody>
      </p:sp>
      <p:sp>
        <p:nvSpPr>
          <p:cNvPr id="18" name="Shape 16"/>
          <p:cNvSpPr/>
          <p:nvPr/>
        </p:nvSpPr>
        <p:spPr>
          <a:xfrm>
            <a:off x="4727448" y="4069080"/>
            <a:ext cx="4187952" cy="960120"/>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9" name="Shape 17"/>
          <p:cNvSpPr/>
          <p:nvPr/>
        </p:nvSpPr>
        <p:spPr>
          <a:xfrm>
            <a:off x="4727448" y="4069080"/>
            <a:ext cx="91440" cy="960120"/>
          </a:xfrm>
          <a:prstGeom prst="rect">
            <a:avLst/>
          </a:prstGeom>
          <a:solidFill>
            <a:srgbClr val="E8600A"/>
          </a:solidFill>
          <a:ln w="12700">
            <a:solidFill>
              <a:srgbClr val="E8600A"/>
            </a:solidFill>
            <a:prstDash val="solid"/>
          </a:ln>
        </p:spPr>
      </p:sp>
      <p:sp>
        <p:nvSpPr>
          <p:cNvPr id="20" name="Text 18"/>
          <p:cNvSpPr/>
          <p:nvPr/>
        </p:nvSpPr>
        <p:spPr>
          <a:xfrm>
            <a:off x="4928616" y="4160520"/>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Simple vs Complex Structure</a:t>
            </a:r>
            <a:endParaRPr lang="en-US" sz="1200" dirty="0"/>
          </a:p>
        </p:txBody>
      </p:sp>
      <p:sp>
        <p:nvSpPr>
          <p:cNvPr id="21" name="Text 19"/>
          <p:cNvSpPr/>
          <p:nvPr/>
        </p:nvSpPr>
        <p:spPr>
          <a:xfrm>
            <a:off x="4928616" y="4526280"/>
            <a:ext cx="3840480" cy="393192"/>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Simple: only common stock. Basic = Diluted EPS. Complex: also has convertibles, options, warrants. Must compute BOTH basic and diluted EPS.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AB InBev EPS — CFA LM2 Exhibit 12</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LM2. Companies report BOTH basic and diluted EPS from continuing operations AND from total income.</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4572000"/>
                <a:gridCol w="1371600"/>
                <a:gridCol w="1371600"/>
                <a:gridCol w="1371600"/>
              </a:tblGrid>
              <a:tr h="0">
                <a:tc>
                  <a:txBody>
                    <a:bodyPr/>
                    <a:lstStyle/>
                    <a:p>
                      <a:pPr indent="0" marL="0">
                        <a:buNone/>
                      </a:pPr>
                      <a:r>
                        <a:rPr lang="en-US" sz="1100" b="1" dirty="0">
                          <a:solidFill>
                            <a:srgbClr val="FFFFFF"/>
                          </a:solidFill>
                        </a:rPr>
                        <a:t>AB InBev EPS (USD)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Basic EPS (total)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4.06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0.72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Diluted EPS (total)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3.98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0.71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4.96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Basic EPS from continuing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4.04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0.69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5.05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Diluted EPS from continuing operations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3.96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0.68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4.96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880360"/>
            <a:ext cx="8503920" cy="1810512"/>
          </a:xfrm>
          <a:prstGeom prst="rect">
            <a:avLst/>
          </a:prstGeom>
          <a:solidFill>
            <a:srgbClr val="FEF0E7"/>
          </a:solidFill>
          <a:ln w="12700">
            <a:solidFill>
              <a:srgbClr val="E8600A"/>
            </a:solidFill>
            <a:prstDash val="solid"/>
          </a:ln>
        </p:spPr>
      </p:sp>
      <p:sp>
        <p:nvSpPr>
          <p:cNvPr id="11" name="Text 8"/>
          <p:cNvSpPr/>
          <p:nvPr/>
        </p:nvSpPr>
        <p:spPr>
          <a:xfrm>
            <a:off x="457200" y="2953512"/>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LM2 Analysis of AB InBev EPS</a:t>
            </a:r>
            <a:endParaRPr lang="en-US" sz="1100" dirty="0"/>
          </a:p>
        </p:txBody>
      </p:sp>
      <p:sp>
        <p:nvSpPr>
          <p:cNvPr id="12" name="Text 9"/>
          <p:cNvSpPr/>
          <p:nvPr/>
        </p:nvSpPr>
        <p:spPr>
          <a:xfrm>
            <a:off x="457200" y="3264408"/>
            <a:ext cx="8229600" cy="133502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Key observation 1: 2017 basic EPS (4.06) &gt;&gt; 2016 (0.72). CFA asks analysts to investigate the CAUSE of the large increase.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Key observation 2: Diluted EPS (3.98) &lt; Basic EPS (4.06). The difference = dilution from potentially convertible instruments (options, warrants, convertible bonds). Dilution is always negative or zero.</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Key observation 3: 2015 basic EPS was 5.05, higher than 2017 (4.06). Despite revenue growth, 2017 EPS did not recover to 2015 level. Margins declined (as shown in profitability module).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Analyst task: reconcile changes to EPS with changes in net income AND share count.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Diluted EPS — Treasury Stock Method (CFA LM2 CWC)</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For options and warrants: use the treasury stock method. Assumes the company uses the proceeds to BUY BACK shares at the average market price.</a:t>
            </a:r>
            <a:endParaRPr lang="en-US" sz="130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Diluted EPS  =  (NI − Preferred Div) / (WASO + Net New Shares from Conversion)</a:t>
            </a:r>
            <a:endParaRPr lang="en-US" sz="1500" dirty="0"/>
          </a:p>
        </p:txBody>
      </p:sp>
      <p:sp>
        <p:nvSpPr>
          <p:cNvPr id="11" name="Shape 9"/>
          <p:cNvSpPr/>
          <p:nvPr/>
        </p:nvSpPr>
        <p:spPr>
          <a:xfrm>
            <a:off x="320040" y="2029968"/>
            <a:ext cx="8503920" cy="2212848"/>
          </a:xfrm>
          <a:prstGeom prst="rect">
            <a:avLst/>
          </a:prstGeom>
          <a:solidFill>
            <a:srgbClr val="FEF0E7"/>
          </a:solidFill>
          <a:ln w="12700">
            <a:solidFill>
              <a:srgbClr val="E8600A"/>
            </a:solidFill>
            <a:prstDash val="solid"/>
          </a:ln>
        </p:spPr>
      </p:sp>
      <p:sp>
        <p:nvSpPr>
          <p:cNvPr id="12" name="Text 10"/>
          <p:cNvSpPr/>
          <p:nvPr/>
        </p:nvSpPr>
        <p:spPr>
          <a:xfrm>
            <a:off x="457200" y="21031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LM2 CWC COMPANY — Treasury Stock Method (Practice Q10)</a:t>
            </a:r>
            <a:endParaRPr lang="en-US" sz="1100" dirty="0"/>
          </a:p>
        </p:txBody>
      </p:sp>
      <p:sp>
        <p:nvSpPr>
          <p:cNvPr id="13" name="Text 11"/>
          <p:cNvSpPr/>
          <p:nvPr/>
        </p:nvSpPr>
        <p:spPr>
          <a:xfrm>
            <a:off x="457200" y="2414016"/>
            <a:ext cx="8229600" cy="173736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Data: Net income = USD 12,000,000. Preferred dividends = USD 800,000. WASO = 2,000,000 shares.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Stock options: 100,000 options. Exercise price = USD 20. Average market price = USD 25.</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Step 1: Proceeds from option exercise = 100,000 × USD 20 = USD 2,000,000</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Step 2: Shares repurchased at market price = USD 2,000,000 / USD 25 = 80,000 shares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Step 3: Net new shares = 100,000 − 80,000 = 20,000 shares (these DILUTE existing holders)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Step 4: Diluted shares = 2,000,000 + 20,000 = 2,020,000</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Diluted EPS = (12,000,000 − 800,000) / 2,020,000 = 11,200,000 / 2,020,000 = USD 5.54</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answer: B is correct. Diluted EPS = USD 5.54 vs Basic EPS = (12m−800k)/2m = USD 5.60.</a:t>
            </a:r>
            <a:endParaRPr lang="en-US" sz="1200" dirty="0"/>
          </a:p>
        </p:txBody>
      </p:sp>
      <p:sp>
        <p:nvSpPr>
          <p:cNvPr id="14" name="Text 12"/>
          <p:cNvSpPr/>
          <p:nvPr/>
        </p:nvSpPr>
        <p:spPr>
          <a:xfrm>
            <a:off x="320040" y="4370832"/>
            <a:ext cx="8503920" cy="320040"/>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Anti-dilutive securities: if conversion RAISES EPS (exercise price &gt; market price for options), EXCLUDE from diluted EPS. Diluted EPS must always be ≤ basic EPS.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Diluted EPS — If-Converted Method (Bonds &amp; Preferred)</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For convertible bonds and convertible preferred shares: use the if-converted method. Assume all convertible instruments were converted at the START of the period.</a:t>
            </a:r>
            <a:endParaRPr lang="en-US" sz="1300" dirty="0"/>
          </a:p>
        </p:txBody>
      </p:sp>
      <p:sp>
        <p:nvSpPr>
          <p:cNvPr id="9" name="Shape 7"/>
          <p:cNvSpPr/>
          <p:nvPr/>
        </p:nvSpPr>
        <p:spPr>
          <a:xfrm>
            <a:off x="320040" y="1261872"/>
            <a:ext cx="8503920" cy="658368"/>
          </a:xfrm>
          <a:prstGeom prst="rect">
            <a:avLst/>
          </a:prstGeom>
          <a:solidFill>
            <a:srgbClr val="1B2A4A"/>
          </a:solidFill>
          <a:ln w="12700">
            <a:solidFill>
              <a:srgbClr val="1B2A4A"/>
            </a:solidFill>
            <a:prstDash val="solid"/>
          </a:ln>
        </p:spPr>
      </p:sp>
      <p:sp>
        <p:nvSpPr>
          <p:cNvPr id="10" name="Text 8"/>
          <p:cNvSpPr/>
          <p:nvPr/>
        </p:nvSpPr>
        <p:spPr>
          <a:xfrm>
            <a:off x="320040" y="1261872"/>
            <a:ext cx="850392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If-Converted: Add after-tax interest (bonds) or preferred dividends to numerator; add converted shares to denominator</a:t>
            </a:r>
            <a:endParaRPr lang="en-US" sz="1300" dirty="0"/>
          </a:p>
        </p:txBody>
      </p:sp>
      <p:sp>
        <p:nvSpPr>
          <p:cNvPr id="11" name="Shape 9"/>
          <p:cNvSpPr/>
          <p:nvPr/>
        </p:nvSpPr>
        <p:spPr>
          <a:xfrm>
            <a:off x="320040" y="2029968"/>
            <a:ext cx="8503920" cy="2148840"/>
          </a:xfrm>
          <a:prstGeom prst="rect">
            <a:avLst/>
          </a:prstGeom>
          <a:solidFill>
            <a:srgbClr val="FEF0E7"/>
          </a:solidFill>
          <a:ln w="12700">
            <a:solidFill>
              <a:srgbClr val="E8600A"/>
            </a:solidFill>
            <a:prstDash val="solid"/>
          </a:ln>
        </p:spPr>
      </p:sp>
      <p:sp>
        <p:nvSpPr>
          <p:cNvPr id="12" name="Text 10"/>
          <p:cNvSpPr/>
          <p:nvPr/>
        </p:nvSpPr>
        <p:spPr>
          <a:xfrm>
            <a:off x="457200" y="21031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EXAMPLE — Convertible Bond Diluted EPS</a:t>
            </a:r>
            <a:endParaRPr lang="en-US" sz="1100" dirty="0"/>
          </a:p>
        </p:txBody>
      </p:sp>
      <p:sp>
        <p:nvSpPr>
          <p:cNvPr id="13" name="Text 11"/>
          <p:cNvSpPr/>
          <p:nvPr/>
        </p:nvSpPr>
        <p:spPr>
          <a:xfrm>
            <a:off x="457200" y="2414016"/>
            <a:ext cx="8229600" cy="167335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Net income = USD 10,000,000. WASO = 5,000,000. No preferred dividends.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Convertible bond: USD 10 million principal at 5% interest. Each USD 1,000 bond converts to 50 shares = 500,000 new shares if converted.</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If-converted numerator: NI + after-tax interest saved = 10,000,000 + (10,000,000 × 5% × (1 − 30% tax)) = 10,000,000 + 350,000 = USD 10,350,000</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If-converted denominator: WASO + converted shares = 5,000,000 + 500,000 = 5,500,000</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Diluted EPS = 10,350,000 / 5,500,000 = USD 1.882 per share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Basic EPS = 10,000,000 / 5,000,000 = USD 2.000 per share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Dilution = USD 0.118 per share (5.9% dilution)</a:t>
            </a:r>
            <a:endParaRPr lang="en-US" sz="1200" dirty="0"/>
          </a:p>
          <a:p>
            <a:pPr indent="0" marL="0">
              <a:buNone/>
            </a:pP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CFA Practice Q9: Diluted EPS = Net income / (WASO + new shares) = 200,000,000 / 54,000,000 = USD 3.70</a:t>
            </a:r>
            <a:endParaRPr lang="en-US" sz="1200" dirty="0"/>
          </a:p>
        </p:txBody>
      </p:sp>
      <p:sp>
        <p:nvSpPr>
          <p:cNvPr id="14" name="Text 12"/>
          <p:cNvSpPr/>
          <p:nvPr/>
        </p:nvSpPr>
        <p:spPr>
          <a:xfrm>
            <a:off x="320040" y="4297680"/>
            <a:ext cx="8503920" cy="320040"/>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Convertible preferred: add preferred dividends back to numerator (no longer paid if converted); add converted shares to denominator.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914900"/>
            <a:ext cx="9144000" cy="228600"/>
          </a:xfrm>
          <a:prstGeom prst="rect">
            <a:avLst/>
          </a:prstGeom>
          <a:solidFill>
            <a:srgbClr val="E8600A"/>
          </a:solidFill>
          <a:ln w="12700">
            <a:solidFill>
              <a:srgbClr val="E8600A"/>
            </a:solidFill>
            <a:prstDash val="solid"/>
          </a:ln>
        </p:spPr>
      </p:sp>
      <p:sp>
        <p:nvSpPr>
          <p:cNvPr id="3" name="Text 1"/>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E8600A"/>
                </a:solidFill>
                <a:latin typeface="Trebuchet MS" pitchFamily="34" charset="0"/>
                <a:ea typeface="Trebuchet MS" pitchFamily="34" charset="-122"/>
                <a:cs typeface="Trebuchet MS" pitchFamily="34" charset="-120"/>
              </a:rPr>
              <a:t>SECTION 04</a:t>
            </a:r>
            <a:endParaRPr lang="en-US" sz="1200" dirty="0"/>
          </a:p>
        </p:txBody>
      </p:sp>
      <p:sp>
        <p:nvSpPr>
          <p:cNvPr id="4" name="Shape 2"/>
          <p:cNvSpPr/>
          <p:nvPr/>
        </p:nvSpPr>
        <p:spPr>
          <a:xfrm>
            <a:off x="3200400" y="1901952"/>
            <a:ext cx="2743200" cy="50292"/>
          </a:xfrm>
          <a:prstGeom prst="rect">
            <a:avLst/>
          </a:prstGeom>
          <a:solidFill>
            <a:srgbClr val="E8600A"/>
          </a:solidFill>
          <a:ln w="12700">
            <a:solidFill>
              <a:srgbClr val="E8600A"/>
            </a:solidFill>
            <a:prstDash val="solid"/>
          </a:ln>
        </p:spPr>
      </p:sp>
      <p:sp>
        <p:nvSpPr>
          <p:cNvPr id="5" name="Text 3"/>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Balance Sheet</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(CFA LM3)</a:t>
            </a:r>
            <a:endParaRPr 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Balance Sheet Structure — The Accounting Equation</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Assets  =  Liabilities  +  Shareholders’ Equity     (at a SPECIFIC POINT IN TIME)</a:t>
            </a:r>
            <a:endParaRPr lang="en-US" sz="1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1536192"/>
          <a:ext cx="8503920" cy="914400"/>
        </p:xfrm>
        <a:graphic>
          <a:graphicData uri="http://schemas.openxmlformats.org/drawingml/2006/table">
            <a:tbl>
              <a:tblPr/>
              <a:tblGrid>
                <a:gridCol w="1737360"/>
                <a:gridCol w="2468880"/>
                <a:gridCol w="1645920"/>
                <a:gridCol w="2651760"/>
              </a:tblGrid>
              <a:tr h="0">
                <a:tc>
                  <a:txBody>
                    <a:bodyPr/>
                    <a:lstStyle/>
                    <a:p>
                      <a:pPr indent="0" marL="0">
                        <a:buNone/>
                      </a:pPr>
                      <a:r>
                        <a:rPr lang="en-US" sz="1100" b="1" dirty="0">
                          <a:solidFill>
                            <a:srgbClr val="FFFFFF"/>
                          </a:solidFill>
                        </a:rPr>
                        <a:t>Category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Contents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Measurement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Key Analyst Focus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Current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Cash, marketable securities, AR, inventory, prepaid exp. Convert to cash within 1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Generally at fair value or lower of cost/NRV</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Liquidity, working capital management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Non-Current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PP&amp;E, intangibles, goodwill, long-term investments, deferred tax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Historical cost less accumulated depreciation/impairment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Capex intensity, goodwill impairment risk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Accounts payable, short-term debt, accruals, deferred revenue due within 1 year.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Carrying value (usually face value)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Near-term refinancing risk, payables management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Non-Current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Long-term debt, pension obligations, deferred tax liabilities, lease obligations.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Amortised cost or fair value depending on type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Capital structure, interest coverage, debt maturity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Shareholders’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Share capital + Retained earnings + AOCI + Treasury stock.</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Book value (historical)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Book value per share, ROE drivers, buybacks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Intangible Assets &amp; Goodwill — CFA LM3</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CFA LM3: intangible assets are non-physical assets that generate future economic benefits. They are increasingly important for technology and pharmaceutical companies.</a:t>
            </a:r>
            <a:endParaRPr lang="en-US" sz="1300" dirty="0"/>
          </a:p>
        </p:txBody>
      </p:sp>
      <p:sp>
        <p:nvSpPr>
          <p:cNvPr id="9" name="Shape 7"/>
          <p:cNvSpPr/>
          <p:nvPr/>
        </p:nvSpPr>
        <p:spPr>
          <a:xfrm>
            <a:off x="320040" y="1298448"/>
            <a:ext cx="4187952" cy="272491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0" name="Shape 8"/>
          <p:cNvSpPr/>
          <p:nvPr/>
        </p:nvSpPr>
        <p:spPr>
          <a:xfrm>
            <a:off x="320040" y="1298448"/>
            <a:ext cx="91440" cy="2724912"/>
          </a:xfrm>
          <a:prstGeom prst="rect">
            <a:avLst/>
          </a:prstGeom>
          <a:solidFill>
            <a:srgbClr val="E8600A"/>
          </a:solidFill>
          <a:ln w="12700">
            <a:solidFill>
              <a:srgbClr val="E8600A"/>
            </a:solidFill>
            <a:prstDash val="solid"/>
          </a:ln>
        </p:spPr>
      </p:sp>
      <p:sp>
        <p:nvSpPr>
          <p:cNvPr id="11" name="Text 9"/>
          <p:cNvSpPr/>
          <p:nvPr/>
        </p:nvSpPr>
        <p:spPr>
          <a:xfrm>
            <a:off x="521208" y="138988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Identifiable Intangibles</a:t>
            </a:r>
            <a:endParaRPr lang="en-US" sz="1200" dirty="0"/>
          </a:p>
        </p:txBody>
      </p:sp>
      <p:sp>
        <p:nvSpPr>
          <p:cNvPr id="12" name="Text 10"/>
          <p:cNvSpPr/>
          <p:nvPr/>
        </p:nvSpPr>
        <p:spPr>
          <a:xfrm>
            <a:off x="521208" y="1755648"/>
            <a:ext cx="3840480" cy="215798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Separately identifiable and can be sold independently.</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Examples: patents, trademarks, brand names, customer lists, software, licences, franchises.</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IFRS (IAS 38): capitalise if probable future benefits + reliable cost measurement.</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US GAAP: most internally generated intangibles EXPENSED. Only acquired intangibles (via purchase) capitalised.</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Amortised over useful life (finite). No amortisation if indefinite life (tested for impairment annually).</a:t>
            </a:r>
            <a:endParaRPr lang="en-US" sz="1150" dirty="0"/>
          </a:p>
        </p:txBody>
      </p:sp>
      <p:sp>
        <p:nvSpPr>
          <p:cNvPr id="13" name="Shape 11"/>
          <p:cNvSpPr/>
          <p:nvPr/>
        </p:nvSpPr>
        <p:spPr>
          <a:xfrm>
            <a:off x="4727448" y="1298448"/>
            <a:ext cx="4187952" cy="272491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4" name="Shape 12"/>
          <p:cNvSpPr/>
          <p:nvPr/>
        </p:nvSpPr>
        <p:spPr>
          <a:xfrm>
            <a:off x="4727448" y="1298448"/>
            <a:ext cx="91440" cy="2724912"/>
          </a:xfrm>
          <a:prstGeom prst="rect">
            <a:avLst/>
          </a:prstGeom>
          <a:solidFill>
            <a:srgbClr val="E8600A"/>
          </a:solidFill>
          <a:ln w="12700">
            <a:solidFill>
              <a:srgbClr val="E8600A"/>
            </a:solidFill>
            <a:prstDash val="solid"/>
          </a:ln>
        </p:spPr>
      </p:sp>
      <p:sp>
        <p:nvSpPr>
          <p:cNvPr id="15" name="Text 13"/>
          <p:cNvSpPr/>
          <p:nvPr/>
        </p:nvSpPr>
        <p:spPr>
          <a:xfrm>
            <a:off x="4928616" y="138988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Goodwill</a:t>
            </a:r>
            <a:endParaRPr lang="en-US" sz="1200" dirty="0"/>
          </a:p>
        </p:txBody>
      </p:sp>
      <p:sp>
        <p:nvSpPr>
          <p:cNvPr id="16" name="Text 14"/>
          <p:cNvSpPr/>
          <p:nvPr/>
        </p:nvSpPr>
        <p:spPr>
          <a:xfrm>
            <a:off x="4928616" y="1755648"/>
            <a:ext cx="3840480" cy="215798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ONLY arises from an ACQUISITION.</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Goodwill = Purchase price − Fair value of net identifiable assets acquired.</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Reflects: synergies, brand premium, customer relationships not separately identifiable.</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CFA LM3 Practice Q2: goodwill is affected by the acquisition PURCHASE PRICE, not the acquired company’s book value.</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NOT amortised (under IFRS and US GAAP). Tested for impairment annually. Large goodwill write-offs signal M&amp;A value destruction.</a:t>
            </a:r>
            <a:endParaRPr lang="en-US" sz="1150" dirty="0"/>
          </a:p>
        </p:txBody>
      </p:sp>
      <p:sp>
        <p:nvSpPr>
          <p:cNvPr id="17" name="Text 15"/>
          <p:cNvSpPr/>
          <p:nvPr/>
        </p:nvSpPr>
        <p:spPr>
          <a:xfrm>
            <a:off x="320040" y="4160520"/>
            <a:ext cx="8503920" cy="384048"/>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Microsoft’s goodwill = 14.6% of total assets (CFA LM3 Example 1). Apple’s goodwill = only 1.5% — Apple grew organically, Microsoft via acquisitions (Nokia, LinkedIn, Activision etc.).</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Financial Instruments — Three Classifications (CFA LM3)</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How a financial asset is CLASSIFIED determines how it appears on the balance sheet and income statement. CFA LM3 tests all three categories.</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011680"/>
                <a:gridCol w="1463040"/>
                <a:gridCol w="1828800"/>
                <a:gridCol w="1828800"/>
                <a:gridCol w="2286000"/>
              </a:tblGrid>
              <a:tr h="0">
                <a:tc>
                  <a:txBody>
                    <a:bodyPr/>
                    <a:lstStyle/>
                    <a:p>
                      <a:pPr indent="0" marL="0">
                        <a:buNone/>
                      </a:pPr>
                      <a:r>
                        <a:rPr lang="en-US" sz="1100" b="1" dirty="0">
                          <a:solidFill>
                            <a:srgbClr val="FFFFFF"/>
                          </a:solidFill>
                        </a:rPr>
                        <a:t>Classification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Held For?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Balance Sheet Measurement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Unrealised Gains/Losses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CFA Answer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Trading Securities (FVTPL)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Short-term profit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Fair value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Income statement → retained earnings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CFA LM3 Q3: answer B (flow through income)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Available-for-Sale (AFS/FVOCI)</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Neither trading nor HTM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Fair value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OCI → Accumulated OCI in equity (NOT IS)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CFA LM3 Q4: answer C (AOCI in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Held-to-Maturity (HTM)</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Hold to maturity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Amortised cost (no fair value changes)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Not recognised (realised only)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CFA LM3 Q5: answer A (not recognised)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01568"/>
            <a:ext cx="8503920" cy="1261872"/>
          </a:xfrm>
          <a:prstGeom prst="rect">
            <a:avLst/>
          </a:prstGeom>
          <a:solidFill>
            <a:srgbClr val="FEF0E7"/>
          </a:solidFill>
          <a:ln w="12700">
            <a:solidFill>
              <a:srgbClr val="E8600A"/>
            </a:solidFill>
            <a:prstDash val="solid"/>
          </a:ln>
        </p:spPr>
      </p:sp>
      <p:sp>
        <p:nvSpPr>
          <p:cNvPr id="11" name="Text 8"/>
          <p:cNvSpPr/>
          <p:nvPr/>
        </p:nvSpPr>
        <p:spPr>
          <a:xfrm>
            <a:off x="457200" y="3474720"/>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Why classification matters to analysts</a:t>
            </a:r>
            <a:endParaRPr lang="en-US" sz="1100" dirty="0"/>
          </a:p>
        </p:txBody>
      </p:sp>
      <p:sp>
        <p:nvSpPr>
          <p:cNvPr id="12" name="Text 9"/>
          <p:cNvSpPr/>
          <p:nvPr/>
        </p:nvSpPr>
        <p:spPr>
          <a:xfrm>
            <a:off x="457200" y="3785616"/>
            <a:ext cx="8229600" cy="786384"/>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Trading securities: fair value moves create income volatility. Good for mark-to-market transparency but may mask underlying business performance.</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AFS securities: fair value moves bypass IS. Equity can be volatile without NI being affected. Watch AOCI for hidden losses.</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HTM: insulates NI and equity from market moves. But only valid if company genuinely intends and is able to hold to maturity. Reclassification is rare and restricted.</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Deferred Taxes — When Tax and Accounting Diverge (CFA LM3)</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658368"/>
          </a:xfrm>
          <a:prstGeom prst="rect">
            <a:avLst/>
          </a:prstGeom>
          <a:solidFill>
            <a:srgbClr val="1B2A4A"/>
          </a:solidFill>
          <a:ln w="12700">
            <a:solidFill>
              <a:srgbClr val="1B2A4A"/>
            </a:solidFill>
            <a:prstDash val="solid"/>
          </a:ln>
        </p:spPr>
      </p:sp>
      <p:sp>
        <p:nvSpPr>
          <p:cNvPr id="9" name="Text 7"/>
          <p:cNvSpPr/>
          <p:nvPr/>
        </p:nvSpPr>
        <p:spPr>
          <a:xfrm>
            <a:off x="320040" y="777240"/>
            <a:ext cx="850392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Temporary difference = taxable income ≠ accounting income. Creates deferred tax asset or liability.</a:t>
            </a:r>
            <a:endParaRPr lang="en-US" sz="1400" dirty="0"/>
          </a:p>
        </p:txBody>
      </p:sp>
      <p:sp>
        <p:nvSpPr>
          <p:cNvPr id="10" name="Text 8"/>
          <p:cNvSpPr/>
          <p:nvPr/>
        </p:nvSpPr>
        <p:spPr>
          <a:xfrm>
            <a:off x="320040" y="1554480"/>
            <a:ext cx="850392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Deferred tax arises because tax authorities allow different timing of income/deductions vs GAAP/IFRS. NOT a permanent difference — it will reverse.</a:t>
            </a:r>
            <a:endParaRPr lang="en-US" sz="1300" dirty="0"/>
          </a:p>
        </p:txBody>
      </p:sp>
      <p:sp>
        <p:nvSpPr>
          <p:cNvPr id="11" name="Shape 9"/>
          <p:cNvSpPr/>
          <p:nvPr/>
        </p:nvSpPr>
        <p:spPr>
          <a:xfrm>
            <a:off x="320040" y="2029968"/>
            <a:ext cx="4187952" cy="208483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2" name="Shape 10"/>
          <p:cNvSpPr/>
          <p:nvPr/>
        </p:nvSpPr>
        <p:spPr>
          <a:xfrm>
            <a:off x="320040" y="2029968"/>
            <a:ext cx="91440" cy="2084832"/>
          </a:xfrm>
          <a:prstGeom prst="rect">
            <a:avLst/>
          </a:prstGeom>
          <a:solidFill>
            <a:srgbClr val="E8600A"/>
          </a:solidFill>
          <a:ln w="12700">
            <a:solidFill>
              <a:srgbClr val="E8600A"/>
            </a:solidFill>
            <a:prstDash val="solid"/>
          </a:ln>
        </p:spPr>
      </p:sp>
      <p:sp>
        <p:nvSpPr>
          <p:cNvPr id="13" name="Text 11"/>
          <p:cNvSpPr/>
          <p:nvPr/>
        </p:nvSpPr>
        <p:spPr>
          <a:xfrm>
            <a:off x="521208" y="212140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Deferred Tax Liability (DTL)</a:t>
            </a:r>
            <a:endParaRPr lang="en-US" sz="1200" dirty="0"/>
          </a:p>
        </p:txBody>
      </p:sp>
      <p:sp>
        <p:nvSpPr>
          <p:cNvPr id="14" name="Text 12"/>
          <p:cNvSpPr/>
          <p:nvPr/>
        </p:nvSpPr>
        <p:spPr>
          <a:xfrm>
            <a:off x="521208" y="2487168"/>
            <a:ext cx="3840480" cy="151790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Taxable income &lt; Accounting income now.</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Taxes payable now &lt; Tax expense now.</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Difference = DTL (owe more tax in future).</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Common cause: accelerated depreciation for tax (larger deductions now) but straight-line on accounts.</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SAP balance sheet shows EUR 240m of DTL.</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Apple: USD 31,504m in DTL (within other non-current liabilities).</a:t>
            </a:r>
            <a:endParaRPr lang="en-US" sz="1150" dirty="0"/>
          </a:p>
        </p:txBody>
      </p:sp>
      <p:sp>
        <p:nvSpPr>
          <p:cNvPr id="15" name="Shape 13"/>
          <p:cNvSpPr/>
          <p:nvPr/>
        </p:nvSpPr>
        <p:spPr>
          <a:xfrm>
            <a:off x="4727448" y="2029968"/>
            <a:ext cx="4187952" cy="2084832"/>
          </a:xfrm>
          <a:prstGeom prst="rect">
            <a:avLst/>
          </a:prstGeom>
          <a:solidFill>
            <a:srgbClr val="FFFFFF"/>
          </a:solidFill>
          <a:ln w="12700">
            <a:solidFill>
              <a:srgbClr val="E8ECF0"/>
            </a:solidFill>
            <a:prstDash val="solid"/>
          </a:ln>
          <a:effectLst>
            <a:outerShdw sx="100000" sy="100000" kx="0" ky="0" algn="bl" rotWithShape="0" blurRad="88900" dist="25400" dir="8100000">
              <a:srgbClr val="000000">
                <a:alpha val="9000"/>
              </a:srgbClr>
            </a:outerShdw>
          </a:effectLst>
        </p:spPr>
      </p:sp>
      <p:sp>
        <p:nvSpPr>
          <p:cNvPr id="16" name="Shape 14"/>
          <p:cNvSpPr/>
          <p:nvPr/>
        </p:nvSpPr>
        <p:spPr>
          <a:xfrm>
            <a:off x="4727448" y="2029968"/>
            <a:ext cx="91440" cy="2084832"/>
          </a:xfrm>
          <a:prstGeom prst="rect">
            <a:avLst/>
          </a:prstGeom>
          <a:solidFill>
            <a:srgbClr val="E8600A"/>
          </a:solidFill>
          <a:ln w="12700">
            <a:solidFill>
              <a:srgbClr val="E8600A"/>
            </a:solidFill>
            <a:prstDash val="solid"/>
          </a:ln>
        </p:spPr>
      </p:sp>
      <p:sp>
        <p:nvSpPr>
          <p:cNvPr id="17" name="Text 15"/>
          <p:cNvSpPr/>
          <p:nvPr/>
        </p:nvSpPr>
        <p:spPr>
          <a:xfrm>
            <a:off x="4928616" y="2121408"/>
            <a:ext cx="3840480" cy="329184"/>
          </a:xfrm>
          <a:prstGeom prst="rect">
            <a:avLst/>
          </a:prstGeom>
          <a:noFill/>
          <a:ln/>
        </p:spPr>
        <p:txBody>
          <a:bodyPr wrap="square" lIns="0" tIns="0" rIns="0" bIns="0" rtlCol="0" anchor="ctr"/>
          <a:lstStyle/>
          <a:p>
            <a:pPr indent="0" marL="0">
              <a:buNone/>
            </a:pPr>
            <a:r>
              <a:rPr lang="en-US" sz="1200" b="1" dirty="0">
                <a:solidFill>
                  <a:srgbClr val="1B2A4A"/>
                </a:solidFill>
                <a:latin typeface="Trebuchet MS" pitchFamily="34" charset="0"/>
                <a:ea typeface="Trebuchet MS" pitchFamily="34" charset="-122"/>
                <a:cs typeface="Trebuchet MS" pitchFamily="34" charset="-120"/>
              </a:rPr>
              <a:t>Deferred Tax Asset (DTA)</a:t>
            </a:r>
            <a:endParaRPr lang="en-US" sz="1200" dirty="0"/>
          </a:p>
        </p:txBody>
      </p:sp>
      <p:sp>
        <p:nvSpPr>
          <p:cNvPr id="18" name="Text 16"/>
          <p:cNvSpPr/>
          <p:nvPr/>
        </p:nvSpPr>
        <p:spPr>
          <a:xfrm>
            <a:off x="4928616" y="2487168"/>
            <a:ext cx="3840480" cy="1517904"/>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Taxable income &gt; Accounting income now.</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Taxes payable now &gt; Tax expense now.</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Difference = DTA (prepaid taxes).</a:t>
            </a:r>
            <a:endParaRPr lang="en-US" sz="1150" dirty="0"/>
          </a:p>
          <a:p>
            <a:pPr indent="0" marL="0">
              <a:buNone/>
            </a:pP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Common causes: warranty provisions, unearned revenue recognised early for tax, carry-forward losses.</a:t>
            </a:r>
            <a:endParaRPr lang="en-US" sz="1150" dirty="0"/>
          </a:p>
          <a:p>
            <a:pPr indent="0" marL="0">
              <a:buNone/>
            </a:pPr>
            <a:r>
              <a:rPr lang="en-US" sz="1150" dirty="0">
                <a:solidFill>
                  <a:srgbClr val="334155"/>
                </a:solidFill>
                <a:latin typeface="Calibri" pitchFamily="34" charset="0"/>
                <a:ea typeface="Calibri" pitchFamily="34" charset="-122"/>
                <a:cs typeface="Calibri" pitchFamily="34" charset="-120"/>
              </a:rPr>
              <a:t>DTA only recognised if it is PROBABLE the company will have future taxable income to use it against. Impaired if not.</a:t>
            </a:r>
            <a:endParaRPr lang="en-US" sz="1150" dirty="0"/>
          </a:p>
        </p:txBody>
      </p:sp>
      <p:sp>
        <p:nvSpPr>
          <p:cNvPr id="19" name="Text 17"/>
          <p:cNvSpPr/>
          <p:nvPr/>
        </p:nvSpPr>
        <p:spPr>
          <a:xfrm>
            <a:off x="320040" y="4251960"/>
            <a:ext cx="8503920" cy="347472"/>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Effective tax rate vs statutory rate: differences explained by permanent differences (tax-exempt income, non-deductible expenses), tax credits, and deferred tax changes.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600A"/>
        </a:solidFill>
      </p:bgPr>
    </p:bg>
    <p:spTree>
      <p:nvGrpSpPr>
        <p:cNvPr id="1" name=""/>
        <p:cNvGrpSpPr/>
        <p:nvPr/>
      </p:nvGrpSpPr>
      <p:grpSpPr>
        <a:xfrm>
          <a:off x="0" y="0"/>
          <a:ext cx="0" cy="0"/>
          <a:chOff x="0" y="0"/>
          <a:chExt cx="0" cy="0"/>
        </a:xfrm>
      </p:grpSpPr>
      <p:sp>
        <p:nvSpPr>
          <p:cNvPr id="2" name="Text 0"/>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3" name="Shape 1"/>
          <p:cNvSpPr/>
          <p:nvPr/>
        </p:nvSpPr>
        <p:spPr>
          <a:xfrm>
            <a:off x="3200400" y="1901952"/>
            <a:ext cx="2743200" cy="50292"/>
          </a:xfrm>
          <a:prstGeom prst="rect">
            <a:avLst/>
          </a:prstGeom>
          <a:solidFill>
            <a:srgbClr val="FFFFFF"/>
          </a:solidFill>
          <a:ln w="12700">
            <a:solidFill>
              <a:srgbClr val="FFFFFF"/>
            </a:solidFill>
            <a:prstDash val="solid"/>
          </a:ln>
        </p:spPr>
      </p:sp>
      <p:sp>
        <p:nvSpPr>
          <p:cNvPr id="4" name="Text 2"/>
          <p:cNvSpPr/>
          <p:nvPr/>
        </p:nvSpPr>
        <p:spPr>
          <a:xfrm>
            <a:off x="914400" y="1993392"/>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Common-Size &amp;</a:t>
            </a:r>
            <a:endParaRPr lang="en-US" sz="3200" dirty="0"/>
          </a:p>
          <a:p>
            <a:pPr algn="ctr" indent="0" marL="0">
              <a:buNone/>
            </a:pPr>
            <a:r>
              <a:rPr lang="en-US" sz="3200" b="1" dirty="0">
                <a:solidFill>
                  <a:srgbClr val="FFFFFF"/>
                </a:solidFill>
                <a:latin typeface="Trebuchet MS" pitchFamily="34" charset="0"/>
                <a:ea typeface="Trebuchet MS" pitchFamily="34" charset="-122"/>
                <a:cs typeface="Trebuchet MS" pitchFamily="34" charset="-120"/>
              </a:rPr>
              <a:t>Balance Sheet Ratios (CFA LM3)</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Cross-Sectional Analysis — Apple vs Microsoft (CFA LM3 Example 1)</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LM3, Example 1. Both are IT sector peers. Common-size comparison reveals very different business models and strategies.</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743200"/>
                <a:gridCol w="1463040"/>
                <a:gridCol w="1554480"/>
                <a:gridCol w="3657600"/>
              </a:tblGrid>
              <a:tr h="0">
                <a:tc>
                  <a:txBody>
                    <a:bodyPr/>
                    <a:lstStyle/>
                    <a:p>
                      <a:pPr indent="0" marL="0">
                        <a:buNone/>
                      </a:pPr>
                      <a:r>
                        <a:rPr lang="en-US" sz="1100" b="1" dirty="0">
                          <a:solidFill>
                            <a:srgbClr val="FFFFFF"/>
                          </a:solidFill>
                        </a:rPr>
                        <a:t>Balance Sheet Item (% of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Apple 2017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Microsoft 2017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Key Interpretation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Cash + Short-term securities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19.8%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55.2%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Microsoft holds far more liquid assets — deferred revenue from software subscriptions.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Long-term marketable securities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51.9%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Apple parks its massive cash hoard in long-term securities. Very unusual.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Goodwill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14.6%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Apple: organic growth. Microsoft: acquisition-driven (Nokia, LinkedIn etc.).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Long-term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25.9%</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31.6%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Both carry significant debt — tax-efficient in low-rate environment.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Total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64.3%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70.0%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Both highly leveraged vs their assets. Cash-rich but also debt-laden.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Total shareholders’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35.7%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30.0%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Apple’s equity slightly higher. Microsoft’s intangibles reduce equity base.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Text 7"/>
          <p:cNvSpPr/>
          <p:nvPr/>
        </p:nvSpPr>
        <p:spPr>
          <a:xfrm>
            <a:off x="320040" y="4590288"/>
            <a:ext cx="8503920" cy="292608"/>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CFA observation: Apple’s low accounts receivable (4.8%) vs Microsoft (8.2%) reflects Apple’s use of direct retail and cash sales. Apple’s high accounts payable (13.1%) = strong bargaining power with suppliers.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Balance Sheet Ratios — CFA LM3, Exhibit 13</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47472"/>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CFA LM3, Exhibit 13 provides these ratios and their interpretation. Test your ability to calculate and compare to industry.</a:t>
            </a:r>
            <a:endParaRPr lang="en-US" sz="12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1207008"/>
          <a:ext cx="8503920" cy="914400"/>
        </p:xfrm>
        <a:graphic>
          <a:graphicData uri="http://schemas.openxmlformats.org/drawingml/2006/table">
            <a:tbl>
              <a:tblPr/>
              <a:tblGrid>
                <a:gridCol w="2011680"/>
                <a:gridCol w="2651760"/>
                <a:gridCol w="2011680"/>
                <a:gridCol w="182880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Formula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What It Measures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Typical Reading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Current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Current Assets / 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General short-term liquidity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1.0–3.0x; &lt; 1 = concern; &gt;3 = inefficient use of current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Quick Ratio (Acid Test)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(Cash + Mkt Sec + Receivables) / 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Liquidity excluding inventory and prepaid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0.5–1.5x; most stringent test excluding inventory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Cash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(Cash + Mkt Securities) / 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Immediate cash-only liquidity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0.2–1.0x; most conservative metric</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Long-term Debt to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Long-term Debt / Total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Long-term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&lt;1.0x generally; capital-intensive may be higher</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Debt-to-Equity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Total Debt / Total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Total leverage (ST + LT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Varies widely by industry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Financial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Total Assets / Total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Magnification effect on ROE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1.0 = no debt; 2.0 = 50% of assets funded by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Debt-to-Assets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Total Debt /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What % of assets financed by creditors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&lt; 0.5 conservative; &gt; 0.7 aggressive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CFA LM3 Practice Q12–15 — Company A, B &amp; Industry Comparison</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47472"/>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Directly from CFA Vol 4, LM3 Practice Problems. Three sets of common-size balance sheet data. Tests ratios and interpretation.</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207008"/>
          <a:ext cx="8503920" cy="914400"/>
        </p:xfrm>
        <a:graphic>
          <a:graphicData uri="http://schemas.openxmlformats.org/drawingml/2006/table">
            <a:tbl>
              <a:tblPr/>
              <a:tblGrid>
                <a:gridCol w="2926080"/>
                <a:gridCol w="1645920"/>
                <a:gridCol w="1645920"/>
                <a:gridCol w="1828800"/>
              </a:tblGrid>
              <a:tr h="0">
                <a:tc>
                  <a:txBody>
                    <a:bodyPr/>
                    <a:lstStyle/>
                    <a:p>
                      <a:pPr indent="0" marL="0">
                        <a:buNone/>
                      </a:pPr>
                      <a:r>
                        <a:rPr lang="en-US" sz="1100" b="1" dirty="0">
                          <a:solidFill>
                            <a:srgbClr val="FFFFFF"/>
                          </a:solidFill>
                        </a:rPr>
                        <a:t>Item (% of Total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Company A</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Company B</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Industry Avg</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Cash</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Marketable Securities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Accounts Receivable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12</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Inventories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16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Prepaid Expenses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11</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Total Current Assets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PP&amp;E, net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Goodwill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Total Current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28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Long-term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Total Liabilities</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80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55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63</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Total Shareholders’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20</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45</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4434840"/>
            <a:ext cx="8503920" cy="685800"/>
          </a:xfrm>
          <a:prstGeom prst="rect">
            <a:avLst/>
          </a:prstGeom>
          <a:solidFill>
            <a:srgbClr val="FEF0E7"/>
          </a:solidFill>
          <a:ln w="12700">
            <a:solidFill>
              <a:srgbClr val="E8600A"/>
            </a:solidFill>
            <a:prstDash val="solid"/>
          </a:ln>
        </p:spPr>
      </p:sp>
      <p:sp>
        <p:nvSpPr>
          <p:cNvPr id="11" name="Text 8"/>
          <p:cNvSpPr/>
          <p:nvPr/>
        </p:nvSpPr>
        <p:spPr>
          <a:xfrm>
            <a:off x="457200" y="4507992"/>
            <a:ext cx="8229600" cy="274320"/>
          </a:xfrm>
          <a:prstGeom prst="rect">
            <a:avLst/>
          </a:prstGeom>
          <a:noFill/>
          <a:ln/>
        </p:spPr>
        <p:txBody>
          <a:bodyPr wrap="square" lIns="0" tIns="0" rIns="0" bIns="0" rtlCol="0" anchor="ctr"/>
          <a:lstStyle/>
          <a:p>
            <a:pPr indent="0" marL="0">
              <a:buNone/>
            </a:pPr>
            <a:r>
              <a:rPr lang="en-US" sz="1100" b="1" dirty="0">
                <a:solidFill>
                  <a:srgbClr val="E8600A"/>
                </a:solidFill>
                <a:latin typeface="Trebuchet MS" pitchFamily="34" charset="0"/>
                <a:ea typeface="Trebuchet MS" pitchFamily="34" charset="-122"/>
                <a:cs typeface="Trebuchet MS" pitchFamily="34" charset="-120"/>
              </a:rPr>
              <a:t>CFA Answers</a:t>
            </a:r>
            <a:endParaRPr lang="en-US" sz="1100" dirty="0"/>
          </a:p>
        </p:txBody>
      </p:sp>
      <p:sp>
        <p:nvSpPr>
          <p:cNvPr id="12" name="Text 9"/>
          <p:cNvSpPr/>
          <p:nvPr/>
        </p:nvSpPr>
        <p:spPr>
          <a:xfrm>
            <a:off x="457200" y="4818888"/>
            <a:ext cx="8229600" cy="210312"/>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Q12 answer C: Company A has goodwill = 25% of assets → has made acquisitions (CFA: answer C is correct; B is wrong — Co B has lower debt, not higher solvency risk than industry).</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Q13: Quick ratio A = (Cash + Mkt Sec + AR) / CL = (5+5+5)/35 = 15/35 = 0.43 (CFA answer A).</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Q14: Financial leverage B = Total Assets / Equity = 100/45 = 2.22 (CFA answer C).</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SAP Group Balance Sheet Ratios — CFA LM3</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Text 6"/>
          <p:cNvSpPr/>
          <p:nvPr/>
        </p:nvSpPr>
        <p:spPr>
          <a:xfrm>
            <a:off x="320040" y="777240"/>
            <a:ext cx="8503920" cy="384048"/>
          </a:xfrm>
          <a:prstGeom prst="rect">
            <a:avLst/>
          </a:prstGeom>
          <a:noFill/>
          <a:ln/>
        </p:spPr>
        <p:txBody>
          <a:bodyPr wrap="square" lIns="0" tIns="0" rIns="0" bIns="0" rtlCol="0" anchor="ctr"/>
          <a:lstStyle/>
          <a:p>
            <a:pPr indent="0" marL="0">
              <a:buNone/>
            </a:pPr>
            <a:r>
              <a:rPr lang="en-US" sz="1250" i="1" dirty="0">
                <a:solidFill>
                  <a:srgbClr val="334155"/>
                </a:solidFill>
                <a:latin typeface="Calibri" pitchFamily="34" charset="0"/>
                <a:ea typeface="Calibri" pitchFamily="34" charset="-122"/>
                <a:cs typeface="Calibri" pitchFamily="34" charset="-120"/>
              </a:rPr>
              <a:t>CFA LM3 uses SAP Group (German software company) balance sheet data to demonstrate ratio calculation and trend analysis.</a:t>
            </a:r>
            <a:endParaRPr lang="en-US" sz="12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298448"/>
          <a:ext cx="8503920" cy="914400"/>
        </p:xfrm>
        <a:graphic>
          <a:graphicData uri="http://schemas.openxmlformats.org/drawingml/2006/table">
            <a:tbl>
              <a:tblPr/>
              <a:tblGrid>
                <a:gridCol w="2560320"/>
                <a:gridCol w="2377440"/>
                <a:gridCol w="2377440"/>
                <a:gridCol w="1188720"/>
              </a:tblGrid>
              <a:tr h="0">
                <a:tc>
                  <a:txBody>
                    <a:bodyPr/>
                    <a:lstStyle/>
                    <a:p>
                      <a:pPr indent="0" marL="0">
                        <a:buNone/>
                      </a:pPr>
                      <a:r>
                        <a:rPr lang="en-US" sz="1100" b="1" dirty="0">
                          <a:solidFill>
                            <a:srgbClr val="FFFFFF"/>
                          </a:solidFill>
                        </a:rPr>
                        <a:t>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2017 (EUR million)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2016 (EUR million)</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rPr>
                        <a:t>Trend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1B2A4A"/>
                    </a:solidFill>
                  </a:tcPr>
                </a:tc>
              </a:tr>
              <a:tr h="0">
                <a:tc>
                  <a:txBody>
                    <a:bodyPr/>
                    <a:lstStyle/>
                    <a:p>
                      <a:pPr indent="0" marL="0">
                        <a:buNone/>
                      </a:pPr>
                      <a:r>
                        <a:rPr lang="en-US" sz="1100" b="1" dirty="0">
                          <a:solidFill>
                            <a:srgbClr val="1B2A4A"/>
                          </a:solidFill>
                        </a:rPr>
                        <a:t>Current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11,930 / 10,210 = 1.17x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11,564 / 9,674 = 1.20x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Declining liquidity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Quick Ratio (approx)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(4,011 + 990 + 5,899) / 10,210 = 1.07x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(3,702 + 1,124 + 5,924) / 9,674 = 1.11x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All three liquidity ratios fell in 2017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Cash Ratio</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(4,011 + 990) / 10,210 = 0.49x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(3,702 + 1,124) / 9,674 = 0.50x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Slightly less cash relative to CL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Long-term Debt to Equity</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5,034 / 25,540 = 19.7%</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6,481 / 26,397 = 24.6%</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Improving solvency (less LT debt)</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r h="0">
                <a:tc>
                  <a:txBody>
                    <a:bodyPr/>
                    <a:lstStyle/>
                    <a:p>
                      <a:pPr indent="0" marL="0">
                        <a:buNone/>
                      </a:pPr>
                      <a:r>
                        <a:rPr lang="en-US" sz="1100" b="1" dirty="0">
                          <a:solidFill>
                            <a:srgbClr val="1B2A4A"/>
                          </a:solidFill>
                        </a:rPr>
                        <a:t>Debt-to-Equity (total)</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(1,561+5,034) / 25,540 = 25.8%</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(1,813+6,481) / 26,397 = 31.4%</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rPr>
                        <a:t>↓ Leverage reduced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A4A"/>
                          </a:solidFill>
                        </a:rPr>
                        <a:t>Financial Leverage</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42,497 / 25,540 = 1.66x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44,277 / 26,397 = 1.68x</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c>
                  <a:txBody>
                    <a:bodyPr/>
                    <a:lstStyle/>
                    <a:p>
                      <a:pPr indent="0" marL="0">
                        <a:buNone/>
                      </a:pPr>
                      <a:r>
                        <a:rPr lang="en-US" sz="1100" dirty="0">
                          <a:solidFill>
                            <a:srgbClr val="334155"/>
                          </a:solidFill>
                        </a:rPr>
                        <a:t>↓ Slightly less leveraged</a:t>
                      </a:r>
                      <a:endParaRPr lang="en-US" sz="1100" dirty="0"/>
                    </a:p>
                  </a:txBody>
                  <a:tcPr marL="91440" marR="91440" marT="45720" marB="45720">
                    <a:lnL w="12700" cap="flat" cmpd="sng" algn="ctr">
                      <a:solidFill>
                        <a:srgbClr val="E8ECF0"/>
                      </a:solidFill>
                      <a:prstDash val="solid"/>
                      <a:round/>
                      <a:headEnd type="none" w="med" len="med"/>
                      <a:tailEnd type="none" w="med" len="med"/>
                    </a:lnL>
                    <a:lnR w="12700" cap="flat" cmpd="sng" algn="ctr">
                      <a:solidFill>
                        <a:srgbClr val="E8ECF0"/>
                      </a:solidFill>
                      <a:prstDash val="solid"/>
                      <a:round/>
                      <a:headEnd type="none" w="med" len="med"/>
                      <a:tailEnd type="none" w="med" len="med"/>
                    </a:lnR>
                    <a:lnT w="12700" cap="flat" cmpd="sng" algn="ctr">
                      <a:solidFill>
                        <a:srgbClr val="E8ECF0"/>
                      </a:solidFill>
                      <a:prstDash val="solid"/>
                      <a:round/>
                      <a:headEnd type="none" w="med" len="med"/>
                      <a:tailEnd type="none" w="med" len="med"/>
                    </a:lnT>
                    <a:lnB w="12700" cap="flat" cmpd="sng" algn="ctr">
                      <a:solidFill>
                        <a:srgbClr val="E8ECF0"/>
                      </a:solidFill>
                      <a:prstDash val="solid"/>
                      <a:round/>
                      <a:headEnd type="none" w="med" len="med"/>
                      <a:tailEnd type="none" w="med" len="med"/>
                    </a:lnB>
                    <a:solidFill>
                      <a:srgbClr val="F5F7FA"/>
                    </a:solidFill>
                  </a:tcPr>
                </a:tc>
              </a:tr>
            </a:tbl>
          </a:graphicData>
        </a:graphic>
      </p:graphicFrame>
      <p:sp>
        <p:nvSpPr>
          <p:cNvPr id="10" name="Text 7"/>
          <p:cNvSpPr/>
          <p:nvPr/>
        </p:nvSpPr>
        <p:spPr>
          <a:xfrm>
            <a:off x="320040" y="4572000"/>
            <a:ext cx="8503920" cy="320040"/>
          </a:xfrm>
          <a:prstGeom prst="rect">
            <a:avLst/>
          </a:prstGeom>
          <a:noFill/>
          <a:ln/>
        </p:spPr>
        <p:txBody>
          <a:bodyPr wrap="square" lIns="0" tIns="0" rIns="0" bIns="0" rtlCol="0" anchor="ctr"/>
          <a:lstStyle/>
          <a:p>
            <a:pPr indent="0" marL="0">
              <a:buNone/>
            </a:pPr>
            <a:r>
              <a:rPr lang="en-US" sz="1250" b="1" dirty="0">
                <a:solidFill>
                  <a:srgbClr val="E8600A"/>
                </a:solidFill>
                <a:latin typeface="Trebuchet MS" pitchFamily="34" charset="0"/>
                <a:ea typeface="Trebuchet MS" pitchFamily="34" charset="-122"/>
                <a:cs typeface="Trebuchet MS" pitchFamily="34" charset="-120"/>
              </a:rPr>
              <a:t>CFA LM3 answers: Q2 (all three liquidity ratios fell in 2017) = A, B, C all correct. Q3 (all three leverage ratios fell in 2017) = A, B, C all correct.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53A5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228600"/>
            <a:ext cx="8229600" cy="384048"/>
          </a:xfrm>
          <a:prstGeom prst="rect">
            <a:avLst/>
          </a:prstGeom>
          <a:noFill/>
          <a:ln/>
        </p:spPr>
        <p:txBody>
          <a:bodyPr wrap="square" lIns="0" tIns="0" rIns="0" bIns="0" rtlCol="0" anchor="ctr"/>
          <a:lstStyle/>
          <a:p>
            <a:pPr indent="0" marL="0">
              <a:buNone/>
            </a:pPr>
            <a:r>
              <a:rPr lang="en-US" sz="1200" b="1" spc="400" kern="0" dirty="0">
                <a:solidFill>
                  <a:srgbClr val="E8600A"/>
                </a:solidFill>
                <a:latin typeface="Trebuchet MS" pitchFamily="34" charset="0"/>
                <a:ea typeface="Trebuchet MS" pitchFamily="34" charset="-122"/>
                <a:cs typeface="Trebuchet MS" pitchFamily="34" charset="-120"/>
              </a:rPr>
              <a:t>PRACTICE PROBLEMS</a:t>
            </a:r>
            <a:endParaRPr lang="en-US" sz="1200" dirty="0"/>
          </a:p>
        </p:txBody>
      </p:sp>
      <p:sp>
        <p:nvSpPr>
          <p:cNvPr id="5" name="Text 3"/>
          <p:cNvSpPr/>
          <p:nvPr/>
        </p:nvSpPr>
        <p:spPr>
          <a:xfrm>
            <a:off x="457200" y="621792"/>
            <a:ext cx="8229600" cy="292608"/>
          </a:xfrm>
          <a:prstGeom prst="rect">
            <a:avLst/>
          </a:prstGeom>
          <a:noFill/>
          <a:ln/>
        </p:spPr>
        <p:txBody>
          <a:bodyPr wrap="square" lIns="0" tIns="0" rIns="0" bIns="0" rtlCol="0" anchor="ctr"/>
          <a:lstStyle/>
          <a:p>
            <a:pPr indent="0" marL="0">
              <a:buNone/>
            </a:pPr>
            <a:r>
              <a:rPr lang="en-US" sz="1200" i="1" dirty="0">
                <a:solidFill>
                  <a:srgbClr val="6B7A8D"/>
                </a:solidFill>
                <a:latin typeface="Calibri" pitchFamily="34" charset="0"/>
                <a:ea typeface="Calibri" pitchFamily="34" charset="-122"/>
                <a:cs typeface="Calibri" pitchFamily="34" charset="-120"/>
              </a:rPr>
              <a:t>Work through each before checking answers.</a:t>
            </a:r>
            <a:endParaRPr lang="en-US" sz="1200" dirty="0"/>
          </a:p>
        </p:txBody>
      </p:sp>
      <p:sp>
        <p:nvSpPr>
          <p:cNvPr id="6" name="Shape 4"/>
          <p:cNvSpPr/>
          <p:nvPr/>
        </p:nvSpPr>
        <p:spPr>
          <a:xfrm>
            <a:off x="457200" y="987552"/>
            <a:ext cx="8321040" cy="694944"/>
          </a:xfrm>
          <a:prstGeom prst="rect">
            <a:avLst/>
          </a:prstGeom>
          <a:solidFill>
            <a:srgbClr val="1B2A4A"/>
          </a:solidFill>
          <a:ln w="12700">
            <a:solidFill>
              <a:srgbClr val="1B2A4A"/>
            </a:solidFill>
            <a:prstDash val="solid"/>
          </a:ln>
        </p:spPr>
      </p:sp>
      <p:sp>
        <p:nvSpPr>
          <p:cNvPr id="7" name="Shape 5"/>
          <p:cNvSpPr/>
          <p:nvPr/>
        </p:nvSpPr>
        <p:spPr>
          <a:xfrm>
            <a:off x="457200" y="987552"/>
            <a:ext cx="594360" cy="694944"/>
          </a:xfrm>
          <a:prstGeom prst="rect">
            <a:avLst/>
          </a:prstGeom>
          <a:solidFill>
            <a:srgbClr val="E8600A"/>
          </a:solidFill>
          <a:ln w="12700">
            <a:solidFill>
              <a:srgbClr val="E8600A"/>
            </a:solidFill>
            <a:prstDash val="solid"/>
          </a:ln>
        </p:spPr>
      </p:sp>
      <p:sp>
        <p:nvSpPr>
          <p:cNvPr id="8" name="Text 6"/>
          <p:cNvSpPr/>
          <p:nvPr/>
        </p:nvSpPr>
        <p:spPr>
          <a:xfrm>
            <a:off x="457200" y="987552"/>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Q1</a:t>
            </a:r>
            <a:endParaRPr lang="en-US" sz="1400" dirty="0"/>
          </a:p>
        </p:txBody>
      </p:sp>
      <p:sp>
        <p:nvSpPr>
          <p:cNvPr id="9" name="Text 7"/>
          <p:cNvSpPr/>
          <p:nvPr/>
        </p:nvSpPr>
        <p:spPr>
          <a:xfrm>
            <a:off x="1152144" y="1051560"/>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AVI long-term contract (CFA LM2): USD 10m contract. In Year 1, AVI incurs USD 2.1m costs out of expected USD 7m total. How much revenue and profit does AVI recognise in Year 1?</a:t>
            </a:r>
            <a:endParaRPr lang="en-US" sz="1150" dirty="0"/>
          </a:p>
        </p:txBody>
      </p:sp>
      <p:sp>
        <p:nvSpPr>
          <p:cNvPr id="10" name="Shape 8"/>
          <p:cNvSpPr/>
          <p:nvPr/>
        </p:nvSpPr>
        <p:spPr>
          <a:xfrm>
            <a:off x="457200" y="1783080"/>
            <a:ext cx="8321040" cy="694944"/>
          </a:xfrm>
          <a:prstGeom prst="rect">
            <a:avLst/>
          </a:prstGeom>
          <a:solidFill>
            <a:srgbClr val="1B2A4A"/>
          </a:solidFill>
          <a:ln w="12700">
            <a:solidFill>
              <a:srgbClr val="1B2A4A"/>
            </a:solidFill>
            <a:prstDash val="solid"/>
          </a:ln>
        </p:spPr>
      </p:sp>
      <p:sp>
        <p:nvSpPr>
          <p:cNvPr id="11" name="Shape 9"/>
          <p:cNvSpPr/>
          <p:nvPr/>
        </p:nvSpPr>
        <p:spPr>
          <a:xfrm>
            <a:off x="457200" y="1783080"/>
            <a:ext cx="594360" cy="694944"/>
          </a:xfrm>
          <a:prstGeom prst="rect">
            <a:avLst/>
          </a:prstGeom>
          <a:solidFill>
            <a:srgbClr val="E8600A"/>
          </a:solidFill>
          <a:ln w="12700">
            <a:solidFill>
              <a:srgbClr val="E8600A"/>
            </a:solidFill>
            <a:prstDash val="solid"/>
          </a:ln>
        </p:spPr>
      </p:sp>
      <p:sp>
        <p:nvSpPr>
          <p:cNvPr id="12" name="Text 10"/>
          <p:cNvSpPr/>
          <p:nvPr/>
        </p:nvSpPr>
        <p:spPr>
          <a:xfrm>
            <a:off x="457200" y="1783080"/>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Q2</a:t>
            </a:r>
            <a:endParaRPr lang="en-US" sz="1400" dirty="0"/>
          </a:p>
        </p:txBody>
      </p:sp>
      <p:sp>
        <p:nvSpPr>
          <p:cNvPr id="13" name="Text 11"/>
          <p:cNvSpPr/>
          <p:nvPr/>
        </p:nvSpPr>
        <p:spPr>
          <a:xfrm>
            <a:off x="1152144" y="1847088"/>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Weighted average shares: Company has 4,000,000 shares on 1 January. Issues 1,200,000 shares on 1 July. Repurchases 400,000 shares on 1 October. Net income = USD 2,800,000. Calculate basic EPS.</a:t>
            </a:r>
            <a:endParaRPr lang="en-US" sz="1150" dirty="0"/>
          </a:p>
        </p:txBody>
      </p:sp>
      <p:sp>
        <p:nvSpPr>
          <p:cNvPr id="14" name="Shape 12"/>
          <p:cNvSpPr/>
          <p:nvPr/>
        </p:nvSpPr>
        <p:spPr>
          <a:xfrm>
            <a:off x="457200" y="2578608"/>
            <a:ext cx="8321040" cy="694944"/>
          </a:xfrm>
          <a:prstGeom prst="rect">
            <a:avLst/>
          </a:prstGeom>
          <a:solidFill>
            <a:srgbClr val="1B2A4A"/>
          </a:solidFill>
          <a:ln w="12700">
            <a:solidFill>
              <a:srgbClr val="1B2A4A"/>
            </a:solidFill>
            <a:prstDash val="solid"/>
          </a:ln>
        </p:spPr>
      </p:sp>
      <p:sp>
        <p:nvSpPr>
          <p:cNvPr id="15" name="Shape 13"/>
          <p:cNvSpPr/>
          <p:nvPr/>
        </p:nvSpPr>
        <p:spPr>
          <a:xfrm>
            <a:off x="457200" y="2578608"/>
            <a:ext cx="594360" cy="694944"/>
          </a:xfrm>
          <a:prstGeom prst="rect">
            <a:avLst/>
          </a:prstGeom>
          <a:solidFill>
            <a:srgbClr val="E8600A"/>
          </a:solidFill>
          <a:ln w="12700">
            <a:solidFill>
              <a:srgbClr val="E8600A"/>
            </a:solidFill>
            <a:prstDash val="solid"/>
          </a:ln>
        </p:spPr>
      </p:sp>
      <p:sp>
        <p:nvSpPr>
          <p:cNvPr id="16" name="Text 14"/>
          <p:cNvSpPr/>
          <p:nvPr/>
        </p:nvSpPr>
        <p:spPr>
          <a:xfrm>
            <a:off x="457200" y="2578608"/>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Q3</a:t>
            </a:r>
            <a:endParaRPr lang="en-US" sz="1400" dirty="0"/>
          </a:p>
        </p:txBody>
      </p:sp>
      <p:sp>
        <p:nvSpPr>
          <p:cNvPr id="17" name="Text 15"/>
          <p:cNvSpPr/>
          <p:nvPr/>
        </p:nvSpPr>
        <p:spPr>
          <a:xfrm>
            <a:off x="1152144" y="2642616"/>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Treasury stock method (CFA LM2 CWC): 2,000,000 WASO. NI=USD12m. Preferred div=USD800k. 100,000 options with exercise price USD20 and average market price USD25. Calculate diluted EPS.</a:t>
            </a:r>
            <a:endParaRPr lang="en-US" sz="1150" dirty="0"/>
          </a:p>
        </p:txBody>
      </p:sp>
      <p:sp>
        <p:nvSpPr>
          <p:cNvPr id="18" name="Shape 16"/>
          <p:cNvSpPr/>
          <p:nvPr/>
        </p:nvSpPr>
        <p:spPr>
          <a:xfrm>
            <a:off x="457200" y="3374136"/>
            <a:ext cx="8321040" cy="694944"/>
          </a:xfrm>
          <a:prstGeom prst="rect">
            <a:avLst/>
          </a:prstGeom>
          <a:solidFill>
            <a:srgbClr val="1B2A4A"/>
          </a:solidFill>
          <a:ln w="12700">
            <a:solidFill>
              <a:srgbClr val="1B2A4A"/>
            </a:solidFill>
            <a:prstDash val="solid"/>
          </a:ln>
        </p:spPr>
      </p:sp>
      <p:sp>
        <p:nvSpPr>
          <p:cNvPr id="19" name="Shape 17"/>
          <p:cNvSpPr/>
          <p:nvPr/>
        </p:nvSpPr>
        <p:spPr>
          <a:xfrm>
            <a:off x="457200" y="3374136"/>
            <a:ext cx="594360" cy="694944"/>
          </a:xfrm>
          <a:prstGeom prst="rect">
            <a:avLst/>
          </a:prstGeom>
          <a:solidFill>
            <a:srgbClr val="E8600A"/>
          </a:solidFill>
          <a:ln w="12700">
            <a:solidFill>
              <a:srgbClr val="E8600A"/>
            </a:solidFill>
            <a:prstDash val="solid"/>
          </a:ln>
        </p:spPr>
      </p:sp>
      <p:sp>
        <p:nvSpPr>
          <p:cNvPr id="20" name="Text 18"/>
          <p:cNvSpPr/>
          <p:nvPr/>
        </p:nvSpPr>
        <p:spPr>
          <a:xfrm>
            <a:off x="457200" y="3374136"/>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Q4</a:t>
            </a:r>
            <a:endParaRPr lang="en-US" sz="1400" dirty="0"/>
          </a:p>
        </p:txBody>
      </p:sp>
      <p:sp>
        <p:nvSpPr>
          <p:cNvPr id="21" name="Text 19"/>
          <p:cNvSpPr/>
          <p:nvPr/>
        </p:nvSpPr>
        <p:spPr>
          <a:xfrm>
            <a:off x="1152144" y="3438144"/>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Company A balance sheet (CFA LM3): cash=5, mkt sec=5, AR=5, prepaid=15, inventory=15, current liabilities=35 (all as % of total assets). Calculate quick ratio. Is it above or below industry average of 0.75?</a:t>
            </a:r>
            <a:endParaRPr lang="en-US" sz="1150" dirty="0"/>
          </a:p>
        </p:txBody>
      </p:sp>
      <p:sp>
        <p:nvSpPr>
          <p:cNvPr id="22" name="Shape 20"/>
          <p:cNvSpPr/>
          <p:nvPr/>
        </p:nvSpPr>
        <p:spPr>
          <a:xfrm>
            <a:off x="457200" y="4169664"/>
            <a:ext cx="8321040" cy="694944"/>
          </a:xfrm>
          <a:prstGeom prst="rect">
            <a:avLst/>
          </a:prstGeom>
          <a:solidFill>
            <a:srgbClr val="1B2A4A"/>
          </a:solidFill>
          <a:ln w="12700">
            <a:solidFill>
              <a:srgbClr val="1B2A4A"/>
            </a:solidFill>
            <a:prstDash val="solid"/>
          </a:ln>
        </p:spPr>
      </p:sp>
      <p:sp>
        <p:nvSpPr>
          <p:cNvPr id="23" name="Shape 21"/>
          <p:cNvSpPr/>
          <p:nvPr/>
        </p:nvSpPr>
        <p:spPr>
          <a:xfrm>
            <a:off x="457200" y="4169664"/>
            <a:ext cx="594360" cy="694944"/>
          </a:xfrm>
          <a:prstGeom prst="rect">
            <a:avLst/>
          </a:prstGeom>
          <a:solidFill>
            <a:srgbClr val="E8600A"/>
          </a:solidFill>
          <a:ln w="12700">
            <a:solidFill>
              <a:srgbClr val="E8600A"/>
            </a:solidFill>
            <a:prstDash val="solid"/>
          </a:ln>
        </p:spPr>
      </p:sp>
      <p:sp>
        <p:nvSpPr>
          <p:cNvPr id="24" name="Text 22"/>
          <p:cNvSpPr/>
          <p:nvPr/>
        </p:nvSpPr>
        <p:spPr>
          <a:xfrm>
            <a:off x="457200" y="4169664"/>
            <a:ext cx="594360" cy="69494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Q5</a:t>
            </a:r>
            <a:endParaRPr lang="en-US" sz="1400" dirty="0"/>
          </a:p>
        </p:txBody>
      </p:sp>
      <p:sp>
        <p:nvSpPr>
          <p:cNvPr id="25" name="Text 23"/>
          <p:cNvSpPr/>
          <p:nvPr/>
        </p:nvSpPr>
        <p:spPr>
          <a:xfrm>
            <a:off x="1152144" y="4233672"/>
            <a:ext cx="745236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Company B (CFA LM3): total assets=100%, total shareholders equity=45%, total current liabilities=25%, long-term debt=20%. Calculate (a) financial leverage ratio, (b) debt-to-equity ratio.</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w="12700">
            <a:solidFill>
              <a:srgbClr val="1B2A4A"/>
            </a:solidFill>
            <a:prstDash val="solid"/>
          </a:ln>
        </p:spPr>
      </p:sp>
      <p:sp>
        <p:nvSpPr>
          <p:cNvPr id="3" name="Shape 1"/>
          <p:cNvSpPr/>
          <p:nvPr/>
        </p:nvSpPr>
        <p:spPr>
          <a:xfrm>
            <a:off x="0" y="0"/>
            <a:ext cx="109728" cy="621792"/>
          </a:xfrm>
          <a:prstGeom prst="rect">
            <a:avLst/>
          </a:prstGeom>
          <a:solidFill>
            <a:srgbClr val="E8600A"/>
          </a:solidFill>
          <a:ln w="12700">
            <a:solidFill>
              <a:srgbClr val="E8600A"/>
            </a:solidFill>
            <a:prstDash val="solid"/>
          </a:ln>
        </p:spPr>
      </p:sp>
      <p:sp>
        <p:nvSpPr>
          <p:cNvPr id="4" name="Text 2"/>
          <p:cNvSpPr/>
          <p:nvPr/>
        </p:nvSpPr>
        <p:spPr>
          <a:xfrm>
            <a:off x="256032" y="0"/>
            <a:ext cx="7772400" cy="621792"/>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Practice — Worked Solutions</a:t>
            </a:r>
            <a:endParaRPr lang="en-US" sz="1900" dirty="0"/>
          </a:p>
        </p:txBody>
      </p:sp>
      <p:sp>
        <p:nvSpPr>
          <p:cNvPr id="5" name="Text 3"/>
          <p:cNvSpPr/>
          <p:nvPr/>
        </p:nvSpPr>
        <p:spPr>
          <a:xfrm>
            <a:off x="7223760" y="0"/>
            <a:ext cx="1828800" cy="621792"/>
          </a:xfrm>
          <a:prstGeom prst="rect">
            <a:avLst/>
          </a:prstGeom>
          <a:noFill/>
          <a:ln/>
        </p:spPr>
        <p:txBody>
          <a:bodyPr wrap="square" lIns="0" tIns="0" rIns="0" bIns="0" rtlCol="0" anchor="ctr"/>
          <a:lstStyle/>
          <a:p>
            <a:pPr algn="r" indent="0" marL="0">
              <a:buNone/>
            </a:pPr>
            <a:r>
              <a:rPr lang="en-US" sz="750" dirty="0">
                <a:solidFill>
                  <a:srgbClr val="6B7A8D"/>
                </a:solidFill>
                <a:latin typeface="Calibri" pitchFamily="34" charset="0"/>
                <a:ea typeface="Calibri" pitchFamily="34" charset="-122"/>
                <a:cs typeface="Calibri" pitchFamily="34" charset="-120"/>
              </a:rPr>
              <a:t>S3 AM  •  Session 5 of 10</a:t>
            </a:r>
            <a:endParaRPr lang="en-US" sz="750" dirty="0"/>
          </a:p>
        </p:txBody>
      </p:sp>
      <p:sp>
        <p:nvSpPr>
          <p:cNvPr id="6" name="Shape 4"/>
          <p:cNvSpPr/>
          <p:nvPr/>
        </p:nvSpPr>
        <p:spPr>
          <a:xfrm>
            <a:off x="0" y="4892040"/>
            <a:ext cx="9144000" cy="251460"/>
          </a:xfrm>
          <a:prstGeom prst="rect">
            <a:avLst/>
          </a:prstGeom>
          <a:solidFill>
            <a:srgbClr val="E8ECF0"/>
          </a:solidFill>
          <a:ln w="12700">
            <a:solidFill>
              <a:srgbClr val="E8ECF0"/>
            </a:solidFill>
            <a:prstDash val="solid"/>
          </a:ln>
        </p:spPr>
      </p:sp>
      <p:sp>
        <p:nvSpPr>
          <p:cNvPr id="7" name="Text 5"/>
          <p:cNvSpPr/>
          <p:nvPr/>
        </p:nvSpPr>
        <p:spPr>
          <a:xfrm>
            <a:off x="274320" y="4892040"/>
            <a:ext cx="8229600" cy="251460"/>
          </a:xfrm>
          <a:prstGeom prst="rect">
            <a:avLst/>
          </a:prstGeom>
          <a:noFill/>
          <a:ln/>
        </p:spPr>
        <p:txBody>
          <a:bodyPr wrap="square" lIns="0" tIns="0" rIns="0" bIns="0" rtlCol="0" anchor="ctr"/>
          <a:lstStyle/>
          <a:p>
            <a:pPr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8" name="Shape 6"/>
          <p:cNvSpPr/>
          <p:nvPr/>
        </p:nvSpPr>
        <p:spPr>
          <a:xfrm>
            <a:off x="320040" y="777240"/>
            <a:ext cx="8503920" cy="731520"/>
          </a:xfrm>
          <a:prstGeom prst="rect">
            <a:avLst/>
          </a:prstGeom>
          <a:solidFill>
            <a:srgbClr val="E8F5E9"/>
          </a:solidFill>
          <a:ln w="12700">
            <a:solidFill>
              <a:srgbClr val="E8ECF0"/>
            </a:solidFill>
            <a:prstDash val="solid"/>
          </a:ln>
        </p:spPr>
      </p:sp>
      <p:sp>
        <p:nvSpPr>
          <p:cNvPr id="9" name="Shape 7"/>
          <p:cNvSpPr/>
          <p:nvPr/>
        </p:nvSpPr>
        <p:spPr>
          <a:xfrm>
            <a:off x="320040" y="777240"/>
            <a:ext cx="594360" cy="731520"/>
          </a:xfrm>
          <a:prstGeom prst="rect">
            <a:avLst/>
          </a:prstGeom>
          <a:solidFill>
            <a:srgbClr val="1A6B3C"/>
          </a:solidFill>
          <a:ln w="12700">
            <a:solidFill>
              <a:srgbClr val="1A6B3C"/>
            </a:solidFill>
            <a:prstDash val="solid"/>
          </a:ln>
        </p:spPr>
      </p:sp>
      <p:sp>
        <p:nvSpPr>
          <p:cNvPr id="10" name="Text 8"/>
          <p:cNvSpPr/>
          <p:nvPr/>
        </p:nvSpPr>
        <p:spPr>
          <a:xfrm>
            <a:off x="320040" y="777240"/>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A1</a:t>
            </a:r>
            <a:endParaRPr lang="en-US" sz="1400" dirty="0"/>
          </a:p>
        </p:txBody>
      </p:sp>
      <p:sp>
        <p:nvSpPr>
          <p:cNvPr id="11" name="Text 9"/>
          <p:cNvSpPr/>
          <p:nvPr/>
        </p:nvSpPr>
        <p:spPr>
          <a:xfrm>
            <a:off x="1005840" y="777240"/>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Year 1 % completion = 2.1 / 7.0 = 30%. Revenue = 30% × USD 10m = USD 3m. Profit = 30% × USD 3m (expected) = USD 0.9m. Costs recognised = USD 2.1m (actual). P&amp;L: Revenue 3m, Costs 2.1m, Profit 0.9m.</a:t>
            </a:r>
            <a:endParaRPr lang="en-US" sz="1150" dirty="0"/>
          </a:p>
        </p:txBody>
      </p:sp>
      <p:sp>
        <p:nvSpPr>
          <p:cNvPr id="12" name="Shape 10"/>
          <p:cNvSpPr/>
          <p:nvPr/>
        </p:nvSpPr>
        <p:spPr>
          <a:xfrm>
            <a:off x="320040" y="1618488"/>
            <a:ext cx="8503920" cy="731520"/>
          </a:xfrm>
          <a:prstGeom prst="rect">
            <a:avLst/>
          </a:prstGeom>
          <a:solidFill>
            <a:srgbClr val="FFFFFF"/>
          </a:solidFill>
          <a:ln w="12700">
            <a:solidFill>
              <a:srgbClr val="E8ECF0"/>
            </a:solidFill>
            <a:prstDash val="solid"/>
          </a:ln>
        </p:spPr>
      </p:sp>
      <p:sp>
        <p:nvSpPr>
          <p:cNvPr id="13" name="Shape 11"/>
          <p:cNvSpPr/>
          <p:nvPr/>
        </p:nvSpPr>
        <p:spPr>
          <a:xfrm>
            <a:off x="320040" y="1618488"/>
            <a:ext cx="594360" cy="731520"/>
          </a:xfrm>
          <a:prstGeom prst="rect">
            <a:avLst/>
          </a:prstGeom>
          <a:solidFill>
            <a:srgbClr val="1A6B3C"/>
          </a:solidFill>
          <a:ln w="12700">
            <a:solidFill>
              <a:srgbClr val="1A6B3C"/>
            </a:solidFill>
            <a:prstDash val="solid"/>
          </a:ln>
        </p:spPr>
      </p:sp>
      <p:sp>
        <p:nvSpPr>
          <p:cNvPr id="14" name="Text 12"/>
          <p:cNvSpPr/>
          <p:nvPr/>
        </p:nvSpPr>
        <p:spPr>
          <a:xfrm>
            <a:off x="320040" y="1618488"/>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A2</a:t>
            </a:r>
            <a:endParaRPr lang="en-US" sz="1400" dirty="0"/>
          </a:p>
        </p:txBody>
      </p:sp>
      <p:sp>
        <p:nvSpPr>
          <p:cNvPr id="15" name="Text 13"/>
          <p:cNvSpPr/>
          <p:nvPr/>
        </p:nvSpPr>
        <p:spPr>
          <a:xfrm>
            <a:off x="1005840" y="1618488"/>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WASO = 4,000,000 × 12/12 + 1,200,000 × 6/12 − 400,000 × 3/12 = 4,000,000 + 600,000 − 100,000 = 4,500,000. Basic EPS = 2,800,000 / 4,500,000 = USD 0.622 per share.</a:t>
            </a:r>
            <a:endParaRPr lang="en-US" sz="1150" dirty="0"/>
          </a:p>
        </p:txBody>
      </p:sp>
      <p:sp>
        <p:nvSpPr>
          <p:cNvPr id="16" name="Shape 14"/>
          <p:cNvSpPr/>
          <p:nvPr/>
        </p:nvSpPr>
        <p:spPr>
          <a:xfrm>
            <a:off x="320040" y="2459736"/>
            <a:ext cx="8503920" cy="731520"/>
          </a:xfrm>
          <a:prstGeom prst="rect">
            <a:avLst/>
          </a:prstGeom>
          <a:solidFill>
            <a:srgbClr val="E8F5E9"/>
          </a:solidFill>
          <a:ln w="12700">
            <a:solidFill>
              <a:srgbClr val="E8ECF0"/>
            </a:solidFill>
            <a:prstDash val="solid"/>
          </a:ln>
        </p:spPr>
      </p:sp>
      <p:sp>
        <p:nvSpPr>
          <p:cNvPr id="17" name="Shape 15"/>
          <p:cNvSpPr/>
          <p:nvPr/>
        </p:nvSpPr>
        <p:spPr>
          <a:xfrm>
            <a:off x="320040" y="2459736"/>
            <a:ext cx="594360" cy="731520"/>
          </a:xfrm>
          <a:prstGeom prst="rect">
            <a:avLst/>
          </a:prstGeom>
          <a:solidFill>
            <a:srgbClr val="1A6B3C"/>
          </a:solidFill>
          <a:ln w="12700">
            <a:solidFill>
              <a:srgbClr val="1A6B3C"/>
            </a:solidFill>
            <a:prstDash val="solid"/>
          </a:ln>
        </p:spPr>
      </p:sp>
      <p:sp>
        <p:nvSpPr>
          <p:cNvPr id="18" name="Text 16"/>
          <p:cNvSpPr/>
          <p:nvPr/>
        </p:nvSpPr>
        <p:spPr>
          <a:xfrm>
            <a:off x="320040" y="2459736"/>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A3</a:t>
            </a:r>
            <a:endParaRPr lang="en-US" sz="1400" dirty="0"/>
          </a:p>
        </p:txBody>
      </p:sp>
      <p:sp>
        <p:nvSpPr>
          <p:cNvPr id="19" name="Text 17"/>
          <p:cNvSpPr/>
          <p:nvPr/>
        </p:nvSpPr>
        <p:spPr>
          <a:xfrm>
            <a:off x="1005840" y="2459736"/>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Proceeds = 100,000 × 20 = 2,000,000. Repurchased = 2,000,000 / 25 = 80,000 shares. Net new shares = 100,000 − 80,000 = 20,000. Diluted shares = 2,020,000. Diluted EPS = (12,000,000 − 800,000) / 2,020,000 = USD 5.54. CFA answer B confirmed.</a:t>
            </a:r>
            <a:endParaRPr lang="en-US" sz="1150" dirty="0"/>
          </a:p>
        </p:txBody>
      </p:sp>
      <p:sp>
        <p:nvSpPr>
          <p:cNvPr id="20" name="Shape 18"/>
          <p:cNvSpPr/>
          <p:nvPr/>
        </p:nvSpPr>
        <p:spPr>
          <a:xfrm>
            <a:off x="320040" y="3300984"/>
            <a:ext cx="8503920" cy="731520"/>
          </a:xfrm>
          <a:prstGeom prst="rect">
            <a:avLst/>
          </a:prstGeom>
          <a:solidFill>
            <a:srgbClr val="FFFFFF"/>
          </a:solidFill>
          <a:ln w="12700">
            <a:solidFill>
              <a:srgbClr val="E8ECF0"/>
            </a:solidFill>
            <a:prstDash val="solid"/>
          </a:ln>
        </p:spPr>
      </p:sp>
      <p:sp>
        <p:nvSpPr>
          <p:cNvPr id="21" name="Shape 19"/>
          <p:cNvSpPr/>
          <p:nvPr/>
        </p:nvSpPr>
        <p:spPr>
          <a:xfrm>
            <a:off x="320040" y="3300984"/>
            <a:ext cx="594360" cy="731520"/>
          </a:xfrm>
          <a:prstGeom prst="rect">
            <a:avLst/>
          </a:prstGeom>
          <a:solidFill>
            <a:srgbClr val="1A6B3C"/>
          </a:solidFill>
          <a:ln w="12700">
            <a:solidFill>
              <a:srgbClr val="1A6B3C"/>
            </a:solidFill>
            <a:prstDash val="solid"/>
          </a:ln>
        </p:spPr>
      </p:sp>
      <p:sp>
        <p:nvSpPr>
          <p:cNvPr id="22" name="Text 20"/>
          <p:cNvSpPr/>
          <p:nvPr/>
        </p:nvSpPr>
        <p:spPr>
          <a:xfrm>
            <a:off x="320040" y="3300984"/>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A4</a:t>
            </a:r>
            <a:endParaRPr lang="en-US" sz="1400" dirty="0"/>
          </a:p>
        </p:txBody>
      </p:sp>
      <p:sp>
        <p:nvSpPr>
          <p:cNvPr id="23" name="Text 21"/>
          <p:cNvSpPr/>
          <p:nvPr/>
        </p:nvSpPr>
        <p:spPr>
          <a:xfrm>
            <a:off x="1005840" y="3300984"/>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Quick ratio A = (Cash + Mkt Sec + AR) / CL = (5 + 5 + 5) / 35 = 15/35 = 0.43x. Industry average quick = (7+2+12)/28 = 21/28 = 0.75x. Company A quick (0.43) is BELOW industry average. Despite having adequate current assets overall (current ratio 35/35 = 1.0x), its near-term liquidity is below peers. CFA answer A for Practice Q13.</a:t>
            </a:r>
            <a:endParaRPr lang="en-US" sz="1150" dirty="0"/>
          </a:p>
        </p:txBody>
      </p:sp>
      <p:sp>
        <p:nvSpPr>
          <p:cNvPr id="24" name="Shape 22"/>
          <p:cNvSpPr/>
          <p:nvPr/>
        </p:nvSpPr>
        <p:spPr>
          <a:xfrm>
            <a:off x="320040" y="4142232"/>
            <a:ext cx="8503920" cy="731520"/>
          </a:xfrm>
          <a:prstGeom prst="rect">
            <a:avLst/>
          </a:prstGeom>
          <a:solidFill>
            <a:srgbClr val="E8F5E9"/>
          </a:solidFill>
          <a:ln w="12700">
            <a:solidFill>
              <a:srgbClr val="E8ECF0"/>
            </a:solidFill>
            <a:prstDash val="solid"/>
          </a:ln>
        </p:spPr>
      </p:sp>
      <p:sp>
        <p:nvSpPr>
          <p:cNvPr id="25" name="Shape 23"/>
          <p:cNvSpPr/>
          <p:nvPr/>
        </p:nvSpPr>
        <p:spPr>
          <a:xfrm>
            <a:off x="320040" y="4142232"/>
            <a:ext cx="594360" cy="731520"/>
          </a:xfrm>
          <a:prstGeom prst="rect">
            <a:avLst/>
          </a:prstGeom>
          <a:solidFill>
            <a:srgbClr val="1A6B3C"/>
          </a:solidFill>
          <a:ln w="12700">
            <a:solidFill>
              <a:srgbClr val="1A6B3C"/>
            </a:solidFill>
            <a:prstDash val="solid"/>
          </a:ln>
        </p:spPr>
      </p:sp>
      <p:sp>
        <p:nvSpPr>
          <p:cNvPr id="26" name="Text 24"/>
          <p:cNvSpPr/>
          <p:nvPr/>
        </p:nvSpPr>
        <p:spPr>
          <a:xfrm>
            <a:off x="320040" y="4142232"/>
            <a:ext cx="5943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A5</a:t>
            </a:r>
            <a:endParaRPr lang="en-US" sz="1400" dirty="0"/>
          </a:p>
        </p:txBody>
      </p:sp>
      <p:sp>
        <p:nvSpPr>
          <p:cNvPr id="27" name="Text 25"/>
          <p:cNvSpPr/>
          <p:nvPr/>
        </p:nvSpPr>
        <p:spPr>
          <a:xfrm>
            <a:off x="1005840" y="4142232"/>
            <a:ext cx="7680960" cy="73152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 Financial leverage = Total assets / Equity = 100 / 45 = 2.22x (CFA answer C for Practice Q14). (b) Debt-to-equity = Total debt / Equity = (CL + LT debt) / Equity = (25 + 20) / 45 = 45/45 = 1.0x. Total liabilities to equity = 55/45 = 1.22x.</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w="12700">
            <a:solidFill>
              <a:srgbClr val="E8600A"/>
            </a:solidFill>
            <a:prstDash val="solid"/>
          </a:ln>
        </p:spPr>
      </p:sp>
      <p:sp>
        <p:nvSpPr>
          <p:cNvPr id="3" name="Shape 1"/>
          <p:cNvSpPr/>
          <p:nvPr/>
        </p:nvSpPr>
        <p:spPr>
          <a:xfrm>
            <a:off x="0" y="4914900"/>
            <a:ext cx="9144000" cy="228600"/>
          </a:xfrm>
          <a:prstGeom prst="rect">
            <a:avLst/>
          </a:prstGeom>
          <a:solidFill>
            <a:srgbClr val="E8600A"/>
          </a:solidFill>
          <a:ln w="12700">
            <a:solidFill>
              <a:srgbClr val="E8600A"/>
            </a:solidFill>
            <a:prstDash val="solid"/>
          </a:ln>
        </p:spPr>
      </p:sp>
      <p:sp>
        <p:nvSpPr>
          <p:cNvPr id="4" name="Text 2"/>
          <p:cNvSpPr/>
          <p:nvPr/>
        </p:nvSpPr>
        <p:spPr>
          <a:xfrm>
            <a:off x="457200" y="228600"/>
            <a:ext cx="8229600" cy="384048"/>
          </a:xfrm>
          <a:prstGeom prst="rect">
            <a:avLst/>
          </a:prstGeom>
          <a:noFill/>
          <a:ln/>
        </p:spPr>
        <p:txBody>
          <a:bodyPr wrap="square" lIns="0" tIns="0" rIns="0" bIns="0" rtlCol="0" anchor="ctr"/>
          <a:lstStyle/>
          <a:p>
            <a:pPr indent="0" marL="0">
              <a:buNone/>
            </a:pPr>
            <a:r>
              <a:rPr lang="en-US" sz="1100" b="1" spc="4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p:nvPr/>
        </p:nvSpPr>
        <p:spPr>
          <a:xfrm>
            <a:off x="457200" y="640080"/>
            <a:ext cx="8229600" cy="475488"/>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Session 5 — Financial Statement Analysis I</a:t>
            </a:r>
            <a:endParaRPr lang="en-US" sz="1700" dirty="0"/>
          </a:p>
        </p:txBody>
      </p:sp>
      <p:sp>
        <p:nvSpPr>
          <p:cNvPr id="6" name="Shape 4"/>
          <p:cNvSpPr/>
          <p:nvPr/>
        </p:nvSpPr>
        <p:spPr>
          <a:xfrm>
            <a:off x="457200" y="1261872"/>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7" name="Shape 5"/>
          <p:cNvSpPr/>
          <p:nvPr/>
        </p:nvSpPr>
        <p:spPr>
          <a:xfrm>
            <a:off x="603504" y="1682496"/>
            <a:ext cx="128016" cy="128016"/>
          </a:xfrm>
          <a:prstGeom prst="ellipse">
            <a:avLst/>
          </a:prstGeom>
          <a:solidFill>
            <a:srgbClr val="E8600A"/>
          </a:solidFill>
          <a:ln w="12700">
            <a:solidFill>
              <a:srgbClr val="E8600A"/>
            </a:solidFill>
            <a:prstDash val="solid"/>
          </a:ln>
        </p:spPr>
      </p:sp>
      <p:sp>
        <p:nvSpPr>
          <p:cNvPr id="8" name="Text 6"/>
          <p:cNvSpPr/>
          <p:nvPr/>
        </p:nvSpPr>
        <p:spPr>
          <a:xfrm>
            <a:off x="841248" y="1335024"/>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Revenue recognition 5-step model (IFRS 15/ASC 606): identify contract, POs, price; allocate; recognise when control transfers.</a:t>
            </a:r>
            <a:endParaRPr lang="en-US" sz="1150" dirty="0"/>
          </a:p>
        </p:txBody>
      </p:sp>
      <p:sp>
        <p:nvSpPr>
          <p:cNvPr id="9" name="Shape 7"/>
          <p:cNvSpPr/>
          <p:nvPr/>
        </p:nvSpPr>
        <p:spPr>
          <a:xfrm>
            <a:off x="4846320" y="1261872"/>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0" name="Shape 8"/>
          <p:cNvSpPr/>
          <p:nvPr/>
        </p:nvSpPr>
        <p:spPr>
          <a:xfrm>
            <a:off x="4992624" y="1682496"/>
            <a:ext cx="128016" cy="128016"/>
          </a:xfrm>
          <a:prstGeom prst="ellipse">
            <a:avLst/>
          </a:prstGeom>
          <a:solidFill>
            <a:srgbClr val="E8600A"/>
          </a:solidFill>
          <a:ln w="12700">
            <a:solidFill>
              <a:srgbClr val="E8600A"/>
            </a:solidFill>
            <a:prstDash val="solid"/>
          </a:ln>
        </p:spPr>
      </p:sp>
      <p:sp>
        <p:nvSpPr>
          <p:cNvPr id="11" name="Text 9"/>
          <p:cNvSpPr/>
          <p:nvPr/>
        </p:nvSpPr>
        <p:spPr>
          <a:xfrm>
            <a:off x="5230368" y="1335024"/>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AVI (CFA LM2): Year 1 revenue = % complete × contract price. Cost overruns in Year 2 reduce total profit. Progress-based recognition.</a:t>
            </a:r>
            <a:endParaRPr lang="en-US" sz="1150" dirty="0"/>
          </a:p>
        </p:txBody>
      </p:sp>
      <p:sp>
        <p:nvSpPr>
          <p:cNvPr id="12" name="Shape 10"/>
          <p:cNvSpPr/>
          <p:nvPr/>
        </p:nvSpPr>
        <p:spPr>
          <a:xfrm>
            <a:off x="457200" y="2432304"/>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3" name="Shape 11"/>
          <p:cNvSpPr/>
          <p:nvPr/>
        </p:nvSpPr>
        <p:spPr>
          <a:xfrm>
            <a:off x="603504" y="2852928"/>
            <a:ext cx="128016" cy="128016"/>
          </a:xfrm>
          <a:prstGeom prst="ellipse">
            <a:avLst/>
          </a:prstGeom>
          <a:solidFill>
            <a:srgbClr val="E8600A"/>
          </a:solidFill>
          <a:ln w="12700">
            <a:solidFill>
              <a:srgbClr val="E8600A"/>
            </a:solidFill>
            <a:prstDash val="solid"/>
          </a:ln>
        </p:spPr>
      </p:sp>
      <p:sp>
        <p:nvSpPr>
          <p:cNvPr id="14" name="Text 12"/>
          <p:cNvSpPr/>
          <p:nvPr/>
        </p:nvSpPr>
        <p:spPr>
          <a:xfrm>
            <a:off x="841248" y="2505456"/>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AB InBev (CFA LM2): basic EPS=4.06, diluted=3.98 (2017). Diluted always ≤ basic. Investigate causes of YoY EPS changes.</a:t>
            </a:r>
            <a:endParaRPr lang="en-US" sz="1150" dirty="0"/>
          </a:p>
        </p:txBody>
      </p:sp>
      <p:sp>
        <p:nvSpPr>
          <p:cNvPr id="15" name="Shape 13"/>
          <p:cNvSpPr/>
          <p:nvPr/>
        </p:nvSpPr>
        <p:spPr>
          <a:xfrm>
            <a:off x="4846320" y="2432304"/>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6" name="Shape 14"/>
          <p:cNvSpPr/>
          <p:nvPr/>
        </p:nvSpPr>
        <p:spPr>
          <a:xfrm>
            <a:off x="4992624" y="2852928"/>
            <a:ext cx="128016" cy="128016"/>
          </a:xfrm>
          <a:prstGeom prst="ellipse">
            <a:avLst/>
          </a:prstGeom>
          <a:solidFill>
            <a:srgbClr val="E8600A"/>
          </a:solidFill>
          <a:ln w="12700">
            <a:solidFill>
              <a:srgbClr val="E8600A"/>
            </a:solidFill>
            <a:prstDash val="solid"/>
          </a:ln>
        </p:spPr>
      </p:sp>
      <p:sp>
        <p:nvSpPr>
          <p:cNvPr id="17" name="Text 15"/>
          <p:cNvSpPr/>
          <p:nvPr/>
        </p:nvSpPr>
        <p:spPr>
          <a:xfrm>
            <a:off x="5230368" y="2505456"/>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CWC (CFA LM2): Treasury stock method. 100k options, exercise=20, market=25. Net new shares=20k. Diluted EPS=USD5.54.</a:t>
            </a:r>
            <a:endParaRPr lang="en-US" sz="1150" dirty="0"/>
          </a:p>
        </p:txBody>
      </p:sp>
      <p:sp>
        <p:nvSpPr>
          <p:cNvPr id="18" name="Shape 16"/>
          <p:cNvSpPr/>
          <p:nvPr/>
        </p:nvSpPr>
        <p:spPr>
          <a:xfrm>
            <a:off x="457200" y="3602736"/>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19" name="Shape 17"/>
          <p:cNvSpPr/>
          <p:nvPr/>
        </p:nvSpPr>
        <p:spPr>
          <a:xfrm>
            <a:off x="603504" y="4023360"/>
            <a:ext cx="128016" cy="128016"/>
          </a:xfrm>
          <a:prstGeom prst="ellipse">
            <a:avLst/>
          </a:prstGeom>
          <a:solidFill>
            <a:srgbClr val="E8600A"/>
          </a:solidFill>
          <a:ln w="12700">
            <a:solidFill>
              <a:srgbClr val="E8600A"/>
            </a:solidFill>
            <a:prstDash val="solid"/>
          </a:ln>
        </p:spPr>
      </p:sp>
      <p:sp>
        <p:nvSpPr>
          <p:cNvPr id="20" name="Text 18"/>
          <p:cNvSpPr/>
          <p:nvPr/>
        </p:nvSpPr>
        <p:spPr>
          <a:xfrm>
            <a:off x="841248" y="3675888"/>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Apple vs Microsoft (CFA LM3): Apple: low goodwill (organic growth), high AP (supplier power). Microsoft: high goodwill (acquisitions).</a:t>
            </a:r>
            <a:endParaRPr lang="en-US" sz="1150" dirty="0"/>
          </a:p>
        </p:txBody>
      </p:sp>
      <p:sp>
        <p:nvSpPr>
          <p:cNvPr id="21" name="Shape 19"/>
          <p:cNvSpPr/>
          <p:nvPr/>
        </p:nvSpPr>
        <p:spPr>
          <a:xfrm>
            <a:off x="4846320" y="3602736"/>
            <a:ext cx="4160520" cy="1078992"/>
          </a:xfrm>
          <a:prstGeom prst="rect">
            <a:avLst/>
          </a:prstGeom>
          <a:solidFill>
            <a:srgbClr val="253A5E"/>
          </a:solidFill>
          <a:ln w="12700">
            <a:solidFill>
              <a:srgbClr val="253A5E"/>
            </a:solidFill>
            <a:prstDash val="solid"/>
          </a:ln>
          <a:effectLst>
            <a:outerShdw sx="100000" sy="100000" kx="0" ky="0" algn="bl" rotWithShape="0" blurRad="88900" dist="25400" dir="8100000">
              <a:srgbClr val="000000">
                <a:alpha val="9000"/>
              </a:srgbClr>
            </a:outerShdw>
          </a:effectLst>
        </p:spPr>
      </p:sp>
      <p:sp>
        <p:nvSpPr>
          <p:cNvPr id="22" name="Shape 20"/>
          <p:cNvSpPr/>
          <p:nvPr/>
        </p:nvSpPr>
        <p:spPr>
          <a:xfrm>
            <a:off x="4992624" y="4023360"/>
            <a:ext cx="128016" cy="128016"/>
          </a:xfrm>
          <a:prstGeom prst="ellipse">
            <a:avLst/>
          </a:prstGeom>
          <a:solidFill>
            <a:srgbClr val="E8600A"/>
          </a:solidFill>
          <a:ln w="12700">
            <a:solidFill>
              <a:srgbClr val="E8600A"/>
            </a:solidFill>
            <a:prstDash val="solid"/>
          </a:ln>
        </p:spPr>
      </p:sp>
      <p:sp>
        <p:nvSpPr>
          <p:cNvPr id="23" name="Text 21"/>
          <p:cNvSpPr/>
          <p:nvPr/>
        </p:nvSpPr>
        <p:spPr>
          <a:xfrm>
            <a:off x="5230368" y="3675888"/>
            <a:ext cx="3639312" cy="9326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Company A quick ratio (CFA LM3) = 0.43x (below industry 0.75x). Company B leverage = 2.22x. Goodwill=25% on A’s BS → made acquisitions.</a:t>
            </a:r>
            <a:endParaRPr lang="en-US" sz="1150" dirty="0"/>
          </a:p>
        </p:txBody>
      </p:sp>
      <p:sp>
        <p:nvSpPr>
          <p:cNvPr id="24" name="Text 22"/>
          <p:cNvSpPr/>
          <p:nvPr/>
        </p:nvSpPr>
        <p:spPr>
          <a:xfrm>
            <a:off x="457200" y="4617720"/>
            <a:ext cx="8229600" cy="256032"/>
          </a:xfrm>
          <a:prstGeom prst="rect">
            <a:avLst/>
          </a:prstGeom>
          <a:noFill/>
          <a:ln/>
        </p:spPr>
        <p:txBody>
          <a:bodyPr wrap="square" lIns="0" tIns="0" rIns="0" bIns="0" rtlCol="0" anchor="ctr"/>
          <a:lstStyle/>
          <a:p>
            <a:pPr indent="0" marL="0">
              <a:buNone/>
            </a:pPr>
            <a:r>
              <a:rPr lang="en-US" sz="800" spc="200" kern="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2026-04-11T20:59:13Z</dcterms:created>
  <dcterms:modified xsi:type="dcterms:W3CDTF">2026-04-11T20:59:13Z</dcterms:modified>
</cp:coreProperties>
</file>